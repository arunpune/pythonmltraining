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470" r:id="rId3"/>
    <p:sldId id="472" r:id="rId4"/>
    <p:sldId id="473" r:id="rId5"/>
    <p:sldId id="474" r:id="rId6"/>
    <p:sldId id="475" r:id="rId7"/>
    <p:sldId id="476" r:id="rId8"/>
    <p:sldId id="310" r:id="rId9"/>
    <p:sldId id="308" r:id="rId10"/>
    <p:sldId id="296" r:id="rId11"/>
    <p:sldId id="450" r:id="rId12"/>
    <p:sldId id="295" r:id="rId13"/>
    <p:sldId id="447" r:id="rId14"/>
    <p:sldId id="481" r:id="rId15"/>
    <p:sldId id="297" r:id="rId16"/>
    <p:sldId id="298" r:id="rId17"/>
    <p:sldId id="304" r:id="rId18"/>
    <p:sldId id="469" r:id="rId19"/>
    <p:sldId id="468" r:id="rId20"/>
    <p:sldId id="306" r:id="rId21"/>
    <p:sldId id="449" r:id="rId22"/>
    <p:sldId id="315" r:id="rId23"/>
    <p:sldId id="307" r:id="rId24"/>
    <p:sldId id="311" r:id="rId25"/>
    <p:sldId id="312" r:id="rId26"/>
    <p:sldId id="309" r:id="rId27"/>
    <p:sldId id="317" r:id="rId28"/>
    <p:sldId id="305" r:id="rId29"/>
    <p:sldId id="446" r:id="rId30"/>
    <p:sldId id="414" r:id="rId31"/>
    <p:sldId id="415" r:id="rId32"/>
    <p:sldId id="416" r:id="rId33"/>
    <p:sldId id="417" r:id="rId34"/>
    <p:sldId id="445" r:id="rId35"/>
    <p:sldId id="293" r:id="rId36"/>
    <p:sldId id="301" r:id="rId37"/>
    <p:sldId id="375" r:id="rId38"/>
    <p:sldId id="408" r:id="rId39"/>
    <p:sldId id="409" r:id="rId40"/>
    <p:sldId id="410" r:id="rId41"/>
    <p:sldId id="411" r:id="rId42"/>
    <p:sldId id="412" r:id="rId43"/>
    <p:sldId id="413" r:id="rId44"/>
    <p:sldId id="47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83" autoAdjust="0"/>
  </p:normalViewPr>
  <p:slideViewPr>
    <p:cSldViewPr>
      <p:cViewPr varScale="1">
        <p:scale>
          <a:sx n="62" d="100"/>
          <a:sy n="62" d="100"/>
        </p:scale>
        <p:origin x="14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578C8A-1F97-4FB1-8EBF-73CA41B6F4A4}" type="datetimeFigureOut">
              <a:rPr lang="en-IN" smtClean="0"/>
              <a:t>27-07-2021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57CE08-FB8B-4043-92ED-F8C8C9005795}" type="slidenum">
              <a:rPr lang="en-IN" smtClean="0"/>
              <a:t>‹#›</a:t>
            </a:fld>
            <a:endParaRPr lang="en-IN"/>
          </a:p>
        </p:txBody>
      </p:sp>
    </p:spTree>
    <p:extLst>
      <p:ext uri="{BB962C8B-B14F-4D97-AF65-F5344CB8AC3E}">
        <p14:creationId xmlns:p14="http://schemas.microsoft.com/office/powerpoint/2010/main" val="4042934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algolytics.com/how-to-assess-quality-and-correctness-of-classification-models-part-4-roc-curve/"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lgolytics.com/how-to-assess-quality-and-correctness-of-classification-models-part-4-roc-curve/"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algolytics.com/how-to-assess-quality-and-correctness-of-classification-models-part-4-roc-curve/"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algolytics.com/how-to-assess-quality-and-correctness-of-classification-models-part-4-roc-curve/"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algolytics.com/how-to-assess-quality-and-correctness-of-classification-models-part-4-roc-curve/"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algolytics.com/how-to-assess-quality-and-correctness-of-classification-models-part-4-roc-curve/"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acutecaretesting.org/en/articles/roc-curves-what-are-they-and-how-are-they-used"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hlinkClick r:id="rId3"/>
              </a:rPr>
              <a:t>http://algolytics.com/how-to-assess-quality-and-correctness-of-classification-models-part-4-roc-curve/</a:t>
            </a:r>
            <a:endParaRPr lang="en-IN" sz="1200" b="0" i="0" kern="1200" dirty="0">
              <a:solidFill>
                <a:schemeClr val="tx1"/>
              </a:solidFill>
              <a:effectLst/>
              <a:latin typeface="+mn-lt"/>
              <a:ea typeface="+mn-ea"/>
              <a:cs typeface="+mn-cs"/>
            </a:endParaRPr>
          </a:p>
          <a:p>
            <a:pPr marL="0" indent="0">
              <a:buNone/>
            </a:pPr>
            <a:r>
              <a:rPr lang="en-IN" sz="1200" b="0" i="0" kern="1200" dirty="0">
                <a:solidFill>
                  <a:schemeClr val="tx1"/>
                </a:solidFill>
                <a:effectLst/>
                <a:latin typeface="+mn-lt"/>
                <a:ea typeface="+mn-ea"/>
                <a:cs typeface="+mn-cs"/>
              </a:rPr>
              <a:t>The more convex the curve, the better the classifier. In the example below, the “green” classifier is better in area 1, and the “red” classifier is better in area 2</a:t>
            </a:r>
            <a:endParaRPr lang="en-IN" dirty="0"/>
          </a:p>
        </p:txBody>
      </p:sp>
      <p:sp>
        <p:nvSpPr>
          <p:cNvPr id="4" name="Slide Number Placeholder 3"/>
          <p:cNvSpPr>
            <a:spLocks noGrp="1"/>
          </p:cNvSpPr>
          <p:nvPr>
            <p:ph type="sldNum" sz="quarter" idx="10"/>
          </p:nvPr>
        </p:nvSpPr>
        <p:spPr/>
        <p:txBody>
          <a:bodyPr/>
          <a:lstStyle/>
          <a:p>
            <a:fld id="{70102B35-6B4A-4536-A3AC-C4A32B4C438F}" type="slidenum">
              <a:rPr lang="en-US" smtClean="0"/>
              <a:t>38</a:t>
            </a:fld>
            <a:endParaRPr lang="en-US"/>
          </a:p>
        </p:txBody>
      </p:sp>
    </p:spTree>
    <p:extLst>
      <p:ext uri="{BB962C8B-B14F-4D97-AF65-F5344CB8AC3E}">
        <p14:creationId xmlns:p14="http://schemas.microsoft.com/office/powerpoint/2010/main" val="2271288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hlinkClick r:id="rId3"/>
              </a:rPr>
              <a:t>http://algolytics.com/how-to-assess-quality-and-correctness-of-classification-models-part-4-roc-curve/</a:t>
            </a:r>
            <a:endParaRPr lang="en-IN" sz="1200" b="0" i="0" kern="1200" dirty="0">
              <a:solidFill>
                <a:schemeClr val="tx1"/>
              </a:solidFill>
              <a:effectLst/>
              <a:latin typeface="+mn-lt"/>
              <a:ea typeface="+mn-ea"/>
              <a:cs typeface="+mn-cs"/>
            </a:endParaRPr>
          </a:p>
          <a:p>
            <a:pPr marL="0" indent="0">
              <a:buNone/>
            </a:pPr>
            <a:r>
              <a:rPr lang="en-IN" sz="1200" b="0" i="0" kern="1200" dirty="0">
                <a:solidFill>
                  <a:schemeClr val="tx1"/>
                </a:solidFill>
                <a:effectLst/>
                <a:latin typeface="+mn-lt"/>
                <a:ea typeface="+mn-ea"/>
                <a:cs typeface="+mn-cs"/>
              </a:rPr>
              <a:t>The more convex the curve, the better the classifier. In the example below, the “green” classifier is better in area 1, and the “red” classifier is better in area 2</a:t>
            </a:r>
            <a:endParaRPr lang="en-IN" dirty="0"/>
          </a:p>
        </p:txBody>
      </p:sp>
      <p:sp>
        <p:nvSpPr>
          <p:cNvPr id="4" name="Slide Number Placeholder 3"/>
          <p:cNvSpPr>
            <a:spLocks noGrp="1"/>
          </p:cNvSpPr>
          <p:nvPr>
            <p:ph type="sldNum" sz="quarter" idx="10"/>
          </p:nvPr>
        </p:nvSpPr>
        <p:spPr/>
        <p:txBody>
          <a:bodyPr/>
          <a:lstStyle/>
          <a:p>
            <a:fld id="{70102B35-6B4A-4536-A3AC-C4A32B4C438F}" type="slidenum">
              <a:rPr lang="en-US" smtClean="0"/>
              <a:t>39</a:t>
            </a:fld>
            <a:endParaRPr lang="en-US"/>
          </a:p>
        </p:txBody>
      </p:sp>
    </p:spTree>
    <p:extLst>
      <p:ext uri="{BB962C8B-B14F-4D97-AF65-F5344CB8AC3E}">
        <p14:creationId xmlns:p14="http://schemas.microsoft.com/office/powerpoint/2010/main" val="2271288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hlinkClick r:id="rId3"/>
              </a:rPr>
              <a:t>http://algolytics.com/how-to-assess-quality-and-correctness-of-classification-models-part-4-roc-curve/</a:t>
            </a:r>
            <a:endParaRPr lang="en-IN" sz="1200" b="0" i="0" kern="1200" dirty="0">
              <a:solidFill>
                <a:schemeClr val="tx1"/>
              </a:solidFill>
              <a:effectLst/>
              <a:latin typeface="+mn-lt"/>
              <a:ea typeface="+mn-ea"/>
              <a:cs typeface="+mn-cs"/>
            </a:endParaRPr>
          </a:p>
          <a:p>
            <a:pPr marL="0" indent="0">
              <a:buNone/>
            </a:pPr>
            <a:r>
              <a:rPr lang="en-IN" sz="1200" b="0" i="0" kern="1200" dirty="0">
                <a:solidFill>
                  <a:schemeClr val="tx1"/>
                </a:solidFill>
                <a:effectLst/>
                <a:latin typeface="+mn-lt"/>
                <a:ea typeface="+mn-ea"/>
                <a:cs typeface="+mn-cs"/>
              </a:rPr>
              <a:t>The more convex the curve, the better the classifier. In the example below, the “green” classifier is better in area 1, and the “red” classifier is better in area 2</a:t>
            </a:r>
            <a:endParaRPr lang="en-IN" dirty="0"/>
          </a:p>
        </p:txBody>
      </p:sp>
      <p:sp>
        <p:nvSpPr>
          <p:cNvPr id="4" name="Slide Number Placeholder 3"/>
          <p:cNvSpPr>
            <a:spLocks noGrp="1"/>
          </p:cNvSpPr>
          <p:nvPr>
            <p:ph type="sldNum" sz="quarter" idx="10"/>
          </p:nvPr>
        </p:nvSpPr>
        <p:spPr/>
        <p:txBody>
          <a:bodyPr/>
          <a:lstStyle/>
          <a:p>
            <a:fld id="{70102B35-6B4A-4536-A3AC-C4A32B4C438F}" type="slidenum">
              <a:rPr lang="en-US" smtClean="0"/>
              <a:t>40</a:t>
            </a:fld>
            <a:endParaRPr lang="en-US"/>
          </a:p>
        </p:txBody>
      </p:sp>
    </p:spTree>
    <p:extLst>
      <p:ext uri="{BB962C8B-B14F-4D97-AF65-F5344CB8AC3E}">
        <p14:creationId xmlns:p14="http://schemas.microsoft.com/office/powerpoint/2010/main" val="2271288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hlinkClick r:id="rId3"/>
              </a:rPr>
              <a:t>http://algolytics.com/how-to-assess-quality-and-correctness-of-classification-models-part-4-roc-curve/</a:t>
            </a:r>
            <a:endParaRPr lang="en-IN" sz="1200" b="0" i="0" kern="1200" dirty="0">
              <a:solidFill>
                <a:schemeClr val="tx1"/>
              </a:solidFill>
              <a:effectLst/>
              <a:latin typeface="+mn-lt"/>
              <a:ea typeface="+mn-ea"/>
              <a:cs typeface="+mn-cs"/>
            </a:endParaRPr>
          </a:p>
          <a:p>
            <a:pPr marL="0" indent="0">
              <a:buNone/>
            </a:pPr>
            <a:r>
              <a:rPr lang="en-IN" sz="1200" b="0" i="0" kern="1200" dirty="0">
                <a:solidFill>
                  <a:schemeClr val="tx1"/>
                </a:solidFill>
                <a:effectLst/>
                <a:latin typeface="+mn-lt"/>
                <a:ea typeface="+mn-ea"/>
                <a:cs typeface="+mn-cs"/>
              </a:rPr>
              <a:t>The more convex the curve, the better the classifier. In the example below, the “green” classifier is better in area 1, and the “red” classifier is better in area 2</a:t>
            </a:r>
            <a:endParaRPr lang="en-IN" dirty="0"/>
          </a:p>
        </p:txBody>
      </p:sp>
      <p:sp>
        <p:nvSpPr>
          <p:cNvPr id="4" name="Slide Number Placeholder 3"/>
          <p:cNvSpPr>
            <a:spLocks noGrp="1"/>
          </p:cNvSpPr>
          <p:nvPr>
            <p:ph type="sldNum" sz="quarter" idx="10"/>
          </p:nvPr>
        </p:nvSpPr>
        <p:spPr/>
        <p:txBody>
          <a:bodyPr/>
          <a:lstStyle/>
          <a:p>
            <a:fld id="{70102B35-6B4A-4536-A3AC-C4A32B4C438F}" type="slidenum">
              <a:rPr lang="en-US" smtClean="0"/>
              <a:t>41</a:t>
            </a:fld>
            <a:endParaRPr lang="en-US"/>
          </a:p>
        </p:txBody>
      </p:sp>
    </p:spTree>
    <p:extLst>
      <p:ext uri="{BB962C8B-B14F-4D97-AF65-F5344CB8AC3E}">
        <p14:creationId xmlns:p14="http://schemas.microsoft.com/office/powerpoint/2010/main" val="2271288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hlinkClick r:id="rId3"/>
              </a:rPr>
              <a:t>http://algolytics.com/how-to-assess-quality-and-correctness-of-classification-models-part-4-roc-curve/</a:t>
            </a:r>
            <a:endParaRPr lang="en-IN" sz="1200" b="0" i="0" kern="1200" dirty="0">
              <a:solidFill>
                <a:schemeClr val="tx1"/>
              </a:solidFill>
              <a:effectLst/>
              <a:latin typeface="+mn-lt"/>
              <a:ea typeface="+mn-ea"/>
              <a:cs typeface="+mn-cs"/>
            </a:endParaRPr>
          </a:p>
          <a:p>
            <a:pPr marL="0" indent="0">
              <a:buNone/>
            </a:pPr>
            <a:r>
              <a:rPr lang="en-IN" sz="1200" b="0" i="0" kern="1200" dirty="0">
                <a:solidFill>
                  <a:schemeClr val="tx1"/>
                </a:solidFill>
                <a:effectLst/>
                <a:latin typeface="+mn-lt"/>
                <a:ea typeface="+mn-ea"/>
                <a:cs typeface="+mn-cs"/>
              </a:rPr>
              <a:t>The more convex the curve, the better the classifier. In the example below, the “green” classifier is better in area 1, and the “red” classifier is better in area 2</a:t>
            </a:r>
            <a:endParaRPr lang="en-IN" dirty="0"/>
          </a:p>
        </p:txBody>
      </p:sp>
      <p:sp>
        <p:nvSpPr>
          <p:cNvPr id="4" name="Slide Number Placeholder 3"/>
          <p:cNvSpPr>
            <a:spLocks noGrp="1"/>
          </p:cNvSpPr>
          <p:nvPr>
            <p:ph type="sldNum" sz="quarter" idx="10"/>
          </p:nvPr>
        </p:nvSpPr>
        <p:spPr/>
        <p:txBody>
          <a:bodyPr/>
          <a:lstStyle/>
          <a:p>
            <a:fld id="{70102B35-6B4A-4536-A3AC-C4A32B4C438F}" type="slidenum">
              <a:rPr lang="en-US" smtClean="0"/>
              <a:t>42</a:t>
            </a:fld>
            <a:endParaRPr lang="en-US"/>
          </a:p>
        </p:txBody>
      </p:sp>
    </p:spTree>
    <p:extLst>
      <p:ext uri="{BB962C8B-B14F-4D97-AF65-F5344CB8AC3E}">
        <p14:creationId xmlns:p14="http://schemas.microsoft.com/office/powerpoint/2010/main" val="2271288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hlinkClick r:id="rId3"/>
              </a:rPr>
              <a:t>http://algolytics.com/how-to-assess-quality-and-correctness-of-classification-models-part-4-roc-curve/</a:t>
            </a:r>
            <a:endParaRPr lang="en-IN" sz="1200" b="0" i="0" kern="1200" dirty="0">
              <a:solidFill>
                <a:schemeClr val="tx1"/>
              </a:solidFill>
              <a:effectLst/>
              <a:latin typeface="+mn-lt"/>
              <a:ea typeface="+mn-ea"/>
              <a:cs typeface="+mn-cs"/>
            </a:endParaRPr>
          </a:p>
          <a:p>
            <a:pPr marL="0" indent="0">
              <a:buNone/>
            </a:pPr>
            <a:r>
              <a:rPr lang="en-IN" sz="1200" b="0" i="0" kern="1200" dirty="0">
                <a:solidFill>
                  <a:schemeClr val="tx1"/>
                </a:solidFill>
                <a:effectLst/>
                <a:latin typeface="+mn-lt"/>
                <a:ea typeface="+mn-ea"/>
                <a:cs typeface="+mn-cs"/>
              </a:rPr>
              <a:t>The more convex the curve, the better the classifier. In the example below, the “green” classifier is better in area 1, and the “red” classifier is better in area 2</a:t>
            </a:r>
          </a:p>
          <a:p>
            <a:pPr marL="0" indent="0">
              <a:buNone/>
            </a:pPr>
            <a:endParaRPr lang="en-IN" sz="1200" b="0" i="0" kern="1200" dirty="0">
              <a:solidFill>
                <a:schemeClr val="tx1"/>
              </a:solidFill>
              <a:effectLst/>
              <a:latin typeface="+mn-lt"/>
              <a:ea typeface="+mn-ea"/>
              <a:cs typeface="+mn-cs"/>
            </a:endParaRPr>
          </a:p>
          <a:p>
            <a:pPr marL="0" indent="0">
              <a:buNone/>
            </a:pPr>
            <a:r>
              <a:rPr lang="en-IN" dirty="0">
                <a:hlinkClick r:id="rId4"/>
              </a:rPr>
              <a:t>https://acutecaretesting.org/en/articles/roc-curves-what-are-they-and-how-are-they-used</a:t>
            </a:r>
            <a:endParaRPr lang="en-IN" dirty="0"/>
          </a:p>
        </p:txBody>
      </p:sp>
      <p:sp>
        <p:nvSpPr>
          <p:cNvPr id="4" name="Slide Number Placeholder 3"/>
          <p:cNvSpPr>
            <a:spLocks noGrp="1"/>
          </p:cNvSpPr>
          <p:nvPr>
            <p:ph type="sldNum" sz="quarter" idx="10"/>
          </p:nvPr>
        </p:nvSpPr>
        <p:spPr/>
        <p:txBody>
          <a:bodyPr/>
          <a:lstStyle/>
          <a:p>
            <a:fld id="{70102B35-6B4A-4536-A3AC-C4A32B4C438F}" type="slidenum">
              <a:rPr lang="en-US" smtClean="0"/>
              <a:t>43</a:t>
            </a:fld>
            <a:endParaRPr lang="en-US"/>
          </a:p>
        </p:txBody>
      </p:sp>
    </p:spTree>
    <p:extLst>
      <p:ext uri="{BB962C8B-B14F-4D97-AF65-F5344CB8AC3E}">
        <p14:creationId xmlns:p14="http://schemas.microsoft.com/office/powerpoint/2010/main" val="2271288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386954" y="246621"/>
            <a:ext cx="8362950" cy="920336"/>
          </a:xfrm>
        </p:spPr>
        <p:txBody>
          <a:bodyPr lIns="0" tIns="0" rIns="0" bIns="0" anchor="b">
            <a:noAutofit/>
          </a:bodyPr>
          <a:lstStyle>
            <a:lvl1pPr>
              <a:defRPr sz="24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386953" y="-16721"/>
            <a:ext cx="943964"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solidFill>
                <a:schemeClr val="bg1"/>
              </a:solidFill>
            </a:endParaRPr>
          </a:p>
        </p:txBody>
      </p:sp>
      <p:sp>
        <p:nvSpPr>
          <p:cNvPr id="9" name="Oval 8">
            <a:extLst>
              <a:ext uri="{FF2B5EF4-FFF2-40B4-BE49-F238E27FC236}">
                <a16:creationId xmlns:a16="http://schemas.microsoft.com/office/drawing/2014/main" id="{1B26B4BC-3D52-4C1C-85FB-226F0B5201F1}"/>
              </a:ext>
            </a:extLst>
          </p:cNvPr>
          <p:cNvSpPr/>
          <p:nvPr/>
        </p:nvSpPr>
        <p:spPr>
          <a:xfrm>
            <a:off x="8528752" y="6409398"/>
            <a:ext cx="210038"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8522772" y="6455740"/>
            <a:ext cx="220845" cy="187367"/>
          </a:xfrm>
        </p:spPr>
        <p:txBody>
          <a:bodyPr lIns="0" tIns="0" rIns="0" bIns="0"/>
          <a:lstStyle>
            <a:lvl1pPr algn="ctr">
              <a:defRPr sz="675">
                <a:solidFill>
                  <a:schemeClr val="bg1"/>
                </a:solidFill>
                <a:latin typeface="+mn-lt"/>
              </a:defRPr>
            </a:lvl1pPr>
          </a:lstStyle>
          <a:p>
            <a:fld id="{B6F15528-21DE-4FAA-801E-634DDDAF4B2B}" type="slidenum">
              <a:rPr lang="en-IN" smtClean="0"/>
              <a:t>‹#›</a:t>
            </a:fld>
            <a:endParaRPr lang="en-IN"/>
          </a:p>
        </p:txBody>
      </p:sp>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091774" cy="7455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6627016-BFC4-46D4-89DB-F72E3C3461EC}"/>
              </a:ext>
            </a:extLst>
          </p:cNvPr>
          <p:cNvSpPr/>
          <p:nvPr/>
        </p:nvSpPr>
        <p:spPr>
          <a:xfrm rot="10800000">
            <a:off x="386953" y="-16722"/>
            <a:ext cx="943964"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solidFill>
                <a:schemeClr val="bg1"/>
              </a:solidFill>
            </a:endParaRPr>
          </a:p>
        </p:txBody>
      </p:sp>
      <p:sp>
        <p:nvSpPr>
          <p:cNvPr id="11" name="Rectangle 10">
            <a:extLst>
              <a:ext uri="{FF2B5EF4-FFF2-40B4-BE49-F238E27FC236}">
                <a16:creationId xmlns:a16="http://schemas.microsoft.com/office/drawing/2014/main" id="{76627016-BFC4-46D4-89DB-F72E3C3461EC}"/>
              </a:ext>
            </a:extLst>
          </p:cNvPr>
          <p:cNvSpPr/>
          <p:nvPr userDrawn="1"/>
        </p:nvSpPr>
        <p:spPr>
          <a:xfrm rot="10800000">
            <a:off x="386953" y="-16722"/>
            <a:ext cx="943964"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solidFill>
                <a:schemeClr val="bg1"/>
              </a:solidFill>
            </a:endParaRPr>
          </a:p>
        </p:txBody>
      </p:sp>
    </p:spTree>
    <p:extLst>
      <p:ext uri="{BB962C8B-B14F-4D97-AF65-F5344CB8AC3E}">
        <p14:creationId xmlns:p14="http://schemas.microsoft.com/office/powerpoint/2010/main" val="2080586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7/27/2021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a:t>Logistic Regression/DT</a:t>
            </a:r>
            <a:br>
              <a:rPr lang="en-IN" dirty="0"/>
            </a:br>
            <a:r>
              <a:rPr lang="en-IN" dirty="0"/>
              <a:t>CONFUSION MATRIX</a:t>
            </a:r>
            <a:br>
              <a:rPr lang="en-IN" dirty="0"/>
            </a:br>
            <a:r>
              <a:rPr lang="en-IN" dirty="0" err="1"/>
              <a:t>Precison</a:t>
            </a:r>
            <a:r>
              <a:rPr lang="en-IN" dirty="0"/>
              <a:t>, Recall, F1-Score	</a:t>
            </a:r>
          </a:p>
        </p:txBody>
      </p:sp>
      <p:sp>
        <p:nvSpPr>
          <p:cNvPr id="3" name="Subtitle 2"/>
          <p:cNvSpPr>
            <a:spLocks noGrp="1"/>
          </p:cNvSpPr>
          <p:nvPr>
            <p:ph type="subTitle" idx="1"/>
          </p:nvPr>
        </p:nvSpPr>
        <p:spPr>
          <a:xfrm>
            <a:off x="1295400" y="4572000"/>
            <a:ext cx="6400800" cy="1752600"/>
          </a:xfrm>
        </p:spPr>
        <p:txBody>
          <a:bodyPr/>
          <a:lstStyle/>
          <a:p>
            <a:r>
              <a:rPr lang="en-IN" dirty="0"/>
              <a:t>Arunkumar Nair</a:t>
            </a:r>
          </a:p>
        </p:txBody>
      </p:sp>
    </p:spTree>
    <p:extLst>
      <p:ext uri="{BB962C8B-B14F-4D97-AF65-F5344CB8AC3E}">
        <p14:creationId xmlns:p14="http://schemas.microsoft.com/office/powerpoint/2010/main" val="3058616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7D7FE4-A769-4825-B889-A7CC3AD1CC68}"/>
              </a:ext>
            </a:extLst>
          </p:cNvPr>
          <p:cNvSpPr>
            <a:spLocks noGrp="1"/>
          </p:cNvSpPr>
          <p:nvPr>
            <p:ph type="ctrTitle"/>
          </p:nvPr>
        </p:nvSpPr>
        <p:spPr/>
        <p:txBody>
          <a:bodyPr/>
          <a:lstStyle/>
          <a:p>
            <a:r>
              <a:rPr lang="en-IN" dirty="0" err="1"/>
              <a:t>MutliClass</a:t>
            </a:r>
            <a:endParaRPr lang="en-IN" dirty="0"/>
          </a:p>
        </p:txBody>
      </p:sp>
      <p:sp>
        <p:nvSpPr>
          <p:cNvPr id="5" name="Subtitle 4">
            <a:extLst>
              <a:ext uri="{FF2B5EF4-FFF2-40B4-BE49-F238E27FC236}">
                <a16:creationId xmlns:a16="http://schemas.microsoft.com/office/drawing/2014/main" id="{E1DDC88C-832A-4E8B-9F0C-CC25383442E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369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Accuracy and Other Metrics</a:t>
            </a:r>
          </a:p>
        </p:txBody>
      </p:sp>
      <p:sp>
        <p:nvSpPr>
          <p:cNvPr id="3" name="Content Placeholder 2"/>
          <p:cNvSpPr>
            <a:spLocks noGrp="1"/>
          </p:cNvSpPr>
          <p:nvPr>
            <p:ph idx="1"/>
          </p:nvPr>
        </p:nvSpPr>
        <p:spPr/>
        <p:txBody>
          <a:bodyPr>
            <a:normAutofit/>
          </a:bodyPr>
          <a:lstStyle/>
          <a:p>
            <a:pPr marL="0" indent="0">
              <a:buNone/>
            </a:pPr>
            <a:r>
              <a:rPr lang="en-US" sz="2400" dirty="0"/>
              <a:t>For a binary classification problem, we will know our positive class (like spam, fraud, has cancer, </a:t>
            </a:r>
            <a:r>
              <a:rPr lang="en-US" sz="2400" dirty="0" err="1"/>
              <a:t>etc</a:t>
            </a:r>
            <a:r>
              <a:rPr lang="en-US" sz="2400" dirty="0"/>
              <a:t>) and hence we can focus on the scores for the positive class  (accuracy).</a:t>
            </a:r>
            <a:br>
              <a:rPr lang="en-US" sz="2400" dirty="0"/>
            </a:br>
            <a:endParaRPr lang="en-US" sz="2400" dirty="0"/>
          </a:p>
          <a:p>
            <a:pPr marL="0" indent="0">
              <a:buNone/>
            </a:pPr>
            <a:r>
              <a:rPr lang="en-US" sz="2400" dirty="0"/>
              <a:t>But, for a multiclass classification problem or a data that has  class imbalance, accuracy metrics can be misleading. So we need to look at :</a:t>
            </a:r>
          </a:p>
          <a:p>
            <a:pPr marL="514350" indent="-514350">
              <a:buFont typeface="+mj-lt"/>
              <a:buAutoNum type="arabicPeriod"/>
            </a:pPr>
            <a:r>
              <a:rPr lang="en-US" sz="2400" dirty="0"/>
              <a:t>recall, </a:t>
            </a:r>
          </a:p>
          <a:p>
            <a:pPr marL="514350" indent="-514350">
              <a:buFont typeface="+mj-lt"/>
              <a:buAutoNum type="arabicPeriod"/>
            </a:pPr>
            <a:r>
              <a:rPr lang="en-US" sz="2400" dirty="0"/>
              <a:t>precision, </a:t>
            </a:r>
          </a:p>
          <a:p>
            <a:pPr marL="514350" indent="-514350">
              <a:buFont typeface="+mj-lt"/>
              <a:buAutoNum type="arabicPeriod"/>
            </a:pPr>
            <a:r>
              <a:rPr lang="en-US" sz="2400" dirty="0"/>
              <a:t>f1 scores, </a:t>
            </a:r>
          </a:p>
        </p:txBody>
      </p:sp>
    </p:spTree>
    <p:extLst>
      <p:ext uri="{BB962C8B-B14F-4D97-AF65-F5344CB8AC3E}">
        <p14:creationId xmlns:p14="http://schemas.microsoft.com/office/powerpoint/2010/main" val="548886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Case-Study: Fruit Classification</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We understand Accuracy, Recall, Precision, F1-Score with  the following case study of fruit classification. </a:t>
            </a:r>
          </a:p>
          <a:p>
            <a:pPr marL="0" indent="0">
              <a:buNone/>
            </a:pPr>
            <a:endParaRPr lang="en-US" dirty="0"/>
          </a:p>
          <a:p>
            <a:pPr marL="0" indent="0">
              <a:buNone/>
            </a:pPr>
            <a:r>
              <a:rPr lang="en-US" dirty="0"/>
              <a:t>As an example, let’s assume that our model predicted the fruit types- </a:t>
            </a:r>
            <a:r>
              <a:rPr lang="en-US" b="1" dirty="0"/>
              <a:t>Apple (A), Banana(B) and Custard apple(C)</a:t>
            </a:r>
            <a:r>
              <a:rPr lang="en-US" dirty="0"/>
              <a:t> and the prediction data gave the </a:t>
            </a:r>
            <a:r>
              <a:rPr lang="en-US" b="1" dirty="0"/>
              <a:t>confusion matrix. </a:t>
            </a:r>
          </a:p>
          <a:p>
            <a:pPr marL="0" indent="0">
              <a:buNone/>
            </a:pPr>
            <a:br>
              <a:rPr lang="en-US" dirty="0"/>
            </a:br>
            <a:r>
              <a:rPr lang="en-US" dirty="0"/>
              <a:t>Apple (A), Banana(B) and Custard apple(C):</a:t>
            </a:r>
          </a:p>
          <a:p>
            <a:pPr marL="0" indent="0">
              <a:buNone/>
            </a:pPr>
            <a:r>
              <a:rPr lang="en-US" dirty="0"/>
              <a:t>Total number of observations in the data </a:t>
            </a:r>
          </a:p>
          <a:p>
            <a:pPr marL="0" indent="0">
              <a:buNone/>
            </a:pPr>
            <a:r>
              <a:rPr lang="en-US" dirty="0"/>
              <a:t>(i.e., fruits) = 25</a:t>
            </a:r>
          </a:p>
          <a:p>
            <a:pPr marL="0" indent="0">
              <a:buNone/>
            </a:pPr>
            <a:r>
              <a:rPr lang="en-US" dirty="0"/>
              <a:t>A=10</a:t>
            </a:r>
          </a:p>
          <a:p>
            <a:pPr marL="0" indent="0">
              <a:buNone/>
            </a:pPr>
            <a:r>
              <a:rPr lang="en-US" dirty="0"/>
              <a:t>B=8</a:t>
            </a:r>
          </a:p>
          <a:p>
            <a:pPr marL="0" indent="0">
              <a:buNone/>
            </a:pPr>
            <a:r>
              <a:rPr lang="en-US" dirty="0"/>
              <a:t>C=7</a:t>
            </a:r>
          </a:p>
          <a:p>
            <a:pPr marL="0" indent="0">
              <a:buNone/>
            </a:pPr>
            <a:endParaRPr lang="en-US" dirty="0"/>
          </a:p>
        </p:txBody>
      </p:sp>
    </p:spTree>
    <p:extLst>
      <p:ext uri="{BB962C8B-B14F-4D97-AF65-F5344CB8AC3E}">
        <p14:creationId xmlns:p14="http://schemas.microsoft.com/office/powerpoint/2010/main" val="2239061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3FDE9-2A5B-43C0-AA4F-4F5842AEF560}"/>
              </a:ext>
            </a:extLst>
          </p:cNvPr>
          <p:cNvSpPr>
            <a:spLocks noGrp="1"/>
          </p:cNvSpPr>
          <p:nvPr>
            <p:ph type="title"/>
          </p:nvPr>
        </p:nvSpPr>
        <p:spPr/>
        <p:txBody>
          <a:bodyPr>
            <a:normAutofit fontScale="90000"/>
          </a:bodyPr>
          <a:lstStyle/>
          <a:p>
            <a:r>
              <a:rPr lang="en-IN" dirty="0"/>
              <a:t>Fruit Classification :Confusion Matrix</a:t>
            </a:r>
          </a:p>
        </p:txBody>
      </p:sp>
      <p:pic>
        <p:nvPicPr>
          <p:cNvPr id="6" name="Picture 5">
            <a:extLst>
              <a:ext uri="{FF2B5EF4-FFF2-40B4-BE49-F238E27FC236}">
                <a16:creationId xmlns:a16="http://schemas.microsoft.com/office/drawing/2014/main" id="{B1B8870B-9B3A-4373-ADF0-F236A8AEE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9144000" cy="4572000"/>
          </a:xfrm>
          <a:prstGeom prst="rect">
            <a:avLst/>
          </a:prstGeom>
        </p:spPr>
      </p:pic>
      <p:sp>
        <p:nvSpPr>
          <p:cNvPr id="7" name="Rectangle 6">
            <a:extLst>
              <a:ext uri="{FF2B5EF4-FFF2-40B4-BE49-F238E27FC236}">
                <a16:creationId xmlns:a16="http://schemas.microsoft.com/office/drawing/2014/main" id="{FD850CA5-2395-4670-9A87-84EAD9002EA4}"/>
              </a:ext>
            </a:extLst>
          </p:cNvPr>
          <p:cNvSpPr/>
          <p:nvPr/>
        </p:nvSpPr>
        <p:spPr>
          <a:xfrm>
            <a:off x="6096000" y="4724400"/>
            <a:ext cx="22098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9" name="TextBox 8">
            <a:extLst>
              <a:ext uri="{FF2B5EF4-FFF2-40B4-BE49-F238E27FC236}">
                <a16:creationId xmlns:a16="http://schemas.microsoft.com/office/drawing/2014/main" id="{9F02A2EF-D61B-45A0-9913-6C084D344FDE}"/>
              </a:ext>
            </a:extLst>
          </p:cNvPr>
          <p:cNvSpPr txBox="1"/>
          <p:nvPr/>
        </p:nvSpPr>
        <p:spPr>
          <a:xfrm>
            <a:off x="1470804" y="5312434"/>
            <a:ext cx="4050340" cy="1754326"/>
          </a:xfrm>
          <a:prstGeom prst="rect">
            <a:avLst/>
          </a:prstGeom>
          <a:noFill/>
        </p:spPr>
        <p:txBody>
          <a:bodyPr wrap="none" rtlCol="0">
            <a:spAutoFit/>
          </a:bodyPr>
          <a:lstStyle/>
          <a:p>
            <a:r>
              <a:rPr lang="en-US" dirty="0"/>
              <a:t>Total number of observations in the data </a:t>
            </a:r>
          </a:p>
          <a:p>
            <a:r>
              <a:rPr lang="en-US" dirty="0"/>
              <a:t>(i.e., fruits) = 25</a:t>
            </a:r>
          </a:p>
          <a:p>
            <a:r>
              <a:rPr lang="en-US" dirty="0"/>
              <a:t>A=10</a:t>
            </a:r>
          </a:p>
          <a:p>
            <a:r>
              <a:rPr lang="en-US" dirty="0"/>
              <a:t>B=8</a:t>
            </a:r>
          </a:p>
          <a:p>
            <a:r>
              <a:rPr lang="en-US" dirty="0"/>
              <a:t>C=7</a:t>
            </a:r>
          </a:p>
          <a:p>
            <a:endParaRPr lang="en-IN" dirty="0"/>
          </a:p>
        </p:txBody>
      </p:sp>
      <p:sp>
        <p:nvSpPr>
          <p:cNvPr id="13" name="Rectangle 12">
            <a:extLst>
              <a:ext uri="{FF2B5EF4-FFF2-40B4-BE49-F238E27FC236}">
                <a16:creationId xmlns:a16="http://schemas.microsoft.com/office/drawing/2014/main" id="{D53F7ED5-CDCA-4006-A4BC-9BB1FB236C16}"/>
              </a:ext>
            </a:extLst>
          </p:cNvPr>
          <p:cNvSpPr/>
          <p:nvPr/>
        </p:nvSpPr>
        <p:spPr>
          <a:xfrm>
            <a:off x="5521144" y="2971800"/>
            <a:ext cx="270056" cy="14693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81089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3FDE9-2A5B-43C0-AA4F-4F5842AEF560}"/>
              </a:ext>
            </a:extLst>
          </p:cNvPr>
          <p:cNvSpPr>
            <a:spLocks noGrp="1"/>
          </p:cNvSpPr>
          <p:nvPr>
            <p:ph type="title"/>
          </p:nvPr>
        </p:nvSpPr>
        <p:spPr/>
        <p:txBody>
          <a:bodyPr>
            <a:normAutofit fontScale="90000"/>
          </a:bodyPr>
          <a:lstStyle/>
          <a:p>
            <a:r>
              <a:rPr lang="en-IN" dirty="0"/>
              <a:t>Fruit Classification :Confusion Matrix</a:t>
            </a:r>
          </a:p>
        </p:txBody>
      </p:sp>
      <p:pic>
        <p:nvPicPr>
          <p:cNvPr id="6" name="Picture 5">
            <a:extLst>
              <a:ext uri="{FF2B5EF4-FFF2-40B4-BE49-F238E27FC236}">
                <a16:creationId xmlns:a16="http://schemas.microsoft.com/office/drawing/2014/main" id="{B1B8870B-9B3A-4373-ADF0-F236A8AEE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9144000" cy="4572000"/>
          </a:xfrm>
          <a:prstGeom prst="rect">
            <a:avLst/>
          </a:prstGeom>
        </p:spPr>
      </p:pic>
      <p:sp>
        <p:nvSpPr>
          <p:cNvPr id="7" name="Rectangle 6">
            <a:extLst>
              <a:ext uri="{FF2B5EF4-FFF2-40B4-BE49-F238E27FC236}">
                <a16:creationId xmlns:a16="http://schemas.microsoft.com/office/drawing/2014/main" id="{FD850CA5-2395-4670-9A87-84EAD9002EA4}"/>
              </a:ext>
            </a:extLst>
          </p:cNvPr>
          <p:cNvSpPr/>
          <p:nvPr/>
        </p:nvSpPr>
        <p:spPr>
          <a:xfrm>
            <a:off x="6096000" y="4724400"/>
            <a:ext cx="2209800" cy="60960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Predictions</a:t>
            </a:r>
          </a:p>
        </p:txBody>
      </p:sp>
      <p:sp>
        <p:nvSpPr>
          <p:cNvPr id="9" name="TextBox 8">
            <a:extLst>
              <a:ext uri="{FF2B5EF4-FFF2-40B4-BE49-F238E27FC236}">
                <a16:creationId xmlns:a16="http://schemas.microsoft.com/office/drawing/2014/main" id="{9F02A2EF-D61B-45A0-9913-6C084D344FDE}"/>
              </a:ext>
            </a:extLst>
          </p:cNvPr>
          <p:cNvSpPr txBox="1"/>
          <p:nvPr/>
        </p:nvSpPr>
        <p:spPr>
          <a:xfrm>
            <a:off x="421257" y="5132429"/>
            <a:ext cx="4050340" cy="923330"/>
          </a:xfrm>
          <a:prstGeom prst="rect">
            <a:avLst/>
          </a:prstGeom>
          <a:noFill/>
        </p:spPr>
        <p:txBody>
          <a:bodyPr wrap="none" rtlCol="0">
            <a:spAutoFit/>
          </a:bodyPr>
          <a:lstStyle/>
          <a:p>
            <a:r>
              <a:rPr lang="en-US" dirty="0"/>
              <a:t>Total number of observations in the data </a:t>
            </a:r>
          </a:p>
          <a:p>
            <a:r>
              <a:rPr lang="en-US" dirty="0"/>
              <a:t>(i.e., fruits) = 25</a:t>
            </a:r>
          </a:p>
          <a:p>
            <a:endParaRPr lang="en-IN" dirty="0"/>
          </a:p>
        </p:txBody>
      </p:sp>
      <p:sp>
        <p:nvSpPr>
          <p:cNvPr id="5" name="Rectangle 4">
            <a:extLst>
              <a:ext uri="{FF2B5EF4-FFF2-40B4-BE49-F238E27FC236}">
                <a16:creationId xmlns:a16="http://schemas.microsoft.com/office/drawing/2014/main" id="{560A4397-3500-469D-A182-419D42FC60EA}"/>
              </a:ext>
            </a:extLst>
          </p:cNvPr>
          <p:cNvSpPr/>
          <p:nvPr/>
        </p:nvSpPr>
        <p:spPr>
          <a:xfrm>
            <a:off x="3505200" y="4724400"/>
            <a:ext cx="1752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E45CC56-0ACD-46C5-AA8B-F5D635D96061}"/>
              </a:ext>
            </a:extLst>
          </p:cNvPr>
          <p:cNvSpPr/>
          <p:nvPr/>
        </p:nvSpPr>
        <p:spPr>
          <a:xfrm>
            <a:off x="4991100" y="1417638"/>
            <a:ext cx="2209800" cy="30480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Actuals</a:t>
            </a:r>
          </a:p>
        </p:txBody>
      </p:sp>
      <p:sp>
        <p:nvSpPr>
          <p:cNvPr id="13" name="Rectangle 12">
            <a:extLst>
              <a:ext uri="{FF2B5EF4-FFF2-40B4-BE49-F238E27FC236}">
                <a16:creationId xmlns:a16="http://schemas.microsoft.com/office/drawing/2014/main" id="{D53F7ED5-CDCA-4006-A4BC-9BB1FB236C16}"/>
              </a:ext>
            </a:extLst>
          </p:cNvPr>
          <p:cNvSpPr/>
          <p:nvPr/>
        </p:nvSpPr>
        <p:spPr>
          <a:xfrm>
            <a:off x="5521144" y="2971800"/>
            <a:ext cx="270056" cy="14693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7">
            <a:extLst>
              <a:ext uri="{FF2B5EF4-FFF2-40B4-BE49-F238E27FC236}">
                <a16:creationId xmlns:a16="http://schemas.microsoft.com/office/drawing/2014/main" id="{4F49D5B2-9095-4B3D-A504-729158F0216D}"/>
              </a:ext>
            </a:extLst>
          </p:cNvPr>
          <p:cNvGraphicFramePr>
            <a:graphicFrameLocks noGrp="1"/>
          </p:cNvGraphicFramePr>
          <p:nvPr/>
        </p:nvGraphicFramePr>
        <p:xfrm>
          <a:off x="2258270" y="5544466"/>
          <a:ext cx="2493860" cy="1229044"/>
        </p:xfrm>
        <a:graphic>
          <a:graphicData uri="http://schemas.openxmlformats.org/drawingml/2006/table">
            <a:tbl>
              <a:tblPr firstRow="1" bandRow="1">
                <a:tableStyleId>{5C22544A-7EE6-4342-B048-85BDC9FD1C3A}</a:tableStyleId>
              </a:tblPr>
              <a:tblGrid>
                <a:gridCol w="694493">
                  <a:extLst>
                    <a:ext uri="{9D8B030D-6E8A-4147-A177-3AD203B41FA5}">
                      <a16:colId xmlns:a16="http://schemas.microsoft.com/office/drawing/2014/main" val="2822140975"/>
                    </a:ext>
                  </a:extLst>
                </a:gridCol>
                <a:gridCol w="757628">
                  <a:extLst>
                    <a:ext uri="{9D8B030D-6E8A-4147-A177-3AD203B41FA5}">
                      <a16:colId xmlns:a16="http://schemas.microsoft.com/office/drawing/2014/main" val="2718412212"/>
                    </a:ext>
                  </a:extLst>
                </a:gridCol>
                <a:gridCol w="1041739">
                  <a:extLst>
                    <a:ext uri="{9D8B030D-6E8A-4147-A177-3AD203B41FA5}">
                      <a16:colId xmlns:a16="http://schemas.microsoft.com/office/drawing/2014/main" val="304953411"/>
                    </a:ext>
                  </a:extLst>
                </a:gridCol>
              </a:tblGrid>
              <a:tr h="307261">
                <a:tc>
                  <a:txBody>
                    <a:bodyPr/>
                    <a:lstStyle/>
                    <a:p>
                      <a:r>
                        <a:rPr lang="en-IN" sz="1200" dirty="0"/>
                        <a:t>Fruits</a:t>
                      </a:r>
                    </a:p>
                  </a:txBody>
                  <a:tcPr marL="75762" marR="75762" marT="37882" marB="37882"/>
                </a:tc>
                <a:tc>
                  <a:txBody>
                    <a:bodyPr/>
                    <a:lstStyle/>
                    <a:p>
                      <a:r>
                        <a:rPr lang="en-IN" sz="1200" dirty="0"/>
                        <a:t>Actuals</a:t>
                      </a:r>
                    </a:p>
                  </a:txBody>
                  <a:tcPr marL="75762" marR="75762" marT="37882" marB="37882"/>
                </a:tc>
                <a:tc>
                  <a:txBody>
                    <a:bodyPr/>
                    <a:lstStyle/>
                    <a:p>
                      <a:r>
                        <a:rPr lang="en-IN" sz="1200" dirty="0"/>
                        <a:t>Predicted</a:t>
                      </a:r>
                    </a:p>
                  </a:txBody>
                  <a:tcPr marL="75762" marR="75762" marT="37882" marB="37882"/>
                </a:tc>
                <a:extLst>
                  <a:ext uri="{0D108BD9-81ED-4DB2-BD59-A6C34878D82A}">
                    <a16:rowId xmlns:a16="http://schemas.microsoft.com/office/drawing/2014/main" val="2264031190"/>
                  </a:ext>
                </a:extLst>
              </a:tr>
              <a:tr h="307261">
                <a:tc>
                  <a:txBody>
                    <a:bodyPr/>
                    <a:lstStyle/>
                    <a:p>
                      <a:r>
                        <a:rPr lang="en-IN" sz="1200" dirty="0"/>
                        <a:t>A</a:t>
                      </a:r>
                    </a:p>
                  </a:txBody>
                  <a:tcPr marL="75762" marR="75762" marT="37882" marB="37882"/>
                </a:tc>
                <a:tc>
                  <a:txBody>
                    <a:bodyPr/>
                    <a:lstStyle/>
                    <a:p>
                      <a:r>
                        <a:rPr lang="en-IN" sz="1200" dirty="0"/>
                        <a:t>10</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3502334332"/>
                  </a:ext>
                </a:extLst>
              </a:tr>
              <a:tr h="307261">
                <a:tc>
                  <a:txBody>
                    <a:bodyPr/>
                    <a:lstStyle/>
                    <a:p>
                      <a:r>
                        <a:rPr lang="en-IN" sz="1200" dirty="0"/>
                        <a:t>B</a:t>
                      </a:r>
                    </a:p>
                  </a:txBody>
                  <a:tcPr marL="75762" marR="75762" marT="37882" marB="37882"/>
                </a:tc>
                <a:tc>
                  <a:txBody>
                    <a:bodyPr/>
                    <a:lstStyle/>
                    <a:p>
                      <a:r>
                        <a:rPr lang="en-IN" sz="1200" dirty="0"/>
                        <a:t>8</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2086638053"/>
                  </a:ext>
                </a:extLst>
              </a:tr>
              <a:tr h="307261">
                <a:tc>
                  <a:txBody>
                    <a:bodyPr/>
                    <a:lstStyle/>
                    <a:p>
                      <a:r>
                        <a:rPr lang="en-IN" sz="1200" dirty="0"/>
                        <a:t>C</a:t>
                      </a:r>
                    </a:p>
                  </a:txBody>
                  <a:tcPr marL="75762" marR="75762" marT="37882" marB="37882"/>
                </a:tc>
                <a:tc>
                  <a:txBody>
                    <a:bodyPr/>
                    <a:lstStyle/>
                    <a:p>
                      <a:r>
                        <a:rPr lang="en-IN" sz="1200" dirty="0"/>
                        <a:t>7</a:t>
                      </a:r>
                    </a:p>
                  </a:txBody>
                  <a:tcPr marL="75762" marR="75762" marT="37882" marB="37882"/>
                </a:tc>
                <a:tc>
                  <a:txBody>
                    <a:bodyPr/>
                    <a:lstStyle/>
                    <a:p>
                      <a:r>
                        <a:rPr lang="en-IN" sz="1200" dirty="0"/>
                        <a:t>5</a:t>
                      </a:r>
                    </a:p>
                  </a:txBody>
                  <a:tcPr marL="75762" marR="75762" marT="37882" marB="37882"/>
                </a:tc>
                <a:extLst>
                  <a:ext uri="{0D108BD9-81ED-4DB2-BD59-A6C34878D82A}">
                    <a16:rowId xmlns:a16="http://schemas.microsoft.com/office/drawing/2014/main" val="4237340096"/>
                  </a:ext>
                </a:extLst>
              </a:tr>
            </a:tbl>
          </a:graphicData>
        </a:graphic>
      </p:graphicFrame>
    </p:spTree>
    <p:extLst>
      <p:ext uri="{BB962C8B-B14F-4D97-AF65-F5344CB8AC3E}">
        <p14:creationId xmlns:p14="http://schemas.microsoft.com/office/powerpoint/2010/main" val="263848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Fruit Classification :Confusion Matrix</a:t>
            </a:r>
          </a:p>
        </p:txBody>
      </p:sp>
      <p:sp>
        <p:nvSpPr>
          <p:cNvPr id="3" name="Content Placeholder 2"/>
          <p:cNvSpPr>
            <a:spLocks noGrp="1"/>
          </p:cNvSpPr>
          <p:nvPr>
            <p:ph idx="1"/>
          </p:nvPr>
        </p:nvSpPr>
        <p:spPr/>
        <p:txBody>
          <a:bodyPr>
            <a:normAutofit fontScale="92500" lnSpcReduction="20000"/>
          </a:bodyPr>
          <a:lstStyle/>
          <a:p>
            <a:pPr marL="0" indent="0">
              <a:buNone/>
            </a:pPr>
            <a:r>
              <a:rPr lang="en-US" sz="2000" dirty="0"/>
              <a:t>Dataset: Apple (A), Banana(B) and Custard apple(C):</a:t>
            </a:r>
          </a:p>
          <a:p>
            <a:pPr marL="0" indent="0">
              <a:buNone/>
            </a:pPr>
            <a:endParaRPr lang="en-US" sz="2000" dirty="0"/>
          </a:p>
          <a:p>
            <a:pPr marL="0" indent="0">
              <a:buNone/>
            </a:pPr>
            <a:r>
              <a:rPr lang="en-US" sz="2000" dirty="0"/>
              <a:t>Total number of observations in the data (i.e., fruits) = 25</a:t>
            </a:r>
          </a:p>
          <a:p>
            <a:pPr marL="0" indent="0">
              <a:buNone/>
            </a:pPr>
            <a:r>
              <a:rPr lang="en-US" sz="2000" dirty="0"/>
              <a:t>Number of A, B, C type fruits the data has = 10, 8, 7 respectively</a:t>
            </a:r>
            <a:br>
              <a:rPr lang="en-US" sz="2000" dirty="0"/>
            </a:br>
            <a:endParaRPr lang="en-US" sz="2000" dirty="0"/>
          </a:p>
          <a:p>
            <a:pPr marL="0" indent="0">
              <a:buNone/>
            </a:pPr>
            <a:r>
              <a:rPr lang="en-US" sz="2000" dirty="0"/>
              <a:t>Predicted Model saw more instances of Bananas (B = 10) , more than the (B=8) actually present in the data set. Custard apple saw (C=7) predictions, less than the (C=5) actually present in the data set. </a:t>
            </a:r>
          </a:p>
          <a:p>
            <a:pPr marL="0" indent="0">
              <a:buNone/>
            </a:pPr>
            <a:endParaRPr lang="en-US" sz="2000" dirty="0"/>
          </a:p>
          <a:p>
            <a:pPr marL="0" indent="0">
              <a:buNone/>
            </a:pPr>
            <a:r>
              <a:rPr lang="en-US" sz="2000" dirty="0"/>
              <a:t>The diagonal observations are the </a:t>
            </a:r>
            <a:r>
              <a:rPr lang="en-US" sz="2000" b="1" dirty="0"/>
              <a:t>true positives </a:t>
            </a:r>
            <a:r>
              <a:rPr lang="en-US" sz="2000" dirty="0"/>
              <a:t>of each class i.e., the number of times the model correctly identified A as A, B as B and C as C</a:t>
            </a:r>
            <a:br>
              <a:rPr lang="en-US" sz="2000" dirty="0"/>
            </a:br>
            <a:endParaRPr lang="en-US" sz="2000" dirty="0"/>
          </a:p>
          <a:p>
            <a:pPr marL="0" indent="0">
              <a:buNone/>
            </a:pPr>
            <a:r>
              <a:rPr lang="en-US" sz="2000" dirty="0"/>
              <a:t>All other non-diagonal observations are incorrect classifications made by the model</a:t>
            </a:r>
            <a:br>
              <a:rPr lang="en-US" sz="2000" dirty="0"/>
            </a:br>
            <a:endParaRPr lang="en-US" sz="2000" dirty="0"/>
          </a:p>
          <a:p>
            <a:pPr marL="0" indent="0">
              <a:buNone/>
            </a:pPr>
            <a:r>
              <a:rPr lang="en-US" sz="2000" dirty="0"/>
              <a:t>In the code example, let’s rebuild the same confusion matrix in python so that the metric values can be validated at each step.</a:t>
            </a:r>
          </a:p>
        </p:txBody>
      </p:sp>
      <p:graphicFrame>
        <p:nvGraphicFramePr>
          <p:cNvPr id="5" name="Table 7">
            <a:extLst>
              <a:ext uri="{FF2B5EF4-FFF2-40B4-BE49-F238E27FC236}">
                <a16:creationId xmlns:a16="http://schemas.microsoft.com/office/drawing/2014/main" id="{B469FC7C-FFFA-497C-9764-4F502D148CCA}"/>
              </a:ext>
            </a:extLst>
          </p:cNvPr>
          <p:cNvGraphicFramePr>
            <a:graphicFrameLocks noGrp="1"/>
          </p:cNvGraphicFramePr>
          <p:nvPr/>
        </p:nvGraphicFramePr>
        <p:xfrm>
          <a:off x="6192940" y="1219200"/>
          <a:ext cx="2493860" cy="1229044"/>
        </p:xfrm>
        <a:graphic>
          <a:graphicData uri="http://schemas.openxmlformats.org/drawingml/2006/table">
            <a:tbl>
              <a:tblPr firstRow="1" bandRow="1">
                <a:tableStyleId>{5C22544A-7EE6-4342-B048-85BDC9FD1C3A}</a:tableStyleId>
              </a:tblPr>
              <a:tblGrid>
                <a:gridCol w="694493">
                  <a:extLst>
                    <a:ext uri="{9D8B030D-6E8A-4147-A177-3AD203B41FA5}">
                      <a16:colId xmlns:a16="http://schemas.microsoft.com/office/drawing/2014/main" val="2822140975"/>
                    </a:ext>
                  </a:extLst>
                </a:gridCol>
                <a:gridCol w="757628">
                  <a:extLst>
                    <a:ext uri="{9D8B030D-6E8A-4147-A177-3AD203B41FA5}">
                      <a16:colId xmlns:a16="http://schemas.microsoft.com/office/drawing/2014/main" val="2718412212"/>
                    </a:ext>
                  </a:extLst>
                </a:gridCol>
                <a:gridCol w="1041739">
                  <a:extLst>
                    <a:ext uri="{9D8B030D-6E8A-4147-A177-3AD203B41FA5}">
                      <a16:colId xmlns:a16="http://schemas.microsoft.com/office/drawing/2014/main" val="304953411"/>
                    </a:ext>
                  </a:extLst>
                </a:gridCol>
              </a:tblGrid>
              <a:tr h="307261">
                <a:tc>
                  <a:txBody>
                    <a:bodyPr/>
                    <a:lstStyle/>
                    <a:p>
                      <a:r>
                        <a:rPr lang="en-IN" sz="1200" dirty="0"/>
                        <a:t>Fruits</a:t>
                      </a:r>
                    </a:p>
                  </a:txBody>
                  <a:tcPr marL="75762" marR="75762" marT="37882" marB="37882"/>
                </a:tc>
                <a:tc>
                  <a:txBody>
                    <a:bodyPr/>
                    <a:lstStyle/>
                    <a:p>
                      <a:r>
                        <a:rPr lang="en-IN" sz="1200" dirty="0"/>
                        <a:t>Actuals</a:t>
                      </a:r>
                    </a:p>
                  </a:txBody>
                  <a:tcPr marL="75762" marR="75762" marT="37882" marB="37882"/>
                </a:tc>
                <a:tc>
                  <a:txBody>
                    <a:bodyPr/>
                    <a:lstStyle/>
                    <a:p>
                      <a:r>
                        <a:rPr lang="en-IN" sz="1200" dirty="0"/>
                        <a:t>Predicted</a:t>
                      </a:r>
                    </a:p>
                  </a:txBody>
                  <a:tcPr marL="75762" marR="75762" marT="37882" marB="37882"/>
                </a:tc>
                <a:extLst>
                  <a:ext uri="{0D108BD9-81ED-4DB2-BD59-A6C34878D82A}">
                    <a16:rowId xmlns:a16="http://schemas.microsoft.com/office/drawing/2014/main" val="2264031190"/>
                  </a:ext>
                </a:extLst>
              </a:tr>
              <a:tr h="307261">
                <a:tc>
                  <a:txBody>
                    <a:bodyPr/>
                    <a:lstStyle/>
                    <a:p>
                      <a:r>
                        <a:rPr lang="en-IN" sz="1200" dirty="0"/>
                        <a:t>A</a:t>
                      </a:r>
                    </a:p>
                  </a:txBody>
                  <a:tcPr marL="75762" marR="75762" marT="37882" marB="37882"/>
                </a:tc>
                <a:tc>
                  <a:txBody>
                    <a:bodyPr/>
                    <a:lstStyle/>
                    <a:p>
                      <a:r>
                        <a:rPr lang="en-IN" sz="1200" dirty="0"/>
                        <a:t>10</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3502334332"/>
                  </a:ext>
                </a:extLst>
              </a:tr>
              <a:tr h="307261">
                <a:tc>
                  <a:txBody>
                    <a:bodyPr/>
                    <a:lstStyle/>
                    <a:p>
                      <a:r>
                        <a:rPr lang="en-IN" sz="1200" dirty="0"/>
                        <a:t>B</a:t>
                      </a:r>
                    </a:p>
                  </a:txBody>
                  <a:tcPr marL="75762" marR="75762" marT="37882" marB="37882"/>
                </a:tc>
                <a:tc>
                  <a:txBody>
                    <a:bodyPr/>
                    <a:lstStyle/>
                    <a:p>
                      <a:r>
                        <a:rPr lang="en-IN" sz="1200" dirty="0"/>
                        <a:t>8</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2086638053"/>
                  </a:ext>
                </a:extLst>
              </a:tr>
              <a:tr h="307261">
                <a:tc>
                  <a:txBody>
                    <a:bodyPr/>
                    <a:lstStyle/>
                    <a:p>
                      <a:r>
                        <a:rPr lang="en-IN" sz="1200" dirty="0"/>
                        <a:t>C</a:t>
                      </a:r>
                    </a:p>
                  </a:txBody>
                  <a:tcPr marL="75762" marR="75762" marT="37882" marB="37882"/>
                </a:tc>
                <a:tc>
                  <a:txBody>
                    <a:bodyPr/>
                    <a:lstStyle/>
                    <a:p>
                      <a:r>
                        <a:rPr lang="en-IN" sz="1200" dirty="0"/>
                        <a:t>7</a:t>
                      </a:r>
                    </a:p>
                  </a:txBody>
                  <a:tcPr marL="75762" marR="75762" marT="37882" marB="37882"/>
                </a:tc>
                <a:tc>
                  <a:txBody>
                    <a:bodyPr/>
                    <a:lstStyle/>
                    <a:p>
                      <a:r>
                        <a:rPr lang="en-IN" sz="1200" dirty="0"/>
                        <a:t>5</a:t>
                      </a:r>
                    </a:p>
                  </a:txBody>
                  <a:tcPr marL="75762" marR="75762" marT="37882" marB="37882"/>
                </a:tc>
                <a:extLst>
                  <a:ext uri="{0D108BD9-81ED-4DB2-BD59-A6C34878D82A}">
                    <a16:rowId xmlns:a16="http://schemas.microsoft.com/office/drawing/2014/main" val="4237340096"/>
                  </a:ext>
                </a:extLst>
              </a:tr>
            </a:tbl>
          </a:graphicData>
        </a:graphic>
      </p:graphicFrame>
    </p:spTree>
    <p:extLst>
      <p:ext uri="{BB962C8B-B14F-4D97-AF65-F5344CB8AC3E}">
        <p14:creationId xmlns:p14="http://schemas.microsoft.com/office/powerpoint/2010/main" val="411882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Accuracy and Other Metrics</a:t>
            </a:r>
          </a:p>
        </p:txBody>
      </p:sp>
      <p:sp>
        <p:nvSpPr>
          <p:cNvPr id="3" name="Content Placeholder 2"/>
          <p:cNvSpPr>
            <a:spLocks noGrp="1"/>
          </p:cNvSpPr>
          <p:nvPr>
            <p:ph idx="1"/>
          </p:nvPr>
        </p:nvSpPr>
        <p:spPr/>
        <p:txBody>
          <a:bodyPr>
            <a:normAutofit/>
          </a:bodyPr>
          <a:lstStyle/>
          <a:p>
            <a:pPr marL="0" indent="0">
              <a:buNone/>
            </a:pPr>
            <a:r>
              <a:rPr lang="en-US" sz="2400" dirty="0"/>
              <a:t>For a binary classification problem, we will know our positive class (like spam, fraud, has cancer, </a:t>
            </a:r>
            <a:r>
              <a:rPr lang="en-US" sz="2400" dirty="0" err="1"/>
              <a:t>etc</a:t>
            </a:r>
            <a:r>
              <a:rPr lang="en-US" sz="2400" dirty="0"/>
              <a:t>) and hence we can focus on the scores for the positive class  (accuracy).</a:t>
            </a:r>
            <a:br>
              <a:rPr lang="en-US" sz="2400" dirty="0"/>
            </a:br>
            <a:endParaRPr lang="en-US" sz="2400" dirty="0"/>
          </a:p>
          <a:p>
            <a:pPr marL="0" indent="0">
              <a:buNone/>
            </a:pPr>
            <a:r>
              <a:rPr lang="en-US" sz="2400" dirty="0"/>
              <a:t>But, for a multiclass classification problem or a data that has  class imbalance, accuracy metrics can be misleading. So we need to look at :</a:t>
            </a:r>
          </a:p>
          <a:p>
            <a:pPr marL="514350" indent="-514350">
              <a:buFont typeface="+mj-lt"/>
              <a:buAutoNum type="arabicPeriod"/>
            </a:pPr>
            <a:r>
              <a:rPr lang="en-US" sz="2400" dirty="0"/>
              <a:t>recall, </a:t>
            </a:r>
          </a:p>
          <a:p>
            <a:pPr marL="514350" indent="-514350">
              <a:buFont typeface="+mj-lt"/>
              <a:buAutoNum type="arabicPeriod"/>
            </a:pPr>
            <a:r>
              <a:rPr lang="en-US" sz="2400" dirty="0"/>
              <a:t>precision, </a:t>
            </a:r>
          </a:p>
          <a:p>
            <a:pPr marL="514350" indent="-514350">
              <a:buFont typeface="+mj-lt"/>
              <a:buAutoNum type="arabicPeriod"/>
            </a:pPr>
            <a:r>
              <a:rPr lang="en-US" sz="2400" dirty="0"/>
              <a:t>f1 scores, </a:t>
            </a:r>
          </a:p>
        </p:txBody>
      </p:sp>
    </p:spTree>
    <p:extLst>
      <p:ext uri="{BB962C8B-B14F-4D97-AF65-F5344CB8AC3E}">
        <p14:creationId xmlns:p14="http://schemas.microsoft.com/office/powerpoint/2010/main" val="2360482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Case-Study: Fruit Classification</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We understand Accuracy, Recall, Precision, F1-Score with  the following case study of fruit classification. </a:t>
            </a:r>
          </a:p>
          <a:p>
            <a:pPr marL="0" indent="0">
              <a:buNone/>
            </a:pPr>
            <a:endParaRPr lang="en-US" dirty="0"/>
          </a:p>
          <a:p>
            <a:pPr marL="0" indent="0">
              <a:buNone/>
            </a:pPr>
            <a:r>
              <a:rPr lang="en-US" dirty="0"/>
              <a:t>As an example, let’s assume that our model predicted the fruit types- </a:t>
            </a:r>
            <a:r>
              <a:rPr lang="en-US" b="1" dirty="0"/>
              <a:t>Apple (A), Banana(B) and Custard apple(C)</a:t>
            </a:r>
            <a:r>
              <a:rPr lang="en-US" dirty="0"/>
              <a:t> and the prediction data gave the </a:t>
            </a:r>
            <a:r>
              <a:rPr lang="en-US" b="1" dirty="0"/>
              <a:t>confusion matrix. </a:t>
            </a:r>
          </a:p>
          <a:p>
            <a:pPr marL="0" indent="0">
              <a:buNone/>
            </a:pPr>
            <a:br>
              <a:rPr lang="en-US" dirty="0"/>
            </a:br>
            <a:r>
              <a:rPr lang="en-US" dirty="0"/>
              <a:t>Apple (A), Banana(B) and Custard apple(C):</a:t>
            </a:r>
          </a:p>
          <a:p>
            <a:pPr marL="0" indent="0">
              <a:buNone/>
            </a:pPr>
            <a:r>
              <a:rPr lang="en-US" dirty="0"/>
              <a:t>Total number of observations in the data </a:t>
            </a:r>
          </a:p>
          <a:p>
            <a:pPr marL="0" indent="0">
              <a:buNone/>
            </a:pPr>
            <a:r>
              <a:rPr lang="en-US" dirty="0"/>
              <a:t>(i.e., fruits) = 25</a:t>
            </a:r>
          </a:p>
          <a:p>
            <a:pPr marL="0" indent="0">
              <a:buNone/>
            </a:pPr>
            <a:r>
              <a:rPr lang="en-US" dirty="0"/>
              <a:t>A=10</a:t>
            </a:r>
          </a:p>
          <a:p>
            <a:pPr marL="0" indent="0">
              <a:buNone/>
            </a:pPr>
            <a:r>
              <a:rPr lang="en-US" dirty="0"/>
              <a:t>B=8</a:t>
            </a:r>
          </a:p>
          <a:p>
            <a:pPr marL="0" indent="0">
              <a:buNone/>
            </a:pPr>
            <a:r>
              <a:rPr lang="en-US" dirty="0"/>
              <a:t>C=7</a:t>
            </a:r>
          </a:p>
          <a:p>
            <a:pPr marL="0" indent="0">
              <a:buNone/>
            </a:pPr>
            <a:endParaRPr lang="en-US" dirty="0"/>
          </a:p>
        </p:txBody>
      </p:sp>
    </p:spTree>
    <p:extLst>
      <p:ext uri="{BB962C8B-B14F-4D97-AF65-F5344CB8AC3E}">
        <p14:creationId xmlns:p14="http://schemas.microsoft.com/office/powerpoint/2010/main" val="2940516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3FDE9-2A5B-43C0-AA4F-4F5842AEF560}"/>
              </a:ext>
            </a:extLst>
          </p:cNvPr>
          <p:cNvSpPr>
            <a:spLocks noGrp="1"/>
          </p:cNvSpPr>
          <p:nvPr>
            <p:ph type="title"/>
          </p:nvPr>
        </p:nvSpPr>
        <p:spPr/>
        <p:txBody>
          <a:bodyPr>
            <a:normAutofit fontScale="90000"/>
          </a:bodyPr>
          <a:lstStyle/>
          <a:p>
            <a:r>
              <a:rPr lang="en-IN" dirty="0"/>
              <a:t>Fruit Classification :Confusion Matrix</a:t>
            </a:r>
          </a:p>
        </p:txBody>
      </p:sp>
      <p:pic>
        <p:nvPicPr>
          <p:cNvPr id="6" name="Picture 5">
            <a:extLst>
              <a:ext uri="{FF2B5EF4-FFF2-40B4-BE49-F238E27FC236}">
                <a16:creationId xmlns:a16="http://schemas.microsoft.com/office/drawing/2014/main" id="{B1B8870B-9B3A-4373-ADF0-F236A8AEE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9144000" cy="4572000"/>
          </a:xfrm>
          <a:prstGeom prst="rect">
            <a:avLst/>
          </a:prstGeom>
        </p:spPr>
      </p:pic>
      <p:sp>
        <p:nvSpPr>
          <p:cNvPr id="7" name="Rectangle 6">
            <a:extLst>
              <a:ext uri="{FF2B5EF4-FFF2-40B4-BE49-F238E27FC236}">
                <a16:creationId xmlns:a16="http://schemas.microsoft.com/office/drawing/2014/main" id="{FD850CA5-2395-4670-9A87-84EAD9002EA4}"/>
              </a:ext>
            </a:extLst>
          </p:cNvPr>
          <p:cNvSpPr/>
          <p:nvPr/>
        </p:nvSpPr>
        <p:spPr>
          <a:xfrm>
            <a:off x="6096000" y="4724400"/>
            <a:ext cx="22098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9" name="TextBox 8">
            <a:extLst>
              <a:ext uri="{FF2B5EF4-FFF2-40B4-BE49-F238E27FC236}">
                <a16:creationId xmlns:a16="http://schemas.microsoft.com/office/drawing/2014/main" id="{9F02A2EF-D61B-45A0-9913-6C084D344FDE}"/>
              </a:ext>
            </a:extLst>
          </p:cNvPr>
          <p:cNvSpPr txBox="1"/>
          <p:nvPr/>
        </p:nvSpPr>
        <p:spPr>
          <a:xfrm>
            <a:off x="1470804" y="5312434"/>
            <a:ext cx="4050340" cy="1754326"/>
          </a:xfrm>
          <a:prstGeom prst="rect">
            <a:avLst/>
          </a:prstGeom>
          <a:noFill/>
        </p:spPr>
        <p:txBody>
          <a:bodyPr wrap="none" rtlCol="0">
            <a:spAutoFit/>
          </a:bodyPr>
          <a:lstStyle/>
          <a:p>
            <a:r>
              <a:rPr lang="en-US" dirty="0"/>
              <a:t>Total number of observations in the data </a:t>
            </a:r>
          </a:p>
          <a:p>
            <a:r>
              <a:rPr lang="en-US" dirty="0"/>
              <a:t>(i.e., fruits) = 25</a:t>
            </a:r>
          </a:p>
          <a:p>
            <a:r>
              <a:rPr lang="en-US" dirty="0"/>
              <a:t>A=10</a:t>
            </a:r>
          </a:p>
          <a:p>
            <a:r>
              <a:rPr lang="en-US" dirty="0"/>
              <a:t>B=8</a:t>
            </a:r>
          </a:p>
          <a:p>
            <a:r>
              <a:rPr lang="en-US" dirty="0"/>
              <a:t>C=7</a:t>
            </a:r>
          </a:p>
          <a:p>
            <a:endParaRPr lang="en-IN" dirty="0"/>
          </a:p>
        </p:txBody>
      </p:sp>
      <p:sp>
        <p:nvSpPr>
          <p:cNvPr id="13" name="Rectangle 12">
            <a:extLst>
              <a:ext uri="{FF2B5EF4-FFF2-40B4-BE49-F238E27FC236}">
                <a16:creationId xmlns:a16="http://schemas.microsoft.com/office/drawing/2014/main" id="{D53F7ED5-CDCA-4006-A4BC-9BB1FB236C16}"/>
              </a:ext>
            </a:extLst>
          </p:cNvPr>
          <p:cNvSpPr/>
          <p:nvPr/>
        </p:nvSpPr>
        <p:spPr>
          <a:xfrm>
            <a:off x="5521144" y="2971800"/>
            <a:ext cx="270056" cy="14693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233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3FDE9-2A5B-43C0-AA4F-4F5842AEF560}"/>
              </a:ext>
            </a:extLst>
          </p:cNvPr>
          <p:cNvSpPr>
            <a:spLocks noGrp="1"/>
          </p:cNvSpPr>
          <p:nvPr>
            <p:ph type="title"/>
          </p:nvPr>
        </p:nvSpPr>
        <p:spPr/>
        <p:txBody>
          <a:bodyPr>
            <a:normAutofit fontScale="90000"/>
          </a:bodyPr>
          <a:lstStyle/>
          <a:p>
            <a:r>
              <a:rPr lang="en-IN" dirty="0"/>
              <a:t>Fruit Classification :Confusion Matrix</a:t>
            </a:r>
          </a:p>
        </p:txBody>
      </p:sp>
      <p:pic>
        <p:nvPicPr>
          <p:cNvPr id="6" name="Picture 5">
            <a:extLst>
              <a:ext uri="{FF2B5EF4-FFF2-40B4-BE49-F238E27FC236}">
                <a16:creationId xmlns:a16="http://schemas.microsoft.com/office/drawing/2014/main" id="{B1B8870B-9B3A-4373-ADF0-F236A8AEE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9144000" cy="4572000"/>
          </a:xfrm>
          <a:prstGeom prst="rect">
            <a:avLst/>
          </a:prstGeom>
        </p:spPr>
      </p:pic>
      <p:sp>
        <p:nvSpPr>
          <p:cNvPr id="7" name="Rectangle 6">
            <a:extLst>
              <a:ext uri="{FF2B5EF4-FFF2-40B4-BE49-F238E27FC236}">
                <a16:creationId xmlns:a16="http://schemas.microsoft.com/office/drawing/2014/main" id="{FD850CA5-2395-4670-9A87-84EAD9002EA4}"/>
              </a:ext>
            </a:extLst>
          </p:cNvPr>
          <p:cNvSpPr/>
          <p:nvPr/>
        </p:nvSpPr>
        <p:spPr>
          <a:xfrm>
            <a:off x="6096000" y="4724400"/>
            <a:ext cx="2209800" cy="60960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Predictions</a:t>
            </a:r>
          </a:p>
        </p:txBody>
      </p:sp>
      <p:sp>
        <p:nvSpPr>
          <p:cNvPr id="9" name="TextBox 8">
            <a:extLst>
              <a:ext uri="{FF2B5EF4-FFF2-40B4-BE49-F238E27FC236}">
                <a16:creationId xmlns:a16="http://schemas.microsoft.com/office/drawing/2014/main" id="{9F02A2EF-D61B-45A0-9913-6C084D344FDE}"/>
              </a:ext>
            </a:extLst>
          </p:cNvPr>
          <p:cNvSpPr txBox="1"/>
          <p:nvPr/>
        </p:nvSpPr>
        <p:spPr>
          <a:xfrm>
            <a:off x="421257" y="5132429"/>
            <a:ext cx="4050340" cy="923330"/>
          </a:xfrm>
          <a:prstGeom prst="rect">
            <a:avLst/>
          </a:prstGeom>
          <a:noFill/>
        </p:spPr>
        <p:txBody>
          <a:bodyPr wrap="none" rtlCol="0">
            <a:spAutoFit/>
          </a:bodyPr>
          <a:lstStyle/>
          <a:p>
            <a:r>
              <a:rPr lang="en-US" dirty="0"/>
              <a:t>Total number of observations in the data </a:t>
            </a:r>
          </a:p>
          <a:p>
            <a:r>
              <a:rPr lang="en-US" dirty="0"/>
              <a:t>(i.e., fruits) = 25</a:t>
            </a:r>
          </a:p>
          <a:p>
            <a:endParaRPr lang="en-IN" dirty="0"/>
          </a:p>
        </p:txBody>
      </p:sp>
      <p:sp>
        <p:nvSpPr>
          <p:cNvPr id="5" name="Rectangle 4">
            <a:extLst>
              <a:ext uri="{FF2B5EF4-FFF2-40B4-BE49-F238E27FC236}">
                <a16:creationId xmlns:a16="http://schemas.microsoft.com/office/drawing/2014/main" id="{560A4397-3500-469D-A182-419D42FC60EA}"/>
              </a:ext>
            </a:extLst>
          </p:cNvPr>
          <p:cNvSpPr/>
          <p:nvPr/>
        </p:nvSpPr>
        <p:spPr>
          <a:xfrm>
            <a:off x="3505200" y="4724400"/>
            <a:ext cx="1752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E45CC56-0ACD-46C5-AA8B-F5D635D96061}"/>
              </a:ext>
            </a:extLst>
          </p:cNvPr>
          <p:cNvSpPr/>
          <p:nvPr/>
        </p:nvSpPr>
        <p:spPr>
          <a:xfrm>
            <a:off x="4991100" y="1417638"/>
            <a:ext cx="2209800" cy="30480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Actuals</a:t>
            </a:r>
          </a:p>
        </p:txBody>
      </p:sp>
      <p:sp>
        <p:nvSpPr>
          <p:cNvPr id="13" name="Rectangle 12">
            <a:extLst>
              <a:ext uri="{FF2B5EF4-FFF2-40B4-BE49-F238E27FC236}">
                <a16:creationId xmlns:a16="http://schemas.microsoft.com/office/drawing/2014/main" id="{D53F7ED5-CDCA-4006-A4BC-9BB1FB236C16}"/>
              </a:ext>
            </a:extLst>
          </p:cNvPr>
          <p:cNvSpPr/>
          <p:nvPr/>
        </p:nvSpPr>
        <p:spPr>
          <a:xfrm>
            <a:off x="5521144" y="2971800"/>
            <a:ext cx="270056" cy="14693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7">
            <a:extLst>
              <a:ext uri="{FF2B5EF4-FFF2-40B4-BE49-F238E27FC236}">
                <a16:creationId xmlns:a16="http://schemas.microsoft.com/office/drawing/2014/main" id="{4F49D5B2-9095-4B3D-A504-729158F0216D}"/>
              </a:ext>
            </a:extLst>
          </p:cNvPr>
          <p:cNvGraphicFramePr>
            <a:graphicFrameLocks noGrp="1"/>
          </p:cNvGraphicFramePr>
          <p:nvPr>
            <p:extLst>
              <p:ext uri="{D42A27DB-BD31-4B8C-83A1-F6EECF244321}">
                <p14:modId xmlns:p14="http://schemas.microsoft.com/office/powerpoint/2010/main" val="3876016014"/>
              </p:ext>
            </p:extLst>
          </p:nvPr>
        </p:nvGraphicFramePr>
        <p:xfrm>
          <a:off x="2258270" y="5544466"/>
          <a:ext cx="2493860" cy="1229044"/>
        </p:xfrm>
        <a:graphic>
          <a:graphicData uri="http://schemas.openxmlformats.org/drawingml/2006/table">
            <a:tbl>
              <a:tblPr firstRow="1" bandRow="1">
                <a:tableStyleId>{5C22544A-7EE6-4342-B048-85BDC9FD1C3A}</a:tableStyleId>
              </a:tblPr>
              <a:tblGrid>
                <a:gridCol w="694493">
                  <a:extLst>
                    <a:ext uri="{9D8B030D-6E8A-4147-A177-3AD203B41FA5}">
                      <a16:colId xmlns:a16="http://schemas.microsoft.com/office/drawing/2014/main" val="2822140975"/>
                    </a:ext>
                  </a:extLst>
                </a:gridCol>
                <a:gridCol w="757628">
                  <a:extLst>
                    <a:ext uri="{9D8B030D-6E8A-4147-A177-3AD203B41FA5}">
                      <a16:colId xmlns:a16="http://schemas.microsoft.com/office/drawing/2014/main" val="2718412212"/>
                    </a:ext>
                  </a:extLst>
                </a:gridCol>
                <a:gridCol w="1041739">
                  <a:extLst>
                    <a:ext uri="{9D8B030D-6E8A-4147-A177-3AD203B41FA5}">
                      <a16:colId xmlns:a16="http://schemas.microsoft.com/office/drawing/2014/main" val="304953411"/>
                    </a:ext>
                  </a:extLst>
                </a:gridCol>
              </a:tblGrid>
              <a:tr h="307261">
                <a:tc>
                  <a:txBody>
                    <a:bodyPr/>
                    <a:lstStyle/>
                    <a:p>
                      <a:r>
                        <a:rPr lang="en-IN" sz="1200" dirty="0"/>
                        <a:t>Fruits</a:t>
                      </a:r>
                    </a:p>
                  </a:txBody>
                  <a:tcPr marL="75762" marR="75762" marT="37882" marB="37882"/>
                </a:tc>
                <a:tc>
                  <a:txBody>
                    <a:bodyPr/>
                    <a:lstStyle/>
                    <a:p>
                      <a:r>
                        <a:rPr lang="en-IN" sz="1200" dirty="0"/>
                        <a:t>Actuals</a:t>
                      </a:r>
                    </a:p>
                  </a:txBody>
                  <a:tcPr marL="75762" marR="75762" marT="37882" marB="37882"/>
                </a:tc>
                <a:tc>
                  <a:txBody>
                    <a:bodyPr/>
                    <a:lstStyle/>
                    <a:p>
                      <a:r>
                        <a:rPr lang="en-IN" sz="1200" dirty="0"/>
                        <a:t>Predicted</a:t>
                      </a:r>
                    </a:p>
                  </a:txBody>
                  <a:tcPr marL="75762" marR="75762" marT="37882" marB="37882"/>
                </a:tc>
                <a:extLst>
                  <a:ext uri="{0D108BD9-81ED-4DB2-BD59-A6C34878D82A}">
                    <a16:rowId xmlns:a16="http://schemas.microsoft.com/office/drawing/2014/main" val="2264031190"/>
                  </a:ext>
                </a:extLst>
              </a:tr>
              <a:tr h="307261">
                <a:tc>
                  <a:txBody>
                    <a:bodyPr/>
                    <a:lstStyle/>
                    <a:p>
                      <a:r>
                        <a:rPr lang="en-IN" sz="1200" dirty="0"/>
                        <a:t>A</a:t>
                      </a:r>
                    </a:p>
                  </a:txBody>
                  <a:tcPr marL="75762" marR="75762" marT="37882" marB="37882"/>
                </a:tc>
                <a:tc>
                  <a:txBody>
                    <a:bodyPr/>
                    <a:lstStyle/>
                    <a:p>
                      <a:r>
                        <a:rPr lang="en-IN" sz="1200" dirty="0"/>
                        <a:t>10</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3502334332"/>
                  </a:ext>
                </a:extLst>
              </a:tr>
              <a:tr h="307261">
                <a:tc>
                  <a:txBody>
                    <a:bodyPr/>
                    <a:lstStyle/>
                    <a:p>
                      <a:r>
                        <a:rPr lang="en-IN" sz="1200" dirty="0"/>
                        <a:t>B</a:t>
                      </a:r>
                    </a:p>
                  </a:txBody>
                  <a:tcPr marL="75762" marR="75762" marT="37882" marB="37882"/>
                </a:tc>
                <a:tc>
                  <a:txBody>
                    <a:bodyPr/>
                    <a:lstStyle/>
                    <a:p>
                      <a:r>
                        <a:rPr lang="en-IN" sz="1200" dirty="0"/>
                        <a:t>8</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2086638053"/>
                  </a:ext>
                </a:extLst>
              </a:tr>
              <a:tr h="307261">
                <a:tc>
                  <a:txBody>
                    <a:bodyPr/>
                    <a:lstStyle/>
                    <a:p>
                      <a:r>
                        <a:rPr lang="en-IN" sz="1200" dirty="0"/>
                        <a:t>C</a:t>
                      </a:r>
                    </a:p>
                  </a:txBody>
                  <a:tcPr marL="75762" marR="75762" marT="37882" marB="37882"/>
                </a:tc>
                <a:tc>
                  <a:txBody>
                    <a:bodyPr/>
                    <a:lstStyle/>
                    <a:p>
                      <a:r>
                        <a:rPr lang="en-IN" sz="1200" dirty="0"/>
                        <a:t>7</a:t>
                      </a:r>
                    </a:p>
                  </a:txBody>
                  <a:tcPr marL="75762" marR="75762" marT="37882" marB="37882"/>
                </a:tc>
                <a:tc>
                  <a:txBody>
                    <a:bodyPr/>
                    <a:lstStyle/>
                    <a:p>
                      <a:r>
                        <a:rPr lang="en-IN" sz="1200" dirty="0"/>
                        <a:t>5</a:t>
                      </a:r>
                    </a:p>
                  </a:txBody>
                  <a:tcPr marL="75762" marR="75762" marT="37882" marB="37882"/>
                </a:tc>
                <a:extLst>
                  <a:ext uri="{0D108BD9-81ED-4DB2-BD59-A6C34878D82A}">
                    <a16:rowId xmlns:a16="http://schemas.microsoft.com/office/drawing/2014/main" val="4237340096"/>
                  </a:ext>
                </a:extLst>
              </a:tr>
            </a:tbl>
          </a:graphicData>
        </a:graphic>
      </p:graphicFrame>
    </p:spTree>
    <p:extLst>
      <p:ext uri="{BB962C8B-B14F-4D97-AF65-F5344CB8AC3E}">
        <p14:creationId xmlns:p14="http://schemas.microsoft.com/office/powerpoint/2010/main" val="163025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Fruit Classification :Confusion Matrix</a:t>
            </a:r>
          </a:p>
        </p:txBody>
      </p:sp>
      <p:sp>
        <p:nvSpPr>
          <p:cNvPr id="3" name="Content Placeholder 2"/>
          <p:cNvSpPr>
            <a:spLocks noGrp="1"/>
          </p:cNvSpPr>
          <p:nvPr>
            <p:ph idx="1"/>
          </p:nvPr>
        </p:nvSpPr>
        <p:spPr/>
        <p:txBody>
          <a:bodyPr>
            <a:normAutofit fontScale="92500" lnSpcReduction="20000"/>
          </a:bodyPr>
          <a:lstStyle/>
          <a:p>
            <a:pPr marL="0" indent="0">
              <a:buNone/>
            </a:pPr>
            <a:r>
              <a:rPr lang="en-US" sz="2000" dirty="0"/>
              <a:t>Dataset: Apple (A), Banana(B) and Custard apple(C):</a:t>
            </a:r>
          </a:p>
          <a:p>
            <a:pPr marL="0" indent="0">
              <a:buNone/>
            </a:pPr>
            <a:endParaRPr lang="en-US" sz="2000" dirty="0"/>
          </a:p>
          <a:p>
            <a:pPr marL="0" indent="0">
              <a:buNone/>
            </a:pPr>
            <a:r>
              <a:rPr lang="en-US" sz="2000" dirty="0"/>
              <a:t>Total number of observations in the data (i.e., fruits) = 25</a:t>
            </a:r>
          </a:p>
          <a:p>
            <a:pPr marL="0" indent="0">
              <a:buNone/>
            </a:pPr>
            <a:r>
              <a:rPr lang="en-US" sz="2000" dirty="0"/>
              <a:t>Number of A, B, C type fruits the data has = 10, 8, 7 respectively</a:t>
            </a:r>
            <a:br>
              <a:rPr lang="en-US" sz="2000" dirty="0"/>
            </a:br>
            <a:endParaRPr lang="en-US" sz="2000" dirty="0"/>
          </a:p>
          <a:p>
            <a:pPr marL="0" indent="0">
              <a:buNone/>
            </a:pPr>
            <a:r>
              <a:rPr lang="en-US" sz="2000" dirty="0"/>
              <a:t>Predicted Model saw more instances of Bananas (B = 10) , more than the (B=8) actually present in the data set. Custard apple saw (C=7) predictions, less than the (C=5) actually present in the data set. </a:t>
            </a:r>
          </a:p>
          <a:p>
            <a:pPr marL="0" indent="0">
              <a:buNone/>
            </a:pPr>
            <a:endParaRPr lang="en-US" sz="2000" dirty="0"/>
          </a:p>
          <a:p>
            <a:pPr marL="0" indent="0">
              <a:buNone/>
            </a:pPr>
            <a:r>
              <a:rPr lang="en-US" sz="2000" dirty="0"/>
              <a:t>The diagonal observations are the </a:t>
            </a:r>
            <a:r>
              <a:rPr lang="en-US" sz="2000" b="1" dirty="0"/>
              <a:t>true positives </a:t>
            </a:r>
            <a:r>
              <a:rPr lang="en-US" sz="2000" dirty="0"/>
              <a:t>of each class i.e., the number of times the model correctly identified A as A, B as B and C as C</a:t>
            </a:r>
            <a:br>
              <a:rPr lang="en-US" sz="2000" dirty="0"/>
            </a:br>
            <a:endParaRPr lang="en-US" sz="2000" dirty="0"/>
          </a:p>
          <a:p>
            <a:pPr marL="0" indent="0">
              <a:buNone/>
            </a:pPr>
            <a:r>
              <a:rPr lang="en-US" sz="2000" dirty="0"/>
              <a:t>All other non-diagonal observations are incorrect classifications made by the model</a:t>
            </a:r>
            <a:br>
              <a:rPr lang="en-US" sz="2000" dirty="0"/>
            </a:br>
            <a:endParaRPr lang="en-US" sz="2000" dirty="0"/>
          </a:p>
          <a:p>
            <a:pPr marL="0" indent="0">
              <a:buNone/>
            </a:pPr>
            <a:r>
              <a:rPr lang="en-US" sz="2000" dirty="0"/>
              <a:t>In the code example, let’s rebuild the same confusion matrix in python so that the metric values can be validated at each step.</a:t>
            </a:r>
          </a:p>
        </p:txBody>
      </p:sp>
      <p:graphicFrame>
        <p:nvGraphicFramePr>
          <p:cNvPr id="5" name="Table 7">
            <a:extLst>
              <a:ext uri="{FF2B5EF4-FFF2-40B4-BE49-F238E27FC236}">
                <a16:creationId xmlns:a16="http://schemas.microsoft.com/office/drawing/2014/main" id="{B469FC7C-FFFA-497C-9764-4F502D148CCA}"/>
              </a:ext>
            </a:extLst>
          </p:cNvPr>
          <p:cNvGraphicFramePr>
            <a:graphicFrameLocks noGrp="1"/>
          </p:cNvGraphicFramePr>
          <p:nvPr>
            <p:extLst>
              <p:ext uri="{D42A27DB-BD31-4B8C-83A1-F6EECF244321}">
                <p14:modId xmlns:p14="http://schemas.microsoft.com/office/powerpoint/2010/main" val="3982484506"/>
              </p:ext>
            </p:extLst>
          </p:nvPr>
        </p:nvGraphicFramePr>
        <p:xfrm>
          <a:off x="6192940" y="1219200"/>
          <a:ext cx="2493860" cy="1229044"/>
        </p:xfrm>
        <a:graphic>
          <a:graphicData uri="http://schemas.openxmlformats.org/drawingml/2006/table">
            <a:tbl>
              <a:tblPr firstRow="1" bandRow="1">
                <a:tableStyleId>{5C22544A-7EE6-4342-B048-85BDC9FD1C3A}</a:tableStyleId>
              </a:tblPr>
              <a:tblGrid>
                <a:gridCol w="694493">
                  <a:extLst>
                    <a:ext uri="{9D8B030D-6E8A-4147-A177-3AD203B41FA5}">
                      <a16:colId xmlns:a16="http://schemas.microsoft.com/office/drawing/2014/main" val="2822140975"/>
                    </a:ext>
                  </a:extLst>
                </a:gridCol>
                <a:gridCol w="757628">
                  <a:extLst>
                    <a:ext uri="{9D8B030D-6E8A-4147-A177-3AD203B41FA5}">
                      <a16:colId xmlns:a16="http://schemas.microsoft.com/office/drawing/2014/main" val="2718412212"/>
                    </a:ext>
                  </a:extLst>
                </a:gridCol>
                <a:gridCol w="1041739">
                  <a:extLst>
                    <a:ext uri="{9D8B030D-6E8A-4147-A177-3AD203B41FA5}">
                      <a16:colId xmlns:a16="http://schemas.microsoft.com/office/drawing/2014/main" val="304953411"/>
                    </a:ext>
                  </a:extLst>
                </a:gridCol>
              </a:tblGrid>
              <a:tr h="307261">
                <a:tc>
                  <a:txBody>
                    <a:bodyPr/>
                    <a:lstStyle/>
                    <a:p>
                      <a:r>
                        <a:rPr lang="en-IN" sz="1200" dirty="0"/>
                        <a:t>Fruits</a:t>
                      </a:r>
                    </a:p>
                  </a:txBody>
                  <a:tcPr marL="75762" marR="75762" marT="37882" marB="37882"/>
                </a:tc>
                <a:tc>
                  <a:txBody>
                    <a:bodyPr/>
                    <a:lstStyle/>
                    <a:p>
                      <a:r>
                        <a:rPr lang="en-IN" sz="1200" dirty="0"/>
                        <a:t>Actuals</a:t>
                      </a:r>
                    </a:p>
                  </a:txBody>
                  <a:tcPr marL="75762" marR="75762" marT="37882" marB="37882"/>
                </a:tc>
                <a:tc>
                  <a:txBody>
                    <a:bodyPr/>
                    <a:lstStyle/>
                    <a:p>
                      <a:r>
                        <a:rPr lang="en-IN" sz="1200" dirty="0"/>
                        <a:t>Predicted</a:t>
                      </a:r>
                    </a:p>
                  </a:txBody>
                  <a:tcPr marL="75762" marR="75762" marT="37882" marB="37882"/>
                </a:tc>
                <a:extLst>
                  <a:ext uri="{0D108BD9-81ED-4DB2-BD59-A6C34878D82A}">
                    <a16:rowId xmlns:a16="http://schemas.microsoft.com/office/drawing/2014/main" val="2264031190"/>
                  </a:ext>
                </a:extLst>
              </a:tr>
              <a:tr h="307261">
                <a:tc>
                  <a:txBody>
                    <a:bodyPr/>
                    <a:lstStyle/>
                    <a:p>
                      <a:r>
                        <a:rPr lang="en-IN" sz="1200" dirty="0"/>
                        <a:t>A</a:t>
                      </a:r>
                    </a:p>
                  </a:txBody>
                  <a:tcPr marL="75762" marR="75762" marT="37882" marB="37882"/>
                </a:tc>
                <a:tc>
                  <a:txBody>
                    <a:bodyPr/>
                    <a:lstStyle/>
                    <a:p>
                      <a:r>
                        <a:rPr lang="en-IN" sz="1200" dirty="0"/>
                        <a:t>10</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3502334332"/>
                  </a:ext>
                </a:extLst>
              </a:tr>
              <a:tr h="307261">
                <a:tc>
                  <a:txBody>
                    <a:bodyPr/>
                    <a:lstStyle/>
                    <a:p>
                      <a:r>
                        <a:rPr lang="en-IN" sz="1200" dirty="0"/>
                        <a:t>B</a:t>
                      </a:r>
                    </a:p>
                  </a:txBody>
                  <a:tcPr marL="75762" marR="75762" marT="37882" marB="37882"/>
                </a:tc>
                <a:tc>
                  <a:txBody>
                    <a:bodyPr/>
                    <a:lstStyle/>
                    <a:p>
                      <a:r>
                        <a:rPr lang="en-IN" sz="1200" dirty="0"/>
                        <a:t>8</a:t>
                      </a:r>
                    </a:p>
                  </a:txBody>
                  <a:tcPr marL="75762" marR="75762" marT="37882" marB="37882"/>
                </a:tc>
                <a:tc>
                  <a:txBody>
                    <a:bodyPr/>
                    <a:lstStyle/>
                    <a:p>
                      <a:r>
                        <a:rPr lang="en-IN" sz="1200" dirty="0"/>
                        <a:t>10</a:t>
                      </a:r>
                    </a:p>
                  </a:txBody>
                  <a:tcPr marL="75762" marR="75762" marT="37882" marB="37882"/>
                </a:tc>
                <a:extLst>
                  <a:ext uri="{0D108BD9-81ED-4DB2-BD59-A6C34878D82A}">
                    <a16:rowId xmlns:a16="http://schemas.microsoft.com/office/drawing/2014/main" val="2086638053"/>
                  </a:ext>
                </a:extLst>
              </a:tr>
              <a:tr h="307261">
                <a:tc>
                  <a:txBody>
                    <a:bodyPr/>
                    <a:lstStyle/>
                    <a:p>
                      <a:r>
                        <a:rPr lang="en-IN" sz="1200" dirty="0"/>
                        <a:t>C</a:t>
                      </a:r>
                    </a:p>
                  </a:txBody>
                  <a:tcPr marL="75762" marR="75762" marT="37882" marB="37882"/>
                </a:tc>
                <a:tc>
                  <a:txBody>
                    <a:bodyPr/>
                    <a:lstStyle/>
                    <a:p>
                      <a:r>
                        <a:rPr lang="en-IN" sz="1200" dirty="0"/>
                        <a:t>7</a:t>
                      </a:r>
                    </a:p>
                  </a:txBody>
                  <a:tcPr marL="75762" marR="75762" marT="37882" marB="37882"/>
                </a:tc>
                <a:tc>
                  <a:txBody>
                    <a:bodyPr/>
                    <a:lstStyle/>
                    <a:p>
                      <a:r>
                        <a:rPr lang="en-IN" sz="1200" dirty="0"/>
                        <a:t>5</a:t>
                      </a:r>
                    </a:p>
                  </a:txBody>
                  <a:tcPr marL="75762" marR="75762" marT="37882" marB="37882"/>
                </a:tc>
                <a:extLst>
                  <a:ext uri="{0D108BD9-81ED-4DB2-BD59-A6C34878D82A}">
                    <a16:rowId xmlns:a16="http://schemas.microsoft.com/office/drawing/2014/main" val="4237340096"/>
                  </a:ext>
                </a:extLst>
              </a:tr>
            </a:tbl>
          </a:graphicData>
        </a:graphic>
      </p:graphicFrame>
    </p:spTree>
    <p:extLst>
      <p:ext uri="{BB962C8B-B14F-4D97-AF65-F5344CB8AC3E}">
        <p14:creationId xmlns:p14="http://schemas.microsoft.com/office/powerpoint/2010/main" val="3667285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11630-7E19-44E3-9407-62724849FFCA}"/>
              </a:ext>
            </a:extLst>
          </p:cNvPr>
          <p:cNvSpPr>
            <a:spLocks noGrp="1"/>
          </p:cNvSpPr>
          <p:nvPr>
            <p:ph type="title"/>
          </p:nvPr>
        </p:nvSpPr>
        <p:spPr/>
        <p:txBody>
          <a:bodyPr>
            <a:normAutofit fontScale="90000"/>
          </a:bodyPr>
          <a:lstStyle/>
          <a:p>
            <a:r>
              <a:rPr lang="en-US" b="0" i="0" dirty="0">
                <a:solidFill>
                  <a:srgbClr val="292929"/>
                </a:solidFill>
                <a:effectLst/>
                <a:latin typeface="medium-content-serif-font"/>
              </a:rPr>
              <a:t>Now Accuracy</a:t>
            </a:r>
            <a:r>
              <a:rPr lang="en-US" dirty="0">
                <a:solidFill>
                  <a:srgbClr val="292929"/>
                </a:solidFill>
                <a:latin typeface="medium-content-serif-font"/>
              </a:rPr>
              <a:t> vs F1 Score</a:t>
            </a:r>
            <a:br>
              <a:rPr lang="en-US" b="0" i="0" dirty="0">
                <a:solidFill>
                  <a:srgbClr val="292929"/>
                </a:solidFill>
                <a:effectLst/>
                <a:latin typeface="medium-content-serif-font"/>
              </a:rPr>
            </a:br>
            <a:endParaRPr lang="en-IN" dirty="0"/>
          </a:p>
        </p:txBody>
      </p:sp>
      <p:sp>
        <p:nvSpPr>
          <p:cNvPr id="3" name="Content Placeholder 2">
            <a:extLst>
              <a:ext uri="{FF2B5EF4-FFF2-40B4-BE49-F238E27FC236}">
                <a16:creationId xmlns:a16="http://schemas.microsoft.com/office/drawing/2014/main" id="{A3239CD6-305A-41F5-B1B8-7981FA507ACD}"/>
              </a:ext>
            </a:extLst>
          </p:cNvPr>
          <p:cNvSpPr>
            <a:spLocks noGrp="1"/>
          </p:cNvSpPr>
          <p:nvPr>
            <p:ph idx="1"/>
          </p:nvPr>
        </p:nvSpPr>
        <p:spPr/>
        <p:txBody>
          <a:bodyPr>
            <a:normAutofit/>
          </a:bodyPr>
          <a:lstStyle/>
          <a:p>
            <a:pPr algn="l">
              <a:buFont typeface="Arial" panose="020B0604020202020204" pitchFamily="34" charset="0"/>
              <a:buChar char="•"/>
            </a:pPr>
            <a:r>
              <a:rPr lang="en-US" sz="2000" b="0" i="0" dirty="0">
                <a:solidFill>
                  <a:srgbClr val="292929"/>
                </a:solidFill>
                <a:effectLst/>
                <a:latin typeface="medium-content-serif-font"/>
              </a:rPr>
              <a:t>Accuracy is used when the True Positives and True negatives are more important while F1-score is used when the False Negatives and False Positives are crucial</a:t>
            </a:r>
            <a:br>
              <a:rPr lang="en-US" sz="2000" b="0" i="0" dirty="0">
                <a:solidFill>
                  <a:srgbClr val="292929"/>
                </a:solidFill>
                <a:effectLst/>
                <a:latin typeface="medium-content-serif-font"/>
              </a:rPr>
            </a:br>
            <a:endParaRPr lang="en-US" sz="2000" b="0" i="0" dirty="0">
              <a:solidFill>
                <a:srgbClr val="292929"/>
              </a:solidFill>
              <a:effectLst/>
              <a:latin typeface="medium-content-serif-font"/>
            </a:endParaRPr>
          </a:p>
          <a:p>
            <a:pPr algn="l">
              <a:buFont typeface="Arial" panose="020B0604020202020204" pitchFamily="34" charset="0"/>
              <a:buChar char="•"/>
            </a:pPr>
            <a:r>
              <a:rPr lang="en-US" sz="2000" b="0" i="0" dirty="0">
                <a:solidFill>
                  <a:srgbClr val="292929"/>
                </a:solidFill>
                <a:effectLst/>
                <a:latin typeface="medium-content-serif-font"/>
              </a:rPr>
              <a:t>Accuracy can be used when the class distribution is similar while F1-score is a better metric when there are imbalanced classes as in Fruits Classification example.</a:t>
            </a:r>
            <a:br>
              <a:rPr lang="en-US" sz="2000" b="0" i="0" dirty="0">
                <a:solidFill>
                  <a:srgbClr val="292929"/>
                </a:solidFill>
                <a:effectLst/>
                <a:latin typeface="medium-content-serif-font"/>
              </a:rPr>
            </a:br>
            <a:endParaRPr lang="en-US" sz="2000" b="0" i="0" dirty="0">
              <a:solidFill>
                <a:srgbClr val="292929"/>
              </a:solidFill>
              <a:effectLst/>
              <a:latin typeface="medium-content-serif-font"/>
            </a:endParaRPr>
          </a:p>
          <a:p>
            <a:pPr algn="l">
              <a:buFont typeface="Arial" panose="020B0604020202020204" pitchFamily="34" charset="0"/>
              <a:buChar char="•"/>
            </a:pPr>
            <a:r>
              <a:rPr lang="en-US" sz="2000" b="0" i="0" dirty="0">
                <a:solidFill>
                  <a:srgbClr val="292929"/>
                </a:solidFill>
                <a:effectLst/>
                <a:latin typeface="medium-content-serif-font"/>
              </a:rPr>
              <a:t>In most real-life classification problems, imbalanced class distribution exists and thus F1-score is a better metric to evaluate our model, along with accuracy. </a:t>
            </a:r>
          </a:p>
          <a:p>
            <a:endParaRPr lang="en-IN" sz="2000" dirty="0"/>
          </a:p>
        </p:txBody>
      </p:sp>
    </p:spTree>
    <p:extLst>
      <p:ext uri="{BB962C8B-B14F-4D97-AF65-F5344CB8AC3E}">
        <p14:creationId xmlns:p14="http://schemas.microsoft.com/office/powerpoint/2010/main" val="2675267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3433-D003-4E18-9799-9FE8B2D340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157291-CB13-4439-BA3B-FD3F1C0E193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84698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E7D083-8E9C-4BD9-B79E-7D831E9A97D3}"/>
              </a:ext>
            </a:extLst>
          </p:cNvPr>
          <p:cNvSpPr>
            <a:spLocks noGrp="1"/>
          </p:cNvSpPr>
          <p:nvPr>
            <p:ph type="title"/>
          </p:nvPr>
        </p:nvSpPr>
        <p:spPr/>
        <p:txBody>
          <a:bodyPr>
            <a:normAutofit/>
          </a:bodyPr>
          <a:lstStyle/>
          <a:p>
            <a:r>
              <a:rPr lang="en-US" dirty="0"/>
              <a:t>Accuracy:</a:t>
            </a:r>
            <a:endParaRPr lang="en-IN" dirty="0"/>
          </a:p>
        </p:txBody>
      </p:sp>
      <p:sp>
        <p:nvSpPr>
          <p:cNvPr id="4" name="Content Placeholder 3">
            <a:extLst>
              <a:ext uri="{FF2B5EF4-FFF2-40B4-BE49-F238E27FC236}">
                <a16:creationId xmlns:a16="http://schemas.microsoft.com/office/drawing/2014/main" id="{2581CB29-EE9F-4BE6-85E7-18EA91B1F046}"/>
              </a:ext>
            </a:extLst>
          </p:cNvPr>
          <p:cNvSpPr>
            <a:spLocks noGrp="1"/>
          </p:cNvSpPr>
          <p:nvPr>
            <p:ph idx="1"/>
          </p:nvPr>
        </p:nvSpPr>
        <p:spPr/>
        <p:txBody>
          <a:bodyPr/>
          <a:lstStyle/>
          <a:p>
            <a:pPr marL="0" indent="0">
              <a:buNone/>
            </a:pPr>
            <a:r>
              <a:rPr lang="en-US" dirty="0"/>
              <a:t>Tells us how often the model can be correct.</a:t>
            </a:r>
          </a:p>
          <a:p>
            <a:endParaRPr lang="en-IN" dirty="0"/>
          </a:p>
        </p:txBody>
      </p:sp>
      <p:pic>
        <p:nvPicPr>
          <p:cNvPr id="6" name="Picture 5">
            <a:extLst>
              <a:ext uri="{FF2B5EF4-FFF2-40B4-BE49-F238E27FC236}">
                <a16:creationId xmlns:a16="http://schemas.microsoft.com/office/drawing/2014/main" id="{4BE1A4C8-6836-4BD8-9219-8537D0CC6008}"/>
              </a:ext>
            </a:extLst>
          </p:cNvPr>
          <p:cNvPicPr>
            <a:picLocks noChangeAspect="1"/>
          </p:cNvPicPr>
          <p:nvPr/>
        </p:nvPicPr>
        <p:blipFill rotWithShape="1">
          <a:blip r:embed="rId2"/>
          <a:srcRect b="29286"/>
          <a:stretch/>
        </p:blipFill>
        <p:spPr>
          <a:xfrm>
            <a:off x="228600" y="2971800"/>
            <a:ext cx="8686800" cy="2286000"/>
          </a:xfrm>
          <a:prstGeom prst="rect">
            <a:avLst/>
          </a:prstGeom>
        </p:spPr>
      </p:pic>
    </p:spTree>
    <p:extLst>
      <p:ext uri="{BB962C8B-B14F-4D97-AF65-F5344CB8AC3E}">
        <p14:creationId xmlns:p14="http://schemas.microsoft.com/office/powerpoint/2010/main" val="1984529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fontScale="90000"/>
          </a:bodyPr>
          <a:lstStyle/>
          <a:p>
            <a:r>
              <a:rPr lang="en-IN" dirty="0"/>
              <a:t>Why Accuracy is not always Accurate</a:t>
            </a:r>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p:txBody>
          <a:bodyPr>
            <a:normAutofit/>
          </a:bodyPr>
          <a:lstStyle/>
          <a:p>
            <a:pPr marL="0" indent="0">
              <a:buNone/>
            </a:pPr>
            <a:r>
              <a:rPr lang="en-US" sz="2400" dirty="0"/>
              <a:t>When there is a class imbalance, accuracy can be misleading too.</a:t>
            </a:r>
            <a:br>
              <a:rPr lang="en-US" sz="2400" dirty="0"/>
            </a:br>
            <a:r>
              <a:rPr lang="en-US" sz="2400" dirty="0"/>
              <a:t> </a:t>
            </a:r>
          </a:p>
          <a:p>
            <a:pPr marL="0" indent="0">
              <a:buNone/>
            </a:pPr>
            <a:r>
              <a:rPr lang="en-US" sz="2400" dirty="0"/>
              <a:t>Let’s assume that we have a sample of 100 fruits of which 90 are apples and 5 are bananas and 5 are custard apples. </a:t>
            </a:r>
            <a:br>
              <a:rPr lang="en-US" sz="2400" dirty="0"/>
            </a:br>
            <a:br>
              <a:rPr lang="en-US" sz="2400" dirty="0"/>
            </a:br>
            <a:r>
              <a:rPr lang="en-US" sz="2400" dirty="0"/>
              <a:t>Even if our model predicts all the fruits as apples, the accuracy will be 90% while the truth is that our model is not actually doing a great job.</a:t>
            </a:r>
          </a:p>
          <a:p>
            <a:endParaRPr lang="en-IN" dirty="0"/>
          </a:p>
        </p:txBody>
      </p:sp>
    </p:spTree>
    <p:extLst>
      <p:ext uri="{BB962C8B-B14F-4D97-AF65-F5344CB8AC3E}">
        <p14:creationId xmlns:p14="http://schemas.microsoft.com/office/powerpoint/2010/main" val="1248076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fontScale="90000"/>
          </a:bodyPr>
          <a:lstStyle/>
          <a:p>
            <a:br>
              <a:rPr lang="en-US" dirty="0"/>
            </a:br>
            <a:r>
              <a:rPr lang="en-US" dirty="0"/>
              <a:t>Hence, the need for other metrics:</a:t>
            </a:r>
            <a:endParaRPr lang="en-IN" dirty="0"/>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p:txBody>
          <a:bodyPr>
            <a:normAutofit/>
          </a:bodyPr>
          <a:lstStyle/>
          <a:p>
            <a:pPr marL="0" indent="0">
              <a:buNone/>
            </a:pPr>
            <a:r>
              <a:rPr lang="en-US" sz="2400" dirty="0"/>
              <a:t>Accuracy is calculated for the model as a whole but recall and precision are calculated for individual classes. </a:t>
            </a:r>
          </a:p>
          <a:p>
            <a:pPr marL="0" indent="0">
              <a:buNone/>
            </a:pPr>
            <a:r>
              <a:rPr lang="en-US" sz="2400" dirty="0"/>
              <a:t>We use </a:t>
            </a:r>
          </a:p>
          <a:p>
            <a:pPr marL="514350" indent="-514350">
              <a:buFont typeface="+mj-lt"/>
              <a:buAutoNum type="arabicPeriod"/>
            </a:pPr>
            <a:r>
              <a:rPr lang="en-US" sz="2400" dirty="0"/>
              <a:t>Recall</a:t>
            </a:r>
          </a:p>
          <a:p>
            <a:pPr marL="514350" indent="-514350">
              <a:buFont typeface="+mj-lt"/>
              <a:buAutoNum type="arabicPeriod"/>
            </a:pPr>
            <a:r>
              <a:rPr lang="en-US" sz="2400" dirty="0"/>
              <a:t>Precision </a:t>
            </a:r>
          </a:p>
          <a:p>
            <a:pPr marL="514350" indent="-514350">
              <a:buFont typeface="+mj-lt"/>
              <a:buAutoNum type="arabicPeriod"/>
            </a:pPr>
            <a:r>
              <a:rPr lang="en-US" sz="2400" dirty="0"/>
              <a:t>F1 score </a:t>
            </a:r>
          </a:p>
          <a:p>
            <a:pPr marL="0" indent="0">
              <a:buNone/>
            </a:pPr>
            <a:r>
              <a:rPr lang="en-US" sz="2400" dirty="0"/>
              <a:t>of a model for imbalanced data and multiclass classification problems. </a:t>
            </a:r>
          </a:p>
          <a:p>
            <a:endParaRPr lang="en-IN" sz="2400" dirty="0"/>
          </a:p>
        </p:txBody>
      </p:sp>
    </p:spTree>
    <p:extLst>
      <p:ext uri="{BB962C8B-B14F-4D97-AF65-F5344CB8AC3E}">
        <p14:creationId xmlns:p14="http://schemas.microsoft.com/office/powerpoint/2010/main" val="3522678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8CA4DE-3BDC-40A5-AA4B-87A9078BE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521153"/>
            <a:ext cx="6271000" cy="1872342"/>
          </a:xfrm>
          <a:prstGeom prst="rect">
            <a:avLst/>
          </a:prstGeom>
        </p:spPr>
      </p:pic>
      <p:pic>
        <p:nvPicPr>
          <p:cNvPr id="3" name="Picture 2">
            <a:extLst>
              <a:ext uri="{FF2B5EF4-FFF2-40B4-BE49-F238E27FC236}">
                <a16:creationId xmlns:a16="http://schemas.microsoft.com/office/drawing/2014/main" id="{FEBDA0C3-F068-4DE5-905F-4AAE23389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0" y="1373141"/>
            <a:ext cx="1885950" cy="523875"/>
          </a:xfrm>
          <a:prstGeom prst="rect">
            <a:avLst/>
          </a:prstGeom>
          <a:ln>
            <a:solidFill>
              <a:srgbClr val="FF0000"/>
            </a:solidFill>
          </a:ln>
        </p:spPr>
      </p:pic>
      <p:sp>
        <p:nvSpPr>
          <p:cNvPr id="4" name="TextBox 3">
            <a:extLst>
              <a:ext uri="{FF2B5EF4-FFF2-40B4-BE49-F238E27FC236}">
                <a16:creationId xmlns:a16="http://schemas.microsoft.com/office/drawing/2014/main" id="{CCF37743-589F-4D7B-96AB-390D531F029B}"/>
              </a:ext>
            </a:extLst>
          </p:cNvPr>
          <p:cNvSpPr txBox="1"/>
          <p:nvPr/>
        </p:nvSpPr>
        <p:spPr>
          <a:xfrm>
            <a:off x="6781800" y="235936"/>
            <a:ext cx="1885950" cy="1015663"/>
          </a:xfrm>
          <a:prstGeom prst="rect">
            <a:avLst/>
          </a:prstGeom>
          <a:noFill/>
        </p:spPr>
        <p:txBody>
          <a:bodyPr wrap="square" rtlCol="0">
            <a:spAutoFit/>
          </a:bodyPr>
          <a:lstStyle/>
          <a:p>
            <a:r>
              <a:rPr lang="en-US" sz="1200" b="1" dirty="0"/>
              <a:t>Precision</a:t>
            </a:r>
            <a:r>
              <a:rPr lang="en-US" sz="1200" dirty="0"/>
              <a:t> — Out of all the examples that predicted as positive, how many are really positive?</a:t>
            </a:r>
          </a:p>
          <a:p>
            <a:r>
              <a:rPr lang="en-IN" sz="1200" b="1" dirty="0">
                <a:solidFill>
                  <a:srgbClr val="FF0000"/>
                </a:solidFill>
              </a:rPr>
              <a:t>positive predictive value</a:t>
            </a:r>
            <a:endParaRPr lang="en-IN" sz="1000" b="1" dirty="0">
              <a:solidFill>
                <a:srgbClr val="FF0000"/>
              </a:solidFill>
            </a:endParaRPr>
          </a:p>
        </p:txBody>
      </p:sp>
      <p:sp>
        <p:nvSpPr>
          <p:cNvPr id="7" name="Rectangle 6">
            <a:extLst>
              <a:ext uri="{FF2B5EF4-FFF2-40B4-BE49-F238E27FC236}">
                <a16:creationId xmlns:a16="http://schemas.microsoft.com/office/drawing/2014/main" id="{F1961A89-7F72-4705-B8A1-F62AD63F7DE1}"/>
              </a:ext>
            </a:extLst>
          </p:cNvPr>
          <p:cNvSpPr/>
          <p:nvPr/>
        </p:nvSpPr>
        <p:spPr>
          <a:xfrm>
            <a:off x="3048000" y="1432560"/>
            <a:ext cx="3668900" cy="4789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DA5BE02-E618-46E2-BAD2-E7A6E432F5AD}"/>
              </a:ext>
            </a:extLst>
          </p:cNvPr>
          <p:cNvSpPr/>
          <p:nvPr/>
        </p:nvSpPr>
        <p:spPr>
          <a:xfrm>
            <a:off x="2667000" y="1371600"/>
            <a:ext cx="1943100" cy="129540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2">
            <a:extLst>
              <a:ext uri="{FF2B5EF4-FFF2-40B4-BE49-F238E27FC236}">
                <a16:creationId xmlns:a16="http://schemas.microsoft.com/office/drawing/2014/main" id="{F7C5CCF4-B2E4-4FC1-9B2B-B6D71A8923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4963" y="2743200"/>
            <a:ext cx="1943100" cy="533400"/>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647D33-ADC9-42C9-800B-1C2070AC2016}"/>
              </a:ext>
            </a:extLst>
          </p:cNvPr>
          <p:cNvSpPr txBox="1"/>
          <p:nvPr/>
        </p:nvSpPr>
        <p:spPr>
          <a:xfrm>
            <a:off x="2634963" y="3421925"/>
            <a:ext cx="1376110" cy="1200329"/>
          </a:xfrm>
          <a:prstGeom prst="rect">
            <a:avLst/>
          </a:prstGeom>
          <a:noFill/>
        </p:spPr>
        <p:txBody>
          <a:bodyPr wrap="square" rtlCol="0">
            <a:spAutoFit/>
          </a:bodyPr>
          <a:lstStyle/>
          <a:p>
            <a:r>
              <a:rPr lang="en-US" sz="1200" b="1" dirty="0"/>
              <a:t>Recall — </a:t>
            </a:r>
            <a:r>
              <a:rPr lang="en-US" sz="1200" dirty="0"/>
              <a:t>Out of all the positive examples, how many are predicted as positive?</a:t>
            </a:r>
          </a:p>
        </p:txBody>
      </p:sp>
      <p:sp>
        <p:nvSpPr>
          <p:cNvPr id="10" name="TextBox 9">
            <a:extLst>
              <a:ext uri="{FF2B5EF4-FFF2-40B4-BE49-F238E27FC236}">
                <a16:creationId xmlns:a16="http://schemas.microsoft.com/office/drawing/2014/main" id="{2B8FA122-738C-4534-BAF4-BDA938A1BBF7}"/>
              </a:ext>
            </a:extLst>
          </p:cNvPr>
          <p:cNvSpPr txBox="1"/>
          <p:nvPr/>
        </p:nvSpPr>
        <p:spPr>
          <a:xfrm>
            <a:off x="2590800" y="4767579"/>
            <a:ext cx="2145726" cy="923330"/>
          </a:xfrm>
          <a:prstGeom prst="rect">
            <a:avLst/>
          </a:prstGeom>
          <a:noFill/>
        </p:spPr>
        <p:txBody>
          <a:bodyPr wrap="square" rtlCol="0">
            <a:spAutoFit/>
          </a:bodyPr>
          <a:lstStyle/>
          <a:p>
            <a:r>
              <a:rPr lang="en-US" b="1" dirty="0"/>
              <a:t>Recall and Sensitivity are the same.</a:t>
            </a:r>
          </a:p>
        </p:txBody>
      </p:sp>
      <p:sp>
        <p:nvSpPr>
          <p:cNvPr id="11" name="Rectangle 10">
            <a:extLst>
              <a:ext uri="{FF2B5EF4-FFF2-40B4-BE49-F238E27FC236}">
                <a16:creationId xmlns:a16="http://schemas.microsoft.com/office/drawing/2014/main" id="{CDD18F9C-BD02-4678-B5F3-5DFE79AA77D8}"/>
              </a:ext>
            </a:extLst>
          </p:cNvPr>
          <p:cNvSpPr/>
          <p:nvPr/>
        </p:nvSpPr>
        <p:spPr>
          <a:xfrm>
            <a:off x="4708773" y="1325608"/>
            <a:ext cx="1615827" cy="134139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4">
            <a:extLst>
              <a:ext uri="{FF2B5EF4-FFF2-40B4-BE49-F238E27FC236}">
                <a16:creationId xmlns:a16="http://schemas.microsoft.com/office/drawing/2014/main" id="{B8FDD430-D964-4B6B-98EB-2EC74FAC3E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989" y="2752906"/>
            <a:ext cx="2010611" cy="523694"/>
          </a:xfrm>
          <a:prstGeom prst="rect">
            <a:avLst/>
          </a:prstGeom>
          <a:noFill/>
          <a:ln>
            <a:solidFill>
              <a:srgbClr val="FFC000"/>
            </a:solidFill>
          </a:ln>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97CF3F-B03E-40DD-B74C-A9FA2424DD27}"/>
              </a:ext>
            </a:extLst>
          </p:cNvPr>
          <p:cNvSpPr txBox="1"/>
          <p:nvPr/>
        </p:nvSpPr>
        <p:spPr>
          <a:xfrm>
            <a:off x="4559875" y="3419315"/>
            <a:ext cx="2221925" cy="830997"/>
          </a:xfrm>
          <a:prstGeom prst="rect">
            <a:avLst/>
          </a:prstGeom>
          <a:noFill/>
        </p:spPr>
        <p:txBody>
          <a:bodyPr wrap="square" rtlCol="0">
            <a:spAutoFit/>
          </a:bodyPr>
          <a:lstStyle/>
          <a:p>
            <a:r>
              <a:rPr lang="en-US" sz="1200" b="1" dirty="0"/>
              <a:t>Specificity — </a:t>
            </a:r>
            <a:r>
              <a:rPr lang="en-US" sz="1200" dirty="0"/>
              <a:t>Out of all the people that do not have the disease, how many got negative results?</a:t>
            </a:r>
          </a:p>
        </p:txBody>
      </p:sp>
      <p:sp>
        <p:nvSpPr>
          <p:cNvPr id="14" name="TextBox 13">
            <a:extLst>
              <a:ext uri="{FF2B5EF4-FFF2-40B4-BE49-F238E27FC236}">
                <a16:creationId xmlns:a16="http://schemas.microsoft.com/office/drawing/2014/main" id="{1FAF4E31-8078-4F4A-9AFC-E7D141AE77BE}"/>
              </a:ext>
            </a:extLst>
          </p:cNvPr>
          <p:cNvSpPr txBox="1"/>
          <p:nvPr/>
        </p:nvSpPr>
        <p:spPr>
          <a:xfrm>
            <a:off x="4551408" y="4250312"/>
            <a:ext cx="3449592" cy="369332"/>
          </a:xfrm>
          <a:prstGeom prst="rect">
            <a:avLst/>
          </a:prstGeom>
          <a:noFill/>
        </p:spPr>
        <p:txBody>
          <a:bodyPr wrap="square">
            <a:spAutoFit/>
          </a:bodyPr>
          <a:lstStyle/>
          <a:p>
            <a:r>
              <a:rPr lang="en-US" sz="1800" b="1" dirty="0">
                <a:solidFill>
                  <a:srgbClr val="FFC000"/>
                </a:solidFill>
              </a:rPr>
              <a:t>True Negative Rate (or Specificity</a:t>
            </a:r>
            <a:r>
              <a:rPr lang="en-US" sz="1800" dirty="0">
                <a:solidFill>
                  <a:srgbClr val="FF0000"/>
                </a:solidFill>
              </a:rPr>
              <a:t>)</a:t>
            </a:r>
            <a:endParaRPr lang="en-IN" dirty="0">
              <a:solidFill>
                <a:srgbClr val="FF0000"/>
              </a:solidFill>
            </a:endParaRPr>
          </a:p>
        </p:txBody>
      </p:sp>
      <p:sp>
        <p:nvSpPr>
          <p:cNvPr id="16" name="TextBox 15">
            <a:extLst>
              <a:ext uri="{FF2B5EF4-FFF2-40B4-BE49-F238E27FC236}">
                <a16:creationId xmlns:a16="http://schemas.microsoft.com/office/drawing/2014/main" id="{63AD20C7-B7A3-4370-950B-177F79C0CC10}"/>
              </a:ext>
            </a:extLst>
          </p:cNvPr>
          <p:cNvSpPr txBox="1"/>
          <p:nvPr/>
        </p:nvSpPr>
        <p:spPr>
          <a:xfrm>
            <a:off x="6779791" y="2024163"/>
            <a:ext cx="2190067" cy="369332"/>
          </a:xfrm>
          <a:prstGeom prst="rect">
            <a:avLst/>
          </a:prstGeom>
          <a:noFill/>
        </p:spPr>
        <p:txBody>
          <a:bodyPr wrap="square">
            <a:spAutoFit/>
          </a:bodyPr>
          <a:lstStyle/>
          <a:p>
            <a:r>
              <a:rPr lang="en-US" sz="1800" b="1" dirty="0">
                <a:solidFill>
                  <a:srgbClr val="FF0000"/>
                </a:solidFill>
              </a:rPr>
              <a:t>False Positive Rate </a:t>
            </a:r>
            <a:endParaRPr lang="en-IN" dirty="0">
              <a:solidFill>
                <a:srgbClr val="FF0000"/>
              </a:solidFill>
            </a:endParaRPr>
          </a:p>
        </p:txBody>
      </p:sp>
      <p:sp>
        <p:nvSpPr>
          <p:cNvPr id="18" name="TextBox 17">
            <a:extLst>
              <a:ext uri="{FF2B5EF4-FFF2-40B4-BE49-F238E27FC236}">
                <a16:creationId xmlns:a16="http://schemas.microsoft.com/office/drawing/2014/main" id="{37908BDC-783F-4365-9050-E399503FF21B}"/>
              </a:ext>
            </a:extLst>
          </p:cNvPr>
          <p:cNvSpPr txBox="1"/>
          <p:nvPr/>
        </p:nvSpPr>
        <p:spPr>
          <a:xfrm>
            <a:off x="2596450" y="5699376"/>
            <a:ext cx="2204150" cy="369331"/>
          </a:xfrm>
          <a:prstGeom prst="rect">
            <a:avLst/>
          </a:prstGeom>
          <a:noFill/>
        </p:spPr>
        <p:txBody>
          <a:bodyPr wrap="square">
            <a:spAutoFit/>
          </a:bodyPr>
          <a:lstStyle/>
          <a:p>
            <a:r>
              <a:rPr lang="en-US" sz="1800" b="1" dirty="0">
                <a:solidFill>
                  <a:schemeClr val="tx2">
                    <a:lumMod val="60000"/>
                    <a:lumOff val="40000"/>
                  </a:schemeClr>
                </a:solidFill>
              </a:rPr>
              <a:t>False Negative Rate </a:t>
            </a:r>
            <a:endParaRPr lang="en-IN" dirty="0">
              <a:solidFill>
                <a:schemeClr val="tx2">
                  <a:lumMod val="60000"/>
                  <a:lumOff val="40000"/>
                </a:schemeClr>
              </a:solidFill>
            </a:endParaRPr>
          </a:p>
        </p:txBody>
      </p:sp>
    </p:spTree>
    <p:extLst>
      <p:ext uri="{BB962C8B-B14F-4D97-AF65-F5344CB8AC3E}">
        <p14:creationId xmlns:p14="http://schemas.microsoft.com/office/powerpoint/2010/main" val="2807136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815863C-58D9-4ED1-9A9C-E9819C0F61CF}"/>
              </a:ext>
            </a:extLst>
          </p:cNvPr>
          <p:cNvGrpSpPr/>
          <p:nvPr/>
        </p:nvGrpSpPr>
        <p:grpSpPr>
          <a:xfrm>
            <a:off x="533400" y="701513"/>
            <a:ext cx="8362950" cy="5454973"/>
            <a:chOff x="304800" y="235936"/>
            <a:chExt cx="8362950" cy="5454973"/>
          </a:xfrm>
        </p:grpSpPr>
        <p:pic>
          <p:nvPicPr>
            <p:cNvPr id="5" name="Picture 4">
              <a:extLst>
                <a:ext uri="{FF2B5EF4-FFF2-40B4-BE49-F238E27FC236}">
                  <a16:creationId xmlns:a16="http://schemas.microsoft.com/office/drawing/2014/main" id="{DA8CA4DE-3BDC-40A5-AA4B-87A9078BE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521153"/>
              <a:ext cx="6271000" cy="1872342"/>
            </a:xfrm>
            <a:prstGeom prst="rect">
              <a:avLst/>
            </a:prstGeom>
          </p:spPr>
        </p:pic>
        <p:pic>
          <p:nvPicPr>
            <p:cNvPr id="3" name="Picture 2">
              <a:extLst>
                <a:ext uri="{FF2B5EF4-FFF2-40B4-BE49-F238E27FC236}">
                  <a16:creationId xmlns:a16="http://schemas.microsoft.com/office/drawing/2014/main" id="{FEBDA0C3-F068-4DE5-905F-4AAE23389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0" y="1373141"/>
              <a:ext cx="1885950" cy="523875"/>
            </a:xfrm>
            <a:prstGeom prst="rect">
              <a:avLst/>
            </a:prstGeom>
            <a:ln>
              <a:solidFill>
                <a:srgbClr val="FF0000"/>
              </a:solidFill>
            </a:ln>
          </p:spPr>
        </p:pic>
        <p:sp>
          <p:nvSpPr>
            <p:cNvPr id="4" name="TextBox 3">
              <a:extLst>
                <a:ext uri="{FF2B5EF4-FFF2-40B4-BE49-F238E27FC236}">
                  <a16:creationId xmlns:a16="http://schemas.microsoft.com/office/drawing/2014/main" id="{CCF37743-589F-4D7B-96AB-390D531F029B}"/>
                </a:ext>
              </a:extLst>
            </p:cNvPr>
            <p:cNvSpPr txBox="1"/>
            <p:nvPr/>
          </p:nvSpPr>
          <p:spPr>
            <a:xfrm>
              <a:off x="6781800" y="235936"/>
              <a:ext cx="1885950" cy="1015663"/>
            </a:xfrm>
            <a:prstGeom prst="rect">
              <a:avLst/>
            </a:prstGeom>
            <a:noFill/>
          </p:spPr>
          <p:txBody>
            <a:bodyPr wrap="square" rtlCol="0">
              <a:spAutoFit/>
            </a:bodyPr>
            <a:lstStyle/>
            <a:p>
              <a:r>
                <a:rPr lang="en-US" sz="1200" b="1" dirty="0"/>
                <a:t>Precision</a:t>
              </a:r>
              <a:r>
                <a:rPr lang="en-US" sz="1200" dirty="0"/>
                <a:t> — Out of all the examples that predicted as positive, how many are really positive?</a:t>
              </a:r>
            </a:p>
            <a:p>
              <a:r>
                <a:rPr lang="en-IN" sz="1200" b="1" dirty="0">
                  <a:solidFill>
                    <a:srgbClr val="FF0000"/>
                  </a:solidFill>
                </a:rPr>
                <a:t>positive predictive value</a:t>
              </a:r>
              <a:endParaRPr lang="en-IN" sz="1000" b="1" dirty="0">
                <a:solidFill>
                  <a:srgbClr val="FF0000"/>
                </a:solidFill>
              </a:endParaRPr>
            </a:p>
          </p:txBody>
        </p:sp>
        <p:sp>
          <p:nvSpPr>
            <p:cNvPr id="7" name="Rectangle 6">
              <a:extLst>
                <a:ext uri="{FF2B5EF4-FFF2-40B4-BE49-F238E27FC236}">
                  <a16:creationId xmlns:a16="http://schemas.microsoft.com/office/drawing/2014/main" id="{F1961A89-7F72-4705-B8A1-F62AD63F7DE1}"/>
                </a:ext>
              </a:extLst>
            </p:cNvPr>
            <p:cNvSpPr/>
            <p:nvPr/>
          </p:nvSpPr>
          <p:spPr>
            <a:xfrm>
              <a:off x="3048000" y="1432560"/>
              <a:ext cx="3668900" cy="4789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DA5BE02-E618-46E2-BAD2-E7A6E432F5AD}"/>
                </a:ext>
              </a:extLst>
            </p:cNvPr>
            <p:cNvSpPr/>
            <p:nvPr/>
          </p:nvSpPr>
          <p:spPr>
            <a:xfrm>
              <a:off x="2667000" y="1371600"/>
              <a:ext cx="1943100" cy="129540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2">
              <a:extLst>
                <a:ext uri="{FF2B5EF4-FFF2-40B4-BE49-F238E27FC236}">
                  <a16:creationId xmlns:a16="http://schemas.microsoft.com/office/drawing/2014/main" id="{F7C5CCF4-B2E4-4FC1-9B2B-B6D71A8923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4963" y="2743200"/>
              <a:ext cx="1943100" cy="533400"/>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647D33-ADC9-42C9-800B-1C2070AC2016}"/>
                </a:ext>
              </a:extLst>
            </p:cNvPr>
            <p:cNvSpPr txBox="1"/>
            <p:nvPr/>
          </p:nvSpPr>
          <p:spPr>
            <a:xfrm>
              <a:off x="2634963" y="3421925"/>
              <a:ext cx="1376110" cy="1200329"/>
            </a:xfrm>
            <a:prstGeom prst="rect">
              <a:avLst/>
            </a:prstGeom>
            <a:noFill/>
          </p:spPr>
          <p:txBody>
            <a:bodyPr wrap="square" rtlCol="0">
              <a:spAutoFit/>
            </a:bodyPr>
            <a:lstStyle/>
            <a:p>
              <a:r>
                <a:rPr lang="en-US" sz="1200" b="1" dirty="0"/>
                <a:t>Recall — </a:t>
              </a:r>
              <a:r>
                <a:rPr lang="en-US" sz="1200" dirty="0"/>
                <a:t>Out of all the positive examples, how many are predicted as positive?</a:t>
              </a:r>
            </a:p>
          </p:txBody>
        </p:sp>
        <p:sp>
          <p:nvSpPr>
            <p:cNvPr id="10" name="TextBox 9">
              <a:extLst>
                <a:ext uri="{FF2B5EF4-FFF2-40B4-BE49-F238E27FC236}">
                  <a16:creationId xmlns:a16="http://schemas.microsoft.com/office/drawing/2014/main" id="{2B8FA122-738C-4534-BAF4-BDA938A1BBF7}"/>
                </a:ext>
              </a:extLst>
            </p:cNvPr>
            <p:cNvSpPr txBox="1"/>
            <p:nvPr/>
          </p:nvSpPr>
          <p:spPr>
            <a:xfrm>
              <a:off x="2590800" y="4767579"/>
              <a:ext cx="2145726" cy="923330"/>
            </a:xfrm>
            <a:prstGeom prst="rect">
              <a:avLst/>
            </a:prstGeom>
            <a:noFill/>
          </p:spPr>
          <p:txBody>
            <a:bodyPr wrap="square" rtlCol="0">
              <a:spAutoFit/>
            </a:bodyPr>
            <a:lstStyle/>
            <a:p>
              <a:r>
                <a:rPr lang="en-US" b="1" dirty="0"/>
                <a:t>Recall and Sensitivity are the same.</a:t>
              </a:r>
            </a:p>
          </p:txBody>
        </p:sp>
        <p:sp>
          <p:nvSpPr>
            <p:cNvPr id="11" name="Rectangle 10">
              <a:extLst>
                <a:ext uri="{FF2B5EF4-FFF2-40B4-BE49-F238E27FC236}">
                  <a16:creationId xmlns:a16="http://schemas.microsoft.com/office/drawing/2014/main" id="{CDD18F9C-BD02-4678-B5F3-5DFE79AA77D8}"/>
                </a:ext>
              </a:extLst>
            </p:cNvPr>
            <p:cNvSpPr/>
            <p:nvPr/>
          </p:nvSpPr>
          <p:spPr>
            <a:xfrm>
              <a:off x="4708773" y="1325608"/>
              <a:ext cx="1615827" cy="134139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4">
              <a:extLst>
                <a:ext uri="{FF2B5EF4-FFF2-40B4-BE49-F238E27FC236}">
                  <a16:creationId xmlns:a16="http://schemas.microsoft.com/office/drawing/2014/main" id="{B8FDD430-D964-4B6B-98EB-2EC74FAC3E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989" y="2752906"/>
              <a:ext cx="2010611" cy="523694"/>
            </a:xfrm>
            <a:prstGeom prst="rect">
              <a:avLst/>
            </a:prstGeom>
            <a:noFill/>
            <a:ln>
              <a:solidFill>
                <a:srgbClr val="FFC000"/>
              </a:solidFill>
            </a:ln>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97CF3F-B03E-40DD-B74C-A9FA2424DD27}"/>
                </a:ext>
              </a:extLst>
            </p:cNvPr>
            <p:cNvSpPr txBox="1"/>
            <p:nvPr/>
          </p:nvSpPr>
          <p:spPr>
            <a:xfrm>
              <a:off x="4559875" y="3419315"/>
              <a:ext cx="2221925" cy="830997"/>
            </a:xfrm>
            <a:prstGeom prst="rect">
              <a:avLst/>
            </a:prstGeom>
            <a:noFill/>
          </p:spPr>
          <p:txBody>
            <a:bodyPr wrap="square" rtlCol="0">
              <a:spAutoFit/>
            </a:bodyPr>
            <a:lstStyle/>
            <a:p>
              <a:r>
                <a:rPr lang="en-US" sz="1200" b="1" dirty="0"/>
                <a:t>Specificity — </a:t>
              </a:r>
              <a:r>
                <a:rPr lang="en-US" sz="1200" dirty="0"/>
                <a:t>Out of all the people that do not have the disease, how many got negative results?</a:t>
              </a:r>
            </a:p>
          </p:txBody>
        </p:sp>
      </p:grpSp>
      <p:pic>
        <p:nvPicPr>
          <p:cNvPr id="2" name="Picture 1">
            <a:extLst>
              <a:ext uri="{FF2B5EF4-FFF2-40B4-BE49-F238E27FC236}">
                <a16:creationId xmlns:a16="http://schemas.microsoft.com/office/drawing/2014/main" id="{EACA3FED-1B70-4BF8-A5E2-5002ADE3B536}"/>
              </a:ext>
            </a:extLst>
          </p:cNvPr>
          <p:cNvPicPr>
            <a:picLocks noChangeAspect="1"/>
          </p:cNvPicPr>
          <p:nvPr/>
        </p:nvPicPr>
        <p:blipFill rotWithShape="1">
          <a:blip r:embed="rId6"/>
          <a:srcRect t="33998" r="38034" b="40342"/>
          <a:stretch/>
        </p:blipFill>
        <p:spPr>
          <a:xfrm>
            <a:off x="-21566" y="6027002"/>
            <a:ext cx="5524500" cy="830998"/>
          </a:xfrm>
          <a:prstGeom prst="rect">
            <a:avLst/>
          </a:prstGeom>
        </p:spPr>
      </p:pic>
      <p:pic>
        <p:nvPicPr>
          <p:cNvPr id="1026" name="Picture 2" descr="Precision vs Recall. In this blog, I will focus on the… | by ...">
            <a:extLst>
              <a:ext uri="{FF2B5EF4-FFF2-40B4-BE49-F238E27FC236}">
                <a16:creationId xmlns:a16="http://schemas.microsoft.com/office/drawing/2014/main" id="{9BED00D1-A595-4DEE-93DA-53BD177A110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9161" r="37180" b="66002"/>
          <a:stretch/>
        </p:blipFill>
        <p:spPr bwMode="auto">
          <a:xfrm>
            <a:off x="0" y="18691"/>
            <a:ext cx="5817066" cy="835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742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a:bodyPr>
          <a:lstStyle/>
          <a:p>
            <a:r>
              <a:rPr lang="en-US" dirty="0"/>
              <a:t>Recall	</a:t>
            </a:r>
            <a:endParaRPr lang="en-IN" dirty="0"/>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a:xfrm>
            <a:off x="457200" y="2971800"/>
            <a:ext cx="8229600" cy="3429000"/>
          </a:xfrm>
        </p:spPr>
        <p:txBody>
          <a:bodyPr>
            <a:normAutofit/>
          </a:bodyPr>
          <a:lstStyle/>
          <a:p>
            <a:pPr marL="0" indent="0">
              <a:buNone/>
            </a:pPr>
            <a:r>
              <a:rPr lang="en-US" sz="1800" dirty="0"/>
              <a:t>Recall (also called True Positive Rate or Sensitivity):</a:t>
            </a:r>
          </a:p>
          <a:p>
            <a:pPr marL="0" indent="0">
              <a:buNone/>
            </a:pPr>
            <a:r>
              <a:rPr lang="en-US" sz="1800" dirty="0"/>
              <a:t>As an example, let us calculate recall for class B.</a:t>
            </a:r>
            <a:br>
              <a:rPr lang="en-US" sz="1800" dirty="0"/>
            </a:br>
            <a:endParaRPr lang="en-US" sz="1800" dirty="0"/>
          </a:p>
          <a:p>
            <a:pPr marL="0" indent="0">
              <a:buNone/>
            </a:pPr>
            <a:r>
              <a:rPr lang="en-US" sz="1800" dirty="0"/>
              <a:t>Recall for B would be, </a:t>
            </a:r>
            <a:r>
              <a:rPr lang="en-US" sz="1800" b="1" dirty="0"/>
              <a:t>from all the actual instances of class B (banana), how often it correctly predicts as B (banana)</a:t>
            </a:r>
            <a:br>
              <a:rPr lang="en-US" sz="1800" b="1" dirty="0"/>
            </a:br>
            <a:endParaRPr lang="en-US" sz="1800" b="1" dirty="0"/>
          </a:p>
          <a:p>
            <a:pPr marL="0" indent="0">
              <a:buNone/>
            </a:pPr>
            <a:r>
              <a:rPr lang="en-US" sz="1800" dirty="0"/>
              <a:t>Recall for B = out of the total Bs (bananas = 8 ) in the data, how many Bs did the model identify correctly (6).</a:t>
            </a:r>
            <a:br>
              <a:rPr lang="en-US" sz="1800" dirty="0"/>
            </a:br>
            <a:endParaRPr lang="en-US" sz="1800" dirty="0"/>
          </a:p>
          <a:p>
            <a:pPr marL="0" indent="0">
              <a:buNone/>
            </a:pPr>
            <a:r>
              <a:rPr lang="en-US" sz="1800" dirty="0"/>
              <a:t>So, it would be 6/8 = 0.75 (which is the same as in the classification report above for class B)</a:t>
            </a:r>
            <a:endParaRPr lang="en-IN" sz="1800" dirty="0"/>
          </a:p>
        </p:txBody>
      </p:sp>
      <p:grpSp>
        <p:nvGrpSpPr>
          <p:cNvPr id="15" name="Group 14">
            <a:extLst>
              <a:ext uri="{FF2B5EF4-FFF2-40B4-BE49-F238E27FC236}">
                <a16:creationId xmlns:a16="http://schemas.microsoft.com/office/drawing/2014/main" id="{57F67D0B-9582-438D-BCE5-5AE10DBD4667}"/>
              </a:ext>
            </a:extLst>
          </p:cNvPr>
          <p:cNvGrpSpPr/>
          <p:nvPr/>
        </p:nvGrpSpPr>
        <p:grpSpPr>
          <a:xfrm>
            <a:off x="228600" y="1058891"/>
            <a:ext cx="5817066" cy="1677203"/>
            <a:chOff x="228600" y="1058891"/>
            <a:chExt cx="5817066" cy="1677203"/>
          </a:xfrm>
        </p:grpSpPr>
        <p:pic>
          <p:nvPicPr>
            <p:cNvPr id="12" name="Picture 11">
              <a:extLst>
                <a:ext uri="{FF2B5EF4-FFF2-40B4-BE49-F238E27FC236}">
                  <a16:creationId xmlns:a16="http://schemas.microsoft.com/office/drawing/2014/main" id="{57B9876D-152C-4D01-A541-B1E0C0435899}"/>
                </a:ext>
              </a:extLst>
            </p:cNvPr>
            <p:cNvPicPr>
              <a:picLocks noChangeAspect="1"/>
            </p:cNvPicPr>
            <p:nvPr/>
          </p:nvPicPr>
          <p:blipFill rotWithShape="1">
            <a:blip r:embed="rId2"/>
            <a:srcRect t="33998" r="38034" b="40342"/>
            <a:stretch/>
          </p:blipFill>
          <p:spPr>
            <a:xfrm>
              <a:off x="228600" y="1058891"/>
              <a:ext cx="5524500" cy="830998"/>
            </a:xfrm>
            <a:prstGeom prst="rect">
              <a:avLst/>
            </a:prstGeom>
          </p:spPr>
        </p:pic>
        <p:pic>
          <p:nvPicPr>
            <p:cNvPr id="14" name="Picture 2" descr="Precision vs Recall. In this blog, I will focus on the… | by ...">
              <a:extLst>
                <a:ext uri="{FF2B5EF4-FFF2-40B4-BE49-F238E27FC236}">
                  <a16:creationId xmlns:a16="http://schemas.microsoft.com/office/drawing/2014/main" id="{BC05B50B-34BE-457F-A035-18AEAAD7E5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161" r="37180" b="66002"/>
            <a:stretch/>
          </p:blipFill>
          <p:spPr bwMode="auto">
            <a:xfrm>
              <a:off x="228600" y="1900671"/>
              <a:ext cx="5817066" cy="83542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50673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a:bodyPr>
          <a:lstStyle/>
          <a:p>
            <a:r>
              <a:rPr lang="en-US" dirty="0"/>
              <a:t>Recall	</a:t>
            </a:r>
            <a:endParaRPr lang="en-IN" dirty="0"/>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a:xfrm>
            <a:off x="990600" y="2947207"/>
            <a:ext cx="7010400" cy="3377394"/>
          </a:xfrm>
        </p:spPr>
        <p:txBody>
          <a:bodyPr>
            <a:normAutofit/>
          </a:bodyPr>
          <a:lstStyle/>
          <a:p>
            <a:pPr marL="0" indent="0">
              <a:buNone/>
            </a:pPr>
            <a:r>
              <a:rPr lang="en-US" sz="2400" dirty="0"/>
              <a:t>Recall (also called True Positive Rate or Sensitivity).</a:t>
            </a:r>
          </a:p>
          <a:p>
            <a:pPr marL="0" indent="0">
              <a:buNone/>
            </a:pPr>
            <a:endParaRPr lang="en-US" sz="2400" dirty="0"/>
          </a:p>
          <a:p>
            <a:pPr marL="0" indent="0">
              <a:buNone/>
            </a:pPr>
            <a:r>
              <a:rPr lang="en-US" sz="2400" dirty="0"/>
              <a:t>Recall calculates the percentage of actual positives a model correctly identified (True Positive). </a:t>
            </a:r>
          </a:p>
          <a:p>
            <a:pPr marL="0" indent="0">
              <a:buNone/>
            </a:pPr>
            <a:endParaRPr lang="en-US" sz="2400" dirty="0"/>
          </a:p>
          <a:p>
            <a:pPr marL="0" indent="0">
              <a:buNone/>
            </a:pPr>
            <a:r>
              <a:rPr lang="en-US" sz="2400" b="1" dirty="0"/>
              <a:t>We use Recall When the cost of a false negative is high.</a:t>
            </a:r>
            <a:endParaRPr lang="en-IN" sz="2400" b="1" dirty="0"/>
          </a:p>
        </p:txBody>
      </p:sp>
      <p:grpSp>
        <p:nvGrpSpPr>
          <p:cNvPr id="6" name="Group 5">
            <a:extLst>
              <a:ext uri="{FF2B5EF4-FFF2-40B4-BE49-F238E27FC236}">
                <a16:creationId xmlns:a16="http://schemas.microsoft.com/office/drawing/2014/main" id="{520CAC46-3E58-4BB1-A24C-1C7F167E642E}"/>
              </a:ext>
            </a:extLst>
          </p:cNvPr>
          <p:cNvGrpSpPr/>
          <p:nvPr/>
        </p:nvGrpSpPr>
        <p:grpSpPr>
          <a:xfrm>
            <a:off x="228600" y="1058891"/>
            <a:ext cx="5817066" cy="1677203"/>
            <a:chOff x="228600" y="1058891"/>
            <a:chExt cx="5817066" cy="1677203"/>
          </a:xfrm>
        </p:grpSpPr>
        <p:pic>
          <p:nvPicPr>
            <p:cNvPr id="7" name="Picture 6">
              <a:extLst>
                <a:ext uri="{FF2B5EF4-FFF2-40B4-BE49-F238E27FC236}">
                  <a16:creationId xmlns:a16="http://schemas.microsoft.com/office/drawing/2014/main" id="{FF8A8CE9-2CBC-42B2-80A7-345F93180903}"/>
                </a:ext>
              </a:extLst>
            </p:cNvPr>
            <p:cNvPicPr>
              <a:picLocks noChangeAspect="1"/>
            </p:cNvPicPr>
            <p:nvPr/>
          </p:nvPicPr>
          <p:blipFill rotWithShape="1">
            <a:blip r:embed="rId2"/>
            <a:srcRect t="33998" r="38034" b="40342"/>
            <a:stretch/>
          </p:blipFill>
          <p:spPr>
            <a:xfrm>
              <a:off x="228600" y="1058891"/>
              <a:ext cx="5524500" cy="830998"/>
            </a:xfrm>
            <a:prstGeom prst="rect">
              <a:avLst/>
            </a:prstGeom>
          </p:spPr>
        </p:pic>
        <p:pic>
          <p:nvPicPr>
            <p:cNvPr id="8" name="Picture 2" descr="Precision vs Recall. In this blog, I will focus on the… | by ...">
              <a:extLst>
                <a:ext uri="{FF2B5EF4-FFF2-40B4-BE49-F238E27FC236}">
                  <a16:creationId xmlns:a16="http://schemas.microsoft.com/office/drawing/2014/main" id="{FF961A4C-3D7F-48CD-9FC2-5F7E6CA1E3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161" r="37180" b="66002"/>
            <a:stretch/>
          </p:blipFill>
          <p:spPr bwMode="auto">
            <a:xfrm>
              <a:off x="228600" y="1900671"/>
              <a:ext cx="5817066" cy="83542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66152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6C05BA-BAA0-4241-82EC-1CE7D7950272}"/>
              </a:ext>
            </a:extLst>
          </p:cNvPr>
          <p:cNvSpPr txBox="1"/>
          <p:nvPr/>
        </p:nvSpPr>
        <p:spPr>
          <a:xfrm>
            <a:off x="1752599" y="1828800"/>
            <a:ext cx="5042855" cy="369332"/>
          </a:xfrm>
          <a:prstGeom prst="rect">
            <a:avLst/>
          </a:prstGeom>
          <a:noFill/>
        </p:spPr>
        <p:txBody>
          <a:bodyPr wrap="none" rtlCol="0">
            <a:spAutoFit/>
          </a:bodyPr>
          <a:lstStyle/>
          <a:p>
            <a:r>
              <a:rPr lang="en-US" dirty="0"/>
              <a:t>True Positive + False Negative = Total </a:t>
            </a:r>
            <a:r>
              <a:rPr lang="en-US" b="1" dirty="0"/>
              <a:t>Actual </a:t>
            </a:r>
            <a:r>
              <a:rPr lang="en-US" dirty="0"/>
              <a:t>Positive</a:t>
            </a:r>
            <a:endParaRPr lang="en-IN" dirty="0"/>
          </a:p>
        </p:txBody>
      </p:sp>
      <p:pic>
        <p:nvPicPr>
          <p:cNvPr id="5122" name="Picture 2">
            <a:extLst>
              <a:ext uri="{FF2B5EF4-FFF2-40B4-BE49-F238E27FC236}">
                <a16:creationId xmlns:a16="http://schemas.microsoft.com/office/drawing/2014/main" id="{C23B81BD-2D00-4CCD-A3C3-030110E7C7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4834"/>
          <a:stretch/>
        </p:blipFill>
        <p:spPr bwMode="auto">
          <a:xfrm>
            <a:off x="2819400" y="2301471"/>
            <a:ext cx="2762250" cy="44172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4E5134F-0CFE-4BE5-9DA3-533969221F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527" y="14377"/>
            <a:ext cx="7239000" cy="1695450"/>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3">
            <a:extLst>
              <a:ext uri="{FF2B5EF4-FFF2-40B4-BE49-F238E27FC236}">
                <a16:creationId xmlns:a16="http://schemas.microsoft.com/office/drawing/2014/main" id="{606B887C-FFFF-4581-B562-701F8DBE74DC}"/>
              </a:ext>
            </a:extLst>
          </p:cNvPr>
          <p:cNvSpPr>
            <a:spLocks noGrp="1"/>
          </p:cNvSpPr>
          <p:nvPr>
            <p:ph idx="1"/>
          </p:nvPr>
        </p:nvSpPr>
        <p:spPr>
          <a:xfrm>
            <a:off x="457200" y="3449128"/>
            <a:ext cx="8229600" cy="3256472"/>
          </a:xfrm>
        </p:spPr>
        <p:txBody>
          <a:bodyPr>
            <a:normAutofit/>
          </a:bodyPr>
          <a:lstStyle/>
          <a:p>
            <a:r>
              <a:rPr lang="en-US" sz="1600" b="1" dirty="0">
                <a:solidFill>
                  <a:srgbClr val="FF0000"/>
                </a:solidFill>
              </a:rPr>
              <a:t> Recall</a:t>
            </a:r>
            <a:r>
              <a:rPr lang="en-US" sz="1600" dirty="0"/>
              <a:t> calculates how many of the Actual Positives our model capture through labeling it as Positive (True Positive). Applying the same understanding, we know that Recall shall be the model metric we use to select our best model when there is a </a:t>
            </a:r>
            <a:r>
              <a:rPr lang="en-US" sz="1600" b="1" dirty="0"/>
              <a:t>high cost associated with False Negative.</a:t>
            </a:r>
            <a:br>
              <a:rPr lang="en-US" sz="1600" b="1" dirty="0"/>
            </a:br>
            <a:endParaRPr lang="en-US" sz="1600" b="1" dirty="0"/>
          </a:p>
          <a:p>
            <a:r>
              <a:rPr lang="en-US" sz="1600" dirty="0"/>
              <a:t>For instance, in fraud detection or sick patient detection. If a fraudulent transaction (Actual Positive) is predicted as non-fraudulent (Predicted Negative), the consequence can be very bad for the bank</a:t>
            </a:r>
            <a:br>
              <a:rPr lang="en-US" sz="1600" dirty="0"/>
            </a:br>
            <a:endParaRPr lang="en-US" sz="1600" dirty="0"/>
          </a:p>
          <a:p>
            <a:r>
              <a:rPr lang="en-US" sz="1600" dirty="0"/>
              <a:t>Similarly, in sick patient detection. If a sick patient (Actual Positive) goes through the test and predicted as not sick (Predicted Negative). The cost associated with False Negative will be extremely high if the sickness is contagious.</a:t>
            </a:r>
          </a:p>
        </p:txBody>
      </p:sp>
    </p:spTree>
    <p:extLst>
      <p:ext uri="{BB962C8B-B14F-4D97-AF65-F5344CB8AC3E}">
        <p14:creationId xmlns:p14="http://schemas.microsoft.com/office/powerpoint/2010/main" val="1969670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a:bodyPr>
          <a:lstStyle/>
          <a:p>
            <a:r>
              <a:rPr lang="en-US" dirty="0"/>
              <a:t>Precision:</a:t>
            </a:r>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a:xfrm>
            <a:off x="381000" y="3048001"/>
            <a:ext cx="8229600" cy="3200400"/>
          </a:xfrm>
        </p:spPr>
        <p:txBody>
          <a:bodyPr>
            <a:normAutofit/>
          </a:bodyPr>
          <a:lstStyle/>
          <a:p>
            <a:pPr marL="0" indent="0">
              <a:buNone/>
            </a:pPr>
            <a:r>
              <a:rPr lang="en-US" sz="2400" dirty="0"/>
              <a:t>Precision for class B is: </a:t>
            </a:r>
            <a:r>
              <a:rPr lang="en-US" sz="2400" b="1" dirty="0"/>
              <a:t>how often is the model correct when it predicts as B?</a:t>
            </a:r>
            <a:br>
              <a:rPr lang="en-US" sz="2400" b="1" dirty="0"/>
            </a:br>
            <a:endParaRPr lang="en-US" sz="2400" b="1" dirty="0"/>
          </a:p>
          <a:p>
            <a:pPr marL="0" indent="0">
              <a:buNone/>
            </a:pPr>
            <a:r>
              <a:rPr lang="en-US" sz="2400" dirty="0"/>
              <a:t>As earlier, let’s calculate precision for class B.</a:t>
            </a:r>
            <a:br>
              <a:rPr lang="en-US" sz="2400" dirty="0"/>
            </a:br>
            <a:endParaRPr lang="en-US" sz="2400" dirty="0"/>
          </a:p>
          <a:p>
            <a:pPr marL="0" indent="0">
              <a:buNone/>
            </a:pPr>
            <a:r>
              <a:rPr lang="en-US" sz="2400" dirty="0"/>
              <a:t>Precision for B: out of the </a:t>
            </a:r>
            <a:r>
              <a:rPr lang="en-US" sz="2400" b="1" dirty="0"/>
              <a:t>total observations predicted </a:t>
            </a:r>
            <a:r>
              <a:rPr lang="en-US" sz="2400" dirty="0"/>
              <a:t>as Bs (10) by the model, how many are correct Bs (6). So, it would be 6/10 = 0.6</a:t>
            </a:r>
            <a:endParaRPr lang="en-IN" sz="2400" dirty="0"/>
          </a:p>
        </p:txBody>
      </p:sp>
      <p:grpSp>
        <p:nvGrpSpPr>
          <p:cNvPr id="5" name="Group 4">
            <a:extLst>
              <a:ext uri="{FF2B5EF4-FFF2-40B4-BE49-F238E27FC236}">
                <a16:creationId xmlns:a16="http://schemas.microsoft.com/office/drawing/2014/main" id="{DA898E51-3D10-4C9D-89E7-597FBC2987AF}"/>
              </a:ext>
            </a:extLst>
          </p:cNvPr>
          <p:cNvGrpSpPr/>
          <p:nvPr/>
        </p:nvGrpSpPr>
        <p:grpSpPr>
          <a:xfrm>
            <a:off x="228600" y="1295400"/>
            <a:ext cx="5817066" cy="1677203"/>
            <a:chOff x="228600" y="1058891"/>
            <a:chExt cx="5817066" cy="1677203"/>
          </a:xfrm>
        </p:grpSpPr>
        <p:pic>
          <p:nvPicPr>
            <p:cNvPr id="6" name="Picture 5">
              <a:extLst>
                <a:ext uri="{FF2B5EF4-FFF2-40B4-BE49-F238E27FC236}">
                  <a16:creationId xmlns:a16="http://schemas.microsoft.com/office/drawing/2014/main" id="{DCFED83A-061A-44AF-9539-E47082C71FD0}"/>
                </a:ext>
              </a:extLst>
            </p:cNvPr>
            <p:cNvPicPr>
              <a:picLocks noChangeAspect="1"/>
            </p:cNvPicPr>
            <p:nvPr/>
          </p:nvPicPr>
          <p:blipFill rotWithShape="1">
            <a:blip r:embed="rId2"/>
            <a:srcRect t="33998" r="38034" b="40342"/>
            <a:stretch/>
          </p:blipFill>
          <p:spPr>
            <a:xfrm>
              <a:off x="228600" y="1058891"/>
              <a:ext cx="5524500" cy="830998"/>
            </a:xfrm>
            <a:prstGeom prst="rect">
              <a:avLst/>
            </a:prstGeom>
          </p:spPr>
        </p:pic>
        <p:pic>
          <p:nvPicPr>
            <p:cNvPr id="7" name="Picture 2" descr="Precision vs Recall. In this blog, I will focus on the… | by ...">
              <a:extLst>
                <a:ext uri="{FF2B5EF4-FFF2-40B4-BE49-F238E27FC236}">
                  <a16:creationId xmlns:a16="http://schemas.microsoft.com/office/drawing/2014/main" id="{2212391E-826A-4E09-87E7-A9C46163DE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161" r="37180" b="66002"/>
            <a:stretch/>
          </p:blipFill>
          <p:spPr bwMode="auto">
            <a:xfrm>
              <a:off x="228600" y="1900671"/>
              <a:ext cx="5817066" cy="83542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75424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a:bodyPr>
          <a:lstStyle/>
          <a:p>
            <a:r>
              <a:rPr lang="en-US" dirty="0"/>
              <a:t>Precision:</a:t>
            </a:r>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a:xfrm>
            <a:off x="762000" y="5082575"/>
            <a:ext cx="8229600" cy="1524000"/>
          </a:xfrm>
        </p:spPr>
        <p:txBody>
          <a:bodyPr>
            <a:normAutofit fontScale="92500" lnSpcReduction="20000"/>
          </a:bodyPr>
          <a:lstStyle/>
          <a:p>
            <a:pPr marL="0" indent="0">
              <a:buNone/>
            </a:pPr>
            <a:r>
              <a:rPr lang="en-US" sz="2400" dirty="0"/>
              <a:t>Precision for class B is: </a:t>
            </a:r>
            <a:r>
              <a:rPr lang="en-US" sz="2400" b="1" dirty="0"/>
              <a:t>how often is the model correct when it predicts as B?</a:t>
            </a:r>
            <a:br>
              <a:rPr lang="en-US" sz="2400" b="1" dirty="0"/>
            </a:br>
            <a:br>
              <a:rPr lang="en-US" sz="2400" b="1" dirty="0"/>
            </a:br>
            <a:r>
              <a:rPr lang="en-US" sz="2400" dirty="0"/>
              <a:t>Precision is a good measure to determine, </a:t>
            </a:r>
            <a:r>
              <a:rPr lang="en-US" sz="2400" b="1" dirty="0"/>
              <a:t>when the costs of False Positive is high</a:t>
            </a:r>
            <a:r>
              <a:rPr lang="en-US" sz="2400" dirty="0"/>
              <a:t>.</a:t>
            </a:r>
            <a:endParaRPr lang="en-US" sz="2400" b="1" dirty="0"/>
          </a:p>
        </p:txBody>
      </p:sp>
      <p:pic>
        <p:nvPicPr>
          <p:cNvPr id="2" name="Picture 1">
            <a:extLst>
              <a:ext uri="{FF2B5EF4-FFF2-40B4-BE49-F238E27FC236}">
                <a16:creationId xmlns:a16="http://schemas.microsoft.com/office/drawing/2014/main" id="{CFEF40C3-47E4-4D12-86A9-3F8847B3E3BE}"/>
              </a:ext>
            </a:extLst>
          </p:cNvPr>
          <p:cNvPicPr>
            <a:picLocks noChangeAspect="1"/>
          </p:cNvPicPr>
          <p:nvPr/>
        </p:nvPicPr>
        <p:blipFill>
          <a:blip r:embed="rId2"/>
          <a:stretch>
            <a:fillRect/>
          </a:stretch>
        </p:blipFill>
        <p:spPr>
          <a:xfrm>
            <a:off x="838200" y="1133475"/>
            <a:ext cx="7239000" cy="1695450"/>
          </a:xfrm>
          <a:prstGeom prst="rect">
            <a:avLst/>
          </a:prstGeom>
        </p:spPr>
      </p:pic>
      <p:sp>
        <p:nvSpPr>
          <p:cNvPr id="5" name="TextBox 4">
            <a:extLst>
              <a:ext uri="{FF2B5EF4-FFF2-40B4-BE49-F238E27FC236}">
                <a16:creationId xmlns:a16="http://schemas.microsoft.com/office/drawing/2014/main" id="{0A6C05BA-BAA0-4241-82EC-1CE7D7950272}"/>
              </a:ext>
            </a:extLst>
          </p:cNvPr>
          <p:cNvSpPr txBox="1"/>
          <p:nvPr/>
        </p:nvSpPr>
        <p:spPr>
          <a:xfrm>
            <a:off x="1752600" y="2971800"/>
            <a:ext cx="5245923" cy="369332"/>
          </a:xfrm>
          <a:prstGeom prst="rect">
            <a:avLst/>
          </a:prstGeom>
          <a:noFill/>
        </p:spPr>
        <p:txBody>
          <a:bodyPr wrap="none" rtlCol="0">
            <a:spAutoFit/>
          </a:bodyPr>
          <a:lstStyle/>
          <a:p>
            <a:r>
              <a:rPr lang="en-US" dirty="0"/>
              <a:t>True Positive + False Positive = Total </a:t>
            </a:r>
            <a:r>
              <a:rPr lang="en-US" b="1" dirty="0"/>
              <a:t>Predicted </a:t>
            </a:r>
            <a:r>
              <a:rPr lang="en-US" dirty="0"/>
              <a:t>Positive</a:t>
            </a:r>
            <a:endParaRPr lang="en-IN" dirty="0"/>
          </a:p>
        </p:txBody>
      </p:sp>
      <p:pic>
        <p:nvPicPr>
          <p:cNvPr id="2050" name="Picture 2">
            <a:extLst>
              <a:ext uri="{FF2B5EF4-FFF2-40B4-BE49-F238E27FC236}">
                <a16:creationId xmlns:a16="http://schemas.microsoft.com/office/drawing/2014/main" id="{E1536768-B602-484B-B524-A1F3055D9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3468388"/>
            <a:ext cx="422910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6464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a:xfrm>
            <a:off x="457200" y="3938372"/>
            <a:ext cx="8229600" cy="2133600"/>
          </a:xfrm>
        </p:spPr>
        <p:txBody>
          <a:bodyPr>
            <a:normAutofit lnSpcReduction="10000"/>
          </a:bodyPr>
          <a:lstStyle/>
          <a:p>
            <a:r>
              <a:rPr lang="en-US" sz="1800" b="1" dirty="0"/>
              <a:t>Precision</a:t>
            </a:r>
            <a:r>
              <a:rPr lang="en-US" sz="1800" dirty="0"/>
              <a:t> talks about how precise/accurate your model is out of those predicted positive, how many of them are actual positive.</a:t>
            </a:r>
            <a:br>
              <a:rPr lang="en-US" sz="1800" dirty="0"/>
            </a:br>
            <a:endParaRPr lang="en-US" sz="1800" dirty="0"/>
          </a:p>
          <a:p>
            <a:r>
              <a:rPr lang="en-US" sz="1800" dirty="0"/>
              <a:t>Precision is a good measure to determine, </a:t>
            </a:r>
            <a:r>
              <a:rPr lang="en-US" sz="1800" b="1" dirty="0"/>
              <a:t>when the costs of False Positive is high</a:t>
            </a:r>
            <a:r>
              <a:rPr lang="en-US" sz="1800" dirty="0"/>
              <a:t>. For instance, email spam detection. In email spam detection, a false positive means that an email that is non-spam (actual negative) has been identified as spam (predicted spam). The email user might lose important emails if the precision is not high for the spam detection model.</a:t>
            </a:r>
          </a:p>
        </p:txBody>
      </p:sp>
      <p:pic>
        <p:nvPicPr>
          <p:cNvPr id="2" name="Picture 1">
            <a:extLst>
              <a:ext uri="{FF2B5EF4-FFF2-40B4-BE49-F238E27FC236}">
                <a16:creationId xmlns:a16="http://schemas.microsoft.com/office/drawing/2014/main" id="{CFEF40C3-47E4-4D12-86A9-3F8847B3E3BE}"/>
              </a:ext>
            </a:extLst>
          </p:cNvPr>
          <p:cNvPicPr>
            <a:picLocks noChangeAspect="1"/>
          </p:cNvPicPr>
          <p:nvPr/>
        </p:nvPicPr>
        <p:blipFill>
          <a:blip r:embed="rId2"/>
          <a:stretch>
            <a:fillRect/>
          </a:stretch>
        </p:blipFill>
        <p:spPr>
          <a:xfrm>
            <a:off x="762000" y="157379"/>
            <a:ext cx="7239000" cy="1695450"/>
          </a:xfrm>
          <a:prstGeom prst="rect">
            <a:avLst/>
          </a:prstGeom>
        </p:spPr>
      </p:pic>
      <p:sp>
        <p:nvSpPr>
          <p:cNvPr id="5" name="TextBox 4">
            <a:extLst>
              <a:ext uri="{FF2B5EF4-FFF2-40B4-BE49-F238E27FC236}">
                <a16:creationId xmlns:a16="http://schemas.microsoft.com/office/drawing/2014/main" id="{0A6C05BA-BAA0-4241-82EC-1CE7D7950272}"/>
              </a:ext>
            </a:extLst>
          </p:cNvPr>
          <p:cNvSpPr txBox="1"/>
          <p:nvPr/>
        </p:nvSpPr>
        <p:spPr>
          <a:xfrm>
            <a:off x="1949038" y="1852829"/>
            <a:ext cx="5245923" cy="369332"/>
          </a:xfrm>
          <a:prstGeom prst="rect">
            <a:avLst/>
          </a:prstGeom>
          <a:noFill/>
        </p:spPr>
        <p:txBody>
          <a:bodyPr wrap="none" rtlCol="0">
            <a:spAutoFit/>
          </a:bodyPr>
          <a:lstStyle/>
          <a:p>
            <a:r>
              <a:rPr lang="en-US" dirty="0"/>
              <a:t>True Positive + False Positive = Total </a:t>
            </a:r>
            <a:r>
              <a:rPr lang="en-US" b="1" dirty="0"/>
              <a:t>Predicted</a:t>
            </a:r>
            <a:r>
              <a:rPr lang="en-US" dirty="0"/>
              <a:t> Positive</a:t>
            </a:r>
            <a:endParaRPr lang="en-IN" dirty="0"/>
          </a:p>
        </p:txBody>
      </p:sp>
      <p:pic>
        <p:nvPicPr>
          <p:cNvPr id="2050" name="Picture 2">
            <a:extLst>
              <a:ext uri="{FF2B5EF4-FFF2-40B4-BE49-F238E27FC236}">
                <a16:creationId xmlns:a16="http://schemas.microsoft.com/office/drawing/2014/main" id="{E1536768-B602-484B-B524-A1F3055D9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362200"/>
            <a:ext cx="422910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194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a:bodyPr>
          <a:lstStyle/>
          <a:p>
            <a:r>
              <a:rPr lang="en-US" dirty="0"/>
              <a:t>F1-Score</a:t>
            </a:r>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p:txBody>
          <a:bodyPr>
            <a:normAutofit/>
          </a:bodyPr>
          <a:lstStyle/>
          <a:p>
            <a:pPr marL="0" indent="0">
              <a:buNone/>
            </a:pPr>
            <a:r>
              <a:rPr lang="en-US" dirty="0"/>
              <a:t>F1 score of class B will be</a:t>
            </a:r>
          </a:p>
          <a:p>
            <a:pPr marL="0" indent="0">
              <a:buNone/>
            </a:pPr>
            <a:r>
              <a:rPr lang="en-US" dirty="0"/>
              <a:t> (2 x Recall x precision)/(Recall + Precision) </a:t>
            </a:r>
          </a:p>
          <a:p>
            <a:pPr marL="0" indent="0">
              <a:buNone/>
            </a:pPr>
            <a:r>
              <a:rPr lang="en-US" dirty="0"/>
              <a:t>=0.75*0.6*2/(0.75+0.6) = 0.67</a:t>
            </a:r>
            <a:endParaRPr lang="en-IN" dirty="0"/>
          </a:p>
        </p:txBody>
      </p:sp>
    </p:spTree>
    <p:extLst>
      <p:ext uri="{BB962C8B-B14F-4D97-AF65-F5344CB8AC3E}">
        <p14:creationId xmlns:p14="http://schemas.microsoft.com/office/powerpoint/2010/main" val="4145976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C16D-F453-4EC5-9101-9DA489ECC15F}"/>
              </a:ext>
            </a:extLst>
          </p:cNvPr>
          <p:cNvSpPr>
            <a:spLocks noGrp="1"/>
          </p:cNvSpPr>
          <p:nvPr>
            <p:ph type="title"/>
          </p:nvPr>
        </p:nvSpPr>
        <p:spPr/>
        <p:txBody>
          <a:bodyPr/>
          <a:lstStyle/>
          <a:p>
            <a:r>
              <a:rPr lang="en-IN" dirty="0"/>
              <a:t>F1-Score</a:t>
            </a:r>
          </a:p>
        </p:txBody>
      </p:sp>
      <p:sp>
        <p:nvSpPr>
          <p:cNvPr id="3" name="Content Placeholder 2">
            <a:extLst>
              <a:ext uri="{FF2B5EF4-FFF2-40B4-BE49-F238E27FC236}">
                <a16:creationId xmlns:a16="http://schemas.microsoft.com/office/drawing/2014/main" id="{E1842F61-94F1-4537-8DD0-1D901EA3AF8A}"/>
              </a:ext>
            </a:extLst>
          </p:cNvPr>
          <p:cNvSpPr>
            <a:spLocks noGrp="1"/>
          </p:cNvSpPr>
          <p:nvPr>
            <p:ph idx="1"/>
          </p:nvPr>
        </p:nvSpPr>
        <p:spPr/>
        <p:txBody>
          <a:bodyPr>
            <a:normAutofit/>
          </a:bodyPr>
          <a:lstStyle/>
          <a:p>
            <a:r>
              <a:rPr lang="en-US" dirty="0"/>
              <a:t>F1 Score is needed when you want to seek a balance between Precision and Recall. Right…so what is the difference between F1 Score and Accuracy then? </a:t>
            </a:r>
            <a:endParaRPr lang="en-IN" dirty="0"/>
          </a:p>
        </p:txBody>
      </p:sp>
    </p:spTree>
    <p:extLst>
      <p:ext uri="{BB962C8B-B14F-4D97-AF65-F5344CB8AC3E}">
        <p14:creationId xmlns:p14="http://schemas.microsoft.com/office/powerpoint/2010/main" val="545775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C16D-F453-4EC5-9101-9DA489ECC15F}"/>
              </a:ext>
            </a:extLst>
          </p:cNvPr>
          <p:cNvSpPr>
            <a:spLocks noGrp="1"/>
          </p:cNvSpPr>
          <p:nvPr>
            <p:ph type="title"/>
          </p:nvPr>
        </p:nvSpPr>
        <p:spPr/>
        <p:txBody>
          <a:bodyPr/>
          <a:lstStyle/>
          <a:p>
            <a:r>
              <a:rPr lang="en-IN" dirty="0"/>
              <a:t>F1-Score</a:t>
            </a:r>
          </a:p>
        </p:txBody>
      </p:sp>
      <p:sp>
        <p:nvSpPr>
          <p:cNvPr id="3" name="Content Placeholder 2">
            <a:extLst>
              <a:ext uri="{FF2B5EF4-FFF2-40B4-BE49-F238E27FC236}">
                <a16:creationId xmlns:a16="http://schemas.microsoft.com/office/drawing/2014/main" id="{E1842F61-94F1-4537-8DD0-1D901EA3AF8A}"/>
              </a:ext>
            </a:extLst>
          </p:cNvPr>
          <p:cNvSpPr>
            <a:spLocks noGrp="1"/>
          </p:cNvSpPr>
          <p:nvPr>
            <p:ph idx="1"/>
          </p:nvPr>
        </p:nvSpPr>
        <p:spPr/>
        <p:txBody>
          <a:bodyPr>
            <a:normAutofit/>
          </a:bodyPr>
          <a:lstStyle/>
          <a:p>
            <a:pPr marL="0" indent="0">
              <a:buNone/>
            </a:pPr>
            <a:r>
              <a:rPr lang="en-US" sz="2400" dirty="0"/>
              <a:t>We have previously seen that accuracy can be largely contributed by a large number of True Negatives which in most business circumstances, we do not focus on much whereas False Negative and False Positive usually has business costs (tangible &amp; intangible).</a:t>
            </a:r>
            <a:br>
              <a:rPr lang="en-US" sz="2400" dirty="0"/>
            </a:br>
            <a:br>
              <a:rPr lang="en-US" sz="2400" dirty="0"/>
            </a:br>
            <a:r>
              <a:rPr lang="en-US" sz="2400" dirty="0"/>
              <a:t>So F1 Score might be a better measure to use if we need to seek a balance between Precision and Recall AND there is an uneven class distribution </a:t>
            </a:r>
            <a:r>
              <a:rPr lang="en-US" sz="2400" b="1" dirty="0"/>
              <a:t>(large number of Actual Negatives).</a:t>
            </a:r>
            <a:endParaRPr lang="en-IN" sz="2400" b="1" dirty="0"/>
          </a:p>
        </p:txBody>
      </p:sp>
    </p:spTree>
    <p:extLst>
      <p:ext uri="{BB962C8B-B14F-4D97-AF65-F5344CB8AC3E}">
        <p14:creationId xmlns:p14="http://schemas.microsoft.com/office/powerpoint/2010/main" val="2040007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0739F-CF8D-4C14-850D-05B38AFADCFF}"/>
              </a:ext>
            </a:extLst>
          </p:cNvPr>
          <p:cNvSpPr>
            <a:spLocks noGrp="1"/>
          </p:cNvSpPr>
          <p:nvPr>
            <p:ph type="title"/>
          </p:nvPr>
        </p:nvSpPr>
        <p:spPr/>
        <p:txBody>
          <a:bodyPr>
            <a:normAutofit fontScale="90000"/>
          </a:bodyPr>
          <a:lstStyle/>
          <a:p>
            <a:r>
              <a:rPr lang="en-US" dirty="0" err="1"/>
              <a:t>MicroAverages</a:t>
            </a:r>
            <a:br>
              <a:rPr lang="en-US" dirty="0"/>
            </a:br>
            <a:r>
              <a:rPr lang="en-US" dirty="0"/>
              <a:t>Hence, the need for other metrics:</a:t>
            </a:r>
            <a:endParaRPr lang="en-IN" dirty="0"/>
          </a:p>
        </p:txBody>
      </p:sp>
      <p:sp>
        <p:nvSpPr>
          <p:cNvPr id="4" name="Content Placeholder 3">
            <a:extLst>
              <a:ext uri="{FF2B5EF4-FFF2-40B4-BE49-F238E27FC236}">
                <a16:creationId xmlns:a16="http://schemas.microsoft.com/office/drawing/2014/main" id="{5680EE43-E33F-4789-81BD-D0BC923FB838}"/>
              </a:ext>
            </a:extLst>
          </p:cNvPr>
          <p:cNvSpPr>
            <a:spLocks noGrp="1"/>
          </p:cNvSpPr>
          <p:nvPr>
            <p:ph idx="1"/>
          </p:nvPr>
        </p:nvSpPr>
        <p:spPr/>
        <p:txBody>
          <a:bodyPr>
            <a:normAutofit/>
          </a:bodyPr>
          <a:lstStyle/>
          <a:p>
            <a:pPr marL="0" indent="0">
              <a:buNone/>
            </a:pPr>
            <a:r>
              <a:rPr lang="en-US" dirty="0"/>
              <a:t>Accuracy is calculated for the model as a whole but recall and precision are calculated for individual classes. </a:t>
            </a:r>
          </a:p>
          <a:p>
            <a:pPr marL="0" indent="0">
              <a:buNone/>
            </a:pPr>
            <a:r>
              <a:rPr lang="en-US" dirty="0"/>
              <a:t>We use macro or micro or weighted scores of</a:t>
            </a:r>
          </a:p>
          <a:p>
            <a:r>
              <a:rPr lang="en-US" dirty="0"/>
              <a:t>Recall</a:t>
            </a:r>
          </a:p>
          <a:p>
            <a:r>
              <a:rPr lang="en-US" dirty="0"/>
              <a:t>Precision </a:t>
            </a:r>
          </a:p>
          <a:p>
            <a:r>
              <a:rPr lang="en-US" dirty="0"/>
              <a:t>F1 score </a:t>
            </a:r>
          </a:p>
          <a:p>
            <a:pPr marL="0" indent="0">
              <a:buNone/>
            </a:pPr>
            <a:r>
              <a:rPr lang="en-US" dirty="0"/>
              <a:t>of a model for multiclass classification problems. </a:t>
            </a:r>
          </a:p>
          <a:p>
            <a:endParaRPr lang="en-IN" dirty="0"/>
          </a:p>
        </p:txBody>
      </p:sp>
    </p:spTree>
    <p:extLst>
      <p:ext uri="{BB962C8B-B14F-4D97-AF65-F5344CB8AC3E}">
        <p14:creationId xmlns:p14="http://schemas.microsoft.com/office/powerpoint/2010/main" val="2132242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252D-3155-45AF-8FFC-BD8A604DC544}"/>
              </a:ext>
            </a:extLst>
          </p:cNvPr>
          <p:cNvSpPr>
            <a:spLocks noGrp="1"/>
          </p:cNvSpPr>
          <p:nvPr>
            <p:ph type="title"/>
          </p:nvPr>
        </p:nvSpPr>
        <p:spPr/>
        <p:txBody>
          <a:bodyPr/>
          <a:lstStyle/>
          <a:p>
            <a:r>
              <a:rPr lang="en-IN" dirty="0"/>
              <a:t>Micro Averages</a:t>
            </a:r>
          </a:p>
        </p:txBody>
      </p:sp>
      <p:sp>
        <p:nvSpPr>
          <p:cNvPr id="3" name="Content Placeholder 2">
            <a:extLst>
              <a:ext uri="{FF2B5EF4-FFF2-40B4-BE49-F238E27FC236}">
                <a16:creationId xmlns:a16="http://schemas.microsoft.com/office/drawing/2014/main" id="{F1B15DA8-94FE-4D68-85B2-1885FEBB5831}"/>
              </a:ext>
            </a:extLst>
          </p:cNvPr>
          <p:cNvSpPr>
            <a:spLocks noGrp="1"/>
          </p:cNvSpPr>
          <p:nvPr>
            <p:ph idx="1"/>
          </p:nvPr>
        </p:nvSpPr>
        <p:spPr/>
        <p:txBody>
          <a:bodyPr/>
          <a:lstStyle/>
          <a:p>
            <a:r>
              <a:rPr lang="en-US" dirty="0"/>
              <a:t>In the Micro-average method, you sum up the individual class’s true positives, false positives, and false negatives of the system for different sets and then apply them to get the score. </a:t>
            </a:r>
            <a:endParaRPr lang="en-IN" dirty="0"/>
          </a:p>
        </p:txBody>
      </p:sp>
    </p:spTree>
    <p:extLst>
      <p:ext uri="{BB962C8B-B14F-4D97-AF65-F5344CB8AC3E}">
        <p14:creationId xmlns:p14="http://schemas.microsoft.com/office/powerpoint/2010/main" val="968804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E466-17D5-4A7E-A5F0-5330F0EB8283}"/>
              </a:ext>
            </a:extLst>
          </p:cNvPr>
          <p:cNvSpPr>
            <a:spLocks noGrp="1"/>
          </p:cNvSpPr>
          <p:nvPr>
            <p:ph type="title"/>
          </p:nvPr>
        </p:nvSpPr>
        <p:spPr/>
        <p:txBody>
          <a:bodyPr/>
          <a:lstStyle/>
          <a:p>
            <a:r>
              <a:rPr lang="en-IN" dirty="0"/>
              <a:t>Micro Average </a:t>
            </a:r>
            <a:r>
              <a:rPr lang="en-IN" b="1" dirty="0"/>
              <a:t>Recall</a:t>
            </a:r>
          </a:p>
        </p:txBody>
      </p:sp>
      <p:sp>
        <p:nvSpPr>
          <p:cNvPr id="3" name="Content Placeholder 2">
            <a:extLst>
              <a:ext uri="{FF2B5EF4-FFF2-40B4-BE49-F238E27FC236}">
                <a16:creationId xmlns:a16="http://schemas.microsoft.com/office/drawing/2014/main" id="{47815975-DBEB-4289-BA31-303A4E4A0148}"/>
              </a:ext>
            </a:extLst>
          </p:cNvPr>
          <p:cNvSpPr>
            <a:spLocks noGrp="1"/>
          </p:cNvSpPr>
          <p:nvPr>
            <p:ph idx="1"/>
          </p:nvPr>
        </p:nvSpPr>
        <p:spPr/>
        <p:txBody>
          <a:bodyPr/>
          <a:lstStyle/>
          <a:p>
            <a:r>
              <a:rPr lang="en-US" dirty="0"/>
              <a:t>For the fruit’s confusion matrix, micro-average recall score is calculated as below (same as in the classification report above):</a:t>
            </a:r>
            <a:endParaRPr lang="en-IN" dirty="0"/>
          </a:p>
        </p:txBody>
      </p:sp>
      <p:pic>
        <p:nvPicPr>
          <p:cNvPr id="4" name="Picture 3">
            <a:extLst>
              <a:ext uri="{FF2B5EF4-FFF2-40B4-BE49-F238E27FC236}">
                <a16:creationId xmlns:a16="http://schemas.microsoft.com/office/drawing/2014/main" id="{224D57BB-38EB-4CF2-9055-2C5CABE0B415}"/>
              </a:ext>
            </a:extLst>
          </p:cNvPr>
          <p:cNvPicPr>
            <a:picLocks noChangeAspect="1"/>
          </p:cNvPicPr>
          <p:nvPr/>
        </p:nvPicPr>
        <p:blipFill>
          <a:blip r:embed="rId2"/>
          <a:stretch>
            <a:fillRect/>
          </a:stretch>
        </p:blipFill>
        <p:spPr>
          <a:xfrm>
            <a:off x="0" y="3429000"/>
            <a:ext cx="9144000" cy="1489166"/>
          </a:xfrm>
          <a:prstGeom prst="rect">
            <a:avLst/>
          </a:prstGeom>
        </p:spPr>
      </p:pic>
    </p:spTree>
    <p:extLst>
      <p:ext uri="{BB962C8B-B14F-4D97-AF65-F5344CB8AC3E}">
        <p14:creationId xmlns:p14="http://schemas.microsoft.com/office/powerpoint/2010/main" val="1310010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4690-2D4B-46E4-ADEF-F4AF09615FDD}"/>
              </a:ext>
            </a:extLst>
          </p:cNvPr>
          <p:cNvSpPr>
            <a:spLocks noGrp="1"/>
          </p:cNvSpPr>
          <p:nvPr>
            <p:ph type="title"/>
          </p:nvPr>
        </p:nvSpPr>
        <p:spPr/>
        <p:txBody>
          <a:bodyPr/>
          <a:lstStyle/>
          <a:p>
            <a:r>
              <a:rPr lang="en-IN" dirty="0"/>
              <a:t>Macro Average </a:t>
            </a:r>
            <a:r>
              <a:rPr lang="en-IN" b="1" dirty="0"/>
              <a:t>Recall</a:t>
            </a:r>
          </a:p>
        </p:txBody>
      </p:sp>
      <p:pic>
        <p:nvPicPr>
          <p:cNvPr id="4" name="Content Placeholder 3">
            <a:extLst>
              <a:ext uri="{FF2B5EF4-FFF2-40B4-BE49-F238E27FC236}">
                <a16:creationId xmlns:a16="http://schemas.microsoft.com/office/drawing/2014/main" id="{70AE9F20-984D-4FDA-9327-50259B260453}"/>
              </a:ext>
            </a:extLst>
          </p:cNvPr>
          <p:cNvPicPr>
            <a:picLocks noGrp="1" noChangeAspect="1"/>
          </p:cNvPicPr>
          <p:nvPr>
            <p:ph idx="1"/>
          </p:nvPr>
        </p:nvPicPr>
        <p:blipFill>
          <a:blip r:embed="rId2"/>
          <a:stretch>
            <a:fillRect/>
          </a:stretch>
        </p:blipFill>
        <p:spPr>
          <a:xfrm>
            <a:off x="457200" y="3046100"/>
            <a:ext cx="8229600" cy="1634163"/>
          </a:xfrm>
          <a:prstGeom prst="rect">
            <a:avLst/>
          </a:prstGeom>
        </p:spPr>
      </p:pic>
    </p:spTree>
    <p:extLst>
      <p:ext uri="{BB962C8B-B14F-4D97-AF65-F5344CB8AC3E}">
        <p14:creationId xmlns:p14="http://schemas.microsoft.com/office/powerpoint/2010/main" val="396778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2D3D7-0860-4757-A551-CA0B5123A282}"/>
              </a:ext>
            </a:extLst>
          </p:cNvPr>
          <p:cNvSpPr>
            <a:spLocks noGrp="1"/>
          </p:cNvSpPr>
          <p:nvPr>
            <p:ph type="title"/>
          </p:nvPr>
        </p:nvSpPr>
        <p:spPr/>
        <p:txBody>
          <a:bodyPr/>
          <a:lstStyle/>
          <a:p>
            <a:r>
              <a:rPr lang="en-IN" dirty="0"/>
              <a:t>Weighted Average </a:t>
            </a:r>
            <a:r>
              <a:rPr lang="en-IN" b="1" dirty="0"/>
              <a:t>Recall</a:t>
            </a:r>
          </a:p>
        </p:txBody>
      </p:sp>
      <p:pic>
        <p:nvPicPr>
          <p:cNvPr id="1026" name="Picture 2">
            <a:extLst>
              <a:ext uri="{FF2B5EF4-FFF2-40B4-BE49-F238E27FC236}">
                <a16:creationId xmlns:a16="http://schemas.microsoft.com/office/drawing/2014/main" id="{3CCC5489-877B-4F90-8A35-66008185BF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3080105"/>
            <a:ext cx="8229600" cy="1566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760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93E3F0-28C8-48F3-9E86-7A8563D7FF0A}"/>
              </a:ext>
            </a:extLst>
          </p:cNvPr>
          <p:cNvPicPr>
            <a:picLocks noChangeAspect="1"/>
          </p:cNvPicPr>
          <p:nvPr/>
        </p:nvPicPr>
        <p:blipFill>
          <a:blip r:embed="rId2"/>
          <a:stretch>
            <a:fillRect/>
          </a:stretch>
        </p:blipFill>
        <p:spPr>
          <a:xfrm>
            <a:off x="914400" y="1185862"/>
            <a:ext cx="7315200" cy="4486275"/>
          </a:xfrm>
          <a:prstGeom prst="rect">
            <a:avLst/>
          </a:prstGeom>
        </p:spPr>
      </p:pic>
    </p:spTree>
    <p:extLst>
      <p:ext uri="{BB962C8B-B14F-4D97-AF65-F5344CB8AC3E}">
        <p14:creationId xmlns:p14="http://schemas.microsoft.com/office/powerpoint/2010/main" val="4225581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Thanks</a:t>
            </a:r>
          </a:p>
        </p:txBody>
      </p:sp>
      <p:sp>
        <p:nvSpPr>
          <p:cNvPr id="5" name="Subtitle 4"/>
          <p:cNvSpPr>
            <a:spLocks noGrp="1"/>
          </p:cNvSpPr>
          <p:nvPr>
            <p:ph type="subTitle" idx="1"/>
          </p:nvPr>
        </p:nvSpPr>
        <p:spPr/>
        <p:txBody>
          <a:bodyPr/>
          <a:lstStyle/>
          <a:p>
            <a:r>
              <a:rPr lang="en-IN" dirty="0"/>
              <a:t>End</a:t>
            </a:r>
          </a:p>
        </p:txBody>
      </p:sp>
    </p:spTree>
    <p:extLst>
      <p:ext uri="{BB962C8B-B14F-4D97-AF65-F5344CB8AC3E}">
        <p14:creationId xmlns:p14="http://schemas.microsoft.com/office/powerpoint/2010/main" val="1572780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ABF9D0-FA84-427D-A38A-3608EE905904}"/>
              </a:ext>
            </a:extLst>
          </p:cNvPr>
          <p:cNvSpPr>
            <a:spLocks noGrp="1"/>
          </p:cNvSpPr>
          <p:nvPr>
            <p:ph type="title"/>
          </p:nvPr>
        </p:nvSpPr>
        <p:spPr>
          <a:xfrm>
            <a:off x="685800" y="2971800"/>
            <a:ext cx="7772400" cy="1362075"/>
          </a:xfrm>
        </p:spPr>
        <p:txBody>
          <a:bodyPr/>
          <a:lstStyle/>
          <a:p>
            <a:r>
              <a:rPr lang="en-IN" dirty="0"/>
              <a:t>ROC CURVES</a:t>
            </a:r>
          </a:p>
        </p:txBody>
      </p:sp>
    </p:spTree>
    <p:extLst>
      <p:ext uri="{BB962C8B-B14F-4D97-AF65-F5344CB8AC3E}">
        <p14:creationId xmlns:p14="http://schemas.microsoft.com/office/powerpoint/2010/main" val="38654725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ceiver operating characteristic - Wikipedia">
            <a:extLst>
              <a:ext uri="{FF2B5EF4-FFF2-40B4-BE49-F238E27FC236}">
                <a16:creationId xmlns:a16="http://schemas.microsoft.com/office/drawing/2014/main" id="{50BD6CAA-5296-437F-ACE1-FB5316BDC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1065276"/>
            <a:ext cx="6286500" cy="472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183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the ROC curve?</a:t>
            </a:r>
          </a:p>
        </p:txBody>
      </p:sp>
      <p:sp>
        <p:nvSpPr>
          <p:cNvPr id="3" name="TextBox 2"/>
          <p:cNvSpPr txBox="1"/>
          <p:nvPr/>
        </p:nvSpPr>
        <p:spPr>
          <a:xfrm>
            <a:off x="214312" y="1728788"/>
            <a:ext cx="8729663" cy="1200329"/>
          </a:xfrm>
          <a:prstGeom prst="rect">
            <a:avLst/>
          </a:prstGeom>
          <a:noFill/>
        </p:spPr>
        <p:txBody>
          <a:bodyPr wrap="square" rtlCol="0">
            <a:spAutoFit/>
          </a:bodyPr>
          <a:lstStyle/>
          <a:p>
            <a:r>
              <a:rPr lang="en-IN" sz="2400" dirty="0"/>
              <a:t>The ROC curve is one of the methods for visualizing classification quality, which shows the dependency between TPR (True Positive Rate) and FPR (False Positive Rate).</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068241"/>
            <a:ext cx="4350544" cy="978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9225" y="2624686"/>
            <a:ext cx="3714750" cy="3180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4358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indent="-342900"/>
            <a:r>
              <a:rPr lang="en-IN" dirty="0"/>
              <a:t>How is the ROC curve created</a:t>
            </a:r>
          </a:p>
        </p:txBody>
      </p:sp>
      <p:sp>
        <p:nvSpPr>
          <p:cNvPr id="3" name="TextBox 2"/>
          <p:cNvSpPr txBox="1"/>
          <p:nvPr/>
        </p:nvSpPr>
        <p:spPr>
          <a:xfrm>
            <a:off x="214312" y="1728788"/>
            <a:ext cx="8729663" cy="3000821"/>
          </a:xfrm>
          <a:prstGeom prst="rect">
            <a:avLst/>
          </a:prstGeom>
          <a:noFill/>
        </p:spPr>
        <p:txBody>
          <a:bodyPr wrap="square" rtlCol="0">
            <a:spAutoFit/>
          </a:bodyPr>
          <a:lstStyle/>
          <a:p>
            <a:pPr marL="342900" indent="-342900">
              <a:buFont typeface="Arial" panose="020B0604020202020204" pitchFamily="34" charset="0"/>
              <a:buChar char="•"/>
            </a:pPr>
            <a:r>
              <a:rPr lang="en-IN" sz="2100" dirty="0"/>
              <a:t>We compute the values of the decision function.</a:t>
            </a:r>
          </a:p>
          <a:p>
            <a:pPr marL="342900" indent="-342900">
              <a:buFont typeface="Arial" panose="020B0604020202020204" pitchFamily="34" charset="0"/>
              <a:buChar char="•"/>
            </a:pPr>
            <a:r>
              <a:rPr lang="en-IN" sz="2100" dirty="0"/>
              <a:t>We test the classifier for different alpha thresholds. Recall that alpha is the threshold of the estimated probability, above which an observation is assigned to one category (positive class) and below to the other category (negative class).</a:t>
            </a:r>
          </a:p>
          <a:p>
            <a:pPr marL="342900" indent="-342900">
              <a:buFont typeface="Arial" panose="020B0604020202020204" pitchFamily="34" charset="0"/>
              <a:buChar char="•"/>
            </a:pPr>
            <a:r>
              <a:rPr lang="en-IN" sz="2100" dirty="0"/>
              <a:t>For each classification with one value of the alpha threshold we obtain a (TPR, FPR) pair, which corresponds to one point on the ROC curve.</a:t>
            </a:r>
          </a:p>
          <a:p>
            <a:pPr marL="342900" indent="-342900">
              <a:buFont typeface="Arial" panose="020B0604020202020204" pitchFamily="34" charset="0"/>
              <a:buChar char="•"/>
            </a:pPr>
            <a:r>
              <a:rPr lang="en-IN" sz="2100" dirty="0"/>
              <a:t>For each classification with one value of the alpha threshold we also have the corresponding Confusion Matrix.</a:t>
            </a:r>
          </a:p>
        </p:txBody>
      </p:sp>
    </p:spTree>
    <p:extLst>
      <p:ext uri="{BB962C8B-B14F-4D97-AF65-F5344CB8AC3E}">
        <p14:creationId xmlns:p14="http://schemas.microsoft.com/office/powerpoint/2010/main" val="2147384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indent="-342900"/>
            <a:r>
              <a:rPr lang="en-IN" dirty="0"/>
              <a:t>How is the ROC curve created</a:t>
            </a:r>
          </a:p>
        </p:txBody>
      </p:sp>
      <p:sp>
        <p:nvSpPr>
          <p:cNvPr id="3" name="TextBox 2"/>
          <p:cNvSpPr txBox="1"/>
          <p:nvPr/>
        </p:nvSpPr>
        <p:spPr>
          <a:xfrm>
            <a:off x="214312" y="1728787"/>
            <a:ext cx="8729663" cy="415498"/>
          </a:xfrm>
          <a:prstGeom prst="rect">
            <a:avLst/>
          </a:prstGeom>
          <a:noFill/>
        </p:spPr>
        <p:txBody>
          <a:bodyPr wrap="square" rtlCol="0">
            <a:spAutoFit/>
          </a:bodyPr>
          <a:lstStyle/>
          <a:p>
            <a:pPr marL="342900" indent="-342900">
              <a:buFont typeface="Arial" panose="020B0604020202020204" pitchFamily="34" charset="0"/>
              <a:buChar char="•"/>
            </a:pPr>
            <a:r>
              <a:rPr lang="en-IN" sz="2100" dirty="0"/>
              <a:t>We compute the values of the decision function.</a:t>
            </a:r>
          </a:p>
        </p:txBody>
      </p:sp>
      <p:pic>
        <p:nvPicPr>
          <p:cNvPr id="1433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3356"/>
          <a:stretch/>
        </p:blipFill>
        <p:spPr bwMode="auto">
          <a:xfrm>
            <a:off x="957262" y="2058861"/>
            <a:ext cx="7229477" cy="3441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463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indent="-342900"/>
            <a:r>
              <a:rPr lang="en-IN" dirty="0"/>
              <a:t>How is the ROC curve created</a:t>
            </a:r>
          </a:p>
        </p:txBody>
      </p:sp>
      <p:sp>
        <p:nvSpPr>
          <p:cNvPr id="3" name="TextBox 2"/>
          <p:cNvSpPr txBox="1"/>
          <p:nvPr/>
        </p:nvSpPr>
        <p:spPr>
          <a:xfrm>
            <a:off x="214312" y="1728787"/>
            <a:ext cx="8729663" cy="415498"/>
          </a:xfrm>
          <a:prstGeom prst="rect">
            <a:avLst/>
          </a:prstGeom>
          <a:noFill/>
        </p:spPr>
        <p:txBody>
          <a:bodyPr wrap="square" rtlCol="0">
            <a:spAutoFit/>
          </a:bodyPr>
          <a:lstStyle/>
          <a:p>
            <a:pPr marL="342900" indent="-342900">
              <a:buFont typeface="Arial" panose="020B0604020202020204" pitchFamily="34" charset="0"/>
              <a:buChar char="•"/>
            </a:pPr>
            <a:r>
              <a:rPr lang="en-IN" sz="2100" dirty="0"/>
              <a:t>We compute the values of the decision function.</a:t>
            </a:r>
          </a:p>
        </p:txBody>
      </p:sp>
      <p:pic>
        <p:nvPicPr>
          <p:cNvPr id="1536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3252"/>
          <a:stretch/>
        </p:blipFill>
        <p:spPr bwMode="auto">
          <a:xfrm>
            <a:off x="1051494" y="2100263"/>
            <a:ext cx="7041014" cy="340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2668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indent="-342900"/>
            <a:r>
              <a:rPr lang="en-IN" dirty="0"/>
              <a:t>How is the ROC curve created</a:t>
            </a:r>
          </a:p>
        </p:txBody>
      </p:sp>
      <p:sp>
        <p:nvSpPr>
          <p:cNvPr id="3" name="TextBox 2"/>
          <p:cNvSpPr txBox="1"/>
          <p:nvPr/>
        </p:nvSpPr>
        <p:spPr>
          <a:xfrm>
            <a:off x="214312" y="1728787"/>
            <a:ext cx="8729663" cy="415498"/>
          </a:xfrm>
          <a:prstGeom prst="rect">
            <a:avLst/>
          </a:prstGeom>
          <a:noFill/>
        </p:spPr>
        <p:txBody>
          <a:bodyPr wrap="square" rtlCol="0">
            <a:spAutoFit/>
          </a:bodyPr>
          <a:lstStyle/>
          <a:p>
            <a:pPr marL="342900" indent="-342900">
              <a:buFont typeface="Arial" panose="020B0604020202020204" pitchFamily="34" charset="0"/>
              <a:buChar char="•"/>
            </a:pPr>
            <a:r>
              <a:rPr lang="en-IN" sz="2100" dirty="0"/>
              <a:t>We compute the values of the decision function.</a:t>
            </a:r>
          </a:p>
        </p:txBody>
      </p:sp>
      <p:pic>
        <p:nvPicPr>
          <p:cNvPr id="1536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3252"/>
          <a:stretch/>
        </p:blipFill>
        <p:spPr bwMode="auto">
          <a:xfrm>
            <a:off x="4579144" y="2814638"/>
            <a:ext cx="4555950" cy="220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5738" y="2908428"/>
            <a:ext cx="4227909" cy="2012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41930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indent="-342900"/>
            <a:r>
              <a:rPr lang="en-IN" dirty="0"/>
              <a:t>Assessing the classifier using ROC curve</a:t>
            </a:r>
          </a:p>
        </p:txBody>
      </p:sp>
      <p:sp>
        <p:nvSpPr>
          <p:cNvPr id="3" name="TextBox 2"/>
          <p:cNvSpPr txBox="1"/>
          <p:nvPr/>
        </p:nvSpPr>
        <p:spPr>
          <a:xfrm>
            <a:off x="214312" y="1728788"/>
            <a:ext cx="5214938" cy="1754326"/>
          </a:xfrm>
          <a:prstGeom prst="rect">
            <a:avLst/>
          </a:prstGeom>
          <a:noFill/>
        </p:spPr>
        <p:txBody>
          <a:bodyPr wrap="square" rtlCol="0">
            <a:spAutoFit/>
          </a:bodyPr>
          <a:lstStyle/>
          <a:p>
            <a:pPr marL="257175" indent="-257175">
              <a:buFont typeface="Arial" panose="020B0604020202020204" pitchFamily="34" charset="0"/>
              <a:buChar char="•"/>
            </a:pPr>
            <a:r>
              <a:rPr lang="en-IN" dirty="0"/>
              <a:t>Area under ROC Curve (AUC) coefficient</a:t>
            </a:r>
          </a:p>
          <a:p>
            <a:pPr marL="257175" indent="-257175">
              <a:buFont typeface="Arial" panose="020B0604020202020204" pitchFamily="34" charset="0"/>
              <a:buChar char="•"/>
            </a:pPr>
            <a:r>
              <a:rPr lang="en-IN" dirty="0"/>
              <a:t>The higher the value of AUC coefficient, the better. AUC = 1 means a perfect classifier, AUC = 0.5 is obtained for purely random classifiers. AUC &lt; 0.5 means the classifier performs worse than a random one.</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525" y="2121203"/>
            <a:ext cx="3714750" cy="3396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8721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Thanks</a:t>
            </a:r>
          </a:p>
        </p:txBody>
      </p:sp>
      <p:sp>
        <p:nvSpPr>
          <p:cNvPr id="5" name="Subtitle 4"/>
          <p:cNvSpPr>
            <a:spLocks noGrp="1"/>
          </p:cNvSpPr>
          <p:nvPr>
            <p:ph type="subTitle" idx="1"/>
          </p:nvPr>
        </p:nvSpPr>
        <p:spPr/>
        <p:txBody>
          <a:bodyPr/>
          <a:lstStyle/>
          <a:p>
            <a:r>
              <a:rPr lang="en-IN" dirty="0"/>
              <a:t>End</a:t>
            </a:r>
          </a:p>
        </p:txBody>
      </p:sp>
    </p:spTree>
    <p:extLst>
      <p:ext uri="{BB962C8B-B14F-4D97-AF65-F5344CB8AC3E}">
        <p14:creationId xmlns:p14="http://schemas.microsoft.com/office/powerpoint/2010/main" val="1479056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4912</TotalTime>
  <Words>2561</Words>
  <Application>Microsoft Office PowerPoint</Application>
  <PresentationFormat>On-screen Show (4:3)</PresentationFormat>
  <Paragraphs>242</Paragraphs>
  <Slides>44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medium-content-serif-font</vt:lpstr>
      <vt:lpstr>Office Theme</vt:lpstr>
      <vt:lpstr>Logistic Regression/DT CONFUSION MATRIX Precison, Recall, F1-Score </vt:lpstr>
      <vt:lpstr>MutliClass</vt:lpstr>
      <vt:lpstr>Accuracy and Other Metrics</vt:lpstr>
      <vt:lpstr>Case-Study: Fruit Classification</vt:lpstr>
      <vt:lpstr>Fruit Classification :Confusion Matrix</vt:lpstr>
      <vt:lpstr>Fruit Classification :Confusion Matrix</vt:lpstr>
      <vt:lpstr>Fruit Classification :Confusion Matrix</vt:lpstr>
      <vt:lpstr>Accuracy and Other Metrics</vt:lpstr>
      <vt:lpstr>Case-Study: Fruit Classification</vt:lpstr>
      <vt:lpstr>Fruit Classification :Confusion Matrix</vt:lpstr>
      <vt:lpstr>Fruit Classification :Confusion Matrix</vt:lpstr>
      <vt:lpstr>Fruit Classification :Confusion Matrix</vt:lpstr>
      <vt:lpstr>Now Accuracy vs F1 Score </vt:lpstr>
      <vt:lpstr>PowerPoint Presentation</vt:lpstr>
      <vt:lpstr>Accuracy:</vt:lpstr>
      <vt:lpstr>Why Accuracy is not always Accurate</vt:lpstr>
      <vt:lpstr> Hence, the need for other metrics:</vt:lpstr>
      <vt:lpstr>PowerPoint Presentation</vt:lpstr>
      <vt:lpstr>PowerPoint Presentation</vt:lpstr>
      <vt:lpstr>Recall </vt:lpstr>
      <vt:lpstr>Recall </vt:lpstr>
      <vt:lpstr>PowerPoint Presentation</vt:lpstr>
      <vt:lpstr>Precision:</vt:lpstr>
      <vt:lpstr>Precision:</vt:lpstr>
      <vt:lpstr>PowerPoint Presentation</vt:lpstr>
      <vt:lpstr>F1-Score</vt:lpstr>
      <vt:lpstr>F1-Score</vt:lpstr>
      <vt:lpstr>F1-Score</vt:lpstr>
      <vt:lpstr>MicroAverages Hence, the need for other metrics:</vt:lpstr>
      <vt:lpstr>Micro Averages</vt:lpstr>
      <vt:lpstr>Micro Average Recall</vt:lpstr>
      <vt:lpstr>Macro Average Recall</vt:lpstr>
      <vt:lpstr>Weighted Average Recall</vt:lpstr>
      <vt:lpstr>PowerPoint Presentation</vt:lpstr>
      <vt:lpstr>Thanks</vt:lpstr>
      <vt:lpstr>ROC CURVES</vt:lpstr>
      <vt:lpstr>PowerPoint Presentation</vt:lpstr>
      <vt:lpstr>What is the ROC curve?</vt:lpstr>
      <vt:lpstr>How is the ROC curve created</vt:lpstr>
      <vt:lpstr>How is the ROC curve created</vt:lpstr>
      <vt:lpstr>How is the ROC curve created</vt:lpstr>
      <vt:lpstr>How is the ROC curve created</vt:lpstr>
      <vt:lpstr>Assessing the classifier using ROC curve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Arun kumar Nair</cp:lastModifiedBy>
  <cp:revision>118</cp:revision>
  <dcterms:created xsi:type="dcterms:W3CDTF">2006-08-16T00:00:00Z</dcterms:created>
  <dcterms:modified xsi:type="dcterms:W3CDTF">2021-07-27T12:12:59Z</dcterms:modified>
</cp:coreProperties>
</file>