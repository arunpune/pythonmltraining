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308" r:id="rId3"/>
    <p:sldId id="309" r:id="rId4"/>
    <p:sldId id="310" r:id="rId5"/>
    <p:sldId id="311" r:id="rId6"/>
    <p:sldId id="312" r:id="rId7"/>
    <p:sldId id="313" r:id="rId8"/>
    <p:sldId id="314"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293"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350" autoAdjust="0"/>
  </p:normalViewPr>
  <p:slideViewPr>
    <p:cSldViewPr>
      <p:cViewPr varScale="1">
        <p:scale>
          <a:sx n="59" d="100"/>
          <a:sy n="59" d="100"/>
        </p:scale>
        <p:origin x="150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578C8A-1F97-4FB1-8EBF-73CA41B6F4A4}" type="datetimeFigureOut">
              <a:rPr lang="en-IN" smtClean="0"/>
              <a:t>24-04-2020</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57CE08-FB8B-4043-92ED-F8C8C9005795}" type="slidenum">
              <a:rPr lang="en-IN" smtClean="0"/>
              <a:t>‹#›</a:t>
            </a:fld>
            <a:endParaRPr lang="en-IN"/>
          </a:p>
        </p:txBody>
      </p:sp>
    </p:spTree>
    <p:extLst>
      <p:ext uri="{BB962C8B-B14F-4D97-AF65-F5344CB8AC3E}">
        <p14:creationId xmlns:p14="http://schemas.microsoft.com/office/powerpoint/2010/main" val="4042934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857CE08-FB8B-4043-92ED-F8C8C9005795}" type="slidenum">
              <a:rPr lang="en-IN" smtClean="0"/>
              <a:t>13</a:t>
            </a:fld>
            <a:endParaRPr lang="en-IN"/>
          </a:p>
        </p:txBody>
      </p:sp>
    </p:spTree>
    <p:extLst>
      <p:ext uri="{BB962C8B-B14F-4D97-AF65-F5344CB8AC3E}">
        <p14:creationId xmlns:p14="http://schemas.microsoft.com/office/powerpoint/2010/main" val="1135082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(y) is also referred to as the log-odds because the inverse of the sigmoid states that (y) can be defined as the log of the probability of the "1" label (e.g., "dog barks") divided by the probability of the "0" label (e.g., "dog doesn't bark"):</a:t>
            </a:r>
          </a:p>
          <a:p>
            <a:endParaRPr lang="en-US" dirty="0"/>
          </a:p>
          <a:p>
            <a:r>
              <a:rPr lang="en-US" dirty="0"/>
              <a:t>y=log (p/1-p)</a:t>
            </a:r>
            <a:endParaRPr lang="en-IN" dirty="0"/>
          </a:p>
        </p:txBody>
      </p:sp>
      <p:sp>
        <p:nvSpPr>
          <p:cNvPr id="4" name="Slide Number Placeholder 3"/>
          <p:cNvSpPr>
            <a:spLocks noGrp="1"/>
          </p:cNvSpPr>
          <p:nvPr>
            <p:ph type="sldNum" sz="quarter" idx="5"/>
          </p:nvPr>
        </p:nvSpPr>
        <p:spPr/>
        <p:txBody>
          <a:bodyPr/>
          <a:lstStyle/>
          <a:p>
            <a:fld id="{3857CE08-FB8B-4043-92ED-F8C8C9005795}" type="slidenum">
              <a:rPr lang="en-IN" smtClean="0"/>
              <a:t>16</a:t>
            </a:fld>
            <a:endParaRPr lang="en-IN"/>
          </a:p>
        </p:txBody>
      </p:sp>
    </p:spTree>
    <p:extLst>
      <p:ext uri="{BB962C8B-B14F-4D97-AF65-F5344CB8AC3E}">
        <p14:creationId xmlns:p14="http://schemas.microsoft.com/office/powerpoint/2010/main" val="111196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4/24/2020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4/24/2020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4/24/2020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4/24/2020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Logistic Regression</a:t>
            </a:r>
            <a:br>
              <a:rPr lang="en-IN" dirty="0"/>
            </a:br>
            <a:r>
              <a:rPr lang="en-IN" dirty="0"/>
              <a:t>logistic classification 	</a:t>
            </a:r>
          </a:p>
        </p:txBody>
      </p:sp>
      <p:sp>
        <p:nvSpPr>
          <p:cNvPr id="3" name="Subtitle 2"/>
          <p:cNvSpPr>
            <a:spLocks noGrp="1"/>
          </p:cNvSpPr>
          <p:nvPr>
            <p:ph type="subTitle" idx="1"/>
          </p:nvPr>
        </p:nvSpPr>
        <p:spPr/>
        <p:txBody>
          <a:bodyPr/>
          <a:lstStyle/>
          <a:p>
            <a:r>
              <a:rPr lang="en-IN" dirty="0"/>
              <a:t>Arunkumar Nair</a:t>
            </a:r>
          </a:p>
        </p:txBody>
      </p:sp>
    </p:spTree>
    <p:extLst>
      <p:ext uri="{BB962C8B-B14F-4D97-AF65-F5344CB8AC3E}">
        <p14:creationId xmlns:p14="http://schemas.microsoft.com/office/powerpoint/2010/main" val="3058616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F3B39-2EB9-495A-845E-3DC05E47F80A}"/>
              </a:ext>
            </a:extLst>
          </p:cNvPr>
          <p:cNvSpPr>
            <a:spLocks noGrp="1"/>
          </p:cNvSpPr>
          <p:nvPr>
            <p:ph type="title"/>
          </p:nvPr>
        </p:nvSpPr>
        <p:spPr/>
        <p:txBody>
          <a:bodyPr/>
          <a:lstStyle/>
          <a:p>
            <a:r>
              <a:rPr lang="en-IN" dirty="0"/>
              <a:t>Logistics Regression</a:t>
            </a:r>
          </a:p>
        </p:txBody>
      </p:sp>
      <p:sp>
        <p:nvSpPr>
          <p:cNvPr id="3" name="Content Placeholder 2">
            <a:extLst>
              <a:ext uri="{FF2B5EF4-FFF2-40B4-BE49-F238E27FC236}">
                <a16:creationId xmlns:a16="http://schemas.microsoft.com/office/drawing/2014/main" id="{65EF46A9-8191-4784-BF36-23E56953AA81}"/>
              </a:ext>
            </a:extLst>
          </p:cNvPr>
          <p:cNvSpPr>
            <a:spLocks noGrp="1"/>
          </p:cNvSpPr>
          <p:nvPr>
            <p:ph idx="1"/>
          </p:nvPr>
        </p:nvSpPr>
        <p:spPr/>
        <p:txBody>
          <a:bodyPr>
            <a:normAutofit/>
          </a:bodyPr>
          <a:lstStyle/>
          <a:p>
            <a:r>
              <a:rPr lang="en-US" sz="2000" dirty="0"/>
              <a:t>Instead of predicting exactly 0 or 1, logistic regression generates a probability—a value between 0 and 1, exclusive. </a:t>
            </a:r>
            <a:br>
              <a:rPr lang="en-US" sz="2000" dirty="0"/>
            </a:br>
            <a:endParaRPr lang="en-US" sz="2000" dirty="0"/>
          </a:p>
          <a:p>
            <a:r>
              <a:rPr lang="en-US" sz="2000" dirty="0"/>
              <a:t>For example, consider a logistic regression model for spam detection. If the model infers a value of 0.932 on a particular email message, it implies a 93.2% probability that the email message is spam. </a:t>
            </a:r>
            <a:br>
              <a:rPr lang="en-US" sz="2000" dirty="0"/>
            </a:br>
            <a:endParaRPr lang="en-US" sz="2000" dirty="0"/>
          </a:p>
          <a:p>
            <a:r>
              <a:rPr lang="en-US" sz="2000" dirty="0"/>
              <a:t>More precisely, it means that in the limit of infinite training examples, the set of examples for which the model predicts 0.932 will actually be spam 93.2% of the time and the remaining 6.8% will not.</a:t>
            </a:r>
            <a:endParaRPr lang="en-IN" sz="2000" dirty="0"/>
          </a:p>
        </p:txBody>
      </p:sp>
    </p:spTree>
    <p:extLst>
      <p:ext uri="{BB962C8B-B14F-4D97-AF65-F5344CB8AC3E}">
        <p14:creationId xmlns:p14="http://schemas.microsoft.com/office/powerpoint/2010/main" val="1404729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3447F-03F9-4A12-889A-44B82BC133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A16EFF-6B18-4CBC-BE18-870614558FF0}"/>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387607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A79AA-3B59-459B-8636-A2806239B39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B195736-2BE6-465D-A3F1-98F3A376246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208388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7A359-A268-4259-B781-E8910177C37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760F33-9B3A-42F1-A12E-30901851828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226474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35C7-2FC5-4DB4-A0FA-174CD0820F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476BA5A-EB51-4DFC-A682-20C4E67A582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769037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FC486-4A81-4053-92D0-563DEC55915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2F23413-8F24-4AC5-8893-CEC0B2BB8C5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56334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EE5CF-208E-4D0C-80DF-17A112629E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0517938-D8C3-4E5E-A21A-064B3EE3B9D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197916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FF0000"/>
                </a:solidFill>
              </a:rPr>
              <a:t>Case-Study Data-Change this case study to Diabetes </a:t>
            </a:r>
            <a:r>
              <a:rPr lang="en-IN" dirty="0" err="1">
                <a:solidFill>
                  <a:srgbClr val="FF0000"/>
                </a:solidFill>
              </a:rPr>
              <a:t>Casestudy</a:t>
            </a:r>
            <a:endParaRPr lang="en-IN" dirty="0">
              <a:solidFill>
                <a:srgbClr val="FF0000"/>
              </a:solidFill>
            </a:endParaRPr>
          </a:p>
        </p:txBody>
      </p:sp>
      <p:sp>
        <p:nvSpPr>
          <p:cNvPr id="3" name="Content Placeholder 2"/>
          <p:cNvSpPr>
            <a:spLocks noGrp="1"/>
          </p:cNvSpPr>
          <p:nvPr>
            <p:ph idx="1"/>
          </p:nvPr>
        </p:nvSpPr>
        <p:spPr/>
        <p:txBody>
          <a:bodyPr>
            <a:normAutofit lnSpcReduction="10000"/>
          </a:bodyPr>
          <a:lstStyle/>
          <a:p>
            <a:pPr marL="0" indent="0">
              <a:buNone/>
            </a:pPr>
            <a:r>
              <a:rPr lang="en-IN" dirty="0">
                <a:solidFill>
                  <a:srgbClr val="FF0000"/>
                </a:solidFill>
              </a:rPr>
              <a:t>Also refer to the PDF Print out by Keshav </a:t>
            </a:r>
            <a:r>
              <a:rPr lang="en-IN" dirty="0" err="1">
                <a:solidFill>
                  <a:srgbClr val="FF0000"/>
                </a:solidFill>
              </a:rPr>
              <a:t>Dhandania</a:t>
            </a:r>
            <a:endParaRPr lang="en-IN" dirty="0">
              <a:solidFill>
                <a:srgbClr val="FF0000"/>
              </a:solidFill>
            </a:endParaRPr>
          </a:p>
          <a:p>
            <a:pPr marL="0" indent="0">
              <a:buNone/>
            </a:pPr>
            <a:r>
              <a:rPr lang="en-IN" dirty="0"/>
              <a:t>We are provided a sample of 1000 customers. </a:t>
            </a:r>
          </a:p>
          <a:p>
            <a:pPr marL="0" indent="0">
              <a:buNone/>
            </a:pPr>
            <a:r>
              <a:rPr lang="en-IN" dirty="0"/>
              <a:t>We need to predict the probability whether a </a:t>
            </a:r>
            <a:r>
              <a:rPr lang="en-IN" b="1" dirty="0"/>
              <a:t>customer of a Particular Age </a:t>
            </a:r>
            <a:r>
              <a:rPr lang="en-IN" dirty="0"/>
              <a:t>will buy (y) a particular magazine or</a:t>
            </a:r>
          </a:p>
          <a:p>
            <a:pPr marL="0" indent="0">
              <a:buNone/>
            </a:pPr>
            <a:r>
              <a:rPr lang="en-IN" dirty="0"/>
              <a:t>not. </a:t>
            </a:r>
          </a:p>
          <a:p>
            <a:pPr marL="0" indent="0">
              <a:buNone/>
            </a:pPr>
            <a:r>
              <a:rPr lang="en-IN" dirty="0"/>
              <a:t>As we’ve a categorical outcome variable, we’ll use logistic regression.</a:t>
            </a:r>
          </a:p>
        </p:txBody>
      </p:sp>
    </p:spTree>
    <p:extLst>
      <p:ext uri="{BB962C8B-B14F-4D97-AF65-F5344CB8AC3E}">
        <p14:creationId xmlns:p14="http://schemas.microsoft.com/office/powerpoint/2010/main" val="944088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Linear to Logistic – (a)</a:t>
            </a:r>
          </a:p>
        </p:txBody>
      </p:sp>
      <p:sp>
        <p:nvSpPr>
          <p:cNvPr id="3" name="Content Placeholder 2"/>
          <p:cNvSpPr>
            <a:spLocks noGrp="1"/>
          </p:cNvSpPr>
          <p:nvPr>
            <p:ph idx="1"/>
          </p:nvPr>
        </p:nvSpPr>
        <p:spPr/>
        <p:txBody>
          <a:bodyPr/>
          <a:lstStyle/>
          <a:p>
            <a:r>
              <a:rPr lang="en-IN" dirty="0"/>
              <a:t>To start with logistic regression, first write the simple linear regression equation with dependent variable enclosed in a link function:</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114800"/>
            <a:ext cx="8615038" cy="18254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a:extLst>
              <a:ext uri="{FF2B5EF4-FFF2-40B4-BE49-F238E27FC236}">
                <a16:creationId xmlns:a16="http://schemas.microsoft.com/office/drawing/2014/main" id="{92FE8224-F7CD-46ED-9379-8377BA33258F}"/>
              </a:ext>
            </a:extLst>
          </p:cNvPr>
          <p:cNvSpPr txBox="1"/>
          <p:nvPr/>
        </p:nvSpPr>
        <p:spPr>
          <a:xfrm>
            <a:off x="1143000" y="4114800"/>
            <a:ext cx="1988045" cy="369332"/>
          </a:xfrm>
          <a:prstGeom prst="rect">
            <a:avLst/>
          </a:prstGeom>
          <a:noFill/>
        </p:spPr>
        <p:txBody>
          <a:bodyPr wrap="none" rtlCol="0">
            <a:spAutoFit/>
          </a:bodyPr>
          <a:lstStyle/>
          <a:p>
            <a:r>
              <a:rPr lang="en-IN" dirty="0"/>
              <a:t>Y   =       c        + m X</a:t>
            </a:r>
          </a:p>
        </p:txBody>
      </p:sp>
    </p:spTree>
    <p:extLst>
      <p:ext uri="{BB962C8B-B14F-4D97-AF65-F5344CB8AC3E}">
        <p14:creationId xmlns:p14="http://schemas.microsoft.com/office/powerpoint/2010/main" val="372613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Linear Regression</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569" t="23611" r="46004" b="13369"/>
          <a:stretch/>
        </p:blipFill>
        <p:spPr bwMode="auto">
          <a:xfrm>
            <a:off x="2286000" y="1714500"/>
            <a:ext cx="4739460" cy="461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flipH="1">
            <a:off x="2755900" y="5257800"/>
            <a:ext cx="609600" cy="504371"/>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019800" y="2667000"/>
            <a:ext cx="1005660" cy="369332"/>
          </a:xfrm>
          <a:prstGeom prst="rect">
            <a:avLst/>
          </a:prstGeom>
          <a:noFill/>
        </p:spPr>
        <p:txBody>
          <a:bodyPr wrap="none" rtlCol="0">
            <a:spAutoFit/>
          </a:bodyPr>
          <a:lstStyle/>
          <a:p>
            <a:r>
              <a:rPr lang="en-IN" dirty="0"/>
              <a:t>+ infinity</a:t>
            </a:r>
          </a:p>
        </p:txBody>
      </p:sp>
      <p:sp>
        <p:nvSpPr>
          <p:cNvPr id="8" name="TextBox 7"/>
          <p:cNvSpPr txBox="1"/>
          <p:nvPr/>
        </p:nvSpPr>
        <p:spPr>
          <a:xfrm>
            <a:off x="2545170" y="5762171"/>
            <a:ext cx="1013675" cy="369332"/>
          </a:xfrm>
          <a:prstGeom prst="rect">
            <a:avLst/>
          </a:prstGeom>
          <a:noFill/>
        </p:spPr>
        <p:txBody>
          <a:bodyPr wrap="none" rtlCol="0">
            <a:spAutoFit/>
          </a:bodyPr>
          <a:lstStyle/>
          <a:p>
            <a:r>
              <a:rPr lang="en-IN" dirty="0"/>
              <a:t>-  infinity</a:t>
            </a:r>
          </a:p>
        </p:txBody>
      </p:sp>
    </p:spTree>
    <p:extLst>
      <p:ext uri="{BB962C8B-B14F-4D97-AF65-F5344CB8AC3E}">
        <p14:creationId xmlns:p14="http://schemas.microsoft.com/office/powerpoint/2010/main" val="731921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200" dirty="0"/>
              <a:t>Linear regression equation:    </a:t>
            </a:r>
            <a:r>
              <a:rPr lang="en-IN" sz="3200" b="1" dirty="0"/>
              <a:t>y = </a:t>
            </a:r>
            <a:r>
              <a:rPr lang="el-GR" sz="3200" b="1" dirty="0"/>
              <a:t>β0 + β1</a:t>
            </a:r>
            <a:r>
              <a:rPr lang="en-IN" sz="3200" b="1" dirty="0"/>
              <a:t>X1 + </a:t>
            </a:r>
            <a:r>
              <a:rPr lang="el-GR" sz="3200" b="1" dirty="0"/>
              <a:t>β2</a:t>
            </a:r>
            <a:r>
              <a:rPr lang="en-IN" sz="3200" b="1" dirty="0"/>
              <a:t>X2 …. + </a:t>
            </a:r>
            <a:r>
              <a:rPr lang="el-GR" sz="3200" b="1" dirty="0"/>
              <a:t>β</a:t>
            </a:r>
            <a:r>
              <a:rPr lang="en-IN" sz="3200" b="1" dirty="0" err="1"/>
              <a:t>nXn</a:t>
            </a:r>
            <a:endParaRPr lang="en-IN" sz="3200" dirty="0"/>
          </a:p>
        </p:txBody>
      </p:sp>
      <p:pic>
        <p:nvPicPr>
          <p:cNvPr id="102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1341" y="1600200"/>
            <a:ext cx="7881318"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3874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Value of Y – between 0 and 1</a:t>
            </a:r>
          </a:p>
        </p:txBody>
      </p:sp>
      <p:pic>
        <p:nvPicPr>
          <p:cNvPr id="2051"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81000" y="1600200"/>
            <a:ext cx="8229600" cy="447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3508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to get the value of 0 and 1</a:t>
            </a:r>
          </a:p>
        </p:txBody>
      </p:sp>
      <p:pic>
        <p:nvPicPr>
          <p:cNvPr id="307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4707" y="1600200"/>
            <a:ext cx="4734586"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7453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200" dirty="0"/>
              <a:t>How to get the value of 0 and 1?</a:t>
            </a:r>
            <a:br>
              <a:rPr lang="en-IN" sz="3200" dirty="0"/>
            </a:br>
            <a:r>
              <a:rPr lang="en-IN" sz="3200" dirty="0"/>
              <a:t>Use Sigmoid</a:t>
            </a:r>
          </a:p>
        </p:txBody>
      </p:sp>
      <p:sp>
        <p:nvSpPr>
          <p:cNvPr id="3" name="Content Placeholder 2"/>
          <p:cNvSpPr>
            <a:spLocks noGrp="1"/>
          </p:cNvSpPr>
          <p:nvPr>
            <p:ph idx="1"/>
          </p:nvPr>
        </p:nvSpPr>
        <p:spPr/>
        <p:txBody>
          <a:bodyPr>
            <a:normAutofit/>
          </a:bodyPr>
          <a:lstStyle/>
          <a:p>
            <a:r>
              <a:rPr lang="en-IN" dirty="0"/>
              <a:t>We Apply sigmoid function on the linear regression equation to get the S-curve so that it lies between 0 and 1</a:t>
            </a:r>
          </a:p>
          <a:p>
            <a:endParaRPr lang="en-IN" dirty="0"/>
          </a:p>
          <a:p>
            <a:pPr marL="0" indent="0">
              <a:buNone/>
            </a:pPr>
            <a:r>
              <a:rPr lang="en-IN" b="1" dirty="0"/>
              <a:t>Sigmoid function:</a:t>
            </a:r>
            <a:r>
              <a:rPr lang="en-IN" b="1" i="1" dirty="0"/>
              <a:t>    p =</a:t>
            </a:r>
            <a:r>
              <a:rPr lang="en-IN" b="1" dirty="0"/>
              <a:t> 1 / 1 + e</a:t>
            </a:r>
            <a:r>
              <a:rPr lang="en-IN" b="1" baseline="30000" dirty="0"/>
              <a:t>-y</a:t>
            </a:r>
          </a:p>
          <a:p>
            <a:r>
              <a:rPr lang="en-IN" dirty="0"/>
              <a:t>A sigmoid function is a mathematical function/equation having a characteristic "S"-shaped curve or sigmoid curve. </a:t>
            </a:r>
          </a:p>
          <a:p>
            <a:endParaRPr lang="en-IN" dirty="0"/>
          </a:p>
        </p:txBody>
      </p:sp>
    </p:spTree>
    <p:extLst>
      <p:ext uri="{BB962C8B-B14F-4D97-AF65-F5344CB8AC3E}">
        <p14:creationId xmlns:p14="http://schemas.microsoft.com/office/powerpoint/2010/main" val="1509339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Convert Linear to Logistics</a:t>
            </a:r>
          </a:p>
        </p:txBody>
      </p:sp>
      <p:sp>
        <p:nvSpPr>
          <p:cNvPr id="3" name="Content Placeholder 2"/>
          <p:cNvSpPr>
            <a:spLocks noGrp="1"/>
          </p:cNvSpPr>
          <p:nvPr>
            <p:ph idx="1"/>
          </p:nvPr>
        </p:nvSpPr>
        <p:spPr/>
        <p:txBody>
          <a:bodyPr/>
          <a:lstStyle/>
          <a:p>
            <a:r>
              <a:rPr lang="en-IN" dirty="0"/>
              <a:t>Linear regression equation:    </a:t>
            </a:r>
            <a:r>
              <a:rPr lang="en-IN" b="1" dirty="0"/>
              <a:t>y = </a:t>
            </a:r>
            <a:r>
              <a:rPr lang="el-GR" b="1" dirty="0"/>
              <a:t>β0 + β1</a:t>
            </a:r>
            <a:r>
              <a:rPr lang="en-IN" b="1" dirty="0"/>
              <a:t>X1 + </a:t>
            </a:r>
            <a:r>
              <a:rPr lang="el-GR" b="1" dirty="0"/>
              <a:t>β2</a:t>
            </a:r>
            <a:r>
              <a:rPr lang="en-IN" b="1" dirty="0"/>
              <a:t>X2 …. + </a:t>
            </a:r>
            <a:r>
              <a:rPr lang="el-GR" b="1" dirty="0"/>
              <a:t>β</a:t>
            </a:r>
            <a:r>
              <a:rPr lang="en-IN" b="1" dirty="0" err="1"/>
              <a:t>nXn</a:t>
            </a:r>
            <a:endParaRPr lang="en-IN" dirty="0"/>
          </a:p>
          <a:p>
            <a:r>
              <a:rPr lang="en-IN" dirty="0"/>
              <a:t>Sigmoid function:</a:t>
            </a:r>
            <a:r>
              <a:rPr lang="en-IN" b="1" i="1" dirty="0"/>
              <a:t>    p =</a:t>
            </a:r>
            <a:r>
              <a:rPr lang="en-IN" dirty="0"/>
              <a:t> </a:t>
            </a:r>
            <a:r>
              <a:rPr lang="en-IN" b="1" dirty="0"/>
              <a:t>1 / 1 + e</a:t>
            </a:r>
            <a:r>
              <a:rPr lang="en-IN" b="1" baseline="30000" dirty="0"/>
              <a:t>-y</a:t>
            </a:r>
          </a:p>
          <a:p>
            <a:pPr marL="0" indent="0">
              <a:buNone/>
            </a:pPr>
            <a:r>
              <a:rPr lang="en-IN" dirty="0"/>
              <a:t>	 y is replaced</a:t>
            </a:r>
          </a:p>
          <a:p>
            <a:r>
              <a:rPr lang="en-IN" dirty="0"/>
              <a:t>Logistic Regression equation:  </a:t>
            </a:r>
            <a:r>
              <a:rPr lang="en-IN" b="1" i="1" dirty="0"/>
              <a:t>p =</a:t>
            </a:r>
            <a:r>
              <a:rPr lang="en-IN" dirty="0"/>
              <a:t> </a:t>
            </a:r>
            <a:r>
              <a:rPr lang="en-IN" b="1" dirty="0"/>
              <a:t>1 / 1 + e</a:t>
            </a:r>
            <a:r>
              <a:rPr lang="en-IN" b="1" baseline="30000" dirty="0"/>
              <a:t>-(</a:t>
            </a:r>
            <a:r>
              <a:rPr lang="el-GR" b="1" baseline="30000" dirty="0"/>
              <a:t>β0 + β1</a:t>
            </a:r>
            <a:r>
              <a:rPr lang="en-IN" b="1" baseline="30000" dirty="0"/>
              <a:t>X1 + </a:t>
            </a:r>
            <a:r>
              <a:rPr lang="el-GR" b="1" baseline="30000" dirty="0"/>
              <a:t>β2</a:t>
            </a:r>
            <a:r>
              <a:rPr lang="en-IN" b="1" baseline="30000" dirty="0"/>
              <a:t>X2 …. + </a:t>
            </a:r>
            <a:r>
              <a:rPr lang="el-GR" b="1" baseline="30000" dirty="0"/>
              <a:t>β</a:t>
            </a:r>
            <a:r>
              <a:rPr lang="en-IN" b="1" baseline="30000" dirty="0" err="1"/>
              <a:t>nXn</a:t>
            </a:r>
            <a:r>
              <a:rPr lang="en-IN" b="1" baseline="30000" dirty="0"/>
              <a:t>)</a:t>
            </a:r>
            <a:endParaRPr lang="en-IN"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429000"/>
            <a:ext cx="504825" cy="36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 name="Straight Arrow Connector 7"/>
          <p:cNvCxnSpPr/>
          <p:nvPr/>
        </p:nvCxnSpPr>
        <p:spPr>
          <a:xfrm flipH="1">
            <a:off x="6248400" y="2133600"/>
            <a:ext cx="152400" cy="6096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184900" y="3171825"/>
            <a:ext cx="1447800" cy="7905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8782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Sigmoid – S-curve</a:t>
            </a:r>
          </a:p>
        </p:txBody>
      </p:sp>
      <p:pic>
        <p:nvPicPr>
          <p:cNvPr id="512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3270" y="2125671"/>
            <a:ext cx="7797460" cy="3475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0763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Sigmoid</a:t>
            </a:r>
          </a:p>
        </p:txBody>
      </p:sp>
      <p:sp>
        <p:nvSpPr>
          <p:cNvPr id="3" name="Content Placeholder 2"/>
          <p:cNvSpPr>
            <a:spLocks noGrp="1"/>
          </p:cNvSpPr>
          <p:nvPr>
            <p:ph idx="1"/>
          </p:nvPr>
        </p:nvSpPr>
        <p:spPr/>
        <p:txBody>
          <a:bodyPr/>
          <a:lstStyle/>
          <a:p>
            <a:r>
              <a:rPr lang="en-IN" dirty="0"/>
              <a:t>Sigmoid curve converts any value from </a:t>
            </a:r>
          </a:p>
          <a:p>
            <a:pPr marL="0" indent="0">
              <a:buNone/>
            </a:pPr>
            <a:r>
              <a:rPr lang="en-IN" dirty="0"/>
              <a:t>-infinity to +infinity to (0 to 1)</a:t>
            </a:r>
          </a:p>
          <a:p>
            <a:r>
              <a:rPr lang="en-IN" dirty="0"/>
              <a:t>Sigmoid will output:</a:t>
            </a:r>
          </a:p>
          <a:p>
            <a:pPr marL="0" indent="0">
              <a:buNone/>
            </a:pPr>
            <a:r>
              <a:rPr lang="en-IN" dirty="0"/>
              <a:t>‘0’ as x approaches −∞</a:t>
            </a:r>
          </a:p>
          <a:p>
            <a:pPr marL="0" indent="0">
              <a:buNone/>
            </a:pPr>
            <a:r>
              <a:rPr lang="en-IN" dirty="0"/>
              <a:t>‘1’ as x approaches +∞</a:t>
            </a:r>
          </a:p>
          <a:p>
            <a:pPr marL="0" indent="0">
              <a:buNone/>
            </a:pPr>
            <a:endParaRPr lang="en-IN" dirty="0"/>
          </a:p>
        </p:txBody>
      </p:sp>
    </p:spTree>
    <p:extLst>
      <p:ext uri="{BB962C8B-B14F-4D97-AF65-F5344CB8AC3E}">
        <p14:creationId xmlns:p14="http://schemas.microsoft.com/office/powerpoint/2010/main" val="2813812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Linear Regression</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569" t="23611" r="46004" b="13369"/>
          <a:stretch/>
        </p:blipFill>
        <p:spPr bwMode="auto">
          <a:xfrm>
            <a:off x="2286000" y="1714500"/>
            <a:ext cx="4739460" cy="461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flipH="1">
            <a:off x="2755900" y="5257800"/>
            <a:ext cx="609600" cy="504371"/>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019800" y="2667000"/>
            <a:ext cx="1005660" cy="369332"/>
          </a:xfrm>
          <a:prstGeom prst="rect">
            <a:avLst/>
          </a:prstGeom>
          <a:noFill/>
        </p:spPr>
        <p:txBody>
          <a:bodyPr wrap="none" rtlCol="0">
            <a:spAutoFit/>
          </a:bodyPr>
          <a:lstStyle/>
          <a:p>
            <a:r>
              <a:rPr lang="en-IN" dirty="0"/>
              <a:t>+ infinity</a:t>
            </a:r>
          </a:p>
        </p:txBody>
      </p:sp>
      <p:sp>
        <p:nvSpPr>
          <p:cNvPr id="8" name="TextBox 7"/>
          <p:cNvSpPr txBox="1"/>
          <p:nvPr/>
        </p:nvSpPr>
        <p:spPr>
          <a:xfrm>
            <a:off x="2545170" y="5762171"/>
            <a:ext cx="1013675" cy="369332"/>
          </a:xfrm>
          <a:prstGeom prst="rect">
            <a:avLst/>
          </a:prstGeom>
          <a:noFill/>
        </p:spPr>
        <p:txBody>
          <a:bodyPr wrap="none" rtlCol="0">
            <a:spAutoFit/>
          </a:bodyPr>
          <a:lstStyle/>
          <a:p>
            <a:r>
              <a:rPr lang="en-IN" dirty="0"/>
              <a:t>-  infinity</a:t>
            </a:r>
          </a:p>
        </p:txBody>
      </p:sp>
    </p:spTree>
    <p:extLst>
      <p:ext uri="{BB962C8B-B14F-4D97-AF65-F5344CB8AC3E}">
        <p14:creationId xmlns:p14="http://schemas.microsoft.com/office/powerpoint/2010/main" val="3208598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4641" t="19792" b="17708"/>
          <a:stretch/>
        </p:blipFill>
        <p:spPr bwMode="auto">
          <a:xfrm>
            <a:off x="457200" y="2169273"/>
            <a:ext cx="8229600" cy="33878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IN" dirty="0"/>
              <a:t>Probability values for the answers</a:t>
            </a:r>
          </a:p>
        </p:txBody>
      </p:sp>
      <p:sp>
        <p:nvSpPr>
          <p:cNvPr id="4" name="TextBox 3"/>
          <p:cNvSpPr txBox="1"/>
          <p:nvPr/>
        </p:nvSpPr>
        <p:spPr>
          <a:xfrm>
            <a:off x="9144000" y="1447800"/>
            <a:ext cx="2129109" cy="369332"/>
          </a:xfrm>
          <a:prstGeom prst="rect">
            <a:avLst/>
          </a:prstGeom>
          <a:noFill/>
        </p:spPr>
        <p:txBody>
          <a:bodyPr wrap="none" rtlCol="0">
            <a:spAutoFit/>
          </a:bodyPr>
          <a:lstStyle/>
          <a:p>
            <a:r>
              <a:rPr lang="en-IN" dirty="0"/>
              <a:t>The Threshold value </a:t>
            </a:r>
          </a:p>
        </p:txBody>
      </p:sp>
      <p:sp>
        <p:nvSpPr>
          <p:cNvPr id="5" name="TextBox 4"/>
          <p:cNvSpPr txBox="1"/>
          <p:nvPr/>
        </p:nvSpPr>
        <p:spPr>
          <a:xfrm>
            <a:off x="2971800" y="2590800"/>
            <a:ext cx="1426673" cy="369332"/>
          </a:xfrm>
          <a:prstGeom prst="rect">
            <a:avLst/>
          </a:prstGeom>
          <a:noFill/>
        </p:spPr>
        <p:txBody>
          <a:bodyPr wrap="none" rtlCol="0">
            <a:spAutoFit/>
          </a:bodyPr>
          <a:lstStyle/>
          <a:p>
            <a:r>
              <a:rPr lang="en-IN" dirty="0"/>
              <a:t>.8 becomes 1</a:t>
            </a:r>
          </a:p>
        </p:txBody>
      </p:sp>
      <p:sp>
        <p:nvSpPr>
          <p:cNvPr id="7" name="TextBox 6"/>
          <p:cNvSpPr txBox="1"/>
          <p:nvPr/>
        </p:nvSpPr>
        <p:spPr>
          <a:xfrm>
            <a:off x="2971800" y="5029200"/>
            <a:ext cx="1426673" cy="369332"/>
          </a:xfrm>
          <a:prstGeom prst="rect">
            <a:avLst/>
          </a:prstGeom>
          <a:noFill/>
        </p:spPr>
        <p:txBody>
          <a:bodyPr wrap="none" rtlCol="0">
            <a:spAutoFit/>
          </a:bodyPr>
          <a:lstStyle/>
          <a:p>
            <a:r>
              <a:rPr lang="en-IN" dirty="0"/>
              <a:t>.2 becomes 0</a:t>
            </a:r>
          </a:p>
        </p:txBody>
      </p:sp>
    </p:spTree>
    <p:extLst>
      <p:ext uri="{BB962C8B-B14F-4D97-AF65-F5344CB8AC3E}">
        <p14:creationId xmlns:p14="http://schemas.microsoft.com/office/powerpoint/2010/main" val="829611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88223-765C-4A43-8AF6-70BB74D16611}"/>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F1BF501D-78E5-456C-8950-80E0E02FFB97}"/>
              </a:ext>
            </a:extLst>
          </p:cNvPr>
          <p:cNvPicPr>
            <a:picLocks noGrp="1" noChangeAspect="1"/>
          </p:cNvPicPr>
          <p:nvPr>
            <p:ph idx="1"/>
          </p:nvPr>
        </p:nvPicPr>
        <p:blipFill>
          <a:blip r:embed="rId2"/>
          <a:stretch>
            <a:fillRect/>
          </a:stretch>
        </p:blipFill>
        <p:spPr>
          <a:xfrm>
            <a:off x="1158006" y="2239963"/>
            <a:ext cx="6827988" cy="3246438"/>
          </a:xfrm>
          <a:prstGeom prst="rect">
            <a:avLst/>
          </a:prstGeom>
        </p:spPr>
      </p:pic>
    </p:spTree>
    <p:extLst>
      <p:ext uri="{BB962C8B-B14F-4D97-AF65-F5344CB8AC3E}">
        <p14:creationId xmlns:p14="http://schemas.microsoft.com/office/powerpoint/2010/main" val="1107400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87A2DF-256D-4FB7-88FB-746141A727AC}"/>
              </a:ext>
            </a:extLst>
          </p:cNvPr>
          <p:cNvPicPr>
            <a:picLocks noChangeAspect="1"/>
          </p:cNvPicPr>
          <p:nvPr/>
        </p:nvPicPr>
        <p:blipFill>
          <a:blip r:embed="rId2"/>
          <a:stretch>
            <a:fillRect/>
          </a:stretch>
        </p:blipFill>
        <p:spPr>
          <a:xfrm>
            <a:off x="2057400" y="3048000"/>
            <a:ext cx="4400550" cy="3238500"/>
          </a:xfrm>
          <a:prstGeom prst="rect">
            <a:avLst/>
          </a:prstGeom>
        </p:spPr>
      </p:pic>
      <p:pic>
        <p:nvPicPr>
          <p:cNvPr id="5" name="Content Placeholder 3">
            <a:extLst>
              <a:ext uri="{FF2B5EF4-FFF2-40B4-BE49-F238E27FC236}">
                <a16:creationId xmlns:a16="http://schemas.microsoft.com/office/drawing/2014/main" id="{9FA9EE1B-BEF2-43A2-AF39-7E072A09C677}"/>
              </a:ext>
            </a:extLst>
          </p:cNvPr>
          <p:cNvPicPr>
            <a:picLocks noChangeAspect="1"/>
          </p:cNvPicPr>
          <p:nvPr/>
        </p:nvPicPr>
        <p:blipFill>
          <a:blip r:embed="rId3"/>
          <a:stretch>
            <a:fillRect/>
          </a:stretch>
        </p:blipFill>
        <p:spPr>
          <a:xfrm>
            <a:off x="258612" y="-198438"/>
            <a:ext cx="6827988" cy="3246438"/>
          </a:xfrm>
          <a:prstGeom prst="rect">
            <a:avLst/>
          </a:prstGeom>
        </p:spPr>
      </p:pic>
      <p:sp>
        <p:nvSpPr>
          <p:cNvPr id="7" name="Rectangle 1">
            <a:extLst>
              <a:ext uri="{FF2B5EF4-FFF2-40B4-BE49-F238E27FC236}">
                <a16:creationId xmlns:a16="http://schemas.microsoft.com/office/drawing/2014/main" id="{2A4F1F22-049F-442D-8B5B-F532527D42DD}"/>
              </a:ext>
            </a:extLst>
          </p:cNvPr>
          <p:cNvSpPr>
            <a:spLocks noChangeArrowheads="1"/>
          </p:cNvSpPr>
          <p:nvPr/>
        </p:nvSpPr>
        <p:spPr bwMode="auto">
          <a:xfrm>
            <a:off x="35560" y="2819400"/>
            <a:ext cx="2743200"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Courier New" panose="02070309020205020404" pitchFamily="49" charset="0"/>
              </a:rPr>
              <a:t>[[119, 11],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Courier New" panose="02070309020205020404" pitchFamily="49" charset="0"/>
              </a:rPr>
              <a:t> [ 26, 36]</a:t>
            </a:r>
            <a:endParaRPr kumimoji="0" lang="en-US" altLang="en-US" sz="4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110505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a:t>Thanks</a:t>
            </a:r>
          </a:p>
        </p:txBody>
      </p:sp>
      <p:sp>
        <p:nvSpPr>
          <p:cNvPr id="5" name="Subtitle 4"/>
          <p:cNvSpPr>
            <a:spLocks noGrp="1"/>
          </p:cNvSpPr>
          <p:nvPr>
            <p:ph type="subTitle" idx="1"/>
          </p:nvPr>
        </p:nvSpPr>
        <p:spPr/>
        <p:txBody>
          <a:bodyPr/>
          <a:lstStyle/>
          <a:p>
            <a:r>
              <a:rPr lang="en-IN" dirty="0"/>
              <a:t>End</a:t>
            </a:r>
          </a:p>
        </p:txBody>
      </p:sp>
    </p:spTree>
    <p:extLst>
      <p:ext uri="{BB962C8B-B14F-4D97-AF65-F5344CB8AC3E}">
        <p14:creationId xmlns:p14="http://schemas.microsoft.com/office/powerpoint/2010/main" val="1572780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4182</TotalTime>
  <Words>530</Words>
  <Application>Microsoft Office PowerPoint</Application>
  <PresentationFormat>On-screen Show (4:3)</PresentationFormat>
  <Paragraphs>54</Paragraphs>
  <Slides>23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Courier New</vt:lpstr>
      <vt:lpstr>Office Theme</vt:lpstr>
      <vt:lpstr>Logistic Regression logistic classification  </vt:lpstr>
      <vt:lpstr>Logistics Regression</vt:lpstr>
      <vt:lpstr>PowerPoint Presentation</vt:lpstr>
      <vt:lpstr>PowerPoint Presentation</vt:lpstr>
      <vt:lpstr>PowerPoint Presentation</vt:lpstr>
      <vt:lpstr>PowerPoint Presentation</vt:lpstr>
      <vt:lpstr>PowerPoint Presentation</vt:lpstr>
      <vt:lpstr>PowerPoint Presentation</vt:lpstr>
      <vt:lpstr>Case-Study Data-Change this case study to Diabetes Casestudy</vt:lpstr>
      <vt:lpstr>Linear to Logistic – (a)</vt:lpstr>
      <vt:lpstr>Linear Regression</vt:lpstr>
      <vt:lpstr>Linear regression equation:    y = β0 + β1X1 + β2X2 …. + βnXn</vt:lpstr>
      <vt:lpstr>Value of Y – between 0 and 1</vt:lpstr>
      <vt:lpstr>How to get the value of 0 and 1</vt:lpstr>
      <vt:lpstr>How to get the value of 0 and 1? Use Sigmoid</vt:lpstr>
      <vt:lpstr>Convert Linear to Logistics</vt:lpstr>
      <vt:lpstr>Sigmoid – S-curve</vt:lpstr>
      <vt:lpstr>Sigmoid</vt:lpstr>
      <vt:lpstr>Linear Regression</vt:lpstr>
      <vt:lpstr>Probability values for the answers</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Arunkumar Nair</cp:lastModifiedBy>
  <cp:revision>53</cp:revision>
  <dcterms:created xsi:type="dcterms:W3CDTF">2006-08-16T00:00:00Z</dcterms:created>
  <dcterms:modified xsi:type="dcterms:W3CDTF">2020-04-25T09:15:10Z</dcterms:modified>
</cp:coreProperties>
</file>