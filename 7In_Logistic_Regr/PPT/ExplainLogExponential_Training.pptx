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90" r:id="rId2"/>
    <p:sldId id="291" r:id="rId3"/>
    <p:sldId id="293" r:id="rId4"/>
    <p:sldId id="303" r:id="rId5"/>
    <p:sldId id="292" r:id="rId6"/>
    <p:sldId id="294" r:id="rId7"/>
    <p:sldId id="295" r:id="rId8"/>
    <p:sldId id="296" r:id="rId9"/>
    <p:sldId id="297" r:id="rId10"/>
    <p:sldId id="28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684" autoAdjust="0"/>
  </p:normalViewPr>
  <p:slideViewPr>
    <p:cSldViewPr>
      <p:cViewPr>
        <p:scale>
          <a:sx n="45" d="100"/>
          <a:sy n="45" d="100"/>
        </p:scale>
        <p:origin x="19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12.400"/>
    </inkml:context>
    <inkml:brush xml:id="br0">
      <inkml:brushProperty name="width" value="0.025" units="cm"/>
      <inkml:brushProperty name="height" value="0.025" units="cm"/>
    </inkml:brush>
  </inkml:definitions>
  <inkml:trace contextRef="#ctx0" brushRef="#br0">117 14 2497,'0'0'1407,"0"0"-379,0 0-456,0 0-265,0 0-90,0 0 28,4-6 1534,-4 6-1581,0-1 0,0 1 0,0 0 0,1 0-1,-1 0 1,0 0 0,0-1 0,0 1 0,0 0 0,0 0 0,0 0 0,0 0 0,0-1 0,0 1 0,0 0 0,0 0 0,0 0 0,0 0 0,0-1 0,0 1 0,0 0 0,0 0 0,0 0-1,0 0 1,0-1 0,0 1 0,0 0 0,0 0 0,0 0 0,-1 0 0,1-1 0,0 1 0,0 0 0,0 0 0,0 0 0,0 0 0,0 0 0,-1 0 0,1 0 0,0-1 0,0 1 0,0 0 0,0 0-1,0 0 1,-1 0 0,1 0 0,0 0 0,0 0 0,0 0 0,0 0 0,-1 0 0,1 0 0,0 0 0,0 0 0,0 0 0,-1 0 0,-69 1-5378,24 3-2110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35.748"/>
    </inkml:context>
    <inkml:brush xml:id="br0">
      <inkml:brushProperty name="width" value="0.025" units="cm"/>
      <inkml:brushProperty name="height" value="0.025" units="cm"/>
    </inkml:brush>
  </inkml:definitions>
  <inkml:trace contextRef="#ctx0" brushRef="#br0">499 0 1560,'0'0'72,"0"0"304,-255 123-144,130-10-232,6 10-1232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C63B6-71E4-40D9-AF5D-151759F1AE43}" type="datetimeFigureOut">
              <a:rPr lang="en-IN" smtClean="0"/>
              <a:t>02-07-2021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87875-88CF-413C-92CE-F5B3C9AE631E}" type="slidenum">
              <a:rPr lang="en-IN" smtClean="0"/>
              <a:t>‹#›</a:t>
            </a:fld>
            <a:endParaRPr lang="en-IN"/>
          </a:p>
        </p:txBody>
      </p:sp>
    </p:spTree>
    <p:extLst>
      <p:ext uri="{BB962C8B-B14F-4D97-AF65-F5344CB8AC3E}">
        <p14:creationId xmlns:p14="http://schemas.microsoft.com/office/powerpoint/2010/main" val="48587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yjus.com/maths/logarithm-table/#:~:text=In%20mathematics%2C%20the%20logarithm%20table,table%20is%20given%20in%20detai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a:t>
            </a:r>
          </a:p>
        </p:txBody>
      </p:sp>
      <p:sp>
        <p:nvSpPr>
          <p:cNvPr id="4" name="Slide Number Placeholder 3"/>
          <p:cNvSpPr>
            <a:spLocks noGrp="1"/>
          </p:cNvSpPr>
          <p:nvPr>
            <p:ph type="sldNum" sz="quarter" idx="5"/>
          </p:nvPr>
        </p:nvSpPr>
        <p:spPr/>
        <p:txBody>
          <a:bodyPr/>
          <a:lstStyle/>
          <a:p>
            <a:fld id="{83287875-88CF-413C-92CE-F5B3C9AE631E}" type="slidenum">
              <a:rPr lang="en-IN" smtClean="0"/>
              <a:t>1</a:t>
            </a:fld>
            <a:endParaRPr lang="en-IN"/>
          </a:p>
        </p:txBody>
      </p:sp>
    </p:spTree>
    <p:extLst>
      <p:ext uri="{BB962C8B-B14F-4D97-AF65-F5344CB8AC3E}">
        <p14:creationId xmlns:p14="http://schemas.microsoft.com/office/powerpoint/2010/main" val="818613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0" i="0" u="sng" dirty="0">
                <a:solidFill>
                  <a:srgbClr val="3367D6"/>
                </a:solidFill>
                <a:effectLst/>
                <a:latin typeface="Roboto"/>
                <a:hlinkClick r:id="rId3"/>
              </a:rPr>
              <a:t>https://byjus.com/maths/logarithm-table/#:~:text=In%20mathematics%2C%20the%20logarithm%20table,table%20is%20given%20in%20detail</a:t>
            </a:r>
            <a:r>
              <a:rPr lang="en-IN" b="0" i="0" dirty="0">
                <a:solidFill>
                  <a:srgbClr val="202124"/>
                </a:solidFill>
                <a:effectLst/>
                <a:latin typeface="Roboto"/>
              </a:rPr>
              <a:t>.</a:t>
            </a:r>
            <a:endParaRPr lang="en-IN" dirty="0"/>
          </a:p>
          <a:p>
            <a:endParaRPr lang="en-IN" dirty="0"/>
          </a:p>
        </p:txBody>
      </p:sp>
      <p:sp>
        <p:nvSpPr>
          <p:cNvPr id="4" name="Slide Number Placeholder 3"/>
          <p:cNvSpPr>
            <a:spLocks noGrp="1"/>
          </p:cNvSpPr>
          <p:nvPr>
            <p:ph type="sldNum" sz="quarter" idx="5"/>
          </p:nvPr>
        </p:nvSpPr>
        <p:spPr/>
        <p:txBody>
          <a:bodyPr/>
          <a:lstStyle/>
          <a:p>
            <a:fld id="{83287875-88CF-413C-92CE-F5B3C9AE631E}" type="slidenum">
              <a:rPr lang="en-IN" smtClean="0"/>
              <a:t>5</a:t>
            </a:fld>
            <a:endParaRPr lang="en-IN"/>
          </a:p>
        </p:txBody>
      </p:sp>
    </p:spTree>
    <p:extLst>
      <p:ext uri="{BB962C8B-B14F-4D97-AF65-F5344CB8AC3E}">
        <p14:creationId xmlns:p14="http://schemas.microsoft.com/office/powerpoint/2010/main" val="594197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0" Type="http://schemas.openxmlformats.org/officeDocument/2006/relationships/image" Target="../media/image57.png"/><Relationship Id="rId3" Type="http://schemas.openxmlformats.org/officeDocument/2006/relationships/customXml" Target="../ink/ink1.xml"/><Relationship Id="rId112"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2.xml"/><Relationship Id="rId81" Type="http://schemas.openxmlformats.org/officeDocument/2006/relationships/customXml" Target="../ink/ink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Explain Log and </a:t>
            </a:r>
            <a:r>
              <a:rPr lang="en-IN"/>
              <a:t>Exp</a:t>
            </a:r>
          </a:p>
        </p:txBody>
      </p:sp>
      <p:sp>
        <p:nvSpPr>
          <p:cNvPr id="3" name="Subtitle 2"/>
          <p:cNvSpPr>
            <a:spLocks noGrp="1"/>
          </p:cNvSpPr>
          <p:nvPr>
            <p:ph type="subTitle" idx="1"/>
          </p:nvPr>
        </p:nvSpPr>
        <p:spPr/>
        <p:txBody>
          <a:bodyPr/>
          <a:lstStyle/>
          <a:p>
            <a:r>
              <a:rPr lang="en-IN" dirty="0"/>
              <a:t>Training</a:t>
            </a:r>
          </a:p>
        </p:txBody>
      </p:sp>
    </p:spTree>
    <p:extLst>
      <p:ext uri="{BB962C8B-B14F-4D97-AF65-F5344CB8AC3E}">
        <p14:creationId xmlns:p14="http://schemas.microsoft.com/office/powerpoint/2010/main" val="338859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656F93-F8BE-4C33-A6F7-8B966701BF6D}"/>
              </a:ext>
            </a:extLst>
          </p:cNvPr>
          <p:cNvPicPr>
            <a:picLocks noChangeAspect="1"/>
          </p:cNvPicPr>
          <p:nvPr/>
        </p:nvPicPr>
        <p:blipFill rotWithShape="1">
          <a:blip r:embed="rId2"/>
          <a:srcRect l="5833" t="11853" r="4166" b="17037"/>
          <a:stretch/>
        </p:blipFill>
        <p:spPr>
          <a:xfrm>
            <a:off x="533400" y="609600"/>
            <a:ext cx="8229600" cy="3657600"/>
          </a:xfrm>
          <a:prstGeom prst="rect">
            <a:avLst/>
          </a:prstGeom>
        </p:spPr>
      </p:pic>
      <p:sp>
        <p:nvSpPr>
          <p:cNvPr id="4" name="TextBox 3">
            <a:extLst>
              <a:ext uri="{FF2B5EF4-FFF2-40B4-BE49-F238E27FC236}">
                <a16:creationId xmlns:a16="http://schemas.microsoft.com/office/drawing/2014/main" id="{F6675AA1-CB1E-4F27-AF6E-A295321562B8}"/>
              </a:ext>
            </a:extLst>
          </p:cNvPr>
          <p:cNvSpPr txBox="1"/>
          <p:nvPr/>
        </p:nvSpPr>
        <p:spPr>
          <a:xfrm>
            <a:off x="5943600" y="4419600"/>
            <a:ext cx="2071401" cy="369332"/>
          </a:xfrm>
          <a:prstGeom prst="rect">
            <a:avLst/>
          </a:prstGeom>
          <a:noFill/>
        </p:spPr>
        <p:txBody>
          <a:bodyPr wrap="none" rtlCol="0">
            <a:spAutoFit/>
          </a:bodyPr>
          <a:lstStyle/>
          <a:p>
            <a:r>
              <a:rPr lang="en-IN" dirty="0"/>
              <a:t>Log base 5 of 25 is 2</a:t>
            </a:r>
          </a:p>
        </p:txBody>
      </p:sp>
      <p:sp>
        <p:nvSpPr>
          <p:cNvPr id="5" name="TextBox 4">
            <a:extLst>
              <a:ext uri="{FF2B5EF4-FFF2-40B4-BE49-F238E27FC236}">
                <a16:creationId xmlns:a16="http://schemas.microsoft.com/office/drawing/2014/main" id="{56A68C19-2B65-4576-B19D-9A519C08EE11}"/>
              </a:ext>
            </a:extLst>
          </p:cNvPr>
          <p:cNvSpPr txBox="1"/>
          <p:nvPr/>
        </p:nvSpPr>
        <p:spPr>
          <a:xfrm>
            <a:off x="5943599" y="240268"/>
            <a:ext cx="1954381" cy="369332"/>
          </a:xfrm>
          <a:prstGeom prst="rect">
            <a:avLst/>
          </a:prstGeom>
          <a:noFill/>
        </p:spPr>
        <p:txBody>
          <a:bodyPr wrap="none" rtlCol="0">
            <a:spAutoFit/>
          </a:bodyPr>
          <a:lstStyle/>
          <a:p>
            <a:r>
              <a:rPr lang="en-IN" dirty="0"/>
              <a:t>Log base 2 of 8 is 3</a:t>
            </a:r>
          </a:p>
        </p:txBody>
      </p:sp>
    </p:spTree>
    <p:extLst>
      <p:ext uri="{BB962C8B-B14F-4D97-AF65-F5344CB8AC3E}">
        <p14:creationId xmlns:p14="http://schemas.microsoft.com/office/powerpoint/2010/main" val="3737061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656F93-F8BE-4C33-A6F7-8B966701BF6D}"/>
              </a:ext>
            </a:extLst>
          </p:cNvPr>
          <p:cNvPicPr>
            <a:picLocks noChangeAspect="1"/>
          </p:cNvPicPr>
          <p:nvPr/>
        </p:nvPicPr>
        <p:blipFill rotWithShape="1">
          <a:blip r:embed="rId2"/>
          <a:srcRect l="6713" t="12521" r="4758" b="17703"/>
          <a:stretch/>
        </p:blipFill>
        <p:spPr>
          <a:xfrm>
            <a:off x="613900" y="644073"/>
            <a:ext cx="8095017" cy="3588864"/>
          </a:xfrm>
          <a:prstGeom prst="rect">
            <a:avLst/>
          </a:prstGeom>
        </p:spPr>
      </p:pic>
      <p:sp>
        <p:nvSpPr>
          <p:cNvPr id="3" name="Freeform: Shape 2">
            <a:extLst>
              <a:ext uri="{FF2B5EF4-FFF2-40B4-BE49-F238E27FC236}">
                <a16:creationId xmlns:a16="http://schemas.microsoft.com/office/drawing/2014/main" id="{1CBD59FC-B277-47E2-A02E-9E5253DE0664}"/>
              </a:ext>
            </a:extLst>
          </p:cNvPr>
          <p:cNvSpPr/>
          <p:nvPr/>
        </p:nvSpPr>
        <p:spPr>
          <a:xfrm>
            <a:off x="514218" y="5600700"/>
            <a:ext cx="14420" cy="414338"/>
          </a:xfrm>
          <a:custGeom>
            <a:avLst/>
            <a:gdLst>
              <a:gd name="connsiteX0" fmla="*/ 14420 w 14420"/>
              <a:gd name="connsiteY0" fmla="*/ 0 h 414338"/>
              <a:gd name="connsiteX1" fmla="*/ 132 w 14420"/>
              <a:gd name="connsiteY1" fmla="*/ 414338 h 414338"/>
            </a:gdLst>
            <a:ahLst/>
            <a:cxnLst>
              <a:cxn ang="0">
                <a:pos x="connsiteX0" y="connsiteY0"/>
              </a:cxn>
              <a:cxn ang="0">
                <a:pos x="connsiteX1" y="connsiteY1"/>
              </a:cxn>
            </a:cxnLst>
            <a:rect l="l" t="t" r="r" b="b"/>
            <a:pathLst>
              <a:path w="14420" h="414338">
                <a:moveTo>
                  <a:pt x="14420" y="0"/>
                </a:moveTo>
                <a:cubicBezTo>
                  <a:pt x="-2371" y="319022"/>
                  <a:pt x="132" y="180850"/>
                  <a:pt x="132" y="4143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reeform: Shape 3">
            <a:extLst>
              <a:ext uri="{FF2B5EF4-FFF2-40B4-BE49-F238E27FC236}">
                <a16:creationId xmlns:a16="http://schemas.microsoft.com/office/drawing/2014/main" id="{1512B35C-7531-498D-A1DE-6504084F1FA6}"/>
              </a:ext>
            </a:extLst>
          </p:cNvPr>
          <p:cNvSpPr/>
          <p:nvPr/>
        </p:nvSpPr>
        <p:spPr>
          <a:xfrm>
            <a:off x="613901" y="5583558"/>
            <a:ext cx="544432" cy="531492"/>
          </a:xfrm>
          <a:custGeom>
            <a:avLst/>
            <a:gdLst>
              <a:gd name="connsiteX0" fmla="*/ 400512 w 544432"/>
              <a:gd name="connsiteY0" fmla="*/ 102867 h 531492"/>
              <a:gd name="connsiteX1" fmla="*/ 329074 w 544432"/>
              <a:gd name="connsiteY1" fmla="*/ 2855 h 531492"/>
              <a:gd name="connsiteX2" fmla="*/ 143337 w 544432"/>
              <a:gd name="connsiteY2" fmla="*/ 102867 h 531492"/>
              <a:gd name="connsiteX3" fmla="*/ 71899 w 544432"/>
              <a:gd name="connsiteY3" fmla="*/ 131442 h 531492"/>
              <a:gd name="connsiteX4" fmla="*/ 43324 w 544432"/>
              <a:gd name="connsiteY4" fmla="*/ 174305 h 531492"/>
              <a:gd name="connsiteX5" fmla="*/ 29037 w 544432"/>
              <a:gd name="connsiteY5" fmla="*/ 231455 h 531492"/>
              <a:gd name="connsiteX6" fmla="*/ 462 w 544432"/>
              <a:gd name="connsiteY6" fmla="*/ 331467 h 531492"/>
              <a:gd name="connsiteX7" fmla="*/ 57612 w 544432"/>
              <a:gd name="connsiteY7" fmla="*/ 517205 h 531492"/>
              <a:gd name="connsiteX8" fmla="*/ 129049 w 544432"/>
              <a:gd name="connsiteY8" fmla="*/ 531492 h 531492"/>
              <a:gd name="connsiteX9" fmla="*/ 300499 w 544432"/>
              <a:gd name="connsiteY9" fmla="*/ 502917 h 531492"/>
              <a:gd name="connsiteX10" fmla="*/ 471949 w 544432"/>
              <a:gd name="connsiteY10" fmla="*/ 488630 h 531492"/>
              <a:gd name="connsiteX11" fmla="*/ 529099 w 544432"/>
              <a:gd name="connsiteY11" fmla="*/ 374330 h 531492"/>
              <a:gd name="connsiteX12" fmla="*/ 543387 w 544432"/>
              <a:gd name="connsiteY12" fmla="*/ 245742 h 531492"/>
              <a:gd name="connsiteX13" fmla="*/ 500524 w 544432"/>
              <a:gd name="connsiteY13" fmla="*/ 131442 h 531492"/>
              <a:gd name="connsiteX14" fmla="*/ 443374 w 544432"/>
              <a:gd name="connsiteY14" fmla="*/ 102867 h 531492"/>
              <a:gd name="connsiteX15" fmla="*/ 300499 w 544432"/>
              <a:gd name="connsiteY15" fmla="*/ 74292 h 53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432" h="531492">
                <a:moveTo>
                  <a:pt x="400512" y="102867"/>
                </a:moveTo>
                <a:cubicBezTo>
                  <a:pt x="376699" y="69530"/>
                  <a:pt x="368231" y="14903"/>
                  <a:pt x="329074" y="2855"/>
                </a:cubicBezTo>
                <a:cubicBezTo>
                  <a:pt x="263317" y="-17378"/>
                  <a:pt x="188770" y="75607"/>
                  <a:pt x="143337" y="102867"/>
                </a:cubicBezTo>
                <a:cubicBezTo>
                  <a:pt x="121345" y="116062"/>
                  <a:pt x="95712" y="121917"/>
                  <a:pt x="71899" y="131442"/>
                </a:cubicBezTo>
                <a:cubicBezTo>
                  <a:pt x="62374" y="145730"/>
                  <a:pt x="50088" y="158522"/>
                  <a:pt x="43324" y="174305"/>
                </a:cubicBezTo>
                <a:cubicBezTo>
                  <a:pt x="35589" y="192354"/>
                  <a:pt x="34204" y="212511"/>
                  <a:pt x="29037" y="231455"/>
                </a:cubicBezTo>
                <a:cubicBezTo>
                  <a:pt x="19914" y="264905"/>
                  <a:pt x="9987" y="298130"/>
                  <a:pt x="462" y="331467"/>
                </a:cubicBezTo>
                <a:cubicBezTo>
                  <a:pt x="9019" y="425595"/>
                  <a:pt x="-26642" y="485610"/>
                  <a:pt x="57612" y="517205"/>
                </a:cubicBezTo>
                <a:cubicBezTo>
                  <a:pt x="80350" y="525732"/>
                  <a:pt x="105237" y="526730"/>
                  <a:pt x="129049" y="531492"/>
                </a:cubicBezTo>
                <a:cubicBezTo>
                  <a:pt x="186199" y="521967"/>
                  <a:pt x="243008" y="510103"/>
                  <a:pt x="300499" y="502917"/>
                </a:cubicBezTo>
                <a:cubicBezTo>
                  <a:pt x="357404" y="495804"/>
                  <a:pt x="421966" y="516745"/>
                  <a:pt x="471949" y="488630"/>
                </a:cubicBezTo>
                <a:cubicBezTo>
                  <a:pt x="509076" y="467746"/>
                  <a:pt x="510049" y="412430"/>
                  <a:pt x="529099" y="374330"/>
                </a:cubicBezTo>
                <a:cubicBezTo>
                  <a:pt x="533862" y="331467"/>
                  <a:pt x="548426" y="288573"/>
                  <a:pt x="543387" y="245742"/>
                </a:cubicBezTo>
                <a:cubicBezTo>
                  <a:pt x="538633" y="205330"/>
                  <a:pt x="523859" y="164777"/>
                  <a:pt x="500524" y="131442"/>
                </a:cubicBezTo>
                <a:cubicBezTo>
                  <a:pt x="488310" y="113994"/>
                  <a:pt x="463580" y="109602"/>
                  <a:pt x="443374" y="102867"/>
                </a:cubicBezTo>
                <a:cubicBezTo>
                  <a:pt x="350719" y="71982"/>
                  <a:pt x="360856" y="74292"/>
                  <a:pt x="300499" y="7429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reeform: Shape 4">
            <a:extLst>
              <a:ext uri="{FF2B5EF4-FFF2-40B4-BE49-F238E27FC236}">
                <a16:creationId xmlns:a16="http://schemas.microsoft.com/office/drawing/2014/main" id="{9F1D7B46-18C7-41D7-97C9-744FF03F5E67}"/>
              </a:ext>
            </a:extLst>
          </p:cNvPr>
          <p:cNvSpPr/>
          <p:nvPr/>
        </p:nvSpPr>
        <p:spPr>
          <a:xfrm>
            <a:off x="828675" y="5114599"/>
            <a:ext cx="357188" cy="443240"/>
          </a:xfrm>
          <a:custGeom>
            <a:avLst/>
            <a:gdLst>
              <a:gd name="connsiteX0" fmla="*/ 200025 w 357188"/>
              <a:gd name="connsiteY0" fmla="*/ 43189 h 443240"/>
              <a:gd name="connsiteX1" fmla="*/ 271463 w 357188"/>
              <a:gd name="connsiteY1" fmla="*/ 326 h 443240"/>
              <a:gd name="connsiteX2" fmla="*/ 300038 w 357188"/>
              <a:gd name="connsiteY2" fmla="*/ 57476 h 443240"/>
              <a:gd name="connsiteX3" fmla="*/ 314325 w 357188"/>
              <a:gd name="connsiteY3" fmla="*/ 271789 h 443240"/>
              <a:gd name="connsiteX4" fmla="*/ 357188 w 357188"/>
              <a:gd name="connsiteY4" fmla="*/ 357514 h 443240"/>
              <a:gd name="connsiteX5" fmla="*/ 271463 w 357188"/>
              <a:gd name="connsiteY5" fmla="*/ 414664 h 443240"/>
              <a:gd name="connsiteX6" fmla="*/ 157163 w 357188"/>
              <a:gd name="connsiteY6" fmla="*/ 428951 h 443240"/>
              <a:gd name="connsiteX7" fmla="*/ 0 w 357188"/>
              <a:gd name="connsiteY7" fmla="*/ 443239 h 44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8" h="443240">
                <a:moveTo>
                  <a:pt x="200025" y="43189"/>
                </a:moveTo>
                <a:cubicBezTo>
                  <a:pt x="223838" y="28901"/>
                  <a:pt x="243972" y="-3601"/>
                  <a:pt x="271463" y="326"/>
                </a:cubicBezTo>
                <a:cubicBezTo>
                  <a:pt x="292548" y="3338"/>
                  <a:pt x="296716" y="36438"/>
                  <a:pt x="300038" y="57476"/>
                </a:cubicBezTo>
                <a:cubicBezTo>
                  <a:pt x="311204" y="128196"/>
                  <a:pt x="309563" y="200351"/>
                  <a:pt x="314325" y="271789"/>
                </a:cubicBezTo>
                <a:cubicBezTo>
                  <a:pt x="196783" y="310969"/>
                  <a:pt x="357188" y="244004"/>
                  <a:pt x="357188" y="357514"/>
                </a:cubicBezTo>
                <a:cubicBezTo>
                  <a:pt x="357188" y="391857"/>
                  <a:pt x="303805" y="403113"/>
                  <a:pt x="271463" y="414664"/>
                </a:cubicBezTo>
                <a:cubicBezTo>
                  <a:pt x="235303" y="427578"/>
                  <a:pt x="195325" y="424711"/>
                  <a:pt x="157163" y="428951"/>
                </a:cubicBezTo>
                <a:cubicBezTo>
                  <a:pt x="24306" y="443713"/>
                  <a:pt x="60682" y="443239"/>
                  <a:pt x="0" y="4432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AC5197CB-C8A5-421B-8284-7FD0E3FD0753}"/>
              </a:ext>
            </a:extLst>
          </p:cNvPr>
          <p:cNvSpPr/>
          <p:nvPr/>
        </p:nvSpPr>
        <p:spPr>
          <a:xfrm>
            <a:off x="1571625" y="5715000"/>
            <a:ext cx="285750" cy="28688"/>
          </a:xfrm>
          <a:custGeom>
            <a:avLst/>
            <a:gdLst>
              <a:gd name="connsiteX0" fmla="*/ 0 w 285750"/>
              <a:gd name="connsiteY0" fmla="*/ 0 h 28688"/>
              <a:gd name="connsiteX1" fmla="*/ 157163 w 285750"/>
              <a:gd name="connsiteY1" fmla="*/ 14288 h 28688"/>
              <a:gd name="connsiteX2" fmla="*/ 285750 w 285750"/>
              <a:gd name="connsiteY2" fmla="*/ 28575 h 28688"/>
            </a:gdLst>
            <a:ahLst/>
            <a:cxnLst>
              <a:cxn ang="0">
                <a:pos x="connsiteX0" y="connsiteY0"/>
              </a:cxn>
              <a:cxn ang="0">
                <a:pos x="connsiteX1" y="connsiteY1"/>
              </a:cxn>
              <a:cxn ang="0">
                <a:pos x="connsiteX2" y="connsiteY2"/>
              </a:cxn>
            </a:cxnLst>
            <a:rect l="l" t="t" r="r" b="b"/>
            <a:pathLst>
              <a:path w="285750" h="28688">
                <a:moveTo>
                  <a:pt x="0" y="0"/>
                </a:moveTo>
                <a:cubicBezTo>
                  <a:pt x="52388" y="4763"/>
                  <a:pt x="104920" y="8142"/>
                  <a:pt x="157163" y="14288"/>
                </a:cubicBezTo>
                <a:cubicBezTo>
                  <a:pt x="298567" y="30924"/>
                  <a:pt x="193409" y="28575"/>
                  <a:pt x="285750" y="285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reeform: Shape 6">
            <a:extLst>
              <a:ext uri="{FF2B5EF4-FFF2-40B4-BE49-F238E27FC236}">
                <a16:creationId xmlns:a16="http://schemas.microsoft.com/office/drawing/2014/main" id="{37E1AD71-FF13-4351-93BF-F5B2D7C567DB}"/>
              </a:ext>
            </a:extLst>
          </p:cNvPr>
          <p:cNvSpPr/>
          <p:nvPr/>
        </p:nvSpPr>
        <p:spPr>
          <a:xfrm>
            <a:off x="1528763" y="6114981"/>
            <a:ext cx="500062" cy="14357"/>
          </a:xfrm>
          <a:custGeom>
            <a:avLst/>
            <a:gdLst>
              <a:gd name="connsiteX0" fmla="*/ 0 w 500062"/>
              <a:gd name="connsiteY0" fmla="*/ 14357 h 14357"/>
              <a:gd name="connsiteX1" fmla="*/ 500062 w 500062"/>
              <a:gd name="connsiteY1" fmla="*/ 69 h 14357"/>
            </a:gdLst>
            <a:ahLst/>
            <a:cxnLst>
              <a:cxn ang="0">
                <a:pos x="connsiteX0" y="connsiteY0"/>
              </a:cxn>
              <a:cxn ang="0">
                <a:pos x="connsiteX1" y="connsiteY1"/>
              </a:cxn>
            </a:cxnLst>
            <a:rect l="l" t="t" r="r" b="b"/>
            <a:pathLst>
              <a:path w="500062" h="14357">
                <a:moveTo>
                  <a:pt x="0" y="14357"/>
                </a:moveTo>
                <a:cubicBezTo>
                  <a:pt x="404774" y="-1835"/>
                  <a:pt x="238029" y="69"/>
                  <a:pt x="500062" y="6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Shape 7">
            <a:extLst>
              <a:ext uri="{FF2B5EF4-FFF2-40B4-BE49-F238E27FC236}">
                <a16:creationId xmlns:a16="http://schemas.microsoft.com/office/drawing/2014/main" id="{C01B6473-2A06-48E3-8031-5EDAA4526143}"/>
              </a:ext>
            </a:extLst>
          </p:cNvPr>
          <p:cNvSpPr/>
          <p:nvPr/>
        </p:nvSpPr>
        <p:spPr>
          <a:xfrm>
            <a:off x="2328843" y="5686425"/>
            <a:ext cx="103242" cy="628650"/>
          </a:xfrm>
          <a:custGeom>
            <a:avLst/>
            <a:gdLst>
              <a:gd name="connsiteX0" fmla="*/ 14307 w 103242"/>
              <a:gd name="connsiteY0" fmla="*/ 0 h 628650"/>
              <a:gd name="connsiteX1" fmla="*/ 28595 w 103242"/>
              <a:gd name="connsiteY1" fmla="*/ 100013 h 628650"/>
              <a:gd name="connsiteX2" fmla="*/ 42882 w 103242"/>
              <a:gd name="connsiteY2" fmla="*/ 414338 h 628650"/>
              <a:gd name="connsiteX3" fmla="*/ 85745 w 103242"/>
              <a:gd name="connsiteY3" fmla="*/ 628650 h 628650"/>
              <a:gd name="connsiteX4" fmla="*/ 57170 w 103242"/>
              <a:gd name="connsiteY4" fmla="*/ 485775 h 628650"/>
              <a:gd name="connsiteX5" fmla="*/ 42882 w 103242"/>
              <a:gd name="connsiteY5" fmla="*/ 385763 h 628650"/>
              <a:gd name="connsiteX6" fmla="*/ 14307 w 103242"/>
              <a:gd name="connsiteY6" fmla="*/ 285750 h 628650"/>
              <a:gd name="connsiteX7" fmla="*/ 20 w 103242"/>
              <a:gd name="connsiteY7" fmla="*/ 142875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42" h="628650">
                <a:moveTo>
                  <a:pt x="14307" y="0"/>
                </a:moveTo>
                <a:cubicBezTo>
                  <a:pt x="19070" y="33338"/>
                  <a:pt x="26278" y="66417"/>
                  <a:pt x="28595" y="100013"/>
                </a:cubicBezTo>
                <a:cubicBezTo>
                  <a:pt x="35811" y="204648"/>
                  <a:pt x="31609" y="310062"/>
                  <a:pt x="42882" y="414338"/>
                </a:cubicBezTo>
                <a:cubicBezTo>
                  <a:pt x="50712" y="486768"/>
                  <a:pt x="71457" y="557213"/>
                  <a:pt x="85745" y="628650"/>
                </a:cubicBezTo>
                <a:cubicBezTo>
                  <a:pt x="115812" y="448241"/>
                  <a:pt x="107660" y="624622"/>
                  <a:pt x="57170" y="485775"/>
                </a:cubicBezTo>
                <a:cubicBezTo>
                  <a:pt x="45661" y="454127"/>
                  <a:pt x="49938" y="418691"/>
                  <a:pt x="42882" y="385763"/>
                </a:cubicBezTo>
                <a:cubicBezTo>
                  <a:pt x="35617" y="351861"/>
                  <a:pt x="23832" y="319088"/>
                  <a:pt x="14307" y="285750"/>
                </a:cubicBezTo>
                <a:cubicBezTo>
                  <a:pt x="-1161" y="161999"/>
                  <a:pt x="20" y="209846"/>
                  <a:pt x="20" y="1428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reeform: Shape 8">
            <a:extLst>
              <a:ext uri="{FF2B5EF4-FFF2-40B4-BE49-F238E27FC236}">
                <a16:creationId xmlns:a16="http://schemas.microsoft.com/office/drawing/2014/main" id="{9562C2CE-7089-49CE-BB00-E4F002B6F9A5}"/>
              </a:ext>
            </a:extLst>
          </p:cNvPr>
          <p:cNvSpPr/>
          <p:nvPr/>
        </p:nvSpPr>
        <p:spPr>
          <a:xfrm>
            <a:off x="2743200" y="5772129"/>
            <a:ext cx="386917" cy="414359"/>
          </a:xfrm>
          <a:custGeom>
            <a:avLst/>
            <a:gdLst>
              <a:gd name="connsiteX0" fmla="*/ 114300 w 386917"/>
              <a:gd name="connsiteY0" fmla="*/ 71459 h 414359"/>
              <a:gd name="connsiteX1" fmla="*/ 42863 w 386917"/>
              <a:gd name="connsiteY1" fmla="*/ 21 h 414359"/>
              <a:gd name="connsiteX2" fmla="*/ 0 w 386917"/>
              <a:gd name="connsiteY2" fmla="*/ 100034 h 414359"/>
              <a:gd name="connsiteX3" fmla="*/ 14288 w 386917"/>
              <a:gd name="connsiteY3" fmla="*/ 200046 h 414359"/>
              <a:gd name="connsiteX4" fmla="*/ 242888 w 386917"/>
              <a:gd name="connsiteY4" fmla="*/ 414359 h 414359"/>
              <a:gd name="connsiteX5" fmla="*/ 357188 w 386917"/>
              <a:gd name="connsiteY5" fmla="*/ 371496 h 414359"/>
              <a:gd name="connsiteX6" fmla="*/ 371475 w 386917"/>
              <a:gd name="connsiteY6" fmla="*/ 214334 h 414359"/>
              <a:gd name="connsiteX7" fmla="*/ 100013 w 386917"/>
              <a:gd name="connsiteY7" fmla="*/ 128609 h 41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917" h="414359">
                <a:moveTo>
                  <a:pt x="114300" y="71459"/>
                </a:moveTo>
                <a:cubicBezTo>
                  <a:pt x="90488" y="47646"/>
                  <a:pt x="76200" y="4784"/>
                  <a:pt x="42863" y="21"/>
                </a:cubicBezTo>
                <a:cubicBezTo>
                  <a:pt x="31628" y="-1584"/>
                  <a:pt x="3999" y="88037"/>
                  <a:pt x="0" y="100034"/>
                </a:cubicBezTo>
                <a:cubicBezTo>
                  <a:pt x="4763" y="133371"/>
                  <a:pt x="47" y="169530"/>
                  <a:pt x="14288" y="200046"/>
                </a:cubicBezTo>
                <a:cubicBezTo>
                  <a:pt x="67227" y="313487"/>
                  <a:pt x="143594" y="344853"/>
                  <a:pt x="242888" y="414359"/>
                </a:cubicBezTo>
                <a:cubicBezTo>
                  <a:pt x="280988" y="400071"/>
                  <a:pt x="325414" y="396915"/>
                  <a:pt x="357188" y="371496"/>
                </a:cubicBezTo>
                <a:cubicBezTo>
                  <a:pt x="390885" y="344539"/>
                  <a:pt x="396347" y="244733"/>
                  <a:pt x="371475" y="214334"/>
                </a:cubicBezTo>
                <a:cubicBezTo>
                  <a:pt x="302943" y="130573"/>
                  <a:pt x="196176" y="128609"/>
                  <a:pt x="100013" y="12860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reeform: Shape 9">
            <a:extLst>
              <a:ext uri="{FF2B5EF4-FFF2-40B4-BE49-F238E27FC236}">
                <a16:creationId xmlns:a16="http://schemas.microsoft.com/office/drawing/2014/main" id="{71252F7D-7E0E-42B4-BC58-A31C5AC567F1}"/>
              </a:ext>
            </a:extLst>
          </p:cNvPr>
          <p:cNvSpPr/>
          <p:nvPr/>
        </p:nvSpPr>
        <p:spPr>
          <a:xfrm>
            <a:off x="3427182" y="5743575"/>
            <a:ext cx="322035" cy="600087"/>
          </a:xfrm>
          <a:custGeom>
            <a:avLst/>
            <a:gdLst>
              <a:gd name="connsiteX0" fmla="*/ 201843 w 322035"/>
              <a:gd name="connsiteY0" fmla="*/ 142875 h 600087"/>
              <a:gd name="connsiteX1" fmla="*/ 130406 w 322035"/>
              <a:gd name="connsiteY1" fmla="*/ 85725 h 600087"/>
              <a:gd name="connsiteX2" fmla="*/ 87543 w 322035"/>
              <a:gd name="connsiteY2" fmla="*/ 157163 h 600087"/>
              <a:gd name="connsiteX3" fmla="*/ 1818 w 322035"/>
              <a:gd name="connsiteY3" fmla="*/ 400050 h 600087"/>
              <a:gd name="connsiteX4" fmla="*/ 16106 w 322035"/>
              <a:gd name="connsiteY4" fmla="*/ 571500 h 600087"/>
              <a:gd name="connsiteX5" fmla="*/ 116118 w 322035"/>
              <a:gd name="connsiteY5" fmla="*/ 600075 h 600087"/>
              <a:gd name="connsiteX6" fmla="*/ 273281 w 322035"/>
              <a:gd name="connsiteY6" fmla="*/ 542925 h 600087"/>
              <a:gd name="connsiteX7" fmla="*/ 230418 w 322035"/>
              <a:gd name="connsiteY7" fmla="*/ 142875 h 600087"/>
              <a:gd name="connsiteX8" fmla="*/ 173268 w 322035"/>
              <a:gd name="connsiteY8" fmla="*/ 0 h 600087"/>
              <a:gd name="connsiteX9" fmla="*/ 130406 w 322035"/>
              <a:gd name="connsiteY9" fmla="*/ 85725 h 60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035" h="600087">
                <a:moveTo>
                  <a:pt x="201843" y="142875"/>
                </a:moveTo>
                <a:cubicBezTo>
                  <a:pt x="178031" y="123825"/>
                  <a:pt x="160665" y="81942"/>
                  <a:pt x="130406" y="85725"/>
                </a:cubicBezTo>
                <a:cubicBezTo>
                  <a:pt x="102850" y="89170"/>
                  <a:pt x="98058" y="131460"/>
                  <a:pt x="87543" y="157163"/>
                </a:cubicBezTo>
                <a:cubicBezTo>
                  <a:pt x="55035" y="236628"/>
                  <a:pt x="1818" y="400050"/>
                  <a:pt x="1818" y="400050"/>
                </a:cubicBezTo>
                <a:cubicBezTo>
                  <a:pt x="6581" y="457200"/>
                  <a:pt x="-12347" y="521708"/>
                  <a:pt x="16106" y="571500"/>
                </a:cubicBezTo>
                <a:cubicBezTo>
                  <a:pt x="33308" y="601603"/>
                  <a:pt x="81447" y="600075"/>
                  <a:pt x="116118" y="600075"/>
                </a:cubicBezTo>
                <a:cubicBezTo>
                  <a:pt x="167758" y="600075"/>
                  <a:pt x="227415" y="565858"/>
                  <a:pt x="273281" y="542925"/>
                </a:cubicBezTo>
                <a:cubicBezTo>
                  <a:pt x="368930" y="399453"/>
                  <a:pt x="307192" y="513949"/>
                  <a:pt x="230418" y="142875"/>
                </a:cubicBezTo>
                <a:cubicBezTo>
                  <a:pt x="214863" y="67690"/>
                  <a:pt x="214370" y="82203"/>
                  <a:pt x="173268" y="0"/>
                </a:cubicBezTo>
                <a:cubicBezTo>
                  <a:pt x="124691" y="64770"/>
                  <a:pt x="130406" y="33338"/>
                  <a:pt x="130406" y="8572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Shape 10">
            <a:extLst>
              <a:ext uri="{FF2B5EF4-FFF2-40B4-BE49-F238E27FC236}">
                <a16:creationId xmlns:a16="http://schemas.microsoft.com/office/drawing/2014/main" id="{1A58A0B7-8607-4B45-A4EE-49E7AAFC395C}"/>
              </a:ext>
            </a:extLst>
          </p:cNvPr>
          <p:cNvSpPr/>
          <p:nvPr/>
        </p:nvSpPr>
        <p:spPr>
          <a:xfrm>
            <a:off x="3955230" y="5729288"/>
            <a:ext cx="531189" cy="614362"/>
          </a:xfrm>
          <a:custGeom>
            <a:avLst/>
            <a:gdLst>
              <a:gd name="connsiteX0" fmla="*/ 259583 w 531189"/>
              <a:gd name="connsiteY0" fmla="*/ 85725 h 614362"/>
              <a:gd name="connsiteX1" fmla="*/ 188145 w 531189"/>
              <a:gd name="connsiteY1" fmla="*/ 14287 h 614362"/>
              <a:gd name="connsiteX2" fmla="*/ 59558 w 531189"/>
              <a:gd name="connsiteY2" fmla="*/ 157162 h 614362"/>
              <a:gd name="connsiteX3" fmla="*/ 2408 w 531189"/>
              <a:gd name="connsiteY3" fmla="*/ 385762 h 614362"/>
              <a:gd name="connsiteX4" fmla="*/ 102420 w 531189"/>
              <a:gd name="connsiteY4" fmla="*/ 471487 h 614362"/>
              <a:gd name="connsiteX5" fmla="*/ 245295 w 531189"/>
              <a:gd name="connsiteY5" fmla="*/ 557212 h 614362"/>
              <a:gd name="connsiteX6" fmla="*/ 373883 w 531189"/>
              <a:gd name="connsiteY6" fmla="*/ 585787 h 614362"/>
              <a:gd name="connsiteX7" fmla="*/ 459608 w 531189"/>
              <a:gd name="connsiteY7" fmla="*/ 614362 h 614362"/>
              <a:gd name="connsiteX8" fmla="*/ 502470 w 531189"/>
              <a:gd name="connsiteY8" fmla="*/ 571500 h 614362"/>
              <a:gd name="connsiteX9" fmla="*/ 516758 w 531189"/>
              <a:gd name="connsiteY9" fmla="*/ 100012 h 614362"/>
              <a:gd name="connsiteX10" fmla="*/ 488183 w 531189"/>
              <a:gd name="connsiteY10" fmla="*/ 57150 h 614362"/>
              <a:gd name="connsiteX11" fmla="*/ 302445 w 531189"/>
              <a:gd name="connsiteY11" fmla="*/ 0 h 614362"/>
              <a:gd name="connsiteX12" fmla="*/ 145283 w 531189"/>
              <a:gd name="connsiteY12" fmla="*/ 14287 h 61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189" h="614362">
                <a:moveTo>
                  <a:pt x="259583" y="85725"/>
                </a:moveTo>
                <a:cubicBezTo>
                  <a:pt x="235770" y="61912"/>
                  <a:pt x="221683" y="11238"/>
                  <a:pt x="188145" y="14287"/>
                </a:cubicBezTo>
                <a:cubicBezTo>
                  <a:pt x="160627" y="16789"/>
                  <a:pt x="82446" y="126644"/>
                  <a:pt x="59558" y="157162"/>
                </a:cubicBezTo>
                <a:cubicBezTo>
                  <a:pt x="55264" y="170043"/>
                  <a:pt x="-13601" y="351077"/>
                  <a:pt x="2408" y="385762"/>
                </a:cubicBezTo>
                <a:cubicBezTo>
                  <a:pt x="20808" y="425629"/>
                  <a:pt x="66549" y="446166"/>
                  <a:pt x="102420" y="471487"/>
                </a:cubicBezTo>
                <a:cubicBezTo>
                  <a:pt x="147794" y="503516"/>
                  <a:pt x="194108" y="535659"/>
                  <a:pt x="245295" y="557212"/>
                </a:cubicBezTo>
                <a:cubicBezTo>
                  <a:pt x="285762" y="574251"/>
                  <a:pt x="331457" y="574474"/>
                  <a:pt x="373883" y="585787"/>
                </a:cubicBezTo>
                <a:cubicBezTo>
                  <a:pt x="402987" y="593548"/>
                  <a:pt x="431033" y="604837"/>
                  <a:pt x="459608" y="614362"/>
                </a:cubicBezTo>
                <a:cubicBezTo>
                  <a:pt x="473895" y="600075"/>
                  <a:pt x="497790" y="591156"/>
                  <a:pt x="502470" y="571500"/>
                </a:cubicBezTo>
                <a:cubicBezTo>
                  <a:pt x="534833" y="435576"/>
                  <a:pt x="540201" y="240672"/>
                  <a:pt x="516758" y="100012"/>
                </a:cubicBezTo>
                <a:cubicBezTo>
                  <a:pt x="513935" y="83074"/>
                  <a:pt x="502156" y="67131"/>
                  <a:pt x="488183" y="57150"/>
                </a:cubicBezTo>
                <a:cubicBezTo>
                  <a:pt x="453322" y="32250"/>
                  <a:pt x="329780" y="6834"/>
                  <a:pt x="302445" y="0"/>
                </a:cubicBezTo>
                <a:cubicBezTo>
                  <a:pt x="154831" y="14761"/>
                  <a:pt x="207433" y="14287"/>
                  <a:pt x="145283" y="1428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C029DD4-235E-40C0-A37F-A330163F9CDF}"/>
              </a:ext>
            </a:extLst>
          </p:cNvPr>
          <p:cNvSpPr txBox="1"/>
          <p:nvPr/>
        </p:nvSpPr>
        <p:spPr>
          <a:xfrm>
            <a:off x="4953000" y="5715000"/>
            <a:ext cx="1193404" cy="369332"/>
          </a:xfrm>
          <a:prstGeom prst="rect">
            <a:avLst/>
          </a:prstGeom>
          <a:noFill/>
        </p:spPr>
        <p:txBody>
          <a:bodyPr wrap="none" rtlCol="0">
            <a:spAutoFit/>
          </a:bodyPr>
          <a:lstStyle/>
          <a:p>
            <a:r>
              <a:rPr lang="en-IN" dirty="0"/>
              <a:t>Power of 3</a:t>
            </a:r>
          </a:p>
        </p:txBody>
      </p:sp>
      <p:sp>
        <p:nvSpPr>
          <p:cNvPr id="13" name="TextBox 12">
            <a:extLst>
              <a:ext uri="{FF2B5EF4-FFF2-40B4-BE49-F238E27FC236}">
                <a16:creationId xmlns:a16="http://schemas.microsoft.com/office/drawing/2014/main" id="{C05DC9CD-D3C0-440B-83A2-FF3506F47D9D}"/>
              </a:ext>
            </a:extLst>
          </p:cNvPr>
          <p:cNvSpPr txBox="1"/>
          <p:nvPr/>
        </p:nvSpPr>
        <p:spPr>
          <a:xfrm>
            <a:off x="5943599" y="240268"/>
            <a:ext cx="1954381" cy="369332"/>
          </a:xfrm>
          <a:prstGeom prst="rect">
            <a:avLst/>
          </a:prstGeom>
          <a:noFill/>
        </p:spPr>
        <p:txBody>
          <a:bodyPr wrap="none" rtlCol="0">
            <a:spAutoFit/>
          </a:bodyPr>
          <a:lstStyle/>
          <a:p>
            <a:r>
              <a:rPr lang="en-IN" dirty="0"/>
              <a:t>Log base 2 of 8 is 3</a:t>
            </a:r>
          </a:p>
        </p:txBody>
      </p:sp>
      <p:sp>
        <p:nvSpPr>
          <p:cNvPr id="15" name="TextBox 14">
            <a:extLst>
              <a:ext uri="{FF2B5EF4-FFF2-40B4-BE49-F238E27FC236}">
                <a16:creationId xmlns:a16="http://schemas.microsoft.com/office/drawing/2014/main" id="{3EEDFC6E-E972-472A-9199-72AE3F49FC72}"/>
              </a:ext>
            </a:extLst>
          </p:cNvPr>
          <p:cNvSpPr txBox="1"/>
          <p:nvPr/>
        </p:nvSpPr>
        <p:spPr>
          <a:xfrm>
            <a:off x="6096000" y="4572000"/>
            <a:ext cx="2071401" cy="369332"/>
          </a:xfrm>
          <a:prstGeom prst="rect">
            <a:avLst/>
          </a:prstGeom>
          <a:noFill/>
        </p:spPr>
        <p:txBody>
          <a:bodyPr wrap="none" rtlCol="0">
            <a:spAutoFit/>
          </a:bodyPr>
          <a:lstStyle/>
          <a:p>
            <a:r>
              <a:rPr lang="en-IN" dirty="0"/>
              <a:t>Log base 5 of 25 is 2</a:t>
            </a:r>
          </a:p>
        </p:txBody>
      </p:sp>
      <p:sp>
        <p:nvSpPr>
          <p:cNvPr id="16" name="TextBox 15">
            <a:extLst>
              <a:ext uri="{FF2B5EF4-FFF2-40B4-BE49-F238E27FC236}">
                <a16:creationId xmlns:a16="http://schemas.microsoft.com/office/drawing/2014/main" id="{4F4378CD-77FC-4C93-8878-6A128BD6711D}"/>
              </a:ext>
            </a:extLst>
          </p:cNvPr>
          <p:cNvSpPr txBox="1"/>
          <p:nvPr/>
        </p:nvSpPr>
        <p:spPr>
          <a:xfrm>
            <a:off x="6477000" y="5899666"/>
            <a:ext cx="1659429" cy="369332"/>
          </a:xfrm>
          <a:prstGeom prst="rect">
            <a:avLst/>
          </a:prstGeom>
          <a:noFill/>
        </p:spPr>
        <p:txBody>
          <a:bodyPr wrap="none" rtlCol="0">
            <a:spAutoFit/>
          </a:bodyPr>
          <a:lstStyle/>
          <a:p>
            <a:r>
              <a:rPr lang="en-IN" dirty="0"/>
              <a:t>Log 3 1000 = 10</a:t>
            </a:r>
          </a:p>
        </p:txBody>
      </p:sp>
      <p:sp>
        <p:nvSpPr>
          <p:cNvPr id="17" name="TextBox 16">
            <a:extLst>
              <a:ext uri="{FF2B5EF4-FFF2-40B4-BE49-F238E27FC236}">
                <a16:creationId xmlns:a16="http://schemas.microsoft.com/office/drawing/2014/main" id="{22677BB4-62F7-493D-A771-BB9D8F90F319}"/>
              </a:ext>
            </a:extLst>
          </p:cNvPr>
          <p:cNvSpPr txBox="1"/>
          <p:nvPr/>
        </p:nvSpPr>
        <p:spPr>
          <a:xfrm>
            <a:off x="6096000" y="6352356"/>
            <a:ext cx="2654894" cy="369332"/>
          </a:xfrm>
          <a:prstGeom prst="rect">
            <a:avLst/>
          </a:prstGeom>
          <a:noFill/>
        </p:spPr>
        <p:txBody>
          <a:bodyPr wrap="none" rtlCol="0">
            <a:spAutoFit/>
          </a:bodyPr>
          <a:lstStyle/>
          <a:p>
            <a:r>
              <a:rPr lang="en-IN" dirty="0"/>
              <a:t>Log base 3 of 1000 is 3=10</a:t>
            </a:r>
          </a:p>
        </p:txBody>
      </p:sp>
    </p:spTree>
    <p:extLst>
      <p:ext uri="{BB962C8B-B14F-4D97-AF65-F5344CB8AC3E}">
        <p14:creationId xmlns:p14="http://schemas.microsoft.com/office/powerpoint/2010/main" val="4092544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Logarithmic-Exponential</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812" y="2011362"/>
            <a:ext cx="8752376" cy="3703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59" name="Ink 58">
                <a:extLst>
                  <a:ext uri="{FF2B5EF4-FFF2-40B4-BE49-F238E27FC236}">
                    <a16:creationId xmlns:a16="http://schemas.microsoft.com/office/drawing/2014/main" id="{24330FA3-5C90-4D9B-BFAB-21306F0DE754}"/>
                  </a:ext>
                </a:extLst>
              </p14:cNvPr>
              <p14:cNvContentPartPr/>
              <p14:nvPr/>
            </p14:nvContentPartPr>
            <p14:xfrm>
              <a:off x="5867920" y="5269227"/>
              <a:ext cx="43920" cy="5040"/>
            </p14:xfrm>
          </p:contentPart>
        </mc:Choice>
        <mc:Fallback xmlns="">
          <p:pic>
            <p:nvPicPr>
              <p:cNvPr id="59" name="Ink 58">
                <a:extLst>
                  <a:ext uri="{FF2B5EF4-FFF2-40B4-BE49-F238E27FC236}">
                    <a16:creationId xmlns:a16="http://schemas.microsoft.com/office/drawing/2014/main" id="{24330FA3-5C90-4D9B-BFAB-21306F0DE754}"/>
                  </a:ext>
                </a:extLst>
              </p:cNvPr>
              <p:cNvPicPr/>
              <p:nvPr/>
            </p:nvPicPr>
            <p:blipFill>
              <a:blip r:embed="rId80"/>
              <a:stretch>
                <a:fillRect/>
              </a:stretch>
            </p:blipFill>
            <p:spPr>
              <a:xfrm>
                <a:off x="5863600" y="5264907"/>
                <a:ext cx="525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3081" name="Ink 3080">
                <a:extLst>
                  <a:ext uri="{FF2B5EF4-FFF2-40B4-BE49-F238E27FC236}">
                    <a16:creationId xmlns:a16="http://schemas.microsoft.com/office/drawing/2014/main" id="{D710078A-A961-4423-B9B1-9ECC55009A71}"/>
                  </a:ext>
                </a:extLst>
              </p14:cNvPr>
              <p14:cNvContentPartPr/>
              <p14:nvPr/>
            </p14:nvContentPartPr>
            <p14:xfrm>
              <a:off x="7123600" y="3279147"/>
              <a:ext cx="180000" cy="129240"/>
            </p14:xfrm>
          </p:contentPart>
        </mc:Choice>
        <mc:Fallback xmlns="">
          <p:pic>
            <p:nvPicPr>
              <p:cNvPr id="3081" name="Ink 3080">
                <a:extLst>
                  <a:ext uri="{FF2B5EF4-FFF2-40B4-BE49-F238E27FC236}">
                    <a16:creationId xmlns:a16="http://schemas.microsoft.com/office/drawing/2014/main" id="{D710078A-A961-4423-B9B1-9ECC55009A71}"/>
                  </a:ext>
                </a:extLst>
              </p:cNvPr>
              <p:cNvPicPr/>
              <p:nvPr/>
            </p:nvPicPr>
            <p:blipFill>
              <a:blip r:embed="rId112"/>
              <a:stretch>
                <a:fillRect/>
              </a:stretch>
            </p:blipFill>
            <p:spPr>
              <a:xfrm>
                <a:off x="7119280" y="3274827"/>
                <a:ext cx="188640" cy="137880"/>
              </a:xfrm>
              <a:prstGeom prst="rect">
                <a:avLst/>
              </a:prstGeom>
            </p:spPr>
          </p:pic>
        </mc:Fallback>
      </mc:AlternateContent>
    </p:spTree>
    <p:extLst>
      <p:ext uri="{BB962C8B-B14F-4D97-AF65-F5344CB8AC3E}">
        <p14:creationId xmlns:p14="http://schemas.microsoft.com/office/powerpoint/2010/main" val="4171444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Logarithms</a:t>
            </a:r>
          </a:p>
        </p:txBody>
      </p:sp>
      <p:sp>
        <p:nvSpPr>
          <p:cNvPr id="3" name="Content Placeholder 2"/>
          <p:cNvSpPr>
            <a:spLocks noGrp="1"/>
          </p:cNvSpPr>
          <p:nvPr>
            <p:ph idx="1"/>
          </p:nvPr>
        </p:nvSpPr>
        <p:spPr/>
        <p:txBody>
          <a:bodyPr>
            <a:normAutofit fontScale="70000" lnSpcReduction="20000"/>
          </a:bodyPr>
          <a:lstStyle/>
          <a:p>
            <a:r>
              <a:rPr lang="en-IN" b="1" dirty="0"/>
              <a:t>Logarithms put numbers on a human-friendly scale.</a:t>
            </a:r>
            <a:endParaRPr lang="en-IN" dirty="0"/>
          </a:p>
          <a:p>
            <a:r>
              <a:rPr lang="en-IN" dirty="0"/>
              <a:t>Large numbers break our brains. Millions and trillions are "really big" even though a million seconds is 12 days and a trillion seconds is 30,000 years. It's the difference between an American vacation year and the entirety of human civilization.</a:t>
            </a:r>
          </a:p>
          <a:p>
            <a:r>
              <a:rPr lang="en-IN" dirty="0"/>
              <a:t>The trick to overcoming "huge number blindness" is to write numbers in terms of "inputs" (i.e. their power base 10). This smaller scale (0 to 100) is much easier to grasp:</a:t>
            </a:r>
          </a:p>
          <a:p>
            <a:r>
              <a:rPr lang="en-IN" dirty="0"/>
              <a:t>power of 0 = 10</a:t>
            </a:r>
            <a:r>
              <a:rPr lang="en-IN" baseline="30000" dirty="0"/>
              <a:t>0</a:t>
            </a:r>
            <a:r>
              <a:rPr lang="en-IN" dirty="0"/>
              <a:t> = 1 (single item)</a:t>
            </a:r>
          </a:p>
          <a:p>
            <a:r>
              <a:rPr lang="en-IN" dirty="0"/>
              <a:t>power of 1 = 10</a:t>
            </a:r>
            <a:r>
              <a:rPr lang="en-IN" baseline="30000" dirty="0"/>
              <a:t>1</a:t>
            </a:r>
            <a:r>
              <a:rPr lang="en-IN" dirty="0"/>
              <a:t> = 10</a:t>
            </a:r>
          </a:p>
          <a:p>
            <a:r>
              <a:rPr lang="en-IN" dirty="0"/>
              <a:t>power of 3 = 10</a:t>
            </a:r>
            <a:r>
              <a:rPr lang="en-IN" baseline="30000" dirty="0"/>
              <a:t>3</a:t>
            </a:r>
            <a:r>
              <a:rPr lang="en-IN" dirty="0"/>
              <a:t> = thousand</a:t>
            </a:r>
          </a:p>
          <a:p>
            <a:r>
              <a:rPr lang="en-IN" dirty="0"/>
              <a:t>power of 6 = 10</a:t>
            </a:r>
            <a:r>
              <a:rPr lang="en-IN" baseline="30000" dirty="0"/>
              <a:t>6</a:t>
            </a:r>
            <a:r>
              <a:rPr lang="en-IN" dirty="0"/>
              <a:t> = million</a:t>
            </a:r>
          </a:p>
          <a:p>
            <a:r>
              <a:rPr lang="en-IN" dirty="0"/>
              <a:t>power of 9 = 10</a:t>
            </a:r>
            <a:r>
              <a:rPr lang="en-IN" baseline="30000" dirty="0"/>
              <a:t>9</a:t>
            </a:r>
            <a:r>
              <a:rPr lang="en-IN" dirty="0"/>
              <a:t> = billion</a:t>
            </a:r>
          </a:p>
          <a:p>
            <a:endParaRPr lang="en-IN" dirty="0"/>
          </a:p>
        </p:txBody>
      </p:sp>
    </p:spTree>
    <p:extLst>
      <p:ext uri="{BB962C8B-B14F-4D97-AF65-F5344CB8AC3E}">
        <p14:creationId xmlns:p14="http://schemas.microsoft.com/office/powerpoint/2010/main" val="2582791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Logarithms</a:t>
            </a:r>
          </a:p>
        </p:txBody>
      </p:sp>
      <p:sp>
        <p:nvSpPr>
          <p:cNvPr id="3" name="Content Placeholder 2"/>
          <p:cNvSpPr>
            <a:spLocks noGrp="1"/>
          </p:cNvSpPr>
          <p:nvPr>
            <p:ph idx="1"/>
          </p:nvPr>
        </p:nvSpPr>
        <p:spPr/>
        <p:txBody>
          <a:bodyPr/>
          <a:lstStyle/>
          <a:p>
            <a:r>
              <a:rPr lang="en-IN" b="1" dirty="0"/>
              <a:t>Logarithms count multiplication as steps</a:t>
            </a:r>
            <a:endParaRPr lang="en-IN" dirty="0"/>
          </a:p>
          <a:p>
            <a:r>
              <a:rPr lang="en-IN" dirty="0"/>
              <a:t>Logarithms describe changes in terms of multiplication: in the examples above, each step is 10x bigger. With the natural log, each step is "e" (2.71828...) times more.</a:t>
            </a:r>
          </a:p>
          <a:p>
            <a:r>
              <a:rPr lang="en-IN" dirty="0"/>
              <a:t>When dealing with a series of multiplications, logarithms help "count" them, just like addition counts for us when effects are added.</a:t>
            </a:r>
          </a:p>
          <a:p>
            <a:endParaRPr lang="en-IN" dirty="0"/>
          </a:p>
        </p:txBody>
      </p:sp>
    </p:spTree>
    <p:extLst>
      <p:ext uri="{BB962C8B-B14F-4D97-AF65-F5344CB8AC3E}">
        <p14:creationId xmlns:p14="http://schemas.microsoft.com/office/powerpoint/2010/main" val="3500873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7F8D-1C6E-4F86-B20D-ACF0B37C8755}"/>
              </a:ext>
            </a:extLst>
          </p:cNvPr>
          <p:cNvSpPr>
            <a:spLocks noGrp="1"/>
          </p:cNvSpPr>
          <p:nvPr>
            <p:ph type="title"/>
          </p:nvPr>
        </p:nvSpPr>
        <p:spPr/>
        <p:txBody>
          <a:bodyPr>
            <a:normAutofit fontScale="90000"/>
          </a:bodyPr>
          <a:lstStyle/>
          <a:p>
            <a:r>
              <a:rPr lang="en-US" b="0" i="0" dirty="0">
                <a:solidFill>
                  <a:srgbClr val="222222"/>
                </a:solidFill>
                <a:effectLst/>
                <a:latin typeface="arial" panose="020B0604020202020204" pitchFamily="34" charset="0"/>
              </a:rPr>
              <a:t>What is E in log?</a:t>
            </a:r>
            <a:br>
              <a:rPr lang="en-US" b="0" i="0" dirty="0">
                <a:solidFill>
                  <a:srgbClr val="222222"/>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75354278-4C02-41C0-87F6-214E835987A0}"/>
              </a:ext>
            </a:extLst>
          </p:cNvPr>
          <p:cNvSpPr>
            <a:spLocks noGrp="1"/>
          </p:cNvSpPr>
          <p:nvPr>
            <p:ph idx="1"/>
          </p:nvPr>
        </p:nvSpPr>
        <p:spPr>
          <a:xfrm>
            <a:off x="457200" y="990600"/>
            <a:ext cx="8229600" cy="4525963"/>
          </a:xfrm>
        </p:spPr>
        <p:txBody>
          <a:bodyPr>
            <a:normAutofit/>
          </a:bodyPr>
          <a:lstStyle/>
          <a:p>
            <a:pPr algn="l"/>
            <a:r>
              <a:rPr lang="en-US" b="0" i="0" dirty="0">
                <a:solidFill>
                  <a:srgbClr val="222222"/>
                </a:solidFill>
                <a:effectLst/>
                <a:latin typeface="arial" panose="020B0604020202020204" pitchFamily="34" charset="0"/>
              </a:rPr>
              <a:t>The natural logarithm of a number is its logarithm to the base of the mathematical constant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where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is an irrational and transcendental number approximately equal to 2.718281828459. The natural logarithm of x is generally written as ln x, </a:t>
            </a:r>
            <a:r>
              <a:rPr lang="en-US" b="1" i="0" dirty="0">
                <a:solidFill>
                  <a:srgbClr val="222222"/>
                </a:solidFill>
                <a:effectLst/>
                <a:latin typeface="arial" panose="020B0604020202020204" pitchFamily="34" charset="0"/>
              </a:rPr>
              <a:t>log</a:t>
            </a:r>
            <a:r>
              <a:rPr lang="en-US" b="1" i="0" baseline="-2500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x, or sometimes, if the base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is implicit, simply </a:t>
            </a:r>
            <a:r>
              <a:rPr lang="en-US" b="1" i="0" dirty="0">
                <a:solidFill>
                  <a:srgbClr val="222222"/>
                </a:solidFill>
                <a:effectLst/>
                <a:latin typeface="arial" panose="020B0604020202020204" pitchFamily="34" charset="0"/>
              </a:rPr>
              <a:t>log</a:t>
            </a:r>
            <a:r>
              <a:rPr lang="en-US" b="0" i="0" dirty="0">
                <a:solidFill>
                  <a:srgbClr val="222222"/>
                </a:solidFill>
                <a:effectLst/>
                <a:latin typeface="arial" panose="020B0604020202020204" pitchFamily="34" charset="0"/>
              </a:rPr>
              <a:t> x.</a:t>
            </a:r>
          </a:p>
          <a:p>
            <a:endParaRPr lang="en-IN" dirty="0"/>
          </a:p>
        </p:txBody>
      </p:sp>
      <p:pic>
        <p:nvPicPr>
          <p:cNvPr id="4" name="Picture 3">
            <a:extLst>
              <a:ext uri="{FF2B5EF4-FFF2-40B4-BE49-F238E27FC236}">
                <a16:creationId xmlns:a16="http://schemas.microsoft.com/office/drawing/2014/main" id="{730DE5F7-5B77-4966-8153-12E608D8F8B3}"/>
              </a:ext>
            </a:extLst>
          </p:cNvPr>
          <p:cNvPicPr>
            <a:picLocks noChangeAspect="1"/>
          </p:cNvPicPr>
          <p:nvPr/>
        </p:nvPicPr>
        <p:blipFill rotWithShape="1">
          <a:blip r:embed="rId2"/>
          <a:srcRect l="6511" t="11666" r="5156" b="54075"/>
          <a:stretch/>
        </p:blipFill>
        <p:spPr>
          <a:xfrm>
            <a:off x="609599" y="5105399"/>
            <a:ext cx="8077201" cy="1762125"/>
          </a:xfrm>
          <a:prstGeom prst="rect">
            <a:avLst/>
          </a:prstGeom>
        </p:spPr>
      </p:pic>
      <p:sp>
        <p:nvSpPr>
          <p:cNvPr id="5" name="TextBox 4">
            <a:extLst>
              <a:ext uri="{FF2B5EF4-FFF2-40B4-BE49-F238E27FC236}">
                <a16:creationId xmlns:a16="http://schemas.microsoft.com/office/drawing/2014/main" id="{258832F8-38A7-40FF-AF90-CD64D30CE0CA}"/>
              </a:ext>
            </a:extLst>
          </p:cNvPr>
          <p:cNvSpPr txBox="1"/>
          <p:nvPr/>
        </p:nvSpPr>
        <p:spPr>
          <a:xfrm>
            <a:off x="6019800" y="4736067"/>
            <a:ext cx="1954381" cy="369332"/>
          </a:xfrm>
          <a:prstGeom prst="rect">
            <a:avLst/>
          </a:prstGeom>
          <a:noFill/>
        </p:spPr>
        <p:txBody>
          <a:bodyPr wrap="none" rtlCol="0">
            <a:spAutoFit/>
          </a:bodyPr>
          <a:lstStyle/>
          <a:p>
            <a:r>
              <a:rPr lang="en-IN" dirty="0"/>
              <a:t>Log base 2 of 8 is 3</a:t>
            </a:r>
          </a:p>
        </p:txBody>
      </p:sp>
    </p:spTree>
    <p:extLst>
      <p:ext uri="{BB962C8B-B14F-4D97-AF65-F5344CB8AC3E}">
        <p14:creationId xmlns:p14="http://schemas.microsoft.com/office/powerpoint/2010/main" val="2945683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Logarithms</a:t>
            </a:r>
          </a:p>
        </p:txBody>
      </p:sp>
      <p:sp>
        <p:nvSpPr>
          <p:cNvPr id="3" name="Content Placeholder 2"/>
          <p:cNvSpPr>
            <a:spLocks noGrp="1"/>
          </p:cNvSpPr>
          <p:nvPr>
            <p:ph idx="1"/>
          </p:nvPr>
        </p:nvSpPr>
        <p:spPr/>
        <p:txBody>
          <a:bodyPr>
            <a:normAutofit/>
          </a:bodyPr>
          <a:lstStyle/>
          <a:p>
            <a:r>
              <a:rPr lang="en-IN" dirty="0"/>
              <a:t>2 raised to which power equals  16?</a:t>
            </a:r>
          </a:p>
          <a:p>
            <a:pPr marL="0" indent="0">
              <a:buNone/>
            </a:pPr>
            <a:r>
              <a:rPr lang="en-IN" dirty="0"/>
              <a:t>The answer would be 4</a:t>
            </a:r>
          </a:p>
          <a:p>
            <a:endParaRPr lang="en-IN" dirty="0"/>
          </a:p>
          <a:p>
            <a:r>
              <a:rPr lang="en-IN" dirty="0"/>
              <a:t> This is expressed by the </a:t>
            </a:r>
            <a:r>
              <a:rPr lang="en-IN" b="1" dirty="0"/>
              <a:t>logarithmic</a:t>
            </a:r>
            <a:r>
              <a:rPr lang="en-IN" dirty="0"/>
              <a:t> equation log2​(16)=4</a:t>
            </a:r>
          </a:p>
          <a:p>
            <a:pPr marL="0" indent="0">
              <a:buNone/>
            </a:pPr>
            <a:r>
              <a:rPr lang="en-IN" dirty="0"/>
              <a:t>"log base two of sixteen is four</a:t>
            </a:r>
          </a:p>
        </p:txBody>
      </p:sp>
    </p:spTree>
    <p:extLst>
      <p:ext uri="{BB962C8B-B14F-4D97-AF65-F5344CB8AC3E}">
        <p14:creationId xmlns:p14="http://schemas.microsoft.com/office/powerpoint/2010/main" val="291291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asics of Logarithms Part 1 Motivation and How to Read Notation ...">
            <a:extLst>
              <a:ext uri="{FF2B5EF4-FFF2-40B4-BE49-F238E27FC236}">
                <a16:creationId xmlns:a16="http://schemas.microsoft.com/office/drawing/2014/main" id="{950E1F15-F83B-47AA-80AA-949C95621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6803572"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94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lated image">
            <a:extLst>
              <a:ext uri="{FF2B5EF4-FFF2-40B4-BE49-F238E27FC236}">
                <a16:creationId xmlns:a16="http://schemas.microsoft.com/office/drawing/2014/main" id="{F3E79D26-D0BA-47BB-9D2D-846F17C44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646237"/>
            <a:ext cx="2828925" cy="32305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19C381-B17C-407A-90DB-5EB4FB5A6EC7}"/>
              </a:ext>
            </a:extLst>
          </p:cNvPr>
          <p:cNvSpPr txBox="1"/>
          <p:nvPr/>
        </p:nvSpPr>
        <p:spPr>
          <a:xfrm>
            <a:off x="1828800" y="457200"/>
            <a:ext cx="4879990" cy="646331"/>
          </a:xfrm>
          <a:prstGeom prst="rect">
            <a:avLst/>
          </a:prstGeom>
          <a:noFill/>
        </p:spPr>
        <p:txBody>
          <a:bodyPr wrap="none" rtlCol="0">
            <a:spAutoFit/>
          </a:bodyPr>
          <a:lstStyle/>
          <a:p>
            <a:r>
              <a:rPr lang="en-IN" sz="3600" dirty="0"/>
              <a:t>Some basic Log Formulas</a:t>
            </a:r>
          </a:p>
        </p:txBody>
      </p:sp>
    </p:spTree>
    <p:extLst>
      <p:ext uri="{BB962C8B-B14F-4D97-AF65-F5344CB8AC3E}">
        <p14:creationId xmlns:p14="http://schemas.microsoft.com/office/powerpoint/2010/main" val="2582600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TotalTime>
  <Words>406</Words>
  <Application>Microsoft Office PowerPoint</Application>
  <PresentationFormat>On-screen Show (4:3)</PresentationFormat>
  <Paragraphs>38</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vt:lpstr>
      <vt:lpstr>Calibri</vt:lpstr>
      <vt:lpstr>Roboto</vt:lpstr>
      <vt:lpstr>Office Theme</vt:lpstr>
      <vt:lpstr>Explain Log and Exp</vt:lpstr>
      <vt:lpstr>PowerPoint Presentation</vt:lpstr>
      <vt:lpstr>PowerPoint Presentation</vt:lpstr>
      <vt:lpstr>Logarithmic-Exponential</vt:lpstr>
      <vt:lpstr>Logarithms</vt:lpstr>
      <vt:lpstr>Why Logarithms</vt:lpstr>
      <vt:lpstr>What is E in log? </vt:lpstr>
      <vt:lpstr>Logarithms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 Log and Exp</dc:title>
  <dc:creator>HP</dc:creator>
  <cp:lastModifiedBy>Arun kumar Nair</cp:lastModifiedBy>
  <cp:revision>28</cp:revision>
  <dcterms:created xsi:type="dcterms:W3CDTF">2006-08-16T00:00:00Z</dcterms:created>
  <dcterms:modified xsi:type="dcterms:W3CDTF">2021-07-02T06:52:05Z</dcterms:modified>
</cp:coreProperties>
</file>