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2" d="100"/>
          <a:sy n="102" d="100"/>
        </p:scale>
        <p:origin x="-444" y="2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F4778"/>
                </a:solidFill>
                <a:latin typeface="Cambria Math"/>
                <a:cs typeface="Cambria Math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F4778"/>
                </a:solidFill>
                <a:latin typeface="Cambria Math"/>
                <a:cs typeface="Cambria Math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F4778"/>
                </a:solidFill>
                <a:latin typeface="Cambria Math"/>
                <a:cs typeface="Cambria Math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F4778"/>
                </a:solidFill>
                <a:latin typeface="Cambria Math"/>
                <a:cs typeface="Cambria Math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F4778"/>
                </a:solidFill>
                <a:latin typeface="Cambria Math"/>
                <a:cs typeface="Cambria Math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524"/>
            <a:ext cx="9143999" cy="10462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9144000" cy="979169"/>
          </a:xfrm>
          <a:custGeom>
            <a:avLst/>
            <a:gdLst/>
            <a:ahLst/>
            <a:cxnLst/>
            <a:rect l="l" t="t" r="r" b="b"/>
            <a:pathLst>
              <a:path w="9144000" h="979169">
                <a:moveTo>
                  <a:pt x="0" y="978789"/>
                </a:moveTo>
                <a:lnTo>
                  <a:pt x="9144000" y="978789"/>
                </a:lnTo>
                <a:lnTo>
                  <a:pt x="9144000" y="0"/>
                </a:lnTo>
                <a:lnTo>
                  <a:pt x="0" y="0"/>
                </a:lnTo>
                <a:lnTo>
                  <a:pt x="0" y="978789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748277" y="234235"/>
            <a:ext cx="5647690" cy="510540"/>
          </a:xfrm>
          <a:custGeom>
            <a:avLst/>
            <a:gdLst/>
            <a:ahLst/>
            <a:cxnLst/>
            <a:rect l="l" t="t" r="r" b="b"/>
            <a:pathLst>
              <a:path w="5647690" h="510540">
                <a:moveTo>
                  <a:pt x="0" y="510360"/>
                </a:moveTo>
                <a:lnTo>
                  <a:pt x="5647456" y="510360"/>
                </a:lnTo>
                <a:lnTo>
                  <a:pt x="5647456" y="0"/>
                </a:lnTo>
                <a:lnTo>
                  <a:pt x="0" y="0"/>
                </a:lnTo>
                <a:lnTo>
                  <a:pt x="0" y="51036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2463" y="219960"/>
            <a:ext cx="3704590" cy="831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1696" y="1010221"/>
            <a:ext cx="4869180" cy="1739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799587" y="4812489"/>
            <a:ext cx="104775" cy="193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5F4778"/>
                </a:solidFill>
                <a:latin typeface="Cambria Math"/>
                <a:cs typeface="Cambria Math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intellipaat.com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://www.intellipaat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hyperlink" Target="http://www.intellipaat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://www.intellipaat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intellipaat.com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ntellipaat.com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www.intellipaat.com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intellipaat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://www.intellipaat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://www.intellipaat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ntellipaat.com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intellipaat.com/" TargetMode="Externa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ntellipaat.com/" TargetMode="External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hyperlink" Target="http://www.intellipaat.com/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6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6.png"/><Relationship Id="rId9" Type="http://schemas.openxmlformats.org/officeDocument/2006/relationships/image" Target="../media/image39.png"/><Relationship Id="rId14" Type="http://schemas.openxmlformats.org/officeDocument/2006/relationships/hyperlink" Target="http://www.intellipaat.com/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6.png"/><Relationship Id="rId9" Type="http://schemas.openxmlformats.org/officeDocument/2006/relationships/image" Target="../media/image39.png"/><Relationship Id="rId14" Type="http://schemas.openxmlformats.org/officeDocument/2006/relationships/hyperlink" Target="http://www.intellipaat.co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intellipaat.com/" TargetMode="Externa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ntellipaat.com/" TargetMode="External"/><Relationship Id="rId5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www.intellipaat.com/" TargetMode="Externa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intellipaat.com/" TargetMode="Externa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intellipaat.com/" TargetMode="Externa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ntellipaat.com/" TargetMode="External"/><Relationship Id="rId5" Type="http://schemas.openxmlformats.org/officeDocument/2006/relationships/image" Target="../media/image45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intellipaat.com/" TargetMode="Externa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tellipaat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intellipaat.com/" TargetMode="External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intellipaat.com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hyperlink" Target="http://www.intellipaat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5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hyperlink" Target="http://www.intellipaat.com/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intellipaat.com/" TargetMode="External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intellipaat.com/" TargetMode="External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intellipaat.com/" TargetMode="External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intellipaat.com/" TargetMode="External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intellipaat.com/" TargetMode="External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intellipaat.com/" TargetMode="External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intellipaat.com/" TargetMode="External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10" Type="http://schemas.openxmlformats.org/officeDocument/2006/relationships/hyperlink" Target="http://www.intellipaat.com/" TargetMode="External"/><Relationship Id="rId4" Type="http://schemas.openxmlformats.org/officeDocument/2006/relationships/image" Target="../media/image51.png"/><Relationship Id="rId9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10" Type="http://schemas.openxmlformats.org/officeDocument/2006/relationships/hyperlink" Target="http://www.intellipaat.com/" TargetMode="External"/><Relationship Id="rId4" Type="http://schemas.openxmlformats.org/officeDocument/2006/relationships/image" Target="../media/image51.png"/><Relationship Id="rId9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hyperlink" Target="http://www.intellipaat.com/" TargetMode="Externa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hyperlink" Target="http://www.intellipaat.com/" TargetMode="External"/><Relationship Id="rId2" Type="http://schemas.openxmlformats.org/officeDocument/2006/relationships/image" Target="../media/image3.png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hyperlink" Target="http://www.intellipaat.com/" TargetMode="External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5.png"/><Relationship Id="rId2" Type="http://schemas.openxmlformats.org/officeDocument/2006/relationships/image" Target="../media/image3.png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intellipaat.com/" TargetMode="External"/><Relationship Id="rId4" Type="http://schemas.openxmlformats.org/officeDocument/2006/relationships/image" Target="../media/image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hyperlink" Target="http://www.intellipaat.com/" TargetMode="External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6.png"/><Relationship Id="rId2" Type="http://schemas.openxmlformats.org/officeDocument/2006/relationships/image" Target="../media/image3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4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74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hyperlink" Target="http://www.intellipaat.com/" TargetMode="External"/><Relationship Id="rId2" Type="http://schemas.openxmlformats.org/officeDocument/2006/relationships/image" Target="../media/image3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74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hyperlink" Target="http://www.intellipaat.com/" TargetMode="External"/><Relationship Id="rId2" Type="http://schemas.openxmlformats.org/officeDocument/2006/relationships/image" Target="../media/image3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74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hyperlink" Target="http://www.intellipaat.com/" TargetMode="External"/><Relationship Id="rId2" Type="http://schemas.openxmlformats.org/officeDocument/2006/relationships/image" Target="../media/image3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74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hyperlink" Target="http://www.intellipaat.com/" TargetMode="External"/><Relationship Id="rId2" Type="http://schemas.openxmlformats.org/officeDocument/2006/relationships/image" Target="../media/image3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74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hyperlink" Target="http://www.intellipaat.com/" TargetMode="External"/><Relationship Id="rId2" Type="http://schemas.openxmlformats.org/officeDocument/2006/relationships/image" Target="../media/image3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74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hyperlink" Target="http://www.intellipaat.com/" TargetMode="External"/><Relationship Id="rId2" Type="http://schemas.openxmlformats.org/officeDocument/2006/relationships/image" Target="../media/image3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74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hyperlink" Target="http://www.intellipaat.com/" TargetMode="External"/><Relationship Id="rId2" Type="http://schemas.openxmlformats.org/officeDocument/2006/relationships/image" Target="../media/image3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hyperlink" Target="http://www.intellipaat.com/" TargetMode="External"/><Relationship Id="rId2" Type="http://schemas.openxmlformats.org/officeDocument/2006/relationships/image" Target="../media/image3.png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7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hyperlink" Target="http://www.intellipaat.com/" TargetMode="External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5.png"/><Relationship Id="rId2" Type="http://schemas.openxmlformats.org/officeDocument/2006/relationships/image" Target="../media/image3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7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80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3.png"/><Relationship Id="rId16" Type="http://schemas.openxmlformats.org/officeDocument/2006/relationships/hyperlink" Target="http://www.intellipaa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84.png"/><Relationship Id="rId12" Type="http://schemas.openxmlformats.org/officeDocument/2006/relationships/image" Target="../media/image68.png"/><Relationship Id="rId2" Type="http://schemas.openxmlformats.org/officeDocument/2006/relationships/image" Target="../media/image3.png"/><Relationship Id="rId16" Type="http://schemas.openxmlformats.org/officeDocument/2006/relationships/hyperlink" Target="http://www.intellipaa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67.png"/><Relationship Id="rId5" Type="http://schemas.openxmlformats.org/officeDocument/2006/relationships/image" Target="../media/image82.png"/><Relationship Id="rId15" Type="http://schemas.openxmlformats.org/officeDocument/2006/relationships/image" Target="../media/image80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86.png"/><Relationship Id="rId14" Type="http://schemas.openxmlformats.org/officeDocument/2006/relationships/image" Target="../media/image70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59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image" Target="../media/image3.png"/><Relationship Id="rId16" Type="http://schemas.openxmlformats.org/officeDocument/2006/relationships/hyperlink" Target="http://www.intellipaa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4" Type="http://schemas.openxmlformats.org/officeDocument/2006/relationships/image" Target="../media/image60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8.jpg"/><Relationship Id="rId7" Type="http://schemas.openxmlformats.org/officeDocument/2006/relationships/image" Target="../media/image101.png"/><Relationship Id="rId2" Type="http://schemas.openxmlformats.org/officeDocument/2006/relationships/hyperlink" Target="http://www.intellipaa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jpg"/><Relationship Id="rId5" Type="http://schemas.openxmlformats.org/officeDocument/2006/relationships/hyperlink" Target="mailto:sales@intellipaat.com" TargetMode="External"/><Relationship Id="rId4" Type="http://schemas.openxmlformats.org/officeDocument/2006/relationships/image" Target="../media/image99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1207" y="4963810"/>
            <a:ext cx="123317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75"/>
              </a:lnSpc>
            </a:pPr>
            <a:r>
              <a:rPr sz="950" b="1" spc="8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www</a:t>
            </a:r>
            <a:r>
              <a:rPr sz="950" b="1" spc="3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.i</a:t>
            </a:r>
            <a:r>
              <a:rPr sz="950" b="1" spc="1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n</a:t>
            </a:r>
            <a:r>
              <a:rPr sz="950" b="1" spc="-2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t</a:t>
            </a:r>
            <a:r>
              <a:rPr sz="950" b="1" spc="7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e</a:t>
            </a:r>
            <a:r>
              <a:rPr sz="950" b="1" spc="3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ll</a:t>
            </a:r>
            <a:r>
              <a:rPr sz="950" b="1" spc="-4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i</a:t>
            </a:r>
            <a:r>
              <a:rPr sz="950" b="1" spc="1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p</a:t>
            </a:r>
            <a:r>
              <a:rPr sz="950" b="1" spc="7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a</a:t>
            </a:r>
            <a:r>
              <a:rPr sz="950" b="1" spc="-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a</a:t>
            </a:r>
            <a:r>
              <a:rPr sz="950" b="1" spc="-2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t</a:t>
            </a:r>
            <a:r>
              <a:rPr sz="950" b="1" spc="3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.</a:t>
            </a:r>
            <a:r>
              <a:rPr sz="950" b="1" spc="-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c</a:t>
            </a:r>
            <a:r>
              <a:rPr sz="950" b="1" spc="2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om</a:t>
            </a:r>
            <a:endParaRPr sz="9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270635"/>
          </a:xfrm>
          <a:custGeom>
            <a:avLst/>
            <a:gdLst/>
            <a:ahLst/>
            <a:cxnLst/>
            <a:rect l="l" t="t" r="r" b="b"/>
            <a:pathLst>
              <a:path w="9144000" h="1270635">
                <a:moveTo>
                  <a:pt x="0" y="1270598"/>
                </a:moveTo>
                <a:lnTo>
                  <a:pt x="9144000" y="1270598"/>
                </a:lnTo>
                <a:lnTo>
                  <a:pt x="9144000" y="0"/>
                </a:lnTo>
                <a:lnTo>
                  <a:pt x="0" y="0"/>
                </a:lnTo>
                <a:lnTo>
                  <a:pt x="0" y="1270598"/>
                </a:lnTo>
                <a:close/>
              </a:path>
            </a:pathLst>
          </a:custGeom>
          <a:solidFill>
            <a:srgbClr val="F0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164079"/>
            <a:ext cx="9144000" cy="2979420"/>
          </a:xfrm>
          <a:custGeom>
            <a:avLst/>
            <a:gdLst/>
            <a:ahLst/>
            <a:cxnLst/>
            <a:rect l="l" t="t" r="r" b="b"/>
            <a:pathLst>
              <a:path w="9144000" h="2979420">
                <a:moveTo>
                  <a:pt x="0" y="2979420"/>
                </a:moveTo>
                <a:lnTo>
                  <a:pt x="9144000" y="2979420"/>
                </a:lnTo>
                <a:lnTo>
                  <a:pt x="9144000" y="0"/>
                </a:lnTo>
                <a:lnTo>
                  <a:pt x="0" y="0"/>
                </a:lnTo>
                <a:lnTo>
                  <a:pt x="0" y="2979420"/>
                </a:lnTo>
                <a:close/>
              </a:path>
            </a:pathLst>
          </a:custGeom>
          <a:solidFill>
            <a:srgbClr val="F0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270598"/>
            <a:ext cx="9144000" cy="894080"/>
          </a:xfrm>
          <a:custGeom>
            <a:avLst/>
            <a:gdLst/>
            <a:ahLst/>
            <a:cxnLst/>
            <a:rect l="l" t="t" r="r" b="b"/>
            <a:pathLst>
              <a:path w="9144000" h="894080">
                <a:moveTo>
                  <a:pt x="0" y="893481"/>
                </a:moveTo>
                <a:lnTo>
                  <a:pt x="9144000" y="893481"/>
                </a:lnTo>
                <a:lnTo>
                  <a:pt x="9144000" y="0"/>
                </a:lnTo>
                <a:lnTo>
                  <a:pt x="0" y="0"/>
                </a:lnTo>
                <a:lnTo>
                  <a:pt x="0" y="89348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99846" y="1347149"/>
            <a:ext cx="655891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>
                <a:latin typeface="Calibri"/>
                <a:cs typeface="Calibri"/>
              </a:rPr>
              <a:t>Linear Regression </a:t>
            </a:r>
            <a:r>
              <a:rPr sz="3950" spc="-5" dirty="0">
                <a:latin typeface="Calibri"/>
                <a:cs typeface="Calibri"/>
              </a:rPr>
              <a:t>using</a:t>
            </a:r>
            <a:r>
              <a:rPr sz="3950" spc="300" dirty="0">
                <a:latin typeface="Calibri"/>
                <a:cs typeface="Calibri"/>
              </a:rPr>
              <a:t> </a:t>
            </a:r>
            <a:r>
              <a:rPr sz="3950" spc="5" dirty="0">
                <a:latin typeface="Calibri"/>
                <a:cs typeface="Calibri"/>
              </a:rPr>
              <a:t>Python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2497747"/>
            <a:ext cx="3629649" cy="26457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619564"/>
            <a:ext cx="3545204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R="502284">
              <a:lnSpc>
                <a:spcPts val="4360"/>
              </a:lnSpc>
              <a:spcBef>
                <a:spcPts val="595"/>
              </a:spcBef>
            </a:pP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is 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39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18199" y="692971"/>
            <a:ext cx="4847590" cy="1314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5750">
              <a:lnSpc>
                <a:spcPct val="152100"/>
              </a:lnSpc>
              <a:spcBef>
                <a:spcPts val="95"/>
              </a:spcBef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A </a:t>
            </a:r>
            <a:r>
              <a:rPr sz="1400" dirty="0">
                <a:solidFill>
                  <a:srgbClr val="535353"/>
                </a:solidFill>
                <a:latin typeface="Arial"/>
                <a:cs typeface="Arial"/>
              </a:rPr>
              <a:t>technique </a:t>
            </a:r>
            <a:r>
              <a:rPr sz="1400" spc="25" dirty="0">
                <a:solidFill>
                  <a:srgbClr val="535353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35353"/>
                </a:solidFill>
                <a:latin typeface="Arial"/>
                <a:cs typeface="Arial"/>
              </a:rPr>
              <a:t>finding </a:t>
            </a:r>
            <a:r>
              <a:rPr sz="1400" spc="-15" dirty="0">
                <a:solidFill>
                  <a:srgbClr val="535353"/>
                </a:solidFill>
                <a:latin typeface="Arial"/>
                <a:cs typeface="Arial"/>
              </a:rPr>
              <a:t>the </a:t>
            </a:r>
            <a:r>
              <a:rPr sz="1400" spc="-5" dirty="0">
                <a:solidFill>
                  <a:srgbClr val="535353"/>
                </a:solidFill>
                <a:latin typeface="Arial"/>
                <a:cs typeface="Arial"/>
              </a:rPr>
              <a:t>relationship between </a:t>
            </a:r>
            <a:r>
              <a:rPr sz="1400" spc="-15" dirty="0">
                <a:solidFill>
                  <a:srgbClr val="535353"/>
                </a:solidFill>
                <a:latin typeface="Arial"/>
                <a:cs typeface="Arial"/>
              </a:rPr>
              <a:t>two </a:t>
            </a:r>
            <a:r>
              <a:rPr sz="1400" spc="40" dirty="0">
                <a:solidFill>
                  <a:srgbClr val="535353"/>
                </a:solidFill>
                <a:latin typeface="Arial"/>
                <a:cs typeface="Arial"/>
              </a:rPr>
              <a:t>or  </a:t>
            </a: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more</a:t>
            </a:r>
            <a:r>
              <a:rPr sz="1400" spc="-13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35353"/>
                </a:solidFill>
                <a:latin typeface="Arial"/>
                <a:cs typeface="Arial"/>
              </a:rPr>
              <a:t>variables</a:t>
            </a:r>
            <a:endParaRPr sz="1400">
              <a:latin typeface="Arial"/>
              <a:cs typeface="Arial"/>
            </a:endParaRPr>
          </a:p>
          <a:p>
            <a:pPr marL="298450" marR="6350" indent="-285750">
              <a:lnSpc>
                <a:spcPts val="2550"/>
              </a:lnSpc>
              <a:spcBef>
                <a:spcPts val="160"/>
              </a:spcBef>
              <a:buFont typeface="Wingdings"/>
              <a:buChar char=""/>
              <a:tabLst>
                <a:tab pos="298450" algn="l"/>
                <a:tab pos="299085" algn="l"/>
                <a:tab pos="1061085" algn="l"/>
                <a:tab pos="1328420" algn="l"/>
                <a:tab pos="2300605" algn="l"/>
                <a:tab pos="3054350" algn="l"/>
                <a:tab pos="3311525" algn="l"/>
                <a:tab pos="4293870" algn="l"/>
                <a:tab pos="4732020" algn="l"/>
              </a:tabLst>
            </a:pPr>
            <a:r>
              <a:rPr sz="1400" spc="30" dirty="0">
                <a:solidFill>
                  <a:srgbClr val="535353"/>
                </a:solidFill>
                <a:latin typeface="Arial"/>
                <a:cs typeface="Arial"/>
              </a:rPr>
              <a:t>C</a:t>
            </a:r>
            <a:r>
              <a:rPr sz="1400" spc="-30" dirty="0">
                <a:solidFill>
                  <a:srgbClr val="535353"/>
                </a:solidFill>
                <a:latin typeface="Arial"/>
                <a:cs typeface="Arial"/>
              </a:rPr>
              <a:t>han</a:t>
            </a:r>
            <a:r>
              <a:rPr sz="1400" spc="40" dirty="0">
                <a:solidFill>
                  <a:srgbClr val="535353"/>
                </a:solidFill>
                <a:latin typeface="Arial"/>
                <a:cs typeface="Arial"/>
              </a:rPr>
              <a:t>g</a:t>
            </a: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e</a:t>
            </a:r>
            <a:r>
              <a:rPr sz="140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400" spc="-15" dirty="0">
                <a:solidFill>
                  <a:srgbClr val="535353"/>
                </a:solidFill>
                <a:latin typeface="Arial"/>
                <a:cs typeface="Arial"/>
              </a:rPr>
              <a:t>i</a:t>
            </a: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n</a:t>
            </a:r>
            <a:r>
              <a:rPr sz="140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400" spc="-30" dirty="0">
                <a:solidFill>
                  <a:srgbClr val="535353"/>
                </a:solidFill>
                <a:latin typeface="Arial"/>
                <a:cs typeface="Arial"/>
              </a:rPr>
              <a:t>de</a:t>
            </a:r>
            <a:r>
              <a:rPr sz="1400" spc="40" dirty="0">
                <a:solidFill>
                  <a:srgbClr val="535353"/>
                </a:solidFill>
                <a:latin typeface="Arial"/>
                <a:cs typeface="Arial"/>
              </a:rPr>
              <a:t>pe</a:t>
            </a:r>
            <a:r>
              <a:rPr sz="1400" spc="-105" dirty="0">
                <a:solidFill>
                  <a:srgbClr val="535353"/>
                </a:solidFill>
                <a:latin typeface="Arial"/>
                <a:cs typeface="Arial"/>
              </a:rPr>
              <a:t>n</a:t>
            </a:r>
            <a:r>
              <a:rPr sz="1400" spc="40" dirty="0">
                <a:solidFill>
                  <a:srgbClr val="535353"/>
                </a:solidFill>
                <a:latin typeface="Arial"/>
                <a:cs typeface="Arial"/>
              </a:rPr>
              <a:t>de</a:t>
            </a:r>
            <a:r>
              <a:rPr sz="1400" spc="-30" dirty="0">
                <a:solidFill>
                  <a:srgbClr val="535353"/>
                </a:solidFill>
                <a:latin typeface="Arial"/>
                <a:cs typeface="Arial"/>
              </a:rPr>
              <a:t>n</a:t>
            </a:r>
            <a:r>
              <a:rPr sz="1400" spc="5" dirty="0">
                <a:solidFill>
                  <a:srgbClr val="535353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400" spc="-30" dirty="0">
                <a:solidFill>
                  <a:srgbClr val="535353"/>
                </a:solidFill>
                <a:latin typeface="Arial"/>
                <a:cs typeface="Arial"/>
              </a:rPr>
              <a:t>va</a:t>
            </a:r>
            <a:r>
              <a:rPr sz="1400" spc="-25" dirty="0">
                <a:solidFill>
                  <a:srgbClr val="535353"/>
                </a:solidFill>
                <a:latin typeface="Arial"/>
                <a:cs typeface="Arial"/>
              </a:rPr>
              <a:t>r</a:t>
            </a:r>
            <a:r>
              <a:rPr sz="1400" spc="-15" dirty="0">
                <a:solidFill>
                  <a:srgbClr val="535353"/>
                </a:solidFill>
                <a:latin typeface="Arial"/>
                <a:cs typeface="Arial"/>
              </a:rPr>
              <a:t>i</a:t>
            </a:r>
            <a:r>
              <a:rPr sz="1400" spc="-30" dirty="0">
                <a:solidFill>
                  <a:srgbClr val="535353"/>
                </a:solidFill>
                <a:latin typeface="Arial"/>
                <a:cs typeface="Arial"/>
              </a:rPr>
              <a:t>a</a:t>
            </a:r>
            <a:r>
              <a:rPr sz="1400" spc="40" dirty="0">
                <a:solidFill>
                  <a:srgbClr val="535353"/>
                </a:solidFill>
                <a:latin typeface="Arial"/>
                <a:cs typeface="Arial"/>
              </a:rPr>
              <a:t>b</a:t>
            </a:r>
            <a:r>
              <a:rPr sz="1400" spc="-15" dirty="0">
                <a:solidFill>
                  <a:srgbClr val="535353"/>
                </a:solidFill>
                <a:latin typeface="Arial"/>
                <a:cs typeface="Arial"/>
              </a:rPr>
              <a:t>l</a:t>
            </a: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e</a:t>
            </a:r>
            <a:r>
              <a:rPr sz="140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400" spc="-90" dirty="0">
                <a:solidFill>
                  <a:srgbClr val="535353"/>
                </a:solidFill>
                <a:latin typeface="Arial"/>
                <a:cs typeface="Arial"/>
              </a:rPr>
              <a:t>i</a:t>
            </a:r>
            <a:r>
              <a:rPr sz="1400" spc="10" dirty="0">
                <a:solidFill>
                  <a:srgbClr val="535353"/>
                </a:solidFill>
                <a:latin typeface="Arial"/>
                <a:cs typeface="Arial"/>
              </a:rPr>
              <a:t>s</a:t>
            </a:r>
            <a:r>
              <a:rPr sz="140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400" spc="-30" dirty="0">
                <a:solidFill>
                  <a:srgbClr val="535353"/>
                </a:solidFill>
                <a:latin typeface="Arial"/>
                <a:cs typeface="Arial"/>
              </a:rPr>
              <a:t>as</a:t>
            </a:r>
            <a:r>
              <a:rPr sz="1400" spc="40" dirty="0">
                <a:solidFill>
                  <a:srgbClr val="535353"/>
                </a:solidFill>
                <a:latin typeface="Arial"/>
                <a:cs typeface="Arial"/>
              </a:rPr>
              <a:t>s</a:t>
            </a:r>
            <a:r>
              <a:rPr sz="1400" spc="-30" dirty="0">
                <a:solidFill>
                  <a:srgbClr val="535353"/>
                </a:solidFill>
                <a:latin typeface="Arial"/>
                <a:cs typeface="Arial"/>
              </a:rPr>
              <a:t>o</a:t>
            </a:r>
            <a:r>
              <a:rPr sz="1400" spc="40" dirty="0">
                <a:solidFill>
                  <a:srgbClr val="535353"/>
                </a:solidFill>
                <a:latin typeface="Arial"/>
                <a:cs typeface="Arial"/>
              </a:rPr>
              <a:t>c</a:t>
            </a:r>
            <a:r>
              <a:rPr sz="1400" spc="-15" dirty="0">
                <a:solidFill>
                  <a:srgbClr val="535353"/>
                </a:solidFill>
                <a:latin typeface="Arial"/>
                <a:cs typeface="Arial"/>
              </a:rPr>
              <a:t>i</a:t>
            </a:r>
            <a:r>
              <a:rPr sz="1400" spc="-30" dirty="0">
                <a:solidFill>
                  <a:srgbClr val="535353"/>
                </a:solidFill>
                <a:latin typeface="Arial"/>
                <a:cs typeface="Arial"/>
              </a:rPr>
              <a:t>a</a:t>
            </a:r>
            <a:r>
              <a:rPr sz="1400" spc="-20" dirty="0">
                <a:solidFill>
                  <a:srgbClr val="535353"/>
                </a:solidFill>
                <a:latin typeface="Arial"/>
                <a:cs typeface="Arial"/>
              </a:rPr>
              <a:t>t</a:t>
            </a:r>
            <a:r>
              <a:rPr sz="1400" spc="-30" dirty="0">
                <a:solidFill>
                  <a:srgbClr val="535353"/>
                </a:solidFill>
                <a:latin typeface="Arial"/>
                <a:cs typeface="Arial"/>
              </a:rPr>
              <a:t>e</a:t>
            </a: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d</a:t>
            </a:r>
            <a:r>
              <a:rPr sz="140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400" spc="-45" dirty="0">
                <a:solidFill>
                  <a:srgbClr val="535353"/>
                </a:solidFill>
                <a:latin typeface="Arial"/>
                <a:cs typeface="Arial"/>
              </a:rPr>
              <a:t>w</a:t>
            </a:r>
            <a:r>
              <a:rPr sz="1400" spc="-15" dirty="0">
                <a:solidFill>
                  <a:srgbClr val="535353"/>
                </a:solidFill>
                <a:latin typeface="Arial"/>
                <a:cs typeface="Arial"/>
              </a:rPr>
              <a:t>i</a:t>
            </a:r>
            <a:r>
              <a:rPr sz="1400" spc="-20" dirty="0">
                <a:solidFill>
                  <a:srgbClr val="535353"/>
                </a:solidFill>
                <a:latin typeface="Arial"/>
                <a:cs typeface="Arial"/>
              </a:rPr>
              <a:t>t</a:t>
            </a: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h</a:t>
            </a:r>
            <a:r>
              <a:rPr sz="140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400" spc="10" dirty="0">
                <a:solidFill>
                  <a:srgbClr val="535353"/>
                </a:solidFill>
                <a:latin typeface="Arial"/>
                <a:cs typeface="Arial"/>
              </a:rPr>
              <a:t>a </a:t>
            </a:r>
            <a:r>
              <a:rPr sz="1400" spc="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35353"/>
                </a:solidFill>
                <a:latin typeface="Arial"/>
                <a:cs typeface="Arial"/>
              </a:rPr>
              <a:t>change</a:t>
            </a:r>
            <a:r>
              <a:rPr sz="1400" spc="-5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35353"/>
                </a:solidFill>
                <a:latin typeface="Arial"/>
                <a:cs typeface="Arial"/>
              </a:rPr>
              <a:t>in</a:t>
            </a: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535353"/>
                </a:solidFill>
                <a:latin typeface="Arial"/>
                <a:cs typeface="Arial"/>
              </a:rPr>
              <a:t>one</a:t>
            </a:r>
            <a:r>
              <a:rPr sz="1400" spc="-5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535353"/>
                </a:solidFill>
                <a:latin typeface="Arial"/>
                <a:cs typeface="Arial"/>
              </a:rPr>
              <a:t>or</a:t>
            </a:r>
            <a:r>
              <a:rPr sz="1400" spc="-4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more</a:t>
            </a:r>
            <a:r>
              <a:rPr sz="1400" spc="-13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35353"/>
                </a:solidFill>
                <a:latin typeface="Arial"/>
                <a:cs typeface="Arial"/>
              </a:rPr>
              <a:t>independent</a:t>
            </a:r>
            <a:r>
              <a:rPr sz="1400" spc="-17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35353"/>
                </a:solidFill>
                <a:latin typeface="Arial"/>
                <a:cs typeface="Arial"/>
              </a:rPr>
              <a:t>variables.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57759" y="2333625"/>
            <a:ext cx="3743340" cy="255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10200" y="2334018"/>
            <a:ext cx="3421898" cy="22288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619564"/>
            <a:ext cx="3545204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R="502284">
              <a:lnSpc>
                <a:spcPts val="4360"/>
              </a:lnSpc>
              <a:spcBef>
                <a:spcPts val="595"/>
              </a:spcBef>
            </a:pP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is 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39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4712" y="694107"/>
            <a:ext cx="4885690" cy="675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2100"/>
              </a:lnSpc>
              <a:spcBef>
                <a:spcPts val="95"/>
              </a:spcBef>
              <a:tabLst>
                <a:tab pos="1299845" algn="l"/>
                <a:tab pos="2415540" algn="l"/>
                <a:tab pos="3597275" algn="l"/>
                <a:tab pos="3969385" algn="l"/>
              </a:tabLst>
            </a:pPr>
            <a:r>
              <a:rPr sz="1400" b="0" spc="30" dirty="0">
                <a:solidFill>
                  <a:srgbClr val="535353"/>
                </a:solidFill>
                <a:latin typeface="Arial"/>
                <a:cs typeface="Arial"/>
              </a:rPr>
              <a:t>R</a:t>
            </a:r>
            <a:r>
              <a:rPr sz="1400" b="0" spc="-30" dirty="0">
                <a:solidFill>
                  <a:srgbClr val="535353"/>
                </a:solidFill>
                <a:latin typeface="Arial"/>
                <a:cs typeface="Arial"/>
              </a:rPr>
              <a:t>e</a:t>
            </a:r>
            <a:r>
              <a:rPr sz="1400" b="0" spc="45" dirty="0">
                <a:solidFill>
                  <a:srgbClr val="535353"/>
                </a:solidFill>
                <a:latin typeface="Arial"/>
                <a:cs typeface="Arial"/>
              </a:rPr>
              <a:t>g</a:t>
            </a:r>
            <a:r>
              <a:rPr sz="1400" b="0" spc="-20" dirty="0">
                <a:solidFill>
                  <a:srgbClr val="535353"/>
                </a:solidFill>
                <a:latin typeface="Arial"/>
                <a:cs typeface="Arial"/>
              </a:rPr>
              <a:t>r</a:t>
            </a:r>
            <a:r>
              <a:rPr sz="1400" b="0" spc="-30" dirty="0">
                <a:solidFill>
                  <a:srgbClr val="535353"/>
                </a:solidFill>
                <a:latin typeface="Arial"/>
                <a:cs typeface="Arial"/>
              </a:rPr>
              <a:t>es</a:t>
            </a:r>
            <a:r>
              <a:rPr sz="1400" b="0" spc="45" dirty="0">
                <a:solidFill>
                  <a:srgbClr val="535353"/>
                </a:solidFill>
                <a:latin typeface="Arial"/>
                <a:cs typeface="Arial"/>
              </a:rPr>
              <a:t>s</a:t>
            </a:r>
            <a:r>
              <a:rPr sz="1400" b="0" spc="-15" dirty="0">
                <a:solidFill>
                  <a:srgbClr val="535353"/>
                </a:solidFill>
                <a:latin typeface="Arial"/>
                <a:cs typeface="Arial"/>
              </a:rPr>
              <a:t>i</a:t>
            </a:r>
            <a:r>
              <a:rPr sz="1400" b="0" spc="45" dirty="0">
                <a:solidFill>
                  <a:srgbClr val="535353"/>
                </a:solidFill>
                <a:latin typeface="Arial"/>
                <a:cs typeface="Arial"/>
              </a:rPr>
              <a:t>o</a:t>
            </a:r>
            <a:r>
              <a:rPr sz="1400" b="0" spc="15" dirty="0">
                <a:solidFill>
                  <a:srgbClr val="535353"/>
                </a:solidFill>
                <a:latin typeface="Arial"/>
                <a:cs typeface="Arial"/>
              </a:rPr>
              <a:t>n</a:t>
            </a:r>
            <a:r>
              <a:rPr sz="1400" b="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1400" b="0" spc="-1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1400" b="0" spc="-15" dirty="0">
                <a:solidFill>
                  <a:srgbClr val="535353"/>
                </a:solidFill>
                <a:latin typeface="Arial"/>
                <a:cs typeface="Arial"/>
              </a:rPr>
              <a:t>i</a:t>
            </a:r>
            <a:r>
              <a:rPr sz="1400" b="0" spc="10" dirty="0">
                <a:solidFill>
                  <a:srgbClr val="535353"/>
                </a:solidFill>
                <a:latin typeface="Arial"/>
                <a:cs typeface="Arial"/>
              </a:rPr>
              <a:t>s</a:t>
            </a:r>
            <a:r>
              <a:rPr sz="1400" b="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400" b="0" spc="15" dirty="0">
                <a:solidFill>
                  <a:srgbClr val="535353"/>
                </a:solidFill>
                <a:latin typeface="Arial"/>
                <a:cs typeface="Arial"/>
              </a:rPr>
              <a:t>a</a:t>
            </a:r>
            <a:r>
              <a:rPr sz="1400" b="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1400" b="0" spc="-12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1400" b="0" spc="-95" dirty="0">
                <a:solidFill>
                  <a:srgbClr val="535353"/>
                </a:solidFill>
                <a:latin typeface="Arial"/>
                <a:cs typeface="Arial"/>
              </a:rPr>
              <a:t>t</a:t>
            </a:r>
            <a:r>
              <a:rPr sz="1400" b="0" spc="45" dirty="0">
                <a:solidFill>
                  <a:srgbClr val="535353"/>
                </a:solidFill>
                <a:latin typeface="Arial"/>
                <a:cs typeface="Arial"/>
              </a:rPr>
              <a:t>ec</a:t>
            </a:r>
            <a:r>
              <a:rPr sz="1400" b="0" spc="-30" dirty="0">
                <a:solidFill>
                  <a:srgbClr val="535353"/>
                </a:solidFill>
                <a:latin typeface="Arial"/>
                <a:cs typeface="Arial"/>
              </a:rPr>
              <a:t>hn</a:t>
            </a:r>
            <a:r>
              <a:rPr sz="1400" b="0" spc="-15" dirty="0">
                <a:solidFill>
                  <a:srgbClr val="535353"/>
                </a:solidFill>
                <a:latin typeface="Arial"/>
                <a:cs typeface="Arial"/>
              </a:rPr>
              <a:t>i</a:t>
            </a:r>
            <a:r>
              <a:rPr sz="1400" b="0" spc="45" dirty="0">
                <a:solidFill>
                  <a:srgbClr val="535353"/>
                </a:solidFill>
                <a:latin typeface="Arial"/>
                <a:cs typeface="Arial"/>
              </a:rPr>
              <a:t>q</a:t>
            </a:r>
            <a:r>
              <a:rPr sz="1400" b="0" spc="-30" dirty="0">
                <a:solidFill>
                  <a:srgbClr val="535353"/>
                </a:solidFill>
                <a:latin typeface="Arial"/>
                <a:cs typeface="Arial"/>
              </a:rPr>
              <a:t>u</a:t>
            </a:r>
            <a:r>
              <a:rPr sz="1400" b="0" spc="15" dirty="0">
                <a:solidFill>
                  <a:srgbClr val="535353"/>
                </a:solidFill>
                <a:latin typeface="Arial"/>
                <a:cs typeface="Arial"/>
              </a:rPr>
              <a:t>e</a:t>
            </a:r>
            <a:r>
              <a:rPr sz="1400" b="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400" b="0" spc="-15" dirty="0">
                <a:solidFill>
                  <a:srgbClr val="535353"/>
                </a:solidFill>
                <a:latin typeface="Arial"/>
                <a:cs typeface="Arial"/>
              </a:rPr>
              <a:t>t</a:t>
            </a:r>
            <a:r>
              <a:rPr sz="1400" b="0" spc="-30" dirty="0">
                <a:solidFill>
                  <a:srgbClr val="535353"/>
                </a:solidFill>
                <a:latin typeface="Arial"/>
                <a:cs typeface="Arial"/>
              </a:rPr>
              <a:t>ha</a:t>
            </a:r>
            <a:r>
              <a:rPr sz="1400" b="0" spc="5" dirty="0">
                <a:solidFill>
                  <a:srgbClr val="535353"/>
                </a:solidFill>
                <a:latin typeface="Arial"/>
                <a:cs typeface="Arial"/>
              </a:rPr>
              <a:t>t</a:t>
            </a:r>
            <a:r>
              <a:rPr sz="1400" b="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1400" b="0" spc="-10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1400" b="0" spc="45" dirty="0">
                <a:solidFill>
                  <a:srgbClr val="535353"/>
                </a:solidFill>
                <a:latin typeface="Arial"/>
                <a:cs typeface="Arial"/>
              </a:rPr>
              <a:t>d</a:t>
            </a:r>
            <a:r>
              <a:rPr sz="1400" b="0" spc="-90" dirty="0">
                <a:solidFill>
                  <a:srgbClr val="535353"/>
                </a:solidFill>
                <a:latin typeface="Arial"/>
                <a:cs typeface="Arial"/>
              </a:rPr>
              <a:t>i</a:t>
            </a:r>
            <a:r>
              <a:rPr sz="1400" b="0" spc="45" dirty="0">
                <a:solidFill>
                  <a:srgbClr val="535353"/>
                </a:solidFill>
                <a:latin typeface="Arial"/>
                <a:cs typeface="Arial"/>
              </a:rPr>
              <a:t>sp</a:t>
            </a:r>
            <a:r>
              <a:rPr sz="1400" b="0" spc="-15" dirty="0">
                <a:solidFill>
                  <a:srgbClr val="535353"/>
                </a:solidFill>
                <a:latin typeface="Arial"/>
                <a:cs typeface="Arial"/>
              </a:rPr>
              <a:t>l</a:t>
            </a:r>
            <a:r>
              <a:rPr sz="1400" b="0" spc="-30" dirty="0">
                <a:solidFill>
                  <a:srgbClr val="535353"/>
                </a:solidFill>
                <a:latin typeface="Arial"/>
                <a:cs typeface="Arial"/>
              </a:rPr>
              <a:t>ay</a:t>
            </a:r>
            <a:r>
              <a:rPr sz="1400" b="0" spc="10" dirty="0">
                <a:solidFill>
                  <a:srgbClr val="535353"/>
                </a:solidFill>
                <a:latin typeface="Arial"/>
                <a:cs typeface="Arial"/>
              </a:rPr>
              <a:t>s</a:t>
            </a:r>
            <a:r>
              <a:rPr sz="1400" b="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400" b="0" spc="-15" dirty="0">
                <a:solidFill>
                  <a:srgbClr val="535353"/>
                </a:solidFill>
                <a:latin typeface="Arial"/>
                <a:cs typeface="Arial"/>
              </a:rPr>
              <a:t>t</a:t>
            </a:r>
            <a:r>
              <a:rPr sz="1400" b="0" spc="-30" dirty="0">
                <a:solidFill>
                  <a:srgbClr val="535353"/>
                </a:solidFill>
                <a:latin typeface="Arial"/>
                <a:cs typeface="Arial"/>
              </a:rPr>
              <a:t>h</a:t>
            </a:r>
            <a:r>
              <a:rPr sz="1400" b="0" spc="15" dirty="0">
                <a:solidFill>
                  <a:srgbClr val="535353"/>
                </a:solidFill>
                <a:latin typeface="Arial"/>
                <a:cs typeface="Arial"/>
              </a:rPr>
              <a:t>e</a:t>
            </a:r>
            <a:r>
              <a:rPr sz="1400" b="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400" b="0" spc="-95" dirty="0">
                <a:solidFill>
                  <a:srgbClr val="535353"/>
                </a:solidFill>
                <a:latin typeface="Arial"/>
                <a:cs typeface="Arial"/>
              </a:rPr>
              <a:t>r</a:t>
            </a:r>
            <a:r>
              <a:rPr sz="1400" b="0" spc="45" dirty="0">
                <a:solidFill>
                  <a:srgbClr val="535353"/>
                </a:solidFill>
                <a:latin typeface="Arial"/>
                <a:cs typeface="Arial"/>
              </a:rPr>
              <a:t>e</a:t>
            </a:r>
            <a:r>
              <a:rPr sz="1400" b="0" spc="-15" dirty="0">
                <a:solidFill>
                  <a:srgbClr val="535353"/>
                </a:solidFill>
                <a:latin typeface="Arial"/>
                <a:cs typeface="Arial"/>
              </a:rPr>
              <a:t>l</a:t>
            </a:r>
            <a:r>
              <a:rPr sz="1400" b="0" spc="-30" dirty="0">
                <a:solidFill>
                  <a:srgbClr val="535353"/>
                </a:solidFill>
                <a:latin typeface="Arial"/>
                <a:cs typeface="Arial"/>
              </a:rPr>
              <a:t>a</a:t>
            </a:r>
            <a:r>
              <a:rPr sz="1400" b="0" spc="-15" dirty="0">
                <a:solidFill>
                  <a:srgbClr val="535353"/>
                </a:solidFill>
                <a:latin typeface="Arial"/>
                <a:cs typeface="Arial"/>
              </a:rPr>
              <a:t>ti</a:t>
            </a:r>
            <a:r>
              <a:rPr sz="1400" b="0" spc="45" dirty="0">
                <a:solidFill>
                  <a:srgbClr val="535353"/>
                </a:solidFill>
                <a:latin typeface="Arial"/>
                <a:cs typeface="Arial"/>
              </a:rPr>
              <a:t>o</a:t>
            </a:r>
            <a:r>
              <a:rPr sz="1400" b="0" spc="-30" dirty="0">
                <a:solidFill>
                  <a:srgbClr val="535353"/>
                </a:solidFill>
                <a:latin typeface="Arial"/>
                <a:cs typeface="Arial"/>
              </a:rPr>
              <a:t>n</a:t>
            </a:r>
            <a:r>
              <a:rPr sz="1400" b="0" spc="45" dirty="0">
                <a:solidFill>
                  <a:srgbClr val="535353"/>
                </a:solidFill>
                <a:latin typeface="Arial"/>
                <a:cs typeface="Arial"/>
              </a:rPr>
              <a:t>s</a:t>
            </a:r>
            <a:r>
              <a:rPr sz="1400" b="0" spc="-30" dirty="0">
                <a:solidFill>
                  <a:srgbClr val="535353"/>
                </a:solidFill>
                <a:latin typeface="Arial"/>
                <a:cs typeface="Arial"/>
              </a:rPr>
              <a:t>h</a:t>
            </a:r>
            <a:r>
              <a:rPr sz="1400" b="0" spc="-15" dirty="0">
                <a:solidFill>
                  <a:srgbClr val="535353"/>
                </a:solidFill>
                <a:latin typeface="Arial"/>
                <a:cs typeface="Arial"/>
              </a:rPr>
              <a:t>i</a:t>
            </a:r>
            <a:r>
              <a:rPr sz="1400" b="0" spc="10" dirty="0">
                <a:solidFill>
                  <a:srgbClr val="535353"/>
                </a:solidFill>
                <a:latin typeface="Arial"/>
                <a:cs typeface="Arial"/>
              </a:rPr>
              <a:t>p </a:t>
            </a:r>
            <a:r>
              <a:rPr sz="1400" b="0" spc="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1400" b="0" spc="20" dirty="0">
                <a:solidFill>
                  <a:srgbClr val="535353"/>
                </a:solidFill>
                <a:latin typeface="Arial"/>
                <a:cs typeface="Arial"/>
              </a:rPr>
              <a:t>between</a:t>
            </a:r>
            <a:r>
              <a:rPr sz="1400" b="0" spc="-21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-10" dirty="0">
                <a:solidFill>
                  <a:srgbClr val="535353"/>
                </a:solidFill>
                <a:latin typeface="Arial"/>
                <a:cs typeface="Arial"/>
              </a:rPr>
              <a:t>variable</a:t>
            </a:r>
            <a:r>
              <a:rPr sz="1400" b="0" spc="8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10" dirty="0">
                <a:solidFill>
                  <a:srgbClr val="535353"/>
                </a:solidFill>
                <a:latin typeface="Arial"/>
                <a:cs typeface="Arial"/>
              </a:rPr>
              <a:t>“y”</a:t>
            </a:r>
            <a:r>
              <a:rPr sz="1400" b="0" spc="-5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25" dirty="0">
                <a:solidFill>
                  <a:srgbClr val="535353"/>
                </a:solidFill>
                <a:latin typeface="Arial"/>
                <a:cs typeface="Arial"/>
              </a:rPr>
              <a:t>based</a:t>
            </a:r>
            <a:r>
              <a:rPr sz="1400" b="0" spc="-13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30" dirty="0">
                <a:solidFill>
                  <a:srgbClr val="535353"/>
                </a:solidFill>
                <a:latin typeface="Arial"/>
                <a:cs typeface="Arial"/>
              </a:rPr>
              <a:t>on</a:t>
            </a:r>
            <a:r>
              <a:rPr sz="1400" b="0" spc="-13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-10" dirty="0">
                <a:solidFill>
                  <a:srgbClr val="535353"/>
                </a:solidFill>
                <a:latin typeface="Arial"/>
                <a:cs typeface="Arial"/>
              </a:rPr>
              <a:t>the</a:t>
            </a:r>
            <a:r>
              <a:rPr sz="1400" b="0" spc="1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-10" dirty="0">
                <a:solidFill>
                  <a:srgbClr val="535353"/>
                </a:solidFill>
                <a:latin typeface="Arial"/>
                <a:cs typeface="Arial"/>
              </a:rPr>
              <a:t>values</a:t>
            </a:r>
            <a:r>
              <a:rPr sz="1400" b="0" spc="1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25" dirty="0">
                <a:solidFill>
                  <a:srgbClr val="535353"/>
                </a:solidFill>
                <a:latin typeface="Arial"/>
                <a:cs typeface="Arial"/>
              </a:rPr>
              <a:t>of</a:t>
            </a:r>
            <a:r>
              <a:rPr sz="1400" b="0" spc="-4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-10" dirty="0">
                <a:solidFill>
                  <a:srgbClr val="535353"/>
                </a:solidFill>
                <a:latin typeface="Arial"/>
                <a:cs typeface="Arial"/>
              </a:rPr>
              <a:t>variable</a:t>
            </a:r>
            <a:r>
              <a:rPr sz="1400" b="0" spc="1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20" dirty="0">
                <a:solidFill>
                  <a:srgbClr val="535353"/>
                </a:solidFill>
                <a:latin typeface="Arial"/>
                <a:cs typeface="Arial"/>
              </a:rPr>
              <a:t>“x”.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94703" y="1764729"/>
            <a:ext cx="12014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0" dirty="0">
                <a:solidFill>
                  <a:srgbClr val="535353"/>
                </a:solidFill>
                <a:latin typeface="Arial"/>
                <a:cs typeface="Arial"/>
              </a:rPr>
              <a:t>For</a:t>
            </a:r>
            <a:r>
              <a:rPr sz="1400" b="1" spc="-18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535353"/>
                </a:solidFill>
                <a:latin typeface="Arial"/>
                <a:cs typeface="Arial"/>
              </a:rPr>
              <a:t>example,</a:t>
            </a:r>
            <a:r>
              <a:rPr sz="1400" spc="25" dirty="0">
                <a:solidFill>
                  <a:srgbClr val="535353"/>
                </a:solidFill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81709" y="2524125"/>
            <a:ext cx="2143125" cy="16287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7130" y="2594533"/>
            <a:ext cx="2013456" cy="14894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00450" y="2247900"/>
            <a:ext cx="1895475" cy="1905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29040" y="2318564"/>
            <a:ext cx="1765425" cy="17654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72450" y="3019425"/>
            <a:ext cx="752475" cy="9715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51697" y="3104576"/>
            <a:ext cx="587538" cy="80594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67290" y="3019425"/>
            <a:ext cx="752475" cy="9715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51561" y="3104515"/>
            <a:ext cx="587538" cy="80594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20168" y="3952862"/>
            <a:ext cx="534719" cy="5347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61132" y="3201238"/>
            <a:ext cx="534719" cy="5347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76678" y="4580568"/>
            <a:ext cx="49193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535353"/>
                </a:solidFill>
                <a:latin typeface="Arial"/>
                <a:cs typeface="Arial"/>
              </a:rPr>
              <a:t>As 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the </a:t>
            </a:r>
            <a:r>
              <a:rPr sz="1200" b="1" spc="-10" dirty="0">
                <a:solidFill>
                  <a:srgbClr val="535353"/>
                </a:solidFill>
                <a:latin typeface="Arial"/>
                <a:cs typeface="Arial"/>
              </a:rPr>
              <a:t>temperature </a:t>
            </a:r>
            <a:r>
              <a:rPr sz="1200" b="1" spc="5" dirty="0">
                <a:solidFill>
                  <a:srgbClr val="535353"/>
                </a:solidFill>
                <a:latin typeface="Arial"/>
                <a:cs typeface="Arial"/>
              </a:rPr>
              <a:t>drops </a:t>
            </a:r>
            <a:r>
              <a:rPr sz="1200" b="1" dirty="0">
                <a:solidFill>
                  <a:srgbClr val="535353"/>
                </a:solidFill>
                <a:latin typeface="Arial"/>
                <a:cs typeface="Arial"/>
              </a:rPr>
              <a:t>people </a:t>
            </a:r>
            <a:r>
              <a:rPr sz="1200" b="1" spc="10" dirty="0">
                <a:solidFill>
                  <a:srgbClr val="535353"/>
                </a:solidFill>
                <a:latin typeface="Arial"/>
                <a:cs typeface="Arial"/>
              </a:rPr>
              <a:t>put </a:t>
            </a:r>
            <a:r>
              <a:rPr sz="1200" b="1" spc="5" dirty="0">
                <a:solidFill>
                  <a:srgbClr val="535353"/>
                </a:solidFill>
                <a:latin typeface="Arial"/>
                <a:cs typeface="Arial"/>
              </a:rPr>
              <a:t>on </a:t>
            </a:r>
            <a:r>
              <a:rPr sz="1200" b="1" spc="-5" dirty="0">
                <a:solidFill>
                  <a:srgbClr val="535353"/>
                </a:solidFill>
                <a:latin typeface="Arial"/>
                <a:cs typeface="Arial"/>
              </a:rPr>
              <a:t>more </a:t>
            </a:r>
            <a:r>
              <a:rPr sz="1200" b="1" spc="-10" dirty="0">
                <a:solidFill>
                  <a:srgbClr val="535353"/>
                </a:solidFill>
                <a:latin typeface="Arial"/>
                <a:cs typeface="Arial"/>
              </a:rPr>
              <a:t>jackets </a:t>
            </a:r>
            <a:r>
              <a:rPr sz="1200" b="1" spc="-15" dirty="0">
                <a:solidFill>
                  <a:srgbClr val="535353"/>
                </a:solidFill>
                <a:latin typeface="Arial"/>
                <a:cs typeface="Arial"/>
              </a:rPr>
              <a:t>to </a:t>
            </a:r>
            <a:r>
              <a:rPr sz="1200" b="1" spc="5" dirty="0">
                <a:solidFill>
                  <a:srgbClr val="535353"/>
                </a:solidFill>
                <a:latin typeface="Arial"/>
                <a:cs typeface="Arial"/>
              </a:rPr>
              <a:t>keep</a:t>
            </a:r>
            <a:r>
              <a:rPr sz="1200" b="1" spc="8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200" b="1" spc="5" dirty="0">
                <a:solidFill>
                  <a:srgbClr val="535353"/>
                </a:solidFill>
                <a:latin typeface="Arial"/>
                <a:cs typeface="Arial"/>
              </a:rPr>
              <a:t>warm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4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619564"/>
            <a:ext cx="3545204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R="807085">
              <a:lnSpc>
                <a:spcPts val="4360"/>
              </a:lnSpc>
              <a:spcBef>
                <a:spcPts val="595"/>
              </a:spcBef>
            </a:pP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n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3950" b="1" spc="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10" dirty="0">
                <a:solidFill>
                  <a:srgbClr val="FFFFFF"/>
                </a:solidFill>
                <a:latin typeface="Arial"/>
                <a:cs typeface="Arial"/>
              </a:rPr>
              <a:t>Case</a:t>
            </a:r>
            <a:endParaRPr sz="39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89378" y="1043619"/>
            <a:ext cx="4826635" cy="6629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1400" spc="-10" dirty="0">
                <a:solidFill>
                  <a:srgbClr val="535353"/>
                </a:solidFill>
                <a:latin typeface="Arial"/>
                <a:cs typeface="Arial"/>
              </a:rPr>
              <a:t>Temperature</a:t>
            </a:r>
            <a:r>
              <a:rPr sz="1400" spc="-12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35353"/>
                </a:solidFill>
                <a:latin typeface="Arial"/>
                <a:cs typeface="Arial"/>
              </a:rPr>
              <a:t>vs.</a:t>
            </a:r>
            <a:r>
              <a:rPr sz="1400" spc="-114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535353"/>
                </a:solidFill>
                <a:latin typeface="Arial"/>
                <a:cs typeface="Arial"/>
              </a:rPr>
              <a:t>Number</a:t>
            </a:r>
            <a:r>
              <a:rPr sz="1400" spc="-3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535353"/>
                </a:solidFill>
                <a:latin typeface="Arial"/>
                <a:cs typeface="Arial"/>
              </a:rPr>
              <a:t>of</a:t>
            </a:r>
            <a:r>
              <a:rPr sz="1400" spc="-11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535353"/>
                </a:solidFill>
                <a:latin typeface="Arial"/>
                <a:cs typeface="Arial"/>
              </a:rPr>
              <a:t>cones</a:t>
            </a:r>
            <a:r>
              <a:rPr sz="1400" spc="-12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535353"/>
                </a:solidFill>
                <a:latin typeface="Arial"/>
                <a:cs typeface="Arial"/>
              </a:rPr>
              <a:t>sold</a:t>
            </a:r>
            <a:r>
              <a:rPr sz="1400" spc="-5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35353"/>
                </a:solidFill>
                <a:latin typeface="Arial"/>
                <a:cs typeface="Arial"/>
              </a:rPr>
              <a:t>at</a:t>
            </a:r>
            <a:r>
              <a:rPr sz="1400" spc="-4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ice</a:t>
            </a:r>
            <a:r>
              <a:rPr sz="1400" spc="-5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35353"/>
                </a:solidFill>
                <a:latin typeface="Arial"/>
                <a:cs typeface="Arial"/>
              </a:rPr>
              <a:t>cream</a:t>
            </a:r>
            <a:r>
              <a:rPr sz="1400" spc="-6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35353"/>
                </a:solidFill>
                <a:latin typeface="Arial"/>
                <a:cs typeface="Arial"/>
              </a:rPr>
              <a:t>store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535353"/>
              </a:buClr>
              <a:buFont typeface="Wingdings"/>
              <a:buChar char=""/>
            </a:pPr>
            <a:endParaRPr sz="14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Inches</a:t>
            </a:r>
            <a:r>
              <a:rPr sz="1400" spc="-12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535353"/>
                </a:solidFill>
                <a:latin typeface="Arial"/>
                <a:cs typeface="Arial"/>
              </a:rPr>
              <a:t>of</a:t>
            </a:r>
            <a:r>
              <a:rPr sz="1400" spc="-4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35353"/>
                </a:solidFill>
                <a:latin typeface="Arial"/>
                <a:cs typeface="Arial"/>
              </a:rPr>
              <a:t>rain</a:t>
            </a: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35353"/>
                </a:solidFill>
                <a:latin typeface="Arial"/>
                <a:cs typeface="Arial"/>
              </a:rPr>
              <a:t>vs.</a:t>
            </a:r>
            <a:r>
              <a:rPr sz="1400" spc="-4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35353"/>
                </a:solidFill>
                <a:latin typeface="Arial"/>
                <a:cs typeface="Arial"/>
              </a:rPr>
              <a:t>new</a:t>
            </a:r>
            <a:r>
              <a:rPr sz="1400" spc="-7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35353"/>
                </a:solidFill>
                <a:latin typeface="Arial"/>
                <a:cs typeface="Arial"/>
              </a:rPr>
              <a:t>cars</a:t>
            </a:r>
            <a:r>
              <a:rPr sz="1400" spc="-5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535353"/>
                </a:solidFill>
                <a:latin typeface="Arial"/>
                <a:cs typeface="Arial"/>
              </a:rPr>
              <a:t>sold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89385" y="1892868"/>
            <a:ext cx="3424554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1400" spc="-5" dirty="0">
                <a:solidFill>
                  <a:srgbClr val="535353"/>
                </a:solidFill>
                <a:latin typeface="Arial"/>
                <a:cs typeface="Arial"/>
              </a:rPr>
              <a:t>Daily</a:t>
            </a:r>
            <a:r>
              <a:rPr sz="1400" spc="2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35353"/>
                </a:solidFill>
                <a:latin typeface="Arial"/>
                <a:cs typeface="Arial"/>
              </a:rPr>
              <a:t>Snowfall</a:t>
            </a:r>
            <a:r>
              <a:rPr sz="1400" spc="-9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35353"/>
                </a:solidFill>
                <a:latin typeface="Arial"/>
                <a:cs typeface="Arial"/>
              </a:rPr>
              <a:t>vs.</a:t>
            </a:r>
            <a:r>
              <a:rPr sz="1400" spc="-4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535353"/>
                </a:solidFill>
                <a:latin typeface="Arial"/>
                <a:cs typeface="Arial"/>
              </a:rPr>
              <a:t>number</a:t>
            </a:r>
            <a:r>
              <a:rPr sz="1400" spc="-10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535353"/>
                </a:solidFill>
                <a:latin typeface="Arial"/>
                <a:cs typeface="Arial"/>
              </a:rPr>
              <a:t>of</a:t>
            </a:r>
            <a:r>
              <a:rPr sz="1400" spc="-4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35353"/>
                </a:solidFill>
                <a:latin typeface="Arial"/>
                <a:cs typeface="Arial"/>
              </a:rPr>
              <a:t>skier</a:t>
            </a:r>
            <a:r>
              <a:rPr sz="1400" spc="-3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35353"/>
                </a:solidFill>
                <a:latin typeface="Arial"/>
                <a:cs typeface="Arial"/>
              </a:rPr>
              <a:t>visits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33620" y="3116391"/>
            <a:ext cx="3806190" cy="674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2100"/>
              </a:lnSpc>
              <a:spcBef>
                <a:spcPts val="95"/>
              </a:spcBef>
            </a:pPr>
            <a:r>
              <a:rPr sz="1400" b="1" spc="-5" dirty="0">
                <a:solidFill>
                  <a:srgbClr val="535353"/>
                </a:solidFill>
                <a:latin typeface="Arial"/>
                <a:cs typeface="Arial"/>
              </a:rPr>
              <a:t>If </a:t>
            </a:r>
            <a:r>
              <a:rPr sz="1400" b="1" spc="5" dirty="0">
                <a:solidFill>
                  <a:srgbClr val="535353"/>
                </a:solidFill>
                <a:latin typeface="Arial"/>
                <a:cs typeface="Arial"/>
              </a:rPr>
              <a:t>you </a:t>
            </a:r>
            <a:r>
              <a:rPr sz="1400" b="1" spc="-5" dirty="0">
                <a:solidFill>
                  <a:srgbClr val="535353"/>
                </a:solidFill>
                <a:latin typeface="Arial"/>
                <a:cs typeface="Arial"/>
              </a:rPr>
              <a:t>think </a:t>
            </a:r>
            <a:r>
              <a:rPr sz="1400" b="1" spc="-20" dirty="0">
                <a:solidFill>
                  <a:srgbClr val="535353"/>
                </a:solidFill>
                <a:latin typeface="Arial"/>
                <a:cs typeface="Arial"/>
              </a:rPr>
              <a:t>there </a:t>
            </a:r>
            <a:r>
              <a:rPr sz="1400" b="1" spc="-5" dirty="0">
                <a:solidFill>
                  <a:srgbClr val="535353"/>
                </a:solidFill>
                <a:latin typeface="Arial"/>
                <a:cs typeface="Arial"/>
              </a:rPr>
              <a:t>is </a:t>
            </a:r>
            <a:r>
              <a:rPr sz="1400" b="1" spc="15" dirty="0">
                <a:solidFill>
                  <a:srgbClr val="535353"/>
                </a:solidFill>
                <a:latin typeface="Arial"/>
                <a:cs typeface="Arial"/>
              </a:rPr>
              <a:t>a </a:t>
            </a:r>
            <a:r>
              <a:rPr sz="1400" b="1" spc="-5" dirty="0">
                <a:solidFill>
                  <a:srgbClr val="535353"/>
                </a:solidFill>
                <a:latin typeface="Arial"/>
                <a:cs typeface="Arial"/>
              </a:rPr>
              <a:t>relationship between  </a:t>
            </a:r>
            <a:r>
              <a:rPr sz="1400" b="1" spc="5" dirty="0">
                <a:solidFill>
                  <a:srgbClr val="535353"/>
                </a:solidFill>
                <a:latin typeface="Arial"/>
                <a:cs typeface="Arial"/>
              </a:rPr>
              <a:t>two</a:t>
            </a:r>
            <a:r>
              <a:rPr sz="1400" b="1" spc="-6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535353"/>
                </a:solidFill>
                <a:latin typeface="Arial"/>
                <a:cs typeface="Arial"/>
              </a:rPr>
              <a:t>things</a:t>
            </a:r>
            <a:r>
              <a:rPr sz="1400" b="1" spc="-13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535353"/>
                </a:solidFill>
                <a:latin typeface="Arial"/>
                <a:cs typeface="Arial"/>
              </a:rPr>
              <a:t>regression</a:t>
            </a:r>
            <a:r>
              <a:rPr sz="1400" b="1" spc="-19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535353"/>
                </a:solidFill>
                <a:latin typeface="Arial"/>
                <a:cs typeface="Arial"/>
              </a:rPr>
              <a:t>would</a:t>
            </a:r>
            <a:r>
              <a:rPr sz="1400" b="1" spc="-13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535353"/>
                </a:solidFill>
                <a:latin typeface="Arial"/>
                <a:cs typeface="Arial"/>
              </a:rPr>
              <a:t>help</a:t>
            </a:r>
            <a:r>
              <a:rPr sz="1400" b="1" spc="-14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535353"/>
                </a:solidFill>
                <a:latin typeface="Arial"/>
                <a:cs typeface="Arial"/>
              </a:rPr>
              <a:t>confirm</a:t>
            </a:r>
            <a:r>
              <a:rPr sz="1400" b="1" spc="-15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535353"/>
                </a:solidFill>
                <a:latin typeface="Arial"/>
                <a:cs typeface="Arial"/>
              </a:rPr>
              <a:t>it!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33800" y="2809875"/>
            <a:ext cx="1104900" cy="12858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75313" y="2900235"/>
            <a:ext cx="974457" cy="11522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85067"/>
            <a:ext cx="3545204" cy="1381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807085">
              <a:lnSpc>
                <a:spcPct val="112599"/>
              </a:lnSpc>
              <a:spcBef>
                <a:spcPts val="90"/>
              </a:spcBef>
            </a:pPr>
            <a:r>
              <a:rPr sz="3950" b="1" spc="-75" dirty="0">
                <a:solidFill>
                  <a:srgbClr val="FFFFFF"/>
                </a:solidFill>
                <a:latin typeface="Arial"/>
                <a:cs typeface="Arial"/>
              </a:rPr>
              <a:t>Types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of  R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39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89378" y="899473"/>
            <a:ext cx="47288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0" spc="5" dirty="0">
                <a:solidFill>
                  <a:srgbClr val="535353"/>
                </a:solidFill>
                <a:latin typeface="Arial"/>
                <a:cs typeface="Arial"/>
              </a:rPr>
              <a:t>There</a:t>
            </a:r>
            <a:r>
              <a:rPr sz="1400" b="0" spc="-5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-15" dirty="0">
                <a:solidFill>
                  <a:srgbClr val="535353"/>
                </a:solidFill>
                <a:latin typeface="Arial"/>
                <a:cs typeface="Arial"/>
              </a:rPr>
              <a:t>are</a:t>
            </a:r>
            <a:r>
              <a:rPr sz="1400" b="0" spc="2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-10" dirty="0">
                <a:solidFill>
                  <a:srgbClr val="535353"/>
                </a:solidFill>
                <a:latin typeface="Arial"/>
                <a:cs typeface="Arial"/>
              </a:rPr>
              <a:t>various</a:t>
            </a:r>
            <a:r>
              <a:rPr sz="1400" b="0" spc="3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10" dirty="0">
                <a:solidFill>
                  <a:srgbClr val="535353"/>
                </a:solidFill>
                <a:latin typeface="Arial"/>
                <a:cs typeface="Arial"/>
              </a:rPr>
              <a:t>types</a:t>
            </a:r>
            <a:r>
              <a:rPr sz="1400" b="0" spc="-12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25" dirty="0">
                <a:solidFill>
                  <a:srgbClr val="535353"/>
                </a:solidFill>
                <a:latin typeface="Arial"/>
                <a:cs typeface="Arial"/>
              </a:rPr>
              <a:t>of</a:t>
            </a:r>
            <a:r>
              <a:rPr sz="1400" b="0" spc="-3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10" dirty="0">
                <a:solidFill>
                  <a:srgbClr val="535353"/>
                </a:solidFill>
                <a:latin typeface="Arial"/>
                <a:cs typeface="Arial"/>
              </a:rPr>
              <a:t>Regression,</a:t>
            </a:r>
            <a:r>
              <a:rPr sz="1400" b="0" spc="-17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5" dirty="0">
                <a:solidFill>
                  <a:srgbClr val="535353"/>
                </a:solidFill>
                <a:latin typeface="Arial"/>
                <a:cs typeface="Arial"/>
              </a:rPr>
              <a:t>but</a:t>
            </a:r>
            <a:r>
              <a:rPr sz="1400" b="0" spc="-3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-15" dirty="0">
                <a:solidFill>
                  <a:srgbClr val="535353"/>
                </a:solidFill>
                <a:latin typeface="Arial"/>
                <a:cs typeface="Arial"/>
              </a:rPr>
              <a:t>we</a:t>
            </a:r>
            <a:r>
              <a:rPr sz="1400" b="0" spc="1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-20" dirty="0">
                <a:solidFill>
                  <a:srgbClr val="535353"/>
                </a:solidFill>
                <a:latin typeface="Arial"/>
                <a:cs typeface="Arial"/>
              </a:rPr>
              <a:t>will</a:t>
            </a:r>
            <a:r>
              <a:rPr sz="1400" b="0" spc="5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25" dirty="0">
                <a:solidFill>
                  <a:srgbClr val="535353"/>
                </a:solidFill>
                <a:latin typeface="Arial"/>
                <a:cs typeface="Arial"/>
              </a:rPr>
              <a:t>focus</a:t>
            </a:r>
            <a:r>
              <a:rPr sz="1400" b="0" spc="-12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b="0" spc="5" dirty="0">
                <a:solidFill>
                  <a:srgbClr val="535353"/>
                </a:solidFill>
                <a:latin typeface="Arial"/>
                <a:cs typeface="Arial"/>
              </a:rPr>
              <a:t>on: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89376" y="1319205"/>
            <a:ext cx="1888489" cy="673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1400" dirty="0">
                <a:solidFill>
                  <a:srgbClr val="535353"/>
                </a:solidFill>
                <a:latin typeface="Arial"/>
                <a:cs typeface="Arial"/>
              </a:rPr>
              <a:t>Linear</a:t>
            </a:r>
            <a:r>
              <a:rPr sz="1400" spc="-7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Regression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535353"/>
              </a:buClr>
              <a:buFont typeface="Wingdings"/>
              <a:buChar char=""/>
            </a:pPr>
            <a:endParaRPr sz="14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Logistic</a:t>
            </a:r>
            <a:r>
              <a:rPr sz="1400" spc="-18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35353"/>
                </a:solidFill>
                <a:latin typeface="Arial"/>
                <a:cs typeface="Arial"/>
              </a:rPr>
              <a:t>Regression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75230" y="2418734"/>
            <a:ext cx="4777674" cy="19632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485067"/>
            <a:ext cx="3545204" cy="1381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807085">
              <a:lnSpc>
                <a:spcPct val="112599"/>
              </a:lnSpc>
              <a:spcBef>
                <a:spcPts val="90"/>
              </a:spcBef>
            </a:pPr>
            <a:r>
              <a:rPr sz="3950" b="1" spc="-75" dirty="0">
                <a:solidFill>
                  <a:srgbClr val="FFFFFF"/>
                </a:solidFill>
                <a:latin typeface="Arial"/>
                <a:cs typeface="Arial"/>
              </a:rPr>
              <a:t>Types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of  R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39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72128" y="939814"/>
            <a:ext cx="2037714" cy="441325"/>
          </a:xfrm>
          <a:custGeom>
            <a:avLst/>
            <a:gdLst/>
            <a:ahLst/>
            <a:cxnLst/>
            <a:rect l="l" t="t" r="r" b="b"/>
            <a:pathLst>
              <a:path w="2037714" h="441325">
                <a:moveTo>
                  <a:pt x="0" y="441173"/>
                </a:moveTo>
                <a:lnTo>
                  <a:pt x="2037338" y="441173"/>
                </a:lnTo>
                <a:lnTo>
                  <a:pt x="2037338" y="0"/>
                </a:lnTo>
                <a:lnTo>
                  <a:pt x="0" y="0"/>
                </a:lnTo>
                <a:lnTo>
                  <a:pt x="0" y="441173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384043" y="1037269"/>
            <a:ext cx="149415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0" dirty="0">
                <a:latin typeface="Calibri"/>
                <a:cs typeface="Calibri"/>
              </a:rPr>
              <a:t>LINEAR</a:t>
            </a:r>
            <a:r>
              <a:rPr sz="1350" spc="-14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REGRESSION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21124" y="939814"/>
            <a:ext cx="2076450" cy="441325"/>
          </a:xfrm>
          <a:custGeom>
            <a:avLst/>
            <a:gdLst/>
            <a:ahLst/>
            <a:cxnLst/>
            <a:rect l="l" t="t" r="r" b="b"/>
            <a:pathLst>
              <a:path w="2076450" h="441325">
                <a:moveTo>
                  <a:pt x="0" y="441173"/>
                </a:moveTo>
                <a:lnTo>
                  <a:pt x="2076069" y="441173"/>
                </a:lnTo>
                <a:lnTo>
                  <a:pt x="2076069" y="0"/>
                </a:lnTo>
                <a:lnTo>
                  <a:pt x="0" y="0"/>
                </a:lnTo>
                <a:lnTo>
                  <a:pt x="0" y="441173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188837" y="1037269"/>
            <a:ext cx="162242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LOGISTIC</a:t>
            </a:r>
            <a:r>
              <a:rPr sz="1350" b="1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REGRESSION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04666" y="939789"/>
            <a:ext cx="520700" cy="441325"/>
          </a:xfrm>
          <a:custGeom>
            <a:avLst/>
            <a:gdLst/>
            <a:ahLst/>
            <a:cxnLst/>
            <a:rect l="l" t="t" r="r" b="b"/>
            <a:pathLst>
              <a:path w="520700" h="441325">
                <a:moveTo>
                  <a:pt x="299466" y="0"/>
                </a:moveTo>
                <a:lnTo>
                  <a:pt x="0" y="0"/>
                </a:lnTo>
                <a:lnTo>
                  <a:pt x="220614" y="220614"/>
                </a:lnTo>
                <a:lnTo>
                  <a:pt x="0" y="441198"/>
                </a:lnTo>
                <a:lnTo>
                  <a:pt x="299466" y="441198"/>
                </a:lnTo>
                <a:lnTo>
                  <a:pt x="520080" y="220614"/>
                </a:lnTo>
                <a:lnTo>
                  <a:pt x="29946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04665" y="939789"/>
            <a:ext cx="520700" cy="441325"/>
          </a:xfrm>
          <a:custGeom>
            <a:avLst/>
            <a:gdLst/>
            <a:ahLst/>
            <a:cxnLst/>
            <a:rect l="l" t="t" r="r" b="b"/>
            <a:pathLst>
              <a:path w="520700" h="441325">
                <a:moveTo>
                  <a:pt x="0" y="0"/>
                </a:moveTo>
                <a:lnTo>
                  <a:pt x="299465" y="0"/>
                </a:lnTo>
                <a:lnTo>
                  <a:pt x="520080" y="220614"/>
                </a:lnTo>
                <a:lnTo>
                  <a:pt x="299465" y="441197"/>
                </a:lnTo>
                <a:lnTo>
                  <a:pt x="0" y="441197"/>
                </a:lnTo>
                <a:lnTo>
                  <a:pt x="220614" y="220614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629400" y="939789"/>
            <a:ext cx="520065" cy="441325"/>
          </a:xfrm>
          <a:custGeom>
            <a:avLst/>
            <a:gdLst/>
            <a:ahLst/>
            <a:cxnLst/>
            <a:rect l="l" t="t" r="r" b="b"/>
            <a:pathLst>
              <a:path w="520065" h="441325">
                <a:moveTo>
                  <a:pt x="299466" y="0"/>
                </a:moveTo>
                <a:lnTo>
                  <a:pt x="0" y="0"/>
                </a:lnTo>
                <a:lnTo>
                  <a:pt x="220614" y="220614"/>
                </a:lnTo>
                <a:lnTo>
                  <a:pt x="0" y="441198"/>
                </a:lnTo>
                <a:lnTo>
                  <a:pt x="299466" y="441198"/>
                </a:lnTo>
                <a:lnTo>
                  <a:pt x="519927" y="220614"/>
                </a:lnTo>
                <a:lnTo>
                  <a:pt x="29946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29400" y="939789"/>
            <a:ext cx="520065" cy="441325"/>
          </a:xfrm>
          <a:custGeom>
            <a:avLst/>
            <a:gdLst/>
            <a:ahLst/>
            <a:cxnLst/>
            <a:rect l="l" t="t" r="r" b="b"/>
            <a:pathLst>
              <a:path w="520065" h="441325">
                <a:moveTo>
                  <a:pt x="0" y="0"/>
                </a:moveTo>
                <a:lnTo>
                  <a:pt x="299465" y="0"/>
                </a:lnTo>
                <a:lnTo>
                  <a:pt x="519927" y="220614"/>
                </a:lnTo>
                <a:lnTo>
                  <a:pt x="299465" y="441197"/>
                </a:lnTo>
                <a:lnTo>
                  <a:pt x="0" y="441197"/>
                </a:lnTo>
                <a:lnTo>
                  <a:pt x="220614" y="220614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80225" y="1968489"/>
            <a:ext cx="2076450" cy="381000"/>
          </a:xfrm>
          <a:custGeom>
            <a:avLst/>
            <a:gdLst/>
            <a:ahLst/>
            <a:cxnLst/>
            <a:rect l="l" t="t" r="r" b="b"/>
            <a:pathLst>
              <a:path w="2076450" h="381000">
                <a:moveTo>
                  <a:pt x="1885584" y="0"/>
                </a:moveTo>
                <a:lnTo>
                  <a:pt x="190500" y="0"/>
                </a:lnTo>
                <a:lnTo>
                  <a:pt x="146798" y="5034"/>
                </a:lnTo>
                <a:lnTo>
                  <a:pt x="106693" y="19372"/>
                </a:lnTo>
                <a:lnTo>
                  <a:pt x="71323" y="41868"/>
                </a:lnTo>
                <a:lnTo>
                  <a:pt x="41829" y="71375"/>
                </a:lnTo>
                <a:lnTo>
                  <a:pt x="19350" y="106748"/>
                </a:lnTo>
                <a:lnTo>
                  <a:pt x="5027" y="146841"/>
                </a:lnTo>
                <a:lnTo>
                  <a:pt x="0" y="190506"/>
                </a:lnTo>
                <a:lnTo>
                  <a:pt x="5027" y="234168"/>
                </a:lnTo>
                <a:lnTo>
                  <a:pt x="19350" y="274259"/>
                </a:lnTo>
                <a:lnTo>
                  <a:pt x="41829" y="309631"/>
                </a:lnTo>
                <a:lnTo>
                  <a:pt x="71323" y="339138"/>
                </a:lnTo>
                <a:lnTo>
                  <a:pt x="106693" y="361633"/>
                </a:lnTo>
                <a:lnTo>
                  <a:pt x="146798" y="375972"/>
                </a:lnTo>
                <a:lnTo>
                  <a:pt x="190500" y="381006"/>
                </a:lnTo>
                <a:lnTo>
                  <a:pt x="1885584" y="381006"/>
                </a:lnTo>
                <a:lnTo>
                  <a:pt x="1929247" y="375972"/>
                </a:lnTo>
                <a:lnTo>
                  <a:pt x="1969337" y="361633"/>
                </a:lnTo>
                <a:lnTo>
                  <a:pt x="2004709" y="339138"/>
                </a:lnTo>
                <a:lnTo>
                  <a:pt x="2034216" y="309631"/>
                </a:lnTo>
                <a:lnTo>
                  <a:pt x="2056712" y="274259"/>
                </a:lnTo>
                <a:lnTo>
                  <a:pt x="2071050" y="234168"/>
                </a:lnTo>
                <a:lnTo>
                  <a:pt x="2076084" y="190506"/>
                </a:lnTo>
                <a:lnTo>
                  <a:pt x="2071050" y="146841"/>
                </a:lnTo>
                <a:lnTo>
                  <a:pt x="2056712" y="106748"/>
                </a:lnTo>
                <a:lnTo>
                  <a:pt x="2034216" y="71375"/>
                </a:lnTo>
                <a:lnTo>
                  <a:pt x="2004709" y="41868"/>
                </a:lnTo>
                <a:lnTo>
                  <a:pt x="1969337" y="19372"/>
                </a:lnTo>
                <a:lnTo>
                  <a:pt x="1929247" y="5034"/>
                </a:lnTo>
                <a:lnTo>
                  <a:pt x="1885584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171699" y="2037776"/>
            <a:ext cx="14922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Continuous</a:t>
            </a:r>
            <a:r>
              <a:rPr sz="135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633972" y="1968489"/>
            <a:ext cx="2076450" cy="381000"/>
          </a:xfrm>
          <a:custGeom>
            <a:avLst/>
            <a:gdLst/>
            <a:ahLst/>
            <a:cxnLst/>
            <a:rect l="l" t="t" r="r" b="b"/>
            <a:pathLst>
              <a:path w="2076450" h="381000">
                <a:moveTo>
                  <a:pt x="1885584" y="0"/>
                </a:moveTo>
                <a:lnTo>
                  <a:pt x="190500" y="0"/>
                </a:lnTo>
                <a:lnTo>
                  <a:pt x="146837" y="5034"/>
                </a:lnTo>
                <a:lnTo>
                  <a:pt x="106746" y="19372"/>
                </a:lnTo>
                <a:lnTo>
                  <a:pt x="71374" y="41868"/>
                </a:lnTo>
                <a:lnTo>
                  <a:pt x="41867" y="71375"/>
                </a:lnTo>
                <a:lnTo>
                  <a:pt x="19372" y="106748"/>
                </a:lnTo>
                <a:lnTo>
                  <a:pt x="5034" y="146841"/>
                </a:lnTo>
                <a:lnTo>
                  <a:pt x="0" y="190506"/>
                </a:lnTo>
                <a:lnTo>
                  <a:pt x="5034" y="234168"/>
                </a:lnTo>
                <a:lnTo>
                  <a:pt x="19372" y="274259"/>
                </a:lnTo>
                <a:lnTo>
                  <a:pt x="41867" y="309631"/>
                </a:lnTo>
                <a:lnTo>
                  <a:pt x="71374" y="339138"/>
                </a:lnTo>
                <a:lnTo>
                  <a:pt x="106746" y="361633"/>
                </a:lnTo>
                <a:lnTo>
                  <a:pt x="146837" y="375972"/>
                </a:lnTo>
                <a:lnTo>
                  <a:pt x="190500" y="381006"/>
                </a:lnTo>
                <a:lnTo>
                  <a:pt x="1885584" y="381006"/>
                </a:lnTo>
                <a:lnTo>
                  <a:pt x="1929285" y="375972"/>
                </a:lnTo>
                <a:lnTo>
                  <a:pt x="1969390" y="361633"/>
                </a:lnTo>
                <a:lnTo>
                  <a:pt x="2004760" y="339138"/>
                </a:lnTo>
                <a:lnTo>
                  <a:pt x="2034254" y="309631"/>
                </a:lnTo>
                <a:lnTo>
                  <a:pt x="2056733" y="274259"/>
                </a:lnTo>
                <a:lnTo>
                  <a:pt x="2071056" y="234168"/>
                </a:lnTo>
                <a:lnTo>
                  <a:pt x="2076084" y="190506"/>
                </a:lnTo>
                <a:lnTo>
                  <a:pt x="2071056" y="146841"/>
                </a:lnTo>
                <a:lnTo>
                  <a:pt x="2056733" y="106748"/>
                </a:lnTo>
                <a:lnTo>
                  <a:pt x="2034254" y="71375"/>
                </a:lnTo>
                <a:lnTo>
                  <a:pt x="2004760" y="41868"/>
                </a:lnTo>
                <a:lnTo>
                  <a:pt x="1969390" y="19372"/>
                </a:lnTo>
                <a:lnTo>
                  <a:pt x="1929285" y="5034"/>
                </a:lnTo>
                <a:lnTo>
                  <a:pt x="1885584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938015" y="2037776"/>
            <a:ext cx="147256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5" dirty="0">
                <a:solidFill>
                  <a:srgbClr val="FFFFFF"/>
                </a:solidFill>
                <a:latin typeface="Calibri"/>
                <a:cs typeface="Calibri"/>
              </a:rPr>
              <a:t>Categorical</a:t>
            </a:r>
            <a:r>
              <a:rPr sz="1350" spc="-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884798" y="2692395"/>
            <a:ext cx="2076450" cy="381000"/>
          </a:xfrm>
          <a:custGeom>
            <a:avLst/>
            <a:gdLst/>
            <a:ahLst/>
            <a:cxnLst/>
            <a:rect l="l" t="t" r="r" b="b"/>
            <a:pathLst>
              <a:path w="2076450" h="381000">
                <a:moveTo>
                  <a:pt x="1885584" y="0"/>
                </a:moveTo>
                <a:lnTo>
                  <a:pt x="190500" y="0"/>
                </a:lnTo>
                <a:lnTo>
                  <a:pt x="146798" y="5034"/>
                </a:lnTo>
                <a:lnTo>
                  <a:pt x="106693" y="19372"/>
                </a:lnTo>
                <a:lnTo>
                  <a:pt x="71323" y="41867"/>
                </a:lnTo>
                <a:lnTo>
                  <a:pt x="41829" y="71374"/>
                </a:lnTo>
                <a:lnTo>
                  <a:pt x="19350" y="106746"/>
                </a:lnTo>
                <a:lnTo>
                  <a:pt x="5027" y="146837"/>
                </a:lnTo>
                <a:lnTo>
                  <a:pt x="0" y="190500"/>
                </a:lnTo>
                <a:lnTo>
                  <a:pt x="5027" y="234162"/>
                </a:lnTo>
                <a:lnTo>
                  <a:pt x="19350" y="274253"/>
                </a:lnTo>
                <a:lnTo>
                  <a:pt x="41829" y="309625"/>
                </a:lnTo>
                <a:lnTo>
                  <a:pt x="71323" y="339132"/>
                </a:lnTo>
                <a:lnTo>
                  <a:pt x="106693" y="361627"/>
                </a:lnTo>
                <a:lnTo>
                  <a:pt x="146798" y="375965"/>
                </a:lnTo>
                <a:lnTo>
                  <a:pt x="190500" y="381000"/>
                </a:lnTo>
                <a:lnTo>
                  <a:pt x="1885584" y="381000"/>
                </a:lnTo>
                <a:lnTo>
                  <a:pt x="1929285" y="375965"/>
                </a:lnTo>
                <a:lnTo>
                  <a:pt x="1969390" y="361627"/>
                </a:lnTo>
                <a:lnTo>
                  <a:pt x="2004760" y="339132"/>
                </a:lnTo>
                <a:lnTo>
                  <a:pt x="2034254" y="309625"/>
                </a:lnTo>
                <a:lnTo>
                  <a:pt x="2056733" y="274253"/>
                </a:lnTo>
                <a:lnTo>
                  <a:pt x="2071056" y="234162"/>
                </a:lnTo>
                <a:lnTo>
                  <a:pt x="2076084" y="190500"/>
                </a:lnTo>
                <a:lnTo>
                  <a:pt x="2071056" y="146837"/>
                </a:lnTo>
                <a:lnTo>
                  <a:pt x="2056733" y="106746"/>
                </a:lnTo>
                <a:lnTo>
                  <a:pt x="2034254" y="71374"/>
                </a:lnTo>
                <a:lnTo>
                  <a:pt x="2004760" y="41867"/>
                </a:lnTo>
                <a:lnTo>
                  <a:pt x="1969390" y="19372"/>
                </a:lnTo>
                <a:lnTo>
                  <a:pt x="1929285" y="5034"/>
                </a:lnTo>
                <a:lnTo>
                  <a:pt x="1885584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099944" y="2762819"/>
            <a:ext cx="1647189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" dirty="0">
                <a:solidFill>
                  <a:srgbClr val="FFFFFF"/>
                </a:solidFill>
                <a:latin typeface="Calibri"/>
                <a:cs typeface="Calibri"/>
              </a:rPr>
              <a:t>Solves Regression</a:t>
            </a:r>
            <a:r>
              <a:rPr sz="13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FFFFFF"/>
                </a:solidFill>
                <a:latin typeface="Calibri"/>
                <a:cs typeface="Calibri"/>
              </a:rPr>
              <a:t>Issue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633972" y="2698491"/>
            <a:ext cx="2076450" cy="381000"/>
          </a:xfrm>
          <a:custGeom>
            <a:avLst/>
            <a:gdLst/>
            <a:ahLst/>
            <a:cxnLst/>
            <a:rect l="l" t="t" r="r" b="b"/>
            <a:pathLst>
              <a:path w="2076450" h="381000">
                <a:moveTo>
                  <a:pt x="1885584" y="0"/>
                </a:moveTo>
                <a:lnTo>
                  <a:pt x="190500" y="0"/>
                </a:lnTo>
                <a:lnTo>
                  <a:pt x="146837" y="5034"/>
                </a:lnTo>
                <a:lnTo>
                  <a:pt x="106746" y="19372"/>
                </a:lnTo>
                <a:lnTo>
                  <a:pt x="71374" y="41867"/>
                </a:lnTo>
                <a:lnTo>
                  <a:pt x="41867" y="71374"/>
                </a:lnTo>
                <a:lnTo>
                  <a:pt x="19372" y="106746"/>
                </a:lnTo>
                <a:lnTo>
                  <a:pt x="5034" y="146837"/>
                </a:lnTo>
                <a:lnTo>
                  <a:pt x="0" y="190500"/>
                </a:lnTo>
                <a:lnTo>
                  <a:pt x="5034" y="234162"/>
                </a:lnTo>
                <a:lnTo>
                  <a:pt x="19372" y="274253"/>
                </a:lnTo>
                <a:lnTo>
                  <a:pt x="41867" y="309625"/>
                </a:lnTo>
                <a:lnTo>
                  <a:pt x="71374" y="339132"/>
                </a:lnTo>
                <a:lnTo>
                  <a:pt x="106746" y="361627"/>
                </a:lnTo>
                <a:lnTo>
                  <a:pt x="146837" y="375965"/>
                </a:lnTo>
                <a:lnTo>
                  <a:pt x="190500" y="381000"/>
                </a:lnTo>
                <a:lnTo>
                  <a:pt x="1885584" y="381000"/>
                </a:lnTo>
                <a:lnTo>
                  <a:pt x="1929285" y="375965"/>
                </a:lnTo>
                <a:lnTo>
                  <a:pt x="1969390" y="361627"/>
                </a:lnTo>
                <a:lnTo>
                  <a:pt x="2004760" y="339132"/>
                </a:lnTo>
                <a:lnTo>
                  <a:pt x="2034254" y="309625"/>
                </a:lnTo>
                <a:lnTo>
                  <a:pt x="2056733" y="274253"/>
                </a:lnTo>
                <a:lnTo>
                  <a:pt x="2071056" y="234162"/>
                </a:lnTo>
                <a:lnTo>
                  <a:pt x="2076084" y="190500"/>
                </a:lnTo>
                <a:lnTo>
                  <a:pt x="2071056" y="146837"/>
                </a:lnTo>
                <a:lnTo>
                  <a:pt x="2056733" y="106746"/>
                </a:lnTo>
                <a:lnTo>
                  <a:pt x="2034254" y="71374"/>
                </a:lnTo>
                <a:lnTo>
                  <a:pt x="2004760" y="41867"/>
                </a:lnTo>
                <a:lnTo>
                  <a:pt x="1969390" y="19372"/>
                </a:lnTo>
                <a:lnTo>
                  <a:pt x="1929285" y="5034"/>
                </a:lnTo>
                <a:lnTo>
                  <a:pt x="1885584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775836" y="2768915"/>
            <a:ext cx="1805939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" dirty="0">
                <a:solidFill>
                  <a:srgbClr val="FFFFFF"/>
                </a:solidFill>
                <a:latin typeface="Calibri"/>
                <a:cs typeface="Calibri"/>
              </a:rPr>
              <a:t>Solves </a:t>
            </a:r>
            <a:r>
              <a:rPr sz="1350" spc="5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r>
              <a:rPr sz="1350" spc="-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FFFFFF"/>
                </a:solidFill>
                <a:latin typeface="Calibri"/>
                <a:cs typeface="Calibri"/>
              </a:rPr>
              <a:t>Issue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884798" y="3416295"/>
            <a:ext cx="2076450" cy="381000"/>
          </a:xfrm>
          <a:custGeom>
            <a:avLst/>
            <a:gdLst/>
            <a:ahLst/>
            <a:cxnLst/>
            <a:rect l="l" t="t" r="r" b="b"/>
            <a:pathLst>
              <a:path w="2076450" h="381000">
                <a:moveTo>
                  <a:pt x="1885584" y="0"/>
                </a:moveTo>
                <a:lnTo>
                  <a:pt x="190500" y="0"/>
                </a:lnTo>
                <a:lnTo>
                  <a:pt x="146798" y="5034"/>
                </a:lnTo>
                <a:lnTo>
                  <a:pt x="106693" y="19372"/>
                </a:lnTo>
                <a:lnTo>
                  <a:pt x="71323" y="41867"/>
                </a:lnTo>
                <a:lnTo>
                  <a:pt x="41829" y="71374"/>
                </a:lnTo>
                <a:lnTo>
                  <a:pt x="19350" y="106746"/>
                </a:lnTo>
                <a:lnTo>
                  <a:pt x="5027" y="146837"/>
                </a:lnTo>
                <a:lnTo>
                  <a:pt x="0" y="190500"/>
                </a:lnTo>
                <a:lnTo>
                  <a:pt x="5027" y="234162"/>
                </a:lnTo>
                <a:lnTo>
                  <a:pt x="19350" y="274253"/>
                </a:lnTo>
                <a:lnTo>
                  <a:pt x="41829" y="309625"/>
                </a:lnTo>
                <a:lnTo>
                  <a:pt x="71323" y="339132"/>
                </a:lnTo>
                <a:lnTo>
                  <a:pt x="106693" y="361627"/>
                </a:lnTo>
                <a:lnTo>
                  <a:pt x="146798" y="375965"/>
                </a:lnTo>
                <a:lnTo>
                  <a:pt x="190500" y="381000"/>
                </a:lnTo>
                <a:lnTo>
                  <a:pt x="1885584" y="381000"/>
                </a:lnTo>
                <a:lnTo>
                  <a:pt x="1929285" y="375965"/>
                </a:lnTo>
                <a:lnTo>
                  <a:pt x="1969390" y="361627"/>
                </a:lnTo>
                <a:lnTo>
                  <a:pt x="2004760" y="339132"/>
                </a:lnTo>
                <a:lnTo>
                  <a:pt x="2034254" y="309625"/>
                </a:lnTo>
                <a:lnTo>
                  <a:pt x="2056733" y="274253"/>
                </a:lnTo>
                <a:lnTo>
                  <a:pt x="2071056" y="234162"/>
                </a:lnTo>
                <a:lnTo>
                  <a:pt x="2076084" y="190500"/>
                </a:lnTo>
                <a:lnTo>
                  <a:pt x="2071056" y="146837"/>
                </a:lnTo>
                <a:lnTo>
                  <a:pt x="2056733" y="106746"/>
                </a:lnTo>
                <a:lnTo>
                  <a:pt x="2034254" y="71374"/>
                </a:lnTo>
                <a:lnTo>
                  <a:pt x="2004760" y="41867"/>
                </a:lnTo>
                <a:lnTo>
                  <a:pt x="1969390" y="19372"/>
                </a:lnTo>
                <a:lnTo>
                  <a:pt x="1929285" y="5034"/>
                </a:lnTo>
                <a:lnTo>
                  <a:pt x="1885584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481579" y="3487990"/>
            <a:ext cx="89154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5" dirty="0">
                <a:solidFill>
                  <a:srgbClr val="FFFFFF"/>
                </a:solidFill>
                <a:latin typeface="Calibri"/>
                <a:cs typeface="Calibri"/>
              </a:rPr>
              <a:t>Straight</a:t>
            </a:r>
            <a:r>
              <a:rPr sz="13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629400" y="3416295"/>
            <a:ext cx="2076450" cy="381000"/>
          </a:xfrm>
          <a:custGeom>
            <a:avLst/>
            <a:gdLst/>
            <a:ahLst/>
            <a:cxnLst/>
            <a:rect l="l" t="t" r="r" b="b"/>
            <a:pathLst>
              <a:path w="2076450" h="381000">
                <a:moveTo>
                  <a:pt x="1885584" y="0"/>
                </a:moveTo>
                <a:lnTo>
                  <a:pt x="190500" y="0"/>
                </a:lnTo>
                <a:lnTo>
                  <a:pt x="146837" y="5034"/>
                </a:lnTo>
                <a:lnTo>
                  <a:pt x="106746" y="19372"/>
                </a:lnTo>
                <a:lnTo>
                  <a:pt x="71374" y="41867"/>
                </a:lnTo>
                <a:lnTo>
                  <a:pt x="41867" y="71374"/>
                </a:lnTo>
                <a:lnTo>
                  <a:pt x="19372" y="106746"/>
                </a:lnTo>
                <a:lnTo>
                  <a:pt x="5034" y="146837"/>
                </a:lnTo>
                <a:lnTo>
                  <a:pt x="0" y="190500"/>
                </a:lnTo>
                <a:lnTo>
                  <a:pt x="5034" y="234162"/>
                </a:lnTo>
                <a:lnTo>
                  <a:pt x="19372" y="274253"/>
                </a:lnTo>
                <a:lnTo>
                  <a:pt x="41867" y="309625"/>
                </a:lnTo>
                <a:lnTo>
                  <a:pt x="71374" y="339132"/>
                </a:lnTo>
                <a:lnTo>
                  <a:pt x="106746" y="361627"/>
                </a:lnTo>
                <a:lnTo>
                  <a:pt x="146837" y="375965"/>
                </a:lnTo>
                <a:lnTo>
                  <a:pt x="190500" y="381000"/>
                </a:lnTo>
                <a:lnTo>
                  <a:pt x="1885584" y="381000"/>
                </a:lnTo>
                <a:lnTo>
                  <a:pt x="1929285" y="375965"/>
                </a:lnTo>
                <a:lnTo>
                  <a:pt x="1969390" y="361627"/>
                </a:lnTo>
                <a:lnTo>
                  <a:pt x="2004760" y="339132"/>
                </a:lnTo>
                <a:lnTo>
                  <a:pt x="2034254" y="309625"/>
                </a:lnTo>
                <a:lnTo>
                  <a:pt x="2056733" y="274253"/>
                </a:lnTo>
                <a:lnTo>
                  <a:pt x="2071056" y="234162"/>
                </a:lnTo>
                <a:lnTo>
                  <a:pt x="2076084" y="190500"/>
                </a:lnTo>
                <a:lnTo>
                  <a:pt x="2071056" y="146837"/>
                </a:lnTo>
                <a:lnTo>
                  <a:pt x="2056733" y="106746"/>
                </a:lnTo>
                <a:lnTo>
                  <a:pt x="2034254" y="71374"/>
                </a:lnTo>
                <a:lnTo>
                  <a:pt x="2004760" y="41867"/>
                </a:lnTo>
                <a:lnTo>
                  <a:pt x="1969390" y="19372"/>
                </a:lnTo>
                <a:lnTo>
                  <a:pt x="1929285" y="5034"/>
                </a:lnTo>
                <a:lnTo>
                  <a:pt x="1885584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391024" y="3487990"/>
            <a:ext cx="55880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S-Curve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344927"/>
            <a:ext cx="3545204" cy="173926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R="502284">
              <a:lnSpc>
                <a:spcPts val="4360"/>
              </a:lnSpc>
              <a:spcBef>
                <a:spcPts val="590"/>
              </a:spcBef>
            </a:pP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sz="3950" b="1" spc="20" dirty="0">
                <a:solidFill>
                  <a:srgbClr val="FFFFFF"/>
                </a:solidFill>
                <a:latin typeface="Arial"/>
                <a:cs typeface="Arial"/>
              </a:rPr>
              <a:t>is  </a:t>
            </a:r>
            <a:r>
              <a:rPr sz="3950" b="1" spc="-10" dirty="0">
                <a:solidFill>
                  <a:srgbClr val="FFFFFF"/>
                </a:solidFill>
                <a:latin typeface="Arial"/>
                <a:cs typeface="Arial"/>
              </a:rPr>
              <a:t>Linear 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39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25878" y="918524"/>
            <a:ext cx="5036820" cy="7620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Wingdings"/>
              <a:buChar char=""/>
              <a:tabLst>
                <a:tab pos="298450" algn="l"/>
                <a:tab pos="299085" algn="l"/>
                <a:tab pos="1108710" algn="l"/>
                <a:tab pos="1785620" algn="l"/>
                <a:tab pos="2929890" algn="l"/>
                <a:tab pos="3272790" algn="l"/>
                <a:tab pos="3988435" algn="l"/>
                <a:tab pos="4417060" algn="l"/>
              </a:tabLst>
            </a:pPr>
            <a:r>
              <a:rPr sz="1550" spc="15" dirty="0">
                <a:solidFill>
                  <a:srgbClr val="535353"/>
                </a:solidFill>
                <a:latin typeface="Arial"/>
                <a:cs typeface="Arial"/>
              </a:rPr>
              <a:t>S</a:t>
            </a:r>
            <a:r>
              <a:rPr sz="1550" spc="100" dirty="0">
                <a:solidFill>
                  <a:srgbClr val="535353"/>
                </a:solidFill>
                <a:latin typeface="Arial"/>
                <a:cs typeface="Arial"/>
              </a:rPr>
              <a:t>i</a:t>
            </a:r>
            <a:r>
              <a:rPr sz="1550" spc="-95" dirty="0">
                <a:solidFill>
                  <a:srgbClr val="535353"/>
                </a:solidFill>
                <a:latin typeface="Arial"/>
                <a:cs typeface="Arial"/>
              </a:rPr>
              <a:t>m</a:t>
            </a:r>
            <a:r>
              <a:rPr sz="1550" spc="35" dirty="0">
                <a:solidFill>
                  <a:srgbClr val="535353"/>
                </a:solidFill>
                <a:latin typeface="Arial"/>
                <a:cs typeface="Arial"/>
              </a:rPr>
              <a:t>p</a:t>
            </a:r>
            <a:r>
              <a:rPr sz="1550" spc="-50" dirty="0">
                <a:solidFill>
                  <a:srgbClr val="535353"/>
                </a:solidFill>
                <a:latin typeface="Arial"/>
                <a:cs typeface="Arial"/>
              </a:rPr>
              <a:t>l</a:t>
            </a:r>
            <a:r>
              <a:rPr sz="1550" spc="15" dirty="0">
                <a:solidFill>
                  <a:srgbClr val="535353"/>
                </a:solidFill>
                <a:latin typeface="Arial"/>
                <a:cs typeface="Arial"/>
              </a:rPr>
              <a:t>e</a:t>
            </a:r>
            <a:r>
              <a:rPr sz="155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550" spc="-50" dirty="0">
                <a:solidFill>
                  <a:srgbClr val="535353"/>
                </a:solidFill>
                <a:latin typeface="Arial"/>
                <a:cs typeface="Arial"/>
              </a:rPr>
              <a:t>l</a:t>
            </a:r>
            <a:r>
              <a:rPr sz="1550" spc="25" dirty="0">
                <a:solidFill>
                  <a:srgbClr val="535353"/>
                </a:solidFill>
                <a:latin typeface="Arial"/>
                <a:cs typeface="Arial"/>
              </a:rPr>
              <a:t>i</a:t>
            </a:r>
            <a:r>
              <a:rPr sz="1550" spc="-40" dirty="0">
                <a:solidFill>
                  <a:srgbClr val="535353"/>
                </a:solidFill>
                <a:latin typeface="Arial"/>
                <a:cs typeface="Arial"/>
              </a:rPr>
              <a:t>n</a:t>
            </a:r>
            <a:r>
              <a:rPr sz="1550" spc="35" dirty="0">
                <a:solidFill>
                  <a:srgbClr val="535353"/>
                </a:solidFill>
                <a:latin typeface="Arial"/>
                <a:cs typeface="Arial"/>
              </a:rPr>
              <a:t>ea</a:t>
            </a:r>
            <a:r>
              <a:rPr sz="1550" spc="5" dirty="0">
                <a:solidFill>
                  <a:srgbClr val="535353"/>
                </a:solidFill>
                <a:latin typeface="Arial"/>
                <a:cs typeface="Arial"/>
              </a:rPr>
              <a:t>r</a:t>
            </a:r>
            <a:r>
              <a:rPr sz="155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550" spc="5" dirty="0">
                <a:solidFill>
                  <a:srgbClr val="535353"/>
                </a:solidFill>
                <a:latin typeface="Arial"/>
                <a:cs typeface="Arial"/>
              </a:rPr>
              <a:t>r</a:t>
            </a:r>
            <a:r>
              <a:rPr sz="1550" spc="110" dirty="0">
                <a:solidFill>
                  <a:srgbClr val="535353"/>
                </a:solidFill>
                <a:latin typeface="Arial"/>
                <a:cs typeface="Arial"/>
              </a:rPr>
              <a:t>e</a:t>
            </a:r>
            <a:r>
              <a:rPr sz="1550" spc="-40" dirty="0">
                <a:solidFill>
                  <a:srgbClr val="535353"/>
                </a:solidFill>
                <a:latin typeface="Arial"/>
                <a:cs typeface="Arial"/>
              </a:rPr>
              <a:t>g</a:t>
            </a:r>
            <a:r>
              <a:rPr sz="1550" spc="5" dirty="0">
                <a:solidFill>
                  <a:srgbClr val="535353"/>
                </a:solidFill>
                <a:latin typeface="Arial"/>
                <a:cs typeface="Arial"/>
              </a:rPr>
              <a:t>r</a:t>
            </a:r>
            <a:r>
              <a:rPr sz="1550" spc="35" dirty="0">
                <a:solidFill>
                  <a:srgbClr val="535353"/>
                </a:solidFill>
                <a:latin typeface="Arial"/>
                <a:cs typeface="Arial"/>
              </a:rPr>
              <a:t>e</a:t>
            </a:r>
            <a:r>
              <a:rPr sz="1550" spc="40" dirty="0">
                <a:solidFill>
                  <a:srgbClr val="535353"/>
                </a:solidFill>
                <a:latin typeface="Arial"/>
                <a:cs typeface="Arial"/>
              </a:rPr>
              <a:t>ss</a:t>
            </a:r>
            <a:r>
              <a:rPr sz="1550" spc="30" dirty="0">
                <a:solidFill>
                  <a:srgbClr val="535353"/>
                </a:solidFill>
                <a:latin typeface="Arial"/>
                <a:cs typeface="Arial"/>
              </a:rPr>
              <a:t>io</a:t>
            </a:r>
            <a:r>
              <a:rPr sz="1550" spc="15" dirty="0">
                <a:solidFill>
                  <a:srgbClr val="535353"/>
                </a:solidFill>
                <a:latin typeface="Arial"/>
                <a:cs typeface="Arial"/>
              </a:rPr>
              <a:t>n</a:t>
            </a:r>
            <a:r>
              <a:rPr sz="155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550" spc="25" dirty="0">
                <a:solidFill>
                  <a:srgbClr val="535353"/>
                </a:solidFill>
                <a:latin typeface="Arial"/>
                <a:cs typeface="Arial"/>
              </a:rPr>
              <a:t>i</a:t>
            </a:r>
            <a:r>
              <a:rPr sz="1550" spc="10" dirty="0">
                <a:solidFill>
                  <a:srgbClr val="535353"/>
                </a:solidFill>
                <a:latin typeface="Arial"/>
                <a:cs typeface="Arial"/>
              </a:rPr>
              <a:t>s</a:t>
            </a:r>
            <a:r>
              <a:rPr sz="155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550" spc="-40" dirty="0">
                <a:solidFill>
                  <a:srgbClr val="535353"/>
                </a:solidFill>
                <a:latin typeface="Arial"/>
                <a:cs typeface="Arial"/>
              </a:rPr>
              <a:t>u</a:t>
            </a:r>
            <a:r>
              <a:rPr sz="1550" spc="40" dirty="0">
                <a:solidFill>
                  <a:srgbClr val="535353"/>
                </a:solidFill>
                <a:latin typeface="Arial"/>
                <a:cs typeface="Arial"/>
              </a:rPr>
              <a:t>s</a:t>
            </a:r>
            <a:r>
              <a:rPr sz="1550" spc="35" dirty="0">
                <a:solidFill>
                  <a:srgbClr val="535353"/>
                </a:solidFill>
                <a:latin typeface="Arial"/>
                <a:cs typeface="Arial"/>
              </a:rPr>
              <a:t>e</a:t>
            </a:r>
            <a:r>
              <a:rPr sz="1550" spc="10" dirty="0">
                <a:solidFill>
                  <a:srgbClr val="535353"/>
                </a:solidFill>
                <a:latin typeface="Arial"/>
                <a:cs typeface="Arial"/>
              </a:rPr>
              <a:t>f</a:t>
            </a:r>
            <a:r>
              <a:rPr sz="1550" spc="-40" dirty="0">
                <a:solidFill>
                  <a:srgbClr val="535353"/>
                </a:solidFill>
                <a:latin typeface="Arial"/>
                <a:cs typeface="Arial"/>
              </a:rPr>
              <a:t>u</a:t>
            </a:r>
            <a:r>
              <a:rPr sz="1550" spc="5" dirty="0">
                <a:solidFill>
                  <a:srgbClr val="535353"/>
                </a:solidFill>
                <a:latin typeface="Arial"/>
                <a:cs typeface="Arial"/>
              </a:rPr>
              <a:t>l</a:t>
            </a:r>
            <a:r>
              <a:rPr sz="155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550" spc="10" dirty="0">
                <a:solidFill>
                  <a:srgbClr val="535353"/>
                </a:solidFill>
                <a:latin typeface="Arial"/>
                <a:cs typeface="Arial"/>
              </a:rPr>
              <a:t>f</a:t>
            </a:r>
            <a:r>
              <a:rPr sz="1550" spc="35" dirty="0">
                <a:solidFill>
                  <a:srgbClr val="535353"/>
                </a:solidFill>
                <a:latin typeface="Arial"/>
                <a:cs typeface="Arial"/>
              </a:rPr>
              <a:t>o</a:t>
            </a:r>
            <a:r>
              <a:rPr sz="1550" spc="5" dirty="0">
                <a:solidFill>
                  <a:srgbClr val="535353"/>
                </a:solidFill>
                <a:latin typeface="Arial"/>
                <a:cs typeface="Arial"/>
              </a:rPr>
              <a:t>r</a:t>
            </a:r>
            <a:r>
              <a:rPr sz="1550" dirty="0">
                <a:solidFill>
                  <a:srgbClr val="535353"/>
                </a:solidFill>
                <a:latin typeface="Times New Roman"/>
                <a:cs typeface="Times New Roman"/>
              </a:rPr>
              <a:t>	</a:t>
            </a:r>
            <a:r>
              <a:rPr sz="1550" spc="10" dirty="0">
                <a:solidFill>
                  <a:srgbClr val="535353"/>
                </a:solidFill>
                <a:latin typeface="Arial"/>
                <a:cs typeface="Arial"/>
              </a:rPr>
              <a:t>f</a:t>
            </a:r>
            <a:r>
              <a:rPr sz="1550" spc="30" dirty="0">
                <a:solidFill>
                  <a:srgbClr val="535353"/>
                </a:solidFill>
                <a:latin typeface="Arial"/>
                <a:cs typeface="Arial"/>
              </a:rPr>
              <a:t>in</a:t>
            </a:r>
            <a:r>
              <a:rPr sz="1550" spc="-40" dirty="0">
                <a:solidFill>
                  <a:srgbClr val="535353"/>
                </a:solidFill>
                <a:latin typeface="Arial"/>
                <a:cs typeface="Arial"/>
              </a:rPr>
              <a:t>d</a:t>
            </a:r>
            <a:r>
              <a:rPr sz="1550" spc="100" dirty="0">
                <a:solidFill>
                  <a:srgbClr val="535353"/>
                </a:solidFill>
                <a:latin typeface="Arial"/>
                <a:cs typeface="Arial"/>
              </a:rPr>
              <a:t>i</a:t>
            </a:r>
            <a:r>
              <a:rPr sz="1550" spc="35" dirty="0">
                <a:solidFill>
                  <a:srgbClr val="535353"/>
                </a:solidFill>
                <a:latin typeface="Arial"/>
                <a:cs typeface="Arial"/>
              </a:rPr>
              <a:t>n</a:t>
            </a:r>
            <a:r>
              <a:rPr sz="1550" spc="15" dirty="0">
                <a:solidFill>
                  <a:srgbClr val="535353"/>
                </a:solidFill>
                <a:latin typeface="Arial"/>
                <a:cs typeface="Arial"/>
              </a:rPr>
              <a:t>g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</a:pPr>
            <a:r>
              <a:rPr sz="1550" spc="5" dirty="0">
                <a:solidFill>
                  <a:srgbClr val="535353"/>
                </a:solidFill>
                <a:latin typeface="Arial"/>
                <a:cs typeface="Arial"/>
              </a:rPr>
              <a:t>relationship </a:t>
            </a:r>
            <a:r>
              <a:rPr sz="1550" spc="10" dirty="0">
                <a:solidFill>
                  <a:srgbClr val="535353"/>
                </a:solidFill>
                <a:latin typeface="Arial"/>
                <a:cs typeface="Arial"/>
              </a:rPr>
              <a:t>between two </a:t>
            </a:r>
            <a:r>
              <a:rPr sz="1550" dirty="0">
                <a:solidFill>
                  <a:srgbClr val="535353"/>
                </a:solidFill>
                <a:latin typeface="Arial"/>
                <a:cs typeface="Arial"/>
              </a:rPr>
              <a:t>continuous</a:t>
            </a:r>
            <a:r>
              <a:rPr sz="1550" spc="42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550" spc="10" dirty="0">
                <a:solidFill>
                  <a:srgbClr val="535353"/>
                </a:solidFill>
                <a:latin typeface="Arial"/>
                <a:cs typeface="Arial"/>
              </a:rPr>
              <a:t>variables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25878" y="1901504"/>
            <a:ext cx="50304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1550" spc="-15" dirty="0">
                <a:solidFill>
                  <a:srgbClr val="535353"/>
                </a:solidFill>
                <a:latin typeface="Arial"/>
                <a:cs typeface="Arial"/>
              </a:rPr>
              <a:t>One </a:t>
            </a:r>
            <a:r>
              <a:rPr sz="1550" spc="15" dirty="0">
                <a:solidFill>
                  <a:srgbClr val="535353"/>
                </a:solidFill>
                <a:latin typeface="Arial"/>
                <a:cs typeface="Arial"/>
              </a:rPr>
              <a:t>is predictor </a:t>
            </a:r>
            <a:r>
              <a:rPr sz="1550" spc="20" dirty="0">
                <a:solidFill>
                  <a:srgbClr val="535353"/>
                </a:solidFill>
                <a:latin typeface="Arial"/>
                <a:cs typeface="Arial"/>
              </a:rPr>
              <a:t>or </a:t>
            </a:r>
            <a:r>
              <a:rPr sz="1550" spc="10" dirty="0">
                <a:solidFill>
                  <a:srgbClr val="535353"/>
                </a:solidFill>
                <a:latin typeface="Arial"/>
                <a:cs typeface="Arial"/>
              </a:rPr>
              <a:t>independent </a:t>
            </a:r>
            <a:r>
              <a:rPr sz="1550" spc="15" dirty="0">
                <a:solidFill>
                  <a:srgbClr val="535353"/>
                </a:solidFill>
                <a:latin typeface="Arial"/>
                <a:cs typeface="Arial"/>
              </a:rPr>
              <a:t>variable </a:t>
            </a:r>
            <a:r>
              <a:rPr sz="1550" spc="25" dirty="0">
                <a:solidFill>
                  <a:srgbClr val="535353"/>
                </a:solidFill>
                <a:latin typeface="Arial"/>
                <a:cs typeface="Arial"/>
              </a:rPr>
              <a:t>and</a:t>
            </a:r>
            <a:r>
              <a:rPr sz="155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550" spc="25" dirty="0">
                <a:solidFill>
                  <a:srgbClr val="535353"/>
                </a:solidFill>
                <a:latin typeface="Arial"/>
                <a:cs typeface="Arial"/>
              </a:rPr>
              <a:t>other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11878" y="2388173"/>
            <a:ext cx="308229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535353"/>
                </a:solidFill>
                <a:latin typeface="Arial"/>
                <a:cs typeface="Arial"/>
              </a:rPr>
              <a:t>is </a:t>
            </a:r>
            <a:r>
              <a:rPr sz="1550" spc="10" dirty="0">
                <a:solidFill>
                  <a:srgbClr val="535353"/>
                </a:solidFill>
                <a:latin typeface="Arial"/>
                <a:cs typeface="Arial"/>
              </a:rPr>
              <a:t>response </a:t>
            </a:r>
            <a:r>
              <a:rPr sz="1550" spc="20" dirty="0">
                <a:solidFill>
                  <a:srgbClr val="535353"/>
                </a:solidFill>
                <a:latin typeface="Arial"/>
                <a:cs typeface="Arial"/>
              </a:rPr>
              <a:t>or </a:t>
            </a:r>
            <a:r>
              <a:rPr sz="1550" spc="-10" dirty="0">
                <a:solidFill>
                  <a:srgbClr val="535353"/>
                </a:solidFill>
                <a:latin typeface="Arial"/>
                <a:cs typeface="Arial"/>
              </a:rPr>
              <a:t>dependent</a:t>
            </a:r>
            <a:r>
              <a:rPr sz="1550" spc="40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535353"/>
                </a:solidFill>
                <a:latin typeface="Arial"/>
                <a:cs typeface="Arial"/>
              </a:rPr>
              <a:t>variable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86150" y="3086100"/>
            <a:ext cx="5657849" cy="18478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spc="-5" dirty="0"/>
              <a:t>U</a:t>
            </a:r>
            <a:r>
              <a:rPr sz="3950" spc="-20" dirty="0"/>
              <a:t>nd</a:t>
            </a:r>
            <a:r>
              <a:rPr sz="3950" spc="-25" dirty="0"/>
              <a:t>e</a:t>
            </a:r>
            <a:r>
              <a:rPr sz="3950" spc="30" dirty="0"/>
              <a:t>r</a:t>
            </a:r>
            <a:r>
              <a:rPr sz="3950" spc="-25" dirty="0"/>
              <a:t>s</a:t>
            </a:r>
            <a:r>
              <a:rPr sz="3950" spc="30" dirty="0"/>
              <a:t>t</a:t>
            </a:r>
            <a:r>
              <a:rPr sz="3950" spc="-25" dirty="0"/>
              <a:t>a</a:t>
            </a:r>
            <a:r>
              <a:rPr sz="3950" spc="-20" dirty="0"/>
              <a:t>nd</a:t>
            </a:r>
            <a:r>
              <a:rPr sz="3950" spc="15" dirty="0"/>
              <a:t>i</a:t>
            </a:r>
            <a:r>
              <a:rPr sz="3950" spc="10" dirty="0"/>
              <a:t>n </a:t>
            </a:r>
            <a:r>
              <a:rPr sz="3950" b="0" spc="5" dirty="0">
                <a:latin typeface="Times New Roman"/>
                <a:cs typeface="Times New Roman"/>
              </a:rPr>
              <a:t> </a:t>
            </a:r>
            <a:r>
              <a:rPr sz="3950" spc="15" dirty="0"/>
              <a:t>g </a:t>
            </a:r>
            <a:r>
              <a:rPr sz="3950" spc="-10" dirty="0"/>
              <a:t>Linear  </a:t>
            </a:r>
            <a:r>
              <a:rPr sz="3950" spc="-5" dirty="0"/>
              <a:t>Regression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52834" y="1102613"/>
            <a:ext cx="85725" cy="2953385"/>
          </a:xfrm>
          <a:custGeom>
            <a:avLst/>
            <a:gdLst/>
            <a:ahLst/>
            <a:cxnLst/>
            <a:rect l="l" t="t" r="r" b="b"/>
            <a:pathLst>
              <a:path w="85725" h="2953385">
                <a:moveTo>
                  <a:pt x="57150" y="71506"/>
                </a:moveTo>
                <a:lnTo>
                  <a:pt x="28575" y="71506"/>
                </a:lnTo>
                <a:lnTo>
                  <a:pt x="28575" y="2952808"/>
                </a:lnTo>
                <a:lnTo>
                  <a:pt x="57150" y="2952808"/>
                </a:lnTo>
                <a:lnTo>
                  <a:pt x="57150" y="71506"/>
                </a:lnTo>
                <a:close/>
              </a:path>
              <a:path w="85725" h="2953385">
                <a:moveTo>
                  <a:pt x="42915" y="0"/>
                </a:moveTo>
                <a:lnTo>
                  <a:pt x="0" y="85709"/>
                </a:lnTo>
                <a:lnTo>
                  <a:pt x="28575" y="85709"/>
                </a:lnTo>
                <a:lnTo>
                  <a:pt x="28575" y="71506"/>
                </a:lnTo>
                <a:lnTo>
                  <a:pt x="78618" y="71506"/>
                </a:lnTo>
                <a:lnTo>
                  <a:pt x="42915" y="0"/>
                </a:lnTo>
                <a:close/>
              </a:path>
              <a:path w="85725" h="2953385">
                <a:moveTo>
                  <a:pt x="78618" y="71506"/>
                </a:moveTo>
                <a:lnTo>
                  <a:pt x="57150" y="71506"/>
                </a:lnTo>
                <a:lnTo>
                  <a:pt x="57150" y="85709"/>
                </a:lnTo>
                <a:lnTo>
                  <a:pt x="85709" y="85709"/>
                </a:lnTo>
                <a:lnTo>
                  <a:pt x="78618" y="71506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76578" y="4033421"/>
            <a:ext cx="4363085" cy="85725"/>
          </a:xfrm>
          <a:custGeom>
            <a:avLst/>
            <a:gdLst/>
            <a:ahLst/>
            <a:cxnLst/>
            <a:rect l="l" t="t" r="r" b="b"/>
            <a:pathLst>
              <a:path w="4363084" h="85725">
                <a:moveTo>
                  <a:pt x="4277106" y="0"/>
                </a:moveTo>
                <a:lnTo>
                  <a:pt x="4276933" y="28563"/>
                </a:lnTo>
                <a:lnTo>
                  <a:pt x="4291187" y="28632"/>
                </a:lnTo>
                <a:lnTo>
                  <a:pt x="4291065" y="57207"/>
                </a:lnTo>
                <a:lnTo>
                  <a:pt x="4276760" y="57207"/>
                </a:lnTo>
                <a:lnTo>
                  <a:pt x="4276587" y="85725"/>
                </a:lnTo>
                <a:lnTo>
                  <a:pt x="4334355" y="57207"/>
                </a:lnTo>
                <a:lnTo>
                  <a:pt x="4291065" y="57207"/>
                </a:lnTo>
                <a:lnTo>
                  <a:pt x="4334496" y="57138"/>
                </a:lnTo>
                <a:lnTo>
                  <a:pt x="4362572" y="43278"/>
                </a:lnTo>
                <a:lnTo>
                  <a:pt x="4277106" y="0"/>
                </a:lnTo>
                <a:close/>
              </a:path>
              <a:path w="4363084" h="85725">
                <a:moveTo>
                  <a:pt x="4276933" y="28563"/>
                </a:moveTo>
                <a:lnTo>
                  <a:pt x="4276760" y="57138"/>
                </a:lnTo>
                <a:lnTo>
                  <a:pt x="4291065" y="57207"/>
                </a:lnTo>
                <a:lnTo>
                  <a:pt x="4291187" y="28632"/>
                </a:lnTo>
                <a:lnTo>
                  <a:pt x="4276933" y="28563"/>
                </a:lnTo>
                <a:close/>
              </a:path>
              <a:path w="4363084" h="85725">
                <a:moveTo>
                  <a:pt x="243" y="7702"/>
                </a:moveTo>
                <a:lnTo>
                  <a:pt x="0" y="36277"/>
                </a:lnTo>
                <a:lnTo>
                  <a:pt x="4276760" y="57138"/>
                </a:lnTo>
                <a:lnTo>
                  <a:pt x="4276933" y="28563"/>
                </a:lnTo>
                <a:lnTo>
                  <a:pt x="243" y="7702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47669" y="4315463"/>
            <a:ext cx="15684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10" dirty="0">
                <a:solidFill>
                  <a:srgbClr val="F07F09"/>
                </a:solidFill>
                <a:latin typeface="Calibri"/>
                <a:cs typeface="Calibri"/>
              </a:rPr>
              <a:t>Independent</a:t>
            </a:r>
            <a:r>
              <a:rPr sz="1350" b="1" spc="-155" dirty="0">
                <a:solidFill>
                  <a:srgbClr val="F07F09"/>
                </a:solidFill>
                <a:latin typeface="Calibri"/>
                <a:cs typeface="Calibri"/>
              </a:rPr>
              <a:t> </a:t>
            </a:r>
            <a:r>
              <a:rPr sz="1350" b="1" spc="-15" dirty="0">
                <a:solidFill>
                  <a:srgbClr val="F07F09"/>
                </a:solidFill>
                <a:latin typeface="Calibri"/>
                <a:cs typeface="Calibri"/>
              </a:rPr>
              <a:t>Variable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05256" y="1734392"/>
            <a:ext cx="197485" cy="14357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Dependent</a:t>
            </a:r>
            <a:r>
              <a:rPr sz="1350" b="1" spc="-140" dirty="0">
                <a:solidFill>
                  <a:srgbClr val="6B9E24"/>
                </a:solidFill>
                <a:latin typeface="Calibri"/>
                <a:cs typeface="Calibri"/>
              </a:rPr>
              <a:t> </a:t>
            </a:r>
            <a:r>
              <a:rPr sz="1350" b="1" spc="-15" dirty="0">
                <a:solidFill>
                  <a:srgbClr val="6B9E24"/>
                </a:solidFill>
                <a:latin typeface="Calibri"/>
                <a:cs typeface="Calibri"/>
              </a:rPr>
              <a:t>Variable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45836" y="3992243"/>
            <a:ext cx="120014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65019" y="901379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34050" y="2495550"/>
            <a:ext cx="0" cy="1560195"/>
          </a:xfrm>
          <a:custGeom>
            <a:avLst/>
            <a:gdLst/>
            <a:ahLst/>
            <a:cxnLst/>
            <a:rect l="l" t="t" r="r" b="b"/>
            <a:pathLst>
              <a:path h="1560195">
                <a:moveTo>
                  <a:pt x="0" y="1559862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95750" y="2495550"/>
            <a:ext cx="1638300" cy="0"/>
          </a:xfrm>
          <a:custGeom>
            <a:avLst/>
            <a:gdLst/>
            <a:ahLst/>
            <a:cxnLst/>
            <a:rect l="l" t="t" r="r" b="b"/>
            <a:pathLst>
              <a:path w="1638300">
                <a:moveTo>
                  <a:pt x="0" y="0"/>
                </a:moveTo>
                <a:lnTo>
                  <a:pt x="1638299" y="0"/>
                </a:lnTo>
              </a:path>
            </a:pathLst>
          </a:custGeom>
          <a:ln w="2857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095750" y="1747784"/>
            <a:ext cx="2857500" cy="1790700"/>
          </a:xfrm>
          <a:custGeom>
            <a:avLst/>
            <a:gdLst/>
            <a:ahLst/>
            <a:cxnLst/>
            <a:rect l="l" t="t" r="r" b="b"/>
            <a:pathLst>
              <a:path w="2857500" h="1790700">
                <a:moveTo>
                  <a:pt x="0" y="1790562"/>
                </a:moveTo>
                <a:lnTo>
                  <a:pt x="2857499" y="0"/>
                </a:lnTo>
              </a:path>
            </a:pathLst>
          </a:custGeom>
          <a:ln w="2857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49140" y="1543364"/>
            <a:ext cx="36004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29" dirty="0">
                <a:solidFill>
                  <a:srgbClr val="00AFF0"/>
                </a:solidFill>
                <a:latin typeface="Arial Black"/>
                <a:cs typeface="Arial Black"/>
              </a:rPr>
              <a:t>L</a:t>
            </a:r>
            <a:r>
              <a:rPr sz="1350" spc="-80" dirty="0">
                <a:solidFill>
                  <a:srgbClr val="00AFF0"/>
                </a:solidFill>
                <a:latin typeface="Arial Black"/>
                <a:cs typeface="Arial Black"/>
              </a:rPr>
              <a:t>i</a:t>
            </a:r>
            <a:r>
              <a:rPr sz="1350" spc="-85" dirty="0">
                <a:solidFill>
                  <a:srgbClr val="00AFF0"/>
                </a:solidFill>
                <a:latin typeface="Arial Black"/>
                <a:cs typeface="Arial Black"/>
              </a:rPr>
              <a:t>n</a:t>
            </a:r>
            <a:r>
              <a:rPr sz="1350" spc="-145" dirty="0">
                <a:solidFill>
                  <a:srgbClr val="00AFF0"/>
                </a:solidFill>
                <a:latin typeface="Arial Black"/>
                <a:cs typeface="Arial Black"/>
              </a:rPr>
              <a:t>e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4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spc="-5" dirty="0"/>
              <a:t>U</a:t>
            </a:r>
            <a:r>
              <a:rPr sz="3950" spc="-20" dirty="0"/>
              <a:t>nd</a:t>
            </a:r>
            <a:r>
              <a:rPr sz="3950" spc="-25" dirty="0"/>
              <a:t>e</a:t>
            </a:r>
            <a:r>
              <a:rPr sz="3950" spc="30" dirty="0"/>
              <a:t>r</a:t>
            </a:r>
            <a:r>
              <a:rPr sz="3950" spc="-25" dirty="0"/>
              <a:t>s</a:t>
            </a:r>
            <a:r>
              <a:rPr sz="3950" spc="30" dirty="0"/>
              <a:t>t</a:t>
            </a:r>
            <a:r>
              <a:rPr sz="3950" spc="-25" dirty="0"/>
              <a:t>a</a:t>
            </a:r>
            <a:r>
              <a:rPr sz="3950" spc="-20" dirty="0"/>
              <a:t>nd</a:t>
            </a:r>
            <a:r>
              <a:rPr sz="3950" spc="15" dirty="0"/>
              <a:t>i</a:t>
            </a:r>
            <a:r>
              <a:rPr sz="3950" spc="10" dirty="0"/>
              <a:t>n </a:t>
            </a:r>
            <a:r>
              <a:rPr sz="3950" b="0" spc="5" dirty="0">
                <a:latin typeface="Times New Roman"/>
                <a:cs typeface="Times New Roman"/>
              </a:rPr>
              <a:t> </a:t>
            </a:r>
            <a:r>
              <a:rPr sz="3950" spc="15" dirty="0"/>
              <a:t>g </a:t>
            </a:r>
            <a:r>
              <a:rPr sz="3950" spc="-10" dirty="0"/>
              <a:t>Linear  </a:t>
            </a:r>
            <a:r>
              <a:rPr sz="3950" spc="-5" dirty="0"/>
              <a:t>Regression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47669" y="4315463"/>
            <a:ext cx="15684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10" dirty="0">
                <a:solidFill>
                  <a:srgbClr val="F07F09"/>
                </a:solidFill>
                <a:latin typeface="Calibri"/>
                <a:cs typeface="Calibri"/>
              </a:rPr>
              <a:t>Independent</a:t>
            </a:r>
            <a:r>
              <a:rPr sz="1350" b="1" spc="-155" dirty="0">
                <a:solidFill>
                  <a:srgbClr val="F07F09"/>
                </a:solidFill>
                <a:latin typeface="Calibri"/>
                <a:cs typeface="Calibri"/>
              </a:rPr>
              <a:t> </a:t>
            </a:r>
            <a:r>
              <a:rPr sz="1350" b="1" spc="-15" dirty="0">
                <a:solidFill>
                  <a:srgbClr val="F07F09"/>
                </a:solidFill>
                <a:latin typeface="Calibri"/>
                <a:cs typeface="Calibri"/>
              </a:rPr>
              <a:t>Variable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3805256" y="901379"/>
            <a:ext cx="4860594" cy="3322639"/>
            <a:chOff x="3805256" y="901379"/>
            <a:chExt cx="4860594" cy="3322639"/>
          </a:xfrm>
        </p:grpSpPr>
        <p:sp>
          <p:nvSpPr>
            <p:cNvPr id="10" name="object 10"/>
            <p:cNvSpPr/>
            <p:nvPr/>
          </p:nvSpPr>
          <p:spPr>
            <a:xfrm>
              <a:off x="4052834" y="1102613"/>
              <a:ext cx="85725" cy="2953385"/>
            </a:xfrm>
            <a:custGeom>
              <a:avLst/>
              <a:gdLst/>
              <a:ahLst/>
              <a:cxnLst/>
              <a:rect l="l" t="t" r="r" b="b"/>
              <a:pathLst>
                <a:path w="85725" h="2953385">
                  <a:moveTo>
                    <a:pt x="57150" y="71506"/>
                  </a:moveTo>
                  <a:lnTo>
                    <a:pt x="28575" y="71506"/>
                  </a:lnTo>
                  <a:lnTo>
                    <a:pt x="28575" y="2952808"/>
                  </a:lnTo>
                  <a:lnTo>
                    <a:pt x="57150" y="2952808"/>
                  </a:lnTo>
                  <a:lnTo>
                    <a:pt x="57150" y="71506"/>
                  </a:lnTo>
                  <a:close/>
                </a:path>
                <a:path w="85725" h="2953385">
                  <a:moveTo>
                    <a:pt x="42915" y="0"/>
                  </a:moveTo>
                  <a:lnTo>
                    <a:pt x="0" y="85709"/>
                  </a:lnTo>
                  <a:lnTo>
                    <a:pt x="28575" y="85709"/>
                  </a:lnTo>
                  <a:lnTo>
                    <a:pt x="28575" y="71506"/>
                  </a:lnTo>
                  <a:lnTo>
                    <a:pt x="78618" y="71506"/>
                  </a:lnTo>
                  <a:lnTo>
                    <a:pt x="42915" y="0"/>
                  </a:lnTo>
                  <a:close/>
                </a:path>
                <a:path w="85725" h="2953385">
                  <a:moveTo>
                    <a:pt x="78618" y="71506"/>
                  </a:moveTo>
                  <a:lnTo>
                    <a:pt x="57150" y="71506"/>
                  </a:lnTo>
                  <a:lnTo>
                    <a:pt x="57150" y="85709"/>
                  </a:lnTo>
                  <a:lnTo>
                    <a:pt x="85709" y="85709"/>
                  </a:lnTo>
                  <a:lnTo>
                    <a:pt x="78618" y="71506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6578" y="4033421"/>
              <a:ext cx="4363085" cy="85725"/>
            </a:xfrm>
            <a:custGeom>
              <a:avLst/>
              <a:gdLst/>
              <a:ahLst/>
              <a:cxnLst/>
              <a:rect l="l" t="t" r="r" b="b"/>
              <a:pathLst>
                <a:path w="4363084" h="85725">
                  <a:moveTo>
                    <a:pt x="4277106" y="0"/>
                  </a:moveTo>
                  <a:lnTo>
                    <a:pt x="4276933" y="28563"/>
                  </a:lnTo>
                  <a:lnTo>
                    <a:pt x="4291187" y="28632"/>
                  </a:lnTo>
                  <a:lnTo>
                    <a:pt x="4291065" y="57207"/>
                  </a:lnTo>
                  <a:lnTo>
                    <a:pt x="4276760" y="57207"/>
                  </a:lnTo>
                  <a:lnTo>
                    <a:pt x="4276587" y="85725"/>
                  </a:lnTo>
                  <a:lnTo>
                    <a:pt x="4334355" y="57207"/>
                  </a:lnTo>
                  <a:lnTo>
                    <a:pt x="4291065" y="57207"/>
                  </a:lnTo>
                  <a:lnTo>
                    <a:pt x="4334496" y="57138"/>
                  </a:lnTo>
                  <a:lnTo>
                    <a:pt x="4362572" y="43278"/>
                  </a:lnTo>
                  <a:lnTo>
                    <a:pt x="4277106" y="0"/>
                  </a:lnTo>
                  <a:close/>
                </a:path>
                <a:path w="4363084" h="85725">
                  <a:moveTo>
                    <a:pt x="4276933" y="28563"/>
                  </a:moveTo>
                  <a:lnTo>
                    <a:pt x="4276760" y="57138"/>
                  </a:lnTo>
                  <a:lnTo>
                    <a:pt x="4291065" y="57207"/>
                  </a:lnTo>
                  <a:lnTo>
                    <a:pt x="4291187" y="28632"/>
                  </a:lnTo>
                  <a:lnTo>
                    <a:pt x="4276933" y="28563"/>
                  </a:lnTo>
                  <a:close/>
                </a:path>
                <a:path w="4363084" h="85725">
                  <a:moveTo>
                    <a:pt x="243" y="7702"/>
                  </a:moveTo>
                  <a:lnTo>
                    <a:pt x="0" y="36277"/>
                  </a:lnTo>
                  <a:lnTo>
                    <a:pt x="4276760" y="57138"/>
                  </a:lnTo>
                  <a:lnTo>
                    <a:pt x="4276933" y="28563"/>
                  </a:lnTo>
                  <a:lnTo>
                    <a:pt x="243" y="7702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805256" y="1734392"/>
              <a:ext cx="197485" cy="143573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1385"/>
                </a:lnSpc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Dependent</a:t>
              </a:r>
              <a:r>
                <a:rPr sz="1350" b="1" spc="-140" dirty="0">
                  <a:solidFill>
                    <a:srgbClr val="6B9E24"/>
                  </a:solidFill>
                  <a:latin typeface="Calibri"/>
                  <a:cs typeface="Calibri"/>
                </a:rPr>
                <a:t> </a:t>
              </a:r>
              <a:r>
                <a:rPr sz="1350" b="1" spc="-15" dirty="0">
                  <a:solidFill>
                    <a:srgbClr val="6B9E24"/>
                  </a:solidFill>
                  <a:latin typeface="Calibri"/>
                  <a:cs typeface="Calibri"/>
                </a:rPr>
                <a:t>Variable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8545836" y="3992243"/>
              <a:ext cx="120014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065019" y="90137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998856" y="3954719"/>
              <a:ext cx="209549" cy="20954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98350" y="3282065"/>
              <a:ext cx="209549" cy="20954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76700" y="1789816"/>
              <a:ext cx="2891155" cy="1619885"/>
            </a:xfrm>
            <a:custGeom>
              <a:avLst/>
              <a:gdLst/>
              <a:ahLst/>
              <a:cxnLst/>
              <a:rect l="l" t="t" r="r" b="b"/>
              <a:pathLst>
                <a:path w="2891154" h="1619885">
                  <a:moveTo>
                    <a:pt x="0" y="1619752"/>
                  </a:moveTo>
                  <a:lnTo>
                    <a:pt x="2890784" y="0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7008500" y="1666300"/>
              <a:ext cx="30289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-145" dirty="0">
                  <a:solidFill>
                    <a:srgbClr val="00AFF0"/>
                  </a:solidFill>
                  <a:latin typeface="Arial Black"/>
                  <a:cs typeface="Arial Black"/>
                </a:rPr>
                <a:t>+</a:t>
              </a:r>
              <a:r>
                <a:rPr sz="1350" spc="-150" dirty="0">
                  <a:solidFill>
                    <a:srgbClr val="00AFF0"/>
                  </a:solidFill>
                  <a:latin typeface="Arial Black"/>
                  <a:cs typeface="Arial Black"/>
                </a:rPr>
                <a:t>ve</a:t>
              </a:r>
              <a:endParaRPr sz="1350">
                <a:latin typeface="Arial Black"/>
                <a:cs typeface="Arial Black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spc="-5" dirty="0"/>
              <a:t>U</a:t>
            </a:r>
            <a:r>
              <a:rPr sz="3950" spc="-20" dirty="0"/>
              <a:t>nd</a:t>
            </a:r>
            <a:r>
              <a:rPr sz="3950" spc="-25" dirty="0"/>
              <a:t>e</a:t>
            </a:r>
            <a:r>
              <a:rPr sz="3950" spc="30" dirty="0"/>
              <a:t>r</a:t>
            </a:r>
            <a:r>
              <a:rPr sz="3950" spc="-25" dirty="0"/>
              <a:t>s</a:t>
            </a:r>
            <a:r>
              <a:rPr sz="3950" spc="30" dirty="0"/>
              <a:t>t</a:t>
            </a:r>
            <a:r>
              <a:rPr sz="3950" spc="-25" dirty="0"/>
              <a:t>a</a:t>
            </a:r>
            <a:r>
              <a:rPr sz="3950" spc="-20" dirty="0"/>
              <a:t>nd</a:t>
            </a:r>
            <a:r>
              <a:rPr sz="3950" spc="15" dirty="0"/>
              <a:t>i</a:t>
            </a:r>
            <a:r>
              <a:rPr sz="3950" spc="10" dirty="0"/>
              <a:t>n </a:t>
            </a:r>
            <a:r>
              <a:rPr sz="3950" b="0" spc="5" dirty="0">
                <a:latin typeface="Times New Roman"/>
                <a:cs typeface="Times New Roman"/>
              </a:rPr>
              <a:t> </a:t>
            </a:r>
            <a:r>
              <a:rPr sz="3950" spc="15" dirty="0"/>
              <a:t>g </a:t>
            </a:r>
            <a:r>
              <a:rPr sz="3950" spc="-10" dirty="0"/>
              <a:t>Linear  </a:t>
            </a:r>
            <a:r>
              <a:rPr sz="3950" spc="-5" dirty="0"/>
              <a:t>Regression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Group 21"/>
          <p:cNvGrpSpPr/>
          <p:nvPr/>
        </p:nvGrpSpPr>
        <p:grpSpPr>
          <a:xfrm>
            <a:off x="3805256" y="901379"/>
            <a:ext cx="4860594" cy="3645859"/>
            <a:chOff x="3805256" y="901379"/>
            <a:chExt cx="4860594" cy="3645859"/>
          </a:xfrm>
        </p:grpSpPr>
        <p:sp>
          <p:nvSpPr>
            <p:cNvPr id="10" name="object 10"/>
            <p:cNvSpPr/>
            <p:nvPr/>
          </p:nvSpPr>
          <p:spPr>
            <a:xfrm>
              <a:off x="4052834" y="1102613"/>
              <a:ext cx="85725" cy="2953385"/>
            </a:xfrm>
            <a:custGeom>
              <a:avLst/>
              <a:gdLst/>
              <a:ahLst/>
              <a:cxnLst/>
              <a:rect l="l" t="t" r="r" b="b"/>
              <a:pathLst>
                <a:path w="85725" h="2953385">
                  <a:moveTo>
                    <a:pt x="57150" y="71506"/>
                  </a:moveTo>
                  <a:lnTo>
                    <a:pt x="28575" y="71506"/>
                  </a:lnTo>
                  <a:lnTo>
                    <a:pt x="28575" y="2952808"/>
                  </a:lnTo>
                  <a:lnTo>
                    <a:pt x="57150" y="2952808"/>
                  </a:lnTo>
                  <a:lnTo>
                    <a:pt x="57150" y="71506"/>
                  </a:lnTo>
                  <a:close/>
                </a:path>
                <a:path w="85725" h="2953385">
                  <a:moveTo>
                    <a:pt x="42915" y="0"/>
                  </a:moveTo>
                  <a:lnTo>
                    <a:pt x="0" y="85709"/>
                  </a:lnTo>
                  <a:lnTo>
                    <a:pt x="28575" y="85709"/>
                  </a:lnTo>
                  <a:lnTo>
                    <a:pt x="28575" y="71506"/>
                  </a:lnTo>
                  <a:lnTo>
                    <a:pt x="78618" y="71506"/>
                  </a:lnTo>
                  <a:lnTo>
                    <a:pt x="42915" y="0"/>
                  </a:lnTo>
                  <a:close/>
                </a:path>
                <a:path w="85725" h="2953385">
                  <a:moveTo>
                    <a:pt x="78618" y="71506"/>
                  </a:moveTo>
                  <a:lnTo>
                    <a:pt x="57150" y="71506"/>
                  </a:lnTo>
                  <a:lnTo>
                    <a:pt x="57150" y="85709"/>
                  </a:lnTo>
                  <a:lnTo>
                    <a:pt x="85709" y="85709"/>
                  </a:lnTo>
                  <a:lnTo>
                    <a:pt x="78618" y="71506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6578" y="4033421"/>
              <a:ext cx="4363085" cy="85725"/>
            </a:xfrm>
            <a:custGeom>
              <a:avLst/>
              <a:gdLst/>
              <a:ahLst/>
              <a:cxnLst/>
              <a:rect l="l" t="t" r="r" b="b"/>
              <a:pathLst>
                <a:path w="4363084" h="85725">
                  <a:moveTo>
                    <a:pt x="4277106" y="0"/>
                  </a:moveTo>
                  <a:lnTo>
                    <a:pt x="4276933" y="28563"/>
                  </a:lnTo>
                  <a:lnTo>
                    <a:pt x="4291187" y="28632"/>
                  </a:lnTo>
                  <a:lnTo>
                    <a:pt x="4291065" y="57207"/>
                  </a:lnTo>
                  <a:lnTo>
                    <a:pt x="4276760" y="57207"/>
                  </a:lnTo>
                  <a:lnTo>
                    <a:pt x="4276587" y="85725"/>
                  </a:lnTo>
                  <a:lnTo>
                    <a:pt x="4334355" y="57207"/>
                  </a:lnTo>
                  <a:lnTo>
                    <a:pt x="4291065" y="57207"/>
                  </a:lnTo>
                  <a:lnTo>
                    <a:pt x="4334496" y="57138"/>
                  </a:lnTo>
                  <a:lnTo>
                    <a:pt x="4362572" y="43278"/>
                  </a:lnTo>
                  <a:lnTo>
                    <a:pt x="4277106" y="0"/>
                  </a:lnTo>
                  <a:close/>
                </a:path>
                <a:path w="4363084" h="85725">
                  <a:moveTo>
                    <a:pt x="4276933" y="28563"/>
                  </a:moveTo>
                  <a:lnTo>
                    <a:pt x="4276760" y="57138"/>
                  </a:lnTo>
                  <a:lnTo>
                    <a:pt x="4291065" y="57207"/>
                  </a:lnTo>
                  <a:lnTo>
                    <a:pt x="4291187" y="28632"/>
                  </a:lnTo>
                  <a:lnTo>
                    <a:pt x="4276933" y="28563"/>
                  </a:lnTo>
                  <a:close/>
                </a:path>
                <a:path w="4363084" h="85725">
                  <a:moveTo>
                    <a:pt x="243" y="7702"/>
                  </a:moveTo>
                  <a:lnTo>
                    <a:pt x="0" y="36277"/>
                  </a:lnTo>
                  <a:lnTo>
                    <a:pt x="4276760" y="57138"/>
                  </a:lnTo>
                  <a:lnTo>
                    <a:pt x="4276933" y="28563"/>
                  </a:lnTo>
                  <a:lnTo>
                    <a:pt x="243" y="7702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5447669" y="4315463"/>
              <a:ext cx="156845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spc="10" dirty="0">
                  <a:solidFill>
                    <a:srgbClr val="F07F09"/>
                  </a:solidFill>
                  <a:latin typeface="Calibri"/>
                  <a:cs typeface="Calibri"/>
                </a:rPr>
                <a:t>Independent</a:t>
              </a:r>
              <a:r>
                <a:rPr sz="1350" b="1" spc="-155" dirty="0">
                  <a:solidFill>
                    <a:srgbClr val="F07F09"/>
                  </a:solidFill>
                  <a:latin typeface="Calibri"/>
                  <a:cs typeface="Calibri"/>
                </a:rPr>
                <a:t> </a:t>
              </a:r>
              <a:r>
                <a:rPr sz="1350" b="1" spc="-15" dirty="0">
                  <a:solidFill>
                    <a:srgbClr val="F07F09"/>
                  </a:solidFill>
                  <a:latin typeface="Calibri"/>
                  <a:cs typeface="Calibri"/>
                </a:rPr>
                <a:t>Variable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805256" y="1734392"/>
              <a:ext cx="197485" cy="143573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1385"/>
                </a:lnSpc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Dependent</a:t>
              </a:r>
              <a:r>
                <a:rPr sz="1350" b="1" spc="-140" dirty="0">
                  <a:solidFill>
                    <a:srgbClr val="6B9E24"/>
                  </a:solidFill>
                  <a:latin typeface="Calibri"/>
                  <a:cs typeface="Calibri"/>
                </a:rPr>
                <a:t> </a:t>
              </a:r>
              <a:r>
                <a:rPr sz="1350" b="1" spc="-15" dirty="0">
                  <a:solidFill>
                    <a:srgbClr val="6B9E24"/>
                  </a:solidFill>
                  <a:latin typeface="Calibri"/>
                  <a:cs typeface="Calibri"/>
                </a:rPr>
                <a:t>Variable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8545836" y="3992243"/>
              <a:ext cx="120014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065019" y="90137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247456" y="3945875"/>
              <a:ext cx="219074" cy="2190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95750" y="2133600"/>
              <a:ext cx="2476500" cy="1769110"/>
            </a:xfrm>
            <a:custGeom>
              <a:avLst/>
              <a:gdLst/>
              <a:ahLst/>
              <a:cxnLst/>
              <a:rect l="l" t="t" r="r" b="b"/>
              <a:pathLst>
                <a:path w="2476500" h="1769110">
                  <a:moveTo>
                    <a:pt x="0" y="0"/>
                  </a:moveTo>
                  <a:lnTo>
                    <a:pt x="2476499" y="1769007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93588" y="3238309"/>
              <a:ext cx="219074" cy="2190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6715765" y="3732211"/>
              <a:ext cx="26479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-5" dirty="0">
                  <a:solidFill>
                    <a:srgbClr val="00AFF0"/>
                  </a:solidFill>
                  <a:latin typeface="Arial Black"/>
                  <a:cs typeface="Arial Black"/>
                </a:rPr>
                <a:t>-</a:t>
              </a:r>
              <a:r>
                <a:rPr sz="1350" spc="-150" dirty="0">
                  <a:solidFill>
                    <a:srgbClr val="00AFF0"/>
                  </a:solidFill>
                  <a:latin typeface="Arial Black"/>
                  <a:cs typeface="Arial Black"/>
                </a:rPr>
                <a:t>ve</a:t>
              </a:r>
              <a:endParaRPr sz="1350">
                <a:latin typeface="Arial Black"/>
                <a:cs typeface="Arial Black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spc="-5" dirty="0"/>
              <a:t>U</a:t>
            </a:r>
            <a:r>
              <a:rPr sz="3950" spc="-20" dirty="0"/>
              <a:t>nd</a:t>
            </a:r>
            <a:r>
              <a:rPr sz="3950" spc="-25" dirty="0"/>
              <a:t>e</a:t>
            </a:r>
            <a:r>
              <a:rPr sz="3950" spc="30" dirty="0"/>
              <a:t>r</a:t>
            </a:r>
            <a:r>
              <a:rPr sz="3950" spc="-25" dirty="0"/>
              <a:t>s</a:t>
            </a:r>
            <a:r>
              <a:rPr sz="3950" spc="30" dirty="0"/>
              <a:t>t</a:t>
            </a:r>
            <a:r>
              <a:rPr sz="3950" spc="-25" dirty="0"/>
              <a:t>a</a:t>
            </a:r>
            <a:r>
              <a:rPr sz="3950" spc="-20" dirty="0"/>
              <a:t>nd</a:t>
            </a:r>
            <a:r>
              <a:rPr sz="3950" spc="15" dirty="0"/>
              <a:t>i</a:t>
            </a:r>
            <a:r>
              <a:rPr sz="3950" spc="10" dirty="0"/>
              <a:t>n </a:t>
            </a:r>
            <a:r>
              <a:rPr sz="3950" b="0" spc="5" dirty="0">
                <a:latin typeface="Times New Roman"/>
                <a:cs typeface="Times New Roman"/>
              </a:rPr>
              <a:t> </a:t>
            </a:r>
            <a:r>
              <a:rPr sz="3950" spc="15" dirty="0"/>
              <a:t>g </a:t>
            </a:r>
            <a:r>
              <a:rPr sz="3950" spc="-10" dirty="0"/>
              <a:t>Linear  </a:t>
            </a:r>
            <a:r>
              <a:rPr sz="3950" spc="-5" dirty="0"/>
              <a:t>Regression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52834" y="1102613"/>
            <a:ext cx="85725" cy="2953385"/>
          </a:xfrm>
          <a:custGeom>
            <a:avLst/>
            <a:gdLst/>
            <a:ahLst/>
            <a:cxnLst/>
            <a:rect l="l" t="t" r="r" b="b"/>
            <a:pathLst>
              <a:path w="85725" h="2953385">
                <a:moveTo>
                  <a:pt x="57150" y="71506"/>
                </a:moveTo>
                <a:lnTo>
                  <a:pt x="28575" y="71506"/>
                </a:lnTo>
                <a:lnTo>
                  <a:pt x="28575" y="2952808"/>
                </a:lnTo>
                <a:lnTo>
                  <a:pt x="57150" y="2952808"/>
                </a:lnTo>
                <a:lnTo>
                  <a:pt x="57150" y="71506"/>
                </a:lnTo>
                <a:close/>
              </a:path>
              <a:path w="85725" h="2953385">
                <a:moveTo>
                  <a:pt x="42915" y="0"/>
                </a:moveTo>
                <a:lnTo>
                  <a:pt x="0" y="85709"/>
                </a:lnTo>
                <a:lnTo>
                  <a:pt x="28575" y="85709"/>
                </a:lnTo>
                <a:lnTo>
                  <a:pt x="28575" y="71506"/>
                </a:lnTo>
                <a:lnTo>
                  <a:pt x="78618" y="71506"/>
                </a:lnTo>
                <a:lnTo>
                  <a:pt x="42915" y="0"/>
                </a:lnTo>
                <a:close/>
              </a:path>
              <a:path w="85725" h="2953385">
                <a:moveTo>
                  <a:pt x="78618" y="71506"/>
                </a:moveTo>
                <a:lnTo>
                  <a:pt x="57150" y="71506"/>
                </a:lnTo>
                <a:lnTo>
                  <a:pt x="57150" y="85709"/>
                </a:lnTo>
                <a:lnTo>
                  <a:pt x="85709" y="85709"/>
                </a:lnTo>
                <a:lnTo>
                  <a:pt x="78618" y="71506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76578" y="4033421"/>
            <a:ext cx="4363085" cy="85725"/>
          </a:xfrm>
          <a:custGeom>
            <a:avLst/>
            <a:gdLst/>
            <a:ahLst/>
            <a:cxnLst/>
            <a:rect l="l" t="t" r="r" b="b"/>
            <a:pathLst>
              <a:path w="4363084" h="85725">
                <a:moveTo>
                  <a:pt x="4277106" y="0"/>
                </a:moveTo>
                <a:lnTo>
                  <a:pt x="4276933" y="28563"/>
                </a:lnTo>
                <a:lnTo>
                  <a:pt x="4291187" y="28632"/>
                </a:lnTo>
                <a:lnTo>
                  <a:pt x="4291065" y="57207"/>
                </a:lnTo>
                <a:lnTo>
                  <a:pt x="4276760" y="57207"/>
                </a:lnTo>
                <a:lnTo>
                  <a:pt x="4276587" y="85725"/>
                </a:lnTo>
                <a:lnTo>
                  <a:pt x="4334355" y="57207"/>
                </a:lnTo>
                <a:lnTo>
                  <a:pt x="4291065" y="57207"/>
                </a:lnTo>
                <a:lnTo>
                  <a:pt x="4334496" y="57138"/>
                </a:lnTo>
                <a:lnTo>
                  <a:pt x="4362572" y="43278"/>
                </a:lnTo>
                <a:lnTo>
                  <a:pt x="4277106" y="0"/>
                </a:lnTo>
                <a:close/>
              </a:path>
              <a:path w="4363084" h="85725">
                <a:moveTo>
                  <a:pt x="4276933" y="28563"/>
                </a:moveTo>
                <a:lnTo>
                  <a:pt x="4276760" y="57138"/>
                </a:lnTo>
                <a:lnTo>
                  <a:pt x="4291065" y="57207"/>
                </a:lnTo>
                <a:lnTo>
                  <a:pt x="4291187" y="28632"/>
                </a:lnTo>
                <a:lnTo>
                  <a:pt x="4276933" y="28563"/>
                </a:lnTo>
                <a:close/>
              </a:path>
              <a:path w="4363084" h="85725">
                <a:moveTo>
                  <a:pt x="243" y="7702"/>
                </a:moveTo>
                <a:lnTo>
                  <a:pt x="0" y="36277"/>
                </a:lnTo>
                <a:lnTo>
                  <a:pt x="4276760" y="57138"/>
                </a:lnTo>
                <a:lnTo>
                  <a:pt x="4276933" y="28563"/>
                </a:lnTo>
                <a:lnTo>
                  <a:pt x="243" y="7702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47669" y="4315463"/>
            <a:ext cx="15684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10" dirty="0">
                <a:solidFill>
                  <a:srgbClr val="F07F09"/>
                </a:solidFill>
                <a:latin typeface="Calibri"/>
                <a:cs typeface="Calibri"/>
              </a:rPr>
              <a:t>Independent</a:t>
            </a:r>
            <a:r>
              <a:rPr sz="1350" b="1" spc="-155" dirty="0">
                <a:solidFill>
                  <a:srgbClr val="F07F09"/>
                </a:solidFill>
                <a:latin typeface="Calibri"/>
                <a:cs typeface="Calibri"/>
              </a:rPr>
              <a:t> </a:t>
            </a:r>
            <a:r>
              <a:rPr sz="1350" b="1" spc="-15" dirty="0">
                <a:solidFill>
                  <a:srgbClr val="F07F09"/>
                </a:solidFill>
                <a:latin typeface="Calibri"/>
                <a:cs typeface="Calibri"/>
              </a:rPr>
              <a:t>Variable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05256" y="1734392"/>
            <a:ext cx="197485" cy="14357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Dependent</a:t>
            </a:r>
            <a:r>
              <a:rPr sz="1350" b="1" spc="-140" dirty="0">
                <a:solidFill>
                  <a:srgbClr val="6B9E24"/>
                </a:solidFill>
                <a:latin typeface="Calibri"/>
                <a:cs typeface="Calibri"/>
              </a:rPr>
              <a:t> </a:t>
            </a:r>
            <a:r>
              <a:rPr sz="1350" b="1" spc="-15" dirty="0">
                <a:solidFill>
                  <a:srgbClr val="6B9E24"/>
                </a:solidFill>
                <a:latin typeface="Calibri"/>
                <a:cs typeface="Calibri"/>
              </a:rPr>
              <a:t>Variable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45836" y="3992243"/>
            <a:ext cx="120014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65019" y="901379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09344" y="1473189"/>
            <a:ext cx="3215640" cy="1931670"/>
          </a:xfrm>
          <a:custGeom>
            <a:avLst/>
            <a:gdLst/>
            <a:ahLst/>
            <a:cxnLst/>
            <a:rect l="l" t="t" r="r" b="b"/>
            <a:pathLst>
              <a:path w="3215640" h="1931670">
                <a:moveTo>
                  <a:pt x="0" y="1931676"/>
                </a:moveTo>
                <a:lnTo>
                  <a:pt x="3215396" y="0"/>
                </a:lnTo>
              </a:path>
            </a:pathLst>
          </a:custGeom>
          <a:ln w="2857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380610" y="1349054"/>
            <a:ext cx="36004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29" dirty="0">
                <a:solidFill>
                  <a:srgbClr val="00AFF0"/>
                </a:solidFill>
                <a:latin typeface="Arial Black"/>
                <a:cs typeface="Arial Black"/>
              </a:rPr>
              <a:t>L</a:t>
            </a:r>
            <a:r>
              <a:rPr sz="1350" spc="-80" dirty="0">
                <a:solidFill>
                  <a:srgbClr val="00AFF0"/>
                </a:solidFill>
                <a:latin typeface="Arial Black"/>
                <a:cs typeface="Arial Black"/>
              </a:rPr>
              <a:t>i</a:t>
            </a:r>
            <a:r>
              <a:rPr sz="1350" spc="-85" dirty="0">
                <a:solidFill>
                  <a:srgbClr val="00AFF0"/>
                </a:solidFill>
                <a:latin typeface="Arial Black"/>
                <a:cs typeface="Arial Black"/>
              </a:rPr>
              <a:t>n</a:t>
            </a:r>
            <a:r>
              <a:rPr sz="1350" spc="-145" dirty="0">
                <a:solidFill>
                  <a:srgbClr val="00AFF0"/>
                </a:solidFill>
                <a:latin typeface="Arial Black"/>
                <a:cs typeface="Arial Black"/>
              </a:rPr>
              <a:t>e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nd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nd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n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g </a:t>
            </a:r>
            <a:r>
              <a:rPr sz="3950" b="1" spc="-10" dirty="0">
                <a:solidFill>
                  <a:srgbClr val="FFFFFF"/>
                </a:solidFill>
                <a:latin typeface="Arial"/>
                <a:cs typeface="Arial"/>
              </a:rPr>
              <a:t>Linear 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Group 19"/>
          <p:cNvGrpSpPr/>
          <p:nvPr/>
        </p:nvGrpSpPr>
        <p:grpSpPr>
          <a:xfrm>
            <a:off x="3805256" y="901379"/>
            <a:ext cx="4860594" cy="3645859"/>
            <a:chOff x="3805256" y="901379"/>
            <a:chExt cx="4860594" cy="3645859"/>
          </a:xfrm>
        </p:grpSpPr>
        <p:sp>
          <p:nvSpPr>
            <p:cNvPr id="10" name="object 10"/>
            <p:cNvSpPr/>
            <p:nvPr/>
          </p:nvSpPr>
          <p:spPr>
            <a:xfrm>
              <a:off x="4052834" y="1102613"/>
              <a:ext cx="85725" cy="2953385"/>
            </a:xfrm>
            <a:custGeom>
              <a:avLst/>
              <a:gdLst/>
              <a:ahLst/>
              <a:cxnLst/>
              <a:rect l="l" t="t" r="r" b="b"/>
              <a:pathLst>
                <a:path w="85725" h="2953385">
                  <a:moveTo>
                    <a:pt x="57150" y="71506"/>
                  </a:moveTo>
                  <a:lnTo>
                    <a:pt x="28575" y="71506"/>
                  </a:lnTo>
                  <a:lnTo>
                    <a:pt x="28575" y="2952808"/>
                  </a:lnTo>
                  <a:lnTo>
                    <a:pt x="57150" y="2952808"/>
                  </a:lnTo>
                  <a:lnTo>
                    <a:pt x="57150" y="71506"/>
                  </a:lnTo>
                  <a:close/>
                </a:path>
                <a:path w="85725" h="2953385">
                  <a:moveTo>
                    <a:pt x="42915" y="0"/>
                  </a:moveTo>
                  <a:lnTo>
                    <a:pt x="0" y="85709"/>
                  </a:lnTo>
                  <a:lnTo>
                    <a:pt x="28575" y="85709"/>
                  </a:lnTo>
                  <a:lnTo>
                    <a:pt x="28575" y="71506"/>
                  </a:lnTo>
                  <a:lnTo>
                    <a:pt x="78618" y="71506"/>
                  </a:lnTo>
                  <a:lnTo>
                    <a:pt x="42915" y="0"/>
                  </a:lnTo>
                  <a:close/>
                </a:path>
                <a:path w="85725" h="2953385">
                  <a:moveTo>
                    <a:pt x="78618" y="71506"/>
                  </a:moveTo>
                  <a:lnTo>
                    <a:pt x="57150" y="71506"/>
                  </a:lnTo>
                  <a:lnTo>
                    <a:pt x="57150" y="85709"/>
                  </a:lnTo>
                  <a:lnTo>
                    <a:pt x="85709" y="85709"/>
                  </a:lnTo>
                  <a:lnTo>
                    <a:pt x="78618" y="71506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6578" y="4033421"/>
              <a:ext cx="4363085" cy="85725"/>
            </a:xfrm>
            <a:custGeom>
              <a:avLst/>
              <a:gdLst/>
              <a:ahLst/>
              <a:cxnLst/>
              <a:rect l="l" t="t" r="r" b="b"/>
              <a:pathLst>
                <a:path w="4363084" h="85725">
                  <a:moveTo>
                    <a:pt x="4277106" y="0"/>
                  </a:moveTo>
                  <a:lnTo>
                    <a:pt x="4276933" y="28563"/>
                  </a:lnTo>
                  <a:lnTo>
                    <a:pt x="4291187" y="28632"/>
                  </a:lnTo>
                  <a:lnTo>
                    <a:pt x="4291065" y="57207"/>
                  </a:lnTo>
                  <a:lnTo>
                    <a:pt x="4276760" y="57207"/>
                  </a:lnTo>
                  <a:lnTo>
                    <a:pt x="4276587" y="85725"/>
                  </a:lnTo>
                  <a:lnTo>
                    <a:pt x="4334355" y="57207"/>
                  </a:lnTo>
                  <a:lnTo>
                    <a:pt x="4291065" y="57207"/>
                  </a:lnTo>
                  <a:lnTo>
                    <a:pt x="4334496" y="57138"/>
                  </a:lnTo>
                  <a:lnTo>
                    <a:pt x="4362572" y="43278"/>
                  </a:lnTo>
                  <a:lnTo>
                    <a:pt x="4277106" y="0"/>
                  </a:lnTo>
                  <a:close/>
                </a:path>
                <a:path w="4363084" h="85725">
                  <a:moveTo>
                    <a:pt x="4276933" y="28563"/>
                  </a:moveTo>
                  <a:lnTo>
                    <a:pt x="4276760" y="57138"/>
                  </a:lnTo>
                  <a:lnTo>
                    <a:pt x="4291065" y="57207"/>
                  </a:lnTo>
                  <a:lnTo>
                    <a:pt x="4291187" y="28632"/>
                  </a:lnTo>
                  <a:lnTo>
                    <a:pt x="4276933" y="28563"/>
                  </a:lnTo>
                  <a:close/>
                </a:path>
                <a:path w="4363084" h="85725">
                  <a:moveTo>
                    <a:pt x="243" y="7702"/>
                  </a:moveTo>
                  <a:lnTo>
                    <a:pt x="0" y="36277"/>
                  </a:lnTo>
                  <a:lnTo>
                    <a:pt x="4276760" y="57138"/>
                  </a:lnTo>
                  <a:lnTo>
                    <a:pt x="4276933" y="28563"/>
                  </a:lnTo>
                  <a:lnTo>
                    <a:pt x="243" y="7702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5447669" y="4315463"/>
              <a:ext cx="156845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spc="10" dirty="0">
                  <a:solidFill>
                    <a:srgbClr val="F07F09"/>
                  </a:solidFill>
                  <a:latin typeface="Calibri"/>
                  <a:cs typeface="Calibri"/>
                </a:rPr>
                <a:t>Independent</a:t>
              </a:r>
              <a:r>
                <a:rPr sz="1350" b="1" spc="-155" dirty="0">
                  <a:solidFill>
                    <a:srgbClr val="F07F09"/>
                  </a:solidFill>
                  <a:latin typeface="Calibri"/>
                  <a:cs typeface="Calibri"/>
                </a:rPr>
                <a:t> </a:t>
              </a:r>
              <a:r>
                <a:rPr sz="1350" b="1" spc="-15" dirty="0">
                  <a:solidFill>
                    <a:srgbClr val="F07F09"/>
                  </a:solidFill>
                  <a:latin typeface="Calibri"/>
                  <a:cs typeface="Calibri"/>
                </a:rPr>
                <a:t>Variable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805256" y="1734392"/>
              <a:ext cx="197485" cy="143573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1385"/>
                </a:lnSpc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Dependent</a:t>
              </a:r>
              <a:r>
                <a:rPr sz="1350" b="1" spc="-140" dirty="0">
                  <a:solidFill>
                    <a:srgbClr val="6B9E24"/>
                  </a:solidFill>
                  <a:latin typeface="Calibri"/>
                  <a:cs typeface="Calibri"/>
                </a:rPr>
                <a:t> </a:t>
              </a:r>
              <a:r>
                <a:rPr sz="1350" b="1" spc="-15" dirty="0">
                  <a:solidFill>
                    <a:srgbClr val="6B9E24"/>
                  </a:solidFill>
                  <a:latin typeface="Calibri"/>
                  <a:cs typeface="Calibri"/>
                </a:rPr>
                <a:t>Variable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8545836" y="3992243"/>
              <a:ext cx="120014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065019" y="90137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109344" y="1473189"/>
              <a:ext cx="3215640" cy="1931670"/>
            </a:xfrm>
            <a:custGeom>
              <a:avLst/>
              <a:gdLst/>
              <a:ahLst/>
              <a:cxnLst/>
              <a:rect l="l" t="t" r="r" b="b"/>
              <a:pathLst>
                <a:path w="3215640" h="1931670">
                  <a:moveTo>
                    <a:pt x="0" y="1931676"/>
                  </a:moveTo>
                  <a:lnTo>
                    <a:pt x="3215396" y="0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894072" y="796286"/>
            <a:ext cx="1183005" cy="44195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46050" marR="5080" indent="-133985">
              <a:lnSpc>
                <a:spcPct val="102200"/>
              </a:lnSpc>
              <a:spcBef>
                <a:spcPts val="65"/>
              </a:spcBef>
            </a:pPr>
            <a:r>
              <a:rPr sz="1350" spc="5" dirty="0">
                <a:solidFill>
                  <a:srgbClr val="00AFF0"/>
                </a:solidFill>
              </a:rPr>
              <a:t>Line </a:t>
            </a:r>
            <a:r>
              <a:rPr sz="1350" spc="35" dirty="0">
                <a:solidFill>
                  <a:srgbClr val="00AFF0"/>
                </a:solidFill>
              </a:rPr>
              <a:t>of</a:t>
            </a:r>
            <a:r>
              <a:rPr sz="1350" spc="-35" dirty="0">
                <a:solidFill>
                  <a:srgbClr val="00AFF0"/>
                </a:solidFill>
              </a:rPr>
              <a:t> </a:t>
            </a:r>
            <a:r>
              <a:rPr sz="1350" spc="-25" dirty="0">
                <a:solidFill>
                  <a:srgbClr val="00AFF0"/>
                </a:solidFill>
              </a:rPr>
              <a:t>Line</a:t>
            </a:r>
            <a:r>
              <a:rPr sz="1350" b="0" spc="-25" dirty="0">
                <a:solidFill>
                  <a:srgbClr val="00AFF0"/>
                </a:solidFill>
                <a:latin typeface="Arial Black"/>
                <a:cs typeface="Arial Black"/>
              </a:rPr>
              <a:t>ar  </a:t>
            </a:r>
            <a:r>
              <a:rPr sz="1350" b="0" spc="-130" dirty="0">
                <a:solidFill>
                  <a:srgbClr val="00AFF0"/>
                </a:solidFill>
                <a:latin typeface="Arial Black"/>
                <a:cs typeface="Arial Black"/>
              </a:rPr>
              <a:t>Regression</a:t>
            </a:r>
            <a:endParaRPr sz="1350" dirty="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5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spc="-5" dirty="0"/>
              <a:t>U</a:t>
            </a:r>
            <a:r>
              <a:rPr sz="3950" spc="-20" dirty="0"/>
              <a:t>nd</a:t>
            </a:r>
            <a:r>
              <a:rPr sz="3950" spc="-25" dirty="0"/>
              <a:t>e</a:t>
            </a:r>
            <a:r>
              <a:rPr sz="3950" spc="30" dirty="0"/>
              <a:t>r</a:t>
            </a:r>
            <a:r>
              <a:rPr sz="3950" spc="-25" dirty="0"/>
              <a:t>s</a:t>
            </a:r>
            <a:r>
              <a:rPr sz="3950" spc="30" dirty="0"/>
              <a:t>t</a:t>
            </a:r>
            <a:r>
              <a:rPr sz="3950" spc="-25" dirty="0"/>
              <a:t>a</a:t>
            </a:r>
            <a:r>
              <a:rPr sz="3950" spc="-20" dirty="0"/>
              <a:t>nd</a:t>
            </a:r>
            <a:r>
              <a:rPr sz="3950" spc="15" dirty="0"/>
              <a:t>i</a:t>
            </a:r>
            <a:r>
              <a:rPr sz="3950" spc="10" dirty="0"/>
              <a:t>n </a:t>
            </a:r>
            <a:r>
              <a:rPr sz="3950" b="0" spc="5" dirty="0">
                <a:latin typeface="Times New Roman"/>
                <a:cs typeface="Times New Roman"/>
              </a:rPr>
              <a:t> </a:t>
            </a:r>
            <a:r>
              <a:rPr sz="3950" spc="15" dirty="0"/>
              <a:t>g </a:t>
            </a:r>
            <a:r>
              <a:rPr sz="3950" spc="-10" dirty="0"/>
              <a:t>Linear  </a:t>
            </a:r>
            <a:r>
              <a:rPr sz="3950" spc="-5" dirty="0"/>
              <a:t>Regression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Group 23"/>
          <p:cNvGrpSpPr/>
          <p:nvPr/>
        </p:nvGrpSpPr>
        <p:grpSpPr>
          <a:xfrm>
            <a:off x="3805256" y="901379"/>
            <a:ext cx="4860594" cy="3645859"/>
            <a:chOff x="3805256" y="901379"/>
            <a:chExt cx="4860594" cy="3645859"/>
          </a:xfrm>
        </p:grpSpPr>
        <p:sp>
          <p:nvSpPr>
            <p:cNvPr id="10" name="object 10"/>
            <p:cNvSpPr/>
            <p:nvPr/>
          </p:nvSpPr>
          <p:spPr>
            <a:xfrm>
              <a:off x="4052834" y="1102613"/>
              <a:ext cx="85725" cy="2953385"/>
            </a:xfrm>
            <a:custGeom>
              <a:avLst/>
              <a:gdLst/>
              <a:ahLst/>
              <a:cxnLst/>
              <a:rect l="l" t="t" r="r" b="b"/>
              <a:pathLst>
                <a:path w="85725" h="2953385">
                  <a:moveTo>
                    <a:pt x="57150" y="71506"/>
                  </a:moveTo>
                  <a:lnTo>
                    <a:pt x="28575" y="71506"/>
                  </a:lnTo>
                  <a:lnTo>
                    <a:pt x="28575" y="2952808"/>
                  </a:lnTo>
                  <a:lnTo>
                    <a:pt x="57150" y="2952808"/>
                  </a:lnTo>
                  <a:lnTo>
                    <a:pt x="57150" y="71506"/>
                  </a:lnTo>
                  <a:close/>
                </a:path>
                <a:path w="85725" h="2953385">
                  <a:moveTo>
                    <a:pt x="42915" y="0"/>
                  </a:moveTo>
                  <a:lnTo>
                    <a:pt x="0" y="85709"/>
                  </a:lnTo>
                  <a:lnTo>
                    <a:pt x="28575" y="85709"/>
                  </a:lnTo>
                  <a:lnTo>
                    <a:pt x="28575" y="71506"/>
                  </a:lnTo>
                  <a:lnTo>
                    <a:pt x="78618" y="71506"/>
                  </a:lnTo>
                  <a:lnTo>
                    <a:pt x="42915" y="0"/>
                  </a:lnTo>
                  <a:close/>
                </a:path>
                <a:path w="85725" h="2953385">
                  <a:moveTo>
                    <a:pt x="78618" y="71506"/>
                  </a:moveTo>
                  <a:lnTo>
                    <a:pt x="57150" y="71506"/>
                  </a:lnTo>
                  <a:lnTo>
                    <a:pt x="57150" y="85709"/>
                  </a:lnTo>
                  <a:lnTo>
                    <a:pt x="85709" y="85709"/>
                  </a:lnTo>
                  <a:lnTo>
                    <a:pt x="78618" y="71506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6578" y="4033421"/>
              <a:ext cx="4363085" cy="85725"/>
            </a:xfrm>
            <a:custGeom>
              <a:avLst/>
              <a:gdLst/>
              <a:ahLst/>
              <a:cxnLst/>
              <a:rect l="l" t="t" r="r" b="b"/>
              <a:pathLst>
                <a:path w="4363084" h="85725">
                  <a:moveTo>
                    <a:pt x="4277106" y="0"/>
                  </a:moveTo>
                  <a:lnTo>
                    <a:pt x="4276933" y="28563"/>
                  </a:lnTo>
                  <a:lnTo>
                    <a:pt x="4291187" y="28632"/>
                  </a:lnTo>
                  <a:lnTo>
                    <a:pt x="4291065" y="57207"/>
                  </a:lnTo>
                  <a:lnTo>
                    <a:pt x="4276760" y="57207"/>
                  </a:lnTo>
                  <a:lnTo>
                    <a:pt x="4276587" y="85725"/>
                  </a:lnTo>
                  <a:lnTo>
                    <a:pt x="4334355" y="57207"/>
                  </a:lnTo>
                  <a:lnTo>
                    <a:pt x="4291065" y="57207"/>
                  </a:lnTo>
                  <a:lnTo>
                    <a:pt x="4334496" y="57138"/>
                  </a:lnTo>
                  <a:lnTo>
                    <a:pt x="4362572" y="43278"/>
                  </a:lnTo>
                  <a:lnTo>
                    <a:pt x="4277106" y="0"/>
                  </a:lnTo>
                  <a:close/>
                </a:path>
                <a:path w="4363084" h="85725">
                  <a:moveTo>
                    <a:pt x="4276933" y="28563"/>
                  </a:moveTo>
                  <a:lnTo>
                    <a:pt x="4276760" y="57138"/>
                  </a:lnTo>
                  <a:lnTo>
                    <a:pt x="4291065" y="57207"/>
                  </a:lnTo>
                  <a:lnTo>
                    <a:pt x="4291187" y="28632"/>
                  </a:lnTo>
                  <a:lnTo>
                    <a:pt x="4276933" y="28563"/>
                  </a:lnTo>
                  <a:close/>
                </a:path>
                <a:path w="4363084" h="85725">
                  <a:moveTo>
                    <a:pt x="243" y="7702"/>
                  </a:moveTo>
                  <a:lnTo>
                    <a:pt x="0" y="36277"/>
                  </a:lnTo>
                  <a:lnTo>
                    <a:pt x="4276760" y="57138"/>
                  </a:lnTo>
                  <a:lnTo>
                    <a:pt x="4276933" y="28563"/>
                  </a:lnTo>
                  <a:lnTo>
                    <a:pt x="243" y="7702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5447669" y="4315463"/>
              <a:ext cx="156845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spc="10" dirty="0">
                  <a:solidFill>
                    <a:srgbClr val="F07F09"/>
                  </a:solidFill>
                  <a:latin typeface="Calibri"/>
                  <a:cs typeface="Calibri"/>
                </a:rPr>
                <a:t>Independent</a:t>
              </a:r>
              <a:r>
                <a:rPr sz="1350" b="1" spc="-155" dirty="0">
                  <a:solidFill>
                    <a:srgbClr val="F07F09"/>
                  </a:solidFill>
                  <a:latin typeface="Calibri"/>
                  <a:cs typeface="Calibri"/>
                </a:rPr>
                <a:t> </a:t>
              </a:r>
              <a:r>
                <a:rPr sz="1350" b="1" spc="-15" dirty="0">
                  <a:solidFill>
                    <a:srgbClr val="F07F09"/>
                  </a:solidFill>
                  <a:latin typeface="Calibri"/>
                  <a:cs typeface="Calibri"/>
                </a:rPr>
                <a:t>Variable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805256" y="1734392"/>
              <a:ext cx="197485" cy="143573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1385"/>
                </a:lnSpc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Dependent</a:t>
              </a:r>
              <a:r>
                <a:rPr sz="1350" b="1" spc="-140" dirty="0">
                  <a:solidFill>
                    <a:srgbClr val="6B9E24"/>
                  </a:solidFill>
                  <a:latin typeface="Calibri"/>
                  <a:cs typeface="Calibri"/>
                </a:rPr>
                <a:t> </a:t>
              </a:r>
              <a:r>
                <a:rPr sz="1350" b="1" spc="-15" dirty="0">
                  <a:solidFill>
                    <a:srgbClr val="6B9E24"/>
                  </a:solidFill>
                  <a:latin typeface="Calibri"/>
                  <a:cs typeface="Calibri"/>
                </a:rPr>
                <a:t>Variable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8545836" y="3992243"/>
              <a:ext cx="120014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065019" y="90137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764664" y="3118997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lnTo>
                    <a:pt x="58134" y="7489"/>
                  </a:lnTo>
                  <a:lnTo>
                    <a:pt x="27862" y="27908"/>
                  </a:lnTo>
                  <a:lnTo>
                    <a:pt x="7471" y="58185"/>
                  </a:lnTo>
                  <a:lnTo>
                    <a:pt x="0" y="95250"/>
                  </a:lnTo>
                  <a:lnTo>
                    <a:pt x="7471" y="132314"/>
                  </a:lnTo>
                  <a:lnTo>
                    <a:pt x="27862" y="162591"/>
                  </a:lnTo>
                  <a:lnTo>
                    <a:pt x="58134" y="183010"/>
                  </a:lnTo>
                  <a:lnTo>
                    <a:pt x="95250" y="190500"/>
                  </a:lnTo>
                  <a:lnTo>
                    <a:pt x="132314" y="183010"/>
                  </a:lnTo>
                  <a:lnTo>
                    <a:pt x="162591" y="162591"/>
                  </a:lnTo>
                  <a:lnTo>
                    <a:pt x="183010" y="132314"/>
                  </a:lnTo>
                  <a:lnTo>
                    <a:pt x="190500" y="95250"/>
                  </a:lnTo>
                  <a:lnTo>
                    <a:pt x="183010" y="58185"/>
                  </a:lnTo>
                  <a:lnTo>
                    <a:pt x="162591" y="27908"/>
                  </a:lnTo>
                  <a:lnTo>
                    <a:pt x="132314" y="7489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64663" y="3118997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49"/>
                  </a:moveTo>
                  <a:lnTo>
                    <a:pt x="7471" y="58185"/>
                  </a:lnTo>
                  <a:lnTo>
                    <a:pt x="27862" y="27908"/>
                  </a:lnTo>
                  <a:lnTo>
                    <a:pt x="58134" y="7489"/>
                  </a:lnTo>
                  <a:lnTo>
                    <a:pt x="95249" y="0"/>
                  </a:lnTo>
                  <a:lnTo>
                    <a:pt x="132314" y="7489"/>
                  </a:lnTo>
                  <a:lnTo>
                    <a:pt x="162591" y="27908"/>
                  </a:lnTo>
                  <a:lnTo>
                    <a:pt x="183010" y="58185"/>
                  </a:lnTo>
                  <a:lnTo>
                    <a:pt x="190499" y="95249"/>
                  </a:lnTo>
                  <a:lnTo>
                    <a:pt x="183010" y="132314"/>
                  </a:lnTo>
                  <a:lnTo>
                    <a:pt x="162591" y="162591"/>
                  </a:lnTo>
                  <a:lnTo>
                    <a:pt x="132314" y="183010"/>
                  </a:lnTo>
                  <a:lnTo>
                    <a:pt x="95249" y="190499"/>
                  </a:lnTo>
                  <a:lnTo>
                    <a:pt x="58134" y="183010"/>
                  </a:lnTo>
                  <a:lnTo>
                    <a:pt x="27862" y="162591"/>
                  </a:lnTo>
                  <a:lnTo>
                    <a:pt x="7471" y="132314"/>
                  </a:lnTo>
                  <a:lnTo>
                    <a:pt x="0" y="9524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4362707" y="2607244"/>
              <a:ext cx="100711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-114" dirty="0">
                  <a:solidFill>
                    <a:srgbClr val="00AFF0"/>
                  </a:solidFill>
                  <a:latin typeface="Arial Black"/>
                  <a:cs typeface="Arial Black"/>
                </a:rPr>
                <a:t>Observation</a:t>
              </a:r>
              <a:endParaRPr sz="1350">
                <a:latin typeface="Arial Black"/>
                <a:cs typeface="Arial Black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4821814" y="2879085"/>
              <a:ext cx="76200" cy="240029"/>
            </a:xfrm>
            <a:custGeom>
              <a:avLst/>
              <a:gdLst/>
              <a:ahLst/>
              <a:cxnLst/>
              <a:rect l="l" t="t" r="r" b="b"/>
              <a:pathLst>
                <a:path w="76200" h="240030">
                  <a:moveTo>
                    <a:pt x="28559" y="163711"/>
                  </a:moveTo>
                  <a:lnTo>
                    <a:pt x="0" y="163711"/>
                  </a:lnTo>
                  <a:lnTo>
                    <a:pt x="38100" y="239911"/>
                  </a:lnTo>
                  <a:lnTo>
                    <a:pt x="69854" y="176403"/>
                  </a:lnTo>
                  <a:lnTo>
                    <a:pt x="28559" y="176403"/>
                  </a:lnTo>
                  <a:lnTo>
                    <a:pt x="28559" y="163711"/>
                  </a:lnTo>
                  <a:close/>
                </a:path>
                <a:path w="76200" h="240030">
                  <a:moveTo>
                    <a:pt x="47609" y="0"/>
                  </a:moveTo>
                  <a:lnTo>
                    <a:pt x="28559" y="0"/>
                  </a:lnTo>
                  <a:lnTo>
                    <a:pt x="28559" y="176403"/>
                  </a:lnTo>
                  <a:lnTo>
                    <a:pt x="47609" y="176403"/>
                  </a:lnTo>
                  <a:lnTo>
                    <a:pt x="47609" y="0"/>
                  </a:lnTo>
                  <a:close/>
                </a:path>
                <a:path w="76200" h="240030">
                  <a:moveTo>
                    <a:pt x="76200" y="163711"/>
                  </a:moveTo>
                  <a:lnTo>
                    <a:pt x="47609" y="163711"/>
                  </a:lnTo>
                  <a:lnTo>
                    <a:pt x="47609" y="176403"/>
                  </a:lnTo>
                  <a:lnTo>
                    <a:pt x="69854" y="176403"/>
                  </a:lnTo>
                  <a:lnTo>
                    <a:pt x="76200" y="1637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51775" y="2874132"/>
              <a:ext cx="282575" cy="443865"/>
            </a:xfrm>
            <a:custGeom>
              <a:avLst/>
              <a:gdLst/>
              <a:ahLst/>
              <a:cxnLst/>
              <a:rect l="l" t="t" r="r" b="b"/>
              <a:pathLst>
                <a:path w="282575" h="443864">
                  <a:moveTo>
                    <a:pt x="233683" y="384183"/>
                  </a:moveTo>
                  <a:lnTo>
                    <a:pt x="209550" y="399288"/>
                  </a:lnTo>
                  <a:lnTo>
                    <a:pt x="282214" y="443746"/>
                  </a:lnTo>
                  <a:lnTo>
                    <a:pt x="277536" y="394978"/>
                  </a:lnTo>
                  <a:lnTo>
                    <a:pt x="240426" y="394978"/>
                  </a:lnTo>
                  <a:lnTo>
                    <a:pt x="233683" y="384183"/>
                  </a:lnTo>
                  <a:close/>
                </a:path>
                <a:path w="282575" h="443864">
                  <a:moveTo>
                    <a:pt x="249925" y="374017"/>
                  </a:moveTo>
                  <a:lnTo>
                    <a:pt x="233683" y="384183"/>
                  </a:lnTo>
                  <a:lnTo>
                    <a:pt x="240426" y="394978"/>
                  </a:lnTo>
                  <a:lnTo>
                    <a:pt x="256672" y="384810"/>
                  </a:lnTo>
                  <a:lnTo>
                    <a:pt x="249925" y="374017"/>
                  </a:lnTo>
                  <a:close/>
                </a:path>
                <a:path w="282575" h="443864">
                  <a:moveTo>
                    <a:pt x="274076" y="358902"/>
                  </a:moveTo>
                  <a:lnTo>
                    <a:pt x="249925" y="374017"/>
                  </a:lnTo>
                  <a:lnTo>
                    <a:pt x="256672" y="384810"/>
                  </a:lnTo>
                  <a:lnTo>
                    <a:pt x="240426" y="394978"/>
                  </a:lnTo>
                  <a:lnTo>
                    <a:pt x="277536" y="394978"/>
                  </a:lnTo>
                  <a:lnTo>
                    <a:pt x="274076" y="358902"/>
                  </a:lnTo>
                  <a:close/>
                </a:path>
                <a:path w="282575" h="443864">
                  <a:moveTo>
                    <a:pt x="16123" y="0"/>
                  </a:moveTo>
                  <a:lnTo>
                    <a:pt x="0" y="10037"/>
                  </a:lnTo>
                  <a:lnTo>
                    <a:pt x="233683" y="384183"/>
                  </a:lnTo>
                  <a:lnTo>
                    <a:pt x="249925" y="374017"/>
                  </a:lnTo>
                  <a:lnTo>
                    <a:pt x="161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49202" y="3291518"/>
              <a:ext cx="219074" cy="2190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nd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nd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n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g </a:t>
            </a:r>
            <a:r>
              <a:rPr sz="3950" b="1" spc="-10" dirty="0">
                <a:solidFill>
                  <a:srgbClr val="FFFFFF"/>
                </a:solidFill>
                <a:latin typeface="Arial"/>
                <a:cs typeface="Arial"/>
              </a:rPr>
              <a:t>Linear 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Group 31"/>
          <p:cNvGrpSpPr/>
          <p:nvPr/>
        </p:nvGrpSpPr>
        <p:grpSpPr>
          <a:xfrm>
            <a:off x="3805256" y="766518"/>
            <a:ext cx="4860594" cy="3780720"/>
            <a:chOff x="3805256" y="766518"/>
            <a:chExt cx="4860594" cy="3780720"/>
          </a:xfrm>
        </p:grpSpPr>
        <p:sp>
          <p:nvSpPr>
            <p:cNvPr id="12" name="object 12"/>
            <p:cNvSpPr txBox="1"/>
            <p:nvPr/>
          </p:nvSpPr>
          <p:spPr>
            <a:xfrm>
              <a:off x="5447669" y="4315463"/>
              <a:ext cx="156845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spc="10" dirty="0">
                  <a:solidFill>
                    <a:srgbClr val="F07F09"/>
                  </a:solidFill>
                  <a:latin typeface="Calibri"/>
                  <a:cs typeface="Calibri"/>
                </a:rPr>
                <a:t>Independent</a:t>
              </a:r>
              <a:r>
                <a:rPr sz="1350" b="1" spc="-155" dirty="0">
                  <a:solidFill>
                    <a:srgbClr val="F07F09"/>
                  </a:solidFill>
                  <a:latin typeface="Calibri"/>
                  <a:cs typeface="Calibri"/>
                </a:rPr>
                <a:t> </a:t>
              </a:r>
              <a:r>
                <a:rPr sz="1350" b="1" spc="-15" dirty="0">
                  <a:solidFill>
                    <a:srgbClr val="F07F09"/>
                  </a:solidFill>
                  <a:latin typeface="Calibri"/>
                  <a:cs typeface="Calibri"/>
                </a:rPr>
                <a:t>Variable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805256" y="1734392"/>
              <a:ext cx="197485" cy="143573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1385"/>
                </a:lnSpc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Dependent</a:t>
              </a:r>
              <a:r>
                <a:rPr sz="1350" b="1" spc="-140" dirty="0">
                  <a:solidFill>
                    <a:srgbClr val="6B9E24"/>
                  </a:solidFill>
                  <a:latin typeface="Calibri"/>
                  <a:cs typeface="Calibri"/>
                </a:rPr>
                <a:t> </a:t>
              </a:r>
              <a:r>
                <a:rPr sz="1350" b="1" spc="-15" dirty="0">
                  <a:solidFill>
                    <a:srgbClr val="6B9E24"/>
                  </a:solidFill>
                  <a:latin typeface="Calibri"/>
                  <a:cs typeface="Calibri"/>
                </a:rPr>
                <a:t>Variable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052834" y="1102613"/>
              <a:ext cx="85725" cy="2953385"/>
            </a:xfrm>
            <a:custGeom>
              <a:avLst/>
              <a:gdLst/>
              <a:ahLst/>
              <a:cxnLst/>
              <a:rect l="l" t="t" r="r" b="b"/>
              <a:pathLst>
                <a:path w="85725" h="2953385">
                  <a:moveTo>
                    <a:pt x="57150" y="71506"/>
                  </a:moveTo>
                  <a:lnTo>
                    <a:pt x="28575" y="71506"/>
                  </a:lnTo>
                  <a:lnTo>
                    <a:pt x="28575" y="2952808"/>
                  </a:lnTo>
                  <a:lnTo>
                    <a:pt x="57150" y="2952808"/>
                  </a:lnTo>
                  <a:lnTo>
                    <a:pt x="57150" y="71506"/>
                  </a:lnTo>
                  <a:close/>
                </a:path>
                <a:path w="85725" h="2953385">
                  <a:moveTo>
                    <a:pt x="42915" y="0"/>
                  </a:moveTo>
                  <a:lnTo>
                    <a:pt x="0" y="85709"/>
                  </a:lnTo>
                  <a:lnTo>
                    <a:pt x="28575" y="85709"/>
                  </a:lnTo>
                  <a:lnTo>
                    <a:pt x="28575" y="71506"/>
                  </a:lnTo>
                  <a:lnTo>
                    <a:pt x="78618" y="71506"/>
                  </a:lnTo>
                  <a:lnTo>
                    <a:pt x="42915" y="0"/>
                  </a:lnTo>
                  <a:close/>
                </a:path>
                <a:path w="85725" h="2953385">
                  <a:moveTo>
                    <a:pt x="78618" y="71506"/>
                  </a:moveTo>
                  <a:lnTo>
                    <a:pt x="57150" y="71506"/>
                  </a:lnTo>
                  <a:lnTo>
                    <a:pt x="57150" y="85709"/>
                  </a:lnTo>
                  <a:lnTo>
                    <a:pt x="85709" y="85709"/>
                  </a:lnTo>
                  <a:lnTo>
                    <a:pt x="78618" y="71506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6578" y="4033421"/>
              <a:ext cx="4363085" cy="85725"/>
            </a:xfrm>
            <a:custGeom>
              <a:avLst/>
              <a:gdLst/>
              <a:ahLst/>
              <a:cxnLst/>
              <a:rect l="l" t="t" r="r" b="b"/>
              <a:pathLst>
                <a:path w="4363084" h="85725">
                  <a:moveTo>
                    <a:pt x="4277106" y="0"/>
                  </a:moveTo>
                  <a:lnTo>
                    <a:pt x="4276933" y="28563"/>
                  </a:lnTo>
                  <a:lnTo>
                    <a:pt x="4291187" y="28632"/>
                  </a:lnTo>
                  <a:lnTo>
                    <a:pt x="4291065" y="57207"/>
                  </a:lnTo>
                  <a:lnTo>
                    <a:pt x="4276760" y="57207"/>
                  </a:lnTo>
                  <a:lnTo>
                    <a:pt x="4276587" y="85725"/>
                  </a:lnTo>
                  <a:lnTo>
                    <a:pt x="4334355" y="57207"/>
                  </a:lnTo>
                  <a:lnTo>
                    <a:pt x="4291065" y="57207"/>
                  </a:lnTo>
                  <a:lnTo>
                    <a:pt x="4334496" y="57138"/>
                  </a:lnTo>
                  <a:lnTo>
                    <a:pt x="4362572" y="43278"/>
                  </a:lnTo>
                  <a:lnTo>
                    <a:pt x="4277106" y="0"/>
                  </a:lnTo>
                  <a:close/>
                </a:path>
                <a:path w="4363084" h="85725">
                  <a:moveTo>
                    <a:pt x="4276933" y="28563"/>
                  </a:moveTo>
                  <a:lnTo>
                    <a:pt x="4276760" y="57138"/>
                  </a:lnTo>
                  <a:lnTo>
                    <a:pt x="4291065" y="57207"/>
                  </a:lnTo>
                  <a:lnTo>
                    <a:pt x="4291187" y="28632"/>
                  </a:lnTo>
                  <a:lnTo>
                    <a:pt x="4276933" y="28563"/>
                  </a:lnTo>
                  <a:close/>
                </a:path>
                <a:path w="4363084" h="85725">
                  <a:moveTo>
                    <a:pt x="243" y="7702"/>
                  </a:moveTo>
                  <a:lnTo>
                    <a:pt x="0" y="36277"/>
                  </a:lnTo>
                  <a:lnTo>
                    <a:pt x="4276760" y="57138"/>
                  </a:lnTo>
                  <a:lnTo>
                    <a:pt x="4276933" y="28563"/>
                  </a:lnTo>
                  <a:lnTo>
                    <a:pt x="243" y="7702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8545836" y="3992243"/>
              <a:ext cx="120014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065019" y="90137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580206" y="2503110"/>
              <a:ext cx="219074" cy="2190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46956" y="2905946"/>
              <a:ext cx="219074" cy="2190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15440" y="2466784"/>
              <a:ext cx="219074" cy="2190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89756" y="3244024"/>
              <a:ext cx="219074" cy="21907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32706" y="2466784"/>
              <a:ext cx="219074" cy="21907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71500" y="2062406"/>
              <a:ext cx="219074" cy="21908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39752" y="1950666"/>
              <a:ext cx="219074" cy="21906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61232" y="2688907"/>
              <a:ext cx="219074" cy="21907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3652" y="766518"/>
              <a:ext cx="219074" cy="2190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79822" y="2342066"/>
              <a:ext cx="219074" cy="21907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18243" y="1529699"/>
              <a:ext cx="3257550" cy="1976120"/>
            </a:xfrm>
            <a:custGeom>
              <a:avLst/>
              <a:gdLst/>
              <a:ahLst/>
              <a:cxnLst/>
              <a:rect l="l" t="t" r="r" b="b"/>
              <a:pathLst>
                <a:path w="3257550" h="1976120">
                  <a:moveTo>
                    <a:pt x="0" y="1975500"/>
                  </a:moveTo>
                  <a:lnTo>
                    <a:pt x="3257549" y="0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85784" y="3148774"/>
              <a:ext cx="219074" cy="2190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7382515" y="766518"/>
            <a:ext cx="1283335" cy="4191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50" b="0" spc="-130" dirty="0">
                <a:solidFill>
                  <a:srgbClr val="00AFF0"/>
                </a:solidFill>
                <a:latin typeface="Arial Black"/>
                <a:cs typeface="Arial Black"/>
              </a:rPr>
              <a:t>Regression</a:t>
            </a:r>
            <a:r>
              <a:rPr sz="1350" b="0" spc="-220" dirty="0">
                <a:solidFill>
                  <a:srgbClr val="00AFF0"/>
                </a:solidFill>
                <a:latin typeface="Arial Black"/>
                <a:cs typeface="Arial Black"/>
              </a:rPr>
              <a:t> </a:t>
            </a:r>
            <a:r>
              <a:rPr sz="1350" b="0" spc="-135" dirty="0">
                <a:solidFill>
                  <a:srgbClr val="00AFF0"/>
                </a:solidFill>
                <a:latin typeface="Arial Black"/>
                <a:cs typeface="Arial Black"/>
              </a:rPr>
              <a:t>Line</a:t>
            </a:r>
            <a:endParaRPr sz="1350" dirty="0">
              <a:latin typeface="Arial Black"/>
              <a:cs typeface="Arial Black"/>
            </a:endParaRPr>
          </a:p>
          <a:p>
            <a:pPr marL="48260">
              <a:lnSpc>
                <a:spcPct val="100000"/>
              </a:lnSpc>
              <a:spcBef>
                <a:spcPts val="160"/>
              </a:spcBef>
            </a:pPr>
            <a:r>
              <a:rPr sz="900" b="0" spc="-105" dirty="0">
                <a:solidFill>
                  <a:srgbClr val="5F4778"/>
                </a:solidFill>
                <a:latin typeface="Arial Black"/>
                <a:cs typeface="Arial Black"/>
              </a:rPr>
              <a:t>Least </a:t>
            </a:r>
            <a:r>
              <a:rPr sz="900" b="0" spc="-85" dirty="0">
                <a:solidFill>
                  <a:srgbClr val="5F4778"/>
                </a:solidFill>
                <a:latin typeface="Arial Black"/>
                <a:cs typeface="Arial Black"/>
              </a:rPr>
              <a:t>Square</a:t>
            </a:r>
            <a:r>
              <a:rPr sz="900" b="0" spc="-140" dirty="0">
                <a:solidFill>
                  <a:srgbClr val="5F4778"/>
                </a:solidFill>
                <a:latin typeface="Arial Black"/>
                <a:cs typeface="Arial Black"/>
              </a:rPr>
              <a:t> </a:t>
            </a:r>
            <a:r>
              <a:rPr sz="900" b="0" spc="-70" dirty="0">
                <a:solidFill>
                  <a:srgbClr val="5F4778"/>
                </a:solidFill>
                <a:latin typeface="Arial Black"/>
                <a:cs typeface="Arial Black"/>
              </a:rPr>
              <a:t>Method</a:t>
            </a:r>
            <a:endParaRPr sz="900" dirty="0">
              <a:latin typeface="Arial Black"/>
              <a:cs typeface="Arial Black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3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spc="-5" dirty="0"/>
              <a:t>U</a:t>
            </a:r>
            <a:r>
              <a:rPr sz="3950" spc="-20" dirty="0"/>
              <a:t>nd</a:t>
            </a:r>
            <a:r>
              <a:rPr sz="3950" spc="-25" dirty="0"/>
              <a:t>e</a:t>
            </a:r>
            <a:r>
              <a:rPr sz="3950" spc="30" dirty="0"/>
              <a:t>r</a:t>
            </a:r>
            <a:r>
              <a:rPr sz="3950" spc="-25" dirty="0"/>
              <a:t>s</a:t>
            </a:r>
            <a:r>
              <a:rPr sz="3950" spc="30" dirty="0"/>
              <a:t>t</a:t>
            </a:r>
            <a:r>
              <a:rPr sz="3950" spc="-25" dirty="0"/>
              <a:t>a</a:t>
            </a:r>
            <a:r>
              <a:rPr sz="3950" spc="-20" dirty="0"/>
              <a:t>nd</a:t>
            </a:r>
            <a:r>
              <a:rPr sz="3950" spc="15" dirty="0"/>
              <a:t>i</a:t>
            </a:r>
            <a:r>
              <a:rPr sz="3950" spc="10" dirty="0"/>
              <a:t>n </a:t>
            </a:r>
            <a:r>
              <a:rPr sz="3950" b="0" spc="5" dirty="0">
                <a:latin typeface="Times New Roman"/>
                <a:cs typeface="Times New Roman"/>
              </a:rPr>
              <a:t> </a:t>
            </a:r>
            <a:r>
              <a:rPr sz="3950" spc="15" dirty="0"/>
              <a:t>g </a:t>
            </a:r>
            <a:r>
              <a:rPr sz="3950" spc="-10" dirty="0"/>
              <a:t>Linear  </a:t>
            </a:r>
            <a:r>
              <a:rPr sz="3950" spc="-5" dirty="0"/>
              <a:t>Regression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Group 38"/>
          <p:cNvGrpSpPr/>
          <p:nvPr/>
        </p:nvGrpSpPr>
        <p:grpSpPr>
          <a:xfrm>
            <a:off x="3805256" y="766518"/>
            <a:ext cx="4860594" cy="3780720"/>
            <a:chOff x="3805256" y="766518"/>
            <a:chExt cx="4860594" cy="3780720"/>
          </a:xfrm>
        </p:grpSpPr>
        <p:sp>
          <p:nvSpPr>
            <p:cNvPr id="10" name="object 10"/>
            <p:cNvSpPr/>
            <p:nvPr/>
          </p:nvSpPr>
          <p:spPr>
            <a:xfrm>
              <a:off x="4052834" y="1102613"/>
              <a:ext cx="85725" cy="2953385"/>
            </a:xfrm>
            <a:custGeom>
              <a:avLst/>
              <a:gdLst/>
              <a:ahLst/>
              <a:cxnLst/>
              <a:rect l="l" t="t" r="r" b="b"/>
              <a:pathLst>
                <a:path w="85725" h="2953385">
                  <a:moveTo>
                    <a:pt x="57150" y="71506"/>
                  </a:moveTo>
                  <a:lnTo>
                    <a:pt x="28575" y="71506"/>
                  </a:lnTo>
                  <a:lnTo>
                    <a:pt x="28575" y="2952808"/>
                  </a:lnTo>
                  <a:lnTo>
                    <a:pt x="57150" y="2952808"/>
                  </a:lnTo>
                  <a:lnTo>
                    <a:pt x="57150" y="71506"/>
                  </a:lnTo>
                  <a:close/>
                </a:path>
                <a:path w="85725" h="2953385">
                  <a:moveTo>
                    <a:pt x="42915" y="0"/>
                  </a:moveTo>
                  <a:lnTo>
                    <a:pt x="0" y="85709"/>
                  </a:lnTo>
                  <a:lnTo>
                    <a:pt x="28575" y="85709"/>
                  </a:lnTo>
                  <a:lnTo>
                    <a:pt x="28575" y="71506"/>
                  </a:lnTo>
                  <a:lnTo>
                    <a:pt x="78618" y="71506"/>
                  </a:lnTo>
                  <a:lnTo>
                    <a:pt x="42915" y="0"/>
                  </a:lnTo>
                  <a:close/>
                </a:path>
                <a:path w="85725" h="2953385">
                  <a:moveTo>
                    <a:pt x="78618" y="71506"/>
                  </a:moveTo>
                  <a:lnTo>
                    <a:pt x="57150" y="71506"/>
                  </a:lnTo>
                  <a:lnTo>
                    <a:pt x="57150" y="85709"/>
                  </a:lnTo>
                  <a:lnTo>
                    <a:pt x="85709" y="85709"/>
                  </a:lnTo>
                  <a:lnTo>
                    <a:pt x="78618" y="71506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6578" y="4033421"/>
              <a:ext cx="4363085" cy="85725"/>
            </a:xfrm>
            <a:custGeom>
              <a:avLst/>
              <a:gdLst/>
              <a:ahLst/>
              <a:cxnLst/>
              <a:rect l="l" t="t" r="r" b="b"/>
              <a:pathLst>
                <a:path w="4363084" h="85725">
                  <a:moveTo>
                    <a:pt x="4277106" y="0"/>
                  </a:moveTo>
                  <a:lnTo>
                    <a:pt x="4276933" y="28563"/>
                  </a:lnTo>
                  <a:lnTo>
                    <a:pt x="4291187" y="28632"/>
                  </a:lnTo>
                  <a:lnTo>
                    <a:pt x="4291065" y="57207"/>
                  </a:lnTo>
                  <a:lnTo>
                    <a:pt x="4276760" y="57207"/>
                  </a:lnTo>
                  <a:lnTo>
                    <a:pt x="4276587" y="85725"/>
                  </a:lnTo>
                  <a:lnTo>
                    <a:pt x="4334355" y="57207"/>
                  </a:lnTo>
                  <a:lnTo>
                    <a:pt x="4291065" y="57207"/>
                  </a:lnTo>
                  <a:lnTo>
                    <a:pt x="4334496" y="57138"/>
                  </a:lnTo>
                  <a:lnTo>
                    <a:pt x="4362572" y="43278"/>
                  </a:lnTo>
                  <a:lnTo>
                    <a:pt x="4277106" y="0"/>
                  </a:lnTo>
                  <a:close/>
                </a:path>
                <a:path w="4363084" h="85725">
                  <a:moveTo>
                    <a:pt x="4276933" y="28563"/>
                  </a:moveTo>
                  <a:lnTo>
                    <a:pt x="4276760" y="57138"/>
                  </a:lnTo>
                  <a:lnTo>
                    <a:pt x="4291065" y="57207"/>
                  </a:lnTo>
                  <a:lnTo>
                    <a:pt x="4291187" y="28632"/>
                  </a:lnTo>
                  <a:lnTo>
                    <a:pt x="4276933" y="28563"/>
                  </a:lnTo>
                  <a:close/>
                </a:path>
                <a:path w="4363084" h="85725">
                  <a:moveTo>
                    <a:pt x="243" y="7702"/>
                  </a:moveTo>
                  <a:lnTo>
                    <a:pt x="0" y="36277"/>
                  </a:lnTo>
                  <a:lnTo>
                    <a:pt x="4276760" y="57138"/>
                  </a:lnTo>
                  <a:lnTo>
                    <a:pt x="4276933" y="28563"/>
                  </a:lnTo>
                  <a:lnTo>
                    <a:pt x="243" y="7702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5447669" y="4315463"/>
              <a:ext cx="156845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spc="10" dirty="0">
                  <a:solidFill>
                    <a:srgbClr val="F07F09"/>
                  </a:solidFill>
                  <a:latin typeface="Calibri"/>
                  <a:cs typeface="Calibri"/>
                </a:rPr>
                <a:t>Independent</a:t>
              </a:r>
              <a:r>
                <a:rPr sz="1350" b="1" spc="-155" dirty="0">
                  <a:solidFill>
                    <a:srgbClr val="F07F09"/>
                  </a:solidFill>
                  <a:latin typeface="Calibri"/>
                  <a:cs typeface="Calibri"/>
                </a:rPr>
                <a:t> </a:t>
              </a:r>
              <a:r>
                <a:rPr sz="1350" b="1" spc="-15" dirty="0">
                  <a:solidFill>
                    <a:srgbClr val="F07F09"/>
                  </a:solidFill>
                  <a:latin typeface="Calibri"/>
                  <a:cs typeface="Calibri"/>
                </a:rPr>
                <a:t>Variable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805256" y="1734392"/>
              <a:ext cx="197485" cy="143573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1385"/>
                </a:lnSpc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Dependent</a:t>
              </a:r>
              <a:r>
                <a:rPr sz="1350" b="1" spc="-140" dirty="0">
                  <a:solidFill>
                    <a:srgbClr val="6B9E24"/>
                  </a:solidFill>
                  <a:latin typeface="Calibri"/>
                  <a:cs typeface="Calibri"/>
                </a:rPr>
                <a:t> </a:t>
              </a:r>
              <a:r>
                <a:rPr sz="1350" b="1" spc="-15" dirty="0">
                  <a:solidFill>
                    <a:srgbClr val="6B9E24"/>
                  </a:solidFill>
                  <a:latin typeface="Calibri"/>
                  <a:cs typeface="Calibri"/>
                </a:rPr>
                <a:t>Variable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8545836" y="3992243"/>
              <a:ext cx="120014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065019" y="90137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580206" y="2503110"/>
              <a:ext cx="219074" cy="2190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46956" y="2905946"/>
              <a:ext cx="219074" cy="2190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15440" y="2466784"/>
              <a:ext cx="219074" cy="2190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89756" y="3244024"/>
              <a:ext cx="219074" cy="21907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32706" y="2466784"/>
              <a:ext cx="219074" cy="21907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71500" y="2062406"/>
              <a:ext cx="219074" cy="21908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39752" y="1950666"/>
              <a:ext cx="219074" cy="21906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61232" y="2688907"/>
              <a:ext cx="219074" cy="21907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3652" y="766518"/>
              <a:ext cx="219074" cy="2190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79822" y="2342066"/>
              <a:ext cx="219074" cy="21907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18243" y="1529699"/>
              <a:ext cx="3257550" cy="1976120"/>
            </a:xfrm>
            <a:custGeom>
              <a:avLst/>
              <a:gdLst/>
              <a:ahLst/>
              <a:cxnLst/>
              <a:rect l="l" t="t" r="r" b="b"/>
              <a:pathLst>
                <a:path w="3257550" h="1976120">
                  <a:moveTo>
                    <a:pt x="0" y="1975500"/>
                  </a:moveTo>
                  <a:lnTo>
                    <a:pt x="3257549" y="0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85784" y="3148774"/>
              <a:ext cx="219074" cy="2190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7358132" y="1603118"/>
              <a:ext cx="879475" cy="1625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spc="-90" dirty="0">
                  <a:solidFill>
                    <a:srgbClr val="5F4778"/>
                  </a:solidFill>
                  <a:latin typeface="Arial Black"/>
                  <a:cs typeface="Arial Black"/>
                </a:rPr>
                <a:t>Estimated</a:t>
              </a:r>
              <a:r>
                <a:rPr sz="900" spc="-150" dirty="0">
                  <a:solidFill>
                    <a:srgbClr val="5F4778"/>
                  </a:solidFill>
                  <a:latin typeface="Arial Black"/>
                  <a:cs typeface="Arial Black"/>
                </a:rPr>
                <a:t> </a:t>
              </a:r>
              <a:r>
                <a:rPr sz="900" spc="-105" dirty="0">
                  <a:solidFill>
                    <a:srgbClr val="5F4778"/>
                  </a:solidFill>
                  <a:latin typeface="Arial Black"/>
                  <a:cs typeface="Arial Black"/>
                </a:rPr>
                <a:t>Value</a:t>
              </a:r>
              <a:endParaRPr sz="900">
                <a:latin typeface="Arial Black"/>
                <a:cs typeface="Arial Black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7085784" y="1533212"/>
              <a:ext cx="219074" cy="2190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95322" y="1738000"/>
              <a:ext cx="0" cy="1425575"/>
            </a:xfrm>
            <a:custGeom>
              <a:avLst/>
              <a:gdLst/>
              <a:ahLst/>
              <a:cxnLst/>
              <a:rect l="l" t="t" r="r" b="b"/>
              <a:pathLst>
                <a:path h="1425575">
                  <a:moveTo>
                    <a:pt x="0" y="0"/>
                  </a:moveTo>
                  <a:lnTo>
                    <a:pt x="0" y="1425061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6319525" y="3412552"/>
              <a:ext cx="680085" cy="1631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spc="-100" dirty="0">
                  <a:solidFill>
                    <a:srgbClr val="5F4778"/>
                  </a:solidFill>
                  <a:latin typeface="Arial Black"/>
                  <a:cs typeface="Arial Black"/>
                </a:rPr>
                <a:t>Actual</a:t>
              </a:r>
              <a:r>
                <a:rPr sz="900" spc="-125" dirty="0">
                  <a:solidFill>
                    <a:srgbClr val="5F4778"/>
                  </a:solidFill>
                  <a:latin typeface="Arial Black"/>
                  <a:cs typeface="Arial Black"/>
                </a:rPr>
                <a:t> </a:t>
              </a:r>
              <a:r>
                <a:rPr sz="900" spc="-105" dirty="0">
                  <a:solidFill>
                    <a:srgbClr val="5F4778"/>
                  </a:solidFill>
                  <a:latin typeface="Arial Black"/>
                  <a:cs typeface="Arial Black"/>
                </a:rPr>
                <a:t>Value</a:t>
              </a:r>
              <a:endParaRPr sz="900">
                <a:latin typeface="Arial Black"/>
                <a:cs typeface="Arial Black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7297425" y="2414843"/>
              <a:ext cx="300990" cy="1631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spc="-80" dirty="0">
                  <a:solidFill>
                    <a:srgbClr val="5F4778"/>
                  </a:solidFill>
                  <a:latin typeface="Arial Black"/>
                  <a:cs typeface="Arial Black"/>
                </a:rPr>
                <a:t>e</a:t>
              </a:r>
              <a:r>
                <a:rPr sz="900" spc="-30" dirty="0">
                  <a:solidFill>
                    <a:srgbClr val="5F4778"/>
                  </a:solidFill>
                  <a:latin typeface="Arial Black"/>
                  <a:cs typeface="Arial Black"/>
                </a:rPr>
                <a:t>rr</a:t>
              </a:r>
              <a:r>
                <a:rPr sz="900" spc="-80" dirty="0">
                  <a:solidFill>
                    <a:srgbClr val="5F4778"/>
                  </a:solidFill>
                  <a:latin typeface="Arial Black"/>
                  <a:cs typeface="Arial Black"/>
                </a:rPr>
                <a:t>o</a:t>
              </a:r>
              <a:r>
                <a:rPr sz="900" spc="-35" dirty="0">
                  <a:solidFill>
                    <a:srgbClr val="5F4778"/>
                  </a:solidFill>
                  <a:latin typeface="Arial Black"/>
                  <a:cs typeface="Arial Black"/>
                </a:rPr>
                <a:t>r</a:t>
              </a:r>
              <a:endParaRPr sz="900">
                <a:latin typeface="Arial Black"/>
                <a:cs typeface="Arial Black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6353190" y="971306"/>
              <a:ext cx="0" cy="1184275"/>
            </a:xfrm>
            <a:custGeom>
              <a:avLst/>
              <a:gdLst/>
              <a:ahLst/>
              <a:cxnLst/>
              <a:rect l="l" t="t" r="r" b="b"/>
              <a:pathLst>
                <a:path h="1184275">
                  <a:moveTo>
                    <a:pt x="0" y="0"/>
                  </a:moveTo>
                  <a:lnTo>
                    <a:pt x="0" y="1184141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6463035" y="1382709"/>
              <a:ext cx="300990" cy="1631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spc="-80" dirty="0">
                  <a:solidFill>
                    <a:srgbClr val="5F4778"/>
                  </a:solidFill>
                  <a:latin typeface="Arial Black"/>
                  <a:cs typeface="Arial Black"/>
                </a:rPr>
                <a:t>e</a:t>
              </a:r>
              <a:r>
                <a:rPr sz="900" spc="-30" dirty="0">
                  <a:solidFill>
                    <a:srgbClr val="5F4778"/>
                  </a:solidFill>
                  <a:latin typeface="Arial Black"/>
                  <a:cs typeface="Arial Black"/>
                </a:rPr>
                <a:t>rr</a:t>
              </a:r>
              <a:r>
                <a:rPr sz="900" spc="-80" dirty="0">
                  <a:solidFill>
                    <a:srgbClr val="5F4778"/>
                  </a:solidFill>
                  <a:latin typeface="Arial Black"/>
                  <a:cs typeface="Arial Black"/>
                </a:rPr>
                <a:t>o</a:t>
              </a:r>
              <a:r>
                <a:rPr sz="900" spc="-35" dirty="0">
                  <a:solidFill>
                    <a:srgbClr val="5F4778"/>
                  </a:solidFill>
                  <a:latin typeface="Arial Black"/>
                  <a:cs typeface="Arial Black"/>
                </a:rPr>
                <a:t>r</a:t>
              </a:r>
              <a:endParaRPr sz="900">
                <a:latin typeface="Arial Black"/>
                <a:cs typeface="Arial Black"/>
              </a:endParaRPr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4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spc="-5" dirty="0"/>
              <a:t>U</a:t>
            </a:r>
            <a:r>
              <a:rPr sz="3950" spc="-20" dirty="0"/>
              <a:t>nd</a:t>
            </a:r>
            <a:r>
              <a:rPr sz="3950" spc="-25" dirty="0"/>
              <a:t>e</a:t>
            </a:r>
            <a:r>
              <a:rPr sz="3950" spc="30" dirty="0"/>
              <a:t>r</a:t>
            </a:r>
            <a:r>
              <a:rPr sz="3950" spc="-25" dirty="0"/>
              <a:t>s</a:t>
            </a:r>
            <a:r>
              <a:rPr sz="3950" spc="30" dirty="0"/>
              <a:t>t</a:t>
            </a:r>
            <a:r>
              <a:rPr sz="3950" spc="-25" dirty="0"/>
              <a:t>a</a:t>
            </a:r>
            <a:r>
              <a:rPr sz="3950" spc="-20" dirty="0"/>
              <a:t>nd</a:t>
            </a:r>
            <a:r>
              <a:rPr sz="3950" spc="15" dirty="0"/>
              <a:t>i</a:t>
            </a:r>
            <a:r>
              <a:rPr sz="3950" spc="10" dirty="0"/>
              <a:t>n </a:t>
            </a:r>
            <a:r>
              <a:rPr sz="3950" b="0" spc="5" dirty="0">
                <a:latin typeface="Times New Roman"/>
                <a:cs typeface="Times New Roman"/>
              </a:rPr>
              <a:t> </a:t>
            </a:r>
            <a:r>
              <a:rPr sz="3950" spc="15" dirty="0"/>
              <a:t>g </a:t>
            </a:r>
            <a:r>
              <a:rPr sz="3950" spc="-10" dirty="0"/>
              <a:t>Linear  </a:t>
            </a:r>
            <a:r>
              <a:rPr sz="3950" spc="-5" dirty="0"/>
              <a:t>Regression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Group 41"/>
          <p:cNvGrpSpPr/>
          <p:nvPr/>
        </p:nvGrpSpPr>
        <p:grpSpPr>
          <a:xfrm>
            <a:off x="3805256" y="766518"/>
            <a:ext cx="4860594" cy="3780720"/>
            <a:chOff x="3805256" y="766518"/>
            <a:chExt cx="4860594" cy="3780720"/>
          </a:xfrm>
        </p:grpSpPr>
        <p:sp>
          <p:nvSpPr>
            <p:cNvPr id="10" name="object 10"/>
            <p:cNvSpPr/>
            <p:nvPr/>
          </p:nvSpPr>
          <p:spPr>
            <a:xfrm>
              <a:off x="4052834" y="1102613"/>
              <a:ext cx="85725" cy="2953385"/>
            </a:xfrm>
            <a:custGeom>
              <a:avLst/>
              <a:gdLst/>
              <a:ahLst/>
              <a:cxnLst/>
              <a:rect l="l" t="t" r="r" b="b"/>
              <a:pathLst>
                <a:path w="85725" h="2953385">
                  <a:moveTo>
                    <a:pt x="57150" y="71506"/>
                  </a:moveTo>
                  <a:lnTo>
                    <a:pt x="28575" y="71506"/>
                  </a:lnTo>
                  <a:lnTo>
                    <a:pt x="28575" y="2952808"/>
                  </a:lnTo>
                  <a:lnTo>
                    <a:pt x="57150" y="2952808"/>
                  </a:lnTo>
                  <a:lnTo>
                    <a:pt x="57150" y="71506"/>
                  </a:lnTo>
                  <a:close/>
                </a:path>
                <a:path w="85725" h="2953385">
                  <a:moveTo>
                    <a:pt x="42915" y="0"/>
                  </a:moveTo>
                  <a:lnTo>
                    <a:pt x="0" y="85709"/>
                  </a:lnTo>
                  <a:lnTo>
                    <a:pt x="28575" y="85709"/>
                  </a:lnTo>
                  <a:lnTo>
                    <a:pt x="28575" y="71506"/>
                  </a:lnTo>
                  <a:lnTo>
                    <a:pt x="78618" y="71506"/>
                  </a:lnTo>
                  <a:lnTo>
                    <a:pt x="42915" y="0"/>
                  </a:lnTo>
                  <a:close/>
                </a:path>
                <a:path w="85725" h="2953385">
                  <a:moveTo>
                    <a:pt x="78618" y="71506"/>
                  </a:moveTo>
                  <a:lnTo>
                    <a:pt x="57150" y="71506"/>
                  </a:lnTo>
                  <a:lnTo>
                    <a:pt x="57150" y="85709"/>
                  </a:lnTo>
                  <a:lnTo>
                    <a:pt x="85709" y="85709"/>
                  </a:lnTo>
                  <a:lnTo>
                    <a:pt x="78618" y="71506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6578" y="4033421"/>
              <a:ext cx="4363085" cy="85725"/>
            </a:xfrm>
            <a:custGeom>
              <a:avLst/>
              <a:gdLst/>
              <a:ahLst/>
              <a:cxnLst/>
              <a:rect l="l" t="t" r="r" b="b"/>
              <a:pathLst>
                <a:path w="4363084" h="85725">
                  <a:moveTo>
                    <a:pt x="4277106" y="0"/>
                  </a:moveTo>
                  <a:lnTo>
                    <a:pt x="4276933" y="28563"/>
                  </a:lnTo>
                  <a:lnTo>
                    <a:pt x="4291187" y="28632"/>
                  </a:lnTo>
                  <a:lnTo>
                    <a:pt x="4291065" y="57207"/>
                  </a:lnTo>
                  <a:lnTo>
                    <a:pt x="4276760" y="57207"/>
                  </a:lnTo>
                  <a:lnTo>
                    <a:pt x="4276587" y="85725"/>
                  </a:lnTo>
                  <a:lnTo>
                    <a:pt x="4334355" y="57207"/>
                  </a:lnTo>
                  <a:lnTo>
                    <a:pt x="4291065" y="57207"/>
                  </a:lnTo>
                  <a:lnTo>
                    <a:pt x="4334496" y="57138"/>
                  </a:lnTo>
                  <a:lnTo>
                    <a:pt x="4362572" y="43278"/>
                  </a:lnTo>
                  <a:lnTo>
                    <a:pt x="4277106" y="0"/>
                  </a:lnTo>
                  <a:close/>
                </a:path>
                <a:path w="4363084" h="85725">
                  <a:moveTo>
                    <a:pt x="4276933" y="28563"/>
                  </a:moveTo>
                  <a:lnTo>
                    <a:pt x="4276760" y="57138"/>
                  </a:lnTo>
                  <a:lnTo>
                    <a:pt x="4291065" y="57207"/>
                  </a:lnTo>
                  <a:lnTo>
                    <a:pt x="4291187" y="28632"/>
                  </a:lnTo>
                  <a:lnTo>
                    <a:pt x="4276933" y="28563"/>
                  </a:lnTo>
                  <a:close/>
                </a:path>
                <a:path w="4363084" h="85725">
                  <a:moveTo>
                    <a:pt x="243" y="7702"/>
                  </a:moveTo>
                  <a:lnTo>
                    <a:pt x="0" y="36277"/>
                  </a:lnTo>
                  <a:lnTo>
                    <a:pt x="4276760" y="57138"/>
                  </a:lnTo>
                  <a:lnTo>
                    <a:pt x="4276933" y="28563"/>
                  </a:lnTo>
                  <a:lnTo>
                    <a:pt x="243" y="7702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5447669" y="4315463"/>
              <a:ext cx="156845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spc="10" dirty="0">
                  <a:solidFill>
                    <a:srgbClr val="F07F09"/>
                  </a:solidFill>
                  <a:latin typeface="Calibri"/>
                  <a:cs typeface="Calibri"/>
                </a:rPr>
                <a:t>Independent</a:t>
              </a:r>
              <a:r>
                <a:rPr sz="1350" b="1" spc="-155" dirty="0">
                  <a:solidFill>
                    <a:srgbClr val="F07F09"/>
                  </a:solidFill>
                  <a:latin typeface="Calibri"/>
                  <a:cs typeface="Calibri"/>
                </a:rPr>
                <a:t> </a:t>
              </a:r>
              <a:r>
                <a:rPr sz="1350" b="1" spc="-15" dirty="0">
                  <a:solidFill>
                    <a:srgbClr val="F07F09"/>
                  </a:solidFill>
                  <a:latin typeface="Calibri"/>
                  <a:cs typeface="Calibri"/>
                </a:rPr>
                <a:t>Variable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805256" y="1734392"/>
              <a:ext cx="197485" cy="143573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1385"/>
                </a:lnSpc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Dependent</a:t>
              </a:r>
              <a:r>
                <a:rPr sz="1350" b="1" spc="-140" dirty="0">
                  <a:solidFill>
                    <a:srgbClr val="6B9E24"/>
                  </a:solidFill>
                  <a:latin typeface="Calibri"/>
                  <a:cs typeface="Calibri"/>
                </a:rPr>
                <a:t> </a:t>
              </a:r>
              <a:r>
                <a:rPr sz="1350" b="1" spc="-15" dirty="0">
                  <a:solidFill>
                    <a:srgbClr val="6B9E24"/>
                  </a:solidFill>
                  <a:latin typeface="Calibri"/>
                  <a:cs typeface="Calibri"/>
                </a:rPr>
                <a:t>Variable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8545836" y="3992243"/>
              <a:ext cx="120014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065019" y="90137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580206" y="2503110"/>
              <a:ext cx="219074" cy="2190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46956" y="2905946"/>
              <a:ext cx="219074" cy="2190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15440" y="2466784"/>
              <a:ext cx="219074" cy="2190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89756" y="3244024"/>
              <a:ext cx="219074" cy="21907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32706" y="2466784"/>
              <a:ext cx="219074" cy="21907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71500" y="2062406"/>
              <a:ext cx="219074" cy="21908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39752" y="1950666"/>
              <a:ext cx="219074" cy="21906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61232" y="2688907"/>
              <a:ext cx="219074" cy="21907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3652" y="766518"/>
              <a:ext cx="219074" cy="2190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79822" y="2342066"/>
              <a:ext cx="219074" cy="21907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18243" y="1529699"/>
              <a:ext cx="3257550" cy="1976120"/>
            </a:xfrm>
            <a:custGeom>
              <a:avLst/>
              <a:gdLst/>
              <a:ahLst/>
              <a:cxnLst/>
              <a:rect l="l" t="t" r="r" b="b"/>
              <a:pathLst>
                <a:path w="3257550" h="1976120">
                  <a:moveTo>
                    <a:pt x="0" y="1975500"/>
                  </a:moveTo>
                  <a:lnTo>
                    <a:pt x="3257549" y="0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85784" y="3148774"/>
              <a:ext cx="219074" cy="2190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85784" y="1533212"/>
              <a:ext cx="219074" cy="2190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195322" y="1738000"/>
              <a:ext cx="0" cy="1425575"/>
            </a:xfrm>
            <a:custGeom>
              <a:avLst/>
              <a:gdLst/>
              <a:ahLst/>
              <a:cxnLst/>
              <a:rect l="l" t="t" r="r" b="b"/>
              <a:pathLst>
                <a:path h="1425575">
                  <a:moveTo>
                    <a:pt x="0" y="0"/>
                  </a:moveTo>
                  <a:lnTo>
                    <a:pt x="0" y="1425061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353190" y="971306"/>
              <a:ext cx="0" cy="1184275"/>
            </a:xfrm>
            <a:custGeom>
              <a:avLst/>
              <a:gdLst/>
              <a:ahLst/>
              <a:cxnLst/>
              <a:rect l="l" t="t" r="r" b="b"/>
              <a:pathLst>
                <a:path h="1184275">
                  <a:moveTo>
                    <a:pt x="0" y="0"/>
                  </a:moveTo>
                  <a:lnTo>
                    <a:pt x="0" y="1184141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91250" y="2267199"/>
              <a:ext cx="0" cy="89535"/>
            </a:xfrm>
            <a:custGeom>
              <a:avLst/>
              <a:gdLst/>
              <a:ahLst/>
              <a:cxnLst/>
              <a:rect l="l" t="t" r="r" b="b"/>
              <a:pathLst>
                <a:path h="89535">
                  <a:moveTo>
                    <a:pt x="0" y="0"/>
                  </a:moveTo>
                  <a:lnTo>
                    <a:pt x="0" y="89153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53100" y="2155448"/>
              <a:ext cx="0" cy="361950"/>
            </a:xfrm>
            <a:custGeom>
              <a:avLst/>
              <a:gdLst/>
              <a:ahLst/>
              <a:cxnLst/>
              <a:rect l="l" t="t" r="r" b="b"/>
              <a:pathLst>
                <a:path h="361950">
                  <a:moveTo>
                    <a:pt x="0" y="0"/>
                  </a:moveTo>
                  <a:lnTo>
                    <a:pt x="0" y="361949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53050" y="2671572"/>
              <a:ext cx="0" cy="73025"/>
            </a:xfrm>
            <a:custGeom>
              <a:avLst/>
              <a:gdLst/>
              <a:ahLst/>
              <a:cxnLst/>
              <a:rect l="l" t="t" r="r" b="b"/>
              <a:pathLst>
                <a:path h="73025">
                  <a:moveTo>
                    <a:pt x="0" y="0"/>
                  </a:moveTo>
                  <a:lnTo>
                    <a:pt x="0" y="72902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353050" y="2743200"/>
              <a:ext cx="0" cy="175895"/>
            </a:xfrm>
            <a:custGeom>
              <a:avLst/>
              <a:gdLst/>
              <a:ahLst/>
              <a:cxnLst/>
              <a:rect l="l" t="t" r="r" b="b"/>
              <a:pathLst>
                <a:path h="175894">
                  <a:moveTo>
                    <a:pt x="0" y="0"/>
                  </a:moveTo>
                  <a:lnTo>
                    <a:pt x="0" y="175509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895850" y="3028950"/>
              <a:ext cx="3810" cy="229870"/>
            </a:xfrm>
            <a:custGeom>
              <a:avLst/>
              <a:gdLst/>
              <a:ahLst/>
              <a:cxnLst/>
              <a:rect l="l" t="t" r="r" b="b"/>
              <a:pathLst>
                <a:path w="3810" h="229870">
                  <a:moveTo>
                    <a:pt x="0" y="0"/>
                  </a:moveTo>
                  <a:lnTo>
                    <a:pt x="3444" y="229361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91100" y="2888229"/>
              <a:ext cx="0" cy="73025"/>
            </a:xfrm>
            <a:custGeom>
              <a:avLst/>
              <a:gdLst/>
              <a:ahLst/>
              <a:cxnLst/>
              <a:rect l="l" t="t" r="r" b="b"/>
              <a:pathLst>
                <a:path h="73025">
                  <a:moveTo>
                    <a:pt x="0" y="0"/>
                  </a:moveTo>
                  <a:lnTo>
                    <a:pt x="0" y="72902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89743" y="2707898"/>
              <a:ext cx="0" cy="403225"/>
            </a:xfrm>
            <a:custGeom>
              <a:avLst/>
              <a:gdLst/>
              <a:ahLst/>
              <a:cxnLst/>
              <a:rect l="l" t="t" r="r" b="b"/>
              <a:pathLst>
                <a:path h="403225">
                  <a:moveTo>
                    <a:pt x="0" y="0"/>
                  </a:moveTo>
                  <a:lnTo>
                    <a:pt x="0" y="402835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62750" y="1895215"/>
              <a:ext cx="0" cy="162560"/>
            </a:xfrm>
            <a:custGeom>
              <a:avLst/>
              <a:gdLst/>
              <a:ahLst/>
              <a:cxnLst/>
              <a:rect l="l" t="t" r="r" b="b"/>
              <a:pathLst>
                <a:path h="162560">
                  <a:moveTo>
                    <a:pt x="0" y="0"/>
                  </a:moveTo>
                  <a:lnTo>
                    <a:pt x="0" y="162184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6133469" y="3487736"/>
              <a:ext cx="790575" cy="327025"/>
            </a:xfrm>
            <a:prstGeom prst="rect">
              <a:avLst/>
            </a:prstGeom>
          </p:spPr>
          <p:txBody>
            <a:bodyPr vert="horz" wrap="square" lIns="0" tIns="8255" rIns="0" bIns="0" rtlCol="0">
              <a:spAutoFit/>
            </a:bodyPr>
            <a:lstStyle/>
            <a:p>
              <a:pPr marL="250825" marR="5080" indent="-238760">
                <a:lnSpc>
                  <a:spcPct val="105400"/>
                </a:lnSpc>
                <a:spcBef>
                  <a:spcPts val="65"/>
                </a:spcBef>
              </a:pPr>
              <a:r>
                <a:rPr sz="950" spc="-70" dirty="0">
                  <a:solidFill>
                    <a:srgbClr val="5F4778"/>
                  </a:solidFill>
                  <a:latin typeface="Arial Black"/>
                  <a:cs typeface="Arial Black"/>
                </a:rPr>
                <a:t>Minimize </a:t>
              </a:r>
              <a:r>
                <a:rPr sz="950" spc="-60" dirty="0">
                  <a:solidFill>
                    <a:srgbClr val="5F4778"/>
                  </a:solidFill>
                  <a:latin typeface="Arial Black"/>
                  <a:cs typeface="Arial Black"/>
                </a:rPr>
                <a:t>the  </a:t>
              </a:r>
              <a:r>
                <a:rPr sz="950" spc="-55" dirty="0">
                  <a:solidFill>
                    <a:srgbClr val="5F4778"/>
                  </a:solidFill>
                  <a:latin typeface="Arial Black"/>
                  <a:cs typeface="Arial Black"/>
                </a:rPr>
                <a:t>error</a:t>
              </a:r>
              <a:endParaRPr sz="950">
                <a:latin typeface="Arial Black"/>
                <a:cs typeface="Arial Black"/>
              </a:endParaRPr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4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spc="-5" dirty="0"/>
              <a:t>U</a:t>
            </a:r>
            <a:r>
              <a:rPr sz="3950" spc="-20" dirty="0"/>
              <a:t>nd</a:t>
            </a:r>
            <a:r>
              <a:rPr sz="3950" spc="-25" dirty="0"/>
              <a:t>e</a:t>
            </a:r>
            <a:r>
              <a:rPr sz="3950" spc="30" dirty="0"/>
              <a:t>r</a:t>
            </a:r>
            <a:r>
              <a:rPr sz="3950" spc="-25" dirty="0"/>
              <a:t>s</a:t>
            </a:r>
            <a:r>
              <a:rPr sz="3950" spc="30" dirty="0"/>
              <a:t>t</a:t>
            </a:r>
            <a:r>
              <a:rPr sz="3950" spc="-25" dirty="0"/>
              <a:t>a</a:t>
            </a:r>
            <a:r>
              <a:rPr sz="3950" spc="-20" dirty="0"/>
              <a:t>nd</a:t>
            </a:r>
            <a:r>
              <a:rPr sz="3950" spc="15" dirty="0"/>
              <a:t>i</a:t>
            </a:r>
            <a:r>
              <a:rPr sz="3950" spc="10" dirty="0"/>
              <a:t>n </a:t>
            </a:r>
            <a:r>
              <a:rPr sz="3950" b="0" spc="5" dirty="0">
                <a:latin typeface="Times New Roman"/>
                <a:cs typeface="Times New Roman"/>
              </a:rPr>
              <a:t> </a:t>
            </a:r>
            <a:r>
              <a:rPr sz="3950" spc="15" dirty="0"/>
              <a:t>g </a:t>
            </a:r>
            <a:r>
              <a:rPr sz="3950" spc="-10" dirty="0"/>
              <a:t>Linear  </a:t>
            </a:r>
            <a:r>
              <a:rPr sz="3950" spc="-5" dirty="0"/>
              <a:t>Regression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65616" y="2162193"/>
            <a:ext cx="196850" cy="6350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spc="-10" dirty="0">
                <a:solidFill>
                  <a:srgbClr val="6B9E24"/>
                </a:solidFill>
                <a:latin typeface="Calibri"/>
                <a:cs typeface="Calibri"/>
              </a:rPr>
              <a:t>Distance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3905250" y="817559"/>
            <a:ext cx="4760600" cy="3729679"/>
            <a:chOff x="3905250" y="817559"/>
            <a:chExt cx="4760600" cy="3729679"/>
          </a:xfrm>
        </p:grpSpPr>
        <p:sp>
          <p:nvSpPr>
            <p:cNvPr id="10" name="object 10"/>
            <p:cNvSpPr/>
            <p:nvPr/>
          </p:nvSpPr>
          <p:spPr>
            <a:xfrm>
              <a:off x="4052834" y="1102613"/>
              <a:ext cx="85725" cy="2953385"/>
            </a:xfrm>
            <a:custGeom>
              <a:avLst/>
              <a:gdLst/>
              <a:ahLst/>
              <a:cxnLst/>
              <a:rect l="l" t="t" r="r" b="b"/>
              <a:pathLst>
                <a:path w="85725" h="2953385">
                  <a:moveTo>
                    <a:pt x="57150" y="71506"/>
                  </a:moveTo>
                  <a:lnTo>
                    <a:pt x="28575" y="71506"/>
                  </a:lnTo>
                  <a:lnTo>
                    <a:pt x="28575" y="2952808"/>
                  </a:lnTo>
                  <a:lnTo>
                    <a:pt x="57150" y="2952808"/>
                  </a:lnTo>
                  <a:lnTo>
                    <a:pt x="57150" y="71506"/>
                  </a:lnTo>
                  <a:close/>
                </a:path>
                <a:path w="85725" h="2953385">
                  <a:moveTo>
                    <a:pt x="42915" y="0"/>
                  </a:moveTo>
                  <a:lnTo>
                    <a:pt x="0" y="85709"/>
                  </a:lnTo>
                  <a:lnTo>
                    <a:pt x="28575" y="85709"/>
                  </a:lnTo>
                  <a:lnTo>
                    <a:pt x="28575" y="71506"/>
                  </a:lnTo>
                  <a:lnTo>
                    <a:pt x="78618" y="71506"/>
                  </a:lnTo>
                  <a:lnTo>
                    <a:pt x="42915" y="0"/>
                  </a:lnTo>
                  <a:close/>
                </a:path>
                <a:path w="85725" h="2953385">
                  <a:moveTo>
                    <a:pt x="78618" y="71506"/>
                  </a:moveTo>
                  <a:lnTo>
                    <a:pt x="57150" y="71506"/>
                  </a:lnTo>
                  <a:lnTo>
                    <a:pt x="57150" y="85709"/>
                  </a:lnTo>
                  <a:lnTo>
                    <a:pt x="85709" y="85709"/>
                  </a:lnTo>
                  <a:lnTo>
                    <a:pt x="78618" y="71506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6578" y="4033421"/>
              <a:ext cx="4363085" cy="85725"/>
            </a:xfrm>
            <a:custGeom>
              <a:avLst/>
              <a:gdLst/>
              <a:ahLst/>
              <a:cxnLst/>
              <a:rect l="l" t="t" r="r" b="b"/>
              <a:pathLst>
                <a:path w="4363084" h="85725">
                  <a:moveTo>
                    <a:pt x="4277106" y="0"/>
                  </a:moveTo>
                  <a:lnTo>
                    <a:pt x="4276933" y="28563"/>
                  </a:lnTo>
                  <a:lnTo>
                    <a:pt x="4291187" y="28632"/>
                  </a:lnTo>
                  <a:lnTo>
                    <a:pt x="4291065" y="57207"/>
                  </a:lnTo>
                  <a:lnTo>
                    <a:pt x="4276760" y="57207"/>
                  </a:lnTo>
                  <a:lnTo>
                    <a:pt x="4276587" y="85725"/>
                  </a:lnTo>
                  <a:lnTo>
                    <a:pt x="4334355" y="57207"/>
                  </a:lnTo>
                  <a:lnTo>
                    <a:pt x="4291065" y="57207"/>
                  </a:lnTo>
                  <a:lnTo>
                    <a:pt x="4334496" y="57138"/>
                  </a:lnTo>
                  <a:lnTo>
                    <a:pt x="4362572" y="43278"/>
                  </a:lnTo>
                  <a:lnTo>
                    <a:pt x="4277106" y="0"/>
                  </a:lnTo>
                  <a:close/>
                </a:path>
                <a:path w="4363084" h="85725">
                  <a:moveTo>
                    <a:pt x="4276933" y="28563"/>
                  </a:moveTo>
                  <a:lnTo>
                    <a:pt x="4276760" y="57138"/>
                  </a:lnTo>
                  <a:lnTo>
                    <a:pt x="4291065" y="57207"/>
                  </a:lnTo>
                  <a:lnTo>
                    <a:pt x="4291187" y="28632"/>
                  </a:lnTo>
                  <a:lnTo>
                    <a:pt x="4276933" y="28563"/>
                  </a:lnTo>
                  <a:close/>
                </a:path>
                <a:path w="4363084" h="85725">
                  <a:moveTo>
                    <a:pt x="243" y="7702"/>
                  </a:moveTo>
                  <a:lnTo>
                    <a:pt x="0" y="36277"/>
                  </a:lnTo>
                  <a:lnTo>
                    <a:pt x="4276760" y="57138"/>
                  </a:lnTo>
                  <a:lnTo>
                    <a:pt x="4276933" y="28563"/>
                  </a:lnTo>
                  <a:lnTo>
                    <a:pt x="243" y="7702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6000754" y="4315463"/>
              <a:ext cx="46990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spc="30" dirty="0">
                  <a:solidFill>
                    <a:srgbClr val="F07F09"/>
                  </a:solidFill>
                  <a:latin typeface="Calibri"/>
                  <a:cs typeface="Calibri"/>
                </a:rPr>
                <a:t>S</a:t>
              </a:r>
              <a:r>
                <a:rPr sz="1350" b="1" spc="20" dirty="0">
                  <a:solidFill>
                    <a:srgbClr val="F07F09"/>
                  </a:solidFill>
                  <a:latin typeface="Calibri"/>
                  <a:cs typeface="Calibri"/>
                </a:rPr>
                <a:t>p</a:t>
              </a:r>
              <a:r>
                <a:rPr sz="1350" b="1" spc="-10" dirty="0">
                  <a:solidFill>
                    <a:srgbClr val="F07F09"/>
                  </a:solidFill>
                  <a:latin typeface="Calibri"/>
                  <a:cs typeface="Calibri"/>
                </a:rPr>
                <a:t>ee</a:t>
              </a: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d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8545836" y="3992243"/>
              <a:ext cx="120014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112898" y="81755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263786" y="1521835"/>
              <a:ext cx="3257550" cy="1976120"/>
            </a:xfrm>
            <a:custGeom>
              <a:avLst/>
              <a:gdLst/>
              <a:ahLst/>
              <a:cxnLst/>
              <a:rect l="l" t="t" r="r" b="b"/>
              <a:pathLst>
                <a:path w="3257550" h="1976120">
                  <a:moveTo>
                    <a:pt x="0" y="1975612"/>
                  </a:moveTo>
                  <a:lnTo>
                    <a:pt x="3257549" y="0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76578" y="3813678"/>
              <a:ext cx="4363085" cy="511175"/>
            </a:xfrm>
            <a:custGeom>
              <a:avLst/>
              <a:gdLst/>
              <a:ahLst/>
              <a:cxnLst/>
              <a:rect l="l" t="t" r="r" b="b"/>
              <a:pathLst>
                <a:path w="4363084" h="511175">
                  <a:moveTo>
                    <a:pt x="4107302" y="0"/>
                  </a:moveTo>
                  <a:lnTo>
                    <a:pt x="4107302" y="127695"/>
                  </a:lnTo>
                  <a:lnTo>
                    <a:pt x="0" y="127695"/>
                  </a:lnTo>
                  <a:lnTo>
                    <a:pt x="0" y="383011"/>
                  </a:lnTo>
                  <a:lnTo>
                    <a:pt x="4107302" y="383011"/>
                  </a:lnTo>
                  <a:lnTo>
                    <a:pt x="4107302" y="510671"/>
                  </a:lnTo>
                  <a:lnTo>
                    <a:pt x="4362572" y="255352"/>
                  </a:lnTo>
                  <a:lnTo>
                    <a:pt x="4107302" y="0"/>
                  </a:lnTo>
                  <a:close/>
                </a:path>
              </a:pathLst>
            </a:custGeom>
            <a:solidFill>
              <a:srgbClr val="095A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76577" y="3813678"/>
              <a:ext cx="4363085" cy="511175"/>
            </a:xfrm>
            <a:custGeom>
              <a:avLst/>
              <a:gdLst/>
              <a:ahLst/>
              <a:cxnLst/>
              <a:rect l="l" t="t" r="r" b="b"/>
              <a:pathLst>
                <a:path w="4363084" h="511175">
                  <a:moveTo>
                    <a:pt x="0" y="127695"/>
                  </a:moveTo>
                  <a:lnTo>
                    <a:pt x="4107301" y="127695"/>
                  </a:lnTo>
                  <a:lnTo>
                    <a:pt x="4107301" y="0"/>
                  </a:lnTo>
                  <a:lnTo>
                    <a:pt x="4362571" y="255352"/>
                  </a:lnTo>
                  <a:lnTo>
                    <a:pt x="4107301" y="510671"/>
                  </a:lnTo>
                  <a:lnTo>
                    <a:pt x="4107301" y="383011"/>
                  </a:lnTo>
                  <a:lnTo>
                    <a:pt x="0" y="383011"/>
                  </a:lnTo>
                  <a:lnTo>
                    <a:pt x="0" y="127695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05250" y="1062593"/>
              <a:ext cx="490855" cy="3138805"/>
            </a:xfrm>
            <a:custGeom>
              <a:avLst/>
              <a:gdLst/>
              <a:ahLst/>
              <a:cxnLst/>
              <a:rect l="l" t="t" r="r" b="b"/>
              <a:pathLst>
                <a:path w="490854" h="3138804">
                  <a:moveTo>
                    <a:pt x="368046" y="245364"/>
                  </a:moveTo>
                  <a:lnTo>
                    <a:pt x="122682" y="245364"/>
                  </a:lnTo>
                  <a:lnTo>
                    <a:pt x="122682" y="3138800"/>
                  </a:lnTo>
                  <a:lnTo>
                    <a:pt x="368046" y="3138800"/>
                  </a:lnTo>
                  <a:lnTo>
                    <a:pt x="368046" y="245364"/>
                  </a:lnTo>
                  <a:close/>
                </a:path>
                <a:path w="490854" h="3138804">
                  <a:moveTo>
                    <a:pt x="245364" y="0"/>
                  </a:moveTo>
                  <a:lnTo>
                    <a:pt x="0" y="245364"/>
                  </a:lnTo>
                  <a:lnTo>
                    <a:pt x="490728" y="245364"/>
                  </a:lnTo>
                  <a:lnTo>
                    <a:pt x="245364" y="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05250" y="1062593"/>
              <a:ext cx="490855" cy="3138805"/>
            </a:xfrm>
            <a:custGeom>
              <a:avLst/>
              <a:gdLst/>
              <a:ahLst/>
              <a:cxnLst/>
              <a:rect l="l" t="t" r="r" b="b"/>
              <a:pathLst>
                <a:path w="490854" h="3138804">
                  <a:moveTo>
                    <a:pt x="122681" y="3138799"/>
                  </a:moveTo>
                  <a:lnTo>
                    <a:pt x="122681" y="245363"/>
                  </a:lnTo>
                  <a:lnTo>
                    <a:pt x="0" y="245363"/>
                  </a:lnTo>
                  <a:lnTo>
                    <a:pt x="245363" y="0"/>
                  </a:lnTo>
                  <a:lnTo>
                    <a:pt x="490727" y="245363"/>
                  </a:lnTo>
                  <a:lnTo>
                    <a:pt x="368045" y="245363"/>
                  </a:lnTo>
                  <a:lnTo>
                    <a:pt x="368045" y="3138799"/>
                  </a:lnTo>
                  <a:lnTo>
                    <a:pt x="122681" y="313879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7278756" y="1822129"/>
              <a:ext cx="968375" cy="17462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950" spc="-85" dirty="0">
                  <a:solidFill>
                    <a:srgbClr val="5F4778"/>
                  </a:solidFill>
                  <a:latin typeface="Arial Black"/>
                  <a:cs typeface="Arial Black"/>
                </a:rPr>
                <a:t>+ve</a:t>
              </a:r>
              <a:r>
                <a:rPr sz="950" spc="-70" dirty="0">
                  <a:solidFill>
                    <a:srgbClr val="5F4778"/>
                  </a:solidFill>
                  <a:latin typeface="Arial Black"/>
                  <a:cs typeface="Arial Black"/>
                </a:rPr>
                <a:t> </a:t>
              </a:r>
              <a:r>
                <a:rPr sz="950" spc="-85" dirty="0">
                  <a:solidFill>
                    <a:srgbClr val="5F4778"/>
                  </a:solidFill>
                  <a:latin typeface="Arial Black"/>
                  <a:cs typeface="Arial Black"/>
                </a:rPr>
                <a:t>Relationship</a:t>
              </a:r>
              <a:endParaRPr sz="950">
                <a:latin typeface="Arial Black"/>
                <a:cs typeface="Arial Black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5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spc="-5" dirty="0"/>
              <a:t>U</a:t>
            </a:r>
            <a:r>
              <a:rPr sz="3950" spc="-20" dirty="0"/>
              <a:t>nd</a:t>
            </a:r>
            <a:r>
              <a:rPr sz="3950" spc="-25" dirty="0"/>
              <a:t>e</a:t>
            </a:r>
            <a:r>
              <a:rPr sz="3950" spc="30" dirty="0"/>
              <a:t>r</a:t>
            </a:r>
            <a:r>
              <a:rPr sz="3950" spc="-25" dirty="0"/>
              <a:t>s</a:t>
            </a:r>
            <a:r>
              <a:rPr sz="3950" spc="30" dirty="0"/>
              <a:t>t</a:t>
            </a:r>
            <a:r>
              <a:rPr sz="3950" spc="-25" dirty="0"/>
              <a:t>a</a:t>
            </a:r>
            <a:r>
              <a:rPr sz="3950" spc="-20" dirty="0"/>
              <a:t>nd</a:t>
            </a:r>
            <a:r>
              <a:rPr sz="3950" spc="15" dirty="0"/>
              <a:t>i</a:t>
            </a:r>
            <a:r>
              <a:rPr sz="3950" spc="10" dirty="0"/>
              <a:t>n </a:t>
            </a:r>
            <a:r>
              <a:rPr sz="3950" b="0" spc="5" dirty="0">
                <a:latin typeface="Times New Roman"/>
                <a:cs typeface="Times New Roman"/>
              </a:rPr>
              <a:t> </a:t>
            </a:r>
            <a:r>
              <a:rPr sz="3950" spc="15" dirty="0"/>
              <a:t>g </a:t>
            </a:r>
            <a:r>
              <a:rPr sz="3950" spc="-10" dirty="0"/>
              <a:t>Linear  </a:t>
            </a:r>
            <a:r>
              <a:rPr sz="3950" spc="-5" dirty="0"/>
              <a:t>Regression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65616" y="2162193"/>
            <a:ext cx="196850" cy="6350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spc="-10" dirty="0">
                <a:solidFill>
                  <a:srgbClr val="6B9E24"/>
                </a:solidFill>
                <a:latin typeface="Calibri"/>
                <a:cs typeface="Calibri"/>
              </a:rPr>
              <a:t>Distance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905250" y="817559"/>
            <a:ext cx="4760600" cy="3729679"/>
            <a:chOff x="3905250" y="817559"/>
            <a:chExt cx="4760600" cy="3729679"/>
          </a:xfrm>
        </p:grpSpPr>
        <p:sp>
          <p:nvSpPr>
            <p:cNvPr id="10" name="object 10"/>
            <p:cNvSpPr/>
            <p:nvPr/>
          </p:nvSpPr>
          <p:spPr>
            <a:xfrm>
              <a:off x="4052834" y="1102613"/>
              <a:ext cx="85725" cy="2953385"/>
            </a:xfrm>
            <a:custGeom>
              <a:avLst/>
              <a:gdLst/>
              <a:ahLst/>
              <a:cxnLst/>
              <a:rect l="l" t="t" r="r" b="b"/>
              <a:pathLst>
                <a:path w="85725" h="2953385">
                  <a:moveTo>
                    <a:pt x="57150" y="71506"/>
                  </a:moveTo>
                  <a:lnTo>
                    <a:pt x="28575" y="71506"/>
                  </a:lnTo>
                  <a:lnTo>
                    <a:pt x="28575" y="2952808"/>
                  </a:lnTo>
                  <a:lnTo>
                    <a:pt x="57150" y="2952808"/>
                  </a:lnTo>
                  <a:lnTo>
                    <a:pt x="57150" y="71506"/>
                  </a:lnTo>
                  <a:close/>
                </a:path>
                <a:path w="85725" h="2953385">
                  <a:moveTo>
                    <a:pt x="42915" y="0"/>
                  </a:moveTo>
                  <a:lnTo>
                    <a:pt x="0" y="85709"/>
                  </a:lnTo>
                  <a:lnTo>
                    <a:pt x="28575" y="85709"/>
                  </a:lnTo>
                  <a:lnTo>
                    <a:pt x="28575" y="71506"/>
                  </a:lnTo>
                  <a:lnTo>
                    <a:pt x="78618" y="71506"/>
                  </a:lnTo>
                  <a:lnTo>
                    <a:pt x="42915" y="0"/>
                  </a:lnTo>
                  <a:close/>
                </a:path>
                <a:path w="85725" h="2953385">
                  <a:moveTo>
                    <a:pt x="78618" y="71506"/>
                  </a:moveTo>
                  <a:lnTo>
                    <a:pt x="57150" y="71506"/>
                  </a:lnTo>
                  <a:lnTo>
                    <a:pt x="57150" y="85709"/>
                  </a:lnTo>
                  <a:lnTo>
                    <a:pt x="85709" y="85709"/>
                  </a:lnTo>
                  <a:lnTo>
                    <a:pt x="78618" y="71506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6578" y="4033421"/>
              <a:ext cx="4363085" cy="85725"/>
            </a:xfrm>
            <a:custGeom>
              <a:avLst/>
              <a:gdLst/>
              <a:ahLst/>
              <a:cxnLst/>
              <a:rect l="l" t="t" r="r" b="b"/>
              <a:pathLst>
                <a:path w="4363084" h="85725">
                  <a:moveTo>
                    <a:pt x="4277106" y="0"/>
                  </a:moveTo>
                  <a:lnTo>
                    <a:pt x="4276933" y="28563"/>
                  </a:lnTo>
                  <a:lnTo>
                    <a:pt x="4291187" y="28632"/>
                  </a:lnTo>
                  <a:lnTo>
                    <a:pt x="4291065" y="57207"/>
                  </a:lnTo>
                  <a:lnTo>
                    <a:pt x="4276760" y="57207"/>
                  </a:lnTo>
                  <a:lnTo>
                    <a:pt x="4276587" y="85725"/>
                  </a:lnTo>
                  <a:lnTo>
                    <a:pt x="4334355" y="57207"/>
                  </a:lnTo>
                  <a:lnTo>
                    <a:pt x="4291065" y="57207"/>
                  </a:lnTo>
                  <a:lnTo>
                    <a:pt x="4334496" y="57138"/>
                  </a:lnTo>
                  <a:lnTo>
                    <a:pt x="4362572" y="43278"/>
                  </a:lnTo>
                  <a:lnTo>
                    <a:pt x="4277106" y="0"/>
                  </a:lnTo>
                  <a:close/>
                </a:path>
                <a:path w="4363084" h="85725">
                  <a:moveTo>
                    <a:pt x="4276933" y="28563"/>
                  </a:moveTo>
                  <a:lnTo>
                    <a:pt x="4276760" y="57138"/>
                  </a:lnTo>
                  <a:lnTo>
                    <a:pt x="4291065" y="57207"/>
                  </a:lnTo>
                  <a:lnTo>
                    <a:pt x="4291187" y="28632"/>
                  </a:lnTo>
                  <a:lnTo>
                    <a:pt x="4276933" y="28563"/>
                  </a:lnTo>
                  <a:close/>
                </a:path>
                <a:path w="4363084" h="85725">
                  <a:moveTo>
                    <a:pt x="243" y="7702"/>
                  </a:moveTo>
                  <a:lnTo>
                    <a:pt x="0" y="36277"/>
                  </a:lnTo>
                  <a:lnTo>
                    <a:pt x="4276760" y="57138"/>
                  </a:lnTo>
                  <a:lnTo>
                    <a:pt x="4276933" y="28563"/>
                  </a:lnTo>
                  <a:lnTo>
                    <a:pt x="243" y="7702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6000754" y="4315463"/>
              <a:ext cx="46990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spc="30" dirty="0">
                  <a:solidFill>
                    <a:srgbClr val="F07F09"/>
                  </a:solidFill>
                  <a:latin typeface="Calibri"/>
                  <a:cs typeface="Calibri"/>
                </a:rPr>
                <a:t>S</a:t>
              </a:r>
              <a:r>
                <a:rPr sz="1350" b="1" spc="20" dirty="0">
                  <a:solidFill>
                    <a:srgbClr val="F07F09"/>
                  </a:solidFill>
                  <a:latin typeface="Calibri"/>
                  <a:cs typeface="Calibri"/>
                </a:rPr>
                <a:t>p</a:t>
              </a:r>
              <a:r>
                <a:rPr sz="1350" b="1" spc="-10" dirty="0">
                  <a:solidFill>
                    <a:srgbClr val="F07F09"/>
                  </a:solidFill>
                  <a:latin typeface="Calibri"/>
                  <a:cs typeface="Calibri"/>
                </a:rPr>
                <a:t>ee</a:t>
              </a: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d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8545836" y="3992243"/>
              <a:ext cx="120014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112898" y="81755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263786" y="1521835"/>
              <a:ext cx="3257550" cy="1976120"/>
            </a:xfrm>
            <a:custGeom>
              <a:avLst/>
              <a:gdLst/>
              <a:ahLst/>
              <a:cxnLst/>
              <a:rect l="l" t="t" r="r" b="b"/>
              <a:pathLst>
                <a:path w="3257550" h="1976120">
                  <a:moveTo>
                    <a:pt x="0" y="1975612"/>
                  </a:moveTo>
                  <a:lnTo>
                    <a:pt x="3257549" y="0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76578" y="3813678"/>
              <a:ext cx="4363085" cy="511175"/>
            </a:xfrm>
            <a:custGeom>
              <a:avLst/>
              <a:gdLst/>
              <a:ahLst/>
              <a:cxnLst/>
              <a:rect l="l" t="t" r="r" b="b"/>
              <a:pathLst>
                <a:path w="4363084" h="511175">
                  <a:moveTo>
                    <a:pt x="4107302" y="0"/>
                  </a:moveTo>
                  <a:lnTo>
                    <a:pt x="4107302" y="127695"/>
                  </a:lnTo>
                  <a:lnTo>
                    <a:pt x="0" y="127695"/>
                  </a:lnTo>
                  <a:lnTo>
                    <a:pt x="0" y="383011"/>
                  </a:lnTo>
                  <a:lnTo>
                    <a:pt x="4107302" y="383011"/>
                  </a:lnTo>
                  <a:lnTo>
                    <a:pt x="4107302" y="510671"/>
                  </a:lnTo>
                  <a:lnTo>
                    <a:pt x="4362572" y="255352"/>
                  </a:lnTo>
                  <a:lnTo>
                    <a:pt x="4107302" y="0"/>
                  </a:lnTo>
                  <a:close/>
                </a:path>
              </a:pathLst>
            </a:custGeom>
            <a:solidFill>
              <a:srgbClr val="095A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76577" y="3813678"/>
              <a:ext cx="4363085" cy="511175"/>
            </a:xfrm>
            <a:custGeom>
              <a:avLst/>
              <a:gdLst/>
              <a:ahLst/>
              <a:cxnLst/>
              <a:rect l="l" t="t" r="r" b="b"/>
              <a:pathLst>
                <a:path w="4363084" h="511175">
                  <a:moveTo>
                    <a:pt x="0" y="127695"/>
                  </a:moveTo>
                  <a:lnTo>
                    <a:pt x="4107301" y="127695"/>
                  </a:lnTo>
                  <a:lnTo>
                    <a:pt x="4107301" y="0"/>
                  </a:lnTo>
                  <a:lnTo>
                    <a:pt x="4362571" y="255352"/>
                  </a:lnTo>
                  <a:lnTo>
                    <a:pt x="4107301" y="510671"/>
                  </a:lnTo>
                  <a:lnTo>
                    <a:pt x="4107301" y="383011"/>
                  </a:lnTo>
                  <a:lnTo>
                    <a:pt x="0" y="383011"/>
                  </a:lnTo>
                  <a:lnTo>
                    <a:pt x="0" y="127695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05250" y="1062593"/>
              <a:ext cx="490855" cy="3138805"/>
            </a:xfrm>
            <a:custGeom>
              <a:avLst/>
              <a:gdLst/>
              <a:ahLst/>
              <a:cxnLst/>
              <a:rect l="l" t="t" r="r" b="b"/>
              <a:pathLst>
                <a:path w="490854" h="3138804">
                  <a:moveTo>
                    <a:pt x="368046" y="245364"/>
                  </a:moveTo>
                  <a:lnTo>
                    <a:pt x="122682" y="245364"/>
                  </a:lnTo>
                  <a:lnTo>
                    <a:pt x="122682" y="3138800"/>
                  </a:lnTo>
                  <a:lnTo>
                    <a:pt x="368046" y="3138800"/>
                  </a:lnTo>
                  <a:lnTo>
                    <a:pt x="368046" y="245364"/>
                  </a:lnTo>
                  <a:close/>
                </a:path>
                <a:path w="490854" h="3138804">
                  <a:moveTo>
                    <a:pt x="245364" y="0"/>
                  </a:moveTo>
                  <a:lnTo>
                    <a:pt x="0" y="245364"/>
                  </a:lnTo>
                  <a:lnTo>
                    <a:pt x="490728" y="245364"/>
                  </a:lnTo>
                  <a:lnTo>
                    <a:pt x="245364" y="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05250" y="1062593"/>
              <a:ext cx="490855" cy="3138805"/>
            </a:xfrm>
            <a:custGeom>
              <a:avLst/>
              <a:gdLst/>
              <a:ahLst/>
              <a:cxnLst/>
              <a:rect l="l" t="t" r="r" b="b"/>
              <a:pathLst>
                <a:path w="490854" h="3138804">
                  <a:moveTo>
                    <a:pt x="122681" y="3138799"/>
                  </a:moveTo>
                  <a:lnTo>
                    <a:pt x="122681" y="245363"/>
                  </a:lnTo>
                  <a:lnTo>
                    <a:pt x="0" y="245363"/>
                  </a:lnTo>
                  <a:lnTo>
                    <a:pt x="245363" y="0"/>
                  </a:lnTo>
                  <a:lnTo>
                    <a:pt x="490727" y="245363"/>
                  </a:lnTo>
                  <a:lnTo>
                    <a:pt x="368045" y="245363"/>
                  </a:lnTo>
                  <a:lnTo>
                    <a:pt x="368045" y="3138799"/>
                  </a:lnTo>
                  <a:lnTo>
                    <a:pt x="122681" y="313879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7354957" y="1812604"/>
              <a:ext cx="814069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-145" dirty="0">
                  <a:solidFill>
                    <a:srgbClr val="6B9E24"/>
                  </a:solidFill>
                  <a:latin typeface="Arial Black"/>
                  <a:cs typeface="Arial Black"/>
                </a:rPr>
                <a:t>y </a:t>
              </a:r>
              <a:r>
                <a:rPr sz="1350" spc="-120" dirty="0">
                  <a:solidFill>
                    <a:srgbClr val="5F4778"/>
                  </a:solidFill>
                  <a:latin typeface="Arial Black"/>
                  <a:cs typeface="Arial Black"/>
                </a:rPr>
                <a:t>= </a:t>
              </a:r>
              <a:r>
                <a:rPr sz="1350" spc="-135" dirty="0">
                  <a:solidFill>
                    <a:srgbClr val="5F4778"/>
                  </a:solidFill>
                  <a:latin typeface="Arial Black"/>
                  <a:cs typeface="Arial Black"/>
                </a:rPr>
                <a:t>mx </a:t>
              </a:r>
              <a:r>
                <a:rPr sz="1350" spc="-120" dirty="0">
                  <a:solidFill>
                    <a:srgbClr val="5F4778"/>
                  </a:solidFill>
                  <a:latin typeface="Arial Black"/>
                  <a:cs typeface="Arial Black"/>
                </a:rPr>
                <a:t>+</a:t>
              </a:r>
              <a:r>
                <a:rPr sz="1350" spc="-145" dirty="0">
                  <a:solidFill>
                    <a:srgbClr val="5F4778"/>
                  </a:solidFill>
                  <a:latin typeface="Arial Black"/>
                  <a:cs typeface="Arial Black"/>
                </a:rPr>
                <a:t> </a:t>
              </a:r>
              <a:r>
                <a:rPr sz="1350" spc="-260" dirty="0">
                  <a:solidFill>
                    <a:srgbClr val="5F4778"/>
                  </a:solidFill>
                  <a:latin typeface="Arial Black"/>
                  <a:cs typeface="Arial Black"/>
                </a:rPr>
                <a:t>c</a:t>
              </a:r>
              <a:endParaRPr sz="1350">
                <a:latin typeface="Arial Black"/>
                <a:cs typeface="Arial Black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7343271" y="2052065"/>
              <a:ext cx="85709" cy="22492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6902074" y="2348926"/>
              <a:ext cx="1011555" cy="480059"/>
            </a:xfrm>
            <a:prstGeom prst="rect">
              <a:avLst/>
            </a:prstGeom>
          </p:spPr>
          <p:txBody>
            <a:bodyPr vert="horz" wrap="square" lIns="0" tIns="8255" rIns="0" bIns="0" rtlCol="0">
              <a:spAutoFit/>
            </a:bodyPr>
            <a:lstStyle/>
            <a:p>
              <a:pPr marL="12700" marR="5080" algn="just">
                <a:lnSpc>
                  <a:spcPct val="105400"/>
                </a:lnSpc>
                <a:spcBef>
                  <a:spcPts val="65"/>
                </a:spcBef>
              </a:pPr>
              <a:r>
                <a:rPr sz="950" spc="15" dirty="0">
                  <a:solidFill>
                    <a:srgbClr val="3F3F3F"/>
                  </a:solidFill>
                  <a:latin typeface="Arial"/>
                  <a:cs typeface="Arial"/>
                </a:rPr>
                <a:t>Distance </a:t>
              </a:r>
              <a:r>
                <a:rPr sz="950" spc="-10" dirty="0">
                  <a:solidFill>
                    <a:srgbClr val="3F3F3F"/>
                  </a:solidFill>
                  <a:latin typeface="Arial"/>
                  <a:cs typeface="Arial"/>
                </a:rPr>
                <a:t>travelled  </a:t>
              </a:r>
              <a:r>
                <a:rPr sz="950" spc="10" dirty="0">
                  <a:solidFill>
                    <a:srgbClr val="3F3F3F"/>
                  </a:solidFill>
                  <a:latin typeface="Arial"/>
                  <a:cs typeface="Arial"/>
                </a:rPr>
                <a:t>in </a:t>
              </a:r>
              <a:r>
                <a:rPr sz="950" spc="15" dirty="0">
                  <a:solidFill>
                    <a:srgbClr val="3F3F3F"/>
                  </a:solidFill>
                  <a:latin typeface="Arial"/>
                  <a:cs typeface="Arial"/>
                </a:rPr>
                <a:t>a </a:t>
              </a:r>
              <a:r>
                <a:rPr sz="950" spc="5" dirty="0">
                  <a:solidFill>
                    <a:srgbClr val="3F3F3F"/>
                  </a:solidFill>
                  <a:latin typeface="Arial"/>
                  <a:cs typeface="Arial"/>
                </a:rPr>
                <a:t>fixed </a:t>
              </a:r>
              <a:r>
                <a:rPr sz="950" dirty="0">
                  <a:solidFill>
                    <a:srgbClr val="3F3F3F"/>
                  </a:solidFill>
                  <a:latin typeface="Arial"/>
                  <a:cs typeface="Arial"/>
                </a:rPr>
                <a:t>duration  of</a:t>
              </a:r>
              <a:r>
                <a:rPr sz="950" spc="55" dirty="0">
                  <a:solidFill>
                    <a:srgbClr val="3F3F3F"/>
                  </a:solidFill>
                  <a:latin typeface="Arial"/>
                  <a:cs typeface="Arial"/>
                </a:rPr>
                <a:t> </a:t>
              </a:r>
              <a:r>
                <a:rPr sz="950" spc="20" dirty="0">
                  <a:solidFill>
                    <a:srgbClr val="3F3F3F"/>
                  </a:solidFill>
                  <a:latin typeface="Arial"/>
                  <a:cs typeface="Arial"/>
                </a:rPr>
                <a:t>time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nd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nd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n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g </a:t>
            </a:r>
            <a:r>
              <a:rPr sz="3950" b="1" spc="-10" dirty="0">
                <a:solidFill>
                  <a:srgbClr val="FFFFFF"/>
                </a:solidFill>
                <a:latin typeface="Arial"/>
                <a:cs typeface="Arial"/>
              </a:rPr>
              <a:t>Linear 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Group 21"/>
          <p:cNvGrpSpPr/>
          <p:nvPr/>
        </p:nvGrpSpPr>
        <p:grpSpPr>
          <a:xfrm>
            <a:off x="3765616" y="817559"/>
            <a:ext cx="4900234" cy="3729679"/>
            <a:chOff x="3765616" y="817559"/>
            <a:chExt cx="4900234" cy="3729679"/>
          </a:xfrm>
        </p:grpSpPr>
        <p:sp>
          <p:nvSpPr>
            <p:cNvPr id="6" name="object 6"/>
            <p:cNvSpPr/>
            <p:nvPr/>
          </p:nvSpPr>
          <p:spPr>
            <a:xfrm>
              <a:off x="4052834" y="1102613"/>
              <a:ext cx="85725" cy="2953385"/>
            </a:xfrm>
            <a:custGeom>
              <a:avLst/>
              <a:gdLst/>
              <a:ahLst/>
              <a:cxnLst/>
              <a:rect l="l" t="t" r="r" b="b"/>
              <a:pathLst>
                <a:path w="85725" h="2953385">
                  <a:moveTo>
                    <a:pt x="57150" y="71506"/>
                  </a:moveTo>
                  <a:lnTo>
                    <a:pt x="28575" y="71506"/>
                  </a:lnTo>
                  <a:lnTo>
                    <a:pt x="28575" y="2952808"/>
                  </a:lnTo>
                  <a:lnTo>
                    <a:pt x="57150" y="2952808"/>
                  </a:lnTo>
                  <a:lnTo>
                    <a:pt x="57150" y="71506"/>
                  </a:lnTo>
                  <a:close/>
                </a:path>
                <a:path w="85725" h="2953385">
                  <a:moveTo>
                    <a:pt x="42915" y="0"/>
                  </a:moveTo>
                  <a:lnTo>
                    <a:pt x="0" y="85709"/>
                  </a:lnTo>
                  <a:lnTo>
                    <a:pt x="28575" y="85709"/>
                  </a:lnTo>
                  <a:lnTo>
                    <a:pt x="28575" y="71506"/>
                  </a:lnTo>
                  <a:lnTo>
                    <a:pt x="78618" y="71506"/>
                  </a:lnTo>
                  <a:lnTo>
                    <a:pt x="42915" y="0"/>
                  </a:lnTo>
                  <a:close/>
                </a:path>
                <a:path w="85725" h="2953385">
                  <a:moveTo>
                    <a:pt x="78618" y="71506"/>
                  </a:moveTo>
                  <a:lnTo>
                    <a:pt x="57150" y="71506"/>
                  </a:lnTo>
                  <a:lnTo>
                    <a:pt x="57150" y="85709"/>
                  </a:lnTo>
                  <a:lnTo>
                    <a:pt x="85709" y="85709"/>
                  </a:lnTo>
                  <a:lnTo>
                    <a:pt x="78618" y="71506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76578" y="4033421"/>
              <a:ext cx="4363085" cy="85725"/>
            </a:xfrm>
            <a:custGeom>
              <a:avLst/>
              <a:gdLst/>
              <a:ahLst/>
              <a:cxnLst/>
              <a:rect l="l" t="t" r="r" b="b"/>
              <a:pathLst>
                <a:path w="4363084" h="85725">
                  <a:moveTo>
                    <a:pt x="4277106" y="0"/>
                  </a:moveTo>
                  <a:lnTo>
                    <a:pt x="4276933" y="28563"/>
                  </a:lnTo>
                  <a:lnTo>
                    <a:pt x="4291187" y="28632"/>
                  </a:lnTo>
                  <a:lnTo>
                    <a:pt x="4291065" y="57207"/>
                  </a:lnTo>
                  <a:lnTo>
                    <a:pt x="4276760" y="57207"/>
                  </a:lnTo>
                  <a:lnTo>
                    <a:pt x="4276587" y="85725"/>
                  </a:lnTo>
                  <a:lnTo>
                    <a:pt x="4334355" y="57207"/>
                  </a:lnTo>
                  <a:lnTo>
                    <a:pt x="4291065" y="57207"/>
                  </a:lnTo>
                  <a:lnTo>
                    <a:pt x="4334496" y="57138"/>
                  </a:lnTo>
                  <a:lnTo>
                    <a:pt x="4362572" y="43278"/>
                  </a:lnTo>
                  <a:lnTo>
                    <a:pt x="4277106" y="0"/>
                  </a:lnTo>
                  <a:close/>
                </a:path>
                <a:path w="4363084" h="85725">
                  <a:moveTo>
                    <a:pt x="4276933" y="28563"/>
                  </a:moveTo>
                  <a:lnTo>
                    <a:pt x="4276760" y="57138"/>
                  </a:lnTo>
                  <a:lnTo>
                    <a:pt x="4291065" y="57207"/>
                  </a:lnTo>
                  <a:lnTo>
                    <a:pt x="4291187" y="28632"/>
                  </a:lnTo>
                  <a:lnTo>
                    <a:pt x="4276933" y="28563"/>
                  </a:lnTo>
                  <a:close/>
                </a:path>
                <a:path w="4363084" h="85725">
                  <a:moveTo>
                    <a:pt x="243" y="7702"/>
                  </a:moveTo>
                  <a:lnTo>
                    <a:pt x="0" y="36277"/>
                  </a:lnTo>
                  <a:lnTo>
                    <a:pt x="4276760" y="57138"/>
                  </a:lnTo>
                  <a:lnTo>
                    <a:pt x="4276933" y="28563"/>
                  </a:lnTo>
                  <a:lnTo>
                    <a:pt x="243" y="7702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6000754" y="4315463"/>
              <a:ext cx="46990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spc="30" dirty="0">
                  <a:solidFill>
                    <a:srgbClr val="F07F09"/>
                  </a:solidFill>
                  <a:latin typeface="Calibri"/>
                  <a:cs typeface="Calibri"/>
                </a:rPr>
                <a:t>S</a:t>
              </a:r>
              <a:r>
                <a:rPr sz="1350" b="1" spc="20" dirty="0">
                  <a:solidFill>
                    <a:srgbClr val="F07F09"/>
                  </a:solidFill>
                  <a:latin typeface="Calibri"/>
                  <a:cs typeface="Calibri"/>
                </a:rPr>
                <a:t>p</a:t>
              </a:r>
              <a:r>
                <a:rPr sz="1350" b="1" spc="-10" dirty="0">
                  <a:solidFill>
                    <a:srgbClr val="F07F09"/>
                  </a:solidFill>
                  <a:latin typeface="Calibri"/>
                  <a:cs typeface="Calibri"/>
                </a:rPr>
                <a:t>ee</a:t>
              </a: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d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3765616" y="2162193"/>
              <a:ext cx="196850" cy="63500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1385"/>
                </a:lnSpc>
              </a:pPr>
              <a:r>
                <a:rPr sz="1350" b="1" spc="-10" dirty="0">
                  <a:solidFill>
                    <a:srgbClr val="6B9E24"/>
                  </a:solidFill>
                  <a:latin typeface="Calibri"/>
                  <a:cs typeface="Calibri"/>
                </a:rPr>
                <a:t>Distance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8545836" y="3992243"/>
              <a:ext cx="120014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112898" y="81755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263786" y="1521835"/>
              <a:ext cx="3257550" cy="1976120"/>
            </a:xfrm>
            <a:custGeom>
              <a:avLst/>
              <a:gdLst/>
              <a:ahLst/>
              <a:cxnLst/>
              <a:rect l="l" t="t" r="r" b="b"/>
              <a:pathLst>
                <a:path w="3257550" h="1976120">
                  <a:moveTo>
                    <a:pt x="0" y="1975612"/>
                  </a:moveTo>
                  <a:lnTo>
                    <a:pt x="3257549" y="0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76578" y="3813678"/>
              <a:ext cx="4363085" cy="511175"/>
            </a:xfrm>
            <a:custGeom>
              <a:avLst/>
              <a:gdLst/>
              <a:ahLst/>
              <a:cxnLst/>
              <a:rect l="l" t="t" r="r" b="b"/>
              <a:pathLst>
                <a:path w="4363084" h="511175">
                  <a:moveTo>
                    <a:pt x="4107302" y="0"/>
                  </a:moveTo>
                  <a:lnTo>
                    <a:pt x="4107302" y="127695"/>
                  </a:lnTo>
                  <a:lnTo>
                    <a:pt x="0" y="127695"/>
                  </a:lnTo>
                  <a:lnTo>
                    <a:pt x="0" y="383011"/>
                  </a:lnTo>
                  <a:lnTo>
                    <a:pt x="4107302" y="383011"/>
                  </a:lnTo>
                  <a:lnTo>
                    <a:pt x="4107302" y="510671"/>
                  </a:lnTo>
                  <a:lnTo>
                    <a:pt x="4362572" y="255352"/>
                  </a:lnTo>
                  <a:lnTo>
                    <a:pt x="4107302" y="0"/>
                  </a:lnTo>
                  <a:close/>
                </a:path>
              </a:pathLst>
            </a:custGeom>
            <a:solidFill>
              <a:srgbClr val="095A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76577" y="3813678"/>
              <a:ext cx="4363085" cy="511175"/>
            </a:xfrm>
            <a:custGeom>
              <a:avLst/>
              <a:gdLst/>
              <a:ahLst/>
              <a:cxnLst/>
              <a:rect l="l" t="t" r="r" b="b"/>
              <a:pathLst>
                <a:path w="4363084" h="511175">
                  <a:moveTo>
                    <a:pt x="0" y="127695"/>
                  </a:moveTo>
                  <a:lnTo>
                    <a:pt x="4107301" y="127695"/>
                  </a:lnTo>
                  <a:lnTo>
                    <a:pt x="4107301" y="0"/>
                  </a:lnTo>
                  <a:lnTo>
                    <a:pt x="4362571" y="255352"/>
                  </a:lnTo>
                  <a:lnTo>
                    <a:pt x="4107301" y="510671"/>
                  </a:lnTo>
                  <a:lnTo>
                    <a:pt x="4107301" y="383011"/>
                  </a:lnTo>
                  <a:lnTo>
                    <a:pt x="0" y="383011"/>
                  </a:lnTo>
                  <a:lnTo>
                    <a:pt x="0" y="127695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05250" y="1062593"/>
              <a:ext cx="490855" cy="3138805"/>
            </a:xfrm>
            <a:custGeom>
              <a:avLst/>
              <a:gdLst/>
              <a:ahLst/>
              <a:cxnLst/>
              <a:rect l="l" t="t" r="r" b="b"/>
              <a:pathLst>
                <a:path w="490854" h="3138804">
                  <a:moveTo>
                    <a:pt x="368046" y="245364"/>
                  </a:moveTo>
                  <a:lnTo>
                    <a:pt x="122682" y="245364"/>
                  </a:lnTo>
                  <a:lnTo>
                    <a:pt x="122682" y="3138800"/>
                  </a:lnTo>
                  <a:lnTo>
                    <a:pt x="368046" y="3138800"/>
                  </a:lnTo>
                  <a:lnTo>
                    <a:pt x="368046" y="245364"/>
                  </a:lnTo>
                  <a:close/>
                </a:path>
                <a:path w="490854" h="3138804">
                  <a:moveTo>
                    <a:pt x="245364" y="0"/>
                  </a:moveTo>
                  <a:lnTo>
                    <a:pt x="0" y="245364"/>
                  </a:lnTo>
                  <a:lnTo>
                    <a:pt x="490728" y="245364"/>
                  </a:lnTo>
                  <a:lnTo>
                    <a:pt x="245364" y="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05250" y="1062593"/>
              <a:ext cx="490855" cy="3138805"/>
            </a:xfrm>
            <a:custGeom>
              <a:avLst/>
              <a:gdLst/>
              <a:ahLst/>
              <a:cxnLst/>
              <a:rect l="l" t="t" r="r" b="b"/>
              <a:pathLst>
                <a:path w="490854" h="3138804">
                  <a:moveTo>
                    <a:pt x="122681" y="3138799"/>
                  </a:moveTo>
                  <a:lnTo>
                    <a:pt x="122681" y="245363"/>
                  </a:lnTo>
                  <a:lnTo>
                    <a:pt x="0" y="245363"/>
                  </a:lnTo>
                  <a:lnTo>
                    <a:pt x="245363" y="0"/>
                  </a:lnTo>
                  <a:lnTo>
                    <a:pt x="490727" y="245363"/>
                  </a:lnTo>
                  <a:lnTo>
                    <a:pt x="368045" y="245363"/>
                  </a:lnTo>
                  <a:lnTo>
                    <a:pt x="368045" y="3138799"/>
                  </a:lnTo>
                  <a:lnTo>
                    <a:pt x="122681" y="313879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81178" y="1673473"/>
              <a:ext cx="85709" cy="22480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7354957" y="1812604"/>
              <a:ext cx="8134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-145" dirty="0">
                  <a:solidFill>
                    <a:srgbClr val="5F4778"/>
                  </a:solidFill>
                  <a:latin typeface="Arial Black"/>
                  <a:cs typeface="Arial Black"/>
                </a:rPr>
                <a:t>y </a:t>
              </a:r>
              <a:r>
                <a:rPr sz="1350" spc="-120" dirty="0">
                  <a:solidFill>
                    <a:srgbClr val="5F4778"/>
                  </a:solidFill>
                  <a:latin typeface="Arial Black"/>
                  <a:cs typeface="Arial Black"/>
                </a:rPr>
                <a:t>= </a:t>
              </a:r>
              <a:r>
                <a:rPr sz="1350" spc="-140" dirty="0">
                  <a:solidFill>
                    <a:srgbClr val="5F4778"/>
                  </a:solidFill>
                  <a:latin typeface="Arial Black"/>
                  <a:cs typeface="Arial Black"/>
                </a:rPr>
                <a:t>m</a:t>
              </a:r>
              <a:r>
                <a:rPr sz="1350" spc="-140" dirty="0">
                  <a:solidFill>
                    <a:srgbClr val="6B9E24"/>
                  </a:solidFill>
                  <a:latin typeface="Arial Black"/>
                  <a:cs typeface="Arial Black"/>
                </a:rPr>
                <a:t>x </a:t>
              </a:r>
              <a:r>
                <a:rPr sz="1350" spc="-120" dirty="0">
                  <a:solidFill>
                    <a:srgbClr val="5F4778"/>
                  </a:solidFill>
                  <a:latin typeface="Arial Black"/>
                  <a:cs typeface="Arial Black"/>
                </a:rPr>
                <a:t>+</a:t>
              </a:r>
              <a:r>
                <a:rPr sz="1350" spc="-135" dirty="0">
                  <a:solidFill>
                    <a:srgbClr val="5F4778"/>
                  </a:solidFill>
                  <a:latin typeface="Arial Black"/>
                  <a:cs typeface="Arial Black"/>
                </a:rPr>
                <a:t> </a:t>
              </a:r>
              <a:r>
                <a:rPr sz="1350" spc="-260" dirty="0">
                  <a:solidFill>
                    <a:srgbClr val="5F4778"/>
                  </a:solidFill>
                  <a:latin typeface="Arial Black"/>
                  <a:cs typeface="Arial Black"/>
                </a:rPr>
                <a:t>c</a:t>
              </a:r>
              <a:endParaRPr sz="1350">
                <a:latin typeface="Arial Black"/>
                <a:cs typeface="Arial Black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7563872" y="1300477"/>
              <a:ext cx="528320" cy="327025"/>
            </a:xfrm>
            <a:prstGeom prst="rect">
              <a:avLst/>
            </a:prstGeom>
          </p:spPr>
          <p:txBody>
            <a:bodyPr vert="horz" wrap="square" lIns="0" tIns="7620" rIns="0" bIns="0" rtlCol="0">
              <a:spAutoFit/>
            </a:bodyPr>
            <a:lstStyle/>
            <a:p>
              <a:pPr marL="50800" marR="5080" indent="-38100">
                <a:lnSpc>
                  <a:spcPct val="105400"/>
                </a:lnSpc>
                <a:spcBef>
                  <a:spcPts val="60"/>
                </a:spcBef>
              </a:pPr>
              <a:r>
                <a:rPr sz="950" spc="10" dirty="0">
                  <a:solidFill>
                    <a:srgbClr val="3F3F3F"/>
                  </a:solidFill>
                  <a:latin typeface="Arial"/>
                  <a:cs typeface="Arial"/>
                </a:rPr>
                <a:t>Speed</a:t>
              </a:r>
              <a:r>
                <a:rPr sz="950" dirty="0">
                  <a:solidFill>
                    <a:srgbClr val="3F3F3F"/>
                  </a:solidFill>
                  <a:latin typeface="Arial"/>
                  <a:cs typeface="Arial"/>
                </a:rPr>
                <a:t> of  </a:t>
              </a:r>
              <a:r>
                <a:rPr sz="950" spc="15" dirty="0">
                  <a:solidFill>
                    <a:srgbClr val="3F3F3F"/>
                  </a:solidFill>
                  <a:latin typeface="Arial"/>
                  <a:cs typeface="Arial"/>
                </a:rPr>
                <a:t>Vehicle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5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spc="-5" dirty="0"/>
              <a:t>U</a:t>
            </a:r>
            <a:r>
              <a:rPr sz="3950" spc="-20" dirty="0"/>
              <a:t>nd</a:t>
            </a:r>
            <a:r>
              <a:rPr sz="3950" spc="-25" dirty="0"/>
              <a:t>e</a:t>
            </a:r>
            <a:r>
              <a:rPr sz="3950" spc="30" dirty="0"/>
              <a:t>r</a:t>
            </a:r>
            <a:r>
              <a:rPr sz="3950" spc="-25" dirty="0"/>
              <a:t>s</a:t>
            </a:r>
            <a:r>
              <a:rPr sz="3950" spc="30" dirty="0"/>
              <a:t>t</a:t>
            </a:r>
            <a:r>
              <a:rPr sz="3950" spc="-25" dirty="0"/>
              <a:t>a</a:t>
            </a:r>
            <a:r>
              <a:rPr sz="3950" spc="-20" dirty="0"/>
              <a:t>nd</a:t>
            </a:r>
            <a:r>
              <a:rPr sz="3950" spc="15" dirty="0"/>
              <a:t>i</a:t>
            </a:r>
            <a:r>
              <a:rPr sz="3950" spc="10" dirty="0"/>
              <a:t>n </a:t>
            </a:r>
            <a:r>
              <a:rPr sz="3950" b="0" spc="5" dirty="0">
                <a:latin typeface="Times New Roman"/>
                <a:cs typeface="Times New Roman"/>
              </a:rPr>
              <a:t> </a:t>
            </a:r>
            <a:r>
              <a:rPr sz="3950" spc="15" dirty="0"/>
              <a:t>g </a:t>
            </a:r>
            <a:r>
              <a:rPr sz="3950" spc="-10" dirty="0"/>
              <a:t>Linear  </a:t>
            </a:r>
            <a:r>
              <a:rPr sz="3950" spc="-5" dirty="0"/>
              <a:t>Regression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Group 25"/>
          <p:cNvGrpSpPr/>
          <p:nvPr/>
        </p:nvGrpSpPr>
        <p:grpSpPr>
          <a:xfrm>
            <a:off x="3765616" y="817559"/>
            <a:ext cx="4900234" cy="3729679"/>
            <a:chOff x="3765616" y="817559"/>
            <a:chExt cx="4900234" cy="3729679"/>
          </a:xfrm>
        </p:grpSpPr>
        <p:sp>
          <p:nvSpPr>
            <p:cNvPr id="10" name="object 10"/>
            <p:cNvSpPr/>
            <p:nvPr/>
          </p:nvSpPr>
          <p:spPr>
            <a:xfrm>
              <a:off x="4052834" y="1102613"/>
              <a:ext cx="85725" cy="2953385"/>
            </a:xfrm>
            <a:custGeom>
              <a:avLst/>
              <a:gdLst/>
              <a:ahLst/>
              <a:cxnLst/>
              <a:rect l="l" t="t" r="r" b="b"/>
              <a:pathLst>
                <a:path w="85725" h="2953385">
                  <a:moveTo>
                    <a:pt x="57150" y="71506"/>
                  </a:moveTo>
                  <a:lnTo>
                    <a:pt x="28575" y="71506"/>
                  </a:lnTo>
                  <a:lnTo>
                    <a:pt x="28575" y="2952808"/>
                  </a:lnTo>
                  <a:lnTo>
                    <a:pt x="57150" y="2952808"/>
                  </a:lnTo>
                  <a:lnTo>
                    <a:pt x="57150" y="71506"/>
                  </a:lnTo>
                  <a:close/>
                </a:path>
                <a:path w="85725" h="2953385">
                  <a:moveTo>
                    <a:pt x="42915" y="0"/>
                  </a:moveTo>
                  <a:lnTo>
                    <a:pt x="0" y="85709"/>
                  </a:lnTo>
                  <a:lnTo>
                    <a:pt x="28575" y="85709"/>
                  </a:lnTo>
                  <a:lnTo>
                    <a:pt x="28575" y="71506"/>
                  </a:lnTo>
                  <a:lnTo>
                    <a:pt x="78618" y="71506"/>
                  </a:lnTo>
                  <a:lnTo>
                    <a:pt x="42915" y="0"/>
                  </a:lnTo>
                  <a:close/>
                </a:path>
                <a:path w="85725" h="2953385">
                  <a:moveTo>
                    <a:pt x="78618" y="71506"/>
                  </a:moveTo>
                  <a:lnTo>
                    <a:pt x="57150" y="71506"/>
                  </a:lnTo>
                  <a:lnTo>
                    <a:pt x="57150" y="85709"/>
                  </a:lnTo>
                  <a:lnTo>
                    <a:pt x="85709" y="85709"/>
                  </a:lnTo>
                  <a:lnTo>
                    <a:pt x="78618" y="71506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6578" y="4033421"/>
              <a:ext cx="4363085" cy="85725"/>
            </a:xfrm>
            <a:custGeom>
              <a:avLst/>
              <a:gdLst/>
              <a:ahLst/>
              <a:cxnLst/>
              <a:rect l="l" t="t" r="r" b="b"/>
              <a:pathLst>
                <a:path w="4363084" h="85725">
                  <a:moveTo>
                    <a:pt x="4277106" y="0"/>
                  </a:moveTo>
                  <a:lnTo>
                    <a:pt x="4276933" y="28563"/>
                  </a:lnTo>
                  <a:lnTo>
                    <a:pt x="4291187" y="28632"/>
                  </a:lnTo>
                  <a:lnTo>
                    <a:pt x="4291065" y="57207"/>
                  </a:lnTo>
                  <a:lnTo>
                    <a:pt x="4276760" y="57207"/>
                  </a:lnTo>
                  <a:lnTo>
                    <a:pt x="4276587" y="85725"/>
                  </a:lnTo>
                  <a:lnTo>
                    <a:pt x="4334355" y="57207"/>
                  </a:lnTo>
                  <a:lnTo>
                    <a:pt x="4291065" y="57207"/>
                  </a:lnTo>
                  <a:lnTo>
                    <a:pt x="4334496" y="57138"/>
                  </a:lnTo>
                  <a:lnTo>
                    <a:pt x="4362572" y="43278"/>
                  </a:lnTo>
                  <a:lnTo>
                    <a:pt x="4277106" y="0"/>
                  </a:lnTo>
                  <a:close/>
                </a:path>
                <a:path w="4363084" h="85725">
                  <a:moveTo>
                    <a:pt x="4276933" y="28563"/>
                  </a:moveTo>
                  <a:lnTo>
                    <a:pt x="4276760" y="57138"/>
                  </a:lnTo>
                  <a:lnTo>
                    <a:pt x="4291065" y="57207"/>
                  </a:lnTo>
                  <a:lnTo>
                    <a:pt x="4291187" y="28632"/>
                  </a:lnTo>
                  <a:lnTo>
                    <a:pt x="4276933" y="28563"/>
                  </a:lnTo>
                  <a:close/>
                </a:path>
                <a:path w="4363084" h="85725">
                  <a:moveTo>
                    <a:pt x="243" y="7702"/>
                  </a:moveTo>
                  <a:lnTo>
                    <a:pt x="0" y="36277"/>
                  </a:lnTo>
                  <a:lnTo>
                    <a:pt x="4276760" y="57138"/>
                  </a:lnTo>
                  <a:lnTo>
                    <a:pt x="4276933" y="28563"/>
                  </a:lnTo>
                  <a:lnTo>
                    <a:pt x="243" y="7702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6000754" y="4315463"/>
              <a:ext cx="46990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spc="30" dirty="0">
                  <a:solidFill>
                    <a:srgbClr val="F07F09"/>
                  </a:solidFill>
                  <a:latin typeface="Calibri"/>
                  <a:cs typeface="Calibri"/>
                </a:rPr>
                <a:t>S</a:t>
              </a:r>
              <a:r>
                <a:rPr sz="1350" b="1" spc="20" dirty="0">
                  <a:solidFill>
                    <a:srgbClr val="F07F09"/>
                  </a:solidFill>
                  <a:latin typeface="Calibri"/>
                  <a:cs typeface="Calibri"/>
                </a:rPr>
                <a:t>p</a:t>
              </a:r>
              <a:r>
                <a:rPr sz="1350" b="1" spc="-10" dirty="0">
                  <a:solidFill>
                    <a:srgbClr val="F07F09"/>
                  </a:solidFill>
                  <a:latin typeface="Calibri"/>
                  <a:cs typeface="Calibri"/>
                </a:rPr>
                <a:t>ee</a:t>
              </a: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d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765616" y="2162193"/>
              <a:ext cx="196850" cy="63500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1385"/>
                </a:lnSpc>
              </a:pPr>
              <a:r>
                <a:rPr sz="1350" b="1" spc="-10" dirty="0">
                  <a:solidFill>
                    <a:srgbClr val="6B9E24"/>
                  </a:solidFill>
                  <a:latin typeface="Calibri"/>
                  <a:cs typeface="Calibri"/>
                </a:rPr>
                <a:t>Distance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8545836" y="3992243"/>
              <a:ext cx="120014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112898" y="81755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263786" y="1521835"/>
              <a:ext cx="3257550" cy="1976120"/>
            </a:xfrm>
            <a:custGeom>
              <a:avLst/>
              <a:gdLst/>
              <a:ahLst/>
              <a:cxnLst/>
              <a:rect l="l" t="t" r="r" b="b"/>
              <a:pathLst>
                <a:path w="3257550" h="1976120">
                  <a:moveTo>
                    <a:pt x="0" y="1975612"/>
                  </a:moveTo>
                  <a:lnTo>
                    <a:pt x="3257549" y="0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76578" y="3813678"/>
              <a:ext cx="4363085" cy="511175"/>
            </a:xfrm>
            <a:custGeom>
              <a:avLst/>
              <a:gdLst/>
              <a:ahLst/>
              <a:cxnLst/>
              <a:rect l="l" t="t" r="r" b="b"/>
              <a:pathLst>
                <a:path w="4363084" h="511175">
                  <a:moveTo>
                    <a:pt x="4107302" y="0"/>
                  </a:moveTo>
                  <a:lnTo>
                    <a:pt x="4107302" y="127695"/>
                  </a:lnTo>
                  <a:lnTo>
                    <a:pt x="0" y="127695"/>
                  </a:lnTo>
                  <a:lnTo>
                    <a:pt x="0" y="383011"/>
                  </a:lnTo>
                  <a:lnTo>
                    <a:pt x="4107302" y="383011"/>
                  </a:lnTo>
                  <a:lnTo>
                    <a:pt x="4107302" y="510671"/>
                  </a:lnTo>
                  <a:lnTo>
                    <a:pt x="4362572" y="255352"/>
                  </a:lnTo>
                  <a:lnTo>
                    <a:pt x="4107302" y="0"/>
                  </a:lnTo>
                  <a:close/>
                </a:path>
              </a:pathLst>
            </a:custGeom>
            <a:solidFill>
              <a:srgbClr val="095A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76577" y="3813678"/>
              <a:ext cx="4363085" cy="511175"/>
            </a:xfrm>
            <a:custGeom>
              <a:avLst/>
              <a:gdLst/>
              <a:ahLst/>
              <a:cxnLst/>
              <a:rect l="l" t="t" r="r" b="b"/>
              <a:pathLst>
                <a:path w="4363084" h="511175">
                  <a:moveTo>
                    <a:pt x="0" y="127695"/>
                  </a:moveTo>
                  <a:lnTo>
                    <a:pt x="4107301" y="127695"/>
                  </a:lnTo>
                  <a:lnTo>
                    <a:pt x="4107301" y="0"/>
                  </a:lnTo>
                  <a:lnTo>
                    <a:pt x="4362571" y="255352"/>
                  </a:lnTo>
                  <a:lnTo>
                    <a:pt x="4107301" y="510671"/>
                  </a:lnTo>
                  <a:lnTo>
                    <a:pt x="4107301" y="383011"/>
                  </a:lnTo>
                  <a:lnTo>
                    <a:pt x="0" y="383011"/>
                  </a:lnTo>
                  <a:lnTo>
                    <a:pt x="0" y="127695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05250" y="1062593"/>
              <a:ext cx="490855" cy="3138805"/>
            </a:xfrm>
            <a:custGeom>
              <a:avLst/>
              <a:gdLst/>
              <a:ahLst/>
              <a:cxnLst/>
              <a:rect l="l" t="t" r="r" b="b"/>
              <a:pathLst>
                <a:path w="490854" h="3138804">
                  <a:moveTo>
                    <a:pt x="368046" y="245364"/>
                  </a:moveTo>
                  <a:lnTo>
                    <a:pt x="122682" y="245364"/>
                  </a:lnTo>
                  <a:lnTo>
                    <a:pt x="122682" y="3138800"/>
                  </a:lnTo>
                  <a:lnTo>
                    <a:pt x="368046" y="3138800"/>
                  </a:lnTo>
                  <a:lnTo>
                    <a:pt x="368046" y="245364"/>
                  </a:lnTo>
                  <a:close/>
                </a:path>
                <a:path w="490854" h="3138804">
                  <a:moveTo>
                    <a:pt x="245364" y="0"/>
                  </a:moveTo>
                  <a:lnTo>
                    <a:pt x="0" y="245364"/>
                  </a:lnTo>
                  <a:lnTo>
                    <a:pt x="490728" y="245364"/>
                  </a:lnTo>
                  <a:lnTo>
                    <a:pt x="245364" y="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05250" y="1062593"/>
              <a:ext cx="490855" cy="3138805"/>
            </a:xfrm>
            <a:custGeom>
              <a:avLst/>
              <a:gdLst/>
              <a:ahLst/>
              <a:cxnLst/>
              <a:rect l="l" t="t" r="r" b="b"/>
              <a:pathLst>
                <a:path w="490854" h="3138804">
                  <a:moveTo>
                    <a:pt x="122681" y="3138799"/>
                  </a:moveTo>
                  <a:lnTo>
                    <a:pt x="122681" y="245363"/>
                  </a:lnTo>
                  <a:lnTo>
                    <a:pt x="0" y="245363"/>
                  </a:lnTo>
                  <a:lnTo>
                    <a:pt x="245363" y="0"/>
                  </a:lnTo>
                  <a:lnTo>
                    <a:pt x="490727" y="245363"/>
                  </a:lnTo>
                  <a:lnTo>
                    <a:pt x="368045" y="245363"/>
                  </a:lnTo>
                  <a:lnTo>
                    <a:pt x="368045" y="3138799"/>
                  </a:lnTo>
                  <a:lnTo>
                    <a:pt x="122681" y="313879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15740" y="2127253"/>
              <a:ext cx="192405" cy="365760"/>
            </a:xfrm>
            <a:custGeom>
              <a:avLst/>
              <a:gdLst/>
              <a:ahLst/>
              <a:cxnLst/>
              <a:rect l="l" t="t" r="r" b="b"/>
              <a:pathLst>
                <a:path w="192404" h="365760">
                  <a:moveTo>
                    <a:pt x="140697" y="294941"/>
                  </a:moveTo>
                  <a:lnTo>
                    <a:pt x="115062" y="307716"/>
                  </a:lnTo>
                  <a:lnTo>
                    <a:pt x="191627" y="365247"/>
                  </a:lnTo>
                  <a:lnTo>
                    <a:pt x="191719" y="307716"/>
                  </a:lnTo>
                  <a:lnTo>
                    <a:pt x="147066" y="307716"/>
                  </a:lnTo>
                  <a:lnTo>
                    <a:pt x="140697" y="294941"/>
                  </a:lnTo>
                  <a:close/>
                </a:path>
                <a:path w="192404" h="365760">
                  <a:moveTo>
                    <a:pt x="166210" y="282227"/>
                  </a:moveTo>
                  <a:lnTo>
                    <a:pt x="140697" y="294941"/>
                  </a:lnTo>
                  <a:lnTo>
                    <a:pt x="147066" y="307716"/>
                  </a:lnTo>
                  <a:lnTo>
                    <a:pt x="172577" y="295012"/>
                  </a:lnTo>
                  <a:lnTo>
                    <a:pt x="166210" y="282227"/>
                  </a:lnTo>
                  <a:close/>
                </a:path>
                <a:path w="192404" h="365760">
                  <a:moveTo>
                    <a:pt x="191780" y="269485"/>
                  </a:moveTo>
                  <a:lnTo>
                    <a:pt x="166210" y="282227"/>
                  </a:lnTo>
                  <a:lnTo>
                    <a:pt x="172577" y="295012"/>
                  </a:lnTo>
                  <a:lnTo>
                    <a:pt x="147066" y="307716"/>
                  </a:lnTo>
                  <a:lnTo>
                    <a:pt x="191719" y="307716"/>
                  </a:lnTo>
                  <a:lnTo>
                    <a:pt x="191780" y="269485"/>
                  </a:lnTo>
                  <a:close/>
                </a:path>
                <a:path w="192404" h="365760">
                  <a:moveTo>
                    <a:pt x="25664" y="0"/>
                  </a:moveTo>
                  <a:lnTo>
                    <a:pt x="0" y="12691"/>
                  </a:lnTo>
                  <a:lnTo>
                    <a:pt x="140697" y="294941"/>
                  </a:lnTo>
                  <a:lnTo>
                    <a:pt x="166210" y="282227"/>
                  </a:lnTo>
                  <a:lnTo>
                    <a:pt x="256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6064255" y="2520630"/>
              <a:ext cx="1306195" cy="19748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20" dirty="0">
                  <a:solidFill>
                    <a:srgbClr val="6B9E24"/>
                  </a:solidFill>
                  <a:latin typeface="Arial"/>
                  <a:cs typeface="Arial"/>
                </a:rPr>
                <a:t>m </a:t>
              </a:r>
              <a:r>
                <a:rPr sz="1100" spc="15" dirty="0">
                  <a:latin typeface="Arial"/>
                  <a:cs typeface="Arial"/>
                </a:rPr>
                <a:t>= </a:t>
              </a:r>
              <a:r>
                <a:rPr sz="1100" spc="5" dirty="0">
                  <a:solidFill>
                    <a:srgbClr val="595959"/>
                  </a:solidFill>
                  <a:latin typeface="Arial"/>
                  <a:cs typeface="Arial"/>
                </a:rPr>
                <a:t>+ve</a:t>
              </a:r>
              <a:r>
                <a:rPr sz="1100" spc="-229" dirty="0">
                  <a:solidFill>
                    <a:srgbClr val="595959"/>
                  </a:solidFill>
                  <a:latin typeface="Arial"/>
                  <a:cs typeface="Arial"/>
                </a:rPr>
                <a:t> </a:t>
              </a:r>
              <a:r>
                <a:rPr sz="1100" dirty="0">
                  <a:solidFill>
                    <a:srgbClr val="595959"/>
                  </a:solidFill>
                  <a:latin typeface="Arial"/>
                  <a:cs typeface="Arial"/>
                </a:rPr>
                <a:t>slope </a:t>
              </a:r>
              <a:r>
                <a:rPr sz="1100" spc="-5" dirty="0">
                  <a:solidFill>
                    <a:srgbClr val="595959"/>
                  </a:solidFill>
                  <a:latin typeface="Arial"/>
                  <a:cs typeface="Arial"/>
                </a:rPr>
                <a:t>of </a:t>
              </a:r>
              <a:r>
                <a:rPr sz="1100" spc="-10" dirty="0">
                  <a:solidFill>
                    <a:srgbClr val="595959"/>
                  </a:solidFill>
                  <a:latin typeface="Arial"/>
                  <a:cs typeface="Arial"/>
                </a:rPr>
                <a:t>line</a:t>
              </a:r>
              <a:endParaRPr sz="1100" dirty="0">
                <a:latin typeface="Arial"/>
                <a:cs typeface="Arial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7354957" y="1812604"/>
              <a:ext cx="8134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-145" dirty="0">
                  <a:solidFill>
                    <a:srgbClr val="5F4778"/>
                  </a:solidFill>
                  <a:latin typeface="Arial Black"/>
                  <a:cs typeface="Arial Black"/>
                </a:rPr>
                <a:t>y </a:t>
              </a:r>
              <a:r>
                <a:rPr sz="1350" spc="-120" dirty="0">
                  <a:solidFill>
                    <a:srgbClr val="5F4778"/>
                  </a:solidFill>
                  <a:latin typeface="Arial Black"/>
                  <a:cs typeface="Arial Black"/>
                </a:rPr>
                <a:t>= </a:t>
              </a:r>
              <a:r>
                <a:rPr sz="1350" spc="-135" dirty="0">
                  <a:solidFill>
                    <a:srgbClr val="6B9E24"/>
                  </a:solidFill>
                  <a:latin typeface="Arial Black"/>
                  <a:cs typeface="Arial Black"/>
                </a:rPr>
                <a:t>m</a:t>
              </a:r>
              <a:r>
                <a:rPr sz="1350" spc="-135" dirty="0">
                  <a:solidFill>
                    <a:srgbClr val="5F4778"/>
                  </a:solidFill>
                  <a:latin typeface="Arial Black"/>
                  <a:cs typeface="Arial Black"/>
                </a:rPr>
                <a:t>x </a:t>
              </a:r>
              <a:r>
                <a:rPr sz="1350" spc="-120" dirty="0">
                  <a:solidFill>
                    <a:srgbClr val="5F4778"/>
                  </a:solidFill>
                  <a:latin typeface="Arial Black"/>
                  <a:cs typeface="Arial Black"/>
                </a:rPr>
                <a:t>+</a:t>
              </a:r>
              <a:r>
                <a:rPr sz="1350" spc="-150" dirty="0">
                  <a:solidFill>
                    <a:srgbClr val="5F4778"/>
                  </a:solidFill>
                  <a:latin typeface="Arial Black"/>
                  <a:cs typeface="Arial Black"/>
                </a:rPr>
                <a:t> </a:t>
              </a:r>
              <a:r>
                <a:rPr sz="1350" spc="-260" dirty="0">
                  <a:solidFill>
                    <a:srgbClr val="5F4778"/>
                  </a:solidFill>
                  <a:latin typeface="Arial Black"/>
                  <a:cs typeface="Arial Black"/>
                </a:rPr>
                <a:t>c</a:t>
              </a:r>
              <a:endParaRPr sz="1350">
                <a:latin typeface="Arial Black"/>
                <a:cs typeface="Arial Black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5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spc="-5" dirty="0"/>
              <a:t>U</a:t>
            </a:r>
            <a:r>
              <a:rPr sz="3950" spc="-20" dirty="0"/>
              <a:t>nd</a:t>
            </a:r>
            <a:r>
              <a:rPr sz="3950" spc="-25" dirty="0"/>
              <a:t>e</a:t>
            </a:r>
            <a:r>
              <a:rPr sz="3950" spc="30" dirty="0"/>
              <a:t>r</a:t>
            </a:r>
            <a:r>
              <a:rPr sz="3950" spc="-25" dirty="0"/>
              <a:t>s</a:t>
            </a:r>
            <a:r>
              <a:rPr sz="3950" spc="30" dirty="0"/>
              <a:t>t</a:t>
            </a:r>
            <a:r>
              <a:rPr sz="3950" spc="-25" dirty="0"/>
              <a:t>a</a:t>
            </a:r>
            <a:r>
              <a:rPr sz="3950" spc="-20" dirty="0"/>
              <a:t>nd</a:t>
            </a:r>
            <a:r>
              <a:rPr sz="3950" spc="15" dirty="0"/>
              <a:t>i</a:t>
            </a:r>
            <a:r>
              <a:rPr sz="3950" spc="10" dirty="0"/>
              <a:t>n </a:t>
            </a:r>
            <a:r>
              <a:rPr sz="3950" b="0" spc="5" dirty="0">
                <a:latin typeface="Times New Roman"/>
                <a:cs typeface="Times New Roman"/>
              </a:rPr>
              <a:t> </a:t>
            </a:r>
            <a:r>
              <a:rPr sz="3950" spc="15" dirty="0"/>
              <a:t>g </a:t>
            </a:r>
            <a:r>
              <a:rPr sz="3950" spc="-10" dirty="0"/>
              <a:t>Linear  </a:t>
            </a:r>
            <a:r>
              <a:rPr sz="3950" spc="-5" dirty="0"/>
              <a:t>Regression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Group 25"/>
          <p:cNvGrpSpPr/>
          <p:nvPr/>
        </p:nvGrpSpPr>
        <p:grpSpPr>
          <a:xfrm>
            <a:off x="3765616" y="817559"/>
            <a:ext cx="4900234" cy="3729679"/>
            <a:chOff x="3765616" y="817559"/>
            <a:chExt cx="4900234" cy="3729679"/>
          </a:xfrm>
        </p:grpSpPr>
        <p:sp>
          <p:nvSpPr>
            <p:cNvPr id="10" name="object 10"/>
            <p:cNvSpPr/>
            <p:nvPr/>
          </p:nvSpPr>
          <p:spPr>
            <a:xfrm>
              <a:off x="4052834" y="1102613"/>
              <a:ext cx="85725" cy="2953385"/>
            </a:xfrm>
            <a:custGeom>
              <a:avLst/>
              <a:gdLst/>
              <a:ahLst/>
              <a:cxnLst/>
              <a:rect l="l" t="t" r="r" b="b"/>
              <a:pathLst>
                <a:path w="85725" h="2953385">
                  <a:moveTo>
                    <a:pt x="57150" y="71506"/>
                  </a:moveTo>
                  <a:lnTo>
                    <a:pt x="28575" y="71506"/>
                  </a:lnTo>
                  <a:lnTo>
                    <a:pt x="28575" y="2952808"/>
                  </a:lnTo>
                  <a:lnTo>
                    <a:pt x="57150" y="2952808"/>
                  </a:lnTo>
                  <a:lnTo>
                    <a:pt x="57150" y="71506"/>
                  </a:lnTo>
                  <a:close/>
                </a:path>
                <a:path w="85725" h="2953385">
                  <a:moveTo>
                    <a:pt x="42915" y="0"/>
                  </a:moveTo>
                  <a:lnTo>
                    <a:pt x="0" y="85709"/>
                  </a:lnTo>
                  <a:lnTo>
                    <a:pt x="28575" y="85709"/>
                  </a:lnTo>
                  <a:lnTo>
                    <a:pt x="28575" y="71506"/>
                  </a:lnTo>
                  <a:lnTo>
                    <a:pt x="78618" y="71506"/>
                  </a:lnTo>
                  <a:lnTo>
                    <a:pt x="42915" y="0"/>
                  </a:lnTo>
                  <a:close/>
                </a:path>
                <a:path w="85725" h="2953385">
                  <a:moveTo>
                    <a:pt x="78618" y="71506"/>
                  </a:moveTo>
                  <a:lnTo>
                    <a:pt x="57150" y="71506"/>
                  </a:lnTo>
                  <a:lnTo>
                    <a:pt x="57150" y="85709"/>
                  </a:lnTo>
                  <a:lnTo>
                    <a:pt x="85709" y="85709"/>
                  </a:lnTo>
                  <a:lnTo>
                    <a:pt x="78618" y="71506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6578" y="4033421"/>
              <a:ext cx="4363085" cy="85725"/>
            </a:xfrm>
            <a:custGeom>
              <a:avLst/>
              <a:gdLst/>
              <a:ahLst/>
              <a:cxnLst/>
              <a:rect l="l" t="t" r="r" b="b"/>
              <a:pathLst>
                <a:path w="4363084" h="85725">
                  <a:moveTo>
                    <a:pt x="4277106" y="0"/>
                  </a:moveTo>
                  <a:lnTo>
                    <a:pt x="4276933" y="28563"/>
                  </a:lnTo>
                  <a:lnTo>
                    <a:pt x="4291187" y="28632"/>
                  </a:lnTo>
                  <a:lnTo>
                    <a:pt x="4291065" y="57207"/>
                  </a:lnTo>
                  <a:lnTo>
                    <a:pt x="4276760" y="57207"/>
                  </a:lnTo>
                  <a:lnTo>
                    <a:pt x="4276587" y="85725"/>
                  </a:lnTo>
                  <a:lnTo>
                    <a:pt x="4334355" y="57207"/>
                  </a:lnTo>
                  <a:lnTo>
                    <a:pt x="4291065" y="57207"/>
                  </a:lnTo>
                  <a:lnTo>
                    <a:pt x="4334496" y="57138"/>
                  </a:lnTo>
                  <a:lnTo>
                    <a:pt x="4362572" y="43278"/>
                  </a:lnTo>
                  <a:lnTo>
                    <a:pt x="4277106" y="0"/>
                  </a:lnTo>
                  <a:close/>
                </a:path>
                <a:path w="4363084" h="85725">
                  <a:moveTo>
                    <a:pt x="4276933" y="28563"/>
                  </a:moveTo>
                  <a:lnTo>
                    <a:pt x="4276760" y="57138"/>
                  </a:lnTo>
                  <a:lnTo>
                    <a:pt x="4291065" y="57207"/>
                  </a:lnTo>
                  <a:lnTo>
                    <a:pt x="4291187" y="28632"/>
                  </a:lnTo>
                  <a:lnTo>
                    <a:pt x="4276933" y="28563"/>
                  </a:lnTo>
                  <a:close/>
                </a:path>
                <a:path w="4363084" h="85725">
                  <a:moveTo>
                    <a:pt x="243" y="7702"/>
                  </a:moveTo>
                  <a:lnTo>
                    <a:pt x="0" y="36277"/>
                  </a:lnTo>
                  <a:lnTo>
                    <a:pt x="4276760" y="57138"/>
                  </a:lnTo>
                  <a:lnTo>
                    <a:pt x="4276933" y="28563"/>
                  </a:lnTo>
                  <a:lnTo>
                    <a:pt x="243" y="7702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6000754" y="4315463"/>
              <a:ext cx="46990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spc="30" dirty="0">
                  <a:solidFill>
                    <a:srgbClr val="F07F09"/>
                  </a:solidFill>
                  <a:latin typeface="Calibri"/>
                  <a:cs typeface="Calibri"/>
                </a:rPr>
                <a:t>S</a:t>
              </a:r>
              <a:r>
                <a:rPr sz="1350" b="1" spc="20" dirty="0">
                  <a:solidFill>
                    <a:srgbClr val="F07F09"/>
                  </a:solidFill>
                  <a:latin typeface="Calibri"/>
                  <a:cs typeface="Calibri"/>
                </a:rPr>
                <a:t>p</a:t>
              </a:r>
              <a:r>
                <a:rPr sz="1350" b="1" spc="-10" dirty="0">
                  <a:solidFill>
                    <a:srgbClr val="F07F09"/>
                  </a:solidFill>
                  <a:latin typeface="Calibri"/>
                  <a:cs typeface="Calibri"/>
                </a:rPr>
                <a:t>ee</a:t>
              </a: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d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765616" y="2162193"/>
              <a:ext cx="196850" cy="63500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1385"/>
                </a:lnSpc>
              </a:pPr>
              <a:r>
                <a:rPr sz="1350" b="1" spc="-10" dirty="0">
                  <a:solidFill>
                    <a:srgbClr val="6B9E24"/>
                  </a:solidFill>
                  <a:latin typeface="Calibri"/>
                  <a:cs typeface="Calibri"/>
                </a:rPr>
                <a:t>Distance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8545836" y="3992243"/>
              <a:ext cx="120014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112898" y="81755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263786" y="1521835"/>
              <a:ext cx="3257550" cy="1976120"/>
            </a:xfrm>
            <a:custGeom>
              <a:avLst/>
              <a:gdLst/>
              <a:ahLst/>
              <a:cxnLst/>
              <a:rect l="l" t="t" r="r" b="b"/>
              <a:pathLst>
                <a:path w="3257550" h="1976120">
                  <a:moveTo>
                    <a:pt x="0" y="1975612"/>
                  </a:moveTo>
                  <a:lnTo>
                    <a:pt x="3257549" y="0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76578" y="3813678"/>
              <a:ext cx="4363085" cy="511175"/>
            </a:xfrm>
            <a:custGeom>
              <a:avLst/>
              <a:gdLst/>
              <a:ahLst/>
              <a:cxnLst/>
              <a:rect l="l" t="t" r="r" b="b"/>
              <a:pathLst>
                <a:path w="4363084" h="511175">
                  <a:moveTo>
                    <a:pt x="4107302" y="0"/>
                  </a:moveTo>
                  <a:lnTo>
                    <a:pt x="4107302" y="127695"/>
                  </a:lnTo>
                  <a:lnTo>
                    <a:pt x="0" y="127695"/>
                  </a:lnTo>
                  <a:lnTo>
                    <a:pt x="0" y="383011"/>
                  </a:lnTo>
                  <a:lnTo>
                    <a:pt x="4107302" y="383011"/>
                  </a:lnTo>
                  <a:lnTo>
                    <a:pt x="4107302" y="510671"/>
                  </a:lnTo>
                  <a:lnTo>
                    <a:pt x="4362572" y="255352"/>
                  </a:lnTo>
                  <a:lnTo>
                    <a:pt x="4107302" y="0"/>
                  </a:lnTo>
                  <a:close/>
                </a:path>
              </a:pathLst>
            </a:custGeom>
            <a:solidFill>
              <a:srgbClr val="095A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76577" y="3813678"/>
              <a:ext cx="4363085" cy="511175"/>
            </a:xfrm>
            <a:custGeom>
              <a:avLst/>
              <a:gdLst/>
              <a:ahLst/>
              <a:cxnLst/>
              <a:rect l="l" t="t" r="r" b="b"/>
              <a:pathLst>
                <a:path w="4363084" h="511175">
                  <a:moveTo>
                    <a:pt x="0" y="127695"/>
                  </a:moveTo>
                  <a:lnTo>
                    <a:pt x="4107301" y="127695"/>
                  </a:lnTo>
                  <a:lnTo>
                    <a:pt x="4107301" y="0"/>
                  </a:lnTo>
                  <a:lnTo>
                    <a:pt x="4362571" y="255352"/>
                  </a:lnTo>
                  <a:lnTo>
                    <a:pt x="4107301" y="510671"/>
                  </a:lnTo>
                  <a:lnTo>
                    <a:pt x="4107301" y="383011"/>
                  </a:lnTo>
                  <a:lnTo>
                    <a:pt x="0" y="383011"/>
                  </a:lnTo>
                  <a:lnTo>
                    <a:pt x="0" y="127695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05250" y="1062593"/>
              <a:ext cx="490855" cy="3138805"/>
            </a:xfrm>
            <a:custGeom>
              <a:avLst/>
              <a:gdLst/>
              <a:ahLst/>
              <a:cxnLst/>
              <a:rect l="l" t="t" r="r" b="b"/>
              <a:pathLst>
                <a:path w="490854" h="3138804">
                  <a:moveTo>
                    <a:pt x="368046" y="245364"/>
                  </a:moveTo>
                  <a:lnTo>
                    <a:pt x="122682" y="245364"/>
                  </a:lnTo>
                  <a:lnTo>
                    <a:pt x="122682" y="3138800"/>
                  </a:lnTo>
                  <a:lnTo>
                    <a:pt x="368046" y="3138800"/>
                  </a:lnTo>
                  <a:lnTo>
                    <a:pt x="368046" y="245364"/>
                  </a:lnTo>
                  <a:close/>
                </a:path>
                <a:path w="490854" h="3138804">
                  <a:moveTo>
                    <a:pt x="245364" y="0"/>
                  </a:moveTo>
                  <a:lnTo>
                    <a:pt x="0" y="245364"/>
                  </a:lnTo>
                  <a:lnTo>
                    <a:pt x="490728" y="245364"/>
                  </a:lnTo>
                  <a:lnTo>
                    <a:pt x="245364" y="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05250" y="1062593"/>
              <a:ext cx="490855" cy="3138805"/>
            </a:xfrm>
            <a:custGeom>
              <a:avLst/>
              <a:gdLst/>
              <a:ahLst/>
              <a:cxnLst/>
              <a:rect l="l" t="t" r="r" b="b"/>
              <a:pathLst>
                <a:path w="490854" h="3138804">
                  <a:moveTo>
                    <a:pt x="122681" y="3138799"/>
                  </a:moveTo>
                  <a:lnTo>
                    <a:pt x="122681" y="245363"/>
                  </a:lnTo>
                  <a:lnTo>
                    <a:pt x="0" y="245363"/>
                  </a:lnTo>
                  <a:lnTo>
                    <a:pt x="245363" y="0"/>
                  </a:lnTo>
                  <a:lnTo>
                    <a:pt x="490727" y="245363"/>
                  </a:lnTo>
                  <a:lnTo>
                    <a:pt x="368045" y="245363"/>
                  </a:lnTo>
                  <a:lnTo>
                    <a:pt x="368045" y="3138799"/>
                  </a:lnTo>
                  <a:lnTo>
                    <a:pt x="122681" y="313879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61104" y="3520821"/>
              <a:ext cx="461009" cy="127000"/>
            </a:xfrm>
            <a:custGeom>
              <a:avLst/>
              <a:gdLst/>
              <a:ahLst/>
              <a:cxnLst/>
              <a:rect l="l" t="t" r="r" b="b"/>
              <a:pathLst>
                <a:path w="461010" h="127000">
                  <a:moveTo>
                    <a:pt x="373854" y="98573"/>
                  </a:moveTo>
                  <a:lnTo>
                    <a:pt x="368564" y="126623"/>
                  </a:lnTo>
                  <a:lnTo>
                    <a:pt x="458081" y="101214"/>
                  </a:lnTo>
                  <a:lnTo>
                    <a:pt x="387858" y="101214"/>
                  </a:lnTo>
                  <a:lnTo>
                    <a:pt x="373854" y="98573"/>
                  </a:lnTo>
                  <a:close/>
                </a:path>
                <a:path w="461010" h="127000">
                  <a:moveTo>
                    <a:pt x="379148" y="70503"/>
                  </a:moveTo>
                  <a:lnTo>
                    <a:pt x="373854" y="98573"/>
                  </a:lnTo>
                  <a:lnTo>
                    <a:pt x="387858" y="101214"/>
                  </a:lnTo>
                  <a:lnTo>
                    <a:pt x="393192" y="73152"/>
                  </a:lnTo>
                  <a:lnTo>
                    <a:pt x="379148" y="70503"/>
                  </a:lnTo>
                  <a:close/>
                </a:path>
                <a:path w="461010" h="127000">
                  <a:moveTo>
                    <a:pt x="384444" y="42422"/>
                  </a:moveTo>
                  <a:lnTo>
                    <a:pt x="379148" y="70503"/>
                  </a:lnTo>
                  <a:lnTo>
                    <a:pt x="393192" y="73152"/>
                  </a:lnTo>
                  <a:lnTo>
                    <a:pt x="387858" y="101214"/>
                  </a:lnTo>
                  <a:lnTo>
                    <a:pt x="458081" y="101214"/>
                  </a:lnTo>
                  <a:lnTo>
                    <a:pt x="460766" y="100452"/>
                  </a:lnTo>
                  <a:lnTo>
                    <a:pt x="384444" y="42422"/>
                  </a:lnTo>
                  <a:close/>
                </a:path>
                <a:path w="461010" h="127000">
                  <a:moveTo>
                    <a:pt x="5334" y="0"/>
                  </a:moveTo>
                  <a:lnTo>
                    <a:pt x="0" y="28062"/>
                  </a:lnTo>
                  <a:lnTo>
                    <a:pt x="373854" y="98573"/>
                  </a:lnTo>
                  <a:lnTo>
                    <a:pt x="379148" y="70503"/>
                  </a:lnTo>
                  <a:lnTo>
                    <a:pt x="53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7354957" y="1812604"/>
              <a:ext cx="81280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-145" dirty="0">
                  <a:solidFill>
                    <a:srgbClr val="5F4778"/>
                  </a:solidFill>
                  <a:latin typeface="Arial Black"/>
                  <a:cs typeface="Arial Black"/>
                </a:rPr>
                <a:t>y </a:t>
              </a:r>
              <a:r>
                <a:rPr sz="1350" spc="-120" dirty="0">
                  <a:solidFill>
                    <a:srgbClr val="5F4778"/>
                  </a:solidFill>
                  <a:latin typeface="Arial Black"/>
                  <a:cs typeface="Arial Black"/>
                </a:rPr>
                <a:t>= </a:t>
              </a:r>
              <a:r>
                <a:rPr sz="1350" spc="-135" dirty="0">
                  <a:solidFill>
                    <a:srgbClr val="5F4778"/>
                  </a:solidFill>
                  <a:latin typeface="Arial Black"/>
                  <a:cs typeface="Arial Black"/>
                </a:rPr>
                <a:t>mx </a:t>
              </a:r>
              <a:r>
                <a:rPr sz="1350" spc="-120" dirty="0">
                  <a:solidFill>
                    <a:srgbClr val="5F4778"/>
                  </a:solidFill>
                  <a:latin typeface="Arial Black"/>
                  <a:cs typeface="Arial Black"/>
                </a:rPr>
                <a:t>+</a:t>
              </a:r>
              <a:r>
                <a:rPr sz="1350" spc="-160" dirty="0">
                  <a:solidFill>
                    <a:srgbClr val="5F4778"/>
                  </a:solidFill>
                  <a:latin typeface="Arial Black"/>
                  <a:cs typeface="Arial Black"/>
                </a:rPr>
                <a:t> </a:t>
              </a:r>
              <a:r>
                <a:rPr sz="1350" spc="-260" dirty="0">
                  <a:solidFill>
                    <a:srgbClr val="6B9E24"/>
                  </a:solidFill>
                  <a:latin typeface="Arial Black"/>
                  <a:cs typeface="Arial Black"/>
                </a:rPr>
                <a:t>c</a:t>
              </a:r>
              <a:endParaRPr sz="1350">
                <a:latin typeface="Arial Black"/>
                <a:cs typeface="Arial Black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4805683" y="3520514"/>
              <a:ext cx="1619885" cy="19748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10" dirty="0">
                  <a:solidFill>
                    <a:srgbClr val="6B9E24"/>
                  </a:solidFill>
                  <a:latin typeface="Arial"/>
                  <a:cs typeface="Arial"/>
                </a:rPr>
                <a:t>c </a:t>
              </a:r>
              <a:r>
                <a:rPr sz="1100" spc="15" dirty="0">
                  <a:latin typeface="Arial"/>
                  <a:cs typeface="Arial"/>
                </a:rPr>
                <a:t>= </a:t>
              </a:r>
              <a:r>
                <a:rPr sz="1100" spc="10" dirty="0">
                  <a:solidFill>
                    <a:srgbClr val="595959"/>
                  </a:solidFill>
                  <a:latin typeface="Arial"/>
                  <a:cs typeface="Arial"/>
                </a:rPr>
                <a:t>y </a:t>
              </a:r>
              <a:r>
                <a:rPr sz="1100" spc="5" dirty="0">
                  <a:solidFill>
                    <a:srgbClr val="595959"/>
                  </a:solidFill>
                  <a:latin typeface="Arial"/>
                  <a:cs typeface="Arial"/>
                </a:rPr>
                <a:t>- </a:t>
              </a:r>
              <a:r>
                <a:rPr sz="1100" spc="-5" dirty="0">
                  <a:solidFill>
                    <a:srgbClr val="595959"/>
                  </a:solidFill>
                  <a:latin typeface="Arial"/>
                  <a:cs typeface="Arial"/>
                </a:rPr>
                <a:t>intercept of the</a:t>
              </a:r>
              <a:r>
                <a:rPr sz="1100" spc="-175" dirty="0">
                  <a:solidFill>
                    <a:srgbClr val="595959"/>
                  </a:solidFill>
                  <a:latin typeface="Arial"/>
                  <a:cs typeface="Arial"/>
                </a:rPr>
                <a:t> </a:t>
              </a:r>
              <a:r>
                <a:rPr sz="1100" spc="-10" dirty="0">
                  <a:solidFill>
                    <a:srgbClr val="595959"/>
                  </a:solidFill>
                  <a:latin typeface="Arial"/>
                  <a:cs typeface="Arial"/>
                </a:rPr>
                <a:t>line</a:t>
              </a:r>
              <a:endParaRPr sz="1100" dirty="0">
                <a:latin typeface="Arial"/>
                <a:cs typeface="Arial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5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spc="-5" dirty="0"/>
              <a:t>U</a:t>
            </a:r>
            <a:r>
              <a:rPr sz="3950" spc="-20" dirty="0"/>
              <a:t>nd</a:t>
            </a:r>
            <a:r>
              <a:rPr sz="3950" spc="-25" dirty="0"/>
              <a:t>e</a:t>
            </a:r>
            <a:r>
              <a:rPr sz="3950" spc="30" dirty="0"/>
              <a:t>r</a:t>
            </a:r>
            <a:r>
              <a:rPr sz="3950" spc="-25" dirty="0"/>
              <a:t>s</a:t>
            </a:r>
            <a:r>
              <a:rPr sz="3950" spc="30" dirty="0"/>
              <a:t>t</a:t>
            </a:r>
            <a:r>
              <a:rPr sz="3950" spc="-25" dirty="0"/>
              <a:t>a</a:t>
            </a:r>
            <a:r>
              <a:rPr sz="3950" spc="-20" dirty="0"/>
              <a:t>nd</a:t>
            </a:r>
            <a:r>
              <a:rPr sz="3950" spc="15" dirty="0"/>
              <a:t>i</a:t>
            </a:r>
            <a:r>
              <a:rPr sz="3950" spc="10" dirty="0"/>
              <a:t>n </a:t>
            </a:r>
            <a:r>
              <a:rPr sz="3950" b="0" spc="5" dirty="0">
                <a:latin typeface="Times New Roman"/>
                <a:cs typeface="Times New Roman"/>
              </a:rPr>
              <a:t> </a:t>
            </a:r>
            <a:r>
              <a:rPr sz="3950" spc="15" dirty="0"/>
              <a:t>g </a:t>
            </a:r>
            <a:r>
              <a:rPr sz="3950" spc="-10" dirty="0"/>
              <a:t>Linear  </a:t>
            </a:r>
            <a:r>
              <a:rPr sz="3950" spc="-5" dirty="0"/>
              <a:t>Regression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000754" y="4315463"/>
            <a:ext cx="46990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30" dirty="0">
                <a:solidFill>
                  <a:srgbClr val="F07F09"/>
                </a:solidFill>
                <a:latin typeface="Calibri"/>
                <a:cs typeface="Calibri"/>
              </a:rPr>
              <a:t>S</a:t>
            </a:r>
            <a:r>
              <a:rPr sz="1350" b="1" spc="20" dirty="0">
                <a:solidFill>
                  <a:srgbClr val="F07F09"/>
                </a:solidFill>
                <a:latin typeface="Calibri"/>
                <a:cs typeface="Calibri"/>
              </a:rPr>
              <a:t>p</a:t>
            </a:r>
            <a:r>
              <a:rPr sz="1350" b="1" spc="-10" dirty="0">
                <a:solidFill>
                  <a:srgbClr val="F07F09"/>
                </a:solidFill>
                <a:latin typeface="Calibri"/>
                <a:cs typeface="Calibri"/>
              </a:rPr>
              <a:t>ee</a:t>
            </a: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d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3765616" y="817559"/>
            <a:ext cx="4900234" cy="3507294"/>
            <a:chOff x="3765616" y="817559"/>
            <a:chExt cx="4900234" cy="3507294"/>
          </a:xfrm>
        </p:grpSpPr>
        <p:sp>
          <p:nvSpPr>
            <p:cNvPr id="10" name="object 10"/>
            <p:cNvSpPr/>
            <p:nvPr/>
          </p:nvSpPr>
          <p:spPr>
            <a:xfrm>
              <a:off x="4052834" y="1102613"/>
              <a:ext cx="85725" cy="2953385"/>
            </a:xfrm>
            <a:custGeom>
              <a:avLst/>
              <a:gdLst/>
              <a:ahLst/>
              <a:cxnLst/>
              <a:rect l="l" t="t" r="r" b="b"/>
              <a:pathLst>
                <a:path w="85725" h="2953385">
                  <a:moveTo>
                    <a:pt x="57150" y="71506"/>
                  </a:moveTo>
                  <a:lnTo>
                    <a:pt x="28575" y="71506"/>
                  </a:lnTo>
                  <a:lnTo>
                    <a:pt x="28575" y="2952808"/>
                  </a:lnTo>
                  <a:lnTo>
                    <a:pt x="57150" y="2952808"/>
                  </a:lnTo>
                  <a:lnTo>
                    <a:pt x="57150" y="71506"/>
                  </a:lnTo>
                  <a:close/>
                </a:path>
                <a:path w="85725" h="2953385">
                  <a:moveTo>
                    <a:pt x="42915" y="0"/>
                  </a:moveTo>
                  <a:lnTo>
                    <a:pt x="0" y="85709"/>
                  </a:lnTo>
                  <a:lnTo>
                    <a:pt x="28575" y="85709"/>
                  </a:lnTo>
                  <a:lnTo>
                    <a:pt x="28575" y="71506"/>
                  </a:lnTo>
                  <a:lnTo>
                    <a:pt x="78618" y="71506"/>
                  </a:lnTo>
                  <a:lnTo>
                    <a:pt x="42915" y="0"/>
                  </a:lnTo>
                  <a:close/>
                </a:path>
                <a:path w="85725" h="2953385">
                  <a:moveTo>
                    <a:pt x="78618" y="71506"/>
                  </a:moveTo>
                  <a:lnTo>
                    <a:pt x="57150" y="71506"/>
                  </a:lnTo>
                  <a:lnTo>
                    <a:pt x="57150" y="85709"/>
                  </a:lnTo>
                  <a:lnTo>
                    <a:pt x="85709" y="85709"/>
                  </a:lnTo>
                  <a:lnTo>
                    <a:pt x="78618" y="71506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6578" y="4033421"/>
              <a:ext cx="4363085" cy="85725"/>
            </a:xfrm>
            <a:custGeom>
              <a:avLst/>
              <a:gdLst/>
              <a:ahLst/>
              <a:cxnLst/>
              <a:rect l="l" t="t" r="r" b="b"/>
              <a:pathLst>
                <a:path w="4363084" h="85725">
                  <a:moveTo>
                    <a:pt x="4277106" y="0"/>
                  </a:moveTo>
                  <a:lnTo>
                    <a:pt x="4276933" y="28563"/>
                  </a:lnTo>
                  <a:lnTo>
                    <a:pt x="4291187" y="28632"/>
                  </a:lnTo>
                  <a:lnTo>
                    <a:pt x="4291065" y="57207"/>
                  </a:lnTo>
                  <a:lnTo>
                    <a:pt x="4276760" y="57207"/>
                  </a:lnTo>
                  <a:lnTo>
                    <a:pt x="4276587" y="85725"/>
                  </a:lnTo>
                  <a:lnTo>
                    <a:pt x="4334355" y="57207"/>
                  </a:lnTo>
                  <a:lnTo>
                    <a:pt x="4291065" y="57207"/>
                  </a:lnTo>
                  <a:lnTo>
                    <a:pt x="4334496" y="57138"/>
                  </a:lnTo>
                  <a:lnTo>
                    <a:pt x="4362572" y="43278"/>
                  </a:lnTo>
                  <a:lnTo>
                    <a:pt x="4277106" y="0"/>
                  </a:lnTo>
                  <a:close/>
                </a:path>
                <a:path w="4363084" h="85725">
                  <a:moveTo>
                    <a:pt x="4276933" y="28563"/>
                  </a:moveTo>
                  <a:lnTo>
                    <a:pt x="4276760" y="57138"/>
                  </a:lnTo>
                  <a:lnTo>
                    <a:pt x="4291065" y="57207"/>
                  </a:lnTo>
                  <a:lnTo>
                    <a:pt x="4291187" y="28632"/>
                  </a:lnTo>
                  <a:lnTo>
                    <a:pt x="4276933" y="28563"/>
                  </a:lnTo>
                  <a:close/>
                </a:path>
                <a:path w="4363084" h="85725">
                  <a:moveTo>
                    <a:pt x="243" y="7702"/>
                  </a:moveTo>
                  <a:lnTo>
                    <a:pt x="0" y="36277"/>
                  </a:lnTo>
                  <a:lnTo>
                    <a:pt x="4276760" y="57138"/>
                  </a:lnTo>
                  <a:lnTo>
                    <a:pt x="4276933" y="28563"/>
                  </a:lnTo>
                  <a:lnTo>
                    <a:pt x="243" y="7702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765616" y="2284816"/>
              <a:ext cx="196850" cy="37909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1385"/>
                </a:lnSpc>
              </a:pPr>
              <a:r>
                <a:rPr sz="1350" b="1" spc="5" dirty="0">
                  <a:solidFill>
                    <a:srgbClr val="6B9E24"/>
                  </a:solidFill>
                  <a:latin typeface="Calibri"/>
                  <a:cs typeface="Calibri"/>
                </a:rPr>
                <a:t>T</a:t>
              </a:r>
              <a:r>
                <a:rPr sz="1350" b="1" spc="-30" dirty="0">
                  <a:solidFill>
                    <a:srgbClr val="6B9E24"/>
                  </a:solidFill>
                  <a:latin typeface="Calibri"/>
                  <a:cs typeface="Calibri"/>
                </a:rPr>
                <a:t>i</a:t>
              </a:r>
              <a:r>
                <a:rPr sz="1350" b="1" spc="25" dirty="0">
                  <a:solidFill>
                    <a:srgbClr val="6B9E24"/>
                  </a:solidFill>
                  <a:latin typeface="Calibri"/>
                  <a:cs typeface="Calibri"/>
                </a:rPr>
                <a:t>m</a:t>
              </a: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8545836" y="3992243"/>
              <a:ext cx="120014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112898" y="81755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263786" y="1521835"/>
              <a:ext cx="3257550" cy="1976120"/>
            </a:xfrm>
            <a:custGeom>
              <a:avLst/>
              <a:gdLst/>
              <a:ahLst/>
              <a:cxnLst/>
              <a:rect l="l" t="t" r="r" b="b"/>
              <a:pathLst>
                <a:path w="3257550" h="1976120">
                  <a:moveTo>
                    <a:pt x="3257549" y="1975612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76578" y="3813678"/>
              <a:ext cx="4363085" cy="511175"/>
            </a:xfrm>
            <a:custGeom>
              <a:avLst/>
              <a:gdLst/>
              <a:ahLst/>
              <a:cxnLst/>
              <a:rect l="l" t="t" r="r" b="b"/>
              <a:pathLst>
                <a:path w="4363084" h="511175">
                  <a:moveTo>
                    <a:pt x="4107302" y="0"/>
                  </a:moveTo>
                  <a:lnTo>
                    <a:pt x="4107302" y="127695"/>
                  </a:lnTo>
                  <a:lnTo>
                    <a:pt x="0" y="127695"/>
                  </a:lnTo>
                  <a:lnTo>
                    <a:pt x="0" y="383011"/>
                  </a:lnTo>
                  <a:lnTo>
                    <a:pt x="4107302" y="383011"/>
                  </a:lnTo>
                  <a:lnTo>
                    <a:pt x="4107302" y="510671"/>
                  </a:lnTo>
                  <a:lnTo>
                    <a:pt x="4362572" y="255352"/>
                  </a:lnTo>
                  <a:lnTo>
                    <a:pt x="4107302" y="0"/>
                  </a:lnTo>
                  <a:close/>
                </a:path>
              </a:pathLst>
            </a:custGeom>
            <a:solidFill>
              <a:srgbClr val="095A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76577" y="3813678"/>
              <a:ext cx="4363085" cy="511175"/>
            </a:xfrm>
            <a:custGeom>
              <a:avLst/>
              <a:gdLst/>
              <a:ahLst/>
              <a:cxnLst/>
              <a:rect l="l" t="t" r="r" b="b"/>
              <a:pathLst>
                <a:path w="4363084" h="511175">
                  <a:moveTo>
                    <a:pt x="0" y="127695"/>
                  </a:moveTo>
                  <a:lnTo>
                    <a:pt x="4107301" y="127695"/>
                  </a:lnTo>
                  <a:lnTo>
                    <a:pt x="4107301" y="0"/>
                  </a:lnTo>
                  <a:lnTo>
                    <a:pt x="4362571" y="255352"/>
                  </a:lnTo>
                  <a:lnTo>
                    <a:pt x="4107301" y="510671"/>
                  </a:lnTo>
                  <a:lnTo>
                    <a:pt x="4107301" y="383011"/>
                  </a:lnTo>
                  <a:lnTo>
                    <a:pt x="0" y="383011"/>
                  </a:lnTo>
                  <a:lnTo>
                    <a:pt x="0" y="127695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05250" y="1062593"/>
              <a:ext cx="490855" cy="3138805"/>
            </a:xfrm>
            <a:custGeom>
              <a:avLst/>
              <a:gdLst/>
              <a:ahLst/>
              <a:cxnLst/>
              <a:rect l="l" t="t" r="r" b="b"/>
              <a:pathLst>
                <a:path w="490854" h="3138804">
                  <a:moveTo>
                    <a:pt x="368046" y="245364"/>
                  </a:moveTo>
                  <a:lnTo>
                    <a:pt x="122682" y="245364"/>
                  </a:lnTo>
                  <a:lnTo>
                    <a:pt x="122682" y="3138800"/>
                  </a:lnTo>
                  <a:lnTo>
                    <a:pt x="368046" y="3138800"/>
                  </a:lnTo>
                  <a:lnTo>
                    <a:pt x="368046" y="245364"/>
                  </a:lnTo>
                  <a:close/>
                </a:path>
                <a:path w="490854" h="3138804">
                  <a:moveTo>
                    <a:pt x="245364" y="0"/>
                  </a:moveTo>
                  <a:lnTo>
                    <a:pt x="0" y="245364"/>
                  </a:lnTo>
                  <a:lnTo>
                    <a:pt x="490728" y="245364"/>
                  </a:lnTo>
                  <a:lnTo>
                    <a:pt x="245364" y="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05250" y="1062593"/>
              <a:ext cx="490855" cy="3138805"/>
            </a:xfrm>
            <a:custGeom>
              <a:avLst/>
              <a:gdLst/>
              <a:ahLst/>
              <a:cxnLst/>
              <a:rect l="l" t="t" r="r" b="b"/>
              <a:pathLst>
                <a:path w="490854" h="3138804">
                  <a:moveTo>
                    <a:pt x="122681" y="3138799"/>
                  </a:moveTo>
                  <a:lnTo>
                    <a:pt x="122681" y="245363"/>
                  </a:lnTo>
                  <a:lnTo>
                    <a:pt x="0" y="245363"/>
                  </a:lnTo>
                  <a:lnTo>
                    <a:pt x="245363" y="0"/>
                  </a:lnTo>
                  <a:lnTo>
                    <a:pt x="490727" y="245363"/>
                  </a:lnTo>
                  <a:lnTo>
                    <a:pt x="368045" y="245363"/>
                  </a:lnTo>
                  <a:lnTo>
                    <a:pt x="368045" y="3138799"/>
                  </a:lnTo>
                  <a:lnTo>
                    <a:pt x="122681" y="313879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5337433" y="2972115"/>
              <a:ext cx="942340" cy="17462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950" spc="-55" dirty="0">
                  <a:solidFill>
                    <a:srgbClr val="5F4778"/>
                  </a:solidFill>
                  <a:latin typeface="Arial Black"/>
                  <a:cs typeface="Arial Black"/>
                </a:rPr>
                <a:t>-ve</a:t>
              </a:r>
              <a:r>
                <a:rPr sz="950" spc="-105" dirty="0">
                  <a:solidFill>
                    <a:srgbClr val="5F4778"/>
                  </a:solidFill>
                  <a:latin typeface="Arial Black"/>
                  <a:cs typeface="Arial Black"/>
                </a:rPr>
                <a:t> </a:t>
              </a:r>
              <a:r>
                <a:rPr sz="950" spc="-80" dirty="0">
                  <a:solidFill>
                    <a:srgbClr val="5F4778"/>
                  </a:solidFill>
                  <a:latin typeface="Arial Black"/>
                  <a:cs typeface="Arial Black"/>
                </a:rPr>
                <a:t>Relationship</a:t>
              </a:r>
              <a:endParaRPr sz="950">
                <a:latin typeface="Arial Black"/>
                <a:cs typeface="Arial Black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7070349" y="1812604"/>
              <a:ext cx="91757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-145" dirty="0">
                  <a:solidFill>
                    <a:srgbClr val="6B9E24"/>
                  </a:solidFill>
                  <a:latin typeface="Arial Black"/>
                  <a:cs typeface="Arial Black"/>
                </a:rPr>
                <a:t>y </a:t>
              </a:r>
              <a:r>
                <a:rPr sz="1350" spc="-120" dirty="0">
                  <a:solidFill>
                    <a:srgbClr val="5F4778"/>
                  </a:solidFill>
                  <a:latin typeface="Arial Black"/>
                  <a:cs typeface="Arial Black"/>
                </a:rPr>
                <a:t>= </a:t>
              </a:r>
              <a:r>
                <a:rPr sz="1350" spc="-15" dirty="0">
                  <a:solidFill>
                    <a:srgbClr val="5F4778"/>
                  </a:solidFill>
                  <a:latin typeface="Arial Black"/>
                  <a:cs typeface="Arial Black"/>
                </a:rPr>
                <a:t>- </a:t>
              </a:r>
              <a:r>
                <a:rPr sz="1350" spc="-135" dirty="0">
                  <a:solidFill>
                    <a:srgbClr val="5F4778"/>
                  </a:solidFill>
                  <a:latin typeface="Arial Black"/>
                  <a:cs typeface="Arial Black"/>
                </a:rPr>
                <a:t>mx </a:t>
              </a:r>
              <a:r>
                <a:rPr sz="1350" spc="-120" dirty="0">
                  <a:solidFill>
                    <a:srgbClr val="5F4778"/>
                  </a:solidFill>
                  <a:latin typeface="Arial Black"/>
                  <a:cs typeface="Arial Black"/>
                </a:rPr>
                <a:t>+</a:t>
              </a:r>
              <a:r>
                <a:rPr sz="1350" spc="-210" dirty="0">
                  <a:solidFill>
                    <a:srgbClr val="5F4778"/>
                  </a:solidFill>
                  <a:latin typeface="Arial Black"/>
                  <a:cs typeface="Arial Black"/>
                </a:rPr>
                <a:t> </a:t>
              </a:r>
              <a:r>
                <a:rPr sz="1350" spc="-260" dirty="0">
                  <a:solidFill>
                    <a:srgbClr val="5F4778"/>
                  </a:solidFill>
                  <a:latin typeface="Arial Black"/>
                  <a:cs typeface="Arial Black"/>
                </a:rPr>
                <a:t>c</a:t>
              </a:r>
              <a:endParaRPr sz="1350">
                <a:latin typeface="Arial Black"/>
                <a:cs typeface="Arial Black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059168" y="2047363"/>
              <a:ext cx="85740" cy="2247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6551681" y="2335845"/>
              <a:ext cx="1109345" cy="32702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25"/>
                </a:spcBef>
              </a:pPr>
              <a:r>
                <a:rPr sz="950" spc="-5" dirty="0">
                  <a:solidFill>
                    <a:srgbClr val="595959"/>
                  </a:solidFill>
                  <a:latin typeface="Arial"/>
                  <a:cs typeface="Arial"/>
                </a:rPr>
                <a:t>Time </a:t>
              </a:r>
              <a:r>
                <a:rPr sz="950" spc="15" dirty="0">
                  <a:solidFill>
                    <a:srgbClr val="595959"/>
                  </a:solidFill>
                  <a:latin typeface="Arial"/>
                  <a:cs typeface="Arial"/>
                </a:rPr>
                <a:t>taken </a:t>
              </a:r>
              <a:r>
                <a:rPr sz="950" spc="20" dirty="0">
                  <a:solidFill>
                    <a:srgbClr val="595959"/>
                  </a:solidFill>
                  <a:latin typeface="Arial"/>
                  <a:cs typeface="Arial"/>
                </a:rPr>
                <a:t>to</a:t>
              </a:r>
              <a:r>
                <a:rPr sz="950" spc="70" dirty="0">
                  <a:solidFill>
                    <a:srgbClr val="595959"/>
                  </a:solidFill>
                  <a:latin typeface="Arial"/>
                  <a:cs typeface="Arial"/>
                </a:rPr>
                <a:t> </a:t>
              </a:r>
              <a:r>
                <a:rPr sz="950" spc="-20" dirty="0">
                  <a:solidFill>
                    <a:srgbClr val="595959"/>
                  </a:solidFill>
                  <a:latin typeface="Arial"/>
                  <a:cs typeface="Arial"/>
                </a:rPr>
                <a:t>travel</a:t>
              </a:r>
              <a:endParaRPr sz="950">
                <a:latin typeface="Arial"/>
                <a:cs typeface="Arial"/>
              </a:endParaRPr>
            </a:p>
            <a:p>
              <a:pPr marL="2540" algn="ctr">
                <a:lnSpc>
                  <a:spcPct val="100000"/>
                </a:lnSpc>
                <a:spcBef>
                  <a:spcPts val="60"/>
                </a:spcBef>
              </a:pPr>
              <a:r>
                <a:rPr sz="950" spc="10" dirty="0">
                  <a:solidFill>
                    <a:srgbClr val="595959"/>
                  </a:solidFill>
                  <a:latin typeface="Arial"/>
                  <a:cs typeface="Arial"/>
                </a:rPr>
                <a:t>a </a:t>
              </a:r>
              <a:r>
                <a:rPr sz="950" dirty="0">
                  <a:solidFill>
                    <a:srgbClr val="595959"/>
                  </a:solidFill>
                  <a:latin typeface="Arial"/>
                  <a:cs typeface="Arial"/>
                </a:rPr>
                <a:t>fixed</a:t>
              </a:r>
              <a:r>
                <a:rPr sz="950" spc="70" dirty="0">
                  <a:solidFill>
                    <a:srgbClr val="595959"/>
                  </a:solidFill>
                  <a:latin typeface="Arial"/>
                  <a:cs typeface="Arial"/>
                </a:rPr>
                <a:t> </a:t>
              </a:r>
              <a:r>
                <a:rPr sz="950" spc="15" dirty="0">
                  <a:solidFill>
                    <a:srgbClr val="595959"/>
                  </a:solidFill>
                  <a:latin typeface="Arial"/>
                  <a:cs typeface="Arial"/>
                </a:rPr>
                <a:t>distance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4809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45204" cy="1381125"/>
          </a:xfrm>
          <a:custGeom>
            <a:avLst/>
            <a:gdLst/>
            <a:ahLst/>
            <a:cxnLst/>
            <a:rect l="l" t="t" r="r" b="b"/>
            <a:pathLst>
              <a:path w="3545204" h="1381125">
                <a:moveTo>
                  <a:pt x="0" y="1380993"/>
                </a:moveTo>
                <a:lnTo>
                  <a:pt x="3544702" y="1380993"/>
                </a:lnTo>
                <a:lnTo>
                  <a:pt x="354470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126998"/>
            <a:ext cx="3545204" cy="2016760"/>
          </a:xfrm>
          <a:custGeom>
            <a:avLst/>
            <a:gdLst/>
            <a:ahLst/>
            <a:cxnLst/>
            <a:rect l="l" t="t" r="r" b="b"/>
            <a:pathLst>
              <a:path w="3545204" h="2016760">
                <a:moveTo>
                  <a:pt x="0" y="2016501"/>
                </a:moveTo>
                <a:lnTo>
                  <a:pt x="3544702" y="2016501"/>
                </a:lnTo>
                <a:lnTo>
                  <a:pt x="3544702" y="0"/>
                </a:lnTo>
                <a:lnTo>
                  <a:pt x="0" y="0"/>
                </a:lnTo>
                <a:lnTo>
                  <a:pt x="0" y="2016501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2700" y="1340164"/>
            <a:ext cx="3260090" cy="1739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509"/>
              </a:spcBef>
            </a:pPr>
            <a:r>
              <a:rPr sz="3950" spc="-5" dirty="0"/>
              <a:t>U</a:t>
            </a:r>
            <a:r>
              <a:rPr sz="3950" spc="-20" dirty="0"/>
              <a:t>nd</a:t>
            </a:r>
            <a:r>
              <a:rPr sz="3950" spc="-25" dirty="0"/>
              <a:t>e</a:t>
            </a:r>
            <a:r>
              <a:rPr sz="3950" spc="30" dirty="0"/>
              <a:t>r</a:t>
            </a:r>
            <a:r>
              <a:rPr sz="3950" spc="-25" dirty="0"/>
              <a:t>s</a:t>
            </a:r>
            <a:r>
              <a:rPr sz="3950" spc="30" dirty="0"/>
              <a:t>t</a:t>
            </a:r>
            <a:r>
              <a:rPr sz="3950" spc="-25" dirty="0"/>
              <a:t>a</a:t>
            </a:r>
            <a:r>
              <a:rPr sz="3950" spc="-20" dirty="0"/>
              <a:t>nd</a:t>
            </a:r>
            <a:r>
              <a:rPr sz="3950" spc="15" dirty="0"/>
              <a:t>i</a:t>
            </a:r>
            <a:r>
              <a:rPr sz="3950" spc="10" dirty="0"/>
              <a:t>n </a:t>
            </a:r>
            <a:r>
              <a:rPr sz="3950" b="0" spc="5" dirty="0">
                <a:latin typeface="Times New Roman"/>
                <a:cs typeface="Times New Roman"/>
              </a:rPr>
              <a:t> </a:t>
            </a:r>
            <a:r>
              <a:rPr sz="3950" spc="15" dirty="0"/>
              <a:t>g </a:t>
            </a:r>
            <a:r>
              <a:rPr sz="3950" spc="-10" dirty="0"/>
              <a:t>Linear  </a:t>
            </a:r>
            <a:r>
              <a:rPr sz="3950" spc="-5" dirty="0"/>
              <a:t>Regression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Group 27"/>
          <p:cNvGrpSpPr/>
          <p:nvPr/>
        </p:nvGrpSpPr>
        <p:grpSpPr>
          <a:xfrm>
            <a:off x="3765616" y="817559"/>
            <a:ext cx="5130104" cy="3729679"/>
            <a:chOff x="3765616" y="817559"/>
            <a:chExt cx="5130104" cy="3729679"/>
          </a:xfrm>
        </p:grpSpPr>
        <p:sp>
          <p:nvSpPr>
            <p:cNvPr id="10" name="object 10"/>
            <p:cNvSpPr txBox="1"/>
            <p:nvPr/>
          </p:nvSpPr>
          <p:spPr>
            <a:xfrm>
              <a:off x="8545836" y="3992243"/>
              <a:ext cx="120014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052834" y="1102613"/>
              <a:ext cx="85725" cy="2953385"/>
            </a:xfrm>
            <a:custGeom>
              <a:avLst/>
              <a:gdLst/>
              <a:ahLst/>
              <a:cxnLst/>
              <a:rect l="l" t="t" r="r" b="b"/>
              <a:pathLst>
                <a:path w="85725" h="2953385">
                  <a:moveTo>
                    <a:pt x="57150" y="71506"/>
                  </a:moveTo>
                  <a:lnTo>
                    <a:pt x="28575" y="71506"/>
                  </a:lnTo>
                  <a:lnTo>
                    <a:pt x="28575" y="2952808"/>
                  </a:lnTo>
                  <a:lnTo>
                    <a:pt x="57150" y="2952808"/>
                  </a:lnTo>
                  <a:lnTo>
                    <a:pt x="57150" y="71506"/>
                  </a:lnTo>
                  <a:close/>
                </a:path>
                <a:path w="85725" h="2953385">
                  <a:moveTo>
                    <a:pt x="42915" y="0"/>
                  </a:moveTo>
                  <a:lnTo>
                    <a:pt x="0" y="85709"/>
                  </a:lnTo>
                  <a:lnTo>
                    <a:pt x="28575" y="85709"/>
                  </a:lnTo>
                  <a:lnTo>
                    <a:pt x="28575" y="71506"/>
                  </a:lnTo>
                  <a:lnTo>
                    <a:pt x="78618" y="71506"/>
                  </a:lnTo>
                  <a:lnTo>
                    <a:pt x="42915" y="0"/>
                  </a:lnTo>
                  <a:close/>
                </a:path>
                <a:path w="85725" h="2953385">
                  <a:moveTo>
                    <a:pt x="78618" y="71506"/>
                  </a:moveTo>
                  <a:lnTo>
                    <a:pt x="57150" y="71506"/>
                  </a:lnTo>
                  <a:lnTo>
                    <a:pt x="57150" y="85709"/>
                  </a:lnTo>
                  <a:lnTo>
                    <a:pt x="85709" y="85709"/>
                  </a:lnTo>
                  <a:lnTo>
                    <a:pt x="78618" y="71506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76578" y="4033421"/>
              <a:ext cx="4363085" cy="85725"/>
            </a:xfrm>
            <a:custGeom>
              <a:avLst/>
              <a:gdLst/>
              <a:ahLst/>
              <a:cxnLst/>
              <a:rect l="l" t="t" r="r" b="b"/>
              <a:pathLst>
                <a:path w="4363084" h="85725">
                  <a:moveTo>
                    <a:pt x="4277106" y="0"/>
                  </a:moveTo>
                  <a:lnTo>
                    <a:pt x="4276933" y="28563"/>
                  </a:lnTo>
                  <a:lnTo>
                    <a:pt x="4291187" y="28632"/>
                  </a:lnTo>
                  <a:lnTo>
                    <a:pt x="4291065" y="57207"/>
                  </a:lnTo>
                  <a:lnTo>
                    <a:pt x="4276760" y="57207"/>
                  </a:lnTo>
                  <a:lnTo>
                    <a:pt x="4276587" y="85725"/>
                  </a:lnTo>
                  <a:lnTo>
                    <a:pt x="4334355" y="57207"/>
                  </a:lnTo>
                  <a:lnTo>
                    <a:pt x="4291065" y="57207"/>
                  </a:lnTo>
                  <a:lnTo>
                    <a:pt x="4334496" y="57138"/>
                  </a:lnTo>
                  <a:lnTo>
                    <a:pt x="4362572" y="43278"/>
                  </a:lnTo>
                  <a:lnTo>
                    <a:pt x="4277106" y="0"/>
                  </a:lnTo>
                  <a:close/>
                </a:path>
                <a:path w="4363084" h="85725">
                  <a:moveTo>
                    <a:pt x="4276933" y="28563"/>
                  </a:moveTo>
                  <a:lnTo>
                    <a:pt x="4276760" y="57138"/>
                  </a:lnTo>
                  <a:lnTo>
                    <a:pt x="4291065" y="57207"/>
                  </a:lnTo>
                  <a:lnTo>
                    <a:pt x="4291187" y="28632"/>
                  </a:lnTo>
                  <a:lnTo>
                    <a:pt x="4276933" y="28563"/>
                  </a:lnTo>
                  <a:close/>
                </a:path>
                <a:path w="4363084" h="85725">
                  <a:moveTo>
                    <a:pt x="243" y="7702"/>
                  </a:moveTo>
                  <a:lnTo>
                    <a:pt x="0" y="36277"/>
                  </a:lnTo>
                  <a:lnTo>
                    <a:pt x="4276760" y="57138"/>
                  </a:lnTo>
                  <a:lnTo>
                    <a:pt x="4276933" y="28563"/>
                  </a:lnTo>
                  <a:lnTo>
                    <a:pt x="243" y="7702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5447669" y="4315463"/>
              <a:ext cx="156845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spc="10" dirty="0">
                  <a:solidFill>
                    <a:srgbClr val="F07F09"/>
                  </a:solidFill>
                  <a:latin typeface="Calibri"/>
                  <a:cs typeface="Calibri"/>
                </a:rPr>
                <a:t>Independent</a:t>
              </a:r>
              <a:r>
                <a:rPr sz="1350" b="1" spc="-155" dirty="0">
                  <a:solidFill>
                    <a:srgbClr val="F07F09"/>
                  </a:solidFill>
                  <a:latin typeface="Calibri"/>
                  <a:cs typeface="Calibri"/>
                </a:rPr>
                <a:t> </a:t>
              </a:r>
              <a:r>
                <a:rPr sz="1350" b="1" spc="-15" dirty="0">
                  <a:solidFill>
                    <a:srgbClr val="F07F09"/>
                  </a:solidFill>
                  <a:latin typeface="Calibri"/>
                  <a:cs typeface="Calibri"/>
                </a:rPr>
                <a:t>Variable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3765616" y="1763318"/>
              <a:ext cx="196850" cy="143510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1385"/>
                </a:lnSpc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Dependent</a:t>
              </a:r>
              <a:r>
                <a:rPr sz="1350" b="1" spc="-120" dirty="0">
                  <a:solidFill>
                    <a:srgbClr val="6B9E24"/>
                  </a:solidFill>
                  <a:latin typeface="Calibri"/>
                  <a:cs typeface="Calibri"/>
                </a:rPr>
                <a:t> </a:t>
              </a:r>
              <a:r>
                <a:rPr sz="1350" b="1" spc="-20" dirty="0">
                  <a:solidFill>
                    <a:srgbClr val="6B9E24"/>
                  </a:solidFill>
                  <a:latin typeface="Calibri"/>
                  <a:cs typeface="Calibri"/>
                </a:rPr>
                <a:t>Variable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112898" y="81755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263786" y="1521835"/>
              <a:ext cx="3257550" cy="1976120"/>
            </a:xfrm>
            <a:custGeom>
              <a:avLst/>
              <a:gdLst/>
              <a:ahLst/>
              <a:cxnLst/>
              <a:rect l="l" t="t" r="r" b="b"/>
              <a:pathLst>
                <a:path w="3257550" h="1976120">
                  <a:moveTo>
                    <a:pt x="0" y="1975612"/>
                  </a:moveTo>
                  <a:lnTo>
                    <a:pt x="3257549" y="0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76578" y="3813678"/>
              <a:ext cx="4363085" cy="511175"/>
            </a:xfrm>
            <a:custGeom>
              <a:avLst/>
              <a:gdLst/>
              <a:ahLst/>
              <a:cxnLst/>
              <a:rect l="l" t="t" r="r" b="b"/>
              <a:pathLst>
                <a:path w="4363084" h="511175">
                  <a:moveTo>
                    <a:pt x="4107302" y="0"/>
                  </a:moveTo>
                  <a:lnTo>
                    <a:pt x="4107302" y="127695"/>
                  </a:lnTo>
                  <a:lnTo>
                    <a:pt x="0" y="127695"/>
                  </a:lnTo>
                  <a:lnTo>
                    <a:pt x="0" y="383011"/>
                  </a:lnTo>
                  <a:lnTo>
                    <a:pt x="4107302" y="383011"/>
                  </a:lnTo>
                  <a:lnTo>
                    <a:pt x="4107302" y="510671"/>
                  </a:lnTo>
                  <a:lnTo>
                    <a:pt x="4362572" y="255352"/>
                  </a:lnTo>
                  <a:lnTo>
                    <a:pt x="4107302" y="0"/>
                  </a:lnTo>
                  <a:close/>
                </a:path>
              </a:pathLst>
            </a:custGeom>
            <a:solidFill>
              <a:srgbClr val="095A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76577" y="3813678"/>
              <a:ext cx="4363085" cy="511175"/>
            </a:xfrm>
            <a:custGeom>
              <a:avLst/>
              <a:gdLst/>
              <a:ahLst/>
              <a:cxnLst/>
              <a:rect l="l" t="t" r="r" b="b"/>
              <a:pathLst>
                <a:path w="4363084" h="511175">
                  <a:moveTo>
                    <a:pt x="0" y="127695"/>
                  </a:moveTo>
                  <a:lnTo>
                    <a:pt x="4107301" y="127695"/>
                  </a:lnTo>
                  <a:lnTo>
                    <a:pt x="4107301" y="0"/>
                  </a:lnTo>
                  <a:lnTo>
                    <a:pt x="4362571" y="255352"/>
                  </a:lnTo>
                  <a:lnTo>
                    <a:pt x="4107301" y="510671"/>
                  </a:lnTo>
                  <a:lnTo>
                    <a:pt x="4107301" y="383011"/>
                  </a:lnTo>
                  <a:lnTo>
                    <a:pt x="0" y="383011"/>
                  </a:lnTo>
                  <a:lnTo>
                    <a:pt x="0" y="127695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05250" y="1062593"/>
              <a:ext cx="490855" cy="3138805"/>
            </a:xfrm>
            <a:custGeom>
              <a:avLst/>
              <a:gdLst/>
              <a:ahLst/>
              <a:cxnLst/>
              <a:rect l="l" t="t" r="r" b="b"/>
              <a:pathLst>
                <a:path w="490854" h="3138804">
                  <a:moveTo>
                    <a:pt x="368046" y="245364"/>
                  </a:moveTo>
                  <a:lnTo>
                    <a:pt x="122682" y="245364"/>
                  </a:lnTo>
                  <a:lnTo>
                    <a:pt x="122682" y="3138800"/>
                  </a:lnTo>
                  <a:lnTo>
                    <a:pt x="368046" y="3138800"/>
                  </a:lnTo>
                  <a:lnTo>
                    <a:pt x="368046" y="245364"/>
                  </a:lnTo>
                  <a:close/>
                </a:path>
                <a:path w="490854" h="3138804">
                  <a:moveTo>
                    <a:pt x="245364" y="0"/>
                  </a:moveTo>
                  <a:lnTo>
                    <a:pt x="0" y="245364"/>
                  </a:lnTo>
                  <a:lnTo>
                    <a:pt x="490728" y="245364"/>
                  </a:lnTo>
                  <a:lnTo>
                    <a:pt x="245364" y="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05250" y="1062593"/>
              <a:ext cx="490855" cy="3138805"/>
            </a:xfrm>
            <a:custGeom>
              <a:avLst/>
              <a:gdLst/>
              <a:ahLst/>
              <a:cxnLst/>
              <a:rect l="l" t="t" r="r" b="b"/>
              <a:pathLst>
                <a:path w="490854" h="3138804">
                  <a:moveTo>
                    <a:pt x="122681" y="3138799"/>
                  </a:moveTo>
                  <a:lnTo>
                    <a:pt x="122681" y="245363"/>
                  </a:lnTo>
                  <a:lnTo>
                    <a:pt x="0" y="245363"/>
                  </a:lnTo>
                  <a:lnTo>
                    <a:pt x="245363" y="0"/>
                  </a:lnTo>
                  <a:lnTo>
                    <a:pt x="490727" y="245363"/>
                  </a:lnTo>
                  <a:lnTo>
                    <a:pt x="368045" y="245363"/>
                  </a:lnTo>
                  <a:lnTo>
                    <a:pt x="368045" y="3138799"/>
                  </a:lnTo>
                  <a:lnTo>
                    <a:pt x="122681" y="313879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7468621" y="1812350"/>
              <a:ext cx="81153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-145" dirty="0">
                  <a:solidFill>
                    <a:srgbClr val="5F4778"/>
                  </a:solidFill>
                  <a:latin typeface="Arial Black"/>
                  <a:cs typeface="Arial Black"/>
                </a:rPr>
                <a:t>y </a:t>
              </a:r>
              <a:r>
                <a:rPr sz="1350" spc="-120" dirty="0">
                  <a:solidFill>
                    <a:srgbClr val="5F4778"/>
                  </a:solidFill>
                  <a:latin typeface="Arial Black"/>
                  <a:cs typeface="Arial Black"/>
                </a:rPr>
                <a:t>= </a:t>
              </a:r>
              <a:r>
                <a:rPr sz="1350" spc="-135" dirty="0">
                  <a:solidFill>
                    <a:srgbClr val="5F4778"/>
                  </a:solidFill>
                  <a:latin typeface="Arial Black"/>
                  <a:cs typeface="Arial Black"/>
                </a:rPr>
                <a:t>mx </a:t>
              </a:r>
              <a:r>
                <a:rPr sz="1350" spc="-120" dirty="0">
                  <a:solidFill>
                    <a:srgbClr val="5F4778"/>
                  </a:solidFill>
                  <a:latin typeface="Arial Black"/>
                  <a:cs typeface="Arial Black"/>
                </a:rPr>
                <a:t>+</a:t>
              </a:r>
              <a:r>
                <a:rPr sz="1350" spc="-165" dirty="0">
                  <a:solidFill>
                    <a:srgbClr val="5F4778"/>
                  </a:solidFill>
                  <a:latin typeface="Arial Black"/>
                  <a:cs typeface="Arial Black"/>
                </a:rPr>
                <a:t> </a:t>
              </a:r>
              <a:r>
                <a:rPr sz="1350" spc="-260" dirty="0">
                  <a:solidFill>
                    <a:srgbClr val="5F4778"/>
                  </a:solidFill>
                  <a:latin typeface="Arial Black"/>
                  <a:cs typeface="Arial Black"/>
                </a:rPr>
                <a:t>c</a:t>
              </a:r>
              <a:endParaRPr sz="1350">
                <a:latin typeface="Arial Black"/>
                <a:cs typeface="Arial Black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7469764" y="2058411"/>
              <a:ext cx="85725" cy="327025"/>
            </a:xfrm>
            <a:custGeom>
              <a:avLst/>
              <a:gdLst/>
              <a:ahLst/>
              <a:cxnLst/>
              <a:rect l="l" t="t" r="r" b="b"/>
              <a:pathLst>
                <a:path w="85725" h="327025">
                  <a:moveTo>
                    <a:pt x="28575" y="240673"/>
                  </a:moveTo>
                  <a:lnTo>
                    <a:pt x="0" y="240673"/>
                  </a:lnTo>
                  <a:lnTo>
                    <a:pt x="42915" y="326398"/>
                  </a:lnTo>
                  <a:lnTo>
                    <a:pt x="78547" y="255020"/>
                  </a:lnTo>
                  <a:lnTo>
                    <a:pt x="28575" y="255020"/>
                  </a:lnTo>
                  <a:lnTo>
                    <a:pt x="28575" y="240673"/>
                  </a:lnTo>
                  <a:close/>
                </a:path>
                <a:path w="85725" h="327025">
                  <a:moveTo>
                    <a:pt x="57150" y="0"/>
                  </a:moveTo>
                  <a:lnTo>
                    <a:pt x="28575" y="0"/>
                  </a:lnTo>
                  <a:lnTo>
                    <a:pt x="28575" y="255020"/>
                  </a:lnTo>
                  <a:lnTo>
                    <a:pt x="57150" y="255020"/>
                  </a:lnTo>
                  <a:lnTo>
                    <a:pt x="57150" y="0"/>
                  </a:lnTo>
                  <a:close/>
                </a:path>
                <a:path w="85725" h="327025">
                  <a:moveTo>
                    <a:pt x="85709" y="240673"/>
                  </a:moveTo>
                  <a:lnTo>
                    <a:pt x="57150" y="240673"/>
                  </a:lnTo>
                  <a:lnTo>
                    <a:pt x="57150" y="255020"/>
                  </a:lnTo>
                  <a:lnTo>
                    <a:pt x="78547" y="255020"/>
                  </a:lnTo>
                  <a:lnTo>
                    <a:pt x="85709" y="2406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68168" y="1449445"/>
              <a:ext cx="85725" cy="327025"/>
            </a:xfrm>
            <a:custGeom>
              <a:avLst/>
              <a:gdLst/>
              <a:ahLst/>
              <a:cxnLst/>
              <a:rect l="l" t="t" r="r" b="b"/>
              <a:pathLst>
                <a:path w="85725" h="327025">
                  <a:moveTo>
                    <a:pt x="57150" y="71384"/>
                  </a:moveTo>
                  <a:lnTo>
                    <a:pt x="28575" y="71384"/>
                  </a:lnTo>
                  <a:lnTo>
                    <a:pt x="28575" y="326404"/>
                  </a:lnTo>
                  <a:lnTo>
                    <a:pt x="57150" y="326404"/>
                  </a:lnTo>
                  <a:lnTo>
                    <a:pt x="57150" y="71384"/>
                  </a:lnTo>
                  <a:close/>
                </a:path>
                <a:path w="85725" h="327025">
                  <a:moveTo>
                    <a:pt x="42915" y="0"/>
                  </a:moveTo>
                  <a:lnTo>
                    <a:pt x="0" y="85740"/>
                  </a:lnTo>
                  <a:lnTo>
                    <a:pt x="28575" y="85740"/>
                  </a:lnTo>
                  <a:lnTo>
                    <a:pt x="28575" y="71384"/>
                  </a:lnTo>
                  <a:lnTo>
                    <a:pt x="78544" y="71384"/>
                  </a:lnTo>
                  <a:lnTo>
                    <a:pt x="42915" y="0"/>
                  </a:lnTo>
                  <a:close/>
                </a:path>
                <a:path w="85725" h="327025">
                  <a:moveTo>
                    <a:pt x="78544" y="71384"/>
                  </a:moveTo>
                  <a:lnTo>
                    <a:pt x="57150" y="71384"/>
                  </a:lnTo>
                  <a:lnTo>
                    <a:pt x="57150" y="85740"/>
                  </a:lnTo>
                  <a:lnTo>
                    <a:pt x="85709" y="85740"/>
                  </a:lnTo>
                  <a:lnTo>
                    <a:pt x="78544" y="713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7558410" y="1236913"/>
              <a:ext cx="1337310" cy="19748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-15" dirty="0">
                  <a:solidFill>
                    <a:srgbClr val="595959"/>
                  </a:solidFill>
                  <a:latin typeface="Arial"/>
                  <a:cs typeface="Arial"/>
                </a:rPr>
                <a:t>Independent</a:t>
              </a:r>
              <a:r>
                <a:rPr sz="1100" spc="60" dirty="0">
                  <a:solidFill>
                    <a:srgbClr val="595959"/>
                  </a:solidFill>
                  <a:latin typeface="Arial"/>
                  <a:cs typeface="Arial"/>
                </a:rPr>
                <a:t> </a:t>
              </a:r>
              <a:r>
                <a:rPr sz="1100" spc="-15" dirty="0">
                  <a:solidFill>
                    <a:srgbClr val="595959"/>
                  </a:solidFill>
                  <a:latin typeface="Arial"/>
                  <a:cs typeface="Arial"/>
                </a:rPr>
                <a:t>Variable</a:t>
              </a:r>
              <a:endParaRPr sz="1100">
                <a:latin typeface="Arial"/>
                <a:cs typeface="Arial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7069206" y="2443160"/>
              <a:ext cx="1247775" cy="19748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-10" dirty="0">
                  <a:solidFill>
                    <a:srgbClr val="595959"/>
                  </a:solidFill>
                  <a:latin typeface="Arial"/>
                  <a:cs typeface="Arial"/>
                </a:rPr>
                <a:t>Dependent</a:t>
              </a:r>
              <a:r>
                <a:rPr sz="1100" spc="20" dirty="0">
                  <a:solidFill>
                    <a:srgbClr val="595959"/>
                  </a:solidFill>
                  <a:latin typeface="Arial"/>
                  <a:cs typeface="Arial"/>
                </a:rPr>
                <a:t> </a:t>
              </a:r>
              <a:r>
                <a:rPr sz="1100" spc="-20" dirty="0">
                  <a:solidFill>
                    <a:srgbClr val="595959"/>
                  </a:solidFill>
                  <a:latin typeface="Arial"/>
                  <a:cs typeface="Arial"/>
                </a:rPr>
                <a:t>Variable</a:t>
              </a:r>
              <a:endParaRPr sz="1100">
                <a:latin typeface="Arial"/>
                <a:cs typeface="Arial"/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5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880110" marR="5080" indent="-868044">
              <a:lnSpc>
                <a:spcPts val="3000"/>
              </a:lnSpc>
              <a:spcBef>
                <a:spcPts val="480"/>
              </a:spcBef>
            </a:pPr>
            <a:r>
              <a:rPr spc="25" dirty="0"/>
              <a:t>Understanding</a:t>
            </a:r>
            <a:r>
              <a:rPr spc="-60" dirty="0"/>
              <a:t> </a:t>
            </a:r>
            <a:r>
              <a:rPr spc="25" dirty="0"/>
              <a:t>Linear  Regression</a:t>
            </a: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460061" y="1378645"/>
            <a:ext cx="5025452" cy="3210503"/>
            <a:chOff x="460061" y="1378645"/>
            <a:chExt cx="5025452" cy="3210503"/>
          </a:xfrm>
        </p:grpSpPr>
        <p:sp>
          <p:nvSpPr>
            <p:cNvPr id="4" name="object 4"/>
            <p:cNvSpPr/>
            <p:nvPr/>
          </p:nvSpPr>
          <p:spPr>
            <a:xfrm>
              <a:off x="628650" y="1658995"/>
              <a:ext cx="114300" cy="2606040"/>
            </a:xfrm>
            <a:custGeom>
              <a:avLst/>
              <a:gdLst/>
              <a:ahLst/>
              <a:cxnLst/>
              <a:rect l="l" t="t" r="r" b="b"/>
              <a:pathLst>
                <a:path w="114300" h="260604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605957"/>
                  </a:lnTo>
                  <a:lnTo>
                    <a:pt x="76200" y="2605957"/>
                  </a:lnTo>
                  <a:lnTo>
                    <a:pt x="76200" y="95250"/>
                  </a:lnTo>
                  <a:close/>
                </a:path>
                <a:path w="114300" h="260604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60604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6667" y="4225564"/>
              <a:ext cx="3753485" cy="114300"/>
            </a:xfrm>
            <a:custGeom>
              <a:avLst/>
              <a:gdLst/>
              <a:ahLst/>
              <a:cxnLst/>
              <a:rect l="l" t="t" r="r" b="b"/>
              <a:pathLst>
                <a:path w="3753485" h="114300">
                  <a:moveTo>
                    <a:pt x="3638876" y="0"/>
                  </a:moveTo>
                  <a:lnTo>
                    <a:pt x="3638713" y="38101"/>
                  </a:lnTo>
                  <a:lnTo>
                    <a:pt x="3657804" y="38194"/>
                  </a:lnTo>
                  <a:lnTo>
                    <a:pt x="3657560" y="76294"/>
                  </a:lnTo>
                  <a:lnTo>
                    <a:pt x="3638550" y="76294"/>
                  </a:lnTo>
                  <a:lnTo>
                    <a:pt x="3638388" y="114300"/>
                  </a:lnTo>
                  <a:lnTo>
                    <a:pt x="3715312" y="76294"/>
                  </a:lnTo>
                  <a:lnTo>
                    <a:pt x="3657560" y="76294"/>
                  </a:lnTo>
                  <a:lnTo>
                    <a:pt x="3715500" y="76201"/>
                  </a:lnTo>
                  <a:lnTo>
                    <a:pt x="3752932" y="57707"/>
                  </a:lnTo>
                  <a:lnTo>
                    <a:pt x="3638876" y="0"/>
                  </a:lnTo>
                  <a:close/>
                </a:path>
                <a:path w="3753485" h="114300">
                  <a:moveTo>
                    <a:pt x="3638713" y="38101"/>
                  </a:moveTo>
                  <a:lnTo>
                    <a:pt x="3638551" y="76201"/>
                  </a:lnTo>
                  <a:lnTo>
                    <a:pt x="3657560" y="76294"/>
                  </a:lnTo>
                  <a:lnTo>
                    <a:pt x="3657804" y="38194"/>
                  </a:lnTo>
                  <a:lnTo>
                    <a:pt x="3638713" y="38101"/>
                  </a:lnTo>
                  <a:close/>
                </a:path>
                <a:path w="3753485" h="114300">
                  <a:moveTo>
                    <a:pt x="164" y="20348"/>
                  </a:moveTo>
                  <a:lnTo>
                    <a:pt x="0" y="58448"/>
                  </a:lnTo>
                  <a:lnTo>
                    <a:pt x="3638551" y="76201"/>
                  </a:lnTo>
                  <a:lnTo>
                    <a:pt x="3638713" y="38101"/>
                  </a:lnTo>
                  <a:lnTo>
                    <a:pt x="164" y="20348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65493" y="1556763"/>
              <a:ext cx="507365" cy="27559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800" b="0" spc="110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50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p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-45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5" dirty="0">
                  <a:solidFill>
                    <a:srgbClr val="6B9E24"/>
                  </a:solidFill>
                  <a:latin typeface="Calibri Light"/>
                  <a:cs typeface="Calibri Light"/>
                </a:rPr>
                <a:t>t</a:t>
              </a:r>
              <a:endParaRPr sz="800">
                <a:latin typeface="Calibri Light"/>
                <a:cs typeface="Calibri Light"/>
              </a:endParaRPr>
            </a:p>
            <a:p>
              <a:pPr marL="12700">
                <a:lnSpc>
                  <a:spcPct val="100000"/>
                </a:lnSpc>
                <a:spcBef>
                  <a:spcPts val="15"/>
                </a:spcBef>
              </a:pPr>
              <a:r>
                <a:rPr sz="800" b="0" spc="25" dirty="0">
                  <a:solidFill>
                    <a:srgbClr val="6B9E24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4541269" y="4218939"/>
              <a:ext cx="944244" cy="34417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ts val="158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  <a:p>
              <a:pPr marL="32384">
                <a:lnSpc>
                  <a:spcPts val="919"/>
                </a:lnSpc>
              </a:pPr>
              <a:r>
                <a:rPr sz="800" b="0" spc="10" dirty="0">
                  <a:solidFill>
                    <a:srgbClr val="F07F09"/>
                  </a:solidFill>
                  <a:latin typeface="Calibri Light"/>
                  <a:cs typeface="Calibri Light"/>
                </a:rPr>
                <a:t>Independent</a:t>
              </a:r>
              <a:r>
                <a:rPr sz="800" b="0" spc="-105" dirty="0">
                  <a:solidFill>
                    <a:srgbClr val="F07F09"/>
                  </a:solidFill>
                  <a:latin typeface="Calibri Light"/>
                  <a:cs typeface="Calibri Light"/>
                </a:rPr>
                <a:t> </a:t>
              </a:r>
              <a:r>
                <a:rPr sz="800" b="0" dirty="0">
                  <a:solidFill>
                    <a:srgbClr val="F07F09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642299" y="1378645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460061" y="1929448"/>
              <a:ext cx="145415" cy="21126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524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5</a:t>
              </a:r>
              <a:endParaRPr sz="1650">
                <a:latin typeface="Cambria Math"/>
                <a:cs typeface="Cambria Math"/>
              </a:endParaRPr>
            </a:p>
            <a:p>
              <a:pPr marL="15240">
                <a:lnSpc>
                  <a:spcPct val="100000"/>
                </a:lnSpc>
                <a:spcBef>
                  <a:spcPts val="155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4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3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2</a:t>
              </a:r>
              <a:endParaRPr sz="1650">
                <a:latin typeface="Cambria Math"/>
                <a:cs typeface="Cambria Math"/>
              </a:endParaRPr>
            </a:p>
            <a:p>
              <a:pPr>
                <a:lnSpc>
                  <a:spcPct val="100000"/>
                </a:lnSpc>
                <a:spcBef>
                  <a:spcPts val="50"/>
                </a:spcBef>
              </a:pPr>
              <a:endParaRPr sz="1600">
                <a:latin typeface="Times New Roman"/>
                <a:cs typeface="Times New Roman"/>
              </a:endParaRPr>
            </a:p>
            <a:p>
              <a:pPr marL="12700">
                <a:lnSpc>
                  <a:spcPct val="100000"/>
                </a:lnSpc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1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599758" y="4311653"/>
              <a:ext cx="305498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462915" algn="l"/>
                  <a:tab pos="955675" algn="l"/>
                  <a:tab pos="1447800" algn="l"/>
                  <a:tab pos="1940560" algn="l"/>
                  <a:tab pos="2433320" algn="l"/>
                  <a:tab pos="2925445" algn="l"/>
                </a:tabLst>
              </a:pP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0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1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2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3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4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5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6</a:t>
              </a:r>
              <a:endParaRPr sz="1650">
                <a:latin typeface="Cambria Math"/>
                <a:cs typeface="Cambria Math"/>
              </a:endParaRPr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881696" y="1015174"/>
          <a:ext cx="1127760" cy="1702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3880"/>
              </a:tblGrid>
              <a:tr h="276468">
                <a:tc>
                  <a:txBody>
                    <a:bodyPr/>
                    <a:lstStyle/>
                    <a:p>
                      <a:pPr marL="207010">
                        <a:lnSpc>
                          <a:spcPts val="193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895"/>
                        </a:lnSpc>
                        <a:spcBef>
                          <a:spcPts val="10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0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20"/>
                        </a:lnSpc>
                        <a:spcBef>
                          <a:spcPts val="8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344">
                <a:tc>
                  <a:txBody>
                    <a:bodyPr/>
                    <a:lstStyle/>
                    <a:p>
                      <a:pPr marL="226695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5"/>
                        </a:lnSpc>
                        <a:spcBef>
                          <a:spcPts val="1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34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531">
                <a:tc>
                  <a:txBody>
                    <a:bodyPr/>
                    <a:lstStyle/>
                    <a:p>
                      <a:pPr marL="226695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45"/>
                        </a:lnSpc>
                        <a:spcBef>
                          <a:spcPts val="3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93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44">
                <a:tc>
                  <a:txBody>
                    <a:bodyPr/>
                    <a:lstStyle/>
                    <a:p>
                      <a:pPr marL="226695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35"/>
                        </a:lnSpc>
                        <a:spcBef>
                          <a:spcPts val="56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17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3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880110" marR="5080" indent="-868044">
              <a:lnSpc>
                <a:spcPts val="3000"/>
              </a:lnSpc>
              <a:spcBef>
                <a:spcPts val="480"/>
              </a:spcBef>
            </a:pPr>
            <a:r>
              <a:rPr spc="25" dirty="0"/>
              <a:t>Understanding</a:t>
            </a:r>
            <a:r>
              <a:rPr spc="-60" dirty="0"/>
              <a:t> </a:t>
            </a:r>
            <a:r>
              <a:rPr spc="25" dirty="0"/>
              <a:t>Linear  Regression</a:t>
            </a: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876933" y="1014984"/>
          <a:ext cx="1127760" cy="17026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3880"/>
              </a:tblGrid>
              <a:tr h="278528">
                <a:tc>
                  <a:txBody>
                    <a:bodyPr/>
                    <a:lstStyle/>
                    <a:p>
                      <a:pPr marL="207010">
                        <a:lnSpc>
                          <a:spcPts val="1945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254067">
                <a:tc>
                  <a:txBody>
                    <a:bodyPr/>
                    <a:lstStyle/>
                    <a:p>
                      <a:pPr marL="226695">
                        <a:lnSpc>
                          <a:spcPts val="1810"/>
                        </a:lnSpc>
                        <a:spcBef>
                          <a:spcPts val="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143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277280">
                <a:tc>
                  <a:txBody>
                    <a:bodyPr/>
                    <a:lstStyle/>
                    <a:p>
                      <a:pPr marL="226695">
                        <a:lnSpc>
                          <a:spcPts val="1920"/>
                        </a:lnSpc>
                        <a:spcBef>
                          <a:spcPts val="16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0"/>
                        </a:lnSpc>
                        <a:spcBef>
                          <a:spcPts val="15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02">
                <a:tc>
                  <a:txBody>
                    <a:bodyPr/>
                    <a:lstStyle/>
                    <a:p>
                      <a:pPr marL="226695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5"/>
                        </a:lnSpc>
                        <a:spcBef>
                          <a:spcPts val="18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28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45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44">
                <a:tc>
                  <a:txBody>
                    <a:bodyPr/>
                    <a:lstStyle/>
                    <a:p>
                      <a:pPr marL="226695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35"/>
                        </a:lnSpc>
                        <a:spcBef>
                          <a:spcPts val="56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17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460061" y="1378645"/>
            <a:ext cx="5025452" cy="3210503"/>
            <a:chOff x="460061" y="1378645"/>
            <a:chExt cx="5025452" cy="3210503"/>
          </a:xfrm>
        </p:grpSpPr>
        <p:sp>
          <p:nvSpPr>
            <p:cNvPr id="4" name="object 4"/>
            <p:cNvSpPr/>
            <p:nvPr/>
          </p:nvSpPr>
          <p:spPr>
            <a:xfrm>
              <a:off x="666750" y="2578739"/>
              <a:ext cx="476250" cy="0"/>
            </a:xfrm>
            <a:custGeom>
              <a:avLst/>
              <a:gdLst/>
              <a:ahLst/>
              <a:cxnLst/>
              <a:rect l="l" t="t" r="r" b="b"/>
              <a:pathLst>
                <a:path w="476250">
                  <a:moveTo>
                    <a:pt x="0" y="0"/>
                  </a:moveTo>
                  <a:lnTo>
                    <a:pt x="476249" y="0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0" y="2571750"/>
              <a:ext cx="0" cy="1693545"/>
            </a:xfrm>
            <a:custGeom>
              <a:avLst/>
              <a:gdLst/>
              <a:ahLst/>
              <a:cxnLst/>
              <a:rect l="l" t="t" r="r" b="b"/>
              <a:pathLst>
                <a:path h="1693545">
                  <a:moveTo>
                    <a:pt x="0" y="1693212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8650" y="1658995"/>
              <a:ext cx="114300" cy="2606040"/>
            </a:xfrm>
            <a:custGeom>
              <a:avLst/>
              <a:gdLst/>
              <a:ahLst/>
              <a:cxnLst/>
              <a:rect l="l" t="t" r="r" b="b"/>
              <a:pathLst>
                <a:path w="114300" h="260604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605957"/>
                  </a:lnTo>
                  <a:lnTo>
                    <a:pt x="76200" y="2605957"/>
                  </a:lnTo>
                  <a:lnTo>
                    <a:pt x="76200" y="95250"/>
                  </a:lnTo>
                  <a:close/>
                </a:path>
                <a:path w="114300" h="260604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60604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6667" y="4225564"/>
              <a:ext cx="3753485" cy="114300"/>
            </a:xfrm>
            <a:custGeom>
              <a:avLst/>
              <a:gdLst/>
              <a:ahLst/>
              <a:cxnLst/>
              <a:rect l="l" t="t" r="r" b="b"/>
              <a:pathLst>
                <a:path w="3753485" h="114300">
                  <a:moveTo>
                    <a:pt x="3638876" y="0"/>
                  </a:moveTo>
                  <a:lnTo>
                    <a:pt x="3638713" y="38101"/>
                  </a:lnTo>
                  <a:lnTo>
                    <a:pt x="3657804" y="38194"/>
                  </a:lnTo>
                  <a:lnTo>
                    <a:pt x="3657560" y="76294"/>
                  </a:lnTo>
                  <a:lnTo>
                    <a:pt x="3638550" y="76294"/>
                  </a:lnTo>
                  <a:lnTo>
                    <a:pt x="3638388" y="114300"/>
                  </a:lnTo>
                  <a:lnTo>
                    <a:pt x="3715312" y="76294"/>
                  </a:lnTo>
                  <a:lnTo>
                    <a:pt x="3657560" y="76294"/>
                  </a:lnTo>
                  <a:lnTo>
                    <a:pt x="3715500" y="76201"/>
                  </a:lnTo>
                  <a:lnTo>
                    <a:pt x="3752932" y="57707"/>
                  </a:lnTo>
                  <a:lnTo>
                    <a:pt x="3638876" y="0"/>
                  </a:lnTo>
                  <a:close/>
                </a:path>
                <a:path w="3753485" h="114300">
                  <a:moveTo>
                    <a:pt x="3638713" y="38101"/>
                  </a:moveTo>
                  <a:lnTo>
                    <a:pt x="3638551" y="76201"/>
                  </a:lnTo>
                  <a:lnTo>
                    <a:pt x="3657560" y="76294"/>
                  </a:lnTo>
                  <a:lnTo>
                    <a:pt x="3657804" y="38194"/>
                  </a:lnTo>
                  <a:lnTo>
                    <a:pt x="3638713" y="38101"/>
                  </a:lnTo>
                  <a:close/>
                </a:path>
                <a:path w="3753485" h="114300">
                  <a:moveTo>
                    <a:pt x="164" y="20348"/>
                  </a:moveTo>
                  <a:lnTo>
                    <a:pt x="0" y="58448"/>
                  </a:lnTo>
                  <a:lnTo>
                    <a:pt x="3638551" y="76201"/>
                  </a:lnTo>
                  <a:lnTo>
                    <a:pt x="3638713" y="38101"/>
                  </a:lnTo>
                  <a:lnTo>
                    <a:pt x="164" y="20348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765493" y="1556763"/>
              <a:ext cx="507365" cy="27559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800" b="0" spc="110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50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p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-45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5" dirty="0">
                  <a:solidFill>
                    <a:srgbClr val="6B9E24"/>
                  </a:solidFill>
                  <a:latin typeface="Calibri Light"/>
                  <a:cs typeface="Calibri Light"/>
                </a:rPr>
                <a:t>t</a:t>
              </a:r>
              <a:endParaRPr sz="800">
                <a:latin typeface="Calibri Light"/>
                <a:cs typeface="Calibri Light"/>
              </a:endParaRPr>
            </a:p>
            <a:p>
              <a:pPr marL="12700">
                <a:lnSpc>
                  <a:spcPct val="100000"/>
                </a:lnSpc>
                <a:spcBef>
                  <a:spcPts val="15"/>
                </a:spcBef>
              </a:pPr>
              <a:r>
                <a:rPr sz="800" b="0" spc="25" dirty="0">
                  <a:solidFill>
                    <a:srgbClr val="6B9E24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4541269" y="4218939"/>
              <a:ext cx="944244" cy="34417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ts val="158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  <a:p>
              <a:pPr marL="32384">
                <a:lnSpc>
                  <a:spcPts val="919"/>
                </a:lnSpc>
              </a:pPr>
              <a:r>
                <a:rPr sz="800" b="0" spc="10" dirty="0">
                  <a:solidFill>
                    <a:srgbClr val="F07F09"/>
                  </a:solidFill>
                  <a:latin typeface="Calibri Light"/>
                  <a:cs typeface="Calibri Light"/>
                </a:rPr>
                <a:t>Independent</a:t>
              </a:r>
              <a:r>
                <a:rPr sz="800" b="0" spc="-105" dirty="0">
                  <a:solidFill>
                    <a:srgbClr val="F07F09"/>
                  </a:solidFill>
                  <a:latin typeface="Calibri Light"/>
                  <a:cs typeface="Calibri Light"/>
                </a:rPr>
                <a:t> </a:t>
              </a:r>
              <a:r>
                <a:rPr sz="800" b="0" dirty="0">
                  <a:solidFill>
                    <a:srgbClr val="F07F09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642299" y="1378645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60061" y="1929448"/>
              <a:ext cx="145415" cy="21126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524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5</a:t>
              </a:r>
              <a:endParaRPr sz="1650">
                <a:latin typeface="Cambria Math"/>
                <a:cs typeface="Cambria Math"/>
              </a:endParaRPr>
            </a:p>
            <a:p>
              <a:pPr marL="15240">
                <a:lnSpc>
                  <a:spcPct val="100000"/>
                </a:lnSpc>
                <a:spcBef>
                  <a:spcPts val="155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4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3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2</a:t>
              </a:r>
              <a:endParaRPr sz="1650">
                <a:latin typeface="Cambria Math"/>
                <a:cs typeface="Cambria Math"/>
              </a:endParaRPr>
            </a:p>
            <a:p>
              <a:pPr>
                <a:lnSpc>
                  <a:spcPct val="100000"/>
                </a:lnSpc>
                <a:spcBef>
                  <a:spcPts val="50"/>
                </a:spcBef>
              </a:pPr>
              <a:endParaRPr sz="1600">
                <a:latin typeface="Times New Roman"/>
                <a:cs typeface="Times New Roman"/>
              </a:endParaRPr>
            </a:p>
            <a:p>
              <a:pPr marL="12700">
                <a:lnSpc>
                  <a:spcPct val="100000"/>
                </a:lnSpc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1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599758" y="4311653"/>
              <a:ext cx="305498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462915" algn="l"/>
                  <a:tab pos="955675" algn="l"/>
                  <a:tab pos="1447800" algn="l"/>
                  <a:tab pos="1940560" algn="l"/>
                  <a:tab pos="2433320" algn="l"/>
                  <a:tab pos="2925445" algn="l"/>
                </a:tabLst>
              </a:pP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0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1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2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3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4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5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6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035558" y="4150101"/>
              <a:ext cx="190500" cy="1905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4967" y="2482214"/>
              <a:ext cx="190500" cy="1905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5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96689" y="2469510"/>
            <a:ext cx="190500" cy="190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524"/>
            <a:ext cx="9143999" cy="10462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979169"/>
          </a:xfrm>
          <a:custGeom>
            <a:avLst/>
            <a:gdLst/>
            <a:ahLst/>
            <a:cxnLst/>
            <a:rect l="l" t="t" r="r" b="b"/>
            <a:pathLst>
              <a:path w="9144000" h="979169">
                <a:moveTo>
                  <a:pt x="0" y="978789"/>
                </a:moveTo>
                <a:lnTo>
                  <a:pt x="9144000" y="978789"/>
                </a:lnTo>
                <a:lnTo>
                  <a:pt x="9144000" y="0"/>
                </a:lnTo>
                <a:lnTo>
                  <a:pt x="0" y="0"/>
                </a:lnTo>
                <a:lnTo>
                  <a:pt x="0" y="978789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48277" y="234235"/>
            <a:ext cx="5647690" cy="510540"/>
          </a:xfrm>
          <a:custGeom>
            <a:avLst/>
            <a:gdLst/>
            <a:ahLst/>
            <a:cxnLst/>
            <a:rect l="l" t="t" r="r" b="b"/>
            <a:pathLst>
              <a:path w="5647690" h="510540">
                <a:moveTo>
                  <a:pt x="0" y="510360"/>
                </a:moveTo>
                <a:lnTo>
                  <a:pt x="5647456" y="510360"/>
                </a:lnTo>
                <a:lnTo>
                  <a:pt x="5647456" y="0"/>
                </a:lnTo>
                <a:lnTo>
                  <a:pt x="0" y="0"/>
                </a:lnTo>
                <a:lnTo>
                  <a:pt x="0" y="51036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880110" marR="5080" indent="-868044">
              <a:lnSpc>
                <a:spcPts val="3000"/>
              </a:lnSpc>
              <a:spcBef>
                <a:spcPts val="480"/>
              </a:spcBef>
            </a:pPr>
            <a:r>
              <a:rPr spc="25" dirty="0"/>
              <a:t>Understanding</a:t>
            </a:r>
            <a:r>
              <a:rPr spc="-60" dirty="0"/>
              <a:t> </a:t>
            </a:r>
            <a:r>
              <a:rPr spc="25" dirty="0"/>
              <a:t>Linear  Regression</a:t>
            </a: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41269" y="4218939"/>
            <a:ext cx="944244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2384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0061" y="1929448"/>
            <a:ext cx="145415" cy="2112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876933" y="1014984"/>
          <a:ext cx="1127760" cy="1708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3880"/>
              </a:tblGrid>
              <a:tr h="286011"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259173">
                <a:tc>
                  <a:txBody>
                    <a:bodyPr/>
                    <a:lstStyle/>
                    <a:p>
                      <a:pPr marL="226695">
                        <a:lnSpc>
                          <a:spcPts val="1825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30"/>
                        </a:lnSpc>
                        <a:spcBef>
                          <a:spcPts val="10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3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53975">
                      <a:solidFill>
                        <a:srgbClr val="FF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263471">
                <a:tc>
                  <a:txBody>
                    <a:bodyPr/>
                    <a:lstStyle/>
                    <a:p>
                      <a:pPr marL="226695">
                        <a:lnSpc>
                          <a:spcPts val="1910"/>
                        </a:lnSpc>
                        <a:spcBef>
                          <a:spcPts val="6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62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0000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5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53975">
                      <a:solidFill>
                        <a:srgbClr val="FF0000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281032">
                <a:tc>
                  <a:txBody>
                    <a:bodyPr/>
                    <a:lstStyle/>
                    <a:p>
                      <a:pPr marL="226695">
                        <a:lnSpc>
                          <a:spcPts val="191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305168"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313515">
                <a:tc>
                  <a:txBody>
                    <a:bodyPr/>
                    <a:lstStyle/>
                    <a:p>
                      <a:pPr marL="226695">
                        <a:lnSpc>
                          <a:spcPts val="1870"/>
                        </a:lnSpc>
                        <a:spcBef>
                          <a:spcPts val="49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286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0"/>
                        </a:lnSpc>
                        <a:spcBef>
                          <a:spcPts val="489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222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53975">
                      <a:solidFill>
                        <a:srgbClr val="FF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0" y="0"/>
            <a:ext cx="9144000" cy="979169"/>
          </a:xfrm>
          <a:custGeom>
            <a:avLst/>
            <a:gdLst/>
            <a:ahLst/>
            <a:cxnLst/>
            <a:rect l="l" t="t" r="r" b="b"/>
            <a:pathLst>
              <a:path w="9144000" h="979169">
                <a:moveTo>
                  <a:pt x="0" y="978789"/>
                </a:moveTo>
                <a:lnTo>
                  <a:pt x="9144000" y="978789"/>
                </a:lnTo>
                <a:lnTo>
                  <a:pt x="9144000" y="0"/>
                </a:lnTo>
                <a:lnTo>
                  <a:pt x="0" y="0"/>
                </a:lnTo>
                <a:lnTo>
                  <a:pt x="0" y="978789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8277" y="234235"/>
            <a:ext cx="5647690" cy="510540"/>
          </a:xfrm>
          <a:custGeom>
            <a:avLst/>
            <a:gdLst/>
            <a:ahLst/>
            <a:cxnLst/>
            <a:rect l="l" t="t" r="r" b="b"/>
            <a:pathLst>
              <a:path w="5647690" h="510540">
                <a:moveTo>
                  <a:pt x="0" y="510360"/>
                </a:moveTo>
                <a:lnTo>
                  <a:pt x="5647456" y="510360"/>
                </a:lnTo>
                <a:lnTo>
                  <a:pt x="5647456" y="0"/>
                </a:lnTo>
                <a:lnTo>
                  <a:pt x="0" y="0"/>
                </a:lnTo>
                <a:lnTo>
                  <a:pt x="0" y="51036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880110" marR="5080" indent="-868044">
              <a:lnSpc>
                <a:spcPts val="3000"/>
              </a:lnSpc>
              <a:spcBef>
                <a:spcPts val="480"/>
              </a:spcBef>
            </a:pPr>
            <a:r>
              <a:rPr spc="25" dirty="0"/>
              <a:t>Understanding</a:t>
            </a:r>
            <a:r>
              <a:rPr spc="-60" dirty="0"/>
              <a:t> </a:t>
            </a:r>
            <a:r>
              <a:rPr spc="25" dirty="0"/>
              <a:t>Linear  Regression</a:t>
            </a:r>
          </a:p>
        </p:txBody>
      </p:sp>
      <p:sp>
        <p:nvSpPr>
          <p:cNvPr id="8" name="object 8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5677791" y="1295904"/>
            <a:ext cx="1724650" cy="1454273"/>
            <a:chOff x="3571250" y="1286636"/>
            <a:chExt cx="1724650" cy="1454273"/>
          </a:xfrm>
        </p:grpSpPr>
        <p:sp>
          <p:nvSpPr>
            <p:cNvPr id="17" name="object 17"/>
            <p:cNvSpPr/>
            <p:nvPr/>
          </p:nvSpPr>
          <p:spPr>
            <a:xfrm>
              <a:off x="3571250" y="1286636"/>
              <a:ext cx="228600" cy="1435735"/>
            </a:xfrm>
            <a:custGeom>
              <a:avLst/>
              <a:gdLst/>
              <a:ahLst/>
              <a:cxnLst/>
              <a:rect l="l" t="t" r="r" b="b"/>
              <a:pathLst>
                <a:path w="228600" h="1435735">
                  <a:moveTo>
                    <a:pt x="76200" y="1206876"/>
                  </a:moveTo>
                  <a:lnTo>
                    <a:pt x="0" y="1206876"/>
                  </a:lnTo>
                  <a:lnTo>
                    <a:pt x="114300" y="1435476"/>
                  </a:lnTo>
                  <a:lnTo>
                    <a:pt x="209550" y="1244976"/>
                  </a:lnTo>
                  <a:lnTo>
                    <a:pt x="76200" y="1244976"/>
                  </a:lnTo>
                  <a:lnTo>
                    <a:pt x="76200" y="1206876"/>
                  </a:lnTo>
                  <a:close/>
                </a:path>
                <a:path w="228600" h="1435735">
                  <a:moveTo>
                    <a:pt x="152400" y="0"/>
                  </a:moveTo>
                  <a:lnTo>
                    <a:pt x="76200" y="0"/>
                  </a:lnTo>
                  <a:lnTo>
                    <a:pt x="76200" y="1244976"/>
                  </a:lnTo>
                  <a:lnTo>
                    <a:pt x="152400" y="1244976"/>
                  </a:lnTo>
                  <a:lnTo>
                    <a:pt x="152400" y="0"/>
                  </a:lnTo>
                  <a:close/>
                </a:path>
                <a:path w="228600" h="1435735">
                  <a:moveTo>
                    <a:pt x="228600" y="1206876"/>
                  </a:moveTo>
                  <a:lnTo>
                    <a:pt x="152400" y="1206876"/>
                  </a:lnTo>
                  <a:lnTo>
                    <a:pt x="152400" y="1244976"/>
                  </a:lnTo>
                  <a:lnTo>
                    <a:pt x="209550" y="1244976"/>
                  </a:lnTo>
                  <a:lnTo>
                    <a:pt x="228600" y="1206876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67300" y="1305174"/>
              <a:ext cx="228600" cy="1435735"/>
            </a:xfrm>
            <a:custGeom>
              <a:avLst/>
              <a:gdLst/>
              <a:ahLst/>
              <a:cxnLst/>
              <a:rect l="l" t="t" r="r" b="b"/>
              <a:pathLst>
                <a:path w="228600" h="1435735">
                  <a:moveTo>
                    <a:pt x="76200" y="1206889"/>
                  </a:moveTo>
                  <a:lnTo>
                    <a:pt x="0" y="1206889"/>
                  </a:lnTo>
                  <a:lnTo>
                    <a:pt x="114300" y="1435489"/>
                  </a:lnTo>
                  <a:lnTo>
                    <a:pt x="209550" y="1244989"/>
                  </a:lnTo>
                  <a:lnTo>
                    <a:pt x="76200" y="1244989"/>
                  </a:lnTo>
                  <a:lnTo>
                    <a:pt x="76200" y="1206889"/>
                  </a:lnTo>
                  <a:close/>
                </a:path>
                <a:path w="228600" h="1435735">
                  <a:moveTo>
                    <a:pt x="152400" y="0"/>
                  </a:moveTo>
                  <a:lnTo>
                    <a:pt x="76200" y="0"/>
                  </a:lnTo>
                  <a:lnTo>
                    <a:pt x="76200" y="1244989"/>
                  </a:lnTo>
                  <a:lnTo>
                    <a:pt x="152400" y="1244989"/>
                  </a:lnTo>
                  <a:lnTo>
                    <a:pt x="152400" y="0"/>
                  </a:lnTo>
                  <a:close/>
                </a:path>
                <a:path w="228600" h="1435735">
                  <a:moveTo>
                    <a:pt x="228600" y="1206889"/>
                  </a:moveTo>
                  <a:lnTo>
                    <a:pt x="152400" y="1206889"/>
                  </a:lnTo>
                  <a:lnTo>
                    <a:pt x="152400" y="1244989"/>
                  </a:lnTo>
                  <a:lnTo>
                    <a:pt x="209550" y="1244989"/>
                  </a:lnTo>
                  <a:lnTo>
                    <a:pt x="228600" y="1206889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5503549" y="2887399"/>
            <a:ext cx="2467866" cy="525780"/>
            <a:chOff x="3362073" y="2824859"/>
            <a:chExt cx="2467866" cy="525780"/>
          </a:xfrm>
        </p:grpSpPr>
        <p:sp>
          <p:nvSpPr>
            <p:cNvPr id="18" name="object 18"/>
            <p:cNvSpPr txBox="1"/>
            <p:nvPr/>
          </p:nvSpPr>
          <p:spPr>
            <a:xfrm>
              <a:off x="3362073" y="2858069"/>
              <a:ext cx="61087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0" spc="25" dirty="0">
                  <a:solidFill>
                    <a:srgbClr val="F07F09"/>
                  </a:solidFill>
                  <a:latin typeface="Calibri Light"/>
                  <a:cs typeface="Calibri Light"/>
                </a:rPr>
                <a:t>mean:</a:t>
              </a:r>
              <a:r>
                <a:rPr sz="1350" b="0" spc="-114" dirty="0">
                  <a:solidFill>
                    <a:srgbClr val="F07F09"/>
                  </a:solidFill>
                  <a:latin typeface="Calibri Light"/>
                  <a:cs typeface="Calibri Light"/>
                </a:rPr>
                <a:t> </a:t>
              </a:r>
              <a:r>
                <a:rPr sz="1350" dirty="0">
                  <a:solidFill>
                    <a:srgbClr val="F07F09"/>
                  </a:solidFill>
                  <a:latin typeface="Cambria Math"/>
                  <a:cs typeface="Cambria Math"/>
                </a:rPr>
                <a:t>𝒙</a:t>
              </a:r>
              <a:endParaRPr sz="1350" dirty="0">
                <a:latin typeface="Cambria Math"/>
                <a:cs typeface="Cambria Math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4110358" y="2824859"/>
              <a:ext cx="837565" cy="52578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ts val="1964"/>
                </a:lnSpc>
                <a:spcBef>
                  <a:spcPts val="105"/>
                </a:spcBef>
                <a:tabLst>
                  <a:tab pos="494030" algn="l"/>
                </a:tabLst>
              </a:pPr>
              <a:r>
                <a:rPr sz="2475" baseline="3367" dirty="0">
                  <a:latin typeface="Cambria Math"/>
                  <a:cs typeface="Cambria Math"/>
                </a:rPr>
                <a:t>3</a:t>
              </a:r>
              <a:r>
                <a:rPr sz="2475" baseline="3367" dirty="0">
                  <a:latin typeface="Times New Roman"/>
                  <a:cs typeface="Times New Roman"/>
                </a:rPr>
                <a:t>	</a:t>
              </a:r>
              <a:r>
                <a:rPr sz="1650" spc="-650" dirty="0">
                  <a:latin typeface="Cambria Math"/>
                  <a:cs typeface="Cambria Math"/>
                </a:rPr>
                <a:t>1</a:t>
              </a:r>
              <a:r>
                <a:rPr sz="2475" spc="-427" baseline="3367" dirty="0">
                  <a:latin typeface="Cambria Math"/>
                  <a:cs typeface="Cambria Math"/>
                </a:rPr>
                <a:t>3</a:t>
              </a:r>
              <a:r>
                <a:rPr sz="1650" spc="-650" dirty="0">
                  <a:latin typeface="Cambria Math"/>
                  <a:cs typeface="Cambria Math"/>
                </a:rPr>
                <a:t>8</a:t>
              </a:r>
              <a:r>
                <a:rPr sz="2475" spc="44" baseline="3367" dirty="0">
                  <a:latin typeface="Cambria Math"/>
                  <a:cs typeface="Cambria Math"/>
                </a:rPr>
                <a:t>.</a:t>
              </a:r>
              <a:r>
                <a:rPr sz="2475" spc="-989" baseline="3367" dirty="0">
                  <a:latin typeface="Cambria Math"/>
                  <a:cs typeface="Cambria Math"/>
                </a:rPr>
                <a:t>6</a:t>
              </a:r>
              <a:r>
                <a:rPr sz="1650" spc="-15" dirty="0">
                  <a:latin typeface="Cambria Math"/>
                  <a:cs typeface="Cambria Math"/>
                </a:rPr>
                <a:t>/</a:t>
              </a:r>
              <a:endParaRPr sz="1650">
                <a:latin typeface="Cambria Math"/>
                <a:cs typeface="Cambria Math"/>
              </a:endParaRPr>
            </a:p>
            <a:p>
              <a:pPr marR="104139" algn="r">
                <a:lnSpc>
                  <a:spcPts val="1964"/>
                </a:lnSpc>
              </a:pPr>
              <a:r>
                <a:rPr sz="1650" dirty="0">
                  <a:latin typeface="Cambria Math"/>
                  <a:cs typeface="Cambria Math"/>
                </a:rPr>
                <a:t>5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5177159" y="2826954"/>
              <a:ext cx="65278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0" spc="40" dirty="0">
                  <a:solidFill>
                    <a:srgbClr val="6B9E24"/>
                  </a:solidFill>
                  <a:latin typeface="Calibri Light"/>
                  <a:cs typeface="Calibri Light"/>
                </a:rPr>
                <a:t>mean </a:t>
              </a:r>
              <a:r>
                <a:rPr sz="1350" b="0" dirty="0">
                  <a:solidFill>
                    <a:srgbClr val="6B9E24"/>
                  </a:solidFill>
                  <a:latin typeface="Calibri Light"/>
                  <a:cs typeface="Calibri Light"/>
                </a:rPr>
                <a:t>:</a:t>
              </a:r>
              <a:r>
                <a:rPr sz="1350" b="0" spc="-204" dirty="0">
                  <a:solidFill>
                    <a:srgbClr val="6B9E24"/>
                  </a:solidFill>
                  <a:latin typeface="Calibri Light"/>
                  <a:cs typeface="Calibri Light"/>
                </a:rPr>
                <a:t> </a:t>
              </a:r>
              <a:r>
                <a:rPr sz="1350" dirty="0">
                  <a:solidFill>
                    <a:srgbClr val="6B9E24"/>
                  </a:solidFill>
                  <a:latin typeface="Cambria Math"/>
                  <a:cs typeface="Cambria Math"/>
                </a:rPr>
                <a:t>𝒚</a:t>
              </a:r>
              <a:endParaRPr sz="1350">
                <a:latin typeface="Cambria Math"/>
                <a:cs typeface="Cambria Math"/>
              </a:endParaRPr>
            </a:p>
          </p:txBody>
        </p:sp>
      </p:grpSp>
      <p:graphicFrame>
        <p:nvGraphicFramePr>
          <p:cNvPr id="26" name="object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660898"/>
              </p:ext>
            </p:extLst>
          </p:nvPr>
        </p:nvGraphicFramePr>
        <p:xfrm>
          <a:off x="6019800" y="1078105"/>
          <a:ext cx="1127760" cy="1702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3880"/>
              </a:tblGrid>
              <a:tr h="276476">
                <a:tc>
                  <a:txBody>
                    <a:bodyPr/>
                    <a:lstStyle/>
                    <a:p>
                      <a:pPr marL="207010">
                        <a:lnSpc>
                          <a:spcPts val="193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9"/>
                        </a:lnSpc>
                        <a:spcBef>
                          <a:spcPts val="3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0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02">
                <a:tc>
                  <a:txBody>
                    <a:bodyPr/>
                    <a:lstStyle/>
                    <a:p>
                      <a:pPr marL="226695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5"/>
                        </a:lnSpc>
                        <a:spcBef>
                          <a:spcPts val="18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28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45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44">
                <a:tc>
                  <a:txBody>
                    <a:bodyPr/>
                    <a:lstStyle/>
                    <a:p>
                      <a:pPr marL="226695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35"/>
                        </a:lnSpc>
                        <a:spcBef>
                          <a:spcPts val="56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</a:p>
                  </a:txBody>
                  <a:tcPr marL="0" marR="0" marT="717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32" name="Group 31"/>
          <p:cNvGrpSpPr/>
          <p:nvPr/>
        </p:nvGrpSpPr>
        <p:grpSpPr>
          <a:xfrm>
            <a:off x="460061" y="1378645"/>
            <a:ext cx="3960091" cy="3210503"/>
            <a:chOff x="460061" y="1378645"/>
            <a:chExt cx="3960091" cy="3210503"/>
          </a:xfrm>
        </p:grpSpPr>
        <p:sp>
          <p:nvSpPr>
            <p:cNvPr id="2" name="object 2"/>
            <p:cNvSpPr/>
            <p:nvPr/>
          </p:nvSpPr>
          <p:spPr>
            <a:xfrm>
              <a:off x="1047750" y="2479928"/>
              <a:ext cx="190500" cy="1905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/>
            <p:nvPr/>
          </p:nvSpPr>
          <p:spPr>
            <a:xfrm>
              <a:off x="2007739" y="2460247"/>
              <a:ext cx="190500" cy="1905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8650" y="1658995"/>
              <a:ext cx="114300" cy="2606040"/>
            </a:xfrm>
            <a:custGeom>
              <a:avLst/>
              <a:gdLst/>
              <a:ahLst/>
              <a:cxnLst/>
              <a:rect l="l" t="t" r="r" b="b"/>
              <a:pathLst>
                <a:path w="114300" h="260604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605957"/>
                  </a:lnTo>
                  <a:lnTo>
                    <a:pt x="76200" y="2605957"/>
                  </a:lnTo>
                  <a:lnTo>
                    <a:pt x="76200" y="95250"/>
                  </a:lnTo>
                  <a:close/>
                </a:path>
                <a:path w="114300" h="260604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60604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6667" y="4225564"/>
              <a:ext cx="3753485" cy="114300"/>
            </a:xfrm>
            <a:custGeom>
              <a:avLst/>
              <a:gdLst/>
              <a:ahLst/>
              <a:cxnLst/>
              <a:rect l="l" t="t" r="r" b="b"/>
              <a:pathLst>
                <a:path w="3753485" h="114300">
                  <a:moveTo>
                    <a:pt x="3638876" y="0"/>
                  </a:moveTo>
                  <a:lnTo>
                    <a:pt x="3638713" y="38101"/>
                  </a:lnTo>
                  <a:lnTo>
                    <a:pt x="3657804" y="38194"/>
                  </a:lnTo>
                  <a:lnTo>
                    <a:pt x="3657560" y="76294"/>
                  </a:lnTo>
                  <a:lnTo>
                    <a:pt x="3638550" y="76294"/>
                  </a:lnTo>
                  <a:lnTo>
                    <a:pt x="3638388" y="114300"/>
                  </a:lnTo>
                  <a:lnTo>
                    <a:pt x="3715312" y="76294"/>
                  </a:lnTo>
                  <a:lnTo>
                    <a:pt x="3657560" y="76294"/>
                  </a:lnTo>
                  <a:lnTo>
                    <a:pt x="3715500" y="76201"/>
                  </a:lnTo>
                  <a:lnTo>
                    <a:pt x="3752932" y="57707"/>
                  </a:lnTo>
                  <a:lnTo>
                    <a:pt x="3638876" y="0"/>
                  </a:lnTo>
                  <a:close/>
                </a:path>
                <a:path w="3753485" h="114300">
                  <a:moveTo>
                    <a:pt x="3638713" y="38101"/>
                  </a:moveTo>
                  <a:lnTo>
                    <a:pt x="3638551" y="76201"/>
                  </a:lnTo>
                  <a:lnTo>
                    <a:pt x="3657560" y="76294"/>
                  </a:lnTo>
                  <a:lnTo>
                    <a:pt x="3657804" y="38194"/>
                  </a:lnTo>
                  <a:lnTo>
                    <a:pt x="3638713" y="38101"/>
                  </a:lnTo>
                  <a:close/>
                </a:path>
                <a:path w="3753485" h="114300">
                  <a:moveTo>
                    <a:pt x="164" y="20348"/>
                  </a:moveTo>
                  <a:lnTo>
                    <a:pt x="0" y="58448"/>
                  </a:lnTo>
                  <a:lnTo>
                    <a:pt x="3638551" y="76201"/>
                  </a:lnTo>
                  <a:lnTo>
                    <a:pt x="3638713" y="38101"/>
                  </a:lnTo>
                  <a:lnTo>
                    <a:pt x="164" y="20348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765493" y="1556763"/>
              <a:ext cx="507365" cy="27559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800" b="0" spc="110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50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p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-45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5" dirty="0">
                  <a:solidFill>
                    <a:srgbClr val="6B9E24"/>
                  </a:solidFill>
                  <a:latin typeface="Calibri Light"/>
                  <a:cs typeface="Calibri Light"/>
                </a:rPr>
                <a:t>t</a:t>
              </a:r>
              <a:endParaRPr sz="800">
                <a:latin typeface="Calibri Light"/>
                <a:cs typeface="Calibri Light"/>
              </a:endParaRPr>
            </a:p>
            <a:p>
              <a:pPr marL="12700">
                <a:lnSpc>
                  <a:spcPct val="100000"/>
                </a:lnSpc>
                <a:spcBef>
                  <a:spcPts val="15"/>
                </a:spcBef>
              </a:pPr>
              <a:r>
                <a:rPr sz="800" b="0" spc="25" dirty="0">
                  <a:solidFill>
                    <a:srgbClr val="6B9E24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642299" y="1378645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460061" y="3764275"/>
              <a:ext cx="14160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1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60061" y="1929448"/>
              <a:ext cx="145415" cy="16211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524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5</a:t>
              </a:r>
              <a:endParaRPr sz="1650">
                <a:latin typeface="Cambria Math"/>
                <a:cs typeface="Cambria Math"/>
              </a:endParaRPr>
            </a:p>
            <a:p>
              <a:pPr marL="15240">
                <a:lnSpc>
                  <a:spcPct val="100000"/>
                </a:lnSpc>
                <a:spcBef>
                  <a:spcPts val="155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4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3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2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599758" y="4311653"/>
              <a:ext cx="305498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462915" algn="l"/>
                  <a:tab pos="955675" algn="l"/>
                  <a:tab pos="1447800" algn="l"/>
                  <a:tab pos="1940560" algn="l"/>
                  <a:tab pos="2433320" algn="l"/>
                  <a:tab pos="2925445" algn="l"/>
                </a:tabLst>
              </a:pP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0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1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2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3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4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5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6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093463" y="1822582"/>
              <a:ext cx="10795" cy="2458085"/>
            </a:xfrm>
            <a:custGeom>
              <a:avLst/>
              <a:gdLst/>
              <a:ahLst/>
              <a:cxnLst/>
              <a:rect l="l" t="t" r="r" b="b"/>
              <a:pathLst>
                <a:path w="10794" h="2458085">
                  <a:moveTo>
                    <a:pt x="10549" y="245752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F07F0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4730" y="2636770"/>
              <a:ext cx="2885440" cy="0"/>
            </a:xfrm>
            <a:custGeom>
              <a:avLst/>
              <a:gdLst/>
              <a:ahLst/>
              <a:cxnLst/>
              <a:rect l="l" t="t" r="r" b="b"/>
              <a:pathLst>
                <a:path w="2885440">
                  <a:moveTo>
                    <a:pt x="0" y="0"/>
                  </a:moveTo>
                  <a:lnTo>
                    <a:pt x="2885023" y="0"/>
                  </a:lnTo>
                </a:path>
              </a:pathLst>
            </a:custGeom>
            <a:ln w="38099">
              <a:solidFill>
                <a:srgbClr val="6B9E2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97960" y="2863595"/>
              <a:ext cx="190500" cy="1905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80560" y="3320283"/>
              <a:ext cx="190500" cy="1905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92624" y="1975469"/>
              <a:ext cx="190493" cy="19051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524"/>
            <a:ext cx="9143999" cy="10462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9144000" cy="979169"/>
          </a:xfrm>
          <a:custGeom>
            <a:avLst/>
            <a:gdLst/>
            <a:ahLst/>
            <a:cxnLst/>
            <a:rect l="l" t="t" r="r" b="b"/>
            <a:pathLst>
              <a:path w="9144000" h="979169">
                <a:moveTo>
                  <a:pt x="0" y="978789"/>
                </a:moveTo>
                <a:lnTo>
                  <a:pt x="9144000" y="978789"/>
                </a:lnTo>
                <a:lnTo>
                  <a:pt x="9144000" y="0"/>
                </a:lnTo>
                <a:lnTo>
                  <a:pt x="0" y="0"/>
                </a:lnTo>
                <a:lnTo>
                  <a:pt x="0" y="978789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8277" y="234235"/>
            <a:ext cx="5647690" cy="510540"/>
          </a:xfrm>
          <a:custGeom>
            <a:avLst/>
            <a:gdLst/>
            <a:ahLst/>
            <a:cxnLst/>
            <a:rect l="l" t="t" r="r" b="b"/>
            <a:pathLst>
              <a:path w="5647690" h="510540">
                <a:moveTo>
                  <a:pt x="0" y="510360"/>
                </a:moveTo>
                <a:lnTo>
                  <a:pt x="5647456" y="510360"/>
                </a:lnTo>
                <a:lnTo>
                  <a:pt x="5647456" y="0"/>
                </a:lnTo>
                <a:lnTo>
                  <a:pt x="0" y="0"/>
                </a:lnTo>
                <a:lnTo>
                  <a:pt x="0" y="51036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880110" marR="5080" indent="-868044">
              <a:lnSpc>
                <a:spcPts val="3000"/>
              </a:lnSpc>
              <a:spcBef>
                <a:spcPts val="480"/>
              </a:spcBef>
            </a:pPr>
            <a:r>
              <a:rPr spc="25" dirty="0"/>
              <a:t>Understanding</a:t>
            </a:r>
            <a:r>
              <a:rPr spc="-60" dirty="0"/>
              <a:t> </a:t>
            </a:r>
            <a:r>
              <a:rPr spc="25" dirty="0"/>
              <a:t>Linear  Regression</a:t>
            </a:r>
          </a:p>
        </p:txBody>
      </p:sp>
      <p:sp>
        <p:nvSpPr>
          <p:cNvPr id="8" name="object 8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0061" y="1929448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093463" y="1822582"/>
            <a:ext cx="10795" cy="2458085"/>
          </a:xfrm>
          <a:custGeom>
            <a:avLst/>
            <a:gdLst/>
            <a:ahLst/>
            <a:cxnLst/>
            <a:rect l="l" t="t" r="r" b="b"/>
            <a:pathLst>
              <a:path w="10794" h="2458085">
                <a:moveTo>
                  <a:pt x="10549" y="2457523"/>
                </a:moveTo>
                <a:lnTo>
                  <a:pt x="0" y="0"/>
                </a:lnTo>
              </a:path>
            </a:pathLst>
          </a:custGeom>
          <a:ln w="38099">
            <a:solidFill>
              <a:srgbClr val="F07F0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94730" y="1945629"/>
            <a:ext cx="2658110" cy="1464945"/>
          </a:xfrm>
          <a:custGeom>
            <a:avLst/>
            <a:gdLst/>
            <a:ahLst/>
            <a:cxnLst/>
            <a:rect l="l" t="t" r="r" b="b"/>
            <a:pathLst>
              <a:path w="2658110" h="1464945">
                <a:moveTo>
                  <a:pt x="0" y="1464320"/>
                </a:moveTo>
                <a:lnTo>
                  <a:pt x="2658069" y="0"/>
                </a:lnTo>
              </a:path>
            </a:pathLst>
          </a:custGeom>
          <a:ln w="2857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69873" y="2772344"/>
            <a:ext cx="79692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755" algn="l"/>
                <a:tab pos="695960" algn="l"/>
              </a:tabLst>
            </a:pPr>
            <a:r>
              <a:rPr sz="1650" dirty="0">
                <a:latin typeface="Cambria Math"/>
                <a:cs typeface="Cambria Math"/>
              </a:rPr>
              <a:t>(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dirty="0">
                <a:latin typeface="Cambria Math"/>
                <a:cs typeface="Cambria Math"/>
              </a:rPr>
              <a:t>,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dirty="0">
                <a:latin typeface="Cambria Math"/>
                <a:cs typeface="Cambria Math"/>
              </a:rPr>
              <a:t>)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011811" y="2558926"/>
            <a:ext cx="190500" cy="1905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3881696" y="1014984"/>
          <a:ext cx="1127760" cy="1702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3880"/>
              </a:tblGrid>
              <a:tr h="276476">
                <a:tc>
                  <a:txBody>
                    <a:bodyPr/>
                    <a:lstStyle/>
                    <a:p>
                      <a:pPr marL="207010">
                        <a:lnSpc>
                          <a:spcPts val="193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9"/>
                        </a:lnSpc>
                        <a:spcBef>
                          <a:spcPts val="3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0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02">
                <a:tc>
                  <a:txBody>
                    <a:bodyPr/>
                    <a:lstStyle/>
                    <a:p>
                      <a:pPr marL="226695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5"/>
                        </a:lnSpc>
                        <a:spcBef>
                          <a:spcPts val="18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28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45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44">
                <a:tc>
                  <a:txBody>
                    <a:bodyPr/>
                    <a:lstStyle/>
                    <a:p>
                      <a:pPr marL="226695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35"/>
                        </a:lnSpc>
                        <a:spcBef>
                          <a:spcPts val="56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17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2309242" y="1231904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0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880110" marR="5080" indent="-868044">
              <a:lnSpc>
                <a:spcPts val="3000"/>
              </a:lnSpc>
              <a:spcBef>
                <a:spcPts val="480"/>
              </a:spcBef>
            </a:pPr>
            <a:r>
              <a:rPr spc="25" dirty="0"/>
              <a:t>Understanding</a:t>
            </a:r>
            <a:r>
              <a:rPr spc="-60" dirty="0"/>
              <a:t> </a:t>
            </a:r>
            <a:r>
              <a:rPr spc="25" dirty="0"/>
              <a:t>Linear  Regression</a:t>
            </a: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0061" y="1929448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93463" y="1822582"/>
            <a:ext cx="10795" cy="2458085"/>
          </a:xfrm>
          <a:custGeom>
            <a:avLst/>
            <a:gdLst/>
            <a:ahLst/>
            <a:cxnLst/>
            <a:rect l="l" t="t" r="r" b="b"/>
            <a:pathLst>
              <a:path w="10794" h="2458085">
                <a:moveTo>
                  <a:pt x="10549" y="2457523"/>
                </a:moveTo>
                <a:lnTo>
                  <a:pt x="0" y="0"/>
                </a:lnTo>
              </a:path>
            </a:pathLst>
          </a:custGeom>
          <a:ln w="38099">
            <a:solidFill>
              <a:srgbClr val="F07F0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4730" y="1945629"/>
            <a:ext cx="2658110" cy="1464945"/>
          </a:xfrm>
          <a:custGeom>
            <a:avLst/>
            <a:gdLst/>
            <a:ahLst/>
            <a:cxnLst/>
            <a:rect l="l" t="t" r="r" b="b"/>
            <a:pathLst>
              <a:path w="2658110" h="1464945">
                <a:moveTo>
                  <a:pt x="0" y="1464320"/>
                </a:moveTo>
                <a:lnTo>
                  <a:pt x="2658069" y="0"/>
                </a:lnTo>
              </a:path>
            </a:pathLst>
          </a:custGeom>
          <a:ln w="2857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269868" y="2814318"/>
            <a:ext cx="7969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75" baseline="11784" dirty="0">
                <a:latin typeface="Cambria Math"/>
                <a:cs typeface="Cambria Math"/>
              </a:rPr>
              <a:t>( </a:t>
            </a:r>
            <a:r>
              <a:rPr sz="2475" baseline="1683" dirty="0">
                <a:latin typeface="Cambria Math"/>
                <a:cs typeface="Cambria Math"/>
              </a:rPr>
              <a:t>3 </a:t>
            </a:r>
            <a:r>
              <a:rPr sz="2475" baseline="11784" dirty="0">
                <a:latin typeface="Cambria Math"/>
                <a:cs typeface="Cambria Math"/>
              </a:rPr>
              <a:t>,</a:t>
            </a:r>
            <a:r>
              <a:rPr sz="2475" spc="-104" baseline="11784" dirty="0">
                <a:latin typeface="Cambria Math"/>
                <a:cs typeface="Cambria Math"/>
              </a:rPr>
              <a:t> </a:t>
            </a:r>
            <a:r>
              <a:rPr sz="1650" spc="40" dirty="0">
                <a:latin typeface="Cambria Math"/>
                <a:cs typeface="Cambria Math"/>
              </a:rPr>
              <a:t>3.6</a:t>
            </a:r>
            <a:r>
              <a:rPr sz="2475" spc="60" baseline="11784" dirty="0">
                <a:latin typeface="Cambria Math"/>
                <a:cs typeface="Cambria Math"/>
              </a:rPr>
              <a:t>)</a:t>
            </a:r>
            <a:endParaRPr sz="2475" baseline="11784" dirty="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12573" y="2558926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3881696" y="1014984"/>
          <a:ext cx="1127760" cy="1702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3880"/>
              </a:tblGrid>
              <a:tr h="276476">
                <a:tc>
                  <a:txBody>
                    <a:bodyPr/>
                    <a:lstStyle/>
                    <a:p>
                      <a:pPr marL="207010">
                        <a:lnSpc>
                          <a:spcPts val="193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9"/>
                        </a:lnSpc>
                        <a:spcBef>
                          <a:spcPts val="3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0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02">
                <a:tc>
                  <a:txBody>
                    <a:bodyPr/>
                    <a:lstStyle/>
                    <a:p>
                      <a:pPr marL="226695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5"/>
                        </a:lnSpc>
                        <a:spcBef>
                          <a:spcPts val="18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28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45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44">
                <a:tc>
                  <a:txBody>
                    <a:bodyPr/>
                    <a:lstStyle/>
                    <a:p>
                      <a:pPr marL="226695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35"/>
                        </a:lnSpc>
                        <a:spcBef>
                          <a:spcPts val="56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17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2309242" y="1231904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880110" marR="5080" indent="-868044">
              <a:lnSpc>
                <a:spcPts val="3000"/>
              </a:lnSpc>
              <a:spcBef>
                <a:spcPts val="480"/>
              </a:spcBef>
            </a:pPr>
            <a:r>
              <a:rPr spc="25" dirty="0"/>
              <a:t>Understanding</a:t>
            </a:r>
            <a:r>
              <a:rPr spc="-60" dirty="0"/>
              <a:t> </a:t>
            </a:r>
            <a:r>
              <a:rPr spc="25" dirty="0"/>
              <a:t>Linear  Regression</a:t>
            </a: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0061" y="1929448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93463" y="1822582"/>
            <a:ext cx="10795" cy="2458085"/>
          </a:xfrm>
          <a:custGeom>
            <a:avLst/>
            <a:gdLst/>
            <a:ahLst/>
            <a:cxnLst/>
            <a:rect l="l" t="t" r="r" b="b"/>
            <a:pathLst>
              <a:path w="10794" h="2458085">
                <a:moveTo>
                  <a:pt x="10549" y="2457523"/>
                </a:moveTo>
                <a:lnTo>
                  <a:pt x="0" y="0"/>
                </a:lnTo>
              </a:path>
            </a:pathLst>
          </a:custGeom>
          <a:ln w="38099">
            <a:solidFill>
              <a:srgbClr val="F07F0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4730" y="1945629"/>
            <a:ext cx="2658110" cy="1464945"/>
          </a:xfrm>
          <a:custGeom>
            <a:avLst/>
            <a:gdLst/>
            <a:ahLst/>
            <a:cxnLst/>
            <a:rect l="l" t="t" r="r" b="b"/>
            <a:pathLst>
              <a:path w="2658110" h="1464945">
                <a:moveTo>
                  <a:pt x="0" y="1464320"/>
                </a:moveTo>
                <a:lnTo>
                  <a:pt x="2658069" y="0"/>
                </a:lnTo>
              </a:path>
            </a:pathLst>
          </a:custGeom>
          <a:ln w="2857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5105658" y="3229672"/>
            <a:ext cx="2244482" cy="770505"/>
            <a:chOff x="5105658" y="3229672"/>
            <a:chExt cx="2244482" cy="770505"/>
          </a:xfrm>
        </p:grpSpPr>
        <p:sp>
          <p:nvSpPr>
            <p:cNvPr id="22" name="object 22"/>
            <p:cNvSpPr/>
            <p:nvPr/>
          </p:nvSpPr>
          <p:spPr>
            <a:xfrm>
              <a:off x="6241298" y="3736597"/>
              <a:ext cx="631190" cy="194310"/>
            </a:xfrm>
            <a:custGeom>
              <a:avLst/>
              <a:gdLst/>
              <a:ahLst/>
              <a:cxnLst/>
              <a:rect l="l" t="t" r="r" b="b"/>
              <a:pathLst>
                <a:path w="631190" h="194310">
                  <a:moveTo>
                    <a:pt x="569214" y="0"/>
                  </a:moveTo>
                  <a:lnTo>
                    <a:pt x="566409" y="7869"/>
                  </a:lnTo>
                  <a:lnTo>
                    <a:pt x="577698" y="12723"/>
                  </a:lnTo>
                  <a:lnTo>
                    <a:pt x="587383" y="19471"/>
                  </a:lnTo>
                  <a:lnTo>
                    <a:pt x="610552" y="64414"/>
                  </a:lnTo>
                  <a:lnTo>
                    <a:pt x="613410" y="96130"/>
                  </a:lnTo>
                  <a:lnTo>
                    <a:pt x="612693" y="113189"/>
                  </a:lnTo>
                  <a:lnTo>
                    <a:pt x="601858" y="155115"/>
                  </a:lnTo>
                  <a:lnTo>
                    <a:pt x="566806" y="186214"/>
                  </a:lnTo>
                  <a:lnTo>
                    <a:pt x="569214" y="194096"/>
                  </a:lnTo>
                  <a:lnTo>
                    <a:pt x="606298" y="172055"/>
                  </a:lnTo>
                  <a:lnTo>
                    <a:pt x="627179" y="131390"/>
                  </a:lnTo>
                  <a:lnTo>
                    <a:pt x="631179" y="97155"/>
                  </a:lnTo>
                  <a:lnTo>
                    <a:pt x="630160" y="79341"/>
                  </a:lnTo>
                  <a:lnTo>
                    <a:pt x="615055" y="34027"/>
                  </a:lnTo>
                  <a:lnTo>
                    <a:pt x="583286" y="5065"/>
                  </a:lnTo>
                  <a:lnTo>
                    <a:pt x="569214" y="0"/>
                  </a:lnTo>
                  <a:close/>
                </a:path>
                <a:path w="631190" h="194310">
                  <a:moveTo>
                    <a:pt x="61843" y="0"/>
                  </a:moveTo>
                  <a:lnTo>
                    <a:pt x="24862" y="22104"/>
                  </a:lnTo>
                  <a:lnTo>
                    <a:pt x="4000" y="62876"/>
                  </a:lnTo>
                  <a:lnTo>
                    <a:pt x="0" y="97155"/>
                  </a:lnTo>
                  <a:lnTo>
                    <a:pt x="998" y="114952"/>
                  </a:lnTo>
                  <a:lnTo>
                    <a:pt x="15880" y="160163"/>
                  </a:lnTo>
                  <a:lnTo>
                    <a:pt x="47752" y="189021"/>
                  </a:lnTo>
                  <a:lnTo>
                    <a:pt x="61843" y="194096"/>
                  </a:lnTo>
                  <a:lnTo>
                    <a:pt x="64251" y="186214"/>
                  </a:lnTo>
                  <a:lnTo>
                    <a:pt x="53198" y="181316"/>
                  </a:lnTo>
                  <a:lnTo>
                    <a:pt x="43674" y="174499"/>
                  </a:lnTo>
                  <a:lnTo>
                    <a:pt x="20520" y="128721"/>
                  </a:lnTo>
                  <a:lnTo>
                    <a:pt x="17647" y="96130"/>
                  </a:lnTo>
                  <a:lnTo>
                    <a:pt x="18364" y="79535"/>
                  </a:lnTo>
                  <a:lnTo>
                    <a:pt x="29199" y="38599"/>
                  </a:lnTo>
                  <a:lnTo>
                    <a:pt x="64648" y="7869"/>
                  </a:lnTo>
                  <a:lnTo>
                    <a:pt x="618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6302380" y="3678549"/>
              <a:ext cx="695960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latin typeface="Cambria Math"/>
                  <a:cs typeface="Cambria Math"/>
                </a:rPr>
                <a:t>𝑥 − 𝑥</a:t>
              </a:r>
              <a:r>
                <a:rPr sz="1650" spc="35" dirty="0">
                  <a:latin typeface="Cambria Math"/>
                  <a:cs typeface="Cambria Math"/>
                </a:rPr>
                <a:t> </a:t>
              </a:r>
              <a:r>
                <a:rPr sz="1800" spc="44" baseline="27777" dirty="0">
                  <a:latin typeface="Cambria Math"/>
                  <a:cs typeface="Cambria Math"/>
                </a:rPr>
                <a:t>2</a:t>
              </a:r>
              <a:endParaRPr sz="1800" baseline="27777">
                <a:latin typeface="Cambria Math"/>
                <a:cs typeface="Cambria Math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5105658" y="3492435"/>
              <a:ext cx="401320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F07F09"/>
                  </a:solidFill>
                  <a:latin typeface="Cambria Math"/>
                  <a:cs typeface="Cambria Math"/>
                </a:rPr>
                <a:t>m</a:t>
              </a:r>
              <a:r>
                <a:rPr sz="1650" spc="-90" dirty="0">
                  <a:solidFill>
                    <a:srgbClr val="F07F09"/>
                  </a:solidFill>
                  <a:latin typeface="Cambria Math"/>
                  <a:cs typeface="Cambria Math"/>
                </a:rPr>
                <a:t> </a:t>
              </a:r>
              <a:r>
                <a:rPr sz="1650" dirty="0">
                  <a:solidFill>
                    <a:srgbClr val="F07F09"/>
                  </a:solidFill>
                  <a:latin typeface="Cambria Math"/>
                  <a:cs typeface="Cambria Math"/>
                </a:rPr>
                <a:t>=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5606430" y="3654040"/>
              <a:ext cx="1743710" cy="0"/>
            </a:xfrm>
            <a:custGeom>
              <a:avLst/>
              <a:gdLst/>
              <a:ahLst/>
              <a:cxnLst/>
              <a:rect l="l" t="t" r="r" b="b"/>
              <a:pathLst>
                <a:path w="1743709">
                  <a:moveTo>
                    <a:pt x="0" y="0"/>
                  </a:moveTo>
                  <a:lnTo>
                    <a:pt x="1743577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5634105" y="3229672"/>
              <a:ext cx="1570355" cy="3917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Cambria Math"/>
                  <a:cs typeface="Cambria Math"/>
                </a:rPr>
                <a:t>𝛴 </a:t>
              </a:r>
              <a:r>
                <a:rPr sz="2475" spc="-15" baseline="3367" dirty="0">
                  <a:latin typeface="Cambria Math"/>
                  <a:cs typeface="Cambria Math"/>
                </a:rPr>
                <a:t>(𝑥 </a:t>
              </a:r>
              <a:r>
                <a:rPr sz="2475" baseline="3367" dirty="0">
                  <a:latin typeface="Cambria Math"/>
                  <a:cs typeface="Cambria Math"/>
                </a:rPr>
                <a:t>− 𝑥)(𝑦 −</a:t>
              </a:r>
              <a:r>
                <a:rPr sz="2475" spc="-337" baseline="3367" dirty="0">
                  <a:latin typeface="Cambria Math"/>
                  <a:cs typeface="Cambria Math"/>
                </a:rPr>
                <a:t> </a:t>
              </a:r>
              <a:r>
                <a:rPr sz="2475" spc="37" baseline="3367" dirty="0">
                  <a:latin typeface="Cambria Math"/>
                  <a:cs typeface="Cambria Math"/>
                </a:rPr>
                <a:t>𝑦)</a:t>
              </a:r>
              <a:endParaRPr sz="2475" baseline="3367">
                <a:latin typeface="Cambria Math"/>
                <a:cs typeface="Cambria Math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5901317" y="3607747"/>
              <a:ext cx="210820" cy="39243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400" spc="5" dirty="0">
                  <a:latin typeface="Cambria Math"/>
                  <a:cs typeface="Cambria Math"/>
                </a:rPr>
                <a:t>𝛴</a:t>
              </a:r>
              <a:endParaRPr sz="2400" dirty="0">
                <a:latin typeface="Cambria Math"/>
                <a:cs typeface="Cambria Math"/>
              </a:endParaRPr>
            </a:p>
          </p:txBody>
        </p:sp>
      </p:grp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3881696" y="1014984"/>
          <a:ext cx="1127760" cy="1702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3880"/>
              </a:tblGrid>
              <a:tr h="276476">
                <a:tc>
                  <a:txBody>
                    <a:bodyPr/>
                    <a:lstStyle/>
                    <a:p>
                      <a:pPr marL="207010">
                        <a:lnSpc>
                          <a:spcPts val="193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9"/>
                        </a:lnSpc>
                        <a:spcBef>
                          <a:spcPts val="3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0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02">
                <a:tc>
                  <a:txBody>
                    <a:bodyPr/>
                    <a:lstStyle/>
                    <a:p>
                      <a:pPr marL="226695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5"/>
                        </a:lnSpc>
                        <a:spcBef>
                          <a:spcPts val="18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28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45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44">
                <a:tc>
                  <a:txBody>
                    <a:bodyPr/>
                    <a:lstStyle/>
                    <a:p>
                      <a:pPr marL="226695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35"/>
                        </a:lnSpc>
                        <a:spcBef>
                          <a:spcPts val="56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17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9" name="object 29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 dirty="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3881696" y="1014984"/>
          <a:ext cx="1875153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</a:tblGrid>
              <a:tr h="276994">
                <a:tc>
                  <a:txBody>
                    <a:bodyPr/>
                    <a:lstStyle/>
                    <a:p>
                      <a:pPr marL="207010">
                        <a:lnSpc>
                          <a:spcPts val="1935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39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318">
                <a:tc>
                  <a:txBody>
                    <a:bodyPr/>
                    <a:lstStyle/>
                    <a:p>
                      <a:pPr marL="226695">
                        <a:lnSpc>
                          <a:spcPts val="1689"/>
                        </a:lnSpc>
                        <a:spcBef>
                          <a:spcPts val="30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00"/>
                        </a:lnSpc>
                        <a:spcBef>
                          <a:spcPts val="9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0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562">
                <a:tc>
                  <a:txBody>
                    <a:bodyPr/>
                    <a:lstStyle/>
                    <a:p>
                      <a:pPr marL="226695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277">
                <a:tc>
                  <a:txBody>
                    <a:bodyPr/>
                    <a:lstStyle/>
                    <a:p>
                      <a:pPr marL="226695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5"/>
                        </a:lnSpc>
                        <a:spcBef>
                          <a:spcPts val="18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28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019">
                <a:tc>
                  <a:txBody>
                    <a:bodyPr/>
                    <a:lstStyle/>
                    <a:p>
                      <a:pPr marL="226695">
                        <a:lnSpc>
                          <a:spcPts val="1930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9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497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6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23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Cambria Math"/>
                <a:cs typeface="Cambria Math"/>
              </a:rPr>
              <a:t>𝑥 − 𝑥</a:t>
            </a:r>
            <a:r>
              <a:rPr sz="1650" spc="35" dirty="0">
                <a:latin typeface="Cambria Math"/>
                <a:cs typeface="Cambria Math"/>
              </a:rPr>
              <a:t> </a:t>
            </a:r>
            <a:r>
              <a:rPr sz="1800" spc="44" baseline="27777" dirty="0"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6B9E24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6B9E24"/>
                </a:solidFill>
                <a:latin typeface="Cambria Math"/>
                <a:cs typeface="Cambria Math"/>
              </a:rPr>
              <a:t>− 𝑥)</a:t>
            </a:r>
            <a:r>
              <a:rPr sz="2475" baseline="3367" dirty="0">
                <a:latin typeface="Cambria Math"/>
                <a:cs typeface="Cambria Math"/>
              </a:rPr>
              <a:t>(𝑦 −</a:t>
            </a:r>
            <a:r>
              <a:rPr sz="2475" spc="-337" baseline="3367" dirty="0">
                <a:latin typeface="Cambria Math"/>
                <a:cs typeface="Cambria Math"/>
              </a:rPr>
              <a:t> </a:t>
            </a:r>
            <a:r>
              <a:rPr sz="2475" spc="37" baseline="3367" dirty="0"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460061" y="1378645"/>
            <a:ext cx="3960091" cy="3210503"/>
            <a:chOff x="460061" y="1378645"/>
            <a:chExt cx="3960091" cy="3210503"/>
          </a:xfrm>
        </p:grpSpPr>
        <p:sp>
          <p:nvSpPr>
            <p:cNvPr id="5" name="object 5"/>
            <p:cNvSpPr/>
            <p:nvPr/>
          </p:nvSpPr>
          <p:spPr>
            <a:xfrm>
              <a:off x="628650" y="1658995"/>
              <a:ext cx="114300" cy="2606040"/>
            </a:xfrm>
            <a:custGeom>
              <a:avLst/>
              <a:gdLst/>
              <a:ahLst/>
              <a:cxnLst/>
              <a:rect l="l" t="t" r="r" b="b"/>
              <a:pathLst>
                <a:path w="114300" h="260604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605957"/>
                  </a:lnTo>
                  <a:lnTo>
                    <a:pt x="76200" y="2605957"/>
                  </a:lnTo>
                  <a:lnTo>
                    <a:pt x="76200" y="95250"/>
                  </a:lnTo>
                  <a:close/>
                </a:path>
                <a:path w="114300" h="260604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60604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6667" y="4225564"/>
              <a:ext cx="3753485" cy="114300"/>
            </a:xfrm>
            <a:custGeom>
              <a:avLst/>
              <a:gdLst/>
              <a:ahLst/>
              <a:cxnLst/>
              <a:rect l="l" t="t" r="r" b="b"/>
              <a:pathLst>
                <a:path w="3753485" h="114300">
                  <a:moveTo>
                    <a:pt x="3638876" y="0"/>
                  </a:moveTo>
                  <a:lnTo>
                    <a:pt x="3638713" y="38101"/>
                  </a:lnTo>
                  <a:lnTo>
                    <a:pt x="3657804" y="38194"/>
                  </a:lnTo>
                  <a:lnTo>
                    <a:pt x="3657560" y="76294"/>
                  </a:lnTo>
                  <a:lnTo>
                    <a:pt x="3638550" y="76294"/>
                  </a:lnTo>
                  <a:lnTo>
                    <a:pt x="3638388" y="114300"/>
                  </a:lnTo>
                  <a:lnTo>
                    <a:pt x="3715312" y="76294"/>
                  </a:lnTo>
                  <a:lnTo>
                    <a:pt x="3657560" y="76294"/>
                  </a:lnTo>
                  <a:lnTo>
                    <a:pt x="3715500" y="76201"/>
                  </a:lnTo>
                  <a:lnTo>
                    <a:pt x="3752932" y="57707"/>
                  </a:lnTo>
                  <a:lnTo>
                    <a:pt x="3638876" y="0"/>
                  </a:lnTo>
                  <a:close/>
                </a:path>
                <a:path w="3753485" h="114300">
                  <a:moveTo>
                    <a:pt x="3638713" y="38101"/>
                  </a:moveTo>
                  <a:lnTo>
                    <a:pt x="3638551" y="76201"/>
                  </a:lnTo>
                  <a:lnTo>
                    <a:pt x="3657560" y="76294"/>
                  </a:lnTo>
                  <a:lnTo>
                    <a:pt x="3657804" y="38194"/>
                  </a:lnTo>
                  <a:lnTo>
                    <a:pt x="3638713" y="38101"/>
                  </a:lnTo>
                  <a:close/>
                </a:path>
                <a:path w="3753485" h="114300">
                  <a:moveTo>
                    <a:pt x="164" y="20348"/>
                  </a:moveTo>
                  <a:lnTo>
                    <a:pt x="0" y="58448"/>
                  </a:lnTo>
                  <a:lnTo>
                    <a:pt x="3638551" y="76201"/>
                  </a:lnTo>
                  <a:lnTo>
                    <a:pt x="3638713" y="38101"/>
                  </a:lnTo>
                  <a:lnTo>
                    <a:pt x="164" y="20348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765493" y="1556763"/>
              <a:ext cx="507365" cy="27559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800" b="0" spc="110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50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p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-45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5" dirty="0">
                  <a:solidFill>
                    <a:srgbClr val="6B9E24"/>
                  </a:solidFill>
                  <a:latin typeface="Calibri Light"/>
                  <a:cs typeface="Calibri Light"/>
                </a:rPr>
                <a:t>t</a:t>
              </a:r>
              <a:endParaRPr sz="800">
                <a:latin typeface="Calibri Light"/>
                <a:cs typeface="Calibri Light"/>
              </a:endParaRPr>
            </a:p>
            <a:p>
              <a:pPr marL="12700">
                <a:lnSpc>
                  <a:spcPct val="100000"/>
                </a:lnSpc>
                <a:spcBef>
                  <a:spcPts val="15"/>
                </a:spcBef>
              </a:pPr>
              <a:r>
                <a:rPr sz="800" b="0" spc="25" dirty="0">
                  <a:solidFill>
                    <a:srgbClr val="6B9E24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42299" y="1378645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007739" y="2460247"/>
              <a:ext cx="190500" cy="1905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60061" y="3764275"/>
              <a:ext cx="14160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1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460061" y="1929448"/>
              <a:ext cx="145415" cy="16211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524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5</a:t>
              </a:r>
              <a:endParaRPr sz="1650" dirty="0">
                <a:latin typeface="Cambria Math"/>
                <a:cs typeface="Cambria Math"/>
              </a:endParaRPr>
            </a:p>
            <a:p>
              <a:pPr marL="15240">
                <a:lnSpc>
                  <a:spcPct val="100000"/>
                </a:lnSpc>
                <a:spcBef>
                  <a:spcPts val="155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4</a:t>
              </a:r>
              <a:endParaRPr sz="1650" dirty="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3</a:t>
              </a:r>
              <a:endParaRPr sz="1650" dirty="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2</a:t>
              </a:r>
              <a:endParaRPr sz="1650" dirty="0">
                <a:latin typeface="Cambria Math"/>
                <a:cs typeface="Cambria Math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992624" y="1975469"/>
              <a:ext cx="190493" cy="1905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47750" y="2479928"/>
              <a:ext cx="190500" cy="1905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97960" y="2863595"/>
              <a:ext cx="190500" cy="1905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93463" y="1822582"/>
              <a:ext cx="10795" cy="2458085"/>
            </a:xfrm>
            <a:custGeom>
              <a:avLst/>
              <a:gdLst/>
              <a:ahLst/>
              <a:cxnLst/>
              <a:rect l="l" t="t" r="r" b="b"/>
              <a:pathLst>
                <a:path w="10794" h="2458085">
                  <a:moveTo>
                    <a:pt x="10549" y="245752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F07F0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03048" y="2558926"/>
              <a:ext cx="190500" cy="1905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80560" y="3320283"/>
              <a:ext cx="190500" cy="1905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20272" y="2580001"/>
              <a:ext cx="810895" cy="6985"/>
            </a:xfrm>
            <a:custGeom>
              <a:avLst/>
              <a:gdLst/>
              <a:ahLst/>
              <a:cxnLst/>
              <a:rect l="l" t="t" r="r" b="b"/>
              <a:pathLst>
                <a:path w="810894" h="6985">
                  <a:moveTo>
                    <a:pt x="0" y="0"/>
                  </a:moveTo>
                  <a:lnTo>
                    <a:pt x="810707" y="6739"/>
                  </a:lnTo>
                </a:path>
              </a:pathLst>
            </a:custGeom>
            <a:ln w="380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599758" y="4311653"/>
              <a:ext cx="305498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462915" algn="l"/>
                  <a:tab pos="955675" algn="l"/>
                  <a:tab pos="1447800" algn="l"/>
                  <a:tab pos="1940560" algn="l"/>
                  <a:tab pos="2433320" algn="l"/>
                  <a:tab pos="2925445" algn="l"/>
                </a:tabLst>
              </a:pP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0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1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2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3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4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5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6</a:t>
              </a:r>
              <a:endParaRPr sz="1650">
                <a:latin typeface="Cambria Math"/>
                <a:cs typeface="Cambria Math"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110612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061" y="1929448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93463" y="1822582"/>
            <a:ext cx="10795" cy="2458085"/>
          </a:xfrm>
          <a:custGeom>
            <a:avLst/>
            <a:gdLst/>
            <a:ahLst/>
            <a:cxnLst/>
            <a:rect l="l" t="t" r="r" b="b"/>
            <a:pathLst>
              <a:path w="10794" h="2458085">
                <a:moveTo>
                  <a:pt x="10549" y="2457523"/>
                </a:moveTo>
                <a:lnTo>
                  <a:pt x="0" y="0"/>
                </a:lnTo>
              </a:path>
            </a:pathLst>
          </a:custGeom>
          <a:ln w="38099">
            <a:solidFill>
              <a:srgbClr val="F07F0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20272" y="2580001"/>
            <a:ext cx="810895" cy="6985"/>
          </a:xfrm>
          <a:custGeom>
            <a:avLst/>
            <a:gdLst/>
            <a:ahLst/>
            <a:cxnLst/>
            <a:rect l="l" t="t" r="r" b="b"/>
            <a:pathLst>
              <a:path w="810894" h="6985">
                <a:moveTo>
                  <a:pt x="0" y="0"/>
                </a:moveTo>
                <a:lnTo>
                  <a:pt x="810707" y="6739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Cambria Math"/>
                <a:cs typeface="Cambria Math"/>
              </a:rPr>
              <a:t>𝑥 − 𝑥</a:t>
            </a:r>
            <a:r>
              <a:rPr sz="1650" spc="35" dirty="0">
                <a:latin typeface="Cambria Math"/>
                <a:cs typeface="Cambria Math"/>
              </a:rPr>
              <a:t> </a:t>
            </a:r>
            <a:r>
              <a:rPr sz="1800" spc="44" baseline="27777" dirty="0"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6B9E24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6B9E24"/>
                </a:solidFill>
                <a:latin typeface="Cambria Math"/>
                <a:cs typeface="Cambria Math"/>
              </a:rPr>
              <a:t>− 𝑥)</a:t>
            </a:r>
            <a:r>
              <a:rPr sz="2475" baseline="3367" dirty="0">
                <a:latin typeface="Cambria Math"/>
                <a:cs typeface="Cambria Math"/>
              </a:rPr>
              <a:t>(𝑦 −</a:t>
            </a:r>
            <a:r>
              <a:rPr sz="2475" spc="-337" baseline="3367" dirty="0">
                <a:latin typeface="Cambria Math"/>
                <a:cs typeface="Cambria Math"/>
              </a:rPr>
              <a:t> </a:t>
            </a:r>
            <a:r>
              <a:rPr sz="2475" spc="37" baseline="3367" dirty="0"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3881696" y="1014984"/>
          <a:ext cx="1875153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1960"/>
                        </a:lnSpc>
                        <a:spcBef>
                          <a:spcPts val="35"/>
                        </a:spcBef>
                      </a:pPr>
                      <a:r>
                        <a:rPr sz="1650" dirty="0">
                          <a:solidFill>
                            <a:srgbClr val="5F4778"/>
                          </a:solidFill>
                          <a:latin typeface="Cambria Math"/>
                          <a:cs typeface="Cambria Math"/>
                        </a:rPr>
                        <a:t>1 </a:t>
                      </a:r>
                      <a:r>
                        <a:rPr sz="2475" baseline="50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225" baseline="505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object 31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061" y="1929448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93463" y="1822582"/>
            <a:ext cx="10795" cy="2458085"/>
          </a:xfrm>
          <a:custGeom>
            <a:avLst/>
            <a:gdLst/>
            <a:ahLst/>
            <a:cxnLst/>
            <a:rect l="l" t="t" r="r" b="b"/>
            <a:pathLst>
              <a:path w="10794" h="2458085">
                <a:moveTo>
                  <a:pt x="10549" y="2457523"/>
                </a:moveTo>
                <a:lnTo>
                  <a:pt x="0" y="0"/>
                </a:lnTo>
              </a:path>
            </a:pathLst>
          </a:custGeom>
          <a:ln w="38099">
            <a:solidFill>
              <a:srgbClr val="F07F0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20272" y="2580001"/>
            <a:ext cx="810895" cy="6985"/>
          </a:xfrm>
          <a:custGeom>
            <a:avLst/>
            <a:gdLst/>
            <a:ahLst/>
            <a:cxnLst/>
            <a:rect l="l" t="t" r="r" b="b"/>
            <a:pathLst>
              <a:path w="810894" h="6985">
                <a:moveTo>
                  <a:pt x="0" y="0"/>
                </a:moveTo>
                <a:lnTo>
                  <a:pt x="810707" y="6739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Cambria Math"/>
                <a:cs typeface="Cambria Math"/>
              </a:rPr>
              <a:t>𝑥 − 𝑥</a:t>
            </a:r>
            <a:r>
              <a:rPr sz="1650" spc="35" dirty="0">
                <a:latin typeface="Cambria Math"/>
                <a:cs typeface="Cambria Math"/>
              </a:rPr>
              <a:t> </a:t>
            </a:r>
            <a:r>
              <a:rPr sz="1800" spc="44" baseline="27777" dirty="0"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6B9E24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6B9E24"/>
                </a:solidFill>
                <a:latin typeface="Cambria Math"/>
                <a:cs typeface="Cambria Math"/>
              </a:rPr>
              <a:t>− 𝑥)</a:t>
            </a:r>
            <a:r>
              <a:rPr sz="2475" baseline="3367" dirty="0">
                <a:latin typeface="Cambria Math"/>
                <a:cs typeface="Cambria Math"/>
              </a:rPr>
              <a:t>(𝑦 −</a:t>
            </a:r>
            <a:r>
              <a:rPr sz="2475" spc="-337" baseline="3367" dirty="0">
                <a:latin typeface="Cambria Math"/>
                <a:cs typeface="Cambria Math"/>
              </a:rPr>
              <a:t> </a:t>
            </a:r>
            <a:r>
              <a:rPr sz="2475" spc="37" baseline="3367" dirty="0"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3881696" y="1014984"/>
          <a:ext cx="1875153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object 31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35426" y="4311653"/>
            <a:ext cx="161925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4825" algn="l"/>
                <a:tab pos="997585" algn="l"/>
                <a:tab pos="1489710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0061" y="1929448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99758" y="4311653"/>
            <a:ext cx="59245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93463" y="1822582"/>
            <a:ext cx="10795" cy="2458085"/>
          </a:xfrm>
          <a:custGeom>
            <a:avLst/>
            <a:gdLst/>
            <a:ahLst/>
            <a:cxnLst/>
            <a:rect l="l" t="t" r="r" b="b"/>
            <a:pathLst>
              <a:path w="10794" h="2458085">
                <a:moveTo>
                  <a:pt x="10549" y="2457523"/>
                </a:moveTo>
                <a:lnTo>
                  <a:pt x="0" y="0"/>
                </a:lnTo>
              </a:path>
            </a:pathLst>
          </a:custGeom>
          <a:ln w="38099">
            <a:solidFill>
              <a:srgbClr val="F07F0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20272" y="2580001"/>
            <a:ext cx="810895" cy="6985"/>
          </a:xfrm>
          <a:custGeom>
            <a:avLst/>
            <a:gdLst/>
            <a:ahLst/>
            <a:cxnLst/>
            <a:rect l="l" t="t" r="r" b="b"/>
            <a:pathLst>
              <a:path w="810894" h="6985">
                <a:moveTo>
                  <a:pt x="0" y="0"/>
                </a:moveTo>
                <a:lnTo>
                  <a:pt x="810707" y="6739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Cambria Math"/>
                <a:cs typeface="Cambria Math"/>
              </a:rPr>
              <a:t>𝑥 − 𝑥</a:t>
            </a:r>
            <a:r>
              <a:rPr sz="1650" spc="35" dirty="0">
                <a:latin typeface="Cambria Math"/>
                <a:cs typeface="Cambria Math"/>
              </a:rPr>
              <a:t> </a:t>
            </a:r>
            <a:r>
              <a:rPr sz="1800" spc="44" baseline="27777" dirty="0"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6B9E24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6B9E24"/>
                </a:solidFill>
                <a:latin typeface="Cambria Math"/>
                <a:cs typeface="Cambria Math"/>
              </a:rPr>
              <a:t>− 𝑥)</a:t>
            </a:r>
            <a:r>
              <a:rPr sz="2475" baseline="3367" dirty="0">
                <a:latin typeface="Cambria Math"/>
                <a:cs typeface="Cambria Math"/>
              </a:rPr>
              <a:t>(𝑦 −</a:t>
            </a:r>
            <a:r>
              <a:rPr sz="2475" spc="-337" baseline="3367" dirty="0">
                <a:latin typeface="Cambria Math"/>
                <a:cs typeface="Cambria Math"/>
              </a:rPr>
              <a:t> </a:t>
            </a:r>
            <a:r>
              <a:rPr sz="2475" spc="37" baseline="3367" dirty="0"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3881696" y="1014984"/>
          <a:ext cx="1875153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1544321" y="430879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10612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460061" y="1378645"/>
            <a:ext cx="3960091" cy="3210503"/>
            <a:chOff x="460061" y="1378645"/>
            <a:chExt cx="3960091" cy="3210503"/>
          </a:xfrm>
        </p:grpSpPr>
        <p:sp>
          <p:nvSpPr>
            <p:cNvPr id="5" name="object 5"/>
            <p:cNvSpPr/>
            <p:nvPr/>
          </p:nvSpPr>
          <p:spPr>
            <a:xfrm>
              <a:off x="628650" y="1658995"/>
              <a:ext cx="114300" cy="2606040"/>
            </a:xfrm>
            <a:custGeom>
              <a:avLst/>
              <a:gdLst/>
              <a:ahLst/>
              <a:cxnLst/>
              <a:rect l="l" t="t" r="r" b="b"/>
              <a:pathLst>
                <a:path w="114300" h="260604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605957"/>
                  </a:lnTo>
                  <a:lnTo>
                    <a:pt x="76200" y="2605957"/>
                  </a:lnTo>
                  <a:lnTo>
                    <a:pt x="76200" y="95250"/>
                  </a:lnTo>
                  <a:close/>
                </a:path>
                <a:path w="114300" h="260604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60604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6667" y="4225564"/>
              <a:ext cx="3753485" cy="114300"/>
            </a:xfrm>
            <a:custGeom>
              <a:avLst/>
              <a:gdLst/>
              <a:ahLst/>
              <a:cxnLst/>
              <a:rect l="l" t="t" r="r" b="b"/>
              <a:pathLst>
                <a:path w="3753485" h="114300">
                  <a:moveTo>
                    <a:pt x="3638876" y="0"/>
                  </a:moveTo>
                  <a:lnTo>
                    <a:pt x="3638713" y="38101"/>
                  </a:lnTo>
                  <a:lnTo>
                    <a:pt x="3657804" y="38194"/>
                  </a:lnTo>
                  <a:lnTo>
                    <a:pt x="3657560" y="76294"/>
                  </a:lnTo>
                  <a:lnTo>
                    <a:pt x="3638550" y="76294"/>
                  </a:lnTo>
                  <a:lnTo>
                    <a:pt x="3638388" y="114300"/>
                  </a:lnTo>
                  <a:lnTo>
                    <a:pt x="3715312" y="76294"/>
                  </a:lnTo>
                  <a:lnTo>
                    <a:pt x="3657560" y="76294"/>
                  </a:lnTo>
                  <a:lnTo>
                    <a:pt x="3715500" y="76201"/>
                  </a:lnTo>
                  <a:lnTo>
                    <a:pt x="3752932" y="57707"/>
                  </a:lnTo>
                  <a:lnTo>
                    <a:pt x="3638876" y="0"/>
                  </a:lnTo>
                  <a:close/>
                </a:path>
                <a:path w="3753485" h="114300">
                  <a:moveTo>
                    <a:pt x="3638713" y="38101"/>
                  </a:moveTo>
                  <a:lnTo>
                    <a:pt x="3638551" y="76201"/>
                  </a:lnTo>
                  <a:lnTo>
                    <a:pt x="3657560" y="76294"/>
                  </a:lnTo>
                  <a:lnTo>
                    <a:pt x="3657804" y="38194"/>
                  </a:lnTo>
                  <a:lnTo>
                    <a:pt x="3638713" y="38101"/>
                  </a:lnTo>
                  <a:close/>
                </a:path>
                <a:path w="3753485" h="114300">
                  <a:moveTo>
                    <a:pt x="164" y="20348"/>
                  </a:moveTo>
                  <a:lnTo>
                    <a:pt x="0" y="58448"/>
                  </a:lnTo>
                  <a:lnTo>
                    <a:pt x="3638551" y="76201"/>
                  </a:lnTo>
                  <a:lnTo>
                    <a:pt x="3638713" y="38101"/>
                  </a:lnTo>
                  <a:lnTo>
                    <a:pt x="164" y="20348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765493" y="1556763"/>
              <a:ext cx="507365" cy="27559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800" b="0" spc="110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50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p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-45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5" dirty="0">
                  <a:solidFill>
                    <a:srgbClr val="6B9E24"/>
                  </a:solidFill>
                  <a:latin typeface="Calibri Light"/>
                  <a:cs typeface="Calibri Light"/>
                </a:rPr>
                <a:t>t</a:t>
              </a:r>
              <a:endParaRPr sz="800">
                <a:latin typeface="Calibri Light"/>
                <a:cs typeface="Calibri Light"/>
              </a:endParaRPr>
            </a:p>
            <a:p>
              <a:pPr marL="12700">
                <a:lnSpc>
                  <a:spcPct val="100000"/>
                </a:lnSpc>
                <a:spcBef>
                  <a:spcPts val="15"/>
                </a:spcBef>
              </a:pPr>
              <a:r>
                <a:rPr sz="800" b="0" spc="25" dirty="0">
                  <a:solidFill>
                    <a:srgbClr val="6B9E24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42299" y="1378645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007739" y="2460247"/>
              <a:ext cx="190500" cy="1905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60061" y="3764275"/>
              <a:ext cx="14160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1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688460" y="2958846"/>
              <a:ext cx="405130" cy="3810"/>
            </a:xfrm>
            <a:custGeom>
              <a:avLst/>
              <a:gdLst/>
              <a:ahLst/>
              <a:cxnLst/>
              <a:rect l="l" t="t" r="r" b="b"/>
              <a:pathLst>
                <a:path w="405130" h="3810">
                  <a:moveTo>
                    <a:pt x="0" y="0"/>
                  </a:moveTo>
                  <a:lnTo>
                    <a:pt x="405002" y="3809"/>
                  </a:lnTo>
                </a:path>
              </a:pathLst>
            </a:custGeom>
            <a:ln w="380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460061" y="1929445"/>
              <a:ext cx="145415" cy="16211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524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5</a:t>
              </a:r>
              <a:endParaRPr sz="1650">
                <a:latin typeface="Cambria Math"/>
                <a:cs typeface="Cambria Math"/>
              </a:endParaRPr>
            </a:p>
            <a:p>
              <a:pPr marL="15240">
                <a:lnSpc>
                  <a:spcPct val="100000"/>
                </a:lnSpc>
                <a:spcBef>
                  <a:spcPts val="155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4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3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2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992624" y="1975469"/>
              <a:ext cx="190493" cy="1905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47750" y="2479928"/>
              <a:ext cx="190500" cy="1905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97960" y="2863595"/>
              <a:ext cx="190500" cy="1905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599758" y="4311653"/>
              <a:ext cx="305498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462915" algn="l"/>
                  <a:tab pos="955675" algn="l"/>
                  <a:tab pos="1447800" algn="l"/>
                  <a:tab pos="1940560" algn="l"/>
                  <a:tab pos="2433320" algn="l"/>
                  <a:tab pos="2925445" algn="l"/>
                </a:tabLst>
              </a:pP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0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1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2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3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4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5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6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093463" y="1822582"/>
              <a:ext cx="10795" cy="2458085"/>
            </a:xfrm>
            <a:custGeom>
              <a:avLst/>
              <a:gdLst/>
              <a:ahLst/>
              <a:cxnLst/>
              <a:rect l="l" t="t" r="r" b="b"/>
              <a:pathLst>
                <a:path w="10794" h="2458085">
                  <a:moveTo>
                    <a:pt x="10549" y="245752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F07F0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03048" y="2558926"/>
              <a:ext cx="190500" cy="1905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80560" y="3320283"/>
              <a:ext cx="190500" cy="1905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20272" y="2580001"/>
              <a:ext cx="810895" cy="6985"/>
            </a:xfrm>
            <a:custGeom>
              <a:avLst/>
              <a:gdLst/>
              <a:ahLst/>
              <a:cxnLst/>
              <a:rect l="l" t="t" r="r" b="b"/>
              <a:pathLst>
                <a:path w="810894" h="6985">
                  <a:moveTo>
                    <a:pt x="0" y="0"/>
                  </a:moveTo>
                  <a:lnTo>
                    <a:pt x="810707" y="6739"/>
                  </a:lnTo>
                </a:path>
              </a:pathLst>
            </a:custGeom>
            <a:ln w="380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Cambria Math"/>
                <a:cs typeface="Cambria Math"/>
              </a:rPr>
              <a:t>𝑥 − 𝑥</a:t>
            </a:r>
            <a:r>
              <a:rPr sz="1650" spc="35" dirty="0">
                <a:latin typeface="Cambria Math"/>
                <a:cs typeface="Cambria Math"/>
              </a:rPr>
              <a:t> </a:t>
            </a:r>
            <a:r>
              <a:rPr sz="1800" spc="44" baseline="27777" dirty="0"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6B9E24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6B9E24"/>
                </a:solidFill>
                <a:latin typeface="Cambria Math"/>
                <a:cs typeface="Cambria Math"/>
              </a:rPr>
              <a:t>− 𝑥)</a:t>
            </a:r>
            <a:r>
              <a:rPr sz="2475" baseline="3367" dirty="0">
                <a:latin typeface="Cambria Math"/>
                <a:cs typeface="Cambria Math"/>
              </a:rPr>
              <a:t>(𝑦 −</a:t>
            </a:r>
            <a:r>
              <a:rPr sz="2475" spc="-337" baseline="3367" dirty="0">
                <a:latin typeface="Cambria Math"/>
                <a:cs typeface="Cambria Math"/>
              </a:rPr>
              <a:t> </a:t>
            </a:r>
            <a:r>
              <a:rPr sz="2475" spc="37" baseline="3367" dirty="0"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3881696" y="1014984"/>
          <a:ext cx="1875153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625" algn="ctr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2475" baseline="3367" dirty="0">
                          <a:solidFill>
                            <a:srgbClr val="5F4778"/>
                          </a:solidFill>
                          <a:latin typeface="Cambria Math"/>
                          <a:cs typeface="Cambria Math"/>
                        </a:rPr>
                        <a:t>2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2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3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 dirty="0">
              <a:latin typeface="Calibri Light"/>
              <a:cs typeface="Calibri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Cambria Math"/>
                <a:cs typeface="Cambria Math"/>
              </a:rPr>
              <a:t>𝑥 − 𝑥</a:t>
            </a:r>
            <a:r>
              <a:rPr sz="1650" spc="35" dirty="0">
                <a:latin typeface="Cambria Math"/>
                <a:cs typeface="Cambria Math"/>
              </a:rPr>
              <a:t> </a:t>
            </a:r>
            <a:r>
              <a:rPr sz="1800" spc="44" baseline="27777" dirty="0"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6B9E24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6B9E24"/>
                </a:solidFill>
                <a:latin typeface="Cambria Math"/>
                <a:cs typeface="Cambria Math"/>
              </a:rPr>
              <a:t>− 𝑥)</a:t>
            </a:r>
            <a:r>
              <a:rPr sz="2475" baseline="3367" dirty="0">
                <a:latin typeface="Cambria Math"/>
                <a:cs typeface="Cambria Math"/>
              </a:rPr>
              <a:t>(𝑦 −</a:t>
            </a:r>
            <a:r>
              <a:rPr sz="2475" spc="-337" baseline="3367" dirty="0">
                <a:latin typeface="Cambria Math"/>
                <a:cs typeface="Cambria Math"/>
              </a:rPr>
              <a:t> </a:t>
            </a:r>
            <a:r>
              <a:rPr sz="2475" spc="37" baseline="3367" dirty="0"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3881696" y="1014984"/>
          <a:ext cx="1875153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36" name="Group 35"/>
          <p:cNvGrpSpPr/>
          <p:nvPr/>
        </p:nvGrpSpPr>
        <p:grpSpPr>
          <a:xfrm>
            <a:off x="460061" y="1352550"/>
            <a:ext cx="3960091" cy="3210503"/>
            <a:chOff x="460061" y="1378645"/>
            <a:chExt cx="3960091" cy="3210503"/>
          </a:xfrm>
        </p:grpSpPr>
        <p:sp>
          <p:nvSpPr>
            <p:cNvPr id="5" name="object 5"/>
            <p:cNvSpPr/>
            <p:nvPr/>
          </p:nvSpPr>
          <p:spPr>
            <a:xfrm>
              <a:off x="628650" y="1658995"/>
              <a:ext cx="114300" cy="2606040"/>
            </a:xfrm>
            <a:custGeom>
              <a:avLst/>
              <a:gdLst/>
              <a:ahLst/>
              <a:cxnLst/>
              <a:rect l="l" t="t" r="r" b="b"/>
              <a:pathLst>
                <a:path w="114300" h="260604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605957"/>
                  </a:lnTo>
                  <a:lnTo>
                    <a:pt x="76200" y="2605957"/>
                  </a:lnTo>
                  <a:lnTo>
                    <a:pt x="76200" y="95250"/>
                  </a:lnTo>
                  <a:close/>
                </a:path>
                <a:path w="114300" h="260604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60604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6667" y="4225564"/>
              <a:ext cx="3753485" cy="114300"/>
            </a:xfrm>
            <a:custGeom>
              <a:avLst/>
              <a:gdLst/>
              <a:ahLst/>
              <a:cxnLst/>
              <a:rect l="l" t="t" r="r" b="b"/>
              <a:pathLst>
                <a:path w="3753485" h="114300">
                  <a:moveTo>
                    <a:pt x="3638876" y="0"/>
                  </a:moveTo>
                  <a:lnTo>
                    <a:pt x="3638713" y="38101"/>
                  </a:lnTo>
                  <a:lnTo>
                    <a:pt x="3657804" y="38194"/>
                  </a:lnTo>
                  <a:lnTo>
                    <a:pt x="3657560" y="76294"/>
                  </a:lnTo>
                  <a:lnTo>
                    <a:pt x="3638550" y="76294"/>
                  </a:lnTo>
                  <a:lnTo>
                    <a:pt x="3638388" y="114300"/>
                  </a:lnTo>
                  <a:lnTo>
                    <a:pt x="3715312" y="76294"/>
                  </a:lnTo>
                  <a:lnTo>
                    <a:pt x="3657560" y="76294"/>
                  </a:lnTo>
                  <a:lnTo>
                    <a:pt x="3715500" y="76201"/>
                  </a:lnTo>
                  <a:lnTo>
                    <a:pt x="3752932" y="57707"/>
                  </a:lnTo>
                  <a:lnTo>
                    <a:pt x="3638876" y="0"/>
                  </a:lnTo>
                  <a:close/>
                </a:path>
                <a:path w="3753485" h="114300">
                  <a:moveTo>
                    <a:pt x="3638713" y="38101"/>
                  </a:moveTo>
                  <a:lnTo>
                    <a:pt x="3638551" y="76201"/>
                  </a:lnTo>
                  <a:lnTo>
                    <a:pt x="3657560" y="76294"/>
                  </a:lnTo>
                  <a:lnTo>
                    <a:pt x="3657804" y="38194"/>
                  </a:lnTo>
                  <a:lnTo>
                    <a:pt x="3638713" y="38101"/>
                  </a:lnTo>
                  <a:close/>
                </a:path>
                <a:path w="3753485" h="114300">
                  <a:moveTo>
                    <a:pt x="164" y="20348"/>
                  </a:moveTo>
                  <a:lnTo>
                    <a:pt x="0" y="58448"/>
                  </a:lnTo>
                  <a:lnTo>
                    <a:pt x="3638551" y="76201"/>
                  </a:lnTo>
                  <a:lnTo>
                    <a:pt x="3638713" y="38101"/>
                  </a:lnTo>
                  <a:lnTo>
                    <a:pt x="164" y="20348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765493" y="1556763"/>
              <a:ext cx="507365" cy="27559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800" b="0" spc="110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50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p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-45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5" dirty="0">
                  <a:solidFill>
                    <a:srgbClr val="6B9E24"/>
                  </a:solidFill>
                  <a:latin typeface="Calibri Light"/>
                  <a:cs typeface="Calibri Light"/>
                </a:rPr>
                <a:t>t</a:t>
              </a:r>
              <a:endParaRPr sz="800">
                <a:latin typeface="Calibri Light"/>
                <a:cs typeface="Calibri Light"/>
              </a:endParaRPr>
            </a:p>
            <a:p>
              <a:pPr marL="12700">
                <a:lnSpc>
                  <a:spcPct val="100000"/>
                </a:lnSpc>
                <a:spcBef>
                  <a:spcPts val="15"/>
                </a:spcBef>
              </a:pPr>
              <a:r>
                <a:rPr sz="800" b="0" spc="25" dirty="0">
                  <a:solidFill>
                    <a:srgbClr val="6B9E24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42299" y="1378645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007739" y="2460247"/>
              <a:ext cx="190500" cy="1905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60061" y="3764275"/>
              <a:ext cx="14160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1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460061" y="1929448"/>
              <a:ext cx="145415" cy="16211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524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5</a:t>
              </a:r>
              <a:endParaRPr sz="1650">
                <a:latin typeface="Cambria Math"/>
                <a:cs typeface="Cambria Math"/>
              </a:endParaRPr>
            </a:p>
            <a:p>
              <a:pPr marL="15240">
                <a:lnSpc>
                  <a:spcPct val="100000"/>
                </a:lnSpc>
                <a:spcBef>
                  <a:spcPts val="155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4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3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2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992624" y="1975469"/>
              <a:ext cx="190493" cy="1905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47750" y="2479928"/>
              <a:ext cx="190500" cy="1905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97960" y="2863595"/>
              <a:ext cx="190500" cy="1905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599758" y="4311653"/>
              <a:ext cx="305498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462915" algn="l"/>
                  <a:tab pos="955675" algn="l"/>
                  <a:tab pos="1447800" algn="l"/>
                  <a:tab pos="1940560" algn="l"/>
                  <a:tab pos="2433320" algn="l"/>
                  <a:tab pos="2925445" algn="l"/>
                </a:tabLst>
              </a:pP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0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1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2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3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4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5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6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2093463" y="1822582"/>
              <a:ext cx="10795" cy="2458085"/>
            </a:xfrm>
            <a:custGeom>
              <a:avLst/>
              <a:gdLst/>
              <a:ahLst/>
              <a:cxnLst/>
              <a:rect l="l" t="t" r="r" b="b"/>
              <a:pathLst>
                <a:path w="10794" h="2458085">
                  <a:moveTo>
                    <a:pt x="10549" y="245752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F07F0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03048" y="2558926"/>
              <a:ext cx="190500" cy="1905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80560" y="3320283"/>
              <a:ext cx="190500" cy="1905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20272" y="2580001"/>
              <a:ext cx="810895" cy="6985"/>
            </a:xfrm>
            <a:custGeom>
              <a:avLst/>
              <a:gdLst/>
              <a:ahLst/>
              <a:cxnLst/>
              <a:rect l="l" t="t" r="r" b="b"/>
              <a:pathLst>
                <a:path w="810894" h="6985">
                  <a:moveTo>
                    <a:pt x="0" y="0"/>
                  </a:moveTo>
                  <a:lnTo>
                    <a:pt x="810707" y="6739"/>
                  </a:lnTo>
                </a:path>
              </a:pathLst>
            </a:custGeom>
            <a:ln w="380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88460" y="2958846"/>
              <a:ext cx="405130" cy="3810"/>
            </a:xfrm>
            <a:custGeom>
              <a:avLst/>
              <a:gdLst/>
              <a:ahLst/>
              <a:cxnLst/>
              <a:rect l="l" t="t" r="r" b="b"/>
              <a:pathLst>
                <a:path w="405130" h="3810">
                  <a:moveTo>
                    <a:pt x="0" y="0"/>
                  </a:moveTo>
                  <a:lnTo>
                    <a:pt x="405002" y="3809"/>
                  </a:lnTo>
                </a:path>
              </a:pathLst>
            </a:custGeom>
            <a:ln w="380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09347" y="3415534"/>
              <a:ext cx="371475" cy="0"/>
            </a:xfrm>
            <a:custGeom>
              <a:avLst/>
              <a:gdLst/>
              <a:ahLst/>
              <a:cxnLst/>
              <a:rect l="l" t="t" r="r" b="b"/>
              <a:pathLst>
                <a:path w="371475">
                  <a:moveTo>
                    <a:pt x="0" y="0"/>
                  </a:moveTo>
                  <a:lnTo>
                    <a:pt x="371212" y="0"/>
                  </a:lnTo>
                </a:path>
              </a:pathLst>
            </a:custGeom>
            <a:ln w="380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05025" y="2070719"/>
              <a:ext cx="887730" cy="6350"/>
            </a:xfrm>
            <a:custGeom>
              <a:avLst/>
              <a:gdLst/>
              <a:ahLst/>
              <a:cxnLst/>
              <a:rect l="l" t="t" r="r" b="b"/>
              <a:pathLst>
                <a:path w="887730" h="6350">
                  <a:moveTo>
                    <a:pt x="0" y="5730"/>
                  </a:moveTo>
                  <a:lnTo>
                    <a:pt x="887598" y="0"/>
                  </a:lnTo>
                </a:path>
              </a:pathLst>
            </a:custGeom>
            <a:ln w="380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460061" y="1352550"/>
            <a:ext cx="3960091" cy="3210503"/>
            <a:chOff x="460061" y="1378645"/>
            <a:chExt cx="3960091" cy="3210503"/>
          </a:xfrm>
        </p:grpSpPr>
        <p:sp>
          <p:nvSpPr>
            <p:cNvPr id="5" name="object 5"/>
            <p:cNvSpPr/>
            <p:nvPr/>
          </p:nvSpPr>
          <p:spPr>
            <a:xfrm>
              <a:off x="628650" y="1658995"/>
              <a:ext cx="114300" cy="2606040"/>
            </a:xfrm>
            <a:custGeom>
              <a:avLst/>
              <a:gdLst/>
              <a:ahLst/>
              <a:cxnLst/>
              <a:rect l="l" t="t" r="r" b="b"/>
              <a:pathLst>
                <a:path w="114300" h="260604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605957"/>
                  </a:lnTo>
                  <a:lnTo>
                    <a:pt x="76200" y="2605957"/>
                  </a:lnTo>
                  <a:lnTo>
                    <a:pt x="76200" y="95250"/>
                  </a:lnTo>
                  <a:close/>
                </a:path>
                <a:path w="114300" h="260604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60604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6667" y="4225564"/>
              <a:ext cx="3753485" cy="114300"/>
            </a:xfrm>
            <a:custGeom>
              <a:avLst/>
              <a:gdLst/>
              <a:ahLst/>
              <a:cxnLst/>
              <a:rect l="l" t="t" r="r" b="b"/>
              <a:pathLst>
                <a:path w="3753485" h="114300">
                  <a:moveTo>
                    <a:pt x="3638876" y="0"/>
                  </a:moveTo>
                  <a:lnTo>
                    <a:pt x="3638713" y="38101"/>
                  </a:lnTo>
                  <a:lnTo>
                    <a:pt x="3657804" y="38194"/>
                  </a:lnTo>
                  <a:lnTo>
                    <a:pt x="3657560" y="76294"/>
                  </a:lnTo>
                  <a:lnTo>
                    <a:pt x="3638550" y="76294"/>
                  </a:lnTo>
                  <a:lnTo>
                    <a:pt x="3638388" y="114300"/>
                  </a:lnTo>
                  <a:lnTo>
                    <a:pt x="3715312" y="76294"/>
                  </a:lnTo>
                  <a:lnTo>
                    <a:pt x="3657560" y="76294"/>
                  </a:lnTo>
                  <a:lnTo>
                    <a:pt x="3715500" y="76201"/>
                  </a:lnTo>
                  <a:lnTo>
                    <a:pt x="3752932" y="57707"/>
                  </a:lnTo>
                  <a:lnTo>
                    <a:pt x="3638876" y="0"/>
                  </a:lnTo>
                  <a:close/>
                </a:path>
                <a:path w="3753485" h="114300">
                  <a:moveTo>
                    <a:pt x="3638713" y="38101"/>
                  </a:moveTo>
                  <a:lnTo>
                    <a:pt x="3638551" y="76201"/>
                  </a:lnTo>
                  <a:lnTo>
                    <a:pt x="3657560" y="76294"/>
                  </a:lnTo>
                  <a:lnTo>
                    <a:pt x="3657804" y="38194"/>
                  </a:lnTo>
                  <a:lnTo>
                    <a:pt x="3638713" y="38101"/>
                  </a:lnTo>
                  <a:close/>
                </a:path>
                <a:path w="3753485" h="114300">
                  <a:moveTo>
                    <a:pt x="164" y="20348"/>
                  </a:moveTo>
                  <a:lnTo>
                    <a:pt x="0" y="58448"/>
                  </a:lnTo>
                  <a:lnTo>
                    <a:pt x="3638551" y="76201"/>
                  </a:lnTo>
                  <a:lnTo>
                    <a:pt x="3638713" y="38101"/>
                  </a:lnTo>
                  <a:lnTo>
                    <a:pt x="164" y="20348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765493" y="1556763"/>
              <a:ext cx="507365" cy="27559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800" b="0" spc="110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50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p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-45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5" dirty="0">
                  <a:solidFill>
                    <a:srgbClr val="6B9E24"/>
                  </a:solidFill>
                  <a:latin typeface="Calibri Light"/>
                  <a:cs typeface="Calibri Light"/>
                </a:rPr>
                <a:t>t</a:t>
              </a:r>
              <a:endParaRPr sz="800">
                <a:latin typeface="Calibri Light"/>
                <a:cs typeface="Calibri Light"/>
              </a:endParaRPr>
            </a:p>
            <a:p>
              <a:pPr marL="12700">
                <a:lnSpc>
                  <a:spcPct val="100000"/>
                </a:lnSpc>
                <a:spcBef>
                  <a:spcPts val="15"/>
                </a:spcBef>
              </a:pPr>
              <a:r>
                <a:rPr sz="800" b="0" spc="25" dirty="0">
                  <a:solidFill>
                    <a:srgbClr val="6B9E24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42299" y="1378645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007739" y="2460247"/>
              <a:ext cx="190500" cy="1905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60061" y="3764275"/>
              <a:ext cx="14160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1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730" y="2636770"/>
              <a:ext cx="2885440" cy="0"/>
            </a:xfrm>
            <a:custGeom>
              <a:avLst/>
              <a:gdLst/>
              <a:ahLst/>
              <a:cxnLst/>
              <a:rect l="l" t="t" r="r" b="b"/>
              <a:pathLst>
                <a:path w="2885440">
                  <a:moveTo>
                    <a:pt x="0" y="0"/>
                  </a:moveTo>
                  <a:lnTo>
                    <a:pt x="2885023" y="0"/>
                  </a:lnTo>
                </a:path>
              </a:pathLst>
            </a:custGeom>
            <a:ln w="38099">
              <a:solidFill>
                <a:srgbClr val="6B9E2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460061" y="1929445"/>
              <a:ext cx="145415" cy="16211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524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5</a:t>
              </a:r>
              <a:endParaRPr sz="1650">
                <a:latin typeface="Cambria Math"/>
                <a:cs typeface="Cambria Math"/>
              </a:endParaRPr>
            </a:p>
            <a:p>
              <a:pPr marL="15240">
                <a:lnSpc>
                  <a:spcPct val="100000"/>
                </a:lnSpc>
                <a:spcBef>
                  <a:spcPts val="155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4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3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2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992624" y="1975469"/>
              <a:ext cx="190493" cy="1905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47750" y="2479928"/>
              <a:ext cx="190500" cy="1905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97960" y="2863595"/>
              <a:ext cx="190500" cy="1905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599758" y="4311653"/>
              <a:ext cx="305498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462915" algn="l"/>
                  <a:tab pos="955675" algn="l"/>
                  <a:tab pos="1447800" algn="l"/>
                  <a:tab pos="1940560" algn="l"/>
                  <a:tab pos="2433320" algn="l"/>
                  <a:tab pos="2925445" algn="l"/>
                </a:tabLst>
              </a:pP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0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1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2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3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4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5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6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003048" y="2558926"/>
              <a:ext cx="190500" cy="1905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80560" y="3320283"/>
              <a:ext cx="190500" cy="1905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Cambria Math"/>
                <a:cs typeface="Cambria Math"/>
              </a:rPr>
              <a:t>𝑥 − 𝑥</a:t>
            </a:r>
            <a:r>
              <a:rPr sz="1650" spc="35" dirty="0">
                <a:latin typeface="Cambria Math"/>
                <a:cs typeface="Cambria Math"/>
              </a:rPr>
              <a:t> </a:t>
            </a:r>
            <a:r>
              <a:rPr sz="1800" spc="44" baseline="27777" dirty="0"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6B9E24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6B9E24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6B9E24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3881696" y="1014984"/>
          <a:ext cx="2618738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43585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0061" y="1929445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Cambria Math"/>
                <a:cs typeface="Cambria Math"/>
              </a:rPr>
              <a:t>𝑥 − 𝑥</a:t>
            </a:r>
            <a:r>
              <a:rPr sz="1650" spc="35" dirty="0">
                <a:latin typeface="Cambria Math"/>
                <a:cs typeface="Cambria Math"/>
              </a:rPr>
              <a:t> </a:t>
            </a:r>
            <a:r>
              <a:rPr sz="1800" spc="44" baseline="27777" dirty="0"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6B9E24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6B9E24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6B9E24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3881696" y="1014984"/>
          <a:ext cx="2618738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43585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2475" baseline="1683" dirty="0">
                          <a:solidFill>
                            <a:srgbClr val="6B9E24"/>
                          </a:solidFill>
                          <a:latin typeface="Cambria Math"/>
                          <a:cs typeface="Cambria Math"/>
                        </a:rPr>
                        <a:t>4</a:t>
                      </a:r>
                      <a:r>
                        <a:rPr sz="2475" spc="-352" baseline="1683" dirty="0">
                          <a:solidFill>
                            <a:srgbClr val="6B9E24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spc="7" baseline="50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3.6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061" y="327285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Cambria Math"/>
                <a:cs typeface="Cambria Math"/>
              </a:rPr>
              <a:t>𝑥 − 𝑥</a:t>
            </a:r>
            <a:r>
              <a:rPr sz="1650" spc="35" dirty="0">
                <a:latin typeface="Cambria Math"/>
                <a:cs typeface="Cambria Math"/>
              </a:rPr>
              <a:t> </a:t>
            </a:r>
            <a:r>
              <a:rPr sz="1800" spc="44" baseline="27777" dirty="0"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6B9E24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6B9E24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6B9E24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10358" y="2817112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919" dirty="0">
                <a:latin typeface="Cambria Math"/>
                <a:cs typeface="Cambria Math"/>
              </a:rPr>
              <a:t>3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-340" dirty="0">
                <a:latin typeface="Cambria Math"/>
                <a:cs typeface="Cambria Math"/>
              </a:rPr>
              <a:t>.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spc="-915" dirty="0">
                <a:latin typeface="Cambria Math"/>
                <a:cs typeface="Cambria Math"/>
              </a:rPr>
              <a:t>6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0061" y="1929445"/>
            <a:ext cx="14541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3881696" y="1014984"/>
          <a:ext cx="2618738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43585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 algn="ctr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-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-525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100" spc="-787" baseline="3968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100" spc="120" baseline="3968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 algn="ctr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object 31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Cambria Math"/>
                <a:cs typeface="Cambria Math"/>
              </a:rPr>
              <a:t>𝑥 − 𝑥</a:t>
            </a:r>
            <a:r>
              <a:rPr sz="1650" spc="35" dirty="0">
                <a:latin typeface="Cambria Math"/>
                <a:cs typeface="Cambria Math"/>
              </a:rPr>
              <a:t> </a:t>
            </a:r>
            <a:r>
              <a:rPr sz="1800" spc="44" baseline="27777" dirty="0"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6B9E24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6B9E24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6B9E24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3881696" y="1014984"/>
          <a:ext cx="2618738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43585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975"/>
                        </a:lnSpc>
                        <a:spcBef>
                          <a:spcPts val="25"/>
                        </a:spcBef>
                      </a:pPr>
                      <a:r>
                        <a:rPr sz="1650" dirty="0">
                          <a:solidFill>
                            <a:srgbClr val="6B9E24"/>
                          </a:solidFill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-105" dirty="0">
                          <a:solidFill>
                            <a:srgbClr val="6B9E24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spc="30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20" dirty="0">
                          <a:latin typeface="Cambria Math"/>
                          <a:cs typeface="Cambria Math"/>
                        </a:rPr>
                        <a:t>3.6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33" name="Group 32"/>
          <p:cNvGrpSpPr/>
          <p:nvPr/>
        </p:nvGrpSpPr>
        <p:grpSpPr>
          <a:xfrm>
            <a:off x="460061" y="1378645"/>
            <a:ext cx="5046917" cy="3210503"/>
            <a:chOff x="460061" y="1378645"/>
            <a:chExt cx="5046917" cy="3210503"/>
          </a:xfrm>
        </p:grpSpPr>
        <p:sp>
          <p:nvSpPr>
            <p:cNvPr id="5" name="object 5"/>
            <p:cNvSpPr/>
            <p:nvPr/>
          </p:nvSpPr>
          <p:spPr>
            <a:xfrm>
              <a:off x="628650" y="1658995"/>
              <a:ext cx="114300" cy="2606040"/>
            </a:xfrm>
            <a:custGeom>
              <a:avLst/>
              <a:gdLst/>
              <a:ahLst/>
              <a:cxnLst/>
              <a:rect l="l" t="t" r="r" b="b"/>
              <a:pathLst>
                <a:path w="114300" h="260604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605957"/>
                  </a:lnTo>
                  <a:lnTo>
                    <a:pt x="76200" y="2605957"/>
                  </a:lnTo>
                  <a:lnTo>
                    <a:pt x="76200" y="95250"/>
                  </a:lnTo>
                  <a:close/>
                </a:path>
                <a:path w="114300" h="260604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60604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6667" y="4225564"/>
              <a:ext cx="3753485" cy="114300"/>
            </a:xfrm>
            <a:custGeom>
              <a:avLst/>
              <a:gdLst/>
              <a:ahLst/>
              <a:cxnLst/>
              <a:rect l="l" t="t" r="r" b="b"/>
              <a:pathLst>
                <a:path w="3753485" h="114300">
                  <a:moveTo>
                    <a:pt x="3638876" y="0"/>
                  </a:moveTo>
                  <a:lnTo>
                    <a:pt x="3638713" y="38101"/>
                  </a:lnTo>
                  <a:lnTo>
                    <a:pt x="3657804" y="38194"/>
                  </a:lnTo>
                  <a:lnTo>
                    <a:pt x="3657560" y="76294"/>
                  </a:lnTo>
                  <a:lnTo>
                    <a:pt x="3638550" y="76294"/>
                  </a:lnTo>
                  <a:lnTo>
                    <a:pt x="3638388" y="114300"/>
                  </a:lnTo>
                  <a:lnTo>
                    <a:pt x="3715312" y="76294"/>
                  </a:lnTo>
                  <a:lnTo>
                    <a:pt x="3657560" y="76294"/>
                  </a:lnTo>
                  <a:lnTo>
                    <a:pt x="3715500" y="76201"/>
                  </a:lnTo>
                  <a:lnTo>
                    <a:pt x="3752932" y="57707"/>
                  </a:lnTo>
                  <a:lnTo>
                    <a:pt x="3638876" y="0"/>
                  </a:lnTo>
                  <a:close/>
                </a:path>
                <a:path w="3753485" h="114300">
                  <a:moveTo>
                    <a:pt x="3638713" y="38101"/>
                  </a:moveTo>
                  <a:lnTo>
                    <a:pt x="3638551" y="76201"/>
                  </a:lnTo>
                  <a:lnTo>
                    <a:pt x="3657560" y="76294"/>
                  </a:lnTo>
                  <a:lnTo>
                    <a:pt x="3657804" y="38194"/>
                  </a:lnTo>
                  <a:lnTo>
                    <a:pt x="3638713" y="38101"/>
                  </a:lnTo>
                  <a:close/>
                </a:path>
                <a:path w="3753485" h="114300">
                  <a:moveTo>
                    <a:pt x="164" y="20348"/>
                  </a:moveTo>
                  <a:lnTo>
                    <a:pt x="0" y="58448"/>
                  </a:lnTo>
                  <a:lnTo>
                    <a:pt x="3638551" y="76201"/>
                  </a:lnTo>
                  <a:lnTo>
                    <a:pt x="3638713" y="38101"/>
                  </a:lnTo>
                  <a:lnTo>
                    <a:pt x="164" y="20348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765493" y="1556763"/>
              <a:ext cx="507365" cy="27559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800" b="0" spc="110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50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p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-45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5" dirty="0">
                  <a:solidFill>
                    <a:srgbClr val="6B9E24"/>
                  </a:solidFill>
                  <a:latin typeface="Calibri Light"/>
                  <a:cs typeface="Calibri Light"/>
                </a:rPr>
                <a:t>t</a:t>
              </a:r>
              <a:endParaRPr sz="800">
                <a:latin typeface="Calibri Light"/>
                <a:cs typeface="Calibri Light"/>
              </a:endParaRPr>
            </a:p>
            <a:p>
              <a:pPr marL="12700">
                <a:lnSpc>
                  <a:spcPct val="100000"/>
                </a:lnSpc>
                <a:spcBef>
                  <a:spcPts val="15"/>
                </a:spcBef>
              </a:pPr>
              <a:r>
                <a:rPr sz="800" b="0" spc="25" dirty="0">
                  <a:solidFill>
                    <a:srgbClr val="6B9E24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4541269" y="4218939"/>
              <a:ext cx="948690" cy="34417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ts val="158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  <a:p>
              <a:pPr marL="36830">
                <a:lnSpc>
                  <a:spcPts val="919"/>
                </a:lnSpc>
              </a:pPr>
              <a:r>
                <a:rPr sz="800" b="0" spc="10" dirty="0">
                  <a:solidFill>
                    <a:srgbClr val="F07F09"/>
                  </a:solidFill>
                  <a:latin typeface="Calibri Light"/>
                  <a:cs typeface="Calibri Light"/>
                </a:rPr>
                <a:t>Independent</a:t>
              </a:r>
              <a:r>
                <a:rPr sz="800" b="0" spc="-105" dirty="0">
                  <a:solidFill>
                    <a:srgbClr val="F07F09"/>
                  </a:solidFill>
                  <a:latin typeface="Calibri Light"/>
                  <a:cs typeface="Calibri Light"/>
                </a:rPr>
                <a:t> </a:t>
              </a:r>
              <a:r>
                <a:rPr sz="800" b="0" dirty="0">
                  <a:solidFill>
                    <a:srgbClr val="F07F09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42299" y="1378645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007739" y="2460247"/>
              <a:ext cx="190500" cy="1905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60061" y="3764275"/>
              <a:ext cx="14160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1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4730" y="2636770"/>
              <a:ext cx="2885440" cy="0"/>
            </a:xfrm>
            <a:custGeom>
              <a:avLst/>
              <a:gdLst/>
              <a:ahLst/>
              <a:cxnLst/>
              <a:rect l="l" t="t" r="r" b="b"/>
              <a:pathLst>
                <a:path w="2885440">
                  <a:moveTo>
                    <a:pt x="0" y="0"/>
                  </a:moveTo>
                  <a:lnTo>
                    <a:pt x="2885023" y="0"/>
                  </a:lnTo>
                </a:path>
              </a:pathLst>
            </a:custGeom>
            <a:ln w="38099">
              <a:solidFill>
                <a:srgbClr val="6B9E2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460061" y="1929445"/>
              <a:ext cx="145415" cy="16211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524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5</a:t>
              </a:r>
              <a:endParaRPr sz="1650">
                <a:latin typeface="Cambria Math"/>
                <a:cs typeface="Cambria Math"/>
              </a:endParaRPr>
            </a:p>
            <a:p>
              <a:pPr marL="15240">
                <a:lnSpc>
                  <a:spcPct val="100000"/>
                </a:lnSpc>
                <a:spcBef>
                  <a:spcPts val="155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4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3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2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992624" y="1975469"/>
              <a:ext cx="190493" cy="1905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47750" y="2479928"/>
              <a:ext cx="190500" cy="1905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599758" y="4311653"/>
              <a:ext cx="305498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462915" algn="l"/>
                  <a:tab pos="955675" algn="l"/>
                  <a:tab pos="1447800" algn="l"/>
                  <a:tab pos="1940560" algn="l"/>
                  <a:tab pos="2433320" algn="l"/>
                  <a:tab pos="2925445" algn="l"/>
                </a:tabLst>
              </a:pP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0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1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2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3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4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5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6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2003048" y="2558926"/>
              <a:ext cx="190500" cy="1905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80560" y="3320283"/>
              <a:ext cx="190500" cy="1905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5105658" y="3492435"/>
              <a:ext cx="401320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F07F09"/>
                  </a:solidFill>
                  <a:latin typeface="Cambria Math"/>
                  <a:cs typeface="Cambria Math"/>
                </a:rPr>
                <a:t>m</a:t>
              </a:r>
              <a:r>
                <a:rPr sz="1650" spc="-90" dirty="0">
                  <a:solidFill>
                    <a:srgbClr val="F07F09"/>
                  </a:solidFill>
                  <a:latin typeface="Cambria Math"/>
                  <a:cs typeface="Cambria Math"/>
                </a:rPr>
                <a:t> </a:t>
              </a:r>
              <a:r>
                <a:rPr sz="1650" dirty="0">
                  <a:solidFill>
                    <a:srgbClr val="F07F09"/>
                  </a:solidFill>
                  <a:latin typeface="Cambria Math"/>
                  <a:cs typeface="Cambria Math"/>
                </a:rPr>
                <a:t>=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591305" y="2618232"/>
              <a:ext cx="0" cy="285750"/>
            </a:xfrm>
            <a:custGeom>
              <a:avLst/>
              <a:gdLst/>
              <a:ahLst/>
              <a:cxnLst/>
              <a:rect l="l" t="t" r="r" b="b"/>
              <a:pathLst>
                <a:path h="285750">
                  <a:moveTo>
                    <a:pt x="0" y="285237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97960" y="2863595"/>
              <a:ext cx="190500" cy="1905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0061" y="1929445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Cambria Math"/>
                <a:cs typeface="Cambria Math"/>
              </a:rPr>
              <a:t>𝑥 − 𝑥</a:t>
            </a:r>
            <a:r>
              <a:rPr sz="1650" spc="35" dirty="0">
                <a:latin typeface="Cambria Math"/>
                <a:cs typeface="Cambria Math"/>
              </a:rPr>
              <a:t> </a:t>
            </a:r>
            <a:r>
              <a:rPr sz="1800" spc="44" baseline="27777" dirty="0"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6B9E24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6B9E24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6B9E24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91305" y="2618232"/>
            <a:ext cx="0" cy="285750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285237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585466" y="2636770"/>
            <a:ext cx="0" cy="678180"/>
          </a:xfrm>
          <a:custGeom>
            <a:avLst/>
            <a:gdLst/>
            <a:ahLst/>
            <a:cxnLst/>
            <a:rect l="l" t="t" r="r" b="b"/>
            <a:pathLst>
              <a:path h="678179">
                <a:moveTo>
                  <a:pt x="0" y="677680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3881696" y="1014984"/>
          <a:ext cx="2618738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43585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905"/>
                        </a:lnSpc>
                      </a:pPr>
                      <a:r>
                        <a:rPr sz="2475" spc="22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337" baseline="1683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6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/>
          <p:cNvSpPr/>
          <p:nvPr/>
        </p:nvSpPr>
        <p:spPr>
          <a:xfrm>
            <a:off x="3087867" y="2156210"/>
            <a:ext cx="0" cy="450850"/>
          </a:xfrm>
          <a:custGeom>
            <a:avLst/>
            <a:gdLst/>
            <a:ahLst/>
            <a:cxnLst/>
            <a:rect l="l" t="t" r="r" b="b"/>
            <a:pathLst>
              <a:path h="450850">
                <a:moveTo>
                  <a:pt x="0" y="450841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0061" y="1929445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𝑥 − 𝑥</a:t>
            </a:r>
            <a:r>
              <a:rPr sz="1650" spc="35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1800" spc="44" baseline="27777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6B9E24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6B9E24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6B9E24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91305" y="2618232"/>
            <a:ext cx="0" cy="285750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285237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585466" y="2636770"/>
            <a:ext cx="0" cy="678180"/>
          </a:xfrm>
          <a:custGeom>
            <a:avLst/>
            <a:gdLst/>
            <a:ahLst/>
            <a:cxnLst/>
            <a:rect l="l" t="t" r="r" b="b"/>
            <a:pathLst>
              <a:path h="678179">
                <a:moveTo>
                  <a:pt x="0" y="677680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87867" y="2156210"/>
            <a:ext cx="0" cy="450850"/>
          </a:xfrm>
          <a:custGeom>
            <a:avLst/>
            <a:gdLst/>
            <a:ahLst/>
            <a:cxnLst/>
            <a:rect l="l" t="t" r="r" b="b"/>
            <a:pathLst>
              <a:path h="450850">
                <a:moveTo>
                  <a:pt x="0" y="450841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592306" y="1083563"/>
            <a:ext cx="631825" cy="194310"/>
          </a:xfrm>
          <a:custGeom>
            <a:avLst/>
            <a:gdLst/>
            <a:ahLst/>
            <a:cxnLst/>
            <a:rect l="l" t="t" r="r" b="b"/>
            <a:pathLst>
              <a:path w="631825" h="194309">
                <a:moveTo>
                  <a:pt x="569214" y="0"/>
                </a:moveTo>
                <a:lnTo>
                  <a:pt x="566562" y="7863"/>
                </a:lnTo>
                <a:lnTo>
                  <a:pt x="577775" y="12724"/>
                </a:lnTo>
                <a:lnTo>
                  <a:pt x="587414" y="19480"/>
                </a:lnTo>
                <a:lnTo>
                  <a:pt x="610628" y="64427"/>
                </a:lnTo>
                <a:lnTo>
                  <a:pt x="613562" y="96133"/>
                </a:lnTo>
                <a:lnTo>
                  <a:pt x="612824" y="113247"/>
                </a:lnTo>
                <a:lnTo>
                  <a:pt x="601980" y="155051"/>
                </a:lnTo>
                <a:lnTo>
                  <a:pt x="566806" y="186171"/>
                </a:lnTo>
                <a:lnTo>
                  <a:pt x="569214" y="194066"/>
                </a:lnTo>
                <a:lnTo>
                  <a:pt x="606345" y="172051"/>
                </a:lnTo>
                <a:lnTo>
                  <a:pt x="627209" y="131406"/>
                </a:lnTo>
                <a:lnTo>
                  <a:pt x="631210" y="97139"/>
                </a:lnTo>
                <a:lnTo>
                  <a:pt x="630210" y="79334"/>
                </a:lnTo>
                <a:lnTo>
                  <a:pt x="615208" y="34046"/>
                </a:lnTo>
                <a:lnTo>
                  <a:pt x="583322" y="5071"/>
                </a:lnTo>
                <a:lnTo>
                  <a:pt x="569214" y="0"/>
                </a:lnTo>
                <a:close/>
              </a:path>
              <a:path w="631825" h="194309">
                <a:moveTo>
                  <a:pt x="61996" y="0"/>
                </a:moveTo>
                <a:lnTo>
                  <a:pt x="24885" y="22117"/>
                </a:lnTo>
                <a:lnTo>
                  <a:pt x="4000" y="62872"/>
                </a:lnTo>
                <a:lnTo>
                  <a:pt x="0" y="97139"/>
                </a:lnTo>
                <a:lnTo>
                  <a:pt x="1000" y="114956"/>
                </a:lnTo>
                <a:lnTo>
                  <a:pt x="16002" y="160141"/>
                </a:lnTo>
                <a:lnTo>
                  <a:pt x="47835" y="189014"/>
                </a:lnTo>
                <a:lnTo>
                  <a:pt x="61996" y="194066"/>
                </a:lnTo>
                <a:lnTo>
                  <a:pt x="64404" y="186171"/>
                </a:lnTo>
                <a:lnTo>
                  <a:pt x="53349" y="181292"/>
                </a:lnTo>
                <a:lnTo>
                  <a:pt x="43811" y="174475"/>
                </a:lnTo>
                <a:lnTo>
                  <a:pt x="20657" y="128781"/>
                </a:lnTo>
                <a:lnTo>
                  <a:pt x="17800" y="96133"/>
                </a:lnTo>
                <a:lnTo>
                  <a:pt x="18514" y="79543"/>
                </a:lnTo>
                <a:lnTo>
                  <a:pt x="29230" y="38618"/>
                </a:lnTo>
                <a:lnTo>
                  <a:pt x="64648" y="7863"/>
                </a:lnTo>
                <a:lnTo>
                  <a:pt x="61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3881696" y="1010662"/>
          <a:ext cx="3455669" cy="1699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1340"/>
                <a:gridCol w="744219"/>
                <a:gridCol w="748030"/>
                <a:gridCol w="838200"/>
              </a:tblGrid>
              <a:tr h="275014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6B9E24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6B9E24"/>
                      </a:solidFill>
                      <a:prstDash val="solid"/>
                    </a:lnL>
                    <a:lnR w="53975">
                      <a:solidFill>
                        <a:srgbClr val="6B9E24"/>
                      </a:solidFill>
                      <a:prstDash val="solid"/>
                    </a:lnR>
                    <a:lnT w="38100">
                      <a:solidFill>
                        <a:srgbClr val="6B9E2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ts val="1970"/>
                        </a:lnSpc>
                        <a:spcBef>
                          <a:spcPts val="9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065" marB="0">
                    <a:lnL w="53975">
                      <a:solidFill>
                        <a:srgbClr val="6B9E24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 𝑥</a:t>
                      </a:r>
                      <a:r>
                        <a:rPr sz="1650" spc="4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7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38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6B9E24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6B9E24"/>
                      </a:solidFill>
                      <a:prstDash val="solid"/>
                    </a:lnL>
                    <a:lnR w="53975">
                      <a:solidFill>
                        <a:srgbClr val="6B9E24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53975">
                      <a:solidFill>
                        <a:srgbClr val="6B9E24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88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6B9E24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53975">
                      <a:solidFill>
                        <a:srgbClr val="6B9E24"/>
                      </a:solidFill>
                      <a:prstDash val="solid"/>
                    </a:lnL>
                    <a:lnR w="53975">
                      <a:solidFill>
                        <a:srgbClr val="6B9E24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905"/>
                        </a:lnSpc>
                      </a:pPr>
                      <a:r>
                        <a:rPr sz="2475" spc="22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6B9E24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8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6B9E24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53975">
                      <a:solidFill>
                        <a:srgbClr val="6B9E24"/>
                      </a:solidFill>
                      <a:prstDash val="solid"/>
                    </a:lnL>
                    <a:lnR w="53975">
                      <a:solidFill>
                        <a:srgbClr val="6B9E24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53975">
                      <a:solidFill>
                        <a:srgbClr val="6B9E24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935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6B9E24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6B9E24"/>
                      </a:solidFill>
                      <a:prstDash val="solid"/>
                    </a:lnL>
                    <a:lnR w="53975">
                      <a:solidFill>
                        <a:srgbClr val="6B9E24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337" baseline="1683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685" marB="0">
                    <a:lnL w="53975">
                      <a:solidFill>
                        <a:srgbClr val="6B9E24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6348">
                <a:tc>
                  <a:txBody>
                    <a:bodyPr/>
                    <a:lstStyle/>
                    <a:p>
                      <a:pPr marL="226695">
                        <a:lnSpc>
                          <a:spcPts val="1805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14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6B9E24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53975">
                      <a:solidFill>
                        <a:srgbClr val="6B9E24"/>
                      </a:solidFill>
                      <a:prstDash val="solid"/>
                    </a:lnL>
                    <a:lnR w="53975">
                      <a:solidFill>
                        <a:srgbClr val="6B9E24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6B9E2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749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53975">
                      <a:solidFill>
                        <a:srgbClr val="6B9E24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0061" y="1929445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𝑥 − 𝑥</a:t>
            </a:r>
            <a:r>
              <a:rPr sz="1650" spc="35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1800" spc="44" baseline="27777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F07F09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F07F09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F07F09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91305" y="2618232"/>
            <a:ext cx="0" cy="285750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285237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585466" y="2636770"/>
            <a:ext cx="0" cy="678180"/>
          </a:xfrm>
          <a:custGeom>
            <a:avLst/>
            <a:gdLst/>
            <a:ahLst/>
            <a:cxnLst/>
            <a:rect l="l" t="t" r="r" b="b"/>
            <a:pathLst>
              <a:path h="678179">
                <a:moveTo>
                  <a:pt x="0" y="677680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87867" y="2156210"/>
            <a:ext cx="0" cy="450850"/>
          </a:xfrm>
          <a:custGeom>
            <a:avLst/>
            <a:gdLst/>
            <a:ahLst/>
            <a:cxnLst/>
            <a:rect l="l" t="t" r="r" b="b"/>
            <a:pathLst>
              <a:path h="450850">
                <a:moveTo>
                  <a:pt x="0" y="450841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592306" y="1083563"/>
            <a:ext cx="631825" cy="194310"/>
          </a:xfrm>
          <a:custGeom>
            <a:avLst/>
            <a:gdLst/>
            <a:ahLst/>
            <a:cxnLst/>
            <a:rect l="l" t="t" r="r" b="b"/>
            <a:pathLst>
              <a:path w="631825" h="194309">
                <a:moveTo>
                  <a:pt x="569214" y="0"/>
                </a:moveTo>
                <a:lnTo>
                  <a:pt x="566562" y="7863"/>
                </a:lnTo>
                <a:lnTo>
                  <a:pt x="577775" y="12724"/>
                </a:lnTo>
                <a:lnTo>
                  <a:pt x="587414" y="19480"/>
                </a:lnTo>
                <a:lnTo>
                  <a:pt x="610628" y="64427"/>
                </a:lnTo>
                <a:lnTo>
                  <a:pt x="613562" y="96133"/>
                </a:lnTo>
                <a:lnTo>
                  <a:pt x="612824" y="113247"/>
                </a:lnTo>
                <a:lnTo>
                  <a:pt x="601980" y="155051"/>
                </a:lnTo>
                <a:lnTo>
                  <a:pt x="566806" y="186171"/>
                </a:lnTo>
                <a:lnTo>
                  <a:pt x="569214" y="194066"/>
                </a:lnTo>
                <a:lnTo>
                  <a:pt x="606345" y="172051"/>
                </a:lnTo>
                <a:lnTo>
                  <a:pt x="627209" y="131406"/>
                </a:lnTo>
                <a:lnTo>
                  <a:pt x="631210" y="97139"/>
                </a:lnTo>
                <a:lnTo>
                  <a:pt x="630210" y="79334"/>
                </a:lnTo>
                <a:lnTo>
                  <a:pt x="615208" y="34046"/>
                </a:lnTo>
                <a:lnTo>
                  <a:pt x="583322" y="5071"/>
                </a:lnTo>
                <a:lnTo>
                  <a:pt x="569214" y="0"/>
                </a:lnTo>
                <a:close/>
              </a:path>
              <a:path w="631825" h="194309">
                <a:moveTo>
                  <a:pt x="61996" y="0"/>
                </a:moveTo>
                <a:lnTo>
                  <a:pt x="24885" y="22117"/>
                </a:lnTo>
                <a:lnTo>
                  <a:pt x="4000" y="62872"/>
                </a:lnTo>
                <a:lnTo>
                  <a:pt x="0" y="97139"/>
                </a:lnTo>
                <a:lnTo>
                  <a:pt x="1000" y="114956"/>
                </a:lnTo>
                <a:lnTo>
                  <a:pt x="16002" y="160141"/>
                </a:lnTo>
                <a:lnTo>
                  <a:pt x="47835" y="189014"/>
                </a:lnTo>
                <a:lnTo>
                  <a:pt x="61996" y="194066"/>
                </a:lnTo>
                <a:lnTo>
                  <a:pt x="64404" y="186171"/>
                </a:lnTo>
                <a:lnTo>
                  <a:pt x="53349" y="181292"/>
                </a:lnTo>
                <a:lnTo>
                  <a:pt x="43811" y="174475"/>
                </a:lnTo>
                <a:lnTo>
                  <a:pt x="20657" y="128781"/>
                </a:lnTo>
                <a:lnTo>
                  <a:pt x="17800" y="96133"/>
                </a:lnTo>
                <a:lnTo>
                  <a:pt x="18514" y="79543"/>
                </a:lnTo>
                <a:lnTo>
                  <a:pt x="29230" y="38618"/>
                </a:lnTo>
                <a:lnTo>
                  <a:pt x="64648" y="7863"/>
                </a:lnTo>
                <a:lnTo>
                  <a:pt x="61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3881696" y="1010662"/>
          <a:ext cx="4818377" cy="1699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1340"/>
                <a:gridCol w="744219"/>
                <a:gridCol w="744219"/>
                <a:gridCol w="842009"/>
                <a:gridCol w="1362710"/>
              </a:tblGrid>
              <a:tr h="275014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38100">
                      <a:solidFill>
                        <a:srgbClr val="F07F09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ts val="1970"/>
                        </a:lnSpc>
                        <a:spcBef>
                          <a:spcPts val="9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06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38100">
                      <a:solidFill>
                        <a:srgbClr val="F07F09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 𝑥</a:t>
                      </a:r>
                      <a:r>
                        <a:rPr sz="1650" spc="4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7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381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835"/>
                        </a:lnSpc>
                      </a:pPr>
                      <a:r>
                        <a:rPr sz="1650" spc="-10" dirty="0">
                          <a:latin typeface="Cambria Math"/>
                          <a:cs typeface="Cambria Math"/>
                        </a:rPr>
                        <a:t>(𝑥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650" spc="-5" dirty="0">
                          <a:latin typeface="Cambria Math"/>
                          <a:cs typeface="Cambria Math"/>
                        </a:rPr>
                        <a:t>𝑥)(𝑦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25" dirty="0">
                          <a:latin typeface="Cambria Math"/>
                          <a:cs typeface="Cambria Math"/>
                        </a:rPr>
                        <a:t>𝑦)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ts val="188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algn="ctr">
                        <a:lnSpc>
                          <a:spcPts val="1945"/>
                        </a:lnSpc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-2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x</a:t>
                      </a:r>
                      <a:r>
                        <a:rPr sz="1650" spc="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905"/>
                        </a:lnSpc>
                      </a:pPr>
                      <a:r>
                        <a:rPr sz="2475" spc="22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ts val="18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ts val="1935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337" baseline="1683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68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6348">
                <a:tc>
                  <a:txBody>
                    <a:bodyPr/>
                    <a:lstStyle/>
                    <a:p>
                      <a:pPr marL="226695">
                        <a:lnSpc>
                          <a:spcPts val="1805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14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07F0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749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07F0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0061" y="1929445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𝑥 − 𝑥</a:t>
            </a:r>
            <a:r>
              <a:rPr sz="1650" spc="35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1800" spc="44" baseline="27777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F07F09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F07F09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F07F09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91305" y="2618232"/>
            <a:ext cx="0" cy="285750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285237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585466" y="2636770"/>
            <a:ext cx="0" cy="678180"/>
          </a:xfrm>
          <a:custGeom>
            <a:avLst/>
            <a:gdLst/>
            <a:ahLst/>
            <a:cxnLst/>
            <a:rect l="l" t="t" r="r" b="b"/>
            <a:pathLst>
              <a:path h="678179">
                <a:moveTo>
                  <a:pt x="0" y="677680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87867" y="2156210"/>
            <a:ext cx="0" cy="450850"/>
          </a:xfrm>
          <a:custGeom>
            <a:avLst/>
            <a:gdLst/>
            <a:ahLst/>
            <a:cxnLst/>
            <a:rect l="l" t="t" r="r" b="b"/>
            <a:pathLst>
              <a:path h="450850">
                <a:moveTo>
                  <a:pt x="0" y="450841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592306" y="1083563"/>
            <a:ext cx="631825" cy="194310"/>
          </a:xfrm>
          <a:custGeom>
            <a:avLst/>
            <a:gdLst/>
            <a:ahLst/>
            <a:cxnLst/>
            <a:rect l="l" t="t" r="r" b="b"/>
            <a:pathLst>
              <a:path w="631825" h="194309">
                <a:moveTo>
                  <a:pt x="569214" y="0"/>
                </a:moveTo>
                <a:lnTo>
                  <a:pt x="566562" y="7863"/>
                </a:lnTo>
                <a:lnTo>
                  <a:pt x="577775" y="12724"/>
                </a:lnTo>
                <a:lnTo>
                  <a:pt x="587414" y="19480"/>
                </a:lnTo>
                <a:lnTo>
                  <a:pt x="610628" y="64427"/>
                </a:lnTo>
                <a:lnTo>
                  <a:pt x="613562" y="96133"/>
                </a:lnTo>
                <a:lnTo>
                  <a:pt x="612824" y="113247"/>
                </a:lnTo>
                <a:lnTo>
                  <a:pt x="601980" y="155051"/>
                </a:lnTo>
                <a:lnTo>
                  <a:pt x="566806" y="186171"/>
                </a:lnTo>
                <a:lnTo>
                  <a:pt x="569214" y="194066"/>
                </a:lnTo>
                <a:lnTo>
                  <a:pt x="606345" y="172051"/>
                </a:lnTo>
                <a:lnTo>
                  <a:pt x="627209" y="131406"/>
                </a:lnTo>
                <a:lnTo>
                  <a:pt x="631210" y="97139"/>
                </a:lnTo>
                <a:lnTo>
                  <a:pt x="630210" y="79334"/>
                </a:lnTo>
                <a:lnTo>
                  <a:pt x="615208" y="34046"/>
                </a:lnTo>
                <a:lnTo>
                  <a:pt x="583322" y="5071"/>
                </a:lnTo>
                <a:lnTo>
                  <a:pt x="569214" y="0"/>
                </a:lnTo>
                <a:close/>
              </a:path>
              <a:path w="631825" h="194309">
                <a:moveTo>
                  <a:pt x="61996" y="0"/>
                </a:moveTo>
                <a:lnTo>
                  <a:pt x="24885" y="22117"/>
                </a:lnTo>
                <a:lnTo>
                  <a:pt x="4000" y="62872"/>
                </a:lnTo>
                <a:lnTo>
                  <a:pt x="0" y="97139"/>
                </a:lnTo>
                <a:lnTo>
                  <a:pt x="1000" y="114956"/>
                </a:lnTo>
                <a:lnTo>
                  <a:pt x="16002" y="160141"/>
                </a:lnTo>
                <a:lnTo>
                  <a:pt x="47835" y="189014"/>
                </a:lnTo>
                <a:lnTo>
                  <a:pt x="61996" y="194066"/>
                </a:lnTo>
                <a:lnTo>
                  <a:pt x="64404" y="186171"/>
                </a:lnTo>
                <a:lnTo>
                  <a:pt x="53349" y="181292"/>
                </a:lnTo>
                <a:lnTo>
                  <a:pt x="43811" y="174475"/>
                </a:lnTo>
                <a:lnTo>
                  <a:pt x="20657" y="128781"/>
                </a:lnTo>
                <a:lnTo>
                  <a:pt x="17800" y="96133"/>
                </a:lnTo>
                <a:lnTo>
                  <a:pt x="18514" y="79543"/>
                </a:lnTo>
                <a:lnTo>
                  <a:pt x="29230" y="38618"/>
                </a:lnTo>
                <a:lnTo>
                  <a:pt x="64648" y="7863"/>
                </a:lnTo>
                <a:lnTo>
                  <a:pt x="61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3881696" y="1010662"/>
          <a:ext cx="4818377" cy="1699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1340"/>
                <a:gridCol w="744219"/>
                <a:gridCol w="744219"/>
                <a:gridCol w="842009"/>
                <a:gridCol w="1362710"/>
              </a:tblGrid>
              <a:tr h="275014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38100">
                      <a:solidFill>
                        <a:srgbClr val="F07F09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ts val="1970"/>
                        </a:lnSpc>
                        <a:spcBef>
                          <a:spcPts val="9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06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38100">
                      <a:solidFill>
                        <a:srgbClr val="F07F09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 𝑥</a:t>
                      </a:r>
                      <a:r>
                        <a:rPr sz="1650" spc="4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7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381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ts val="1835"/>
                        </a:lnSpc>
                      </a:pPr>
                      <a:r>
                        <a:rPr sz="1650" spc="-10" dirty="0">
                          <a:latin typeface="Cambria Math"/>
                          <a:cs typeface="Cambria Math"/>
                        </a:rPr>
                        <a:t>(𝑥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650" spc="-5" dirty="0">
                          <a:latin typeface="Cambria Math"/>
                          <a:cs typeface="Cambria Math"/>
                        </a:rPr>
                        <a:t>𝑥)(𝑦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7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25" dirty="0">
                          <a:latin typeface="Cambria Math"/>
                          <a:cs typeface="Cambria Math"/>
                        </a:rPr>
                        <a:t>𝑦)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ts val="188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ts val="1964"/>
                        </a:lnSpc>
                        <a:spcBef>
                          <a:spcPts val="3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905"/>
                        </a:lnSpc>
                      </a:pPr>
                      <a:r>
                        <a:rPr sz="2475" spc="22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ts val="18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ts val="1905"/>
                        </a:lnSpc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ts val="1935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ts val="1925"/>
                        </a:lnSpc>
                        <a:spcBef>
                          <a:spcPts val="1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7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337" baseline="1683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68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6348">
                <a:tc>
                  <a:txBody>
                    <a:bodyPr/>
                    <a:lstStyle/>
                    <a:p>
                      <a:pPr marL="226695">
                        <a:lnSpc>
                          <a:spcPts val="1805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14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07F0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749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07F0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2.8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11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0061" y="1929445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𝑥 − 𝑥</a:t>
            </a:r>
            <a:r>
              <a:rPr sz="1650" spc="35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1800" spc="44" baseline="27777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AFF0"/>
                </a:solidFill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F07F09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F07F09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F07F09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solidFill>
                  <a:srgbClr val="00AFF0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91305" y="2618232"/>
            <a:ext cx="0" cy="285750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285237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585466" y="2636770"/>
            <a:ext cx="0" cy="678180"/>
          </a:xfrm>
          <a:custGeom>
            <a:avLst/>
            <a:gdLst/>
            <a:ahLst/>
            <a:cxnLst/>
            <a:rect l="l" t="t" r="r" b="b"/>
            <a:pathLst>
              <a:path h="678179">
                <a:moveTo>
                  <a:pt x="0" y="677680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87867" y="2156210"/>
            <a:ext cx="0" cy="450850"/>
          </a:xfrm>
          <a:custGeom>
            <a:avLst/>
            <a:gdLst/>
            <a:ahLst/>
            <a:cxnLst/>
            <a:rect l="l" t="t" r="r" b="b"/>
            <a:pathLst>
              <a:path h="450850">
                <a:moveTo>
                  <a:pt x="0" y="450841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592306" y="1083563"/>
            <a:ext cx="631825" cy="194310"/>
          </a:xfrm>
          <a:custGeom>
            <a:avLst/>
            <a:gdLst/>
            <a:ahLst/>
            <a:cxnLst/>
            <a:rect l="l" t="t" r="r" b="b"/>
            <a:pathLst>
              <a:path w="631825" h="194309">
                <a:moveTo>
                  <a:pt x="569214" y="0"/>
                </a:moveTo>
                <a:lnTo>
                  <a:pt x="566562" y="7863"/>
                </a:lnTo>
                <a:lnTo>
                  <a:pt x="577775" y="12724"/>
                </a:lnTo>
                <a:lnTo>
                  <a:pt x="587414" y="19480"/>
                </a:lnTo>
                <a:lnTo>
                  <a:pt x="610628" y="64427"/>
                </a:lnTo>
                <a:lnTo>
                  <a:pt x="613562" y="96133"/>
                </a:lnTo>
                <a:lnTo>
                  <a:pt x="612824" y="113247"/>
                </a:lnTo>
                <a:lnTo>
                  <a:pt x="601980" y="155051"/>
                </a:lnTo>
                <a:lnTo>
                  <a:pt x="566806" y="186171"/>
                </a:lnTo>
                <a:lnTo>
                  <a:pt x="569214" y="194066"/>
                </a:lnTo>
                <a:lnTo>
                  <a:pt x="606345" y="172051"/>
                </a:lnTo>
                <a:lnTo>
                  <a:pt x="627209" y="131406"/>
                </a:lnTo>
                <a:lnTo>
                  <a:pt x="631210" y="97139"/>
                </a:lnTo>
                <a:lnTo>
                  <a:pt x="630210" y="79334"/>
                </a:lnTo>
                <a:lnTo>
                  <a:pt x="615208" y="34046"/>
                </a:lnTo>
                <a:lnTo>
                  <a:pt x="583322" y="5071"/>
                </a:lnTo>
                <a:lnTo>
                  <a:pt x="569214" y="0"/>
                </a:lnTo>
                <a:close/>
              </a:path>
              <a:path w="631825" h="194309">
                <a:moveTo>
                  <a:pt x="61996" y="0"/>
                </a:moveTo>
                <a:lnTo>
                  <a:pt x="24885" y="22117"/>
                </a:lnTo>
                <a:lnTo>
                  <a:pt x="4000" y="62872"/>
                </a:lnTo>
                <a:lnTo>
                  <a:pt x="0" y="97139"/>
                </a:lnTo>
                <a:lnTo>
                  <a:pt x="1000" y="114956"/>
                </a:lnTo>
                <a:lnTo>
                  <a:pt x="16002" y="160141"/>
                </a:lnTo>
                <a:lnTo>
                  <a:pt x="47835" y="189014"/>
                </a:lnTo>
                <a:lnTo>
                  <a:pt x="61996" y="194066"/>
                </a:lnTo>
                <a:lnTo>
                  <a:pt x="64404" y="186171"/>
                </a:lnTo>
                <a:lnTo>
                  <a:pt x="53349" y="181292"/>
                </a:lnTo>
                <a:lnTo>
                  <a:pt x="43811" y="174475"/>
                </a:lnTo>
                <a:lnTo>
                  <a:pt x="20657" y="128781"/>
                </a:lnTo>
                <a:lnTo>
                  <a:pt x="17800" y="96133"/>
                </a:lnTo>
                <a:lnTo>
                  <a:pt x="18514" y="79543"/>
                </a:lnTo>
                <a:lnTo>
                  <a:pt x="29230" y="38618"/>
                </a:lnTo>
                <a:lnTo>
                  <a:pt x="64648" y="7863"/>
                </a:lnTo>
                <a:lnTo>
                  <a:pt x="61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3881696" y="1010221"/>
          <a:ext cx="4814566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38505"/>
                <a:gridCol w="833119"/>
                <a:gridCol w="13677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 𝑥</a:t>
                      </a:r>
                      <a:r>
                        <a:rPr sz="165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7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835"/>
                        </a:lnSpc>
                      </a:pPr>
                      <a:r>
                        <a:rPr sz="1650" spc="-10" dirty="0">
                          <a:latin typeface="Cambria Math"/>
                          <a:cs typeface="Cambria Math"/>
                        </a:rPr>
                        <a:t>(𝑥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650" spc="-5" dirty="0">
                          <a:latin typeface="Cambria Math"/>
                          <a:cs typeface="Cambria Math"/>
                        </a:rPr>
                        <a:t>𝑥)(𝑦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25" dirty="0">
                          <a:latin typeface="Cambria Math"/>
                          <a:cs typeface="Cambria Math"/>
                        </a:rPr>
                        <a:t>𝑦)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8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1964"/>
                        </a:lnSpc>
                        <a:spcBef>
                          <a:spcPts val="3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905"/>
                        </a:lnSpc>
                      </a:pPr>
                      <a:r>
                        <a:rPr sz="2475" spc="22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 algn="ctr">
                        <a:lnSpc>
                          <a:spcPts val="1905"/>
                        </a:lnSpc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935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algn="ctr">
                        <a:lnSpc>
                          <a:spcPts val="1925"/>
                        </a:lnSpc>
                        <a:spcBef>
                          <a:spcPts val="1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78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337" baseline="1683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6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2.8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11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6598036" y="2725425"/>
            <a:ext cx="72072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04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10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704711" y="2716468"/>
            <a:ext cx="597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1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0061" y="1929445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AFF0"/>
                </a:solidFill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F07F09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F07F09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F07F09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solidFill>
                  <a:srgbClr val="00AFF0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91305" y="2618232"/>
            <a:ext cx="0" cy="285750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285237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585466" y="2636770"/>
            <a:ext cx="0" cy="678180"/>
          </a:xfrm>
          <a:custGeom>
            <a:avLst/>
            <a:gdLst/>
            <a:ahLst/>
            <a:cxnLst/>
            <a:rect l="l" t="t" r="r" b="b"/>
            <a:pathLst>
              <a:path h="678179">
                <a:moveTo>
                  <a:pt x="0" y="677680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087867" y="2156210"/>
            <a:ext cx="0" cy="450850"/>
          </a:xfrm>
          <a:custGeom>
            <a:avLst/>
            <a:gdLst/>
            <a:ahLst/>
            <a:cxnLst/>
            <a:rect l="l" t="t" r="r" b="b"/>
            <a:pathLst>
              <a:path h="450850">
                <a:moveTo>
                  <a:pt x="0" y="450841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592306" y="1083563"/>
            <a:ext cx="631825" cy="194310"/>
          </a:xfrm>
          <a:custGeom>
            <a:avLst/>
            <a:gdLst/>
            <a:ahLst/>
            <a:cxnLst/>
            <a:rect l="l" t="t" r="r" b="b"/>
            <a:pathLst>
              <a:path w="631825" h="194309">
                <a:moveTo>
                  <a:pt x="569214" y="0"/>
                </a:moveTo>
                <a:lnTo>
                  <a:pt x="566562" y="7863"/>
                </a:lnTo>
                <a:lnTo>
                  <a:pt x="577775" y="12724"/>
                </a:lnTo>
                <a:lnTo>
                  <a:pt x="587414" y="19480"/>
                </a:lnTo>
                <a:lnTo>
                  <a:pt x="610628" y="64427"/>
                </a:lnTo>
                <a:lnTo>
                  <a:pt x="613562" y="96133"/>
                </a:lnTo>
                <a:lnTo>
                  <a:pt x="612824" y="113247"/>
                </a:lnTo>
                <a:lnTo>
                  <a:pt x="601980" y="155051"/>
                </a:lnTo>
                <a:lnTo>
                  <a:pt x="566806" y="186171"/>
                </a:lnTo>
                <a:lnTo>
                  <a:pt x="569214" y="194066"/>
                </a:lnTo>
                <a:lnTo>
                  <a:pt x="606345" y="172051"/>
                </a:lnTo>
                <a:lnTo>
                  <a:pt x="627209" y="131406"/>
                </a:lnTo>
                <a:lnTo>
                  <a:pt x="631210" y="97139"/>
                </a:lnTo>
                <a:lnTo>
                  <a:pt x="630210" y="79334"/>
                </a:lnTo>
                <a:lnTo>
                  <a:pt x="615208" y="34046"/>
                </a:lnTo>
                <a:lnTo>
                  <a:pt x="583322" y="5071"/>
                </a:lnTo>
                <a:lnTo>
                  <a:pt x="569214" y="0"/>
                </a:lnTo>
                <a:close/>
              </a:path>
              <a:path w="631825" h="194309">
                <a:moveTo>
                  <a:pt x="61996" y="0"/>
                </a:moveTo>
                <a:lnTo>
                  <a:pt x="24885" y="22117"/>
                </a:lnTo>
                <a:lnTo>
                  <a:pt x="4000" y="62872"/>
                </a:lnTo>
                <a:lnTo>
                  <a:pt x="0" y="97139"/>
                </a:lnTo>
                <a:lnTo>
                  <a:pt x="1000" y="114956"/>
                </a:lnTo>
                <a:lnTo>
                  <a:pt x="16002" y="160141"/>
                </a:lnTo>
                <a:lnTo>
                  <a:pt x="47835" y="189014"/>
                </a:lnTo>
                <a:lnTo>
                  <a:pt x="61996" y="194066"/>
                </a:lnTo>
                <a:lnTo>
                  <a:pt x="64404" y="186171"/>
                </a:lnTo>
                <a:lnTo>
                  <a:pt x="53349" y="181292"/>
                </a:lnTo>
                <a:lnTo>
                  <a:pt x="43811" y="174475"/>
                </a:lnTo>
                <a:lnTo>
                  <a:pt x="20657" y="128781"/>
                </a:lnTo>
                <a:lnTo>
                  <a:pt x="17800" y="96133"/>
                </a:lnTo>
                <a:lnTo>
                  <a:pt x="18514" y="79543"/>
                </a:lnTo>
                <a:lnTo>
                  <a:pt x="29230" y="38618"/>
                </a:lnTo>
                <a:lnTo>
                  <a:pt x="64648" y="7863"/>
                </a:lnTo>
                <a:lnTo>
                  <a:pt x="61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3881696" y="1010221"/>
          <a:ext cx="4814566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38505"/>
                <a:gridCol w="833119"/>
                <a:gridCol w="13677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 𝑥</a:t>
                      </a:r>
                      <a:r>
                        <a:rPr sz="165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7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835"/>
                        </a:lnSpc>
                      </a:pPr>
                      <a:r>
                        <a:rPr sz="1650" spc="-10" dirty="0">
                          <a:latin typeface="Cambria Math"/>
                          <a:cs typeface="Cambria Math"/>
                        </a:rPr>
                        <a:t>(𝑥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650" spc="-5" dirty="0">
                          <a:latin typeface="Cambria Math"/>
                          <a:cs typeface="Cambria Math"/>
                        </a:rPr>
                        <a:t>𝑥)(𝑦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25" dirty="0">
                          <a:latin typeface="Cambria Math"/>
                          <a:cs typeface="Cambria Math"/>
                        </a:rPr>
                        <a:t>𝑦)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8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1964"/>
                        </a:lnSpc>
                        <a:spcBef>
                          <a:spcPts val="3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905"/>
                        </a:lnSpc>
                      </a:pPr>
                      <a:r>
                        <a:rPr sz="2475" spc="22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 algn="ctr">
                        <a:lnSpc>
                          <a:spcPts val="1905"/>
                        </a:lnSpc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935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algn="ctr">
                        <a:lnSpc>
                          <a:spcPts val="1925"/>
                        </a:lnSpc>
                        <a:spcBef>
                          <a:spcPts val="1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78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337" baseline="1683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6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2.8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11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6598036" y="2725425"/>
            <a:ext cx="72136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1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10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04711" y="2716218"/>
            <a:ext cx="600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713736" y="3329692"/>
            <a:ext cx="15240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02380" y="3663635"/>
            <a:ext cx="16148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8710" algn="l"/>
              </a:tabLst>
            </a:pPr>
            <a:r>
              <a:rPr sz="2475" baseline="1683" dirty="0">
                <a:solidFill>
                  <a:srgbClr val="6B9E24"/>
                </a:solidFill>
                <a:latin typeface="Cambria Math"/>
                <a:cs typeface="Cambria Math"/>
              </a:rPr>
              <a:t>𝑥 −</a:t>
            </a:r>
            <a:r>
              <a:rPr sz="2475" spc="120" baseline="1683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2475" baseline="1683" dirty="0">
                <a:solidFill>
                  <a:srgbClr val="6B9E24"/>
                </a:solidFill>
                <a:latin typeface="Cambria Math"/>
                <a:cs typeface="Cambria Math"/>
              </a:rPr>
              <a:t>𝑥 </a:t>
            </a:r>
            <a:r>
              <a:rPr sz="2475" spc="67" baseline="1683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1800" spc="44" baseline="30092" dirty="0">
                <a:solidFill>
                  <a:srgbClr val="6B9E24"/>
                </a:solidFill>
                <a:latin typeface="Cambria Math"/>
                <a:cs typeface="Cambria Math"/>
              </a:rPr>
              <a:t>2	</a:t>
            </a:r>
            <a:r>
              <a:rPr sz="2700" baseline="40123" dirty="0">
                <a:latin typeface="Cambria Math"/>
                <a:cs typeface="Cambria Math"/>
              </a:rPr>
              <a:t>=</a:t>
            </a:r>
            <a:r>
              <a:rPr sz="2700" spc="157" baseline="40123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10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642342" y="3646420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4">
                <a:moveTo>
                  <a:pt x="0" y="0"/>
                </a:moveTo>
                <a:lnTo>
                  <a:pt x="292486" y="0"/>
                </a:lnTo>
              </a:path>
            </a:pathLst>
          </a:custGeom>
          <a:ln w="28574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0061" y="1929445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309242" y="1231896"/>
            <a:ext cx="8997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105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𝑥 − 𝑥</a:t>
            </a:r>
            <a:r>
              <a:rPr sz="1650" spc="35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1800" spc="44" baseline="27777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AFF0"/>
                </a:solidFill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F07F09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F07F09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F07F09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solidFill>
                  <a:srgbClr val="00AFF0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91305" y="2618232"/>
            <a:ext cx="0" cy="285750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285237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585466" y="2636770"/>
            <a:ext cx="0" cy="678180"/>
          </a:xfrm>
          <a:custGeom>
            <a:avLst/>
            <a:gdLst/>
            <a:ahLst/>
            <a:cxnLst/>
            <a:rect l="l" t="t" r="r" b="b"/>
            <a:pathLst>
              <a:path h="678179">
                <a:moveTo>
                  <a:pt x="0" y="677680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087867" y="2156210"/>
            <a:ext cx="0" cy="450850"/>
          </a:xfrm>
          <a:custGeom>
            <a:avLst/>
            <a:gdLst/>
            <a:ahLst/>
            <a:cxnLst/>
            <a:rect l="l" t="t" r="r" b="b"/>
            <a:pathLst>
              <a:path h="450850">
                <a:moveTo>
                  <a:pt x="0" y="450841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592306" y="1083563"/>
            <a:ext cx="631825" cy="194310"/>
          </a:xfrm>
          <a:custGeom>
            <a:avLst/>
            <a:gdLst/>
            <a:ahLst/>
            <a:cxnLst/>
            <a:rect l="l" t="t" r="r" b="b"/>
            <a:pathLst>
              <a:path w="631825" h="194309">
                <a:moveTo>
                  <a:pt x="569214" y="0"/>
                </a:moveTo>
                <a:lnTo>
                  <a:pt x="566562" y="7863"/>
                </a:lnTo>
                <a:lnTo>
                  <a:pt x="577775" y="12724"/>
                </a:lnTo>
                <a:lnTo>
                  <a:pt x="587414" y="19480"/>
                </a:lnTo>
                <a:lnTo>
                  <a:pt x="610628" y="64427"/>
                </a:lnTo>
                <a:lnTo>
                  <a:pt x="613562" y="96133"/>
                </a:lnTo>
                <a:lnTo>
                  <a:pt x="612824" y="113247"/>
                </a:lnTo>
                <a:lnTo>
                  <a:pt x="601980" y="155051"/>
                </a:lnTo>
                <a:lnTo>
                  <a:pt x="566806" y="186171"/>
                </a:lnTo>
                <a:lnTo>
                  <a:pt x="569214" y="194066"/>
                </a:lnTo>
                <a:lnTo>
                  <a:pt x="606345" y="172051"/>
                </a:lnTo>
                <a:lnTo>
                  <a:pt x="627209" y="131406"/>
                </a:lnTo>
                <a:lnTo>
                  <a:pt x="631210" y="97139"/>
                </a:lnTo>
                <a:lnTo>
                  <a:pt x="630210" y="79334"/>
                </a:lnTo>
                <a:lnTo>
                  <a:pt x="615208" y="34046"/>
                </a:lnTo>
                <a:lnTo>
                  <a:pt x="583322" y="5071"/>
                </a:lnTo>
                <a:lnTo>
                  <a:pt x="569214" y="0"/>
                </a:lnTo>
                <a:close/>
              </a:path>
              <a:path w="631825" h="194309">
                <a:moveTo>
                  <a:pt x="61996" y="0"/>
                </a:moveTo>
                <a:lnTo>
                  <a:pt x="24885" y="22117"/>
                </a:lnTo>
                <a:lnTo>
                  <a:pt x="4000" y="62872"/>
                </a:lnTo>
                <a:lnTo>
                  <a:pt x="0" y="97139"/>
                </a:lnTo>
                <a:lnTo>
                  <a:pt x="1000" y="114956"/>
                </a:lnTo>
                <a:lnTo>
                  <a:pt x="16002" y="160141"/>
                </a:lnTo>
                <a:lnTo>
                  <a:pt x="47835" y="189014"/>
                </a:lnTo>
                <a:lnTo>
                  <a:pt x="61996" y="194066"/>
                </a:lnTo>
                <a:lnTo>
                  <a:pt x="64404" y="186171"/>
                </a:lnTo>
                <a:lnTo>
                  <a:pt x="53349" y="181292"/>
                </a:lnTo>
                <a:lnTo>
                  <a:pt x="43811" y="174475"/>
                </a:lnTo>
                <a:lnTo>
                  <a:pt x="20657" y="128781"/>
                </a:lnTo>
                <a:lnTo>
                  <a:pt x="17800" y="96133"/>
                </a:lnTo>
                <a:lnTo>
                  <a:pt x="18514" y="79543"/>
                </a:lnTo>
                <a:lnTo>
                  <a:pt x="29230" y="38618"/>
                </a:lnTo>
                <a:lnTo>
                  <a:pt x="64648" y="7863"/>
                </a:lnTo>
                <a:lnTo>
                  <a:pt x="61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3881696" y="1010221"/>
          <a:ext cx="4814566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38505"/>
                <a:gridCol w="833119"/>
                <a:gridCol w="13677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 𝑥</a:t>
                      </a:r>
                      <a:r>
                        <a:rPr sz="165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7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835"/>
                        </a:lnSpc>
                      </a:pPr>
                      <a:r>
                        <a:rPr sz="1650" spc="-10" dirty="0">
                          <a:latin typeface="Cambria Math"/>
                          <a:cs typeface="Cambria Math"/>
                        </a:rPr>
                        <a:t>(𝑥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650" spc="-5" dirty="0">
                          <a:latin typeface="Cambria Math"/>
                          <a:cs typeface="Cambria Math"/>
                        </a:rPr>
                        <a:t>𝑥)(𝑦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25" dirty="0">
                          <a:latin typeface="Cambria Math"/>
                          <a:cs typeface="Cambria Math"/>
                        </a:rPr>
                        <a:t>𝑦)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8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1964"/>
                        </a:lnSpc>
                        <a:spcBef>
                          <a:spcPts val="3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905"/>
                        </a:lnSpc>
                      </a:pPr>
                      <a:r>
                        <a:rPr sz="2475" spc="22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 algn="ctr">
                        <a:lnSpc>
                          <a:spcPts val="1905"/>
                        </a:lnSpc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935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algn="ctr">
                        <a:lnSpc>
                          <a:spcPts val="1925"/>
                        </a:lnSpc>
                        <a:spcBef>
                          <a:spcPts val="1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78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337" baseline="1683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6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2.8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11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6598036" y="2725425"/>
            <a:ext cx="72136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1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10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04711" y="2716218"/>
            <a:ext cx="600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99029" y="3499487"/>
            <a:ext cx="57023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2700" spc="-585" baseline="1543" dirty="0">
                <a:latin typeface="Cambria Math"/>
                <a:cs typeface="Cambria Math"/>
              </a:rPr>
              <a:t>0</a:t>
            </a:r>
            <a:r>
              <a:rPr sz="1800" spc="-390" dirty="0">
                <a:latin typeface="Cambria Math"/>
                <a:cs typeface="Cambria Math"/>
              </a:rPr>
              <a:t>0</a:t>
            </a:r>
            <a:r>
              <a:rPr sz="2700" spc="-585" baseline="1543" dirty="0">
                <a:latin typeface="Cambria Math"/>
                <a:cs typeface="Cambria Math"/>
              </a:rPr>
              <a:t>.</a:t>
            </a:r>
            <a:r>
              <a:rPr sz="1800" spc="-390" dirty="0">
                <a:latin typeface="Cambria Math"/>
                <a:cs typeface="Cambria Math"/>
              </a:rPr>
              <a:t>.</a:t>
            </a:r>
            <a:r>
              <a:rPr sz="2700" spc="-585" baseline="1543" dirty="0">
                <a:latin typeface="Cambria Math"/>
                <a:cs typeface="Cambria Math"/>
              </a:rPr>
              <a:t>1</a:t>
            </a:r>
            <a:r>
              <a:rPr sz="1800" spc="-39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10358" y="2814317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061" y="1929448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209930" y="1279412"/>
            <a:ext cx="1134745" cy="288290"/>
          </a:xfrm>
          <a:prstGeom prst="rect">
            <a:avLst/>
          </a:prstGeom>
          <a:ln w="12700">
            <a:solidFill>
              <a:srgbClr val="00AFF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1760">
              <a:lnSpc>
                <a:spcPts val="1710"/>
              </a:lnSpc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60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𝑥 − 𝑥</a:t>
            </a:r>
            <a:r>
              <a:rPr sz="1650" spc="35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1800" spc="44" baseline="27777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AFF0"/>
                </a:solidFill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F07F09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F07F09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F07F09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solidFill>
                  <a:srgbClr val="00AFF0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92306" y="1083563"/>
            <a:ext cx="631825" cy="194310"/>
          </a:xfrm>
          <a:custGeom>
            <a:avLst/>
            <a:gdLst/>
            <a:ahLst/>
            <a:cxnLst/>
            <a:rect l="l" t="t" r="r" b="b"/>
            <a:pathLst>
              <a:path w="631825" h="194309">
                <a:moveTo>
                  <a:pt x="569214" y="0"/>
                </a:moveTo>
                <a:lnTo>
                  <a:pt x="566562" y="7863"/>
                </a:lnTo>
                <a:lnTo>
                  <a:pt x="577775" y="12724"/>
                </a:lnTo>
                <a:lnTo>
                  <a:pt x="587414" y="19480"/>
                </a:lnTo>
                <a:lnTo>
                  <a:pt x="610628" y="64427"/>
                </a:lnTo>
                <a:lnTo>
                  <a:pt x="613562" y="96133"/>
                </a:lnTo>
                <a:lnTo>
                  <a:pt x="612824" y="113247"/>
                </a:lnTo>
                <a:lnTo>
                  <a:pt x="601980" y="155051"/>
                </a:lnTo>
                <a:lnTo>
                  <a:pt x="566806" y="186171"/>
                </a:lnTo>
                <a:lnTo>
                  <a:pt x="569214" y="194066"/>
                </a:lnTo>
                <a:lnTo>
                  <a:pt x="606345" y="172051"/>
                </a:lnTo>
                <a:lnTo>
                  <a:pt x="627209" y="131406"/>
                </a:lnTo>
                <a:lnTo>
                  <a:pt x="631210" y="97139"/>
                </a:lnTo>
                <a:lnTo>
                  <a:pt x="630210" y="79334"/>
                </a:lnTo>
                <a:lnTo>
                  <a:pt x="615208" y="34046"/>
                </a:lnTo>
                <a:lnTo>
                  <a:pt x="583322" y="5071"/>
                </a:lnTo>
                <a:lnTo>
                  <a:pt x="569214" y="0"/>
                </a:lnTo>
                <a:close/>
              </a:path>
              <a:path w="631825" h="194309">
                <a:moveTo>
                  <a:pt x="61996" y="0"/>
                </a:moveTo>
                <a:lnTo>
                  <a:pt x="24885" y="22117"/>
                </a:lnTo>
                <a:lnTo>
                  <a:pt x="4000" y="62872"/>
                </a:lnTo>
                <a:lnTo>
                  <a:pt x="0" y="97139"/>
                </a:lnTo>
                <a:lnTo>
                  <a:pt x="1000" y="114956"/>
                </a:lnTo>
                <a:lnTo>
                  <a:pt x="16002" y="160141"/>
                </a:lnTo>
                <a:lnTo>
                  <a:pt x="47835" y="189014"/>
                </a:lnTo>
                <a:lnTo>
                  <a:pt x="61996" y="194066"/>
                </a:lnTo>
                <a:lnTo>
                  <a:pt x="64404" y="186171"/>
                </a:lnTo>
                <a:lnTo>
                  <a:pt x="53349" y="181292"/>
                </a:lnTo>
                <a:lnTo>
                  <a:pt x="43811" y="174475"/>
                </a:lnTo>
                <a:lnTo>
                  <a:pt x="20657" y="128781"/>
                </a:lnTo>
                <a:lnTo>
                  <a:pt x="17800" y="96133"/>
                </a:lnTo>
                <a:lnTo>
                  <a:pt x="18514" y="79543"/>
                </a:lnTo>
                <a:lnTo>
                  <a:pt x="29230" y="38618"/>
                </a:lnTo>
                <a:lnTo>
                  <a:pt x="64648" y="7863"/>
                </a:lnTo>
                <a:lnTo>
                  <a:pt x="61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3881696" y="1010221"/>
          <a:ext cx="4814566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38505"/>
                <a:gridCol w="833119"/>
                <a:gridCol w="13677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 𝑥</a:t>
                      </a:r>
                      <a:r>
                        <a:rPr sz="165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7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835"/>
                        </a:lnSpc>
                      </a:pPr>
                      <a:r>
                        <a:rPr sz="1650" spc="-10" dirty="0">
                          <a:latin typeface="Cambria Math"/>
                          <a:cs typeface="Cambria Math"/>
                        </a:rPr>
                        <a:t>(𝑥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650" spc="-5" dirty="0">
                          <a:latin typeface="Cambria Math"/>
                          <a:cs typeface="Cambria Math"/>
                        </a:rPr>
                        <a:t>𝑥)(𝑦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25" dirty="0">
                          <a:latin typeface="Cambria Math"/>
                          <a:cs typeface="Cambria Math"/>
                        </a:rPr>
                        <a:t>𝑦)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8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1964"/>
                        </a:lnSpc>
                        <a:spcBef>
                          <a:spcPts val="3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905"/>
                        </a:lnSpc>
                      </a:pPr>
                      <a:r>
                        <a:rPr sz="2475" spc="22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 algn="ctr">
                        <a:lnSpc>
                          <a:spcPts val="1905"/>
                        </a:lnSpc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935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algn="ctr">
                        <a:lnSpc>
                          <a:spcPts val="1925"/>
                        </a:lnSpc>
                        <a:spcBef>
                          <a:spcPts val="1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78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337" baseline="1683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6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2.8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11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6598036" y="2725425"/>
            <a:ext cx="72136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1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10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04711" y="2716218"/>
            <a:ext cx="600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399029" y="3499804"/>
            <a:ext cx="563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2700" spc="-15" baseline="1543" dirty="0">
                <a:latin typeface="Cambria Math"/>
                <a:cs typeface="Cambria Math"/>
              </a:rPr>
              <a:t>0.1</a:t>
            </a:r>
            <a:endParaRPr sz="2700" baseline="1543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30577" y="1561856"/>
            <a:ext cx="85725" cy="2058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214627" y="1718624"/>
            <a:ext cx="30353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061" y="1929448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209930" y="1279412"/>
            <a:ext cx="1134745" cy="288290"/>
          </a:xfrm>
          <a:prstGeom prst="rect">
            <a:avLst/>
          </a:prstGeom>
          <a:ln w="12700">
            <a:solidFill>
              <a:srgbClr val="00AFF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1760">
              <a:lnSpc>
                <a:spcPts val="1710"/>
              </a:lnSpc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60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𝑥 − 𝑥</a:t>
            </a:r>
            <a:r>
              <a:rPr sz="1650" spc="35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1800" spc="44" baseline="27777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AFF0"/>
                </a:solidFill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F07F09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F07F09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F07F09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solidFill>
                  <a:srgbClr val="00AFF0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92306" y="1083563"/>
            <a:ext cx="631825" cy="194310"/>
          </a:xfrm>
          <a:custGeom>
            <a:avLst/>
            <a:gdLst/>
            <a:ahLst/>
            <a:cxnLst/>
            <a:rect l="l" t="t" r="r" b="b"/>
            <a:pathLst>
              <a:path w="631825" h="194309">
                <a:moveTo>
                  <a:pt x="569214" y="0"/>
                </a:moveTo>
                <a:lnTo>
                  <a:pt x="566562" y="7863"/>
                </a:lnTo>
                <a:lnTo>
                  <a:pt x="577775" y="12724"/>
                </a:lnTo>
                <a:lnTo>
                  <a:pt x="587414" y="19480"/>
                </a:lnTo>
                <a:lnTo>
                  <a:pt x="610628" y="64427"/>
                </a:lnTo>
                <a:lnTo>
                  <a:pt x="613562" y="96133"/>
                </a:lnTo>
                <a:lnTo>
                  <a:pt x="612824" y="113247"/>
                </a:lnTo>
                <a:lnTo>
                  <a:pt x="601980" y="155051"/>
                </a:lnTo>
                <a:lnTo>
                  <a:pt x="566806" y="186171"/>
                </a:lnTo>
                <a:lnTo>
                  <a:pt x="569214" y="194066"/>
                </a:lnTo>
                <a:lnTo>
                  <a:pt x="606345" y="172051"/>
                </a:lnTo>
                <a:lnTo>
                  <a:pt x="627209" y="131406"/>
                </a:lnTo>
                <a:lnTo>
                  <a:pt x="631210" y="97139"/>
                </a:lnTo>
                <a:lnTo>
                  <a:pt x="630210" y="79334"/>
                </a:lnTo>
                <a:lnTo>
                  <a:pt x="615208" y="34046"/>
                </a:lnTo>
                <a:lnTo>
                  <a:pt x="583322" y="5071"/>
                </a:lnTo>
                <a:lnTo>
                  <a:pt x="569214" y="0"/>
                </a:lnTo>
                <a:close/>
              </a:path>
              <a:path w="631825" h="194309">
                <a:moveTo>
                  <a:pt x="61996" y="0"/>
                </a:moveTo>
                <a:lnTo>
                  <a:pt x="24885" y="22117"/>
                </a:lnTo>
                <a:lnTo>
                  <a:pt x="4000" y="62872"/>
                </a:lnTo>
                <a:lnTo>
                  <a:pt x="0" y="97139"/>
                </a:lnTo>
                <a:lnTo>
                  <a:pt x="1000" y="114956"/>
                </a:lnTo>
                <a:lnTo>
                  <a:pt x="16002" y="160141"/>
                </a:lnTo>
                <a:lnTo>
                  <a:pt x="47835" y="189014"/>
                </a:lnTo>
                <a:lnTo>
                  <a:pt x="61996" y="194066"/>
                </a:lnTo>
                <a:lnTo>
                  <a:pt x="64404" y="186171"/>
                </a:lnTo>
                <a:lnTo>
                  <a:pt x="53349" y="181292"/>
                </a:lnTo>
                <a:lnTo>
                  <a:pt x="43811" y="174475"/>
                </a:lnTo>
                <a:lnTo>
                  <a:pt x="20657" y="128781"/>
                </a:lnTo>
                <a:lnTo>
                  <a:pt x="17800" y="96133"/>
                </a:lnTo>
                <a:lnTo>
                  <a:pt x="18514" y="79543"/>
                </a:lnTo>
                <a:lnTo>
                  <a:pt x="29230" y="38618"/>
                </a:lnTo>
                <a:lnTo>
                  <a:pt x="64648" y="7863"/>
                </a:lnTo>
                <a:lnTo>
                  <a:pt x="61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3881696" y="1010221"/>
          <a:ext cx="4814566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38505"/>
                <a:gridCol w="833119"/>
                <a:gridCol w="13677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 𝑥</a:t>
                      </a:r>
                      <a:r>
                        <a:rPr sz="165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7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835"/>
                        </a:lnSpc>
                      </a:pPr>
                      <a:r>
                        <a:rPr sz="1650" spc="-10" dirty="0">
                          <a:latin typeface="Cambria Math"/>
                          <a:cs typeface="Cambria Math"/>
                        </a:rPr>
                        <a:t>(𝑥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650" spc="-5" dirty="0">
                          <a:latin typeface="Cambria Math"/>
                          <a:cs typeface="Cambria Math"/>
                        </a:rPr>
                        <a:t>𝑥)(𝑦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25" dirty="0">
                          <a:latin typeface="Cambria Math"/>
                          <a:cs typeface="Cambria Math"/>
                        </a:rPr>
                        <a:t>𝑦)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8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1964"/>
                        </a:lnSpc>
                        <a:spcBef>
                          <a:spcPts val="3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905"/>
                        </a:lnSpc>
                      </a:pPr>
                      <a:r>
                        <a:rPr sz="2475" spc="22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 algn="ctr">
                        <a:lnSpc>
                          <a:spcPts val="1905"/>
                        </a:lnSpc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935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algn="ctr">
                        <a:lnSpc>
                          <a:spcPts val="1925"/>
                        </a:lnSpc>
                        <a:spcBef>
                          <a:spcPts val="1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78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337" baseline="1683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6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2.8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11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6598036" y="2725425"/>
            <a:ext cx="72136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1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10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04711" y="2716218"/>
            <a:ext cx="600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99029" y="3499804"/>
            <a:ext cx="563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2700" spc="-15" baseline="1543" dirty="0">
                <a:latin typeface="Cambria Math"/>
                <a:cs typeface="Cambria Math"/>
              </a:rPr>
              <a:t>0.1</a:t>
            </a:r>
            <a:endParaRPr sz="2700" baseline="1543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40335" y="1743647"/>
            <a:ext cx="26924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50" dirty="0">
                <a:latin typeface="Cambria Math"/>
                <a:cs typeface="Cambria Math"/>
              </a:rPr>
              <a:t>0</a:t>
            </a:r>
            <a:r>
              <a:rPr sz="1400" spc="10" dirty="0">
                <a:latin typeface="Cambria Math"/>
                <a:cs typeface="Cambria Math"/>
              </a:rPr>
              <a:t>.</a:t>
            </a:r>
            <a:r>
              <a:rPr sz="1400" spc="15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725542" y="1551950"/>
            <a:ext cx="85725" cy="2107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0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061" y="1929448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𝑥 − 𝑥</a:t>
            </a:r>
            <a:r>
              <a:rPr sz="1650" spc="35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1800" spc="44" baseline="27777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AFF0"/>
                </a:solidFill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F07F09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F07F09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F07F09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solidFill>
                  <a:srgbClr val="00AFF0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92306" y="1083563"/>
            <a:ext cx="631825" cy="194310"/>
          </a:xfrm>
          <a:custGeom>
            <a:avLst/>
            <a:gdLst/>
            <a:ahLst/>
            <a:cxnLst/>
            <a:rect l="l" t="t" r="r" b="b"/>
            <a:pathLst>
              <a:path w="631825" h="194309">
                <a:moveTo>
                  <a:pt x="569214" y="0"/>
                </a:moveTo>
                <a:lnTo>
                  <a:pt x="566562" y="7863"/>
                </a:lnTo>
                <a:lnTo>
                  <a:pt x="577775" y="12724"/>
                </a:lnTo>
                <a:lnTo>
                  <a:pt x="587414" y="19480"/>
                </a:lnTo>
                <a:lnTo>
                  <a:pt x="610628" y="64427"/>
                </a:lnTo>
                <a:lnTo>
                  <a:pt x="613562" y="96133"/>
                </a:lnTo>
                <a:lnTo>
                  <a:pt x="612824" y="113247"/>
                </a:lnTo>
                <a:lnTo>
                  <a:pt x="601980" y="155051"/>
                </a:lnTo>
                <a:lnTo>
                  <a:pt x="566806" y="186171"/>
                </a:lnTo>
                <a:lnTo>
                  <a:pt x="569214" y="194066"/>
                </a:lnTo>
                <a:lnTo>
                  <a:pt x="606345" y="172051"/>
                </a:lnTo>
                <a:lnTo>
                  <a:pt x="627209" y="131406"/>
                </a:lnTo>
                <a:lnTo>
                  <a:pt x="631210" y="97139"/>
                </a:lnTo>
                <a:lnTo>
                  <a:pt x="630210" y="79334"/>
                </a:lnTo>
                <a:lnTo>
                  <a:pt x="615208" y="34046"/>
                </a:lnTo>
                <a:lnTo>
                  <a:pt x="583322" y="5071"/>
                </a:lnTo>
                <a:lnTo>
                  <a:pt x="569214" y="0"/>
                </a:lnTo>
                <a:close/>
              </a:path>
              <a:path w="631825" h="194309">
                <a:moveTo>
                  <a:pt x="61996" y="0"/>
                </a:moveTo>
                <a:lnTo>
                  <a:pt x="24885" y="22117"/>
                </a:lnTo>
                <a:lnTo>
                  <a:pt x="4000" y="62872"/>
                </a:lnTo>
                <a:lnTo>
                  <a:pt x="0" y="97139"/>
                </a:lnTo>
                <a:lnTo>
                  <a:pt x="1000" y="114956"/>
                </a:lnTo>
                <a:lnTo>
                  <a:pt x="16002" y="160141"/>
                </a:lnTo>
                <a:lnTo>
                  <a:pt x="47835" y="189014"/>
                </a:lnTo>
                <a:lnTo>
                  <a:pt x="61996" y="194066"/>
                </a:lnTo>
                <a:lnTo>
                  <a:pt x="64404" y="186171"/>
                </a:lnTo>
                <a:lnTo>
                  <a:pt x="53349" y="181292"/>
                </a:lnTo>
                <a:lnTo>
                  <a:pt x="43811" y="174475"/>
                </a:lnTo>
                <a:lnTo>
                  <a:pt x="20657" y="128781"/>
                </a:lnTo>
                <a:lnTo>
                  <a:pt x="17800" y="96133"/>
                </a:lnTo>
                <a:lnTo>
                  <a:pt x="18514" y="79543"/>
                </a:lnTo>
                <a:lnTo>
                  <a:pt x="29230" y="38618"/>
                </a:lnTo>
                <a:lnTo>
                  <a:pt x="64648" y="7863"/>
                </a:lnTo>
                <a:lnTo>
                  <a:pt x="61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3881696" y="1010221"/>
          <a:ext cx="4814566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38505"/>
                <a:gridCol w="833119"/>
                <a:gridCol w="13677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 𝑥</a:t>
                      </a:r>
                      <a:r>
                        <a:rPr sz="165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7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835"/>
                        </a:lnSpc>
                      </a:pPr>
                      <a:r>
                        <a:rPr sz="1650" spc="-10" dirty="0">
                          <a:latin typeface="Cambria Math"/>
                          <a:cs typeface="Cambria Math"/>
                        </a:rPr>
                        <a:t>(𝑥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650" spc="-5" dirty="0">
                          <a:latin typeface="Cambria Math"/>
                          <a:cs typeface="Cambria Math"/>
                        </a:rPr>
                        <a:t>𝑥)(𝑦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25" dirty="0">
                          <a:latin typeface="Cambria Math"/>
                          <a:cs typeface="Cambria Math"/>
                        </a:rPr>
                        <a:t>𝑦)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8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1964"/>
                        </a:lnSpc>
                        <a:spcBef>
                          <a:spcPts val="3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905"/>
                        </a:lnSpc>
                      </a:pPr>
                      <a:r>
                        <a:rPr sz="2475" spc="22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 algn="ctr">
                        <a:lnSpc>
                          <a:spcPts val="1905"/>
                        </a:lnSpc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935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algn="ctr">
                        <a:lnSpc>
                          <a:spcPts val="1925"/>
                        </a:lnSpc>
                        <a:spcBef>
                          <a:spcPts val="1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78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337" baseline="1683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6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2.8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11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6598036" y="2725425"/>
            <a:ext cx="72136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1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10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04711" y="2716218"/>
            <a:ext cx="600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99029" y="3499804"/>
            <a:ext cx="563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2700" spc="-15" baseline="1543" dirty="0">
                <a:latin typeface="Cambria Math"/>
                <a:cs typeface="Cambria Math"/>
              </a:rPr>
              <a:t>0.1</a:t>
            </a:r>
            <a:endParaRPr sz="2700" baseline="1543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68288" y="1737678"/>
            <a:ext cx="126364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latin typeface="Cambria Math"/>
                <a:cs typeface="Cambria Math"/>
              </a:rPr>
              <a:t>3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2209930" y="1279412"/>
            <a:ext cx="1134745" cy="470901"/>
            <a:chOff x="2209930" y="1279412"/>
            <a:chExt cx="1134745" cy="470901"/>
          </a:xfrm>
        </p:grpSpPr>
        <p:sp>
          <p:nvSpPr>
            <p:cNvPr id="20" name="object 20"/>
            <p:cNvSpPr txBox="1"/>
            <p:nvPr/>
          </p:nvSpPr>
          <p:spPr>
            <a:xfrm>
              <a:off x="2209930" y="1279412"/>
              <a:ext cx="1134745" cy="288290"/>
            </a:xfrm>
            <a:prstGeom prst="rect">
              <a:avLst/>
            </a:prstGeom>
            <a:ln w="12700">
              <a:solidFill>
                <a:srgbClr val="00AFF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11760">
                <a:lnSpc>
                  <a:spcPts val="1710"/>
                </a:lnSpc>
              </a:pPr>
              <a:r>
                <a:rPr sz="1650" dirty="0">
                  <a:latin typeface="Cambria Math"/>
                  <a:cs typeface="Cambria Math"/>
                </a:rPr>
                <a:t>y =</a:t>
              </a:r>
              <a:r>
                <a:rPr sz="1650" spc="-60" dirty="0">
                  <a:latin typeface="Cambria Math"/>
                  <a:cs typeface="Cambria Math"/>
                </a:rPr>
                <a:t> </a:t>
              </a:r>
              <a:r>
                <a:rPr sz="1650" spc="-10" dirty="0">
                  <a:solidFill>
                    <a:srgbClr val="F07F09"/>
                  </a:solidFill>
                  <a:latin typeface="Cambria Math"/>
                  <a:cs typeface="Cambria Math"/>
                </a:rPr>
                <a:t>m</a:t>
              </a:r>
              <a:r>
                <a:rPr sz="1650" spc="-10" dirty="0">
                  <a:latin typeface="Cambria Math"/>
                  <a:cs typeface="Cambria Math"/>
                </a:rPr>
                <a:t>x+c</a:t>
              </a:r>
              <a:endParaRPr sz="1650" dirty="0">
                <a:latin typeface="Cambria Math"/>
                <a:cs typeface="Cambria Math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2877062" y="1539483"/>
              <a:ext cx="85593" cy="21083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093463" y="1822582"/>
            <a:ext cx="10795" cy="2458085"/>
          </a:xfrm>
          <a:custGeom>
            <a:avLst/>
            <a:gdLst/>
            <a:ahLst/>
            <a:cxnLst/>
            <a:rect l="l" t="t" r="r" b="b"/>
            <a:pathLst>
              <a:path w="10794" h="2458085">
                <a:moveTo>
                  <a:pt x="10549" y="2457523"/>
                </a:moveTo>
                <a:lnTo>
                  <a:pt x="0" y="0"/>
                </a:lnTo>
              </a:path>
            </a:pathLst>
          </a:custGeom>
          <a:ln w="38099">
            <a:solidFill>
              <a:srgbClr val="F07F0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061" y="1929448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209930" y="1279412"/>
            <a:ext cx="1134745" cy="288290"/>
          </a:xfrm>
          <a:prstGeom prst="rect">
            <a:avLst/>
          </a:prstGeom>
          <a:ln w="12700">
            <a:solidFill>
              <a:srgbClr val="00AFF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1760">
              <a:lnSpc>
                <a:spcPts val="1710"/>
              </a:lnSpc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60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𝑥 − 𝑥</a:t>
            </a:r>
            <a:r>
              <a:rPr sz="1650" spc="35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1800" spc="44" baseline="27777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AFF0"/>
                </a:solidFill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F07F09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F07F09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F07F09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solidFill>
                  <a:srgbClr val="00AFF0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92306" y="1083563"/>
            <a:ext cx="631825" cy="194310"/>
          </a:xfrm>
          <a:custGeom>
            <a:avLst/>
            <a:gdLst/>
            <a:ahLst/>
            <a:cxnLst/>
            <a:rect l="l" t="t" r="r" b="b"/>
            <a:pathLst>
              <a:path w="631825" h="194309">
                <a:moveTo>
                  <a:pt x="569214" y="0"/>
                </a:moveTo>
                <a:lnTo>
                  <a:pt x="566562" y="7863"/>
                </a:lnTo>
                <a:lnTo>
                  <a:pt x="577775" y="12724"/>
                </a:lnTo>
                <a:lnTo>
                  <a:pt x="587414" y="19480"/>
                </a:lnTo>
                <a:lnTo>
                  <a:pt x="610628" y="64427"/>
                </a:lnTo>
                <a:lnTo>
                  <a:pt x="613562" y="96133"/>
                </a:lnTo>
                <a:lnTo>
                  <a:pt x="612824" y="113247"/>
                </a:lnTo>
                <a:lnTo>
                  <a:pt x="601980" y="155051"/>
                </a:lnTo>
                <a:lnTo>
                  <a:pt x="566806" y="186171"/>
                </a:lnTo>
                <a:lnTo>
                  <a:pt x="569214" y="194066"/>
                </a:lnTo>
                <a:lnTo>
                  <a:pt x="606345" y="172051"/>
                </a:lnTo>
                <a:lnTo>
                  <a:pt x="627209" y="131406"/>
                </a:lnTo>
                <a:lnTo>
                  <a:pt x="631210" y="97139"/>
                </a:lnTo>
                <a:lnTo>
                  <a:pt x="630210" y="79334"/>
                </a:lnTo>
                <a:lnTo>
                  <a:pt x="615208" y="34046"/>
                </a:lnTo>
                <a:lnTo>
                  <a:pt x="583322" y="5071"/>
                </a:lnTo>
                <a:lnTo>
                  <a:pt x="569214" y="0"/>
                </a:lnTo>
                <a:close/>
              </a:path>
              <a:path w="631825" h="194309">
                <a:moveTo>
                  <a:pt x="61996" y="0"/>
                </a:moveTo>
                <a:lnTo>
                  <a:pt x="24885" y="22117"/>
                </a:lnTo>
                <a:lnTo>
                  <a:pt x="4000" y="62872"/>
                </a:lnTo>
                <a:lnTo>
                  <a:pt x="0" y="97139"/>
                </a:lnTo>
                <a:lnTo>
                  <a:pt x="1000" y="114956"/>
                </a:lnTo>
                <a:lnTo>
                  <a:pt x="16002" y="160141"/>
                </a:lnTo>
                <a:lnTo>
                  <a:pt x="47835" y="189014"/>
                </a:lnTo>
                <a:lnTo>
                  <a:pt x="61996" y="194066"/>
                </a:lnTo>
                <a:lnTo>
                  <a:pt x="64404" y="186171"/>
                </a:lnTo>
                <a:lnTo>
                  <a:pt x="53349" y="181292"/>
                </a:lnTo>
                <a:lnTo>
                  <a:pt x="43811" y="174475"/>
                </a:lnTo>
                <a:lnTo>
                  <a:pt x="20657" y="128781"/>
                </a:lnTo>
                <a:lnTo>
                  <a:pt x="17800" y="96133"/>
                </a:lnTo>
                <a:lnTo>
                  <a:pt x="18514" y="79543"/>
                </a:lnTo>
                <a:lnTo>
                  <a:pt x="29230" y="38618"/>
                </a:lnTo>
                <a:lnTo>
                  <a:pt x="64648" y="7863"/>
                </a:lnTo>
                <a:lnTo>
                  <a:pt x="61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3881696" y="1010221"/>
          <a:ext cx="4814566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38505"/>
                <a:gridCol w="833119"/>
                <a:gridCol w="13677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 𝑥</a:t>
                      </a:r>
                      <a:r>
                        <a:rPr sz="165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7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835"/>
                        </a:lnSpc>
                      </a:pPr>
                      <a:r>
                        <a:rPr sz="1650" spc="-10" dirty="0">
                          <a:latin typeface="Cambria Math"/>
                          <a:cs typeface="Cambria Math"/>
                        </a:rPr>
                        <a:t>(𝑥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650" spc="-5" dirty="0">
                          <a:latin typeface="Cambria Math"/>
                          <a:cs typeface="Cambria Math"/>
                        </a:rPr>
                        <a:t>𝑥)(𝑦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25" dirty="0">
                          <a:latin typeface="Cambria Math"/>
                          <a:cs typeface="Cambria Math"/>
                        </a:rPr>
                        <a:t>𝑦)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8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1964"/>
                        </a:lnSpc>
                        <a:spcBef>
                          <a:spcPts val="3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905"/>
                        </a:lnSpc>
                      </a:pPr>
                      <a:r>
                        <a:rPr sz="2475" spc="22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 algn="ctr">
                        <a:lnSpc>
                          <a:spcPts val="1905"/>
                        </a:lnSpc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935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algn="ctr">
                        <a:lnSpc>
                          <a:spcPts val="1925"/>
                        </a:lnSpc>
                        <a:spcBef>
                          <a:spcPts val="1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78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337" baseline="1683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6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2.8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11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6598036" y="2725425"/>
            <a:ext cx="72136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1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10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04711" y="2716218"/>
            <a:ext cx="600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99029" y="3499804"/>
            <a:ext cx="563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2700" spc="-15" baseline="1543" dirty="0">
                <a:latin typeface="Cambria Math"/>
                <a:cs typeface="Cambria Math"/>
              </a:rPr>
              <a:t>0.1</a:t>
            </a:r>
            <a:endParaRPr sz="2700" baseline="1543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29871" y="1541463"/>
            <a:ext cx="10242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25" dirty="0">
                <a:latin typeface="Cambria Math"/>
                <a:cs typeface="Cambria Math"/>
              </a:rPr>
              <a:t>3.6 </a:t>
            </a:r>
            <a:r>
              <a:rPr sz="1400" spc="20" dirty="0">
                <a:latin typeface="Cambria Math"/>
                <a:cs typeface="Cambria Math"/>
              </a:rPr>
              <a:t>= 0.3 +</a:t>
            </a:r>
            <a:r>
              <a:rPr sz="1400" spc="-145" dirty="0">
                <a:latin typeface="Cambria Math"/>
                <a:cs typeface="Cambria Math"/>
              </a:rPr>
              <a:t> </a:t>
            </a:r>
            <a:r>
              <a:rPr sz="1400" spc="10" dirty="0">
                <a:latin typeface="Cambria Math"/>
                <a:cs typeface="Cambria Math"/>
              </a:rPr>
              <a:t>𝑐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093463" y="1822582"/>
            <a:ext cx="10795" cy="2458085"/>
          </a:xfrm>
          <a:custGeom>
            <a:avLst/>
            <a:gdLst/>
            <a:ahLst/>
            <a:cxnLst/>
            <a:rect l="l" t="t" r="r" b="b"/>
            <a:pathLst>
              <a:path w="10794" h="2458085">
                <a:moveTo>
                  <a:pt x="10549" y="2457523"/>
                </a:moveTo>
                <a:lnTo>
                  <a:pt x="0" y="0"/>
                </a:lnTo>
              </a:path>
            </a:pathLst>
          </a:custGeom>
          <a:ln w="38099">
            <a:solidFill>
              <a:srgbClr val="F07F0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061" y="1929448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209930" y="1279412"/>
            <a:ext cx="1134745" cy="288290"/>
          </a:xfrm>
          <a:prstGeom prst="rect">
            <a:avLst/>
          </a:prstGeom>
          <a:ln w="12700">
            <a:solidFill>
              <a:srgbClr val="00AFF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1760">
              <a:lnSpc>
                <a:spcPts val="1710"/>
              </a:lnSpc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60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𝑥 − 𝑥</a:t>
            </a:r>
            <a:r>
              <a:rPr sz="1650" spc="35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1800" spc="44" baseline="27777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AFF0"/>
                </a:solidFill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F07F09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F07F09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F07F09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solidFill>
                  <a:srgbClr val="00AFF0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92306" y="1083563"/>
            <a:ext cx="631825" cy="194310"/>
          </a:xfrm>
          <a:custGeom>
            <a:avLst/>
            <a:gdLst/>
            <a:ahLst/>
            <a:cxnLst/>
            <a:rect l="l" t="t" r="r" b="b"/>
            <a:pathLst>
              <a:path w="631825" h="194309">
                <a:moveTo>
                  <a:pt x="569214" y="0"/>
                </a:moveTo>
                <a:lnTo>
                  <a:pt x="566562" y="7863"/>
                </a:lnTo>
                <a:lnTo>
                  <a:pt x="577775" y="12724"/>
                </a:lnTo>
                <a:lnTo>
                  <a:pt x="587414" y="19480"/>
                </a:lnTo>
                <a:lnTo>
                  <a:pt x="610628" y="64427"/>
                </a:lnTo>
                <a:lnTo>
                  <a:pt x="613562" y="96133"/>
                </a:lnTo>
                <a:lnTo>
                  <a:pt x="612824" y="113247"/>
                </a:lnTo>
                <a:lnTo>
                  <a:pt x="601980" y="155051"/>
                </a:lnTo>
                <a:lnTo>
                  <a:pt x="566806" y="186171"/>
                </a:lnTo>
                <a:lnTo>
                  <a:pt x="569214" y="194066"/>
                </a:lnTo>
                <a:lnTo>
                  <a:pt x="606345" y="172051"/>
                </a:lnTo>
                <a:lnTo>
                  <a:pt x="627209" y="131406"/>
                </a:lnTo>
                <a:lnTo>
                  <a:pt x="631210" y="97139"/>
                </a:lnTo>
                <a:lnTo>
                  <a:pt x="630210" y="79334"/>
                </a:lnTo>
                <a:lnTo>
                  <a:pt x="615208" y="34046"/>
                </a:lnTo>
                <a:lnTo>
                  <a:pt x="583322" y="5071"/>
                </a:lnTo>
                <a:lnTo>
                  <a:pt x="569214" y="0"/>
                </a:lnTo>
                <a:close/>
              </a:path>
              <a:path w="631825" h="194309">
                <a:moveTo>
                  <a:pt x="61996" y="0"/>
                </a:moveTo>
                <a:lnTo>
                  <a:pt x="24885" y="22117"/>
                </a:lnTo>
                <a:lnTo>
                  <a:pt x="4000" y="62872"/>
                </a:lnTo>
                <a:lnTo>
                  <a:pt x="0" y="97139"/>
                </a:lnTo>
                <a:lnTo>
                  <a:pt x="1000" y="114956"/>
                </a:lnTo>
                <a:lnTo>
                  <a:pt x="16002" y="160141"/>
                </a:lnTo>
                <a:lnTo>
                  <a:pt x="47835" y="189014"/>
                </a:lnTo>
                <a:lnTo>
                  <a:pt x="61996" y="194066"/>
                </a:lnTo>
                <a:lnTo>
                  <a:pt x="64404" y="186171"/>
                </a:lnTo>
                <a:lnTo>
                  <a:pt x="53349" y="181292"/>
                </a:lnTo>
                <a:lnTo>
                  <a:pt x="43811" y="174475"/>
                </a:lnTo>
                <a:lnTo>
                  <a:pt x="20657" y="128781"/>
                </a:lnTo>
                <a:lnTo>
                  <a:pt x="17800" y="96133"/>
                </a:lnTo>
                <a:lnTo>
                  <a:pt x="18514" y="79543"/>
                </a:lnTo>
                <a:lnTo>
                  <a:pt x="29230" y="38618"/>
                </a:lnTo>
                <a:lnTo>
                  <a:pt x="64648" y="7863"/>
                </a:lnTo>
                <a:lnTo>
                  <a:pt x="61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3881696" y="1010221"/>
          <a:ext cx="4814566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38505"/>
                <a:gridCol w="833119"/>
                <a:gridCol w="13677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 𝑥</a:t>
                      </a:r>
                      <a:r>
                        <a:rPr sz="165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7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835"/>
                        </a:lnSpc>
                      </a:pPr>
                      <a:r>
                        <a:rPr sz="1650" spc="-10" dirty="0">
                          <a:latin typeface="Cambria Math"/>
                          <a:cs typeface="Cambria Math"/>
                        </a:rPr>
                        <a:t>(𝑥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650" spc="-5" dirty="0">
                          <a:latin typeface="Cambria Math"/>
                          <a:cs typeface="Cambria Math"/>
                        </a:rPr>
                        <a:t>𝑥)(𝑦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25" dirty="0">
                          <a:latin typeface="Cambria Math"/>
                          <a:cs typeface="Cambria Math"/>
                        </a:rPr>
                        <a:t>𝑦)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8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1964"/>
                        </a:lnSpc>
                        <a:spcBef>
                          <a:spcPts val="3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905"/>
                        </a:lnSpc>
                      </a:pPr>
                      <a:r>
                        <a:rPr sz="2475" spc="22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 algn="ctr">
                        <a:lnSpc>
                          <a:spcPts val="1905"/>
                        </a:lnSpc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935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algn="ctr">
                        <a:lnSpc>
                          <a:spcPts val="1925"/>
                        </a:lnSpc>
                        <a:spcBef>
                          <a:spcPts val="1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78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337" baseline="1683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6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2.8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11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6598036" y="2725425"/>
            <a:ext cx="72136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1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10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04711" y="2716218"/>
            <a:ext cx="600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99029" y="3499804"/>
            <a:ext cx="563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2700" spc="-15" baseline="1543" dirty="0">
                <a:latin typeface="Cambria Math"/>
                <a:cs typeface="Cambria Math"/>
              </a:rPr>
              <a:t>0.1</a:t>
            </a:r>
            <a:endParaRPr sz="2700" baseline="1543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83452" y="1554417"/>
            <a:ext cx="10242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20" dirty="0">
                <a:latin typeface="Cambria Math"/>
                <a:cs typeface="Cambria Math"/>
              </a:rPr>
              <a:t>3.6 − 0.3 =</a:t>
            </a:r>
            <a:r>
              <a:rPr sz="1400" spc="-130" dirty="0">
                <a:latin typeface="Cambria Math"/>
                <a:cs typeface="Cambria Math"/>
              </a:rPr>
              <a:t> </a:t>
            </a:r>
            <a:r>
              <a:rPr sz="1400" spc="10" dirty="0">
                <a:latin typeface="Cambria Math"/>
                <a:cs typeface="Cambria Math"/>
              </a:rPr>
              <a:t>𝑐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093463" y="1822582"/>
            <a:ext cx="10795" cy="2458085"/>
          </a:xfrm>
          <a:custGeom>
            <a:avLst/>
            <a:gdLst/>
            <a:ahLst/>
            <a:cxnLst/>
            <a:rect l="l" t="t" r="r" b="b"/>
            <a:pathLst>
              <a:path w="10794" h="2458085">
                <a:moveTo>
                  <a:pt x="10549" y="2457523"/>
                </a:moveTo>
                <a:lnTo>
                  <a:pt x="0" y="0"/>
                </a:lnTo>
              </a:path>
            </a:pathLst>
          </a:custGeom>
          <a:ln w="38099">
            <a:solidFill>
              <a:srgbClr val="F07F0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061" y="1929448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209930" y="1279412"/>
            <a:ext cx="1134745" cy="288290"/>
          </a:xfrm>
          <a:prstGeom prst="rect">
            <a:avLst/>
          </a:prstGeom>
          <a:ln w="12700">
            <a:solidFill>
              <a:srgbClr val="00AFF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1760">
              <a:lnSpc>
                <a:spcPts val="1710"/>
              </a:lnSpc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60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𝑥 − 𝑥</a:t>
            </a:r>
            <a:r>
              <a:rPr sz="1650" spc="35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1800" spc="44" baseline="27777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AFF0"/>
                </a:solidFill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F07F09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F07F09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F07F09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solidFill>
                  <a:srgbClr val="00AFF0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92306" y="1083563"/>
            <a:ext cx="631825" cy="194310"/>
          </a:xfrm>
          <a:custGeom>
            <a:avLst/>
            <a:gdLst/>
            <a:ahLst/>
            <a:cxnLst/>
            <a:rect l="l" t="t" r="r" b="b"/>
            <a:pathLst>
              <a:path w="631825" h="194309">
                <a:moveTo>
                  <a:pt x="569214" y="0"/>
                </a:moveTo>
                <a:lnTo>
                  <a:pt x="566562" y="7863"/>
                </a:lnTo>
                <a:lnTo>
                  <a:pt x="577775" y="12724"/>
                </a:lnTo>
                <a:lnTo>
                  <a:pt x="587414" y="19480"/>
                </a:lnTo>
                <a:lnTo>
                  <a:pt x="610628" y="64427"/>
                </a:lnTo>
                <a:lnTo>
                  <a:pt x="613562" y="96133"/>
                </a:lnTo>
                <a:lnTo>
                  <a:pt x="612824" y="113247"/>
                </a:lnTo>
                <a:lnTo>
                  <a:pt x="601980" y="155051"/>
                </a:lnTo>
                <a:lnTo>
                  <a:pt x="566806" y="186171"/>
                </a:lnTo>
                <a:lnTo>
                  <a:pt x="569214" y="194066"/>
                </a:lnTo>
                <a:lnTo>
                  <a:pt x="606345" y="172051"/>
                </a:lnTo>
                <a:lnTo>
                  <a:pt x="627209" y="131406"/>
                </a:lnTo>
                <a:lnTo>
                  <a:pt x="631210" y="97139"/>
                </a:lnTo>
                <a:lnTo>
                  <a:pt x="630210" y="79334"/>
                </a:lnTo>
                <a:lnTo>
                  <a:pt x="615208" y="34046"/>
                </a:lnTo>
                <a:lnTo>
                  <a:pt x="583322" y="5071"/>
                </a:lnTo>
                <a:lnTo>
                  <a:pt x="569214" y="0"/>
                </a:lnTo>
                <a:close/>
              </a:path>
              <a:path w="631825" h="194309">
                <a:moveTo>
                  <a:pt x="61996" y="0"/>
                </a:moveTo>
                <a:lnTo>
                  <a:pt x="24885" y="22117"/>
                </a:lnTo>
                <a:lnTo>
                  <a:pt x="4000" y="62872"/>
                </a:lnTo>
                <a:lnTo>
                  <a:pt x="0" y="97139"/>
                </a:lnTo>
                <a:lnTo>
                  <a:pt x="1000" y="114956"/>
                </a:lnTo>
                <a:lnTo>
                  <a:pt x="16002" y="160141"/>
                </a:lnTo>
                <a:lnTo>
                  <a:pt x="47835" y="189014"/>
                </a:lnTo>
                <a:lnTo>
                  <a:pt x="61996" y="194066"/>
                </a:lnTo>
                <a:lnTo>
                  <a:pt x="64404" y="186171"/>
                </a:lnTo>
                <a:lnTo>
                  <a:pt x="53349" y="181292"/>
                </a:lnTo>
                <a:lnTo>
                  <a:pt x="43811" y="174475"/>
                </a:lnTo>
                <a:lnTo>
                  <a:pt x="20657" y="128781"/>
                </a:lnTo>
                <a:lnTo>
                  <a:pt x="17800" y="96133"/>
                </a:lnTo>
                <a:lnTo>
                  <a:pt x="18514" y="79543"/>
                </a:lnTo>
                <a:lnTo>
                  <a:pt x="29230" y="38618"/>
                </a:lnTo>
                <a:lnTo>
                  <a:pt x="64648" y="7863"/>
                </a:lnTo>
                <a:lnTo>
                  <a:pt x="61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3881696" y="1010221"/>
          <a:ext cx="4814566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38505"/>
                <a:gridCol w="833119"/>
                <a:gridCol w="13677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 𝑥</a:t>
                      </a:r>
                      <a:r>
                        <a:rPr sz="165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7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835"/>
                        </a:lnSpc>
                      </a:pPr>
                      <a:r>
                        <a:rPr sz="1650" spc="-10" dirty="0">
                          <a:latin typeface="Cambria Math"/>
                          <a:cs typeface="Cambria Math"/>
                        </a:rPr>
                        <a:t>(𝑥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650" spc="-5" dirty="0">
                          <a:latin typeface="Cambria Math"/>
                          <a:cs typeface="Cambria Math"/>
                        </a:rPr>
                        <a:t>𝑥)(𝑦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25" dirty="0">
                          <a:latin typeface="Cambria Math"/>
                          <a:cs typeface="Cambria Math"/>
                        </a:rPr>
                        <a:t>𝑦)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8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1964"/>
                        </a:lnSpc>
                        <a:spcBef>
                          <a:spcPts val="3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905"/>
                        </a:lnSpc>
                      </a:pPr>
                      <a:r>
                        <a:rPr sz="2475" spc="22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 algn="ctr">
                        <a:lnSpc>
                          <a:spcPts val="1905"/>
                        </a:lnSpc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935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algn="ctr">
                        <a:lnSpc>
                          <a:spcPts val="1925"/>
                        </a:lnSpc>
                        <a:spcBef>
                          <a:spcPts val="1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78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337" baseline="1683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6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2.8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11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6598036" y="2725425"/>
            <a:ext cx="72136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1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10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04711" y="2716218"/>
            <a:ext cx="600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99029" y="3499804"/>
            <a:ext cx="563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2700" spc="-15" baseline="1543" dirty="0">
                <a:latin typeface="Cambria Math"/>
                <a:cs typeface="Cambria Math"/>
              </a:rPr>
              <a:t>0.1</a:t>
            </a:r>
            <a:endParaRPr sz="2700" baseline="1543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62281" y="1541717"/>
            <a:ext cx="5765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25" dirty="0">
                <a:latin typeface="Cambria Math"/>
                <a:cs typeface="Cambria Math"/>
              </a:rPr>
              <a:t>3.3 </a:t>
            </a:r>
            <a:r>
              <a:rPr sz="1400" spc="20" dirty="0">
                <a:latin typeface="Cambria Math"/>
                <a:cs typeface="Cambria Math"/>
              </a:rPr>
              <a:t>=</a:t>
            </a:r>
            <a:r>
              <a:rPr sz="1400" spc="-35" dirty="0">
                <a:latin typeface="Cambria Math"/>
                <a:cs typeface="Cambria Math"/>
              </a:rPr>
              <a:t> </a:t>
            </a:r>
            <a:r>
              <a:rPr sz="1400" spc="10" dirty="0">
                <a:latin typeface="Cambria Math"/>
                <a:cs typeface="Cambria Math"/>
              </a:rPr>
              <a:t>𝑐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093463" y="1822582"/>
            <a:ext cx="10795" cy="2458085"/>
          </a:xfrm>
          <a:custGeom>
            <a:avLst/>
            <a:gdLst/>
            <a:ahLst/>
            <a:cxnLst/>
            <a:rect l="l" t="t" r="r" b="b"/>
            <a:pathLst>
              <a:path w="10794" h="2458085">
                <a:moveTo>
                  <a:pt x="10549" y="2457523"/>
                </a:moveTo>
                <a:lnTo>
                  <a:pt x="0" y="0"/>
                </a:lnTo>
              </a:path>
            </a:pathLst>
          </a:custGeom>
          <a:ln w="38099">
            <a:solidFill>
              <a:srgbClr val="F07F0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1658995"/>
            <a:ext cx="114300" cy="2606040"/>
          </a:xfrm>
          <a:custGeom>
            <a:avLst/>
            <a:gdLst/>
            <a:ahLst/>
            <a:cxnLst/>
            <a:rect l="l" t="t" r="r" b="b"/>
            <a:pathLst>
              <a:path w="114300" h="2606040">
                <a:moveTo>
                  <a:pt x="76200" y="95250"/>
                </a:moveTo>
                <a:lnTo>
                  <a:pt x="38100" y="95250"/>
                </a:lnTo>
                <a:lnTo>
                  <a:pt x="38100" y="2605957"/>
                </a:lnTo>
                <a:lnTo>
                  <a:pt x="76200" y="2605957"/>
                </a:lnTo>
                <a:lnTo>
                  <a:pt x="76200" y="95250"/>
                </a:lnTo>
                <a:close/>
              </a:path>
              <a:path w="114300" h="260604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604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667" y="4225564"/>
            <a:ext cx="3753485" cy="114300"/>
          </a:xfrm>
          <a:custGeom>
            <a:avLst/>
            <a:gdLst/>
            <a:ahLst/>
            <a:cxnLst/>
            <a:rect l="l" t="t" r="r" b="b"/>
            <a:pathLst>
              <a:path w="3753485" h="114300">
                <a:moveTo>
                  <a:pt x="3638876" y="0"/>
                </a:moveTo>
                <a:lnTo>
                  <a:pt x="3638713" y="38101"/>
                </a:lnTo>
                <a:lnTo>
                  <a:pt x="3657804" y="38194"/>
                </a:lnTo>
                <a:lnTo>
                  <a:pt x="3657560" y="76294"/>
                </a:lnTo>
                <a:lnTo>
                  <a:pt x="3638550" y="76294"/>
                </a:lnTo>
                <a:lnTo>
                  <a:pt x="3638388" y="114300"/>
                </a:lnTo>
                <a:lnTo>
                  <a:pt x="3715312" y="76294"/>
                </a:lnTo>
                <a:lnTo>
                  <a:pt x="3657560" y="76294"/>
                </a:lnTo>
                <a:lnTo>
                  <a:pt x="3715500" y="76201"/>
                </a:lnTo>
                <a:lnTo>
                  <a:pt x="3752932" y="57707"/>
                </a:lnTo>
                <a:lnTo>
                  <a:pt x="3638876" y="0"/>
                </a:lnTo>
                <a:close/>
              </a:path>
              <a:path w="3753485" h="114300">
                <a:moveTo>
                  <a:pt x="3638713" y="38101"/>
                </a:moveTo>
                <a:lnTo>
                  <a:pt x="3638551" y="76201"/>
                </a:lnTo>
                <a:lnTo>
                  <a:pt x="3657560" y="76294"/>
                </a:lnTo>
                <a:lnTo>
                  <a:pt x="3657804" y="38194"/>
                </a:lnTo>
                <a:lnTo>
                  <a:pt x="3638713" y="38101"/>
                </a:lnTo>
                <a:close/>
              </a:path>
              <a:path w="3753485" h="114300">
                <a:moveTo>
                  <a:pt x="164" y="20348"/>
                </a:moveTo>
                <a:lnTo>
                  <a:pt x="0" y="58448"/>
                </a:lnTo>
                <a:lnTo>
                  <a:pt x="3638551" y="76201"/>
                </a:lnTo>
                <a:lnTo>
                  <a:pt x="3638713" y="38101"/>
                </a:lnTo>
                <a:lnTo>
                  <a:pt x="164" y="2034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93" y="155676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10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50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p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-45" dirty="0">
                <a:solidFill>
                  <a:srgbClr val="6B9E24"/>
                </a:solidFill>
                <a:latin typeface="Calibri Light"/>
                <a:cs typeface="Calibri Light"/>
              </a:rPr>
              <a:t>d</a:t>
            </a:r>
            <a:r>
              <a:rPr sz="800" b="0" spc="-25" dirty="0">
                <a:solidFill>
                  <a:srgbClr val="6B9E24"/>
                </a:solidFill>
                <a:latin typeface="Calibri Light"/>
                <a:cs typeface="Calibri Light"/>
              </a:rPr>
              <a:t>e</a:t>
            </a:r>
            <a:r>
              <a:rPr sz="800" b="0" spc="30" dirty="0">
                <a:solidFill>
                  <a:srgbClr val="6B9E24"/>
                </a:solidFill>
                <a:latin typeface="Calibri Light"/>
                <a:cs typeface="Calibri Light"/>
              </a:rPr>
              <a:t>n</a:t>
            </a:r>
            <a:r>
              <a:rPr sz="800" b="0" spc="5" dirty="0">
                <a:solidFill>
                  <a:srgbClr val="6B9E24"/>
                </a:solidFill>
                <a:latin typeface="Calibri Light"/>
                <a:cs typeface="Calibri Light"/>
              </a:rPr>
              <a:t>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1269" y="4218939"/>
            <a:ext cx="9486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  <a:p>
            <a:pPr marL="36830">
              <a:lnSpc>
                <a:spcPts val="919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r>
              <a:rPr sz="800" b="0" spc="-105" dirty="0">
                <a:solidFill>
                  <a:srgbClr val="F07F09"/>
                </a:solidFill>
                <a:latin typeface="Calibri Light"/>
                <a:cs typeface="Calibri Light"/>
              </a:rPr>
              <a:t> </a:t>
            </a:r>
            <a:r>
              <a:rPr sz="800" b="0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299" y="1378645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7739" y="246024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61" y="3764275"/>
            <a:ext cx="141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061" y="1929448"/>
            <a:ext cx="145415" cy="162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650">
              <a:latin typeface="Cambria Math"/>
              <a:cs typeface="Cambria Math"/>
            </a:endParaRPr>
          </a:p>
          <a:p>
            <a:pPr marL="15240">
              <a:lnSpc>
                <a:spcPct val="100000"/>
              </a:lnSpc>
              <a:spcBef>
                <a:spcPts val="155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92624" y="1975469"/>
            <a:ext cx="190493" cy="19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7750" y="24799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9758" y="4311653"/>
            <a:ext cx="305498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955675" algn="l"/>
                <a:tab pos="1447800" algn="l"/>
                <a:tab pos="1940560" algn="l"/>
                <a:tab pos="2433320" algn="l"/>
                <a:tab pos="2925445" algn="l"/>
              </a:tabLst>
            </a:pP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2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F4778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03048" y="2558926"/>
            <a:ext cx="190500" cy="190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80560" y="3320283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209930" y="1279412"/>
            <a:ext cx="1134745" cy="288290"/>
          </a:xfrm>
          <a:prstGeom prst="rect">
            <a:avLst/>
          </a:prstGeom>
          <a:ln w="12700">
            <a:solidFill>
              <a:srgbClr val="00AFF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1760">
              <a:lnSpc>
                <a:spcPts val="1710"/>
              </a:lnSpc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60" dirty="0">
                <a:latin typeface="Cambria Math"/>
                <a:cs typeface="Cambria Math"/>
              </a:rPr>
              <a:t> </a:t>
            </a:r>
            <a:r>
              <a:rPr sz="1650" spc="-1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10" dirty="0">
                <a:latin typeface="Cambria Math"/>
                <a:cs typeface="Cambria Math"/>
              </a:rPr>
              <a:t>x+c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𝑥 − 𝑥</a:t>
            </a:r>
            <a:r>
              <a:rPr sz="1650" spc="35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1800" spc="44" baseline="27777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AFF0"/>
                </a:solidFill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F07F09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F07F09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F07F09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solidFill>
                  <a:srgbClr val="00AFF0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97960" y="2863595"/>
            <a:ext cx="190500" cy="190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92306" y="1083563"/>
            <a:ext cx="631825" cy="194310"/>
          </a:xfrm>
          <a:custGeom>
            <a:avLst/>
            <a:gdLst/>
            <a:ahLst/>
            <a:cxnLst/>
            <a:rect l="l" t="t" r="r" b="b"/>
            <a:pathLst>
              <a:path w="631825" h="194309">
                <a:moveTo>
                  <a:pt x="569214" y="0"/>
                </a:moveTo>
                <a:lnTo>
                  <a:pt x="566562" y="7863"/>
                </a:lnTo>
                <a:lnTo>
                  <a:pt x="577775" y="12724"/>
                </a:lnTo>
                <a:lnTo>
                  <a:pt x="587414" y="19480"/>
                </a:lnTo>
                <a:lnTo>
                  <a:pt x="610628" y="64427"/>
                </a:lnTo>
                <a:lnTo>
                  <a:pt x="613562" y="96133"/>
                </a:lnTo>
                <a:lnTo>
                  <a:pt x="612824" y="113247"/>
                </a:lnTo>
                <a:lnTo>
                  <a:pt x="601980" y="155051"/>
                </a:lnTo>
                <a:lnTo>
                  <a:pt x="566806" y="186171"/>
                </a:lnTo>
                <a:lnTo>
                  <a:pt x="569214" y="194066"/>
                </a:lnTo>
                <a:lnTo>
                  <a:pt x="606345" y="172051"/>
                </a:lnTo>
                <a:lnTo>
                  <a:pt x="627209" y="131406"/>
                </a:lnTo>
                <a:lnTo>
                  <a:pt x="631210" y="97139"/>
                </a:lnTo>
                <a:lnTo>
                  <a:pt x="630210" y="79334"/>
                </a:lnTo>
                <a:lnTo>
                  <a:pt x="615208" y="34046"/>
                </a:lnTo>
                <a:lnTo>
                  <a:pt x="583322" y="5071"/>
                </a:lnTo>
                <a:lnTo>
                  <a:pt x="569214" y="0"/>
                </a:lnTo>
                <a:close/>
              </a:path>
              <a:path w="631825" h="194309">
                <a:moveTo>
                  <a:pt x="61996" y="0"/>
                </a:moveTo>
                <a:lnTo>
                  <a:pt x="24885" y="22117"/>
                </a:lnTo>
                <a:lnTo>
                  <a:pt x="4000" y="62872"/>
                </a:lnTo>
                <a:lnTo>
                  <a:pt x="0" y="97139"/>
                </a:lnTo>
                <a:lnTo>
                  <a:pt x="1000" y="114956"/>
                </a:lnTo>
                <a:lnTo>
                  <a:pt x="16002" y="160141"/>
                </a:lnTo>
                <a:lnTo>
                  <a:pt x="47835" y="189014"/>
                </a:lnTo>
                <a:lnTo>
                  <a:pt x="61996" y="194066"/>
                </a:lnTo>
                <a:lnTo>
                  <a:pt x="64404" y="186171"/>
                </a:lnTo>
                <a:lnTo>
                  <a:pt x="53349" y="181292"/>
                </a:lnTo>
                <a:lnTo>
                  <a:pt x="43811" y="174475"/>
                </a:lnTo>
                <a:lnTo>
                  <a:pt x="20657" y="128781"/>
                </a:lnTo>
                <a:lnTo>
                  <a:pt x="17800" y="96133"/>
                </a:lnTo>
                <a:lnTo>
                  <a:pt x="18514" y="79543"/>
                </a:lnTo>
                <a:lnTo>
                  <a:pt x="29230" y="38618"/>
                </a:lnTo>
                <a:lnTo>
                  <a:pt x="64648" y="7863"/>
                </a:lnTo>
                <a:lnTo>
                  <a:pt x="61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3881696" y="1010221"/>
          <a:ext cx="4814566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38505"/>
                <a:gridCol w="833119"/>
                <a:gridCol w="13677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 𝑥</a:t>
                      </a:r>
                      <a:r>
                        <a:rPr sz="165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7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835"/>
                        </a:lnSpc>
                      </a:pPr>
                      <a:r>
                        <a:rPr sz="1650" spc="-10" dirty="0">
                          <a:latin typeface="Cambria Math"/>
                          <a:cs typeface="Cambria Math"/>
                        </a:rPr>
                        <a:t>(𝑥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650" spc="-5" dirty="0">
                          <a:latin typeface="Cambria Math"/>
                          <a:cs typeface="Cambria Math"/>
                        </a:rPr>
                        <a:t>𝑥)(𝑦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25" dirty="0">
                          <a:latin typeface="Cambria Math"/>
                          <a:cs typeface="Cambria Math"/>
                        </a:rPr>
                        <a:t>𝑦)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8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1964"/>
                        </a:lnSpc>
                        <a:spcBef>
                          <a:spcPts val="3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905"/>
                        </a:lnSpc>
                      </a:pPr>
                      <a:r>
                        <a:rPr sz="2475" spc="22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 algn="ctr">
                        <a:lnSpc>
                          <a:spcPts val="1905"/>
                        </a:lnSpc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935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algn="ctr">
                        <a:lnSpc>
                          <a:spcPts val="1925"/>
                        </a:lnSpc>
                        <a:spcBef>
                          <a:spcPts val="1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78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337" baseline="1683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6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2.8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11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6598036" y="2725425"/>
            <a:ext cx="72136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1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10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04711" y="2716218"/>
            <a:ext cx="600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99029" y="3499804"/>
            <a:ext cx="563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2700" spc="-15" baseline="1543" dirty="0">
                <a:latin typeface="Cambria Math"/>
                <a:cs typeface="Cambria Math"/>
              </a:rPr>
              <a:t>0.1</a:t>
            </a:r>
            <a:endParaRPr sz="2700" baseline="1543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65710" y="1541082"/>
            <a:ext cx="5759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20" dirty="0">
                <a:latin typeface="Cambria Math"/>
                <a:cs typeface="Cambria Math"/>
              </a:rPr>
              <a:t>3.3 =</a:t>
            </a:r>
            <a:r>
              <a:rPr sz="1400" spc="-20" dirty="0">
                <a:latin typeface="Cambria Math"/>
                <a:cs typeface="Cambria Math"/>
              </a:rPr>
              <a:t> </a:t>
            </a:r>
            <a:r>
              <a:rPr sz="1400" spc="10" dirty="0">
                <a:latin typeface="Cambria Math"/>
                <a:cs typeface="Cambria Math"/>
              </a:rPr>
              <a:t>𝑐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94730" y="2636770"/>
            <a:ext cx="2885440" cy="0"/>
          </a:xfrm>
          <a:custGeom>
            <a:avLst/>
            <a:gdLst/>
            <a:ahLst/>
            <a:cxnLst/>
            <a:rect l="l" t="t" r="r" b="b"/>
            <a:pathLst>
              <a:path w="2885440">
                <a:moveTo>
                  <a:pt x="0" y="0"/>
                </a:moveTo>
                <a:lnTo>
                  <a:pt x="2885023" y="0"/>
                </a:lnTo>
              </a:path>
            </a:pathLst>
          </a:custGeom>
          <a:ln w="38099">
            <a:solidFill>
              <a:srgbClr val="6B9E24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093463" y="1822582"/>
            <a:ext cx="10795" cy="2458085"/>
          </a:xfrm>
          <a:custGeom>
            <a:avLst/>
            <a:gdLst/>
            <a:ahLst/>
            <a:cxnLst/>
            <a:rect l="l" t="t" r="r" b="b"/>
            <a:pathLst>
              <a:path w="10794" h="2458085">
                <a:moveTo>
                  <a:pt x="10549" y="2457523"/>
                </a:moveTo>
                <a:lnTo>
                  <a:pt x="0" y="0"/>
                </a:lnTo>
              </a:path>
            </a:pathLst>
          </a:custGeom>
          <a:ln w="38099">
            <a:solidFill>
              <a:srgbClr val="F07F0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84812" y="2397252"/>
            <a:ext cx="3088005" cy="422275"/>
          </a:xfrm>
          <a:custGeom>
            <a:avLst/>
            <a:gdLst/>
            <a:ahLst/>
            <a:cxnLst/>
            <a:rect l="l" t="t" r="r" b="b"/>
            <a:pathLst>
              <a:path w="3088004" h="422275">
                <a:moveTo>
                  <a:pt x="0" y="422016"/>
                </a:moveTo>
                <a:lnTo>
                  <a:pt x="3087605" y="0"/>
                </a:lnTo>
              </a:path>
            </a:pathLst>
          </a:custGeom>
          <a:ln w="2857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56594" y="2790444"/>
            <a:ext cx="186022" cy="22580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35978" y="2973639"/>
            <a:ext cx="3079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B9E24"/>
                </a:solidFill>
                <a:latin typeface="Cambria Math"/>
                <a:cs typeface="Cambria Math"/>
              </a:rPr>
              <a:t>c</a:t>
            </a:r>
            <a:r>
              <a:rPr sz="900" spc="-5" dirty="0">
                <a:solidFill>
                  <a:srgbClr val="6B9E24"/>
                </a:solidFill>
                <a:latin typeface="Cambria Math"/>
                <a:cs typeface="Cambria Math"/>
              </a:rPr>
              <a:t>=</a:t>
            </a:r>
            <a:r>
              <a:rPr sz="900" spc="25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r>
              <a:rPr sz="900" spc="-40" dirty="0">
                <a:solidFill>
                  <a:srgbClr val="6B9E24"/>
                </a:solidFill>
                <a:latin typeface="Cambria Math"/>
                <a:cs typeface="Cambria Math"/>
              </a:rPr>
              <a:t>.</a:t>
            </a:r>
            <a:r>
              <a:rPr sz="900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0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5" dirty="0"/>
              <a:t>Understanding</a:t>
            </a:r>
            <a:r>
              <a:rPr spc="-50" dirty="0"/>
              <a:t> </a:t>
            </a:r>
            <a:r>
              <a:rPr spc="25" dirty="0"/>
              <a:t>Linear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0131" y="601591"/>
            <a:ext cx="19640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3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eg</a:t>
            </a:r>
            <a:r>
              <a:rPr sz="275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sz="2750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50" b="1" spc="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50" b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47798" y="2858069"/>
            <a:ext cx="4381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0" spc="50" dirty="0">
                <a:solidFill>
                  <a:srgbClr val="00AFF0"/>
                </a:solidFill>
                <a:latin typeface="Calibri Light"/>
                <a:cs typeface="Calibri Light"/>
              </a:rPr>
              <a:t>m</a:t>
            </a:r>
            <a:r>
              <a:rPr sz="1350" b="0" spc="80" dirty="0">
                <a:solidFill>
                  <a:srgbClr val="00AFF0"/>
                </a:solidFill>
                <a:latin typeface="Calibri Light"/>
                <a:cs typeface="Calibri Light"/>
              </a:rPr>
              <a:t>e</a:t>
            </a:r>
            <a:r>
              <a:rPr sz="1350" b="0" spc="35" dirty="0">
                <a:solidFill>
                  <a:srgbClr val="00AFF0"/>
                </a:solidFill>
                <a:latin typeface="Calibri Light"/>
                <a:cs typeface="Calibri Light"/>
              </a:rPr>
              <a:t>a</a:t>
            </a:r>
            <a:r>
              <a:rPr sz="1350" b="0" dirty="0">
                <a:solidFill>
                  <a:srgbClr val="00AFF0"/>
                </a:solidFill>
                <a:latin typeface="Calibri Light"/>
                <a:cs typeface="Calibri Light"/>
              </a:rPr>
              <a:t>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10358" y="2814318"/>
            <a:ext cx="8197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650" dirty="0">
                <a:latin typeface="Cambria Math"/>
                <a:cs typeface="Cambria Math"/>
              </a:rPr>
              <a:t>3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-15" dirty="0">
                <a:latin typeface="Cambria Math"/>
                <a:cs typeface="Cambria Math"/>
              </a:rPr>
              <a:t>3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6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41298" y="3736597"/>
            <a:ext cx="631190" cy="194310"/>
          </a:xfrm>
          <a:custGeom>
            <a:avLst/>
            <a:gdLst/>
            <a:ahLst/>
            <a:cxnLst/>
            <a:rect l="l" t="t" r="r" b="b"/>
            <a:pathLst>
              <a:path w="631190" h="194310">
                <a:moveTo>
                  <a:pt x="569214" y="0"/>
                </a:moveTo>
                <a:lnTo>
                  <a:pt x="566409" y="7869"/>
                </a:lnTo>
                <a:lnTo>
                  <a:pt x="577698" y="12723"/>
                </a:lnTo>
                <a:lnTo>
                  <a:pt x="587383" y="19471"/>
                </a:lnTo>
                <a:lnTo>
                  <a:pt x="610552" y="64414"/>
                </a:lnTo>
                <a:lnTo>
                  <a:pt x="613410" y="96130"/>
                </a:lnTo>
                <a:lnTo>
                  <a:pt x="612693" y="113189"/>
                </a:lnTo>
                <a:lnTo>
                  <a:pt x="601858" y="155115"/>
                </a:lnTo>
                <a:lnTo>
                  <a:pt x="566806" y="186214"/>
                </a:lnTo>
                <a:lnTo>
                  <a:pt x="569214" y="194096"/>
                </a:lnTo>
                <a:lnTo>
                  <a:pt x="606298" y="172055"/>
                </a:lnTo>
                <a:lnTo>
                  <a:pt x="627179" y="131390"/>
                </a:lnTo>
                <a:lnTo>
                  <a:pt x="631179" y="97155"/>
                </a:lnTo>
                <a:lnTo>
                  <a:pt x="630160" y="79341"/>
                </a:lnTo>
                <a:lnTo>
                  <a:pt x="615055" y="34027"/>
                </a:lnTo>
                <a:lnTo>
                  <a:pt x="583286" y="5065"/>
                </a:lnTo>
                <a:lnTo>
                  <a:pt x="569214" y="0"/>
                </a:lnTo>
                <a:close/>
              </a:path>
              <a:path w="631190" h="194310">
                <a:moveTo>
                  <a:pt x="61843" y="0"/>
                </a:moveTo>
                <a:lnTo>
                  <a:pt x="24862" y="22104"/>
                </a:lnTo>
                <a:lnTo>
                  <a:pt x="4000" y="62876"/>
                </a:lnTo>
                <a:lnTo>
                  <a:pt x="0" y="97155"/>
                </a:lnTo>
                <a:lnTo>
                  <a:pt x="998" y="114952"/>
                </a:lnTo>
                <a:lnTo>
                  <a:pt x="15880" y="160163"/>
                </a:lnTo>
                <a:lnTo>
                  <a:pt x="47752" y="189021"/>
                </a:lnTo>
                <a:lnTo>
                  <a:pt x="61843" y="194096"/>
                </a:lnTo>
                <a:lnTo>
                  <a:pt x="64251" y="186214"/>
                </a:lnTo>
                <a:lnTo>
                  <a:pt x="53198" y="181316"/>
                </a:lnTo>
                <a:lnTo>
                  <a:pt x="43674" y="174499"/>
                </a:lnTo>
                <a:lnTo>
                  <a:pt x="20520" y="128721"/>
                </a:lnTo>
                <a:lnTo>
                  <a:pt x="17647" y="96130"/>
                </a:lnTo>
                <a:lnTo>
                  <a:pt x="18364" y="79535"/>
                </a:lnTo>
                <a:lnTo>
                  <a:pt x="29199" y="38599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02380" y="3678549"/>
            <a:ext cx="6959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6B9E24"/>
                </a:solidFill>
                <a:latin typeface="Cambria Math"/>
                <a:cs typeface="Cambria Math"/>
              </a:rPr>
              <a:t>𝑥 − 𝑥</a:t>
            </a:r>
            <a:r>
              <a:rPr sz="1650" spc="35" dirty="0">
                <a:solidFill>
                  <a:srgbClr val="6B9E24"/>
                </a:solidFill>
                <a:latin typeface="Cambria Math"/>
                <a:cs typeface="Cambria Math"/>
              </a:rPr>
              <a:t> </a:t>
            </a:r>
            <a:r>
              <a:rPr sz="1800" spc="44" baseline="27777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05658" y="3492435"/>
            <a:ext cx="4013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m</a:t>
            </a:r>
            <a:r>
              <a:rPr sz="1650" spc="-90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=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06430" y="365404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577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34105" y="3229672"/>
            <a:ext cx="1570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AFF0"/>
                </a:solidFill>
                <a:latin typeface="Cambria Math"/>
                <a:cs typeface="Cambria Math"/>
              </a:rPr>
              <a:t>𝛴 </a:t>
            </a:r>
            <a:r>
              <a:rPr sz="2475" spc="-15" baseline="3367" dirty="0">
                <a:solidFill>
                  <a:srgbClr val="F07F09"/>
                </a:solidFill>
                <a:latin typeface="Cambria Math"/>
                <a:cs typeface="Cambria Math"/>
              </a:rPr>
              <a:t>(𝑥 </a:t>
            </a:r>
            <a:r>
              <a:rPr sz="2475" baseline="3367" dirty="0">
                <a:solidFill>
                  <a:srgbClr val="F07F09"/>
                </a:solidFill>
                <a:latin typeface="Cambria Math"/>
                <a:cs typeface="Cambria Math"/>
              </a:rPr>
              <a:t>− 𝑥)(𝑦 −</a:t>
            </a:r>
            <a:r>
              <a:rPr sz="2475" spc="-337" baseline="3367" dirty="0">
                <a:solidFill>
                  <a:srgbClr val="F07F09"/>
                </a:solidFill>
                <a:latin typeface="Cambria Math"/>
                <a:cs typeface="Cambria Math"/>
              </a:rPr>
              <a:t> </a:t>
            </a:r>
            <a:r>
              <a:rPr sz="2475" spc="37" baseline="3367" dirty="0">
                <a:solidFill>
                  <a:srgbClr val="F07F09"/>
                </a:solidFill>
                <a:latin typeface="Cambria Math"/>
                <a:cs typeface="Cambria Math"/>
              </a:rPr>
              <a:t>𝑦)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01317" y="3607747"/>
            <a:ext cx="21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solidFill>
                  <a:srgbClr val="00AFF0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592306" y="1083563"/>
            <a:ext cx="631825" cy="194310"/>
          </a:xfrm>
          <a:custGeom>
            <a:avLst/>
            <a:gdLst/>
            <a:ahLst/>
            <a:cxnLst/>
            <a:rect l="l" t="t" r="r" b="b"/>
            <a:pathLst>
              <a:path w="631825" h="194309">
                <a:moveTo>
                  <a:pt x="569214" y="0"/>
                </a:moveTo>
                <a:lnTo>
                  <a:pt x="566562" y="7863"/>
                </a:lnTo>
                <a:lnTo>
                  <a:pt x="577775" y="12724"/>
                </a:lnTo>
                <a:lnTo>
                  <a:pt x="587414" y="19480"/>
                </a:lnTo>
                <a:lnTo>
                  <a:pt x="610628" y="64427"/>
                </a:lnTo>
                <a:lnTo>
                  <a:pt x="613562" y="96133"/>
                </a:lnTo>
                <a:lnTo>
                  <a:pt x="612824" y="113247"/>
                </a:lnTo>
                <a:lnTo>
                  <a:pt x="601980" y="155051"/>
                </a:lnTo>
                <a:lnTo>
                  <a:pt x="566806" y="186171"/>
                </a:lnTo>
                <a:lnTo>
                  <a:pt x="569214" y="194066"/>
                </a:lnTo>
                <a:lnTo>
                  <a:pt x="606345" y="172051"/>
                </a:lnTo>
                <a:lnTo>
                  <a:pt x="627209" y="131406"/>
                </a:lnTo>
                <a:lnTo>
                  <a:pt x="631210" y="97139"/>
                </a:lnTo>
                <a:lnTo>
                  <a:pt x="630210" y="79334"/>
                </a:lnTo>
                <a:lnTo>
                  <a:pt x="615208" y="34046"/>
                </a:lnTo>
                <a:lnTo>
                  <a:pt x="583322" y="5071"/>
                </a:lnTo>
                <a:lnTo>
                  <a:pt x="569214" y="0"/>
                </a:lnTo>
                <a:close/>
              </a:path>
              <a:path w="631825" h="194309">
                <a:moveTo>
                  <a:pt x="61996" y="0"/>
                </a:moveTo>
                <a:lnTo>
                  <a:pt x="24885" y="22117"/>
                </a:lnTo>
                <a:lnTo>
                  <a:pt x="4000" y="62872"/>
                </a:lnTo>
                <a:lnTo>
                  <a:pt x="0" y="97139"/>
                </a:lnTo>
                <a:lnTo>
                  <a:pt x="1000" y="114956"/>
                </a:lnTo>
                <a:lnTo>
                  <a:pt x="16002" y="160141"/>
                </a:lnTo>
                <a:lnTo>
                  <a:pt x="47835" y="189014"/>
                </a:lnTo>
                <a:lnTo>
                  <a:pt x="61996" y="194066"/>
                </a:lnTo>
                <a:lnTo>
                  <a:pt x="64404" y="186171"/>
                </a:lnTo>
                <a:lnTo>
                  <a:pt x="53349" y="181292"/>
                </a:lnTo>
                <a:lnTo>
                  <a:pt x="43811" y="174475"/>
                </a:lnTo>
                <a:lnTo>
                  <a:pt x="20657" y="128781"/>
                </a:lnTo>
                <a:lnTo>
                  <a:pt x="17800" y="96133"/>
                </a:lnTo>
                <a:lnTo>
                  <a:pt x="18514" y="79543"/>
                </a:lnTo>
                <a:lnTo>
                  <a:pt x="29230" y="38618"/>
                </a:lnTo>
                <a:lnTo>
                  <a:pt x="64648" y="7863"/>
                </a:lnTo>
                <a:lnTo>
                  <a:pt x="61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3881696" y="1010221"/>
          <a:ext cx="4814566" cy="1701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5784"/>
                <a:gridCol w="745489"/>
                <a:gridCol w="738505"/>
                <a:gridCol w="833119"/>
                <a:gridCol w="1367789"/>
              </a:tblGrid>
              <a:tr h="275455">
                <a:tc>
                  <a:txBody>
                    <a:bodyPr/>
                    <a:lstStyle/>
                    <a:p>
                      <a:pPr marL="207010">
                        <a:lnSpc>
                          <a:spcPts val="192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64"/>
                        </a:lnSpc>
                        <a:spcBef>
                          <a:spcPts val="20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</a:t>
                      </a:r>
                      <a:r>
                        <a:rPr sz="1650" spc="-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970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 −</a:t>
                      </a:r>
                      <a:r>
                        <a:rPr sz="1650" spc="-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 − 𝑥</a:t>
                      </a:r>
                      <a:r>
                        <a:rPr sz="165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37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835"/>
                        </a:lnSpc>
                      </a:pPr>
                      <a:r>
                        <a:rPr sz="1650" spc="-10" dirty="0">
                          <a:latin typeface="Cambria Math"/>
                          <a:cs typeface="Cambria Math"/>
                        </a:rPr>
                        <a:t>(𝑥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 </a:t>
                      </a:r>
                      <a:r>
                        <a:rPr sz="1650" spc="-5" dirty="0">
                          <a:latin typeface="Cambria Math"/>
                          <a:cs typeface="Cambria Math"/>
                        </a:rPr>
                        <a:t>𝑥)(𝑦 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25" dirty="0">
                          <a:latin typeface="Cambria Math"/>
                          <a:cs typeface="Cambria Math"/>
                        </a:rPr>
                        <a:t>𝑦)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38100">
                      <a:solidFill>
                        <a:srgbClr val="00AFF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680"/>
                        </a:lnSpc>
                        <a:spcBef>
                          <a:spcPts val="3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  <a:spcBef>
                          <a:spcPts val="1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889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-5050" dirty="0">
                          <a:latin typeface="Cambria Math"/>
                          <a:cs typeface="Cambria Math"/>
                        </a:rPr>
                        <a:t>2</a:t>
                      </a:r>
                      <a:endParaRPr sz="2475" baseline="-50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950"/>
                        </a:lnSpc>
                        <a:spcBef>
                          <a:spcPts val="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8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1964"/>
                        </a:lnSpc>
                        <a:spcBef>
                          <a:spcPts val="3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226695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870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1</a:t>
                      </a:r>
                      <a:endParaRPr sz="2475" baseline="1683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905"/>
                        </a:lnSpc>
                      </a:pPr>
                      <a:r>
                        <a:rPr sz="2475" spc="22" baseline="3367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8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 algn="ctr">
                        <a:lnSpc>
                          <a:spcPts val="1905"/>
                        </a:lnSpc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11">
                <a:tc>
                  <a:txBody>
                    <a:bodyPr/>
                    <a:lstStyle/>
                    <a:p>
                      <a:pPr marL="226695">
                        <a:lnSpc>
                          <a:spcPts val="1864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75"/>
                        </a:lnSpc>
                        <a:spcBef>
                          <a:spcPts val="19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935"/>
                        </a:lnSpc>
                        <a:spcBef>
                          <a:spcPts val="1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algn="ctr">
                        <a:lnSpc>
                          <a:spcPts val="1925"/>
                        </a:lnSpc>
                        <a:spcBef>
                          <a:spcPts val="1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78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465">
                <a:tc>
                  <a:txBody>
                    <a:bodyPr/>
                    <a:lstStyle/>
                    <a:p>
                      <a:pPr marL="226695">
                        <a:lnSpc>
                          <a:spcPts val="1925"/>
                        </a:lnSpc>
                        <a:spcBef>
                          <a:spcPts val="3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35"/>
                        </a:lnSpc>
                        <a:spcBef>
                          <a:spcPts val="3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75" baseline="1683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75" spc="-337" baseline="1683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6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841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938">
                <a:tc>
                  <a:txBody>
                    <a:bodyPr/>
                    <a:lstStyle/>
                    <a:p>
                      <a:pPr marL="226695">
                        <a:lnSpc>
                          <a:spcPts val="1820"/>
                        </a:lnSpc>
                        <a:spcBef>
                          <a:spcPts val="5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42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25"/>
                        </a:lnSpc>
                        <a:spcBef>
                          <a:spcPts val="57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2.8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114" marB="0">
                    <a:lnL w="53975">
                      <a:solidFill>
                        <a:srgbClr val="00AFF0"/>
                      </a:solidFill>
                      <a:prstDash val="solid"/>
                    </a:lnL>
                    <a:lnR w="53975">
                      <a:solidFill>
                        <a:srgbClr val="00AFF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AF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6598036" y="2725425"/>
            <a:ext cx="72136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1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10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04711" y="2716218"/>
            <a:ext cx="600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𝛴 =</a:t>
            </a:r>
            <a:r>
              <a:rPr sz="1800" spc="2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99029" y="3499804"/>
            <a:ext cx="5632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2700" spc="-15" baseline="1543" dirty="0">
                <a:latin typeface="Cambria Math"/>
                <a:cs typeface="Cambria Math"/>
              </a:rPr>
              <a:t>0.1</a:t>
            </a:r>
            <a:endParaRPr sz="2700" baseline="1543">
              <a:latin typeface="Cambria Math"/>
              <a:cs typeface="Cambria Math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460061" y="1279412"/>
            <a:ext cx="5029898" cy="3309736"/>
            <a:chOff x="460061" y="1279412"/>
            <a:chExt cx="5029898" cy="3309736"/>
          </a:xfrm>
        </p:grpSpPr>
        <p:sp>
          <p:nvSpPr>
            <p:cNvPr id="5" name="object 5"/>
            <p:cNvSpPr/>
            <p:nvPr/>
          </p:nvSpPr>
          <p:spPr>
            <a:xfrm>
              <a:off x="628650" y="1658995"/>
              <a:ext cx="114300" cy="2606040"/>
            </a:xfrm>
            <a:custGeom>
              <a:avLst/>
              <a:gdLst/>
              <a:ahLst/>
              <a:cxnLst/>
              <a:rect l="l" t="t" r="r" b="b"/>
              <a:pathLst>
                <a:path w="114300" h="260604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605957"/>
                  </a:lnTo>
                  <a:lnTo>
                    <a:pt x="76200" y="2605957"/>
                  </a:lnTo>
                  <a:lnTo>
                    <a:pt x="76200" y="95250"/>
                  </a:lnTo>
                  <a:close/>
                </a:path>
                <a:path w="114300" h="260604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60604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6667" y="4225564"/>
              <a:ext cx="3753485" cy="114300"/>
            </a:xfrm>
            <a:custGeom>
              <a:avLst/>
              <a:gdLst/>
              <a:ahLst/>
              <a:cxnLst/>
              <a:rect l="l" t="t" r="r" b="b"/>
              <a:pathLst>
                <a:path w="3753485" h="114300">
                  <a:moveTo>
                    <a:pt x="3638876" y="0"/>
                  </a:moveTo>
                  <a:lnTo>
                    <a:pt x="3638713" y="38101"/>
                  </a:lnTo>
                  <a:lnTo>
                    <a:pt x="3657804" y="38194"/>
                  </a:lnTo>
                  <a:lnTo>
                    <a:pt x="3657560" y="76294"/>
                  </a:lnTo>
                  <a:lnTo>
                    <a:pt x="3638550" y="76294"/>
                  </a:lnTo>
                  <a:lnTo>
                    <a:pt x="3638388" y="114300"/>
                  </a:lnTo>
                  <a:lnTo>
                    <a:pt x="3715312" y="76294"/>
                  </a:lnTo>
                  <a:lnTo>
                    <a:pt x="3657560" y="76294"/>
                  </a:lnTo>
                  <a:lnTo>
                    <a:pt x="3715500" y="76201"/>
                  </a:lnTo>
                  <a:lnTo>
                    <a:pt x="3752932" y="57707"/>
                  </a:lnTo>
                  <a:lnTo>
                    <a:pt x="3638876" y="0"/>
                  </a:lnTo>
                  <a:close/>
                </a:path>
                <a:path w="3753485" h="114300">
                  <a:moveTo>
                    <a:pt x="3638713" y="38101"/>
                  </a:moveTo>
                  <a:lnTo>
                    <a:pt x="3638551" y="76201"/>
                  </a:lnTo>
                  <a:lnTo>
                    <a:pt x="3657560" y="76294"/>
                  </a:lnTo>
                  <a:lnTo>
                    <a:pt x="3657804" y="38194"/>
                  </a:lnTo>
                  <a:lnTo>
                    <a:pt x="3638713" y="38101"/>
                  </a:lnTo>
                  <a:close/>
                </a:path>
                <a:path w="3753485" h="114300">
                  <a:moveTo>
                    <a:pt x="164" y="20348"/>
                  </a:moveTo>
                  <a:lnTo>
                    <a:pt x="0" y="58448"/>
                  </a:lnTo>
                  <a:lnTo>
                    <a:pt x="3638551" y="76201"/>
                  </a:lnTo>
                  <a:lnTo>
                    <a:pt x="3638713" y="38101"/>
                  </a:lnTo>
                  <a:lnTo>
                    <a:pt x="164" y="20348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765493" y="1556763"/>
              <a:ext cx="507365" cy="27559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800" b="0" spc="110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50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p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-45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30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5" dirty="0">
                  <a:solidFill>
                    <a:srgbClr val="6B9E24"/>
                  </a:solidFill>
                  <a:latin typeface="Calibri Light"/>
                  <a:cs typeface="Calibri Light"/>
                </a:rPr>
                <a:t>t</a:t>
              </a:r>
              <a:endParaRPr sz="800">
                <a:latin typeface="Calibri Light"/>
                <a:cs typeface="Calibri Light"/>
              </a:endParaRPr>
            </a:p>
            <a:p>
              <a:pPr marL="12700">
                <a:lnSpc>
                  <a:spcPct val="100000"/>
                </a:lnSpc>
                <a:spcBef>
                  <a:spcPts val="15"/>
                </a:spcBef>
              </a:pPr>
              <a:r>
                <a:rPr sz="800" b="0" spc="25" dirty="0">
                  <a:solidFill>
                    <a:srgbClr val="6B9E24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4541269" y="4218939"/>
              <a:ext cx="948690" cy="34417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ts val="158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  <a:p>
              <a:pPr marL="36830">
                <a:lnSpc>
                  <a:spcPts val="919"/>
                </a:lnSpc>
              </a:pPr>
              <a:r>
                <a:rPr sz="800" b="0" spc="10" dirty="0">
                  <a:solidFill>
                    <a:srgbClr val="F07F09"/>
                  </a:solidFill>
                  <a:latin typeface="Calibri Light"/>
                  <a:cs typeface="Calibri Light"/>
                </a:rPr>
                <a:t>Independent</a:t>
              </a:r>
              <a:r>
                <a:rPr sz="800" b="0" spc="-105" dirty="0">
                  <a:solidFill>
                    <a:srgbClr val="F07F09"/>
                  </a:solidFill>
                  <a:latin typeface="Calibri Light"/>
                  <a:cs typeface="Calibri Light"/>
                </a:rPr>
                <a:t> </a:t>
              </a:r>
              <a:r>
                <a:rPr sz="800" b="0" dirty="0">
                  <a:solidFill>
                    <a:srgbClr val="F07F09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42299" y="1378645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007739" y="2460247"/>
              <a:ext cx="190500" cy="1905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60061" y="3764275"/>
              <a:ext cx="14160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1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460061" y="1929448"/>
              <a:ext cx="145415" cy="16211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5240">
                <a:lnSpc>
                  <a:spcPct val="100000"/>
                </a:lnSpc>
                <a:spcBef>
                  <a:spcPts val="10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5</a:t>
              </a:r>
              <a:endParaRPr sz="1650">
                <a:latin typeface="Cambria Math"/>
                <a:cs typeface="Cambria Math"/>
              </a:endParaRPr>
            </a:p>
            <a:p>
              <a:pPr marL="15240">
                <a:lnSpc>
                  <a:spcPct val="100000"/>
                </a:lnSpc>
                <a:spcBef>
                  <a:spcPts val="1550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4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3</a:t>
              </a:r>
              <a:endParaRPr sz="1650">
                <a:latin typeface="Cambria Math"/>
                <a:cs typeface="Cambria Math"/>
              </a:endParaRPr>
            </a:p>
            <a:p>
              <a:pPr marL="12700">
                <a:lnSpc>
                  <a:spcPct val="100000"/>
                </a:lnSpc>
                <a:spcBef>
                  <a:spcPts val="1545"/>
                </a:spcBef>
              </a:pPr>
              <a:r>
                <a:rPr sz="1650" dirty="0">
                  <a:solidFill>
                    <a:srgbClr val="6B9E24"/>
                  </a:solidFill>
                  <a:latin typeface="Cambria Math"/>
                  <a:cs typeface="Cambria Math"/>
                </a:rPr>
                <a:t>2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992624" y="1975469"/>
              <a:ext cx="190493" cy="1905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47750" y="2479928"/>
              <a:ext cx="190500" cy="1905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599758" y="4311653"/>
              <a:ext cx="3054985" cy="2774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462915" algn="l"/>
                  <a:tab pos="955675" algn="l"/>
                  <a:tab pos="1447800" algn="l"/>
                  <a:tab pos="1940560" algn="l"/>
                  <a:tab pos="2433320" algn="l"/>
                  <a:tab pos="2925445" algn="l"/>
                </a:tabLst>
              </a:pP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0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1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2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3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4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5</a:t>
              </a:r>
              <a:r>
                <a:rPr sz="1650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650" dirty="0">
                  <a:solidFill>
                    <a:srgbClr val="5F4778"/>
                  </a:solidFill>
                  <a:latin typeface="Cambria Math"/>
                  <a:cs typeface="Cambria Math"/>
                </a:rPr>
                <a:t>6</a:t>
              </a:r>
              <a:endParaRPr sz="1650">
                <a:latin typeface="Cambria Math"/>
                <a:cs typeface="Cambria Math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2003048" y="2558926"/>
              <a:ext cx="190500" cy="1905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80560" y="3320283"/>
              <a:ext cx="190500" cy="1905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2209930" y="1279412"/>
              <a:ext cx="1134745" cy="288290"/>
            </a:xfrm>
            <a:prstGeom prst="rect">
              <a:avLst/>
            </a:prstGeom>
            <a:ln w="12700">
              <a:solidFill>
                <a:srgbClr val="00AFF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11760">
                <a:lnSpc>
                  <a:spcPts val="1710"/>
                </a:lnSpc>
              </a:pPr>
              <a:r>
                <a:rPr sz="1650" dirty="0">
                  <a:latin typeface="Cambria Math"/>
                  <a:cs typeface="Cambria Math"/>
                </a:rPr>
                <a:t>y =</a:t>
              </a:r>
              <a:r>
                <a:rPr sz="1650" spc="-60" dirty="0">
                  <a:latin typeface="Cambria Math"/>
                  <a:cs typeface="Cambria Math"/>
                </a:rPr>
                <a:t> </a:t>
              </a:r>
              <a:r>
                <a:rPr sz="1650" spc="-10" dirty="0">
                  <a:solidFill>
                    <a:srgbClr val="F07F09"/>
                  </a:solidFill>
                  <a:latin typeface="Cambria Math"/>
                  <a:cs typeface="Cambria Math"/>
                </a:rPr>
                <a:t>m</a:t>
              </a:r>
              <a:r>
                <a:rPr sz="1650" spc="-10" dirty="0">
                  <a:latin typeface="Cambria Math"/>
                  <a:cs typeface="Cambria Math"/>
                </a:rPr>
                <a:t>x+c</a:t>
              </a:r>
              <a:endParaRPr sz="1650" dirty="0">
                <a:latin typeface="Cambria Math"/>
                <a:cs typeface="Cambria Math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1497960" y="2863595"/>
              <a:ext cx="190500" cy="1905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2465710" y="1541082"/>
              <a:ext cx="575945" cy="24320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400" spc="20" dirty="0">
                  <a:latin typeface="Cambria Math"/>
                  <a:cs typeface="Cambria Math"/>
                </a:rPr>
                <a:t>3.3 =</a:t>
              </a:r>
              <a:r>
                <a:rPr sz="1400" spc="-20" dirty="0">
                  <a:latin typeface="Cambria Math"/>
                  <a:cs typeface="Cambria Math"/>
                </a:rPr>
                <a:t> </a:t>
              </a:r>
              <a:r>
                <a:rPr sz="1400" spc="10" dirty="0">
                  <a:latin typeface="Cambria Math"/>
                  <a:cs typeface="Cambria Math"/>
                </a:rPr>
                <a:t>𝑐</a:t>
              </a:r>
              <a:endParaRPr sz="1400">
                <a:latin typeface="Cambria Math"/>
                <a:cs typeface="Cambria Math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694730" y="2636770"/>
              <a:ext cx="2885440" cy="0"/>
            </a:xfrm>
            <a:custGeom>
              <a:avLst/>
              <a:gdLst/>
              <a:ahLst/>
              <a:cxnLst/>
              <a:rect l="l" t="t" r="r" b="b"/>
              <a:pathLst>
                <a:path w="2885440">
                  <a:moveTo>
                    <a:pt x="0" y="0"/>
                  </a:moveTo>
                  <a:lnTo>
                    <a:pt x="2885023" y="0"/>
                  </a:lnTo>
                </a:path>
              </a:pathLst>
            </a:custGeom>
            <a:ln w="38099">
              <a:solidFill>
                <a:srgbClr val="6B9E2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93463" y="1822582"/>
              <a:ext cx="10795" cy="2458085"/>
            </a:xfrm>
            <a:custGeom>
              <a:avLst/>
              <a:gdLst/>
              <a:ahLst/>
              <a:cxnLst/>
              <a:rect l="l" t="t" r="r" b="b"/>
              <a:pathLst>
                <a:path w="10794" h="2458085">
                  <a:moveTo>
                    <a:pt x="10549" y="245752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F07F0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84812" y="2397252"/>
              <a:ext cx="3088005" cy="422275"/>
            </a:xfrm>
            <a:custGeom>
              <a:avLst/>
              <a:gdLst/>
              <a:ahLst/>
              <a:cxnLst/>
              <a:rect l="l" t="t" r="r" b="b"/>
              <a:pathLst>
                <a:path w="3088004" h="422275">
                  <a:moveTo>
                    <a:pt x="0" y="422016"/>
                  </a:moveTo>
                  <a:lnTo>
                    <a:pt x="3087605" y="0"/>
                  </a:lnTo>
                </a:path>
              </a:pathLst>
            </a:custGeom>
            <a:ln w="2857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56594" y="2790444"/>
              <a:ext cx="186022" cy="22580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835978" y="2973639"/>
              <a:ext cx="307975" cy="1631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spc="-25" dirty="0">
                  <a:solidFill>
                    <a:srgbClr val="6B9E24"/>
                  </a:solidFill>
                  <a:latin typeface="Cambria Math"/>
                  <a:cs typeface="Cambria Math"/>
                </a:rPr>
                <a:t>c</a:t>
              </a:r>
              <a:r>
                <a:rPr sz="900" spc="-5" dirty="0">
                  <a:solidFill>
                    <a:srgbClr val="6B9E24"/>
                  </a:solidFill>
                  <a:latin typeface="Cambria Math"/>
                  <a:cs typeface="Cambria Math"/>
                </a:rPr>
                <a:t>=</a:t>
              </a:r>
              <a:r>
                <a:rPr sz="900" spc="25" dirty="0">
                  <a:solidFill>
                    <a:srgbClr val="6B9E24"/>
                  </a:solidFill>
                  <a:latin typeface="Cambria Math"/>
                  <a:cs typeface="Cambria Math"/>
                </a:rPr>
                <a:t>3</a:t>
              </a:r>
              <a:r>
                <a:rPr sz="900" spc="-40" dirty="0">
                  <a:solidFill>
                    <a:srgbClr val="6B9E24"/>
                  </a:solidFill>
                  <a:latin typeface="Cambria Math"/>
                  <a:cs typeface="Cambria Math"/>
                </a:rPr>
                <a:t>.</a:t>
              </a:r>
              <a:r>
                <a:rPr sz="900" dirty="0">
                  <a:solidFill>
                    <a:srgbClr val="6B9E24"/>
                  </a:solidFill>
                  <a:latin typeface="Cambria Math"/>
                  <a:cs typeface="Cambria Math"/>
                </a:rPr>
                <a:t>3</a:t>
              </a:r>
              <a:endParaRPr sz="900">
                <a:latin typeface="Cambria Math"/>
                <a:cs typeface="Cambria Math"/>
              </a:endParaRPr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494659" y="4019550"/>
            <a:ext cx="348107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latin typeface="Calibri"/>
                <a:cs typeface="Calibri"/>
              </a:rPr>
              <a:t>Equation </a:t>
            </a:r>
            <a:r>
              <a:rPr sz="1350" b="1" spc="10" dirty="0">
                <a:latin typeface="Calibri"/>
                <a:cs typeface="Calibri"/>
              </a:rPr>
              <a:t>of </a:t>
            </a:r>
            <a:r>
              <a:rPr sz="1350" b="1" spc="-10" dirty="0">
                <a:latin typeface="Calibri"/>
                <a:cs typeface="Calibri"/>
              </a:rPr>
              <a:t>Regression </a:t>
            </a:r>
            <a:r>
              <a:rPr sz="1350" b="1" spc="-15" dirty="0">
                <a:latin typeface="Calibri"/>
                <a:cs typeface="Calibri"/>
              </a:rPr>
              <a:t>line </a:t>
            </a:r>
            <a:r>
              <a:rPr sz="1350" b="1" spc="10" dirty="0">
                <a:latin typeface="Calibri"/>
                <a:cs typeface="Calibri"/>
              </a:rPr>
              <a:t>for </a:t>
            </a:r>
            <a:r>
              <a:rPr sz="1350" b="1" dirty="0">
                <a:latin typeface="Calibri"/>
                <a:cs typeface="Calibri"/>
              </a:rPr>
              <a:t>m = </a:t>
            </a:r>
            <a:r>
              <a:rPr sz="1350" b="1" spc="-5" dirty="0">
                <a:latin typeface="Calibri"/>
                <a:cs typeface="Calibri"/>
              </a:rPr>
              <a:t>0.1, </a:t>
            </a:r>
            <a:r>
              <a:rPr sz="1350" b="1" dirty="0">
                <a:latin typeface="Calibri"/>
                <a:cs typeface="Calibri"/>
              </a:rPr>
              <a:t>c = </a:t>
            </a:r>
            <a:r>
              <a:rPr sz="1350" b="1" spc="-5" dirty="0">
                <a:latin typeface="Calibri"/>
                <a:cs typeface="Calibri"/>
              </a:rPr>
              <a:t>3.3</a:t>
            </a:r>
            <a:r>
              <a:rPr sz="1350" b="1" spc="-175" dirty="0">
                <a:latin typeface="Calibri"/>
                <a:cs typeface="Calibri"/>
              </a:rPr>
              <a:t> </a:t>
            </a:r>
            <a:r>
              <a:rPr sz="1350" b="1" spc="-20" dirty="0">
                <a:latin typeface="Calibri"/>
                <a:cs typeface="Calibri"/>
              </a:rPr>
              <a:t>is: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537197" y="4380095"/>
            <a:ext cx="1788795" cy="346710"/>
          </a:xfrm>
          <a:prstGeom prst="rect">
            <a:avLst/>
          </a:prstGeom>
          <a:ln w="38099">
            <a:solidFill>
              <a:srgbClr val="00AFF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350"/>
              </a:spcBef>
            </a:pPr>
            <a:r>
              <a:rPr sz="1650" dirty="0">
                <a:latin typeface="Cambria Math"/>
                <a:cs typeface="Cambria Math"/>
              </a:rPr>
              <a:t>y =</a:t>
            </a:r>
            <a:r>
              <a:rPr sz="1650" spc="-45" dirty="0"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F07F09"/>
                </a:solidFill>
                <a:latin typeface="Cambria Math"/>
                <a:cs typeface="Cambria Math"/>
              </a:rPr>
              <a:t>0.1</a:t>
            </a:r>
            <a:r>
              <a:rPr sz="1650" dirty="0">
                <a:latin typeface="Cambria Math"/>
                <a:cs typeface="Cambria Math"/>
              </a:rPr>
              <a:t>x+3.3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9892" y="219960"/>
            <a:ext cx="320040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0" dirty="0"/>
              <a:t>Mean </a:t>
            </a:r>
            <a:r>
              <a:rPr spc="25" dirty="0"/>
              <a:t>Square</a:t>
            </a:r>
            <a:r>
              <a:rPr spc="-70" dirty="0"/>
              <a:t> </a:t>
            </a:r>
            <a:r>
              <a:rPr spc="5" dirty="0"/>
              <a:t>Error</a:t>
            </a: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3527" y="1233297"/>
            <a:ext cx="2382673" cy="35832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35555" y="1249186"/>
            <a:ext cx="1200150" cy="35661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6855" y="1530632"/>
            <a:ext cx="971550" cy="339090"/>
          </a:xfrm>
          <a:custGeom>
            <a:avLst/>
            <a:gdLst/>
            <a:ahLst/>
            <a:cxnLst/>
            <a:rect l="l" t="t" r="r" b="b"/>
            <a:pathLst>
              <a:path w="971550" h="339089">
                <a:moveTo>
                  <a:pt x="0" y="338553"/>
                </a:moveTo>
                <a:lnTo>
                  <a:pt x="971550" y="338553"/>
                </a:lnTo>
                <a:lnTo>
                  <a:pt x="971550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6619" y="155695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5" dirty="0">
                <a:solidFill>
                  <a:srgbClr val="6B9E24"/>
                </a:solidFill>
                <a:latin typeface="Calibri Light"/>
                <a:cs typeface="Calibri Light"/>
              </a:rPr>
              <a:t>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200" y="1389059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4951" y="1227185"/>
            <a:ext cx="0" cy="3588385"/>
          </a:xfrm>
          <a:custGeom>
            <a:avLst/>
            <a:gdLst/>
            <a:ahLst/>
            <a:cxnLst/>
            <a:rect l="l" t="t" r="r" b="b"/>
            <a:pathLst>
              <a:path h="3588385">
                <a:moveTo>
                  <a:pt x="0" y="0"/>
                </a:moveTo>
                <a:lnTo>
                  <a:pt x="0" y="358815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4951" y="4811005"/>
            <a:ext cx="3580765" cy="4445"/>
          </a:xfrm>
          <a:custGeom>
            <a:avLst/>
            <a:gdLst/>
            <a:ahLst/>
            <a:cxnLst/>
            <a:rect l="l" t="t" r="r" b="b"/>
            <a:pathLst>
              <a:path w="3580765" h="4445">
                <a:moveTo>
                  <a:pt x="3580762" y="4334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1645" y="4154490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1645" y="3564888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1645" y="2952172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4502" y="2381565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6729" y="1999989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79289" y="3579245"/>
            <a:ext cx="105287" cy="107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95553" y="2400050"/>
            <a:ext cx="105311" cy="107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83461" y="2988563"/>
            <a:ext cx="105287" cy="1076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92680" y="2388357"/>
            <a:ext cx="105287" cy="1075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73779" y="2024999"/>
            <a:ext cx="105277" cy="10770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73083" y="2495930"/>
            <a:ext cx="3562985" cy="365125"/>
          </a:xfrm>
          <a:custGeom>
            <a:avLst/>
            <a:gdLst/>
            <a:ahLst/>
            <a:cxnLst/>
            <a:rect l="l" t="t" r="r" b="b"/>
            <a:pathLst>
              <a:path w="3562985" h="365125">
                <a:moveTo>
                  <a:pt x="0" y="364748"/>
                </a:moveTo>
                <a:lnTo>
                  <a:pt x="3562630" y="0"/>
                </a:lnTo>
              </a:path>
            </a:pathLst>
          </a:custGeom>
          <a:ln w="2857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90481" y="2749545"/>
            <a:ext cx="105299" cy="1077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83461" y="2690871"/>
            <a:ext cx="105287" cy="10757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88358" y="2620267"/>
            <a:ext cx="105287" cy="10769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82980" y="2562474"/>
            <a:ext cx="105284" cy="1077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68202" y="2508753"/>
            <a:ext cx="105277" cy="10757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72109" y="1190640"/>
            <a:ext cx="3009900" cy="83819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00246" y="1243263"/>
            <a:ext cx="1162050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m =</a:t>
            </a:r>
            <a:r>
              <a:rPr sz="1500" spc="-130" dirty="0">
                <a:solidFill>
                  <a:srgbClr val="5F4778"/>
                </a:solidFill>
                <a:latin typeface="Cambria Math"/>
                <a:cs typeface="Cambria Math"/>
              </a:rPr>
              <a:t> </a:t>
            </a:r>
            <a:r>
              <a:rPr sz="1500" spc="-5" dirty="0">
                <a:solidFill>
                  <a:srgbClr val="5F4778"/>
                </a:solidFill>
                <a:latin typeface="Cambria Math"/>
                <a:cs typeface="Cambria Math"/>
              </a:rPr>
              <a:t>0.1</a:t>
            </a:r>
            <a:endParaRPr sz="1500">
              <a:latin typeface="Cambria Math"/>
              <a:cs typeface="Cambria Math"/>
            </a:endParaRPr>
          </a:p>
          <a:p>
            <a:pPr marL="36830" algn="ctr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c =</a:t>
            </a:r>
            <a:r>
              <a:rPr sz="1500" spc="-70" dirty="0">
                <a:solidFill>
                  <a:srgbClr val="5F4778"/>
                </a:solidFill>
                <a:latin typeface="Cambria Math"/>
                <a:cs typeface="Cambria Math"/>
              </a:rPr>
              <a:t> </a:t>
            </a:r>
            <a:r>
              <a:rPr sz="1500" spc="-5" dirty="0">
                <a:solidFill>
                  <a:srgbClr val="5F4778"/>
                </a:solidFill>
                <a:latin typeface="Cambria Math"/>
                <a:cs typeface="Cambria Math"/>
              </a:rPr>
              <a:t>3.3</a:t>
            </a:r>
            <a:endParaRPr sz="15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FF0000"/>
                </a:solidFill>
                <a:latin typeface="Cambria Math"/>
                <a:cs typeface="Cambria Math"/>
              </a:rPr>
              <a:t>y = </a:t>
            </a:r>
            <a:r>
              <a:rPr sz="1500" spc="-5" dirty="0">
                <a:solidFill>
                  <a:srgbClr val="FF0000"/>
                </a:solidFill>
                <a:latin typeface="Cambria Math"/>
                <a:cs typeface="Cambria Math"/>
              </a:rPr>
              <a:t>0.1x </a:t>
            </a:r>
            <a:r>
              <a:rPr sz="15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500" spc="-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500" spc="-5" dirty="0">
                <a:solidFill>
                  <a:srgbClr val="FF0000"/>
                </a:solidFill>
                <a:latin typeface="Cambria Math"/>
                <a:cs typeface="Cambria Math"/>
              </a:rPr>
              <a:t>3.3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14959" y="2124075"/>
            <a:ext cx="3124200" cy="82867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858133" y="2173539"/>
            <a:ext cx="2453640" cy="71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500" spc="-15" dirty="0">
                <a:solidFill>
                  <a:srgbClr val="5F4778"/>
                </a:solidFill>
                <a:latin typeface="Cambria Math"/>
                <a:cs typeface="Cambria Math"/>
              </a:rPr>
              <a:t>For </a:t>
            </a:r>
            <a:r>
              <a:rPr sz="1500" spc="5" dirty="0">
                <a:solidFill>
                  <a:srgbClr val="5F4778"/>
                </a:solidFill>
                <a:latin typeface="Cambria Math"/>
                <a:cs typeface="Cambria Math"/>
              </a:rPr>
              <a:t>given </a:t>
            </a: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m = </a:t>
            </a:r>
            <a:r>
              <a:rPr sz="1500" spc="-10" dirty="0">
                <a:solidFill>
                  <a:srgbClr val="5F4778"/>
                </a:solidFill>
                <a:latin typeface="Cambria Math"/>
                <a:cs typeface="Cambria Math"/>
              </a:rPr>
              <a:t>0.1 </a:t>
            </a: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&amp; c = </a:t>
            </a:r>
            <a:r>
              <a:rPr sz="1500" spc="-10" dirty="0">
                <a:solidFill>
                  <a:srgbClr val="5F4778"/>
                </a:solidFill>
                <a:latin typeface="Cambria Math"/>
                <a:cs typeface="Cambria Math"/>
              </a:rPr>
              <a:t>3.3 </a:t>
            </a: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,  </a:t>
            </a:r>
            <a:r>
              <a:rPr sz="1500" spc="10" dirty="0">
                <a:solidFill>
                  <a:srgbClr val="5F4778"/>
                </a:solidFill>
                <a:latin typeface="Cambria Math"/>
                <a:cs typeface="Cambria Math"/>
              </a:rPr>
              <a:t>Lets</a:t>
            </a:r>
            <a:r>
              <a:rPr sz="1500" spc="-254" dirty="0">
                <a:solidFill>
                  <a:srgbClr val="5F4778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predict </a:t>
            </a:r>
            <a:r>
              <a:rPr sz="1500" spc="-5" dirty="0">
                <a:solidFill>
                  <a:srgbClr val="5F4778"/>
                </a:solidFill>
                <a:latin typeface="Cambria Math"/>
                <a:cs typeface="Cambria Math"/>
              </a:rPr>
              <a:t>values </a:t>
            </a:r>
            <a:r>
              <a:rPr sz="1500" spc="5" dirty="0">
                <a:solidFill>
                  <a:srgbClr val="5F4778"/>
                </a:solidFill>
                <a:latin typeface="Cambria Math"/>
                <a:cs typeface="Cambria Math"/>
              </a:rPr>
              <a:t>for </a:t>
            </a: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y </a:t>
            </a:r>
            <a:r>
              <a:rPr sz="1500" spc="-10" dirty="0">
                <a:solidFill>
                  <a:srgbClr val="5F4778"/>
                </a:solidFill>
                <a:latin typeface="Cambria Math"/>
                <a:cs typeface="Cambria Math"/>
              </a:rPr>
              <a:t>when  </a:t>
            </a: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x =</a:t>
            </a:r>
            <a:r>
              <a:rPr sz="1500" spc="-50" dirty="0">
                <a:solidFill>
                  <a:srgbClr val="5F4778"/>
                </a:solidFill>
                <a:latin typeface="Cambria Math"/>
                <a:cs typeface="Cambria Math"/>
              </a:rPr>
              <a:t> </a:t>
            </a:r>
            <a:r>
              <a:rPr sz="1500" spc="-10" dirty="0">
                <a:solidFill>
                  <a:srgbClr val="5F4778"/>
                </a:solidFill>
                <a:latin typeface="Cambria Math"/>
                <a:cs typeface="Cambria Math"/>
              </a:rPr>
              <a:t>{1,2,3,4,5}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35705" y="3137604"/>
            <a:ext cx="1692910" cy="1101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0" dirty="0" smtClean="0">
                <a:solidFill>
                  <a:srgbClr val="00AF50"/>
                </a:solidFill>
                <a:latin typeface="Cambria Math"/>
                <a:cs typeface="Cambria Math"/>
              </a:rPr>
              <a:t>y</a:t>
            </a:r>
            <a:r>
              <a:rPr sz="1400" spc="-65" dirty="0" smtClean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0.1</a:t>
            </a:r>
            <a:r>
              <a:rPr sz="1400" spc="-6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10" dirty="0">
                <a:solidFill>
                  <a:srgbClr val="00AF50"/>
                </a:solidFill>
                <a:latin typeface="Cambria Math"/>
                <a:cs typeface="Cambria Math"/>
              </a:rPr>
              <a:t>x</a:t>
            </a:r>
            <a:r>
              <a:rPr sz="1400" spc="-10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1+</a:t>
            </a:r>
            <a:r>
              <a:rPr sz="1400" spc="-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3.3</a:t>
            </a:r>
            <a:r>
              <a:rPr sz="1400" spc="-6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1400" spc="-4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3.2</a:t>
            </a:r>
            <a:endParaRPr sz="1400" dirty="0">
              <a:latin typeface="Cambria Math"/>
              <a:cs typeface="Cambria Math"/>
            </a:endParaRPr>
          </a:p>
          <a:p>
            <a:pPr marL="31750">
              <a:lnSpc>
                <a:spcPts val="1664"/>
              </a:lnSpc>
              <a:spcBef>
                <a:spcPts val="50"/>
              </a:spcBef>
            </a:pPr>
            <a:r>
              <a:rPr sz="1400" spc="10" dirty="0" smtClean="0">
                <a:solidFill>
                  <a:srgbClr val="00AF50"/>
                </a:solidFill>
                <a:latin typeface="Cambria Math"/>
                <a:cs typeface="Cambria Math"/>
              </a:rPr>
              <a:t>y</a:t>
            </a:r>
            <a:r>
              <a:rPr sz="1400" spc="-70" dirty="0" smtClean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0.1</a:t>
            </a:r>
            <a:r>
              <a:rPr sz="1400" spc="-6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10" dirty="0">
                <a:solidFill>
                  <a:srgbClr val="00AF50"/>
                </a:solidFill>
                <a:latin typeface="Cambria Math"/>
                <a:cs typeface="Cambria Math"/>
              </a:rPr>
              <a:t>x</a:t>
            </a:r>
            <a:r>
              <a:rPr sz="1400" spc="-10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2+</a:t>
            </a:r>
            <a:r>
              <a:rPr sz="1400" spc="-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0" dirty="0">
                <a:solidFill>
                  <a:srgbClr val="00AF50"/>
                </a:solidFill>
                <a:latin typeface="Cambria Math"/>
                <a:cs typeface="Cambria Math"/>
              </a:rPr>
              <a:t>3.3=</a:t>
            </a:r>
            <a:r>
              <a:rPr sz="1400" spc="-11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3.1</a:t>
            </a:r>
            <a:endParaRPr sz="1400" dirty="0">
              <a:latin typeface="Cambria Math"/>
              <a:cs typeface="Cambria Math"/>
            </a:endParaRPr>
          </a:p>
          <a:p>
            <a:pPr marL="31750">
              <a:lnSpc>
                <a:spcPts val="1650"/>
              </a:lnSpc>
            </a:pPr>
            <a:r>
              <a:rPr sz="1400" spc="10" dirty="0" smtClean="0">
                <a:solidFill>
                  <a:srgbClr val="00AF50"/>
                </a:solidFill>
                <a:latin typeface="Cambria Math"/>
                <a:cs typeface="Cambria Math"/>
              </a:rPr>
              <a:t>y</a:t>
            </a:r>
            <a:r>
              <a:rPr sz="1400" spc="-70" dirty="0" smtClean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0.1</a:t>
            </a:r>
            <a:r>
              <a:rPr sz="1400" spc="-6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10" dirty="0">
                <a:solidFill>
                  <a:srgbClr val="00AF50"/>
                </a:solidFill>
                <a:latin typeface="Cambria Math"/>
                <a:cs typeface="Cambria Math"/>
              </a:rPr>
              <a:t>x</a:t>
            </a:r>
            <a:r>
              <a:rPr sz="1400" spc="-10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3+</a:t>
            </a:r>
            <a:r>
              <a:rPr sz="1400" spc="-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0" dirty="0">
                <a:solidFill>
                  <a:srgbClr val="00AF50"/>
                </a:solidFill>
                <a:latin typeface="Cambria Math"/>
                <a:cs typeface="Cambria Math"/>
              </a:rPr>
              <a:t>3.3=</a:t>
            </a:r>
            <a:r>
              <a:rPr sz="1400" spc="-11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3.0</a:t>
            </a:r>
            <a:endParaRPr sz="1400" dirty="0">
              <a:latin typeface="Cambria Math"/>
              <a:cs typeface="Cambria Math"/>
            </a:endParaRPr>
          </a:p>
          <a:p>
            <a:pPr marL="31750">
              <a:lnSpc>
                <a:spcPts val="1664"/>
              </a:lnSpc>
            </a:pPr>
            <a:r>
              <a:rPr sz="1400" spc="10" dirty="0" smtClean="0">
                <a:solidFill>
                  <a:srgbClr val="00AF50"/>
                </a:solidFill>
                <a:latin typeface="Cambria Math"/>
                <a:cs typeface="Cambria Math"/>
              </a:rPr>
              <a:t>y</a:t>
            </a:r>
            <a:r>
              <a:rPr sz="1400" spc="-70" dirty="0" smtClean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0.1</a:t>
            </a:r>
            <a:r>
              <a:rPr sz="1400" spc="-6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10" dirty="0">
                <a:solidFill>
                  <a:srgbClr val="00AF50"/>
                </a:solidFill>
                <a:latin typeface="Cambria Math"/>
                <a:cs typeface="Cambria Math"/>
              </a:rPr>
              <a:t>x</a:t>
            </a:r>
            <a:r>
              <a:rPr sz="1400" spc="-10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4+</a:t>
            </a:r>
            <a:r>
              <a:rPr sz="1400" spc="-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0" dirty="0">
                <a:solidFill>
                  <a:srgbClr val="00AF50"/>
                </a:solidFill>
                <a:latin typeface="Cambria Math"/>
                <a:cs typeface="Cambria Math"/>
              </a:rPr>
              <a:t>3.3=</a:t>
            </a:r>
            <a:r>
              <a:rPr sz="1400" spc="-11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2.9</a:t>
            </a:r>
            <a:endParaRPr sz="1400" dirty="0">
              <a:latin typeface="Cambria Math"/>
              <a:cs typeface="Cambria Math"/>
            </a:endParaRPr>
          </a:p>
          <a:p>
            <a:pPr marL="31750">
              <a:lnSpc>
                <a:spcPct val="100000"/>
              </a:lnSpc>
              <a:spcBef>
                <a:spcPts val="50"/>
              </a:spcBef>
            </a:pPr>
            <a:r>
              <a:rPr sz="1400" spc="10" dirty="0" smtClean="0">
                <a:solidFill>
                  <a:srgbClr val="00AF50"/>
                </a:solidFill>
                <a:latin typeface="Cambria Math"/>
                <a:cs typeface="Cambria Math"/>
              </a:rPr>
              <a:t>y</a:t>
            </a:r>
            <a:r>
              <a:rPr sz="1400" spc="-70" dirty="0" smtClean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0.1</a:t>
            </a:r>
            <a:r>
              <a:rPr sz="1400" spc="-6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10" dirty="0">
                <a:solidFill>
                  <a:srgbClr val="00AF50"/>
                </a:solidFill>
                <a:latin typeface="Cambria Math"/>
                <a:cs typeface="Cambria Math"/>
              </a:rPr>
              <a:t>x</a:t>
            </a:r>
            <a:r>
              <a:rPr sz="1400" spc="-10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5+</a:t>
            </a:r>
            <a:r>
              <a:rPr sz="1400" spc="-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0" dirty="0">
                <a:solidFill>
                  <a:srgbClr val="00AF50"/>
                </a:solidFill>
                <a:latin typeface="Cambria Math"/>
                <a:cs typeface="Cambria Math"/>
              </a:rPr>
              <a:t>3.3=</a:t>
            </a:r>
            <a:r>
              <a:rPr sz="1400" spc="-11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2.8</a:t>
            </a:r>
            <a:endParaRPr sz="1400" dirty="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80868" y="4671135"/>
            <a:ext cx="120014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25978" y="4670587"/>
            <a:ext cx="5740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8184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007739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72893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64075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86177" y="482075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92695" y="4833444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9892" y="219960"/>
            <a:ext cx="320040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0" dirty="0"/>
              <a:t>Mean </a:t>
            </a:r>
            <a:r>
              <a:rPr spc="25" dirty="0"/>
              <a:t>Square</a:t>
            </a:r>
            <a:r>
              <a:rPr spc="-70" dirty="0"/>
              <a:t> </a:t>
            </a:r>
            <a:r>
              <a:rPr spc="5" dirty="0"/>
              <a:t>Error</a:t>
            </a: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3527" y="1233297"/>
            <a:ext cx="2382673" cy="35832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35555" y="1249186"/>
            <a:ext cx="1200150" cy="35661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6855" y="1530632"/>
            <a:ext cx="971550" cy="339090"/>
          </a:xfrm>
          <a:custGeom>
            <a:avLst/>
            <a:gdLst/>
            <a:ahLst/>
            <a:cxnLst/>
            <a:rect l="l" t="t" r="r" b="b"/>
            <a:pathLst>
              <a:path w="971550" h="339089">
                <a:moveTo>
                  <a:pt x="0" y="338553"/>
                </a:moveTo>
                <a:lnTo>
                  <a:pt x="971550" y="338553"/>
                </a:lnTo>
                <a:lnTo>
                  <a:pt x="971550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6619" y="155695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5" dirty="0">
                <a:solidFill>
                  <a:srgbClr val="6B9E24"/>
                </a:solidFill>
                <a:latin typeface="Calibri Light"/>
                <a:cs typeface="Calibri Light"/>
              </a:rPr>
              <a:t>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200" y="1389059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4951" y="1227185"/>
            <a:ext cx="0" cy="3588385"/>
          </a:xfrm>
          <a:custGeom>
            <a:avLst/>
            <a:gdLst/>
            <a:ahLst/>
            <a:cxnLst/>
            <a:rect l="l" t="t" r="r" b="b"/>
            <a:pathLst>
              <a:path h="3588385">
                <a:moveTo>
                  <a:pt x="0" y="0"/>
                </a:moveTo>
                <a:lnTo>
                  <a:pt x="0" y="358815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4951" y="4811005"/>
            <a:ext cx="3580765" cy="4445"/>
          </a:xfrm>
          <a:custGeom>
            <a:avLst/>
            <a:gdLst/>
            <a:ahLst/>
            <a:cxnLst/>
            <a:rect l="l" t="t" r="r" b="b"/>
            <a:pathLst>
              <a:path w="3580765" h="4445">
                <a:moveTo>
                  <a:pt x="3580762" y="4334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1645" y="4154490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1645" y="3564888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1645" y="2952172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4502" y="2381565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6729" y="1999989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79289" y="3579245"/>
            <a:ext cx="105287" cy="107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95553" y="2400050"/>
            <a:ext cx="105311" cy="107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83461" y="2988563"/>
            <a:ext cx="105287" cy="1076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92680" y="2388357"/>
            <a:ext cx="105287" cy="1075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73779" y="2024999"/>
            <a:ext cx="105277" cy="10770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73083" y="2495930"/>
            <a:ext cx="3562985" cy="365125"/>
          </a:xfrm>
          <a:custGeom>
            <a:avLst/>
            <a:gdLst/>
            <a:ahLst/>
            <a:cxnLst/>
            <a:rect l="l" t="t" r="r" b="b"/>
            <a:pathLst>
              <a:path w="3562985" h="365125">
                <a:moveTo>
                  <a:pt x="0" y="364748"/>
                </a:moveTo>
                <a:lnTo>
                  <a:pt x="3562630" y="0"/>
                </a:lnTo>
              </a:path>
            </a:pathLst>
          </a:custGeom>
          <a:ln w="2857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90481" y="2749545"/>
            <a:ext cx="105299" cy="1077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83461" y="2690871"/>
            <a:ext cx="105287" cy="10757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88358" y="2620267"/>
            <a:ext cx="105287" cy="10769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82980" y="2562474"/>
            <a:ext cx="105284" cy="1077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68202" y="2508753"/>
            <a:ext cx="105277" cy="10757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72109" y="1190640"/>
            <a:ext cx="3009900" cy="83819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00246" y="1243263"/>
            <a:ext cx="1162050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m =</a:t>
            </a:r>
            <a:r>
              <a:rPr sz="1500" spc="-130" dirty="0">
                <a:solidFill>
                  <a:srgbClr val="5F4778"/>
                </a:solidFill>
                <a:latin typeface="Cambria Math"/>
                <a:cs typeface="Cambria Math"/>
              </a:rPr>
              <a:t> </a:t>
            </a:r>
            <a:r>
              <a:rPr sz="1500" spc="-5" dirty="0">
                <a:solidFill>
                  <a:srgbClr val="5F4778"/>
                </a:solidFill>
                <a:latin typeface="Cambria Math"/>
                <a:cs typeface="Cambria Math"/>
              </a:rPr>
              <a:t>0.1</a:t>
            </a:r>
            <a:endParaRPr sz="1500">
              <a:latin typeface="Cambria Math"/>
              <a:cs typeface="Cambria Math"/>
            </a:endParaRPr>
          </a:p>
          <a:p>
            <a:pPr marL="36830" algn="ctr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c =</a:t>
            </a:r>
            <a:r>
              <a:rPr sz="1500" spc="-70" dirty="0">
                <a:solidFill>
                  <a:srgbClr val="5F4778"/>
                </a:solidFill>
                <a:latin typeface="Cambria Math"/>
                <a:cs typeface="Cambria Math"/>
              </a:rPr>
              <a:t> </a:t>
            </a:r>
            <a:r>
              <a:rPr sz="1500" spc="-5" dirty="0">
                <a:solidFill>
                  <a:srgbClr val="5F4778"/>
                </a:solidFill>
                <a:latin typeface="Cambria Math"/>
                <a:cs typeface="Cambria Math"/>
              </a:rPr>
              <a:t>3.3</a:t>
            </a:r>
            <a:endParaRPr sz="15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FF0000"/>
                </a:solidFill>
                <a:latin typeface="Cambria Math"/>
                <a:cs typeface="Cambria Math"/>
              </a:rPr>
              <a:t>y = </a:t>
            </a:r>
            <a:r>
              <a:rPr sz="1500" spc="-5" dirty="0">
                <a:solidFill>
                  <a:srgbClr val="FF0000"/>
                </a:solidFill>
                <a:latin typeface="Cambria Math"/>
                <a:cs typeface="Cambria Math"/>
              </a:rPr>
              <a:t>0.1x </a:t>
            </a:r>
            <a:r>
              <a:rPr sz="15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500" spc="-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500" spc="-5" dirty="0">
                <a:solidFill>
                  <a:srgbClr val="FF0000"/>
                </a:solidFill>
                <a:latin typeface="Cambria Math"/>
                <a:cs typeface="Cambria Math"/>
              </a:rPr>
              <a:t>3.3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14959" y="2124075"/>
            <a:ext cx="3124200" cy="82867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858133" y="2173539"/>
            <a:ext cx="2453640" cy="71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500" spc="-15" dirty="0">
                <a:solidFill>
                  <a:srgbClr val="5F4778"/>
                </a:solidFill>
                <a:latin typeface="Cambria Math"/>
                <a:cs typeface="Cambria Math"/>
              </a:rPr>
              <a:t>For </a:t>
            </a:r>
            <a:r>
              <a:rPr sz="1500" spc="5" dirty="0">
                <a:solidFill>
                  <a:srgbClr val="5F4778"/>
                </a:solidFill>
                <a:latin typeface="Cambria Math"/>
                <a:cs typeface="Cambria Math"/>
              </a:rPr>
              <a:t>given </a:t>
            </a: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m = </a:t>
            </a:r>
            <a:r>
              <a:rPr sz="1500" spc="-10" dirty="0">
                <a:solidFill>
                  <a:srgbClr val="5F4778"/>
                </a:solidFill>
                <a:latin typeface="Cambria Math"/>
                <a:cs typeface="Cambria Math"/>
              </a:rPr>
              <a:t>0.1 </a:t>
            </a: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&amp; c = </a:t>
            </a:r>
            <a:r>
              <a:rPr sz="1500" spc="-10" dirty="0">
                <a:solidFill>
                  <a:srgbClr val="5F4778"/>
                </a:solidFill>
                <a:latin typeface="Cambria Math"/>
                <a:cs typeface="Cambria Math"/>
              </a:rPr>
              <a:t>3.3 </a:t>
            </a: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,  </a:t>
            </a:r>
            <a:r>
              <a:rPr sz="1500" spc="10" dirty="0">
                <a:solidFill>
                  <a:srgbClr val="5F4778"/>
                </a:solidFill>
                <a:latin typeface="Cambria Math"/>
                <a:cs typeface="Cambria Math"/>
              </a:rPr>
              <a:t>Lets</a:t>
            </a:r>
            <a:r>
              <a:rPr sz="1500" spc="-254" dirty="0">
                <a:solidFill>
                  <a:srgbClr val="5F4778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predict </a:t>
            </a:r>
            <a:r>
              <a:rPr sz="1500" spc="-5" dirty="0">
                <a:solidFill>
                  <a:srgbClr val="5F4778"/>
                </a:solidFill>
                <a:latin typeface="Cambria Math"/>
                <a:cs typeface="Cambria Math"/>
              </a:rPr>
              <a:t>values </a:t>
            </a:r>
            <a:r>
              <a:rPr sz="1500" spc="5" dirty="0">
                <a:solidFill>
                  <a:srgbClr val="5F4778"/>
                </a:solidFill>
                <a:latin typeface="Cambria Math"/>
                <a:cs typeface="Cambria Math"/>
              </a:rPr>
              <a:t>for </a:t>
            </a: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y </a:t>
            </a:r>
            <a:r>
              <a:rPr sz="1500" spc="-10" dirty="0">
                <a:solidFill>
                  <a:srgbClr val="5F4778"/>
                </a:solidFill>
                <a:latin typeface="Cambria Math"/>
                <a:cs typeface="Cambria Math"/>
              </a:rPr>
              <a:t>when  </a:t>
            </a:r>
            <a:r>
              <a:rPr sz="1500" dirty="0">
                <a:solidFill>
                  <a:srgbClr val="5F4778"/>
                </a:solidFill>
                <a:latin typeface="Cambria Math"/>
                <a:cs typeface="Cambria Math"/>
              </a:rPr>
              <a:t>x =</a:t>
            </a:r>
            <a:r>
              <a:rPr sz="1500" spc="-50" dirty="0">
                <a:solidFill>
                  <a:srgbClr val="5F4778"/>
                </a:solidFill>
                <a:latin typeface="Cambria Math"/>
                <a:cs typeface="Cambria Math"/>
              </a:rPr>
              <a:t> </a:t>
            </a:r>
            <a:r>
              <a:rPr sz="1500" spc="-10" dirty="0">
                <a:solidFill>
                  <a:srgbClr val="5F4778"/>
                </a:solidFill>
                <a:latin typeface="Cambria Math"/>
                <a:cs typeface="Cambria Math"/>
              </a:rPr>
              <a:t>{1,2,3,4,5}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35705" y="3137604"/>
            <a:ext cx="1692910" cy="1101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0" dirty="0">
                <a:solidFill>
                  <a:srgbClr val="00AF50"/>
                </a:solidFill>
                <a:latin typeface="Cambria Math"/>
                <a:cs typeface="Cambria Math"/>
              </a:rPr>
              <a:t>y</a:t>
            </a:r>
            <a:r>
              <a:rPr sz="1400" spc="-6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0.1</a:t>
            </a:r>
            <a:r>
              <a:rPr sz="1400" spc="-6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10" dirty="0">
                <a:solidFill>
                  <a:srgbClr val="00AF50"/>
                </a:solidFill>
                <a:latin typeface="Cambria Math"/>
                <a:cs typeface="Cambria Math"/>
              </a:rPr>
              <a:t>x</a:t>
            </a:r>
            <a:r>
              <a:rPr sz="1400" spc="-10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1+</a:t>
            </a:r>
            <a:r>
              <a:rPr sz="1400" spc="-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3.3</a:t>
            </a:r>
            <a:r>
              <a:rPr sz="1400" spc="-6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1400" spc="-4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3.2</a:t>
            </a:r>
            <a:endParaRPr sz="1400">
              <a:latin typeface="Cambria Math"/>
              <a:cs typeface="Cambria Math"/>
            </a:endParaRPr>
          </a:p>
          <a:p>
            <a:pPr marL="31750">
              <a:lnSpc>
                <a:spcPts val="1664"/>
              </a:lnSpc>
              <a:spcBef>
                <a:spcPts val="50"/>
              </a:spcBef>
            </a:pPr>
            <a:r>
              <a:rPr sz="1400" spc="10" dirty="0">
                <a:solidFill>
                  <a:srgbClr val="00AF50"/>
                </a:solidFill>
                <a:latin typeface="Cambria Math"/>
                <a:cs typeface="Cambria Math"/>
              </a:rPr>
              <a:t>y</a:t>
            </a:r>
            <a:r>
              <a:rPr sz="1400" spc="-7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0.1</a:t>
            </a:r>
            <a:r>
              <a:rPr sz="1400" spc="-6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10" dirty="0">
                <a:solidFill>
                  <a:srgbClr val="00AF50"/>
                </a:solidFill>
                <a:latin typeface="Cambria Math"/>
                <a:cs typeface="Cambria Math"/>
              </a:rPr>
              <a:t>x</a:t>
            </a:r>
            <a:r>
              <a:rPr sz="1400" spc="-10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2+</a:t>
            </a:r>
            <a:r>
              <a:rPr sz="1400" spc="-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0" dirty="0">
                <a:solidFill>
                  <a:srgbClr val="00AF50"/>
                </a:solidFill>
                <a:latin typeface="Cambria Math"/>
                <a:cs typeface="Cambria Math"/>
              </a:rPr>
              <a:t>3.3=</a:t>
            </a:r>
            <a:r>
              <a:rPr sz="1400" spc="-11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3.1</a:t>
            </a:r>
            <a:endParaRPr sz="1400">
              <a:latin typeface="Cambria Math"/>
              <a:cs typeface="Cambria Math"/>
            </a:endParaRPr>
          </a:p>
          <a:p>
            <a:pPr marL="31750">
              <a:lnSpc>
                <a:spcPts val="1650"/>
              </a:lnSpc>
            </a:pPr>
            <a:r>
              <a:rPr sz="1400" spc="10" dirty="0">
                <a:solidFill>
                  <a:srgbClr val="00AF50"/>
                </a:solidFill>
                <a:latin typeface="Cambria Math"/>
                <a:cs typeface="Cambria Math"/>
              </a:rPr>
              <a:t>y</a:t>
            </a:r>
            <a:r>
              <a:rPr sz="1400" spc="-7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0.1</a:t>
            </a:r>
            <a:r>
              <a:rPr sz="1400" spc="-6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10" dirty="0">
                <a:solidFill>
                  <a:srgbClr val="00AF50"/>
                </a:solidFill>
                <a:latin typeface="Cambria Math"/>
                <a:cs typeface="Cambria Math"/>
              </a:rPr>
              <a:t>x</a:t>
            </a:r>
            <a:r>
              <a:rPr sz="1400" spc="-10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3+</a:t>
            </a:r>
            <a:r>
              <a:rPr sz="1400" spc="-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0" dirty="0">
                <a:solidFill>
                  <a:srgbClr val="00AF50"/>
                </a:solidFill>
                <a:latin typeface="Cambria Math"/>
                <a:cs typeface="Cambria Math"/>
              </a:rPr>
              <a:t>3.3=</a:t>
            </a:r>
            <a:r>
              <a:rPr sz="1400" spc="-11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3.0</a:t>
            </a:r>
            <a:endParaRPr sz="1400">
              <a:latin typeface="Cambria Math"/>
              <a:cs typeface="Cambria Math"/>
            </a:endParaRPr>
          </a:p>
          <a:p>
            <a:pPr marL="31750">
              <a:lnSpc>
                <a:spcPts val="1664"/>
              </a:lnSpc>
            </a:pPr>
            <a:r>
              <a:rPr sz="1400" spc="10" dirty="0">
                <a:solidFill>
                  <a:srgbClr val="00AF50"/>
                </a:solidFill>
                <a:latin typeface="Cambria Math"/>
                <a:cs typeface="Cambria Math"/>
              </a:rPr>
              <a:t>y</a:t>
            </a:r>
            <a:r>
              <a:rPr sz="1400" spc="-7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0.1</a:t>
            </a:r>
            <a:r>
              <a:rPr sz="1400" spc="-6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10" dirty="0">
                <a:solidFill>
                  <a:srgbClr val="00AF50"/>
                </a:solidFill>
                <a:latin typeface="Cambria Math"/>
                <a:cs typeface="Cambria Math"/>
              </a:rPr>
              <a:t>x</a:t>
            </a:r>
            <a:r>
              <a:rPr sz="1400" spc="-10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4+</a:t>
            </a:r>
            <a:r>
              <a:rPr sz="1400" spc="-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0" dirty="0">
                <a:solidFill>
                  <a:srgbClr val="00AF50"/>
                </a:solidFill>
                <a:latin typeface="Cambria Math"/>
                <a:cs typeface="Cambria Math"/>
              </a:rPr>
              <a:t>3.3=</a:t>
            </a:r>
            <a:r>
              <a:rPr sz="1400" spc="-11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2.9</a:t>
            </a:r>
            <a:endParaRPr sz="1400">
              <a:latin typeface="Cambria Math"/>
              <a:cs typeface="Cambria Math"/>
            </a:endParaRPr>
          </a:p>
          <a:p>
            <a:pPr marL="31750">
              <a:lnSpc>
                <a:spcPct val="100000"/>
              </a:lnSpc>
              <a:spcBef>
                <a:spcPts val="50"/>
              </a:spcBef>
            </a:pPr>
            <a:r>
              <a:rPr sz="1400" spc="10" dirty="0">
                <a:solidFill>
                  <a:srgbClr val="00AF50"/>
                </a:solidFill>
                <a:latin typeface="Cambria Math"/>
                <a:cs typeface="Cambria Math"/>
              </a:rPr>
              <a:t>y</a:t>
            </a:r>
            <a:r>
              <a:rPr sz="1400" spc="-7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0.1</a:t>
            </a:r>
            <a:r>
              <a:rPr sz="1400" spc="-6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10" dirty="0">
                <a:solidFill>
                  <a:srgbClr val="00AF50"/>
                </a:solidFill>
                <a:latin typeface="Cambria Math"/>
                <a:cs typeface="Cambria Math"/>
              </a:rPr>
              <a:t>x</a:t>
            </a:r>
            <a:r>
              <a:rPr sz="1400" spc="-10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5" dirty="0">
                <a:solidFill>
                  <a:srgbClr val="00AF50"/>
                </a:solidFill>
                <a:latin typeface="Cambria Math"/>
                <a:cs typeface="Cambria Math"/>
              </a:rPr>
              <a:t>5+</a:t>
            </a:r>
            <a:r>
              <a:rPr sz="1400" spc="-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30" dirty="0">
                <a:solidFill>
                  <a:srgbClr val="00AF50"/>
                </a:solidFill>
                <a:latin typeface="Cambria Math"/>
                <a:cs typeface="Cambria Math"/>
              </a:rPr>
              <a:t>3.3=</a:t>
            </a:r>
            <a:r>
              <a:rPr sz="1400" spc="-11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spc="25" dirty="0">
                <a:solidFill>
                  <a:srgbClr val="00AF50"/>
                </a:solidFill>
                <a:latin typeface="Cambria Math"/>
                <a:cs typeface="Cambria Math"/>
              </a:rPr>
              <a:t>2.8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229861" y="2340935"/>
            <a:ext cx="971550" cy="215900"/>
          </a:xfrm>
          <a:custGeom>
            <a:avLst/>
            <a:gdLst/>
            <a:ahLst/>
            <a:cxnLst/>
            <a:rect l="l" t="t" r="r" b="b"/>
            <a:pathLst>
              <a:path w="971550" h="215900">
                <a:moveTo>
                  <a:pt x="0" y="215443"/>
                </a:moveTo>
                <a:lnTo>
                  <a:pt x="971550" y="215443"/>
                </a:lnTo>
                <a:lnTo>
                  <a:pt x="971550" y="0"/>
                </a:lnTo>
                <a:lnTo>
                  <a:pt x="0" y="0"/>
                </a:lnTo>
                <a:lnTo>
                  <a:pt x="0" y="2154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313304" y="2368801"/>
            <a:ext cx="78422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0" dirty="0">
                <a:solidFill>
                  <a:srgbClr val="FF0000"/>
                </a:solidFill>
                <a:latin typeface="Calibri Light"/>
                <a:cs typeface="Calibri Light"/>
              </a:rPr>
              <a:t>L</a:t>
            </a:r>
            <a:r>
              <a:rPr sz="800" b="0" spc="-9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30" dirty="0">
                <a:solidFill>
                  <a:srgbClr val="FF0000"/>
                </a:solidFill>
                <a:latin typeface="Calibri Light"/>
                <a:cs typeface="Calibri Light"/>
              </a:rPr>
              <a:t>ine</a:t>
            </a:r>
            <a:r>
              <a:rPr sz="800" b="0" spc="-8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15" dirty="0">
                <a:solidFill>
                  <a:srgbClr val="FF0000"/>
                </a:solidFill>
                <a:latin typeface="Calibri Light"/>
                <a:cs typeface="Calibri Light"/>
              </a:rPr>
              <a:t>of</a:t>
            </a:r>
            <a:r>
              <a:rPr sz="800" b="0" spc="-7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-5" dirty="0">
                <a:solidFill>
                  <a:srgbClr val="FF0000"/>
                </a:solidFill>
                <a:latin typeface="Calibri Light"/>
                <a:cs typeface="Calibri Light"/>
              </a:rPr>
              <a:t>Regression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08539" y="181991"/>
            <a:ext cx="8526956" cy="498055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380868" y="4671135"/>
            <a:ext cx="120014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25978" y="4670587"/>
            <a:ext cx="5740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8184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007739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72893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64075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86177" y="482075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392695" y="4833444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3007" y="219960"/>
            <a:ext cx="413448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0" dirty="0"/>
              <a:t>Finding </a:t>
            </a:r>
            <a:r>
              <a:rPr spc="15" dirty="0"/>
              <a:t>the </a:t>
            </a:r>
            <a:r>
              <a:rPr spc="30" dirty="0"/>
              <a:t>best </a:t>
            </a:r>
            <a:r>
              <a:rPr spc="10" dirty="0"/>
              <a:t>Fit</a:t>
            </a:r>
            <a:r>
              <a:rPr spc="-35" dirty="0"/>
              <a:t> </a:t>
            </a:r>
            <a:r>
              <a:rPr spc="20" dirty="0"/>
              <a:t>Line</a:t>
            </a: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74490" y="1305861"/>
            <a:ext cx="6413594" cy="3267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5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663" y="229485"/>
            <a:ext cx="35363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5" dirty="0"/>
              <a:t>Goodness </a:t>
            </a:r>
            <a:r>
              <a:rPr spc="25" dirty="0"/>
              <a:t>of </a:t>
            </a:r>
            <a:r>
              <a:rPr spc="10" dirty="0"/>
              <a:t>Fit </a:t>
            </a:r>
            <a:r>
              <a:rPr spc="15" dirty="0"/>
              <a:t>–</a:t>
            </a:r>
            <a:r>
              <a:rPr spc="-75" dirty="0"/>
              <a:t> </a:t>
            </a:r>
            <a:r>
              <a:rPr b="0" spc="25" dirty="0">
                <a:latin typeface="Cambria Math"/>
                <a:cs typeface="Cambria Math"/>
              </a:rPr>
              <a:t>𝑹</a:t>
            </a:r>
            <a:r>
              <a:rPr sz="3000" b="0" spc="37" baseline="29166" dirty="0">
                <a:latin typeface="Cambria Math"/>
                <a:cs typeface="Cambria Math"/>
              </a:rPr>
              <a:t>𝟐</a:t>
            </a:r>
            <a:endParaRPr sz="3000" baseline="29166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3527" y="1233297"/>
            <a:ext cx="2382673" cy="35832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35555" y="1249186"/>
            <a:ext cx="1200150" cy="35661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6855" y="1530632"/>
            <a:ext cx="971550" cy="339090"/>
          </a:xfrm>
          <a:custGeom>
            <a:avLst/>
            <a:gdLst/>
            <a:ahLst/>
            <a:cxnLst/>
            <a:rect l="l" t="t" r="r" b="b"/>
            <a:pathLst>
              <a:path w="971550" h="339089">
                <a:moveTo>
                  <a:pt x="0" y="338553"/>
                </a:moveTo>
                <a:lnTo>
                  <a:pt x="971550" y="338553"/>
                </a:lnTo>
                <a:lnTo>
                  <a:pt x="971550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6619" y="155695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5" dirty="0">
                <a:solidFill>
                  <a:srgbClr val="6B9E24"/>
                </a:solidFill>
                <a:latin typeface="Calibri Light"/>
                <a:cs typeface="Calibri Light"/>
              </a:rPr>
              <a:t>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1200" y="1389059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4951" y="1227185"/>
            <a:ext cx="0" cy="3588385"/>
          </a:xfrm>
          <a:custGeom>
            <a:avLst/>
            <a:gdLst/>
            <a:ahLst/>
            <a:cxnLst/>
            <a:rect l="l" t="t" r="r" b="b"/>
            <a:pathLst>
              <a:path h="3588385">
                <a:moveTo>
                  <a:pt x="0" y="0"/>
                </a:moveTo>
                <a:lnTo>
                  <a:pt x="0" y="358815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4951" y="4811005"/>
            <a:ext cx="3580765" cy="4445"/>
          </a:xfrm>
          <a:custGeom>
            <a:avLst/>
            <a:gdLst/>
            <a:ahLst/>
            <a:cxnLst/>
            <a:rect l="l" t="t" r="r" b="b"/>
            <a:pathLst>
              <a:path w="3580765" h="4445">
                <a:moveTo>
                  <a:pt x="3580762" y="4334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61645" y="2952172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4502" y="2381565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6729" y="1999989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979289" y="3579245"/>
            <a:ext cx="105287" cy="107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95553" y="2400050"/>
            <a:ext cx="105311" cy="107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83461" y="2988563"/>
            <a:ext cx="105287" cy="1076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92680" y="2388357"/>
            <a:ext cx="105287" cy="1075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73779" y="2024999"/>
            <a:ext cx="105277" cy="10770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73083" y="2495930"/>
            <a:ext cx="3562985" cy="365125"/>
          </a:xfrm>
          <a:custGeom>
            <a:avLst/>
            <a:gdLst/>
            <a:ahLst/>
            <a:cxnLst/>
            <a:rect l="l" t="t" r="r" b="b"/>
            <a:pathLst>
              <a:path w="3562985" h="365125">
                <a:moveTo>
                  <a:pt x="0" y="364748"/>
                </a:moveTo>
                <a:lnTo>
                  <a:pt x="3562630" y="0"/>
                </a:lnTo>
              </a:path>
            </a:pathLst>
          </a:custGeom>
          <a:ln w="2857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90481" y="2749545"/>
            <a:ext cx="105299" cy="1077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83461" y="2690871"/>
            <a:ext cx="105287" cy="10757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88358" y="2620267"/>
            <a:ext cx="105287" cy="10769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82980" y="2562474"/>
            <a:ext cx="105284" cy="1077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68202" y="2508753"/>
            <a:ext cx="105277" cy="10757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29861" y="2340935"/>
            <a:ext cx="971550" cy="215900"/>
          </a:xfrm>
          <a:custGeom>
            <a:avLst/>
            <a:gdLst/>
            <a:ahLst/>
            <a:cxnLst/>
            <a:rect l="l" t="t" r="r" b="b"/>
            <a:pathLst>
              <a:path w="971550" h="215900">
                <a:moveTo>
                  <a:pt x="0" y="215443"/>
                </a:moveTo>
                <a:lnTo>
                  <a:pt x="971550" y="215443"/>
                </a:lnTo>
                <a:lnTo>
                  <a:pt x="971550" y="0"/>
                </a:lnTo>
                <a:lnTo>
                  <a:pt x="0" y="0"/>
                </a:lnTo>
                <a:lnTo>
                  <a:pt x="0" y="2154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313304" y="2368801"/>
            <a:ext cx="78422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0" dirty="0">
                <a:solidFill>
                  <a:srgbClr val="FF0000"/>
                </a:solidFill>
                <a:latin typeface="Calibri Light"/>
                <a:cs typeface="Calibri Light"/>
              </a:rPr>
              <a:t>L</a:t>
            </a:r>
            <a:r>
              <a:rPr sz="800" b="0" spc="-9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30" dirty="0">
                <a:solidFill>
                  <a:srgbClr val="FF0000"/>
                </a:solidFill>
                <a:latin typeface="Calibri Light"/>
                <a:cs typeface="Calibri Light"/>
              </a:rPr>
              <a:t>ine</a:t>
            </a:r>
            <a:r>
              <a:rPr sz="800" b="0" spc="-8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15" dirty="0">
                <a:solidFill>
                  <a:srgbClr val="FF0000"/>
                </a:solidFill>
                <a:latin typeface="Calibri Light"/>
                <a:cs typeface="Calibri Light"/>
              </a:rPr>
              <a:t>of</a:t>
            </a:r>
            <a:r>
              <a:rPr sz="800" b="0" spc="-7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-5" dirty="0">
                <a:solidFill>
                  <a:srgbClr val="FF0000"/>
                </a:solidFill>
                <a:latin typeface="Calibri Light"/>
                <a:cs typeface="Calibri Light"/>
              </a:rPr>
              <a:t>Regression</a:t>
            </a:r>
            <a:endParaRPr sz="800">
              <a:latin typeface="Calibri Light"/>
              <a:cs typeface="Calibri Light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5358696" y="1059620"/>
          <a:ext cx="1127760" cy="1702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/>
                <a:gridCol w="563880"/>
              </a:tblGrid>
              <a:tr h="275975">
                <a:tc>
                  <a:txBody>
                    <a:bodyPr/>
                    <a:lstStyle/>
                    <a:p>
                      <a:pPr marL="26034" algn="ctr">
                        <a:lnSpc>
                          <a:spcPts val="177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1650"/>
                        </a:lnSpc>
                      </a:pPr>
                      <a:r>
                        <a:rPr sz="1650" spc="-4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800" spc="-67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endParaRPr sz="1800" baseline="-13888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9525" algn="ctr">
                        <a:lnSpc>
                          <a:spcPts val="194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1765" algn="r">
                        <a:lnSpc>
                          <a:spcPts val="1945"/>
                        </a:lnSpc>
                        <a:spcBef>
                          <a:spcPts val="50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9525" algn="ctr">
                        <a:lnSpc>
                          <a:spcPts val="1964"/>
                        </a:lnSpc>
                        <a:spcBef>
                          <a:spcPts val="3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8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8905" algn="r">
                        <a:lnSpc>
                          <a:spcPts val="1935"/>
                        </a:lnSpc>
                      </a:pPr>
                      <a:r>
                        <a:rPr sz="1650" spc="-20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403">
                <a:tc>
                  <a:txBody>
                    <a:bodyPr/>
                    <a:lstStyle/>
                    <a:p>
                      <a:pPr marL="13970" algn="ctr">
                        <a:lnSpc>
                          <a:spcPts val="1930"/>
                        </a:lnSpc>
                        <a:spcBef>
                          <a:spcPts val="13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5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525">
                <a:tc>
                  <a:txBody>
                    <a:bodyPr/>
                    <a:lstStyle/>
                    <a:p>
                      <a:pPr marL="13970" algn="ctr">
                        <a:lnSpc>
                          <a:spcPts val="1950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5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9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28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878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461645" y="3572004"/>
            <a:ext cx="104775" cy="1930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61645" y="416162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5353050" y="2899662"/>
            <a:ext cx="3495675" cy="1903762"/>
            <a:chOff x="5353050" y="2899662"/>
            <a:chExt cx="3495675" cy="1903762"/>
          </a:xfrm>
        </p:grpSpPr>
        <p:sp>
          <p:nvSpPr>
            <p:cNvPr id="6" name="object 6"/>
            <p:cNvSpPr/>
            <p:nvPr/>
          </p:nvSpPr>
          <p:spPr>
            <a:xfrm>
              <a:off x="5353050" y="4171950"/>
              <a:ext cx="800100" cy="4191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362559" y="3143250"/>
              <a:ext cx="800100" cy="4191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6186175" y="2899662"/>
              <a:ext cx="2600960" cy="39243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3600" spc="-7" baseline="-16203" dirty="0">
                  <a:latin typeface="Cambria Math"/>
                  <a:cs typeface="Cambria Math"/>
                </a:rPr>
                <a:t>𝛴</a:t>
              </a:r>
              <a:r>
                <a:rPr sz="1500" spc="-5" dirty="0">
                  <a:solidFill>
                    <a:srgbClr val="3F3F3F"/>
                  </a:solidFill>
                  <a:latin typeface="Cambria Math"/>
                  <a:cs typeface="Cambria Math"/>
                </a:rPr>
                <a:t>(Predicted </a:t>
              </a:r>
              <a:r>
                <a:rPr sz="1500" spc="5" dirty="0">
                  <a:solidFill>
                    <a:srgbClr val="3F3F3F"/>
                  </a:solidFill>
                  <a:latin typeface="Cambria Math"/>
                  <a:cs typeface="Cambria Math"/>
                </a:rPr>
                <a:t>Distance </a:t>
              </a:r>
              <a:r>
                <a:rPr sz="1500" dirty="0">
                  <a:solidFill>
                    <a:srgbClr val="3F3F3F"/>
                  </a:solidFill>
                  <a:latin typeface="Cambria Math"/>
                  <a:cs typeface="Cambria Math"/>
                </a:rPr>
                <a:t>–</a:t>
              </a:r>
              <a:r>
                <a:rPr sz="1500" spc="-75" dirty="0">
                  <a:solidFill>
                    <a:srgbClr val="3F3F3F"/>
                  </a:solidFill>
                  <a:latin typeface="Cambria Math"/>
                  <a:cs typeface="Cambria Math"/>
                </a:rPr>
                <a:t> </a:t>
              </a:r>
              <a:r>
                <a:rPr sz="1500" spc="-10" dirty="0">
                  <a:solidFill>
                    <a:srgbClr val="3F3F3F"/>
                  </a:solidFill>
                  <a:latin typeface="Cambria Math"/>
                  <a:cs typeface="Cambria Math"/>
                </a:rPr>
                <a:t>Mean)</a:t>
              </a:r>
              <a:r>
                <a:rPr sz="1800" spc="-15" baseline="34722" dirty="0">
                  <a:solidFill>
                    <a:srgbClr val="3F3F3F"/>
                  </a:solidFill>
                  <a:latin typeface="Calibri"/>
                  <a:cs typeface="Calibri"/>
                </a:rPr>
                <a:t>2</a:t>
              </a:r>
              <a:endParaRPr sz="1800" baseline="34722" dirty="0">
                <a:latin typeface="Calibri"/>
                <a:cs typeface="Calibri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229350" y="2962275"/>
              <a:ext cx="2619375" cy="37147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81750" y="3381375"/>
              <a:ext cx="2371725" cy="36195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35496" y="4553129"/>
              <a:ext cx="621665" cy="194310"/>
            </a:xfrm>
            <a:custGeom>
              <a:avLst/>
              <a:gdLst/>
              <a:ahLst/>
              <a:cxnLst/>
              <a:rect l="l" t="t" r="r" b="b"/>
              <a:pathLst>
                <a:path w="621665" h="194310">
                  <a:moveTo>
                    <a:pt x="559704" y="0"/>
                  </a:moveTo>
                  <a:lnTo>
                    <a:pt x="556900" y="7869"/>
                  </a:lnTo>
                  <a:lnTo>
                    <a:pt x="568137" y="12751"/>
                  </a:lnTo>
                  <a:lnTo>
                    <a:pt x="577828" y="19503"/>
                  </a:lnTo>
                  <a:lnTo>
                    <a:pt x="601042" y="64412"/>
                  </a:lnTo>
                  <a:lnTo>
                    <a:pt x="603900" y="96069"/>
                  </a:lnTo>
                  <a:lnTo>
                    <a:pt x="603183" y="113193"/>
                  </a:lnTo>
                  <a:lnTo>
                    <a:pt x="592317" y="155100"/>
                  </a:lnTo>
                  <a:lnTo>
                    <a:pt x="557265" y="186211"/>
                  </a:lnTo>
                  <a:lnTo>
                    <a:pt x="559704" y="194093"/>
                  </a:lnTo>
                  <a:lnTo>
                    <a:pt x="596788" y="172057"/>
                  </a:lnTo>
                  <a:lnTo>
                    <a:pt x="617562" y="131384"/>
                  </a:lnTo>
                  <a:lnTo>
                    <a:pt x="621548" y="97094"/>
                  </a:lnTo>
                  <a:lnTo>
                    <a:pt x="620548" y="79296"/>
                  </a:lnTo>
                  <a:lnTo>
                    <a:pt x="605546" y="34003"/>
                  </a:lnTo>
                  <a:lnTo>
                    <a:pt x="573776" y="5072"/>
                  </a:lnTo>
                  <a:lnTo>
                    <a:pt x="559704" y="0"/>
                  </a:lnTo>
                  <a:close/>
                </a:path>
                <a:path w="621665" h="194310">
                  <a:moveTo>
                    <a:pt x="61843" y="0"/>
                  </a:moveTo>
                  <a:lnTo>
                    <a:pt x="24862" y="22078"/>
                  </a:lnTo>
                  <a:lnTo>
                    <a:pt x="4000" y="62851"/>
                  </a:lnTo>
                  <a:lnTo>
                    <a:pt x="0" y="97094"/>
                  </a:lnTo>
                  <a:lnTo>
                    <a:pt x="981" y="114927"/>
                  </a:lnTo>
                  <a:lnTo>
                    <a:pt x="15880" y="160172"/>
                  </a:lnTo>
                  <a:lnTo>
                    <a:pt x="47752" y="189015"/>
                  </a:lnTo>
                  <a:lnTo>
                    <a:pt x="61843" y="194093"/>
                  </a:lnTo>
                  <a:lnTo>
                    <a:pt x="64251" y="186211"/>
                  </a:lnTo>
                  <a:lnTo>
                    <a:pt x="53211" y="181314"/>
                  </a:lnTo>
                  <a:lnTo>
                    <a:pt x="43685" y="174496"/>
                  </a:lnTo>
                  <a:lnTo>
                    <a:pt x="20520" y="128737"/>
                  </a:lnTo>
                  <a:lnTo>
                    <a:pt x="17647" y="96069"/>
                  </a:lnTo>
                  <a:lnTo>
                    <a:pt x="18364" y="79507"/>
                  </a:lnTo>
                  <a:lnTo>
                    <a:pt x="29199" y="38621"/>
                  </a:lnTo>
                  <a:lnTo>
                    <a:pt x="64648" y="7869"/>
                  </a:lnTo>
                  <a:lnTo>
                    <a:pt x="6184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72772" y="4123370"/>
              <a:ext cx="628015" cy="207645"/>
            </a:xfrm>
            <a:custGeom>
              <a:avLst/>
              <a:gdLst/>
              <a:ahLst/>
              <a:cxnLst/>
              <a:rect l="l" t="t" r="r" b="b"/>
              <a:pathLst>
                <a:path w="628015" h="207645">
                  <a:moveTo>
                    <a:pt x="573507" y="0"/>
                  </a:moveTo>
                  <a:lnTo>
                    <a:pt x="571374" y="6870"/>
                  </a:lnTo>
                  <a:lnTo>
                    <a:pt x="580915" y="11806"/>
                  </a:lnTo>
                  <a:lnTo>
                    <a:pt x="589205" y="18991"/>
                  </a:lnTo>
                  <a:lnTo>
                    <a:pt x="606671" y="53682"/>
                  </a:lnTo>
                  <a:lnTo>
                    <a:pt x="612522" y="103644"/>
                  </a:lnTo>
                  <a:lnTo>
                    <a:pt x="611875" y="121794"/>
                  </a:lnTo>
                  <a:lnTo>
                    <a:pt x="602098" y="167057"/>
                  </a:lnTo>
                  <a:lnTo>
                    <a:pt x="571374" y="200253"/>
                  </a:lnTo>
                  <a:lnTo>
                    <a:pt x="573507" y="207111"/>
                  </a:lnTo>
                  <a:lnTo>
                    <a:pt x="605967" y="184527"/>
                  </a:lnTo>
                  <a:lnTo>
                    <a:pt x="624359" y="140183"/>
                  </a:lnTo>
                  <a:lnTo>
                    <a:pt x="627884" y="103561"/>
                  </a:lnTo>
                  <a:lnTo>
                    <a:pt x="627003" y="84586"/>
                  </a:lnTo>
                  <a:lnTo>
                    <a:pt x="613771" y="35588"/>
                  </a:lnTo>
                  <a:lnTo>
                    <a:pt x="585821" y="4800"/>
                  </a:lnTo>
                  <a:lnTo>
                    <a:pt x="573507" y="0"/>
                  </a:lnTo>
                  <a:close/>
                </a:path>
                <a:path w="628015" h="207645">
                  <a:moveTo>
                    <a:pt x="54463" y="0"/>
                  </a:moveTo>
                  <a:lnTo>
                    <a:pt x="22017" y="22590"/>
                  </a:lnTo>
                  <a:lnTo>
                    <a:pt x="3531" y="66932"/>
                  </a:lnTo>
                  <a:lnTo>
                    <a:pt x="0" y="103644"/>
                  </a:lnTo>
                  <a:lnTo>
                    <a:pt x="878" y="122531"/>
                  </a:lnTo>
                  <a:lnTo>
                    <a:pt x="14199" y="171535"/>
                  </a:lnTo>
                  <a:lnTo>
                    <a:pt x="42154" y="202316"/>
                  </a:lnTo>
                  <a:lnTo>
                    <a:pt x="54463" y="207111"/>
                  </a:lnTo>
                  <a:lnTo>
                    <a:pt x="56506" y="200253"/>
                  </a:lnTo>
                  <a:lnTo>
                    <a:pt x="47005" y="195324"/>
                  </a:lnTo>
                  <a:lnTo>
                    <a:pt x="38724" y="188147"/>
                  </a:lnTo>
                  <a:lnTo>
                    <a:pt x="21330" y="153502"/>
                  </a:lnTo>
                  <a:lnTo>
                    <a:pt x="15482" y="103561"/>
                  </a:lnTo>
                  <a:lnTo>
                    <a:pt x="16127" y="85449"/>
                  </a:lnTo>
                  <a:lnTo>
                    <a:pt x="25904" y="40114"/>
                  </a:lnTo>
                  <a:lnTo>
                    <a:pt x="56506" y="6870"/>
                  </a:lnTo>
                  <a:lnTo>
                    <a:pt x="5446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76950" y="4424754"/>
              <a:ext cx="1324610" cy="0"/>
            </a:xfrm>
            <a:custGeom>
              <a:avLst/>
              <a:gdLst/>
              <a:ahLst/>
              <a:cxnLst/>
              <a:rect l="l" t="t" r="r" b="b"/>
              <a:pathLst>
                <a:path w="1324609">
                  <a:moveTo>
                    <a:pt x="0" y="0"/>
                  </a:moveTo>
                  <a:lnTo>
                    <a:pt x="1323990" y="0"/>
                  </a:lnTo>
                </a:path>
              </a:pathLst>
            </a:custGeom>
            <a:ln w="38099">
              <a:solidFill>
                <a:srgbClr val="095A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5572383" y="3191508"/>
              <a:ext cx="387985" cy="30099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500" spc="65" dirty="0">
                  <a:latin typeface="Cambria Math"/>
                  <a:cs typeface="Cambria Math"/>
                </a:rPr>
                <a:t>𝑅</a:t>
              </a:r>
              <a:r>
                <a:rPr sz="1650" spc="97" baseline="27777" dirty="0">
                  <a:latin typeface="Cambria Math"/>
                  <a:cs typeface="Cambria Math"/>
                </a:rPr>
                <a:t>2</a:t>
              </a:r>
              <a:r>
                <a:rPr sz="1650" spc="-89" baseline="27777" dirty="0">
                  <a:latin typeface="Cambria Math"/>
                  <a:cs typeface="Cambria Math"/>
                </a:rPr>
                <a:t> </a:t>
              </a:r>
              <a:r>
                <a:rPr sz="1800" dirty="0">
                  <a:latin typeface="Calibri"/>
                  <a:cs typeface="Calibri"/>
                </a:rPr>
                <a:t>=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6072621" y="3356478"/>
              <a:ext cx="2686685" cy="10160"/>
            </a:xfrm>
            <a:custGeom>
              <a:avLst/>
              <a:gdLst/>
              <a:ahLst/>
              <a:cxnLst/>
              <a:rect l="l" t="t" r="r" b="b"/>
              <a:pathLst>
                <a:path w="2686684" h="10160">
                  <a:moveTo>
                    <a:pt x="0" y="0"/>
                  </a:moveTo>
                  <a:lnTo>
                    <a:pt x="2686568" y="9656"/>
                  </a:lnTo>
                </a:path>
              </a:pathLst>
            </a:custGeom>
            <a:ln w="38099">
              <a:solidFill>
                <a:srgbClr val="095A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6540505" y="3430840"/>
              <a:ext cx="2161540" cy="2546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500" spc="-5" dirty="0">
                  <a:solidFill>
                    <a:srgbClr val="3F3F3F"/>
                  </a:solidFill>
                  <a:latin typeface="Cambria Math"/>
                  <a:cs typeface="Cambria Math"/>
                </a:rPr>
                <a:t>(Actual </a:t>
              </a:r>
              <a:r>
                <a:rPr sz="1500" spc="5" dirty="0">
                  <a:solidFill>
                    <a:srgbClr val="3F3F3F"/>
                  </a:solidFill>
                  <a:latin typeface="Cambria Math"/>
                  <a:cs typeface="Cambria Math"/>
                </a:rPr>
                <a:t>Distance </a:t>
              </a:r>
              <a:r>
                <a:rPr sz="1500" dirty="0">
                  <a:solidFill>
                    <a:srgbClr val="3F3F3F"/>
                  </a:solidFill>
                  <a:latin typeface="Cambria Math"/>
                  <a:cs typeface="Cambria Math"/>
                </a:rPr>
                <a:t>–</a:t>
              </a:r>
              <a:r>
                <a:rPr sz="1500" spc="-70" dirty="0">
                  <a:solidFill>
                    <a:srgbClr val="3F3F3F"/>
                  </a:solidFill>
                  <a:latin typeface="Cambria Math"/>
                  <a:cs typeface="Cambria Math"/>
                </a:rPr>
                <a:t> </a:t>
              </a:r>
              <a:r>
                <a:rPr sz="1500" spc="5" dirty="0">
                  <a:solidFill>
                    <a:srgbClr val="3F3F3F"/>
                  </a:solidFill>
                  <a:latin typeface="Cambria Math"/>
                  <a:cs typeface="Cambria Math"/>
                </a:rPr>
                <a:t>Mean)</a:t>
              </a:r>
              <a:r>
                <a:rPr sz="1800" spc="7" baseline="32407" dirty="0">
                  <a:solidFill>
                    <a:srgbClr val="3F3F3F"/>
                  </a:solidFill>
                  <a:latin typeface="Calibri"/>
                  <a:cs typeface="Calibri"/>
                </a:rPr>
                <a:t>2</a:t>
              </a:r>
              <a:endParaRPr sz="1800" baseline="32407">
                <a:latin typeface="Calibri"/>
                <a:cs typeface="Calibri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6172839" y="3368034"/>
              <a:ext cx="210820" cy="39243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400" spc="5" dirty="0">
                  <a:latin typeface="Cambria Math"/>
                  <a:cs typeface="Cambria Math"/>
                </a:rPr>
                <a:t>𝛴</a:t>
              </a:r>
              <a:endParaRPr sz="2400">
                <a:latin typeface="Cambria Math"/>
                <a:cs typeface="Cambria Math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7209795" y="4038432"/>
              <a:ext cx="97790" cy="171450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75"/>
                </a:spcBef>
              </a:pPr>
              <a:r>
                <a:rPr sz="950" spc="35" dirty="0">
                  <a:solidFill>
                    <a:srgbClr val="3F3F3F"/>
                  </a:solidFill>
                  <a:latin typeface="Cambria Math"/>
                  <a:cs typeface="Cambria Math"/>
                </a:rPr>
                <a:t>2</a:t>
              </a:r>
              <a:endParaRPr sz="950">
                <a:latin typeface="Cambria Math"/>
                <a:cs typeface="Cambria Math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6628134" y="4117325"/>
              <a:ext cx="521970" cy="227329"/>
            </a:xfrm>
            <a:prstGeom prst="rect">
              <a:avLst/>
            </a:prstGeom>
          </p:spPr>
          <p:txBody>
            <a:bodyPr vert="horz" wrap="square" lIns="0" tIns="44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5"/>
                </a:spcBef>
                <a:tabLst>
                  <a:tab pos="250825" algn="l"/>
                </a:tabLst>
              </a:pPr>
              <a:r>
                <a:rPr sz="1350" dirty="0">
                  <a:solidFill>
                    <a:srgbClr val="3F3F3F"/>
                  </a:solidFill>
                  <a:latin typeface="Cambria Math"/>
                  <a:cs typeface="Cambria Math"/>
                </a:rPr>
                <a:t>𝑦	−</a:t>
              </a:r>
              <a:r>
                <a:rPr sz="1350" spc="-105" dirty="0">
                  <a:solidFill>
                    <a:srgbClr val="3F3F3F"/>
                  </a:solidFill>
                  <a:latin typeface="Cambria Math"/>
                  <a:cs typeface="Cambria Math"/>
                </a:rPr>
                <a:t> </a:t>
              </a:r>
              <a:r>
                <a:rPr sz="1350" dirty="0">
                  <a:solidFill>
                    <a:srgbClr val="3F3F3F"/>
                  </a:solidFill>
                  <a:latin typeface="Cambria Math"/>
                  <a:cs typeface="Cambria Math"/>
                </a:rPr>
                <a:t>𝑦</a:t>
              </a:r>
              <a:endParaRPr sz="1350">
                <a:latin typeface="Cambria Math"/>
                <a:cs typeface="Cambria Math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6704335" y="4200678"/>
              <a:ext cx="104139" cy="171450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75"/>
                </a:spcBef>
              </a:pPr>
              <a:r>
                <a:rPr sz="950" spc="150" dirty="0">
                  <a:solidFill>
                    <a:srgbClr val="3F3F3F"/>
                  </a:solidFill>
                  <a:latin typeface="Cambria Math"/>
                  <a:cs typeface="Cambria Math"/>
                </a:rPr>
                <a:t>𝑝</a:t>
              </a:r>
              <a:endParaRPr sz="950">
                <a:latin typeface="Cambria Math"/>
                <a:cs typeface="Cambria Math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5562350" y="4248299"/>
              <a:ext cx="387350" cy="28575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055"/>
                </a:lnSpc>
              </a:pPr>
              <a:r>
                <a:rPr sz="1500" spc="65" dirty="0">
                  <a:solidFill>
                    <a:srgbClr val="3F3F3F"/>
                  </a:solidFill>
                  <a:latin typeface="Cambria Math"/>
                  <a:cs typeface="Cambria Math"/>
                </a:rPr>
                <a:t>𝑅</a:t>
              </a:r>
              <a:r>
                <a:rPr sz="1650" spc="97" baseline="27777" dirty="0">
                  <a:solidFill>
                    <a:srgbClr val="3F3F3F"/>
                  </a:solidFill>
                  <a:latin typeface="Cambria Math"/>
                  <a:cs typeface="Cambria Math"/>
                </a:rPr>
                <a:t>2</a:t>
              </a:r>
              <a:r>
                <a:rPr sz="1650" spc="-97" baseline="27777" dirty="0">
                  <a:solidFill>
                    <a:srgbClr val="3F3F3F"/>
                  </a:solidFill>
                  <a:latin typeface="Cambria Math"/>
                  <a:cs typeface="Cambria Math"/>
                </a:rPr>
                <a:t> </a:t>
              </a:r>
              <a:r>
                <a:rPr sz="1800" dirty="0">
                  <a:solidFill>
                    <a:srgbClr val="3F3F3F"/>
                  </a:solidFill>
                  <a:latin typeface="Calibri"/>
                  <a:cs typeface="Calibri"/>
                </a:rPr>
                <a:t>=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7278756" y="4484994"/>
              <a:ext cx="114300" cy="204470"/>
            </a:xfrm>
            <a:prstGeom prst="rect">
              <a:avLst/>
            </a:prstGeom>
          </p:spPr>
          <p:txBody>
            <a:bodyPr vert="horz" wrap="square" lIns="0" tIns="50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0"/>
                </a:spcBef>
              </a:pPr>
              <a:r>
                <a:rPr sz="1200" spc="30" dirty="0">
                  <a:solidFill>
                    <a:srgbClr val="3F3F3F"/>
                  </a:solidFill>
                  <a:latin typeface="Cambria Math"/>
                  <a:cs typeface="Cambria Math"/>
                </a:rPr>
                <a:t>2</a:t>
              </a:r>
              <a:endParaRPr sz="1200">
                <a:latin typeface="Cambria Math"/>
                <a:cs typeface="Cambria Math"/>
              </a:endParaRPr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6211956" y="3992529"/>
              <a:ext cx="1000124" cy="810895"/>
              <a:chOff x="6211956" y="3992529"/>
              <a:chExt cx="1000124" cy="810895"/>
            </a:xfrm>
          </p:grpSpPr>
          <p:sp>
            <p:nvSpPr>
              <p:cNvPr id="42" name="object 42"/>
              <p:cNvSpPr txBox="1"/>
              <p:nvPr/>
            </p:nvSpPr>
            <p:spPr>
              <a:xfrm>
                <a:off x="6211956" y="3992529"/>
                <a:ext cx="210820" cy="81089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ts val="2865"/>
                  </a:lnSpc>
                </a:pPr>
                <a:r>
                  <a:rPr sz="2400" spc="5" dirty="0">
                    <a:solidFill>
                      <a:srgbClr val="3F3F3F"/>
                    </a:solidFill>
                    <a:latin typeface="Cambria Math"/>
                    <a:cs typeface="Cambria Math"/>
                  </a:rPr>
                  <a:t>𝛴</a:t>
                </a:r>
                <a:endParaRPr sz="2400">
                  <a:latin typeface="Cambria Math"/>
                  <a:cs typeface="Cambria Math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480"/>
                  </a:spcBef>
                </a:pPr>
                <a:r>
                  <a:rPr sz="2400" spc="5" dirty="0">
                    <a:solidFill>
                      <a:srgbClr val="3F3F3F"/>
                    </a:solidFill>
                    <a:latin typeface="Cambria Math"/>
                    <a:cs typeface="Cambria Math"/>
                  </a:rPr>
                  <a:t>𝛴</a:t>
                </a:r>
                <a:endParaRPr sz="2400">
                  <a:latin typeface="Cambria Math"/>
                  <a:cs typeface="Cambria Math"/>
                </a:endParaRPr>
              </a:p>
            </p:txBody>
          </p:sp>
          <p:sp>
            <p:nvSpPr>
              <p:cNvPr id="49" name="object 49"/>
              <p:cNvSpPr txBox="1"/>
              <p:nvPr/>
            </p:nvSpPr>
            <p:spPr>
              <a:xfrm>
                <a:off x="6697096" y="4506588"/>
                <a:ext cx="514984" cy="272415"/>
              </a:xfrm>
              <a:prstGeom prst="rect">
                <a:avLst/>
              </a:prstGeom>
            </p:spPr>
            <p:txBody>
              <a:bodyPr vert="horz" wrap="square" lIns="0" tIns="254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20"/>
                  </a:spcBef>
                </a:pPr>
                <a:r>
                  <a:rPr sz="1650" dirty="0">
                    <a:solidFill>
                      <a:srgbClr val="3F3F3F"/>
                    </a:solidFill>
                    <a:latin typeface="Cambria Math"/>
                    <a:cs typeface="Cambria Math"/>
                  </a:rPr>
                  <a:t>𝑦 −</a:t>
                </a:r>
                <a:r>
                  <a:rPr sz="1650" spc="-45" dirty="0">
                    <a:solidFill>
                      <a:srgbClr val="3F3F3F"/>
                    </a:solidFill>
                    <a:latin typeface="Cambria Math"/>
                    <a:cs typeface="Cambria Math"/>
                  </a:rPr>
                  <a:t> </a:t>
                </a:r>
                <a:r>
                  <a:rPr sz="1650" dirty="0">
                    <a:solidFill>
                      <a:srgbClr val="3F3F3F"/>
                    </a:solidFill>
                    <a:latin typeface="Cambria Math"/>
                    <a:cs typeface="Cambria Math"/>
                  </a:rPr>
                  <a:t>𝑦</a:t>
                </a:r>
                <a:endParaRPr sz="1650">
                  <a:latin typeface="Cambria Math"/>
                  <a:cs typeface="Cambria Math"/>
                </a:endParaRPr>
              </a:p>
            </p:txBody>
          </p:sp>
        </p:grpSp>
      </p:grpSp>
      <p:sp>
        <p:nvSpPr>
          <p:cNvPr id="50" name="object 50"/>
          <p:cNvSpPr txBox="1"/>
          <p:nvPr/>
        </p:nvSpPr>
        <p:spPr>
          <a:xfrm>
            <a:off x="4380868" y="4671135"/>
            <a:ext cx="120014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625978" y="4670587"/>
            <a:ext cx="5740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38184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3007739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572893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164075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86177" y="482075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392695" y="4833444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663" y="229485"/>
            <a:ext cx="35363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5" dirty="0"/>
              <a:t>Goodness </a:t>
            </a:r>
            <a:r>
              <a:rPr spc="25" dirty="0"/>
              <a:t>of </a:t>
            </a:r>
            <a:r>
              <a:rPr spc="10" dirty="0"/>
              <a:t>Fit </a:t>
            </a:r>
            <a:r>
              <a:rPr spc="15" dirty="0"/>
              <a:t>–</a:t>
            </a:r>
            <a:r>
              <a:rPr spc="-75" dirty="0"/>
              <a:t> </a:t>
            </a:r>
            <a:r>
              <a:rPr b="0" spc="25" dirty="0">
                <a:latin typeface="Cambria Math"/>
                <a:cs typeface="Cambria Math"/>
              </a:rPr>
              <a:t>𝑹</a:t>
            </a:r>
            <a:r>
              <a:rPr sz="3000" b="0" spc="37" baseline="29166" dirty="0">
                <a:latin typeface="Cambria Math"/>
                <a:cs typeface="Cambria Math"/>
              </a:rPr>
              <a:t>𝟐</a:t>
            </a:r>
            <a:endParaRPr sz="3000" baseline="29166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53050" y="4171950"/>
            <a:ext cx="800100" cy="419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35496" y="4553129"/>
            <a:ext cx="621665" cy="194310"/>
          </a:xfrm>
          <a:custGeom>
            <a:avLst/>
            <a:gdLst/>
            <a:ahLst/>
            <a:cxnLst/>
            <a:rect l="l" t="t" r="r" b="b"/>
            <a:pathLst>
              <a:path w="621665" h="194310">
                <a:moveTo>
                  <a:pt x="559704" y="0"/>
                </a:moveTo>
                <a:lnTo>
                  <a:pt x="556900" y="7869"/>
                </a:lnTo>
                <a:lnTo>
                  <a:pt x="568137" y="12751"/>
                </a:lnTo>
                <a:lnTo>
                  <a:pt x="577828" y="19503"/>
                </a:lnTo>
                <a:lnTo>
                  <a:pt x="601042" y="64412"/>
                </a:lnTo>
                <a:lnTo>
                  <a:pt x="603900" y="96069"/>
                </a:lnTo>
                <a:lnTo>
                  <a:pt x="603183" y="113193"/>
                </a:lnTo>
                <a:lnTo>
                  <a:pt x="592317" y="155100"/>
                </a:lnTo>
                <a:lnTo>
                  <a:pt x="557265" y="186211"/>
                </a:lnTo>
                <a:lnTo>
                  <a:pt x="559704" y="194093"/>
                </a:lnTo>
                <a:lnTo>
                  <a:pt x="596788" y="172057"/>
                </a:lnTo>
                <a:lnTo>
                  <a:pt x="617562" y="131384"/>
                </a:lnTo>
                <a:lnTo>
                  <a:pt x="621548" y="97094"/>
                </a:lnTo>
                <a:lnTo>
                  <a:pt x="620548" y="79296"/>
                </a:lnTo>
                <a:lnTo>
                  <a:pt x="605546" y="34003"/>
                </a:lnTo>
                <a:lnTo>
                  <a:pt x="573776" y="5072"/>
                </a:lnTo>
                <a:lnTo>
                  <a:pt x="559704" y="0"/>
                </a:lnTo>
                <a:close/>
              </a:path>
              <a:path w="621665" h="194310">
                <a:moveTo>
                  <a:pt x="61843" y="0"/>
                </a:moveTo>
                <a:lnTo>
                  <a:pt x="24862" y="22078"/>
                </a:lnTo>
                <a:lnTo>
                  <a:pt x="4000" y="62851"/>
                </a:lnTo>
                <a:lnTo>
                  <a:pt x="0" y="97094"/>
                </a:lnTo>
                <a:lnTo>
                  <a:pt x="981" y="114927"/>
                </a:lnTo>
                <a:lnTo>
                  <a:pt x="15880" y="160172"/>
                </a:lnTo>
                <a:lnTo>
                  <a:pt x="47752" y="189015"/>
                </a:lnTo>
                <a:lnTo>
                  <a:pt x="61843" y="194093"/>
                </a:lnTo>
                <a:lnTo>
                  <a:pt x="64251" y="186211"/>
                </a:lnTo>
                <a:lnTo>
                  <a:pt x="53211" y="181314"/>
                </a:lnTo>
                <a:lnTo>
                  <a:pt x="43685" y="174496"/>
                </a:lnTo>
                <a:lnTo>
                  <a:pt x="20520" y="128737"/>
                </a:lnTo>
                <a:lnTo>
                  <a:pt x="17647" y="96069"/>
                </a:lnTo>
                <a:lnTo>
                  <a:pt x="18364" y="79507"/>
                </a:lnTo>
                <a:lnTo>
                  <a:pt x="29199" y="38621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72772" y="4123370"/>
            <a:ext cx="628015" cy="207645"/>
          </a:xfrm>
          <a:custGeom>
            <a:avLst/>
            <a:gdLst/>
            <a:ahLst/>
            <a:cxnLst/>
            <a:rect l="l" t="t" r="r" b="b"/>
            <a:pathLst>
              <a:path w="628015" h="207645">
                <a:moveTo>
                  <a:pt x="573507" y="0"/>
                </a:moveTo>
                <a:lnTo>
                  <a:pt x="571374" y="6870"/>
                </a:lnTo>
                <a:lnTo>
                  <a:pt x="580915" y="11806"/>
                </a:lnTo>
                <a:lnTo>
                  <a:pt x="589205" y="18991"/>
                </a:lnTo>
                <a:lnTo>
                  <a:pt x="606671" y="53682"/>
                </a:lnTo>
                <a:lnTo>
                  <a:pt x="612522" y="103644"/>
                </a:lnTo>
                <a:lnTo>
                  <a:pt x="611875" y="121794"/>
                </a:lnTo>
                <a:lnTo>
                  <a:pt x="602098" y="167057"/>
                </a:lnTo>
                <a:lnTo>
                  <a:pt x="571374" y="200253"/>
                </a:lnTo>
                <a:lnTo>
                  <a:pt x="573507" y="207111"/>
                </a:lnTo>
                <a:lnTo>
                  <a:pt x="605967" y="184527"/>
                </a:lnTo>
                <a:lnTo>
                  <a:pt x="624359" y="140183"/>
                </a:lnTo>
                <a:lnTo>
                  <a:pt x="627884" y="103561"/>
                </a:lnTo>
                <a:lnTo>
                  <a:pt x="627003" y="84586"/>
                </a:lnTo>
                <a:lnTo>
                  <a:pt x="613771" y="35588"/>
                </a:lnTo>
                <a:lnTo>
                  <a:pt x="585821" y="4800"/>
                </a:lnTo>
                <a:lnTo>
                  <a:pt x="573507" y="0"/>
                </a:lnTo>
                <a:close/>
              </a:path>
              <a:path w="628015" h="207645">
                <a:moveTo>
                  <a:pt x="54463" y="0"/>
                </a:moveTo>
                <a:lnTo>
                  <a:pt x="22017" y="22590"/>
                </a:lnTo>
                <a:lnTo>
                  <a:pt x="3531" y="66932"/>
                </a:lnTo>
                <a:lnTo>
                  <a:pt x="0" y="103644"/>
                </a:lnTo>
                <a:lnTo>
                  <a:pt x="878" y="122531"/>
                </a:lnTo>
                <a:lnTo>
                  <a:pt x="14199" y="171535"/>
                </a:lnTo>
                <a:lnTo>
                  <a:pt x="42154" y="202316"/>
                </a:lnTo>
                <a:lnTo>
                  <a:pt x="54463" y="207111"/>
                </a:lnTo>
                <a:lnTo>
                  <a:pt x="56506" y="200253"/>
                </a:lnTo>
                <a:lnTo>
                  <a:pt x="47005" y="195324"/>
                </a:lnTo>
                <a:lnTo>
                  <a:pt x="38724" y="188147"/>
                </a:lnTo>
                <a:lnTo>
                  <a:pt x="21330" y="153502"/>
                </a:lnTo>
                <a:lnTo>
                  <a:pt x="15482" y="103561"/>
                </a:lnTo>
                <a:lnTo>
                  <a:pt x="16127" y="85449"/>
                </a:lnTo>
                <a:lnTo>
                  <a:pt x="25904" y="40114"/>
                </a:lnTo>
                <a:lnTo>
                  <a:pt x="56506" y="6870"/>
                </a:lnTo>
                <a:lnTo>
                  <a:pt x="54463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76950" y="4424754"/>
            <a:ext cx="1324610" cy="0"/>
          </a:xfrm>
          <a:custGeom>
            <a:avLst/>
            <a:gdLst/>
            <a:ahLst/>
            <a:cxnLst/>
            <a:rect l="l" t="t" r="r" b="b"/>
            <a:pathLst>
              <a:path w="1324609">
                <a:moveTo>
                  <a:pt x="0" y="0"/>
                </a:moveTo>
                <a:lnTo>
                  <a:pt x="1323990" y="0"/>
                </a:lnTo>
              </a:path>
            </a:pathLst>
          </a:custGeom>
          <a:ln w="38099">
            <a:solidFill>
              <a:srgbClr val="095A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3527" y="1233297"/>
            <a:ext cx="2382673" cy="3583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35555" y="1249186"/>
            <a:ext cx="1200150" cy="35661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6855" y="1530632"/>
            <a:ext cx="971550" cy="339090"/>
          </a:xfrm>
          <a:custGeom>
            <a:avLst/>
            <a:gdLst/>
            <a:ahLst/>
            <a:cxnLst/>
            <a:rect l="l" t="t" r="r" b="b"/>
            <a:pathLst>
              <a:path w="971550" h="339089">
                <a:moveTo>
                  <a:pt x="0" y="338553"/>
                </a:moveTo>
                <a:lnTo>
                  <a:pt x="971550" y="338553"/>
                </a:lnTo>
                <a:lnTo>
                  <a:pt x="971550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6619" y="155695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5" dirty="0">
                <a:solidFill>
                  <a:srgbClr val="6B9E24"/>
                </a:solidFill>
                <a:latin typeface="Calibri Light"/>
                <a:cs typeface="Calibri Light"/>
              </a:rPr>
              <a:t>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1200" y="1389059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4951" y="1227185"/>
            <a:ext cx="0" cy="3588385"/>
          </a:xfrm>
          <a:custGeom>
            <a:avLst/>
            <a:gdLst/>
            <a:ahLst/>
            <a:cxnLst/>
            <a:rect l="l" t="t" r="r" b="b"/>
            <a:pathLst>
              <a:path h="3588385">
                <a:moveTo>
                  <a:pt x="0" y="0"/>
                </a:moveTo>
                <a:lnTo>
                  <a:pt x="0" y="358815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4951" y="4811005"/>
            <a:ext cx="3580765" cy="4445"/>
          </a:xfrm>
          <a:custGeom>
            <a:avLst/>
            <a:gdLst/>
            <a:ahLst/>
            <a:cxnLst/>
            <a:rect l="l" t="t" r="r" b="b"/>
            <a:pathLst>
              <a:path w="3580765" h="4445">
                <a:moveTo>
                  <a:pt x="3580762" y="4334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61645" y="2952172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4502" y="2381565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6729" y="1999989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79289" y="3579245"/>
            <a:ext cx="105287" cy="107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95553" y="2400050"/>
            <a:ext cx="105311" cy="107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83461" y="2988563"/>
            <a:ext cx="105287" cy="1076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92680" y="2388357"/>
            <a:ext cx="105287" cy="10757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73779" y="2024999"/>
            <a:ext cx="105277" cy="10770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73083" y="2495930"/>
            <a:ext cx="3562985" cy="365125"/>
          </a:xfrm>
          <a:custGeom>
            <a:avLst/>
            <a:gdLst/>
            <a:ahLst/>
            <a:cxnLst/>
            <a:rect l="l" t="t" r="r" b="b"/>
            <a:pathLst>
              <a:path w="3562985" h="365125">
                <a:moveTo>
                  <a:pt x="0" y="364748"/>
                </a:moveTo>
                <a:lnTo>
                  <a:pt x="3562630" y="0"/>
                </a:lnTo>
              </a:path>
            </a:pathLst>
          </a:custGeom>
          <a:ln w="2857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90481" y="2749545"/>
            <a:ext cx="105299" cy="1077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83461" y="2690871"/>
            <a:ext cx="105287" cy="10757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88358" y="2620267"/>
            <a:ext cx="105287" cy="10769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82980" y="2562474"/>
            <a:ext cx="105284" cy="1077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68202" y="2508753"/>
            <a:ext cx="105277" cy="10757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29861" y="2340935"/>
            <a:ext cx="971550" cy="215900"/>
          </a:xfrm>
          <a:custGeom>
            <a:avLst/>
            <a:gdLst/>
            <a:ahLst/>
            <a:cxnLst/>
            <a:rect l="l" t="t" r="r" b="b"/>
            <a:pathLst>
              <a:path w="971550" h="215900">
                <a:moveTo>
                  <a:pt x="0" y="215443"/>
                </a:moveTo>
                <a:lnTo>
                  <a:pt x="971550" y="215443"/>
                </a:lnTo>
                <a:lnTo>
                  <a:pt x="971550" y="0"/>
                </a:lnTo>
                <a:lnTo>
                  <a:pt x="0" y="0"/>
                </a:lnTo>
                <a:lnTo>
                  <a:pt x="0" y="2154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313304" y="2368801"/>
            <a:ext cx="78422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0" dirty="0">
                <a:solidFill>
                  <a:srgbClr val="FF0000"/>
                </a:solidFill>
                <a:latin typeface="Calibri Light"/>
                <a:cs typeface="Calibri Light"/>
              </a:rPr>
              <a:t>L</a:t>
            </a:r>
            <a:r>
              <a:rPr sz="800" b="0" spc="-9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30" dirty="0">
                <a:solidFill>
                  <a:srgbClr val="FF0000"/>
                </a:solidFill>
                <a:latin typeface="Calibri Light"/>
                <a:cs typeface="Calibri Light"/>
              </a:rPr>
              <a:t>ine</a:t>
            </a:r>
            <a:r>
              <a:rPr sz="800" b="0" spc="-8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15" dirty="0">
                <a:solidFill>
                  <a:srgbClr val="FF0000"/>
                </a:solidFill>
                <a:latin typeface="Calibri Light"/>
                <a:cs typeface="Calibri Light"/>
              </a:rPr>
              <a:t>of</a:t>
            </a:r>
            <a:r>
              <a:rPr sz="800" b="0" spc="-7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-5" dirty="0">
                <a:solidFill>
                  <a:srgbClr val="FF0000"/>
                </a:solidFill>
                <a:latin typeface="Calibri Light"/>
                <a:cs typeface="Calibri Light"/>
              </a:rPr>
              <a:t>Regression</a:t>
            </a:r>
            <a:endParaRPr sz="800">
              <a:latin typeface="Calibri Light"/>
              <a:cs typeface="Calibri Light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5358696" y="1059620"/>
          <a:ext cx="2575560" cy="1702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975"/>
                <a:gridCol w="562610"/>
                <a:gridCol w="563245"/>
                <a:gridCol w="887730"/>
              </a:tblGrid>
              <a:tr h="275472">
                <a:tc>
                  <a:txBody>
                    <a:bodyPr/>
                    <a:lstStyle/>
                    <a:p>
                      <a:pPr marL="28575" algn="ctr">
                        <a:lnSpc>
                          <a:spcPts val="177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72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1650"/>
                        </a:lnSpc>
                      </a:pPr>
                      <a:r>
                        <a:rPr sz="1650" spc="-4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800" spc="-67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endParaRPr sz="1800" baseline="-13888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845"/>
                        </a:lnSpc>
                      </a:pPr>
                      <a:r>
                        <a:rPr sz="1650" spc="-3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800" spc="-5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r>
                        <a:rPr sz="1800" spc="120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2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11430" algn="ctr">
                        <a:lnSpc>
                          <a:spcPts val="194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970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1765" algn="r">
                        <a:lnSpc>
                          <a:spcPts val="1939"/>
                        </a:lnSpc>
                        <a:spcBef>
                          <a:spcPts val="5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97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3.2-3.6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11430" algn="ctr">
                        <a:lnSpc>
                          <a:spcPts val="1964"/>
                        </a:lnSpc>
                        <a:spcBef>
                          <a:spcPts val="3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8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8905" algn="r">
                        <a:lnSpc>
                          <a:spcPts val="1939"/>
                        </a:lnSpc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5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334">
                <a:tc>
                  <a:txBody>
                    <a:bodyPr/>
                    <a:lstStyle/>
                    <a:p>
                      <a:pPr marL="15875" algn="ctr">
                        <a:lnSpc>
                          <a:spcPts val="1930"/>
                        </a:lnSpc>
                        <a:spcBef>
                          <a:spcPts val="1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50" spc="-20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584">
                <a:tc>
                  <a:txBody>
                    <a:bodyPr/>
                    <a:lstStyle/>
                    <a:p>
                      <a:pPr marL="15875" algn="ctr">
                        <a:lnSpc>
                          <a:spcPts val="195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17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9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34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8391"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61645" y="3572004"/>
            <a:ext cx="104775" cy="1930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11956" y="3992529"/>
            <a:ext cx="210820" cy="810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5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5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09795" y="4038432"/>
            <a:ext cx="97790" cy="171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50" spc="35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28134" y="4117325"/>
            <a:ext cx="521970" cy="22732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250825" algn="l"/>
              </a:tabLst>
            </a:pPr>
            <a:r>
              <a:rPr sz="1350" dirty="0">
                <a:solidFill>
                  <a:srgbClr val="3F3F3F"/>
                </a:solidFill>
                <a:latin typeface="Cambria Math"/>
                <a:cs typeface="Cambria Math"/>
              </a:rPr>
              <a:t>𝑦	−</a:t>
            </a:r>
            <a:r>
              <a:rPr sz="1350" spc="-10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350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1645" y="416162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04335" y="4200678"/>
            <a:ext cx="104139" cy="171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50" spc="150" dirty="0">
                <a:solidFill>
                  <a:srgbClr val="3F3F3F"/>
                </a:solidFill>
                <a:latin typeface="Cambria Math"/>
                <a:cs typeface="Cambria Math"/>
              </a:rPr>
              <a:t>𝑝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62350" y="4248299"/>
            <a:ext cx="38735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55"/>
              </a:lnSpc>
            </a:pPr>
            <a:r>
              <a:rPr sz="1500" spc="65" dirty="0">
                <a:solidFill>
                  <a:srgbClr val="3F3F3F"/>
                </a:solidFill>
                <a:latin typeface="Cambria Math"/>
                <a:cs typeface="Cambria Math"/>
              </a:rPr>
              <a:t>𝑅</a:t>
            </a:r>
            <a:r>
              <a:rPr sz="1650" spc="97" baseline="27777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r>
              <a:rPr sz="1650" spc="-97" baseline="27777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278756" y="4484994"/>
            <a:ext cx="114300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30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697096" y="4506588"/>
            <a:ext cx="514984" cy="27241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50" dirty="0">
                <a:solidFill>
                  <a:srgbClr val="3F3F3F"/>
                </a:solidFill>
                <a:latin typeface="Cambria Math"/>
                <a:cs typeface="Cambria Math"/>
              </a:rPr>
              <a:t>𝑦 −</a:t>
            </a:r>
            <a:r>
              <a:rPr sz="1650" spc="-4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80868" y="4671135"/>
            <a:ext cx="120014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25978" y="4670587"/>
            <a:ext cx="5740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8184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3007739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72893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64075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86177" y="482075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392695" y="4833444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663" y="229485"/>
            <a:ext cx="35363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5" dirty="0"/>
              <a:t>Goodness </a:t>
            </a:r>
            <a:r>
              <a:rPr spc="25" dirty="0"/>
              <a:t>of </a:t>
            </a:r>
            <a:r>
              <a:rPr spc="10" dirty="0"/>
              <a:t>Fit </a:t>
            </a:r>
            <a:r>
              <a:rPr spc="15" dirty="0"/>
              <a:t>–</a:t>
            </a:r>
            <a:r>
              <a:rPr spc="-75" dirty="0"/>
              <a:t> </a:t>
            </a:r>
            <a:r>
              <a:rPr b="0" spc="25" dirty="0">
                <a:latin typeface="Cambria Math"/>
                <a:cs typeface="Cambria Math"/>
              </a:rPr>
              <a:t>𝑹</a:t>
            </a:r>
            <a:r>
              <a:rPr sz="3000" b="0" spc="37" baseline="29166" dirty="0">
                <a:latin typeface="Cambria Math"/>
                <a:cs typeface="Cambria Math"/>
              </a:rPr>
              <a:t>𝟐</a:t>
            </a:r>
            <a:endParaRPr sz="3000" baseline="29166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53050" y="4171950"/>
            <a:ext cx="800100" cy="419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35496" y="4553129"/>
            <a:ext cx="621665" cy="194310"/>
          </a:xfrm>
          <a:custGeom>
            <a:avLst/>
            <a:gdLst/>
            <a:ahLst/>
            <a:cxnLst/>
            <a:rect l="l" t="t" r="r" b="b"/>
            <a:pathLst>
              <a:path w="621665" h="194310">
                <a:moveTo>
                  <a:pt x="559704" y="0"/>
                </a:moveTo>
                <a:lnTo>
                  <a:pt x="556900" y="7869"/>
                </a:lnTo>
                <a:lnTo>
                  <a:pt x="568137" y="12751"/>
                </a:lnTo>
                <a:lnTo>
                  <a:pt x="577828" y="19503"/>
                </a:lnTo>
                <a:lnTo>
                  <a:pt x="601042" y="64412"/>
                </a:lnTo>
                <a:lnTo>
                  <a:pt x="603900" y="96069"/>
                </a:lnTo>
                <a:lnTo>
                  <a:pt x="603183" y="113193"/>
                </a:lnTo>
                <a:lnTo>
                  <a:pt x="592317" y="155100"/>
                </a:lnTo>
                <a:lnTo>
                  <a:pt x="557265" y="186211"/>
                </a:lnTo>
                <a:lnTo>
                  <a:pt x="559704" y="194093"/>
                </a:lnTo>
                <a:lnTo>
                  <a:pt x="596788" y="172057"/>
                </a:lnTo>
                <a:lnTo>
                  <a:pt x="617562" y="131384"/>
                </a:lnTo>
                <a:lnTo>
                  <a:pt x="621548" y="97094"/>
                </a:lnTo>
                <a:lnTo>
                  <a:pt x="620548" y="79296"/>
                </a:lnTo>
                <a:lnTo>
                  <a:pt x="605546" y="34003"/>
                </a:lnTo>
                <a:lnTo>
                  <a:pt x="573776" y="5072"/>
                </a:lnTo>
                <a:lnTo>
                  <a:pt x="559704" y="0"/>
                </a:lnTo>
                <a:close/>
              </a:path>
              <a:path w="621665" h="194310">
                <a:moveTo>
                  <a:pt x="61843" y="0"/>
                </a:moveTo>
                <a:lnTo>
                  <a:pt x="24862" y="22078"/>
                </a:lnTo>
                <a:lnTo>
                  <a:pt x="4000" y="62851"/>
                </a:lnTo>
                <a:lnTo>
                  <a:pt x="0" y="97094"/>
                </a:lnTo>
                <a:lnTo>
                  <a:pt x="981" y="114927"/>
                </a:lnTo>
                <a:lnTo>
                  <a:pt x="15880" y="160172"/>
                </a:lnTo>
                <a:lnTo>
                  <a:pt x="47752" y="189015"/>
                </a:lnTo>
                <a:lnTo>
                  <a:pt x="61843" y="194093"/>
                </a:lnTo>
                <a:lnTo>
                  <a:pt x="64251" y="186211"/>
                </a:lnTo>
                <a:lnTo>
                  <a:pt x="53211" y="181314"/>
                </a:lnTo>
                <a:lnTo>
                  <a:pt x="43685" y="174496"/>
                </a:lnTo>
                <a:lnTo>
                  <a:pt x="20520" y="128737"/>
                </a:lnTo>
                <a:lnTo>
                  <a:pt x="17647" y="96069"/>
                </a:lnTo>
                <a:lnTo>
                  <a:pt x="18364" y="79507"/>
                </a:lnTo>
                <a:lnTo>
                  <a:pt x="29199" y="38621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72772" y="4123370"/>
            <a:ext cx="628015" cy="207645"/>
          </a:xfrm>
          <a:custGeom>
            <a:avLst/>
            <a:gdLst/>
            <a:ahLst/>
            <a:cxnLst/>
            <a:rect l="l" t="t" r="r" b="b"/>
            <a:pathLst>
              <a:path w="628015" h="207645">
                <a:moveTo>
                  <a:pt x="573507" y="0"/>
                </a:moveTo>
                <a:lnTo>
                  <a:pt x="571374" y="6870"/>
                </a:lnTo>
                <a:lnTo>
                  <a:pt x="580915" y="11806"/>
                </a:lnTo>
                <a:lnTo>
                  <a:pt x="589205" y="18991"/>
                </a:lnTo>
                <a:lnTo>
                  <a:pt x="606671" y="53682"/>
                </a:lnTo>
                <a:lnTo>
                  <a:pt x="612522" y="103644"/>
                </a:lnTo>
                <a:lnTo>
                  <a:pt x="611875" y="121794"/>
                </a:lnTo>
                <a:lnTo>
                  <a:pt x="602098" y="167057"/>
                </a:lnTo>
                <a:lnTo>
                  <a:pt x="571374" y="200253"/>
                </a:lnTo>
                <a:lnTo>
                  <a:pt x="573507" y="207111"/>
                </a:lnTo>
                <a:lnTo>
                  <a:pt x="605967" y="184527"/>
                </a:lnTo>
                <a:lnTo>
                  <a:pt x="624359" y="140183"/>
                </a:lnTo>
                <a:lnTo>
                  <a:pt x="627884" y="103561"/>
                </a:lnTo>
                <a:lnTo>
                  <a:pt x="627003" y="84586"/>
                </a:lnTo>
                <a:lnTo>
                  <a:pt x="613771" y="35588"/>
                </a:lnTo>
                <a:lnTo>
                  <a:pt x="585821" y="4800"/>
                </a:lnTo>
                <a:lnTo>
                  <a:pt x="573507" y="0"/>
                </a:lnTo>
                <a:close/>
              </a:path>
              <a:path w="628015" h="207645">
                <a:moveTo>
                  <a:pt x="54463" y="0"/>
                </a:moveTo>
                <a:lnTo>
                  <a:pt x="22017" y="22590"/>
                </a:lnTo>
                <a:lnTo>
                  <a:pt x="3531" y="66932"/>
                </a:lnTo>
                <a:lnTo>
                  <a:pt x="0" y="103644"/>
                </a:lnTo>
                <a:lnTo>
                  <a:pt x="878" y="122531"/>
                </a:lnTo>
                <a:lnTo>
                  <a:pt x="14199" y="171535"/>
                </a:lnTo>
                <a:lnTo>
                  <a:pt x="42154" y="202316"/>
                </a:lnTo>
                <a:lnTo>
                  <a:pt x="54463" y="207111"/>
                </a:lnTo>
                <a:lnTo>
                  <a:pt x="56506" y="200253"/>
                </a:lnTo>
                <a:lnTo>
                  <a:pt x="47005" y="195324"/>
                </a:lnTo>
                <a:lnTo>
                  <a:pt x="38724" y="188147"/>
                </a:lnTo>
                <a:lnTo>
                  <a:pt x="21330" y="153502"/>
                </a:lnTo>
                <a:lnTo>
                  <a:pt x="15482" y="103561"/>
                </a:lnTo>
                <a:lnTo>
                  <a:pt x="16127" y="85449"/>
                </a:lnTo>
                <a:lnTo>
                  <a:pt x="25904" y="40114"/>
                </a:lnTo>
                <a:lnTo>
                  <a:pt x="56506" y="6870"/>
                </a:lnTo>
                <a:lnTo>
                  <a:pt x="54463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76950" y="4424754"/>
            <a:ext cx="1324610" cy="0"/>
          </a:xfrm>
          <a:custGeom>
            <a:avLst/>
            <a:gdLst/>
            <a:ahLst/>
            <a:cxnLst/>
            <a:rect l="l" t="t" r="r" b="b"/>
            <a:pathLst>
              <a:path w="1324609">
                <a:moveTo>
                  <a:pt x="0" y="0"/>
                </a:moveTo>
                <a:lnTo>
                  <a:pt x="1323990" y="0"/>
                </a:lnTo>
              </a:path>
            </a:pathLst>
          </a:custGeom>
          <a:ln w="38099">
            <a:solidFill>
              <a:srgbClr val="095A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3527" y="1233297"/>
            <a:ext cx="2382673" cy="3583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35555" y="1249186"/>
            <a:ext cx="1200150" cy="35661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6855" y="1530632"/>
            <a:ext cx="971550" cy="339090"/>
          </a:xfrm>
          <a:custGeom>
            <a:avLst/>
            <a:gdLst/>
            <a:ahLst/>
            <a:cxnLst/>
            <a:rect l="l" t="t" r="r" b="b"/>
            <a:pathLst>
              <a:path w="971550" h="339089">
                <a:moveTo>
                  <a:pt x="0" y="338553"/>
                </a:moveTo>
                <a:lnTo>
                  <a:pt x="971550" y="338553"/>
                </a:lnTo>
                <a:lnTo>
                  <a:pt x="971550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6619" y="155695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5" dirty="0">
                <a:solidFill>
                  <a:srgbClr val="6B9E24"/>
                </a:solidFill>
                <a:latin typeface="Calibri Light"/>
                <a:cs typeface="Calibri Light"/>
              </a:rPr>
              <a:t>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1200" y="1389059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4951" y="1227185"/>
            <a:ext cx="0" cy="3588385"/>
          </a:xfrm>
          <a:custGeom>
            <a:avLst/>
            <a:gdLst/>
            <a:ahLst/>
            <a:cxnLst/>
            <a:rect l="l" t="t" r="r" b="b"/>
            <a:pathLst>
              <a:path h="3588385">
                <a:moveTo>
                  <a:pt x="0" y="0"/>
                </a:moveTo>
                <a:lnTo>
                  <a:pt x="0" y="358815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4951" y="4811005"/>
            <a:ext cx="3580765" cy="4445"/>
          </a:xfrm>
          <a:custGeom>
            <a:avLst/>
            <a:gdLst/>
            <a:ahLst/>
            <a:cxnLst/>
            <a:rect l="l" t="t" r="r" b="b"/>
            <a:pathLst>
              <a:path w="3580765" h="4445">
                <a:moveTo>
                  <a:pt x="3580762" y="4334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61645" y="2952172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4502" y="2381565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6729" y="1999989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79289" y="3579245"/>
            <a:ext cx="105287" cy="107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95553" y="2400050"/>
            <a:ext cx="105311" cy="107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83461" y="2988563"/>
            <a:ext cx="105287" cy="1076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92680" y="2388357"/>
            <a:ext cx="105287" cy="10757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73779" y="2024999"/>
            <a:ext cx="105277" cy="10770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73083" y="2495930"/>
            <a:ext cx="3562985" cy="365125"/>
          </a:xfrm>
          <a:custGeom>
            <a:avLst/>
            <a:gdLst/>
            <a:ahLst/>
            <a:cxnLst/>
            <a:rect l="l" t="t" r="r" b="b"/>
            <a:pathLst>
              <a:path w="3562985" h="365125">
                <a:moveTo>
                  <a:pt x="0" y="364748"/>
                </a:moveTo>
                <a:lnTo>
                  <a:pt x="3562630" y="0"/>
                </a:lnTo>
              </a:path>
            </a:pathLst>
          </a:custGeom>
          <a:ln w="2857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90481" y="2749545"/>
            <a:ext cx="105299" cy="1077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83461" y="2690871"/>
            <a:ext cx="105287" cy="10757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88358" y="2620267"/>
            <a:ext cx="105287" cy="10769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82980" y="2562474"/>
            <a:ext cx="105284" cy="1077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68202" y="2508753"/>
            <a:ext cx="105277" cy="10757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29861" y="2340935"/>
            <a:ext cx="971550" cy="215900"/>
          </a:xfrm>
          <a:custGeom>
            <a:avLst/>
            <a:gdLst/>
            <a:ahLst/>
            <a:cxnLst/>
            <a:rect l="l" t="t" r="r" b="b"/>
            <a:pathLst>
              <a:path w="971550" h="215900">
                <a:moveTo>
                  <a:pt x="0" y="215443"/>
                </a:moveTo>
                <a:lnTo>
                  <a:pt x="971550" y="215443"/>
                </a:lnTo>
                <a:lnTo>
                  <a:pt x="971550" y="0"/>
                </a:lnTo>
                <a:lnTo>
                  <a:pt x="0" y="0"/>
                </a:lnTo>
                <a:lnTo>
                  <a:pt x="0" y="2154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313304" y="2368801"/>
            <a:ext cx="78422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0" dirty="0">
                <a:solidFill>
                  <a:srgbClr val="FF0000"/>
                </a:solidFill>
                <a:latin typeface="Calibri Light"/>
                <a:cs typeface="Calibri Light"/>
              </a:rPr>
              <a:t>L</a:t>
            </a:r>
            <a:r>
              <a:rPr sz="800" b="0" spc="-9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30" dirty="0">
                <a:solidFill>
                  <a:srgbClr val="FF0000"/>
                </a:solidFill>
                <a:latin typeface="Calibri Light"/>
                <a:cs typeface="Calibri Light"/>
              </a:rPr>
              <a:t>ine</a:t>
            </a:r>
            <a:r>
              <a:rPr sz="800" b="0" spc="-8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15" dirty="0">
                <a:solidFill>
                  <a:srgbClr val="FF0000"/>
                </a:solidFill>
                <a:latin typeface="Calibri Light"/>
                <a:cs typeface="Calibri Light"/>
              </a:rPr>
              <a:t>of</a:t>
            </a:r>
            <a:r>
              <a:rPr sz="800" b="0" spc="-7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-5" dirty="0">
                <a:solidFill>
                  <a:srgbClr val="FF0000"/>
                </a:solidFill>
                <a:latin typeface="Calibri Light"/>
                <a:cs typeface="Calibri Light"/>
              </a:rPr>
              <a:t>Regression</a:t>
            </a:r>
            <a:endParaRPr sz="800">
              <a:latin typeface="Calibri Light"/>
              <a:cs typeface="Calibri Light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5358696" y="1059620"/>
          <a:ext cx="3452495" cy="1702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975"/>
                <a:gridCol w="562610"/>
                <a:gridCol w="563245"/>
                <a:gridCol w="882650"/>
                <a:gridCol w="882015"/>
              </a:tblGrid>
              <a:tr h="275472">
                <a:tc>
                  <a:txBody>
                    <a:bodyPr/>
                    <a:lstStyle/>
                    <a:p>
                      <a:pPr marL="28575" algn="ctr">
                        <a:lnSpc>
                          <a:spcPts val="177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72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1650"/>
                        </a:lnSpc>
                      </a:pPr>
                      <a:r>
                        <a:rPr sz="1650" spc="-4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800" spc="-67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endParaRPr sz="1800" baseline="-13888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45"/>
                        </a:lnSpc>
                      </a:pPr>
                      <a:r>
                        <a:rPr sz="1650" spc="-3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800" spc="-5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r>
                        <a:rPr sz="1800" spc="120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2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ts val="1845"/>
                        </a:lnSpc>
                      </a:pPr>
                      <a:r>
                        <a:rPr sz="1650" spc="-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650" spc="-18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-15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11430" algn="ctr">
                        <a:lnSpc>
                          <a:spcPts val="194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970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1765" algn="r">
                        <a:lnSpc>
                          <a:spcPts val="1939"/>
                        </a:lnSpc>
                        <a:spcBef>
                          <a:spcPts val="5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975"/>
                        </a:lnSpc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1945"/>
                        </a:lnSpc>
                        <a:spcBef>
                          <a:spcPts val="5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 –</a:t>
                      </a:r>
                      <a:r>
                        <a:rPr sz="1650" spc="-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50" spc="5" dirty="0">
                          <a:latin typeface="Cambria Math"/>
                          <a:cs typeface="Cambria Math"/>
                        </a:rPr>
                        <a:t>3.6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11430" algn="ctr">
                        <a:lnSpc>
                          <a:spcPts val="1964"/>
                        </a:lnSpc>
                        <a:spcBef>
                          <a:spcPts val="3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8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8905" algn="r">
                        <a:lnSpc>
                          <a:spcPts val="1939"/>
                        </a:lnSpc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5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334">
                <a:tc>
                  <a:txBody>
                    <a:bodyPr/>
                    <a:lstStyle/>
                    <a:p>
                      <a:pPr marL="15875" algn="ctr">
                        <a:lnSpc>
                          <a:spcPts val="1930"/>
                        </a:lnSpc>
                        <a:spcBef>
                          <a:spcPts val="1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50" spc="-20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584">
                <a:tc>
                  <a:txBody>
                    <a:bodyPr/>
                    <a:lstStyle/>
                    <a:p>
                      <a:pPr marL="15875" algn="ctr">
                        <a:lnSpc>
                          <a:spcPts val="195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17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9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34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-0.7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34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8391"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61645" y="3572004"/>
            <a:ext cx="104775" cy="1930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11956" y="3992529"/>
            <a:ext cx="210820" cy="810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5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5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09795" y="4038432"/>
            <a:ext cx="97790" cy="171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50" spc="35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28134" y="4117325"/>
            <a:ext cx="521970" cy="22732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250825" algn="l"/>
              </a:tabLst>
            </a:pPr>
            <a:r>
              <a:rPr sz="1350" dirty="0">
                <a:solidFill>
                  <a:srgbClr val="3F3F3F"/>
                </a:solidFill>
                <a:latin typeface="Cambria Math"/>
                <a:cs typeface="Cambria Math"/>
              </a:rPr>
              <a:t>𝑦	−</a:t>
            </a:r>
            <a:r>
              <a:rPr sz="1350" spc="-10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350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1645" y="416162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04335" y="4200678"/>
            <a:ext cx="104139" cy="171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50" spc="150" dirty="0">
                <a:solidFill>
                  <a:srgbClr val="3F3F3F"/>
                </a:solidFill>
                <a:latin typeface="Cambria Math"/>
                <a:cs typeface="Cambria Math"/>
              </a:rPr>
              <a:t>𝑝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62350" y="4248299"/>
            <a:ext cx="38735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55"/>
              </a:lnSpc>
            </a:pPr>
            <a:r>
              <a:rPr sz="1500" spc="65" dirty="0">
                <a:solidFill>
                  <a:srgbClr val="3F3F3F"/>
                </a:solidFill>
                <a:latin typeface="Cambria Math"/>
                <a:cs typeface="Cambria Math"/>
              </a:rPr>
              <a:t>𝑅</a:t>
            </a:r>
            <a:r>
              <a:rPr sz="1650" spc="97" baseline="27777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r>
              <a:rPr sz="1650" spc="-97" baseline="27777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278756" y="4484994"/>
            <a:ext cx="114300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30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697096" y="4506588"/>
            <a:ext cx="514984" cy="27241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50" dirty="0">
                <a:solidFill>
                  <a:srgbClr val="3F3F3F"/>
                </a:solidFill>
                <a:latin typeface="Cambria Math"/>
                <a:cs typeface="Cambria Math"/>
              </a:rPr>
              <a:t>𝑦 −</a:t>
            </a:r>
            <a:r>
              <a:rPr sz="1650" spc="-4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80868" y="4671135"/>
            <a:ext cx="120014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25978" y="4670587"/>
            <a:ext cx="5740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8184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3007739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72893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64075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86177" y="482075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392695" y="4833444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663" y="229485"/>
            <a:ext cx="35363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5" dirty="0"/>
              <a:t>Goodness </a:t>
            </a:r>
            <a:r>
              <a:rPr spc="25" dirty="0"/>
              <a:t>of </a:t>
            </a:r>
            <a:r>
              <a:rPr spc="10" dirty="0"/>
              <a:t>Fit </a:t>
            </a:r>
            <a:r>
              <a:rPr spc="15" dirty="0"/>
              <a:t>–</a:t>
            </a:r>
            <a:r>
              <a:rPr spc="-75" dirty="0"/>
              <a:t> </a:t>
            </a:r>
            <a:r>
              <a:rPr b="0" spc="25" dirty="0">
                <a:latin typeface="Cambria Math"/>
                <a:cs typeface="Cambria Math"/>
              </a:rPr>
              <a:t>𝑹</a:t>
            </a:r>
            <a:r>
              <a:rPr sz="3000" b="0" spc="37" baseline="29166" dirty="0">
                <a:latin typeface="Cambria Math"/>
                <a:cs typeface="Cambria Math"/>
              </a:rPr>
              <a:t>𝟐</a:t>
            </a:r>
            <a:endParaRPr sz="3000" baseline="29166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53050" y="4171950"/>
            <a:ext cx="800100" cy="419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35496" y="4553129"/>
            <a:ext cx="621665" cy="194310"/>
          </a:xfrm>
          <a:custGeom>
            <a:avLst/>
            <a:gdLst/>
            <a:ahLst/>
            <a:cxnLst/>
            <a:rect l="l" t="t" r="r" b="b"/>
            <a:pathLst>
              <a:path w="621665" h="194310">
                <a:moveTo>
                  <a:pt x="559704" y="0"/>
                </a:moveTo>
                <a:lnTo>
                  <a:pt x="556900" y="7869"/>
                </a:lnTo>
                <a:lnTo>
                  <a:pt x="568137" y="12751"/>
                </a:lnTo>
                <a:lnTo>
                  <a:pt x="577828" y="19503"/>
                </a:lnTo>
                <a:lnTo>
                  <a:pt x="601042" y="64412"/>
                </a:lnTo>
                <a:lnTo>
                  <a:pt x="603900" y="96069"/>
                </a:lnTo>
                <a:lnTo>
                  <a:pt x="603183" y="113193"/>
                </a:lnTo>
                <a:lnTo>
                  <a:pt x="592317" y="155100"/>
                </a:lnTo>
                <a:lnTo>
                  <a:pt x="557265" y="186211"/>
                </a:lnTo>
                <a:lnTo>
                  <a:pt x="559704" y="194093"/>
                </a:lnTo>
                <a:lnTo>
                  <a:pt x="596788" y="172057"/>
                </a:lnTo>
                <a:lnTo>
                  <a:pt x="617562" y="131384"/>
                </a:lnTo>
                <a:lnTo>
                  <a:pt x="621548" y="97094"/>
                </a:lnTo>
                <a:lnTo>
                  <a:pt x="620548" y="79296"/>
                </a:lnTo>
                <a:lnTo>
                  <a:pt x="605546" y="34003"/>
                </a:lnTo>
                <a:lnTo>
                  <a:pt x="573776" y="5072"/>
                </a:lnTo>
                <a:lnTo>
                  <a:pt x="559704" y="0"/>
                </a:lnTo>
                <a:close/>
              </a:path>
              <a:path w="621665" h="194310">
                <a:moveTo>
                  <a:pt x="61843" y="0"/>
                </a:moveTo>
                <a:lnTo>
                  <a:pt x="24862" y="22078"/>
                </a:lnTo>
                <a:lnTo>
                  <a:pt x="4000" y="62851"/>
                </a:lnTo>
                <a:lnTo>
                  <a:pt x="0" y="97094"/>
                </a:lnTo>
                <a:lnTo>
                  <a:pt x="981" y="114927"/>
                </a:lnTo>
                <a:lnTo>
                  <a:pt x="15880" y="160172"/>
                </a:lnTo>
                <a:lnTo>
                  <a:pt x="47752" y="189015"/>
                </a:lnTo>
                <a:lnTo>
                  <a:pt x="61843" y="194093"/>
                </a:lnTo>
                <a:lnTo>
                  <a:pt x="64251" y="186211"/>
                </a:lnTo>
                <a:lnTo>
                  <a:pt x="53211" y="181314"/>
                </a:lnTo>
                <a:lnTo>
                  <a:pt x="43685" y="174496"/>
                </a:lnTo>
                <a:lnTo>
                  <a:pt x="20520" y="128737"/>
                </a:lnTo>
                <a:lnTo>
                  <a:pt x="17647" y="96069"/>
                </a:lnTo>
                <a:lnTo>
                  <a:pt x="18364" y="79507"/>
                </a:lnTo>
                <a:lnTo>
                  <a:pt x="29199" y="38621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72772" y="4123370"/>
            <a:ext cx="628015" cy="207645"/>
          </a:xfrm>
          <a:custGeom>
            <a:avLst/>
            <a:gdLst/>
            <a:ahLst/>
            <a:cxnLst/>
            <a:rect l="l" t="t" r="r" b="b"/>
            <a:pathLst>
              <a:path w="628015" h="207645">
                <a:moveTo>
                  <a:pt x="573507" y="0"/>
                </a:moveTo>
                <a:lnTo>
                  <a:pt x="571374" y="6870"/>
                </a:lnTo>
                <a:lnTo>
                  <a:pt x="580915" y="11806"/>
                </a:lnTo>
                <a:lnTo>
                  <a:pt x="589205" y="18991"/>
                </a:lnTo>
                <a:lnTo>
                  <a:pt x="606671" y="53682"/>
                </a:lnTo>
                <a:lnTo>
                  <a:pt x="612522" y="103644"/>
                </a:lnTo>
                <a:lnTo>
                  <a:pt x="611875" y="121794"/>
                </a:lnTo>
                <a:lnTo>
                  <a:pt x="602098" y="167057"/>
                </a:lnTo>
                <a:lnTo>
                  <a:pt x="571374" y="200253"/>
                </a:lnTo>
                <a:lnTo>
                  <a:pt x="573507" y="207111"/>
                </a:lnTo>
                <a:lnTo>
                  <a:pt x="605967" y="184527"/>
                </a:lnTo>
                <a:lnTo>
                  <a:pt x="624359" y="140183"/>
                </a:lnTo>
                <a:lnTo>
                  <a:pt x="627884" y="103561"/>
                </a:lnTo>
                <a:lnTo>
                  <a:pt x="627003" y="84586"/>
                </a:lnTo>
                <a:lnTo>
                  <a:pt x="613771" y="35588"/>
                </a:lnTo>
                <a:lnTo>
                  <a:pt x="585821" y="4800"/>
                </a:lnTo>
                <a:lnTo>
                  <a:pt x="573507" y="0"/>
                </a:lnTo>
                <a:close/>
              </a:path>
              <a:path w="628015" h="207645">
                <a:moveTo>
                  <a:pt x="54463" y="0"/>
                </a:moveTo>
                <a:lnTo>
                  <a:pt x="22017" y="22590"/>
                </a:lnTo>
                <a:lnTo>
                  <a:pt x="3531" y="66932"/>
                </a:lnTo>
                <a:lnTo>
                  <a:pt x="0" y="103644"/>
                </a:lnTo>
                <a:lnTo>
                  <a:pt x="878" y="122531"/>
                </a:lnTo>
                <a:lnTo>
                  <a:pt x="14199" y="171535"/>
                </a:lnTo>
                <a:lnTo>
                  <a:pt x="42154" y="202316"/>
                </a:lnTo>
                <a:lnTo>
                  <a:pt x="54463" y="207111"/>
                </a:lnTo>
                <a:lnTo>
                  <a:pt x="56506" y="200253"/>
                </a:lnTo>
                <a:lnTo>
                  <a:pt x="47005" y="195324"/>
                </a:lnTo>
                <a:lnTo>
                  <a:pt x="38724" y="188147"/>
                </a:lnTo>
                <a:lnTo>
                  <a:pt x="21330" y="153502"/>
                </a:lnTo>
                <a:lnTo>
                  <a:pt x="15482" y="103561"/>
                </a:lnTo>
                <a:lnTo>
                  <a:pt x="16127" y="85449"/>
                </a:lnTo>
                <a:lnTo>
                  <a:pt x="25904" y="40114"/>
                </a:lnTo>
                <a:lnTo>
                  <a:pt x="56506" y="6870"/>
                </a:lnTo>
                <a:lnTo>
                  <a:pt x="54463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76950" y="4424754"/>
            <a:ext cx="1324610" cy="0"/>
          </a:xfrm>
          <a:custGeom>
            <a:avLst/>
            <a:gdLst/>
            <a:ahLst/>
            <a:cxnLst/>
            <a:rect l="l" t="t" r="r" b="b"/>
            <a:pathLst>
              <a:path w="1324609">
                <a:moveTo>
                  <a:pt x="0" y="0"/>
                </a:moveTo>
                <a:lnTo>
                  <a:pt x="1323990" y="0"/>
                </a:lnTo>
              </a:path>
            </a:pathLst>
          </a:custGeom>
          <a:ln w="38099">
            <a:solidFill>
              <a:srgbClr val="095A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3527" y="1233297"/>
            <a:ext cx="2382673" cy="3583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35555" y="1249186"/>
            <a:ext cx="1200150" cy="35661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6855" y="1530632"/>
            <a:ext cx="971550" cy="339090"/>
          </a:xfrm>
          <a:custGeom>
            <a:avLst/>
            <a:gdLst/>
            <a:ahLst/>
            <a:cxnLst/>
            <a:rect l="l" t="t" r="r" b="b"/>
            <a:pathLst>
              <a:path w="971550" h="339089">
                <a:moveTo>
                  <a:pt x="0" y="338553"/>
                </a:moveTo>
                <a:lnTo>
                  <a:pt x="971550" y="338553"/>
                </a:lnTo>
                <a:lnTo>
                  <a:pt x="971550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6619" y="155695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5" dirty="0">
                <a:solidFill>
                  <a:srgbClr val="6B9E24"/>
                </a:solidFill>
                <a:latin typeface="Calibri Light"/>
                <a:cs typeface="Calibri Light"/>
              </a:rPr>
              <a:t>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1200" y="1389059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4951" y="1227185"/>
            <a:ext cx="0" cy="3588385"/>
          </a:xfrm>
          <a:custGeom>
            <a:avLst/>
            <a:gdLst/>
            <a:ahLst/>
            <a:cxnLst/>
            <a:rect l="l" t="t" r="r" b="b"/>
            <a:pathLst>
              <a:path h="3588385">
                <a:moveTo>
                  <a:pt x="0" y="0"/>
                </a:moveTo>
                <a:lnTo>
                  <a:pt x="0" y="358815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4951" y="4811005"/>
            <a:ext cx="3580765" cy="4445"/>
          </a:xfrm>
          <a:custGeom>
            <a:avLst/>
            <a:gdLst/>
            <a:ahLst/>
            <a:cxnLst/>
            <a:rect l="l" t="t" r="r" b="b"/>
            <a:pathLst>
              <a:path w="3580765" h="4445">
                <a:moveTo>
                  <a:pt x="3580762" y="4334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61645" y="2952172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4502" y="2381565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6729" y="1999989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79289" y="3579245"/>
            <a:ext cx="105287" cy="107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95553" y="2400050"/>
            <a:ext cx="105311" cy="107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83461" y="2988563"/>
            <a:ext cx="105287" cy="1076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92680" y="2388357"/>
            <a:ext cx="105287" cy="10757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73779" y="2024999"/>
            <a:ext cx="105277" cy="10770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73083" y="2495930"/>
            <a:ext cx="3562985" cy="365125"/>
          </a:xfrm>
          <a:custGeom>
            <a:avLst/>
            <a:gdLst/>
            <a:ahLst/>
            <a:cxnLst/>
            <a:rect l="l" t="t" r="r" b="b"/>
            <a:pathLst>
              <a:path w="3562985" h="365125">
                <a:moveTo>
                  <a:pt x="0" y="364748"/>
                </a:moveTo>
                <a:lnTo>
                  <a:pt x="3562630" y="0"/>
                </a:lnTo>
              </a:path>
            </a:pathLst>
          </a:custGeom>
          <a:ln w="2857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90481" y="2749545"/>
            <a:ext cx="105299" cy="1077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83461" y="2690871"/>
            <a:ext cx="105287" cy="10757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88358" y="2620267"/>
            <a:ext cx="105287" cy="10769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82980" y="2562474"/>
            <a:ext cx="105284" cy="1077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68202" y="2508753"/>
            <a:ext cx="105277" cy="10757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29861" y="2340935"/>
            <a:ext cx="971550" cy="215900"/>
          </a:xfrm>
          <a:custGeom>
            <a:avLst/>
            <a:gdLst/>
            <a:ahLst/>
            <a:cxnLst/>
            <a:rect l="l" t="t" r="r" b="b"/>
            <a:pathLst>
              <a:path w="971550" h="215900">
                <a:moveTo>
                  <a:pt x="0" y="215443"/>
                </a:moveTo>
                <a:lnTo>
                  <a:pt x="971550" y="215443"/>
                </a:lnTo>
                <a:lnTo>
                  <a:pt x="971550" y="0"/>
                </a:lnTo>
                <a:lnTo>
                  <a:pt x="0" y="0"/>
                </a:lnTo>
                <a:lnTo>
                  <a:pt x="0" y="2154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313304" y="2368801"/>
            <a:ext cx="78422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0" dirty="0">
                <a:solidFill>
                  <a:srgbClr val="FF0000"/>
                </a:solidFill>
                <a:latin typeface="Calibri Light"/>
                <a:cs typeface="Calibri Light"/>
              </a:rPr>
              <a:t>L</a:t>
            </a:r>
            <a:r>
              <a:rPr sz="800" b="0" spc="-9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30" dirty="0">
                <a:solidFill>
                  <a:srgbClr val="FF0000"/>
                </a:solidFill>
                <a:latin typeface="Calibri Light"/>
                <a:cs typeface="Calibri Light"/>
              </a:rPr>
              <a:t>ine</a:t>
            </a:r>
            <a:r>
              <a:rPr sz="800" b="0" spc="-8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15" dirty="0">
                <a:solidFill>
                  <a:srgbClr val="FF0000"/>
                </a:solidFill>
                <a:latin typeface="Calibri Light"/>
                <a:cs typeface="Calibri Light"/>
              </a:rPr>
              <a:t>of</a:t>
            </a:r>
            <a:r>
              <a:rPr sz="800" b="0" spc="-7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-5" dirty="0">
                <a:solidFill>
                  <a:srgbClr val="FF0000"/>
                </a:solidFill>
                <a:latin typeface="Calibri Light"/>
                <a:cs typeface="Calibri Light"/>
              </a:rPr>
              <a:t>Regression</a:t>
            </a:r>
            <a:endParaRPr sz="800">
              <a:latin typeface="Calibri Light"/>
              <a:cs typeface="Calibri Light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5358696" y="1059620"/>
          <a:ext cx="3452495" cy="1702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975"/>
                <a:gridCol w="562610"/>
                <a:gridCol w="563245"/>
                <a:gridCol w="882650"/>
                <a:gridCol w="882015"/>
              </a:tblGrid>
              <a:tr h="275472">
                <a:tc>
                  <a:txBody>
                    <a:bodyPr/>
                    <a:lstStyle/>
                    <a:p>
                      <a:pPr marL="28575" algn="ctr">
                        <a:lnSpc>
                          <a:spcPts val="177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𝑥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72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𝑦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1650"/>
                        </a:lnSpc>
                      </a:pPr>
                      <a:r>
                        <a:rPr sz="1650" spc="-4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800" spc="-67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endParaRPr sz="1800" baseline="-13888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45"/>
                        </a:lnSpc>
                      </a:pPr>
                      <a:r>
                        <a:rPr sz="1650" spc="-3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800" spc="-5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r>
                        <a:rPr sz="1800" spc="120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2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845"/>
                        </a:lnSpc>
                      </a:pPr>
                      <a:r>
                        <a:rPr sz="1650" spc="-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650" spc="-18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-15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11430" algn="ctr">
                        <a:lnSpc>
                          <a:spcPts val="194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970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1765" algn="r">
                        <a:lnSpc>
                          <a:spcPts val="1939"/>
                        </a:lnSpc>
                        <a:spcBef>
                          <a:spcPts val="5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975"/>
                        </a:lnSpc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945"/>
                        </a:lnSpc>
                        <a:spcBef>
                          <a:spcPts val="5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L="11430" algn="ctr">
                        <a:lnSpc>
                          <a:spcPts val="1964"/>
                        </a:lnSpc>
                        <a:spcBef>
                          <a:spcPts val="3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8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8905" algn="r">
                        <a:lnSpc>
                          <a:spcPts val="1939"/>
                        </a:lnSpc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5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ts val="1945"/>
                        </a:lnSpc>
                        <a:spcBef>
                          <a:spcPts val="5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334">
                <a:tc>
                  <a:txBody>
                    <a:bodyPr/>
                    <a:lstStyle/>
                    <a:p>
                      <a:pPr marL="15875" algn="ctr">
                        <a:lnSpc>
                          <a:spcPts val="1930"/>
                        </a:lnSpc>
                        <a:spcBef>
                          <a:spcPts val="1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3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5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50" spc="-20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ts val="1950"/>
                        </a:lnSpc>
                        <a:spcBef>
                          <a:spcPts val="12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524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584">
                <a:tc>
                  <a:txBody>
                    <a:bodyPr/>
                    <a:lstStyle/>
                    <a:p>
                      <a:pPr marL="15875" algn="ctr">
                        <a:lnSpc>
                          <a:spcPts val="1955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17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9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34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-0.7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34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984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8391"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032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61645" y="3572004"/>
            <a:ext cx="104775" cy="1930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11956" y="3992529"/>
            <a:ext cx="210820" cy="810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5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5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09795" y="4038432"/>
            <a:ext cx="97790" cy="171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50" spc="35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28134" y="4117325"/>
            <a:ext cx="521970" cy="22732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250825" algn="l"/>
              </a:tabLst>
            </a:pPr>
            <a:r>
              <a:rPr sz="1350" dirty="0">
                <a:solidFill>
                  <a:srgbClr val="3F3F3F"/>
                </a:solidFill>
                <a:latin typeface="Cambria Math"/>
                <a:cs typeface="Cambria Math"/>
              </a:rPr>
              <a:t>𝑦	−</a:t>
            </a:r>
            <a:r>
              <a:rPr sz="1350" spc="-10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350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1645" y="416162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04335" y="4200678"/>
            <a:ext cx="104139" cy="171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50" spc="150" dirty="0">
                <a:solidFill>
                  <a:srgbClr val="3F3F3F"/>
                </a:solidFill>
                <a:latin typeface="Cambria Math"/>
                <a:cs typeface="Cambria Math"/>
              </a:rPr>
              <a:t>𝑝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62350" y="4248299"/>
            <a:ext cx="38735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55"/>
              </a:lnSpc>
            </a:pPr>
            <a:r>
              <a:rPr sz="1500" spc="65" dirty="0">
                <a:solidFill>
                  <a:srgbClr val="3F3F3F"/>
                </a:solidFill>
                <a:latin typeface="Cambria Math"/>
                <a:cs typeface="Cambria Math"/>
              </a:rPr>
              <a:t>𝑅</a:t>
            </a:r>
            <a:r>
              <a:rPr sz="1650" spc="97" baseline="27777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r>
              <a:rPr sz="1650" spc="-97" baseline="27777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278756" y="4484994"/>
            <a:ext cx="114300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30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697096" y="4506588"/>
            <a:ext cx="514984" cy="27241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50" dirty="0">
                <a:solidFill>
                  <a:srgbClr val="3F3F3F"/>
                </a:solidFill>
                <a:latin typeface="Cambria Math"/>
                <a:cs typeface="Cambria Math"/>
              </a:rPr>
              <a:t>𝑦 −</a:t>
            </a:r>
            <a:r>
              <a:rPr sz="1650" spc="-4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80868" y="4671135"/>
            <a:ext cx="120014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25978" y="4670587"/>
            <a:ext cx="5740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8184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3007739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72893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64075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86177" y="482075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392695" y="4833444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663" y="229485"/>
            <a:ext cx="35363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5" dirty="0"/>
              <a:t>Goodness </a:t>
            </a:r>
            <a:r>
              <a:rPr spc="25" dirty="0"/>
              <a:t>of </a:t>
            </a:r>
            <a:r>
              <a:rPr spc="10" dirty="0"/>
              <a:t>Fit </a:t>
            </a:r>
            <a:r>
              <a:rPr spc="15" dirty="0"/>
              <a:t>–</a:t>
            </a:r>
            <a:r>
              <a:rPr spc="-75" dirty="0"/>
              <a:t> </a:t>
            </a:r>
            <a:r>
              <a:rPr b="0" spc="25" dirty="0">
                <a:latin typeface="Cambria Math"/>
                <a:cs typeface="Cambria Math"/>
              </a:rPr>
              <a:t>𝑹</a:t>
            </a:r>
            <a:r>
              <a:rPr sz="3000" b="0" spc="37" baseline="29166" dirty="0">
                <a:latin typeface="Cambria Math"/>
                <a:cs typeface="Cambria Math"/>
              </a:rPr>
              <a:t>𝟐</a:t>
            </a:r>
            <a:endParaRPr sz="3000" baseline="29166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53050" y="4171950"/>
            <a:ext cx="800100" cy="419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35496" y="4553129"/>
            <a:ext cx="621665" cy="194310"/>
          </a:xfrm>
          <a:custGeom>
            <a:avLst/>
            <a:gdLst/>
            <a:ahLst/>
            <a:cxnLst/>
            <a:rect l="l" t="t" r="r" b="b"/>
            <a:pathLst>
              <a:path w="621665" h="194310">
                <a:moveTo>
                  <a:pt x="559704" y="0"/>
                </a:moveTo>
                <a:lnTo>
                  <a:pt x="556900" y="7869"/>
                </a:lnTo>
                <a:lnTo>
                  <a:pt x="568137" y="12751"/>
                </a:lnTo>
                <a:lnTo>
                  <a:pt x="577828" y="19503"/>
                </a:lnTo>
                <a:lnTo>
                  <a:pt x="601042" y="64412"/>
                </a:lnTo>
                <a:lnTo>
                  <a:pt x="603900" y="96069"/>
                </a:lnTo>
                <a:lnTo>
                  <a:pt x="603183" y="113193"/>
                </a:lnTo>
                <a:lnTo>
                  <a:pt x="592317" y="155100"/>
                </a:lnTo>
                <a:lnTo>
                  <a:pt x="557265" y="186211"/>
                </a:lnTo>
                <a:lnTo>
                  <a:pt x="559704" y="194093"/>
                </a:lnTo>
                <a:lnTo>
                  <a:pt x="596788" y="172057"/>
                </a:lnTo>
                <a:lnTo>
                  <a:pt x="617562" y="131384"/>
                </a:lnTo>
                <a:lnTo>
                  <a:pt x="621548" y="97094"/>
                </a:lnTo>
                <a:lnTo>
                  <a:pt x="620548" y="79296"/>
                </a:lnTo>
                <a:lnTo>
                  <a:pt x="605546" y="34003"/>
                </a:lnTo>
                <a:lnTo>
                  <a:pt x="573776" y="5072"/>
                </a:lnTo>
                <a:lnTo>
                  <a:pt x="559704" y="0"/>
                </a:lnTo>
                <a:close/>
              </a:path>
              <a:path w="621665" h="194310">
                <a:moveTo>
                  <a:pt x="61843" y="0"/>
                </a:moveTo>
                <a:lnTo>
                  <a:pt x="24862" y="22078"/>
                </a:lnTo>
                <a:lnTo>
                  <a:pt x="4000" y="62851"/>
                </a:lnTo>
                <a:lnTo>
                  <a:pt x="0" y="97094"/>
                </a:lnTo>
                <a:lnTo>
                  <a:pt x="981" y="114927"/>
                </a:lnTo>
                <a:lnTo>
                  <a:pt x="15880" y="160172"/>
                </a:lnTo>
                <a:lnTo>
                  <a:pt x="47752" y="189015"/>
                </a:lnTo>
                <a:lnTo>
                  <a:pt x="61843" y="194093"/>
                </a:lnTo>
                <a:lnTo>
                  <a:pt x="64251" y="186211"/>
                </a:lnTo>
                <a:lnTo>
                  <a:pt x="53211" y="181314"/>
                </a:lnTo>
                <a:lnTo>
                  <a:pt x="43685" y="174496"/>
                </a:lnTo>
                <a:lnTo>
                  <a:pt x="20520" y="128737"/>
                </a:lnTo>
                <a:lnTo>
                  <a:pt x="17647" y="96069"/>
                </a:lnTo>
                <a:lnTo>
                  <a:pt x="18364" y="79507"/>
                </a:lnTo>
                <a:lnTo>
                  <a:pt x="29199" y="38621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72772" y="4123370"/>
            <a:ext cx="628015" cy="207645"/>
          </a:xfrm>
          <a:custGeom>
            <a:avLst/>
            <a:gdLst/>
            <a:ahLst/>
            <a:cxnLst/>
            <a:rect l="l" t="t" r="r" b="b"/>
            <a:pathLst>
              <a:path w="628015" h="207645">
                <a:moveTo>
                  <a:pt x="573507" y="0"/>
                </a:moveTo>
                <a:lnTo>
                  <a:pt x="571374" y="6870"/>
                </a:lnTo>
                <a:lnTo>
                  <a:pt x="580915" y="11806"/>
                </a:lnTo>
                <a:lnTo>
                  <a:pt x="589205" y="18991"/>
                </a:lnTo>
                <a:lnTo>
                  <a:pt x="606671" y="53682"/>
                </a:lnTo>
                <a:lnTo>
                  <a:pt x="612522" y="103644"/>
                </a:lnTo>
                <a:lnTo>
                  <a:pt x="611875" y="121794"/>
                </a:lnTo>
                <a:lnTo>
                  <a:pt x="602098" y="167057"/>
                </a:lnTo>
                <a:lnTo>
                  <a:pt x="571374" y="200253"/>
                </a:lnTo>
                <a:lnTo>
                  <a:pt x="573507" y="207111"/>
                </a:lnTo>
                <a:lnTo>
                  <a:pt x="605967" y="184527"/>
                </a:lnTo>
                <a:lnTo>
                  <a:pt x="624359" y="140183"/>
                </a:lnTo>
                <a:lnTo>
                  <a:pt x="627884" y="103561"/>
                </a:lnTo>
                <a:lnTo>
                  <a:pt x="627003" y="84586"/>
                </a:lnTo>
                <a:lnTo>
                  <a:pt x="613771" y="35588"/>
                </a:lnTo>
                <a:lnTo>
                  <a:pt x="585821" y="4800"/>
                </a:lnTo>
                <a:lnTo>
                  <a:pt x="573507" y="0"/>
                </a:lnTo>
                <a:close/>
              </a:path>
              <a:path w="628015" h="207645">
                <a:moveTo>
                  <a:pt x="54463" y="0"/>
                </a:moveTo>
                <a:lnTo>
                  <a:pt x="22017" y="22590"/>
                </a:lnTo>
                <a:lnTo>
                  <a:pt x="3531" y="66932"/>
                </a:lnTo>
                <a:lnTo>
                  <a:pt x="0" y="103644"/>
                </a:lnTo>
                <a:lnTo>
                  <a:pt x="878" y="122531"/>
                </a:lnTo>
                <a:lnTo>
                  <a:pt x="14199" y="171535"/>
                </a:lnTo>
                <a:lnTo>
                  <a:pt x="42154" y="202316"/>
                </a:lnTo>
                <a:lnTo>
                  <a:pt x="54463" y="207111"/>
                </a:lnTo>
                <a:lnTo>
                  <a:pt x="56506" y="200253"/>
                </a:lnTo>
                <a:lnTo>
                  <a:pt x="47005" y="195324"/>
                </a:lnTo>
                <a:lnTo>
                  <a:pt x="38724" y="188147"/>
                </a:lnTo>
                <a:lnTo>
                  <a:pt x="21330" y="153502"/>
                </a:lnTo>
                <a:lnTo>
                  <a:pt x="15482" y="103561"/>
                </a:lnTo>
                <a:lnTo>
                  <a:pt x="16127" y="85449"/>
                </a:lnTo>
                <a:lnTo>
                  <a:pt x="25904" y="40114"/>
                </a:lnTo>
                <a:lnTo>
                  <a:pt x="56506" y="6870"/>
                </a:lnTo>
                <a:lnTo>
                  <a:pt x="54463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76950" y="4424754"/>
            <a:ext cx="1324610" cy="0"/>
          </a:xfrm>
          <a:custGeom>
            <a:avLst/>
            <a:gdLst/>
            <a:ahLst/>
            <a:cxnLst/>
            <a:rect l="l" t="t" r="r" b="b"/>
            <a:pathLst>
              <a:path w="1324609">
                <a:moveTo>
                  <a:pt x="0" y="0"/>
                </a:moveTo>
                <a:lnTo>
                  <a:pt x="1323990" y="0"/>
                </a:lnTo>
              </a:path>
            </a:pathLst>
          </a:custGeom>
          <a:ln w="38099">
            <a:solidFill>
              <a:srgbClr val="095A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3527" y="1233297"/>
            <a:ext cx="2382673" cy="3583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35555" y="1249186"/>
            <a:ext cx="1200150" cy="35661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6855" y="1530632"/>
            <a:ext cx="971550" cy="339090"/>
          </a:xfrm>
          <a:custGeom>
            <a:avLst/>
            <a:gdLst/>
            <a:ahLst/>
            <a:cxnLst/>
            <a:rect l="l" t="t" r="r" b="b"/>
            <a:pathLst>
              <a:path w="971550" h="339089">
                <a:moveTo>
                  <a:pt x="0" y="338553"/>
                </a:moveTo>
                <a:lnTo>
                  <a:pt x="971550" y="338553"/>
                </a:lnTo>
                <a:lnTo>
                  <a:pt x="971550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6619" y="155695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5" dirty="0">
                <a:solidFill>
                  <a:srgbClr val="6B9E24"/>
                </a:solidFill>
                <a:latin typeface="Calibri Light"/>
                <a:cs typeface="Calibri Light"/>
              </a:rPr>
              <a:t>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1200" y="1389059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4951" y="1227185"/>
            <a:ext cx="0" cy="3588385"/>
          </a:xfrm>
          <a:custGeom>
            <a:avLst/>
            <a:gdLst/>
            <a:ahLst/>
            <a:cxnLst/>
            <a:rect l="l" t="t" r="r" b="b"/>
            <a:pathLst>
              <a:path h="3588385">
                <a:moveTo>
                  <a:pt x="0" y="0"/>
                </a:moveTo>
                <a:lnTo>
                  <a:pt x="0" y="358815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4951" y="4811005"/>
            <a:ext cx="3580765" cy="4445"/>
          </a:xfrm>
          <a:custGeom>
            <a:avLst/>
            <a:gdLst/>
            <a:ahLst/>
            <a:cxnLst/>
            <a:rect l="l" t="t" r="r" b="b"/>
            <a:pathLst>
              <a:path w="3580765" h="4445">
                <a:moveTo>
                  <a:pt x="3580762" y="4334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61645" y="2952172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4502" y="2381565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6729" y="1999989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79289" y="3579245"/>
            <a:ext cx="105287" cy="107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95553" y="2400050"/>
            <a:ext cx="105311" cy="107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83461" y="2988563"/>
            <a:ext cx="105287" cy="1076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92680" y="2388357"/>
            <a:ext cx="105287" cy="10757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73779" y="2024999"/>
            <a:ext cx="105277" cy="10770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73083" y="2495930"/>
            <a:ext cx="3562985" cy="365125"/>
          </a:xfrm>
          <a:custGeom>
            <a:avLst/>
            <a:gdLst/>
            <a:ahLst/>
            <a:cxnLst/>
            <a:rect l="l" t="t" r="r" b="b"/>
            <a:pathLst>
              <a:path w="3562985" h="365125">
                <a:moveTo>
                  <a:pt x="0" y="364748"/>
                </a:moveTo>
                <a:lnTo>
                  <a:pt x="3562630" y="0"/>
                </a:lnTo>
              </a:path>
            </a:pathLst>
          </a:custGeom>
          <a:ln w="2857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90481" y="2749545"/>
            <a:ext cx="105299" cy="1077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83461" y="2690871"/>
            <a:ext cx="105287" cy="10757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88358" y="2620267"/>
            <a:ext cx="105287" cy="10769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82980" y="2562474"/>
            <a:ext cx="105284" cy="1077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68202" y="2508753"/>
            <a:ext cx="105277" cy="10757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29861" y="2340935"/>
            <a:ext cx="971550" cy="215900"/>
          </a:xfrm>
          <a:custGeom>
            <a:avLst/>
            <a:gdLst/>
            <a:ahLst/>
            <a:cxnLst/>
            <a:rect l="l" t="t" r="r" b="b"/>
            <a:pathLst>
              <a:path w="971550" h="215900">
                <a:moveTo>
                  <a:pt x="0" y="215443"/>
                </a:moveTo>
                <a:lnTo>
                  <a:pt x="971550" y="215443"/>
                </a:lnTo>
                <a:lnTo>
                  <a:pt x="971550" y="0"/>
                </a:lnTo>
                <a:lnTo>
                  <a:pt x="0" y="0"/>
                </a:lnTo>
                <a:lnTo>
                  <a:pt x="0" y="2154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313304" y="2368801"/>
            <a:ext cx="78422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0" dirty="0">
                <a:solidFill>
                  <a:srgbClr val="FF0000"/>
                </a:solidFill>
                <a:latin typeface="Calibri Light"/>
                <a:cs typeface="Calibri Light"/>
              </a:rPr>
              <a:t>L</a:t>
            </a:r>
            <a:r>
              <a:rPr sz="800" b="0" spc="-9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30" dirty="0">
                <a:solidFill>
                  <a:srgbClr val="FF0000"/>
                </a:solidFill>
                <a:latin typeface="Calibri Light"/>
                <a:cs typeface="Calibri Light"/>
              </a:rPr>
              <a:t>ine</a:t>
            </a:r>
            <a:r>
              <a:rPr sz="800" b="0" spc="-8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15" dirty="0">
                <a:solidFill>
                  <a:srgbClr val="FF0000"/>
                </a:solidFill>
                <a:latin typeface="Calibri Light"/>
                <a:cs typeface="Calibri Light"/>
              </a:rPr>
              <a:t>of</a:t>
            </a:r>
            <a:r>
              <a:rPr sz="800" b="0" spc="-7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-5" dirty="0">
                <a:solidFill>
                  <a:srgbClr val="FF0000"/>
                </a:solidFill>
                <a:latin typeface="Calibri Light"/>
                <a:cs typeface="Calibri Light"/>
              </a:rPr>
              <a:t>Regression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583820" y="1136507"/>
            <a:ext cx="527685" cy="184150"/>
          </a:xfrm>
          <a:custGeom>
            <a:avLst/>
            <a:gdLst/>
            <a:ahLst/>
            <a:cxnLst/>
            <a:rect l="l" t="t" r="r" b="b"/>
            <a:pathLst>
              <a:path w="527684" h="184150">
                <a:moveTo>
                  <a:pt x="479023" y="0"/>
                </a:moveTo>
                <a:lnTo>
                  <a:pt x="477133" y="6096"/>
                </a:lnTo>
                <a:lnTo>
                  <a:pt x="485614" y="10452"/>
                </a:lnTo>
                <a:lnTo>
                  <a:pt x="492972" y="16832"/>
                </a:lnTo>
                <a:lnTo>
                  <a:pt x="511408" y="61116"/>
                </a:lnTo>
                <a:lnTo>
                  <a:pt x="513709" y="92080"/>
                </a:lnTo>
                <a:lnTo>
                  <a:pt x="513136" y="108254"/>
                </a:lnTo>
                <a:lnTo>
                  <a:pt x="504444" y="148468"/>
                </a:lnTo>
                <a:lnTo>
                  <a:pt x="477133" y="177942"/>
                </a:lnTo>
                <a:lnTo>
                  <a:pt x="479023" y="184038"/>
                </a:lnTo>
                <a:lnTo>
                  <a:pt x="514837" y="152400"/>
                </a:lnTo>
                <a:lnTo>
                  <a:pt x="526637" y="108924"/>
                </a:lnTo>
                <a:lnTo>
                  <a:pt x="527425" y="92080"/>
                </a:lnTo>
                <a:lnTo>
                  <a:pt x="526637" y="75177"/>
                </a:lnTo>
                <a:lnTo>
                  <a:pt x="514837" y="31638"/>
                </a:lnTo>
                <a:lnTo>
                  <a:pt x="489986" y="4274"/>
                </a:lnTo>
                <a:lnTo>
                  <a:pt x="479023" y="0"/>
                </a:lnTo>
                <a:close/>
              </a:path>
              <a:path w="527684" h="184150">
                <a:moveTo>
                  <a:pt x="48371" y="0"/>
                </a:moveTo>
                <a:lnTo>
                  <a:pt x="12557" y="31638"/>
                </a:lnTo>
                <a:lnTo>
                  <a:pt x="783" y="75177"/>
                </a:lnTo>
                <a:lnTo>
                  <a:pt x="0" y="92080"/>
                </a:lnTo>
                <a:lnTo>
                  <a:pt x="783" y="108924"/>
                </a:lnTo>
                <a:lnTo>
                  <a:pt x="12557" y="152400"/>
                </a:lnTo>
                <a:lnTo>
                  <a:pt x="48371" y="184038"/>
                </a:lnTo>
                <a:lnTo>
                  <a:pt x="50139" y="177942"/>
                </a:lnTo>
                <a:lnTo>
                  <a:pt x="41723" y="173585"/>
                </a:lnTo>
                <a:lnTo>
                  <a:pt x="34362" y="167205"/>
                </a:lnTo>
                <a:lnTo>
                  <a:pt x="15925" y="123040"/>
                </a:lnTo>
                <a:lnTo>
                  <a:pt x="13563" y="92080"/>
                </a:lnTo>
                <a:lnTo>
                  <a:pt x="14158" y="75916"/>
                </a:lnTo>
                <a:lnTo>
                  <a:pt x="22860" y="35570"/>
                </a:lnTo>
                <a:lnTo>
                  <a:pt x="50139" y="6096"/>
                </a:lnTo>
                <a:lnTo>
                  <a:pt x="48371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545080" y="1417959"/>
            <a:ext cx="574040" cy="194310"/>
          </a:xfrm>
          <a:custGeom>
            <a:avLst/>
            <a:gdLst/>
            <a:ahLst/>
            <a:cxnLst/>
            <a:rect l="l" t="t" r="r" b="b"/>
            <a:pathLst>
              <a:path w="574040" h="194309">
                <a:moveTo>
                  <a:pt x="512064" y="0"/>
                </a:moveTo>
                <a:lnTo>
                  <a:pt x="509381" y="7863"/>
                </a:lnTo>
                <a:lnTo>
                  <a:pt x="520599" y="12720"/>
                </a:lnTo>
                <a:lnTo>
                  <a:pt x="530249" y="19465"/>
                </a:lnTo>
                <a:lnTo>
                  <a:pt x="553402" y="64396"/>
                </a:lnTo>
                <a:lnTo>
                  <a:pt x="556260" y="96012"/>
                </a:lnTo>
                <a:lnTo>
                  <a:pt x="555545" y="113127"/>
                </a:lnTo>
                <a:lnTo>
                  <a:pt x="544830" y="155051"/>
                </a:lnTo>
                <a:lnTo>
                  <a:pt x="509656" y="186171"/>
                </a:lnTo>
                <a:lnTo>
                  <a:pt x="512064" y="194035"/>
                </a:lnTo>
                <a:lnTo>
                  <a:pt x="549165" y="172000"/>
                </a:lnTo>
                <a:lnTo>
                  <a:pt x="570029" y="131345"/>
                </a:lnTo>
                <a:lnTo>
                  <a:pt x="574029" y="97017"/>
                </a:lnTo>
                <a:lnTo>
                  <a:pt x="573029" y="79229"/>
                </a:lnTo>
                <a:lnTo>
                  <a:pt x="558027" y="33893"/>
                </a:lnTo>
                <a:lnTo>
                  <a:pt x="526155" y="5047"/>
                </a:lnTo>
                <a:lnTo>
                  <a:pt x="512064" y="0"/>
                </a:lnTo>
                <a:close/>
              </a:path>
              <a:path w="574040" h="194309">
                <a:moveTo>
                  <a:pt x="61843" y="0"/>
                </a:moveTo>
                <a:lnTo>
                  <a:pt x="24879" y="21988"/>
                </a:lnTo>
                <a:lnTo>
                  <a:pt x="4000" y="62792"/>
                </a:lnTo>
                <a:lnTo>
                  <a:pt x="0" y="97017"/>
                </a:lnTo>
                <a:lnTo>
                  <a:pt x="1000" y="114887"/>
                </a:lnTo>
                <a:lnTo>
                  <a:pt x="16002" y="160141"/>
                </a:lnTo>
                <a:lnTo>
                  <a:pt x="47754" y="188984"/>
                </a:lnTo>
                <a:lnTo>
                  <a:pt x="61843" y="194035"/>
                </a:lnTo>
                <a:lnTo>
                  <a:pt x="64373" y="186171"/>
                </a:lnTo>
                <a:lnTo>
                  <a:pt x="53314" y="181240"/>
                </a:lnTo>
                <a:lnTo>
                  <a:pt x="43746" y="174429"/>
                </a:lnTo>
                <a:lnTo>
                  <a:pt x="20566" y="128675"/>
                </a:lnTo>
                <a:lnTo>
                  <a:pt x="17647" y="96012"/>
                </a:lnTo>
                <a:lnTo>
                  <a:pt x="18381" y="79487"/>
                </a:lnTo>
                <a:lnTo>
                  <a:pt x="29199" y="38587"/>
                </a:lnTo>
                <a:lnTo>
                  <a:pt x="64648" y="7863"/>
                </a:lnTo>
                <a:lnTo>
                  <a:pt x="61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5156126" y="1053494"/>
          <a:ext cx="3108958" cy="1701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0230"/>
                <a:gridCol w="876300"/>
                <a:gridCol w="876934"/>
                <a:gridCol w="785494"/>
              </a:tblGrid>
              <a:tr h="275472">
                <a:tc>
                  <a:txBody>
                    <a:bodyPr/>
                    <a:lstStyle/>
                    <a:p>
                      <a:pPr marL="173990">
                        <a:lnSpc>
                          <a:spcPts val="1650"/>
                        </a:lnSpc>
                      </a:pPr>
                      <a:r>
                        <a:rPr sz="1650" spc="-4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800" spc="-67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endParaRPr sz="1800" baseline="-13888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1845"/>
                        </a:lnSpc>
                      </a:pPr>
                      <a:r>
                        <a:rPr sz="1650" spc="-3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800" spc="-5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r>
                        <a:rPr sz="1800" spc="120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2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53975">
                      <a:solidFill>
                        <a:srgbClr val="F07F09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ts val="1845"/>
                        </a:lnSpc>
                      </a:pPr>
                      <a:r>
                        <a:rPr sz="1650" spc="-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650" spc="-18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-15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350" spc="-7" baseline="-1851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 𝑦</a:t>
                      </a:r>
                      <a:r>
                        <a:rPr sz="1200" spc="4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spc="30" baseline="46296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350" baseline="46296">
                        <a:latin typeface="Cambria Math"/>
                        <a:cs typeface="Cambria Math"/>
                      </a:endParaRPr>
                    </a:p>
                  </a:txBody>
                  <a:tcPr marL="0" marR="0" marT="482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R="161290" algn="r">
                        <a:lnSpc>
                          <a:spcPts val="1939"/>
                        </a:lnSpc>
                        <a:spcBef>
                          <a:spcPts val="5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1975"/>
                        </a:lnSpc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945"/>
                        </a:lnSpc>
                        <a:spcBef>
                          <a:spcPts val="5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850"/>
                        </a:lnSpc>
                        <a:spcBef>
                          <a:spcPts val="150"/>
                        </a:spcBef>
                      </a:pPr>
                      <a:r>
                        <a:rPr sz="1650" spc="15" dirty="0">
                          <a:latin typeface="Cambria Math"/>
                          <a:cs typeface="Cambria Math"/>
                        </a:rPr>
                        <a:t>−0.4</a:t>
                      </a:r>
                      <a:r>
                        <a:rPr sz="1650" spc="229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44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R="138430" algn="r">
                        <a:lnSpc>
                          <a:spcPts val="1939"/>
                        </a:lnSpc>
                      </a:pPr>
                      <a:r>
                        <a:rPr sz="1650" spc="-20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  <a:spcBef>
                          <a:spcPts val="5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334">
                <a:tc>
                  <a:txBody>
                    <a:bodyPr/>
                    <a:lstStyle/>
                    <a:p>
                      <a:pPr marR="139065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algn="ctr">
                        <a:lnSpc>
                          <a:spcPts val="1950"/>
                        </a:lnSpc>
                        <a:spcBef>
                          <a:spcPts val="12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524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584">
                <a:tc>
                  <a:txBody>
                    <a:bodyPr/>
                    <a:lstStyle/>
                    <a:p>
                      <a:pPr marR="13906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9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-0.7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349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984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885">
                <a:tc>
                  <a:txBody>
                    <a:bodyPr/>
                    <a:lstStyle/>
                    <a:p>
                      <a:pPr marR="13906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5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9209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F07F0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032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61645" y="3572004"/>
            <a:ext cx="104775" cy="1930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11956" y="3992529"/>
            <a:ext cx="210820" cy="810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5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5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09795" y="4038432"/>
            <a:ext cx="97790" cy="171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50" spc="35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28134" y="4117325"/>
            <a:ext cx="521970" cy="22732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250825" algn="l"/>
              </a:tabLst>
            </a:pPr>
            <a:r>
              <a:rPr sz="1350" dirty="0">
                <a:solidFill>
                  <a:srgbClr val="3F3F3F"/>
                </a:solidFill>
                <a:latin typeface="Cambria Math"/>
                <a:cs typeface="Cambria Math"/>
              </a:rPr>
              <a:t>𝑦	−</a:t>
            </a:r>
            <a:r>
              <a:rPr sz="1350" spc="-10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350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1645" y="416162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704335" y="4200678"/>
            <a:ext cx="104139" cy="171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50" spc="150" dirty="0">
                <a:solidFill>
                  <a:srgbClr val="3F3F3F"/>
                </a:solidFill>
                <a:latin typeface="Cambria Math"/>
                <a:cs typeface="Cambria Math"/>
              </a:rPr>
              <a:t>𝑝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62350" y="4248299"/>
            <a:ext cx="38735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55"/>
              </a:lnSpc>
            </a:pPr>
            <a:r>
              <a:rPr sz="1500" spc="65" dirty="0">
                <a:solidFill>
                  <a:srgbClr val="3F3F3F"/>
                </a:solidFill>
                <a:latin typeface="Cambria Math"/>
                <a:cs typeface="Cambria Math"/>
              </a:rPr>
              <a:t>𝑅</a:t>
            </a:r>
            <a:r>
              <a:rPr sz="1650" spc="97" baseline="27777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r>
              <a:rPr sz="1650" spc="-97" baseline="27777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78756" y="4484994"/>
            <a:ext cx="114300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30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697096" y="4506588"/>
            <a:ext cx="514984" cy="27241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50" dirty="0">
                <a:solidFill>
                  <a:srgbClr val="3F3F3F"/>
                </a:solidFill>
                <a:latin typeface="Cambria Math"/>
                <a:cs typeface="Cambria Math"/>
              </a:rPr>
              <a:t>𝑦 −</a:t>
            </a:r>
            <a:r>
              <a:rPr sz="1650" spc="-4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380868" y="4671135"/>
            <a:ext cx="120014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625978" y="4670587"/>
            <a:ext cx="5740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8184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3007739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72893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164075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186177" y="482075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392695" y="4833444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663" y="229485"/>
            <a:ext cx="35363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5" dirty="0"/>
              <a:t>Goodness </a:t>
            </a:r>
            <a:r>
              <a:rPr spc="25" dirty="0"/>
              <a:t>of </a:t>
            </a:r>
            <a:r>
              <a:rPr spc="10" dirty="0"/>
              <a:t>Fit </a:t>
            </a:r>
            <a:r>
              <a:rPr spc="15" dirty="0"/>
              <a:t>–</a:t>
            </a:r>
            <a:r>
              <a:rPr spc="-75" dirty="0"/>
              <a:t> </a:t>
            </a:r>
            <a:r>
              <a:rPr b="0" spc="25" dirty="0">
                <a:latin typeface="Cambria Math"/>
                <a:cs typeface="Cambria Math"/>
              </a:rPr>
              <a:t>𝑹</a:t>
            </a:r>
            <a:r>
              <a:rPr sz="3000" b="0" spc="37" baseline="29166" dirty="0">
                <a:latin typeface="Cambria Math"/>
                <a:cs typeface="Cambria Math"/>
              </a:rPr>
              <a:t>𝟐</a:t>
            </a:r>
            <a:endParaRPr sz="3000" baseline="29166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53050" y="4171950"/>
            <a:ext cx="800100" cy="419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35496" y="4553129"/>
            <a:ext cx="621665" cy="194310"/>
          </a:xfrm>
          <a:custGeom>
            <a:avLst/>
            <a:gdLst/>
            <a:ahLst/>
            <a:cxnLst/>
            <a:rect l="l" t="t" r="r" b="b"/>
            <a:pathLst>
              <a:path w="621665" h="194310">
                <a:moveTo>
                  <a:pt x="559704" y="0"/>
                </a:moveTo>
                <a:lnTo>
                  <a:pt x="556900" y="7869"/>
                </a:lnTo>
                <a:lnTo>
                  <a:pt x="568137" y="12751"/>
                </a:lnTo>
                <a:lnTo>
                  <a:pt x="577828" y="19503"/>
                </a:lnTo>
                <a:lnTo>
                  <a:pt x="601042" y="64412"/>
                </a:lnTo>
                <a:lnTo>
                  <a:pt x="603900" y="96069"/>
                </a:lnTo>
                <a:lnTo>
                  <a:pt x="603183" y="113193"/>
                </a:lnTo>
                <a:lnTo>
                  <a:pt x="592317" y="155100"/>
                </a:lnTo>
                <a:lnTo>
                  <a:pt x="557265" y="186211"/>
                </a:lnTo>
                <a:lnTo>
                  <a:pt x="559704" y="194093"/>
                </a:lnTo>
                <a:lnTo>
                  <a:pt x="596788" y="172057"/>
                </a:lnTo>
                <a:lnTo>
                  <a:pt x="617562" y="131384"/>
                </a:lnTo>
                <a:lnTo>
                  <a:pt x="621548" y="97094"/>
                </a:lnTo>
                <a:lnTo>
                  <a:pt x="620548" y="79296"/>
                </a:lnTo>
                <a:lnTo>
                  <a:pt x="605546" y="34003"/>
                </a:lnTo>
                <a:lnTo>
                  <a:pt x="573776" y="5072"/>
                </a:lnTo>
                <a:lnTo>
                  <a:pt x="559704" y="0"/>
                </a:lnTo>
                <a:close/>
              </a:path>
              <a:path w="621665" h="194310">
                <a:moveTo>
                  <a:pt x="61843" y="0"/>
                </a:moveTo>
                <a:lnTo>
                  <a:pt x="24862" y="22078"/>
                </a:lnTo>
                <a:lnTo>
                  <a:pt x="4000" y="62851"/>
                </a:lnTo>
                <a:lnTo>
                  <a:pt x="0" y="97094"/>
                </a:lnTo>
                <a:lnTo>
                  <a:pt x="981" y="114927"/>
                </a:lnTo>
                <a:lnTo>
                  <a:pt x="15880" y="160172"/>
                </a:lnTo>
                <a:lnTo>
                  <a:pt x="47752" y="189015"/>
                </a:lnTo>
                <a:lnTo>
                  <a:pt x="61843" y="194093"/>
                </a:lnTo>
                <a:lnTo>
                  <a:pt x="64251" y="186211"/>
                </a:lnTo>
                <a:lnTo>
                  <a:pt x="53211" y="181314"/>
                </a:lnTo>
                <a:lnTo>
                  <a:pt x="43685" y="174496"/>
                </a:lnTo>
                <a:lnTo>
                  <a:pt x="20520" y="128737"/>
                </a:lnTo>
                <a:lnTo>
                  <a:pt x="17647" y="96069"/>
                </a:lnTo>
                <a:lnTo>
                  <a:pt x="18364" y="79507"/>
                </a:lnTo>
                <a:lnTo>
                  <a:pt x="29199" y="38621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72772" y="4123370"/>
            <a:ext cx="628015" cy="207645"/>
          </a:xfrm>
          <a:custGeom>
            <a:avLst/>
            <a:gdLst/>
            <a:ahLst/>
            <a:cxnLst/>
            <a:rect l="l" t="t" r="r" b="b"/>
            <a:pathLst>
              <a:path w="628015" h="207645">
                <a:moveTo>
                  <a:pt x="573507" y="0"/>
                </a:moveTo>
                <a:lnTo>
                  <a:pt x="571374" y="6870"/>
                </a:lnTo>
                <a:lnTo>
                  <a:pt x="580915" y="11806"/>
                </a:lnTo>
                <a:lnTo>
                  <a:pt x="589205" y="18991"/>
                </a:lnTo>
                <a:lnTo>
                  <a:pt x="606671" y="53682"/>
                </a:lnTo>
                <a:lnTo>
                  <a:pt x="612522" y="103644"/>
                </a:lnTo>
                <a:lnTo>
                  <a:pt x="611875" y="121794"/>
                </a:lnTo>
                <a:lnTo>
                  <a:pt x="602098" y="167057"/>
                </a:lnTo>
                <a:lnTo>
                  <a:pt x="571374" y="200253"/>
                </a:lnTo>
                <a:lnTo>
                  <a:pt x="573507" y="207111"/>
                </a:lnTo>
                <a:lnTo>
                  <a:pt x="605967" y="184527"/>
                </a:lnTo>
                <a:lnTo>
                  <a:pt x="624359" y="140183"/>
                </a:lnTo>
                <a:lnTo>
                  <a:pt x="627884" y="103561"/>
                </a:lnTo>
                <a:lnTo>
                  <a:pt x="627003" y="84586"/>
                </a:lnTo>
                <a:lnTo>
                  <a:pt x="613771" y="35588"/>
                </a:lnTo>
                <a:lnTo>
                  <a:pt x="585821" y="4800"/>
                </a:lnTo>
                <a:lnTo>
                  <a:pt x="573507" y="0"/>
                </a:lnTo>
                <a:close/>
              </a:path>
              <a:path w="628015" h="207645">
                <a:moveTo>
                  <a:pt x="54463" y="0"/>
                </a:moveTo>
                <a:lnTo>
                  <a:pt x="22017" y="22590"/>
                </a:lnTo>
                <a:lnTo>
                  <a:pt x="3531" y="66932"/>
                </a:lnTo>
                <a:lnTo>
                  <a:pt x="0" y="103644"/>
                </a:lnTo>
                <a:lnTo>
                  <a:pt x="878" y="122531"/>
                </a:lnTo>
                <a:lnTo>
                  <a:pt x="14199" y="171535"/>
                </a:lnTo>
                <a:lnTo>
                  <a:pt x="42154" y="202316"/>
                </a:lnTo>
                <a:lnTo>
                  <a:pt x="54463" y="207111"/>
                </a:lnTo>
                <a:lnTo>
                  <a:pt x="56506" y="200253"/>
                </a:lnTo>
                <a:lnTo>
                  <a:pt x="47005" y="195324"/>
                </a:lnTo>
                <a:lnTo>
                  <a:pt x="38724" y="188147"/>
                </a:lnTo>
                <a:lnTo>
                  <a:pt x="21330" y="153502"/>
                </a:lnTo>
                <a:lnTo>
                  <a:pt x="15482" y="103561"/>
                </a:lnTo>
                <a:lnTo>
                  <a:pt x="16127" y="85449"/>
                </a:lnTo>
                <a:lnTo>
                  <a:pt x="25904" y="40114"/>
                </a:lnTo>
                <a:lnTo>
                  <a:pt x="56506" y="6870"/>
                </a:lnTo>
                <a:lnTo>
                  <a:pt x="54463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76950" y="4424754"/>
            <a:ext cx="1324610" cy="0"/>
          </a:xfrm>
          <a:custGeom>
            <a:avLst/>
            <a:gdLst/>
            <a:ahLst/>
            <a:cxnLst/>
            <a:rect l="l" t="t" r="r" b="b"/>
            <a:pathLst>
              <a:path w="1324609">
                <a:moveTo>
                  <a:pt x="0" y="0"/>
                </a:moveTo>
                <a:lnTo>
                  <a:pt x="1323990" y="0"/>
                </a:lnTo>
              </a:path>
            </a:pathLst>
          </a:custGeom>
          <a:ln w="38099">
            <a:solidFill>
              <a:srgbClr val="095A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3527" y="1233297"/>
            <a:ext cx="2382673" cy="3583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35555" y="1249186"/>
            <a:ext cx="1200150" cy="35661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6855" y="1530632"/>
            <a:ext cx="971550" cy="339090"/>
          </a:xfrm>
          <a:custGeom>
            <a:avLst/>
            <a:gdLst/>
            <a:ahLst/>
            <a:cxnLst/>
            <a:rect l="l" t="t" r="r" b="b"/>
            <a:pathLst>
              <a:path w="971550" h="339089">
                <a:moveTo>
                  <a:pt x="0" y="338553"/>
                </a:moveTo>
                <a:lnTo>
                  <a:pt x="971550" y="338553"/>
                </a:lnTo>
                <a:lnTo>
                  <a:pt x="971550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6619" y="155695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5" dirty="0">
                <a:solidFill>
                  <a:srgbClr val="6B9E24"/>
                </a:solidFill>
                <a:latin typeface="Calibri Light"/>
                <a:cs typeface="Calibri Light"/>
              </a:rPr>
              <a:t>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1200" y="1389059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4951" y="1227185"/>
            <a:ext cx="0" cy="3588385"/>
          </a:xfrm>
          <a:custGeom>
            <a:avLst/>
            <a:gdLst/>
            <a:ahLst/>
            <a:cxnLst/>
            <a:rect l="l" t="t" r="r" b="b"/>
            <a:pathLst>
              <a:path h="3588385">
                <a:moveTo>
                  <a:pt x="0" y="0"/>
                </a:moveTo>
                <a:lnTo>
                  <a:pt x="0" y="358815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4951" y="4811005"/>
            <a:ext cx="3580765" cy="4445"/>
          </a:xfrm>
          <a:custGeom>
            <a:avLst/>
            <a:gdLst/>
            <a:ahLst/>
            <a:cxnLst/>
            <a:rect l="l" t="t" r="r" b="b"/>
            <a:pathLst>
              <a:path w="3580765" h="4445">
                <a:moveTo>
                  <a:pt x="3580762" y="4334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61645" y="2952172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4502" y="2381565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6729" y="1999989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79289" y="3579245"/>
            <a:ext cx="105287" cy="107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95553" y="2400050"/>
            <a:ext cx="105311" cy="107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83461" y="2988563"/>
            <a:ext cx="105287" cy="1076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92680" y="2388357"/>
            <a:ext cx="105287" cy="10757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73779" y="2024999"/>
            <a:ext cx="105277" cy="10770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73083" y="2495930"/>
            <a:ext cx="3562985" cy="365125"/>
          </a:xfrm>
          <a:custGeom>
            <a:avLst/>
            <a:gdLst/>
            <a:ahLst/>
            <a:cxnLst/>
            <a:rect l="l" t="t" r="r" b="b"/>
            <a:pathLst>
              <a:path w="3562985" h="365125">
                <a:moveTo>
                  <a:pt x="0" y="364748"/>
                </a:moveTo>
                <a:lnTo>
                  <a:pt x="3562630" y="0"/>
                </a:lnTo>
              </a:path>
            </a:pathLst>
          </a:custGeom>
          <a:ln w="2857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90481" y="2749545"/>
            <a:ext cx="105299" cy="1077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83461" y="2690871"/>
            <a:ext cx="105287" cy="10757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88358" y="2620267"/>
            <a:ext cx="105287" cy="10769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82980" y="2562474"/>
            <a:ext cx="105284" cy="1077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68202" y="2508753"/>
            <a:ext cx="105277" cy="10757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29861" y="2340935"/>
            <a:ext cx="971550" cy="215900"/>
          </a:xfrm>
          <a:custGeom>
            <a:avLst/>
            <a:gdLst/>
            <a:ahLst/>
            <a:cxnLst/>
            <a:rect l="l" t="t" r="r" b="b"/>
            <a:pathLst>
              <a:path w="971550" h="215900">
                <a:moveTo>
                  <a:pt x="0" y="215443"/>
                </a:moveTo>
                <a:lnTo>
                  <a:pt x="971550" y="215443"/>
                </a:lnTo>
                <a:lnTo>
                  <a:pt x="971550" y="0"/>
                </a:lnTo>
                <a:lnTo>
                  <a:pt x="0" y="0"/>
                </a:lnTo>
                <a:lnTo>
                  <a:pt x="0" y="2154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313304" y="2368801"/>
            <a:ext cx="78422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0" dirty="0">
                <a:solidFill>
                  <a:srgbClr val="FF0000"/>
                </a:solidFill>
                <a:latin typeface="Calibri Light"/>
                <a:cs typeface="Calibri Light"/>
              </a:rPr>
              <a:t>L</a:t>
            </a:r>
            <a:r>
              <a:rPr sz="800" b="0" spc="-9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30" dirty="0">
                <a:solidFill>
                  <a:srgbClr val="FF0000"/>
                </a:solidFill>
                <a:latin typeface="Calibri Light"/>
                <a:cs typeface="Calibri Light"/>
              </a:rPr>
              <a:t>ine</a:t>
            </a:r>
            <a:r>
              <a:rPr sz="800" b="0" spc="-8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15" dirty="0">
                <a:solidFill>
                  <a:srgbClr val="FF0000"/>
                </a:solidFill>
                <a:latin typeface="Calibri Light"/>
                <a:cs typeface="Calibri Light"/>
              </a:rPr>
              <a:t>of</a:t>
            </a:r>
            <a:r>
              <a:rPr sz="800" b="0" spc="-7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-5" dirty="0">
                <a:solidFill>
                  <a:srgbClr val="FF0000"/>
                </a:solidFill>
                <a:latin typeface="Calibri Light"/>
                <a:cs typeface="Calibri Light"/>
              </a:rPr>
              <a:t>Regression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583820" y="1136507"/>
            <a:ext cx="527685" cy="184150"/>
          </a:xfrm>
          <a:custGeom>
            <a:avLst/>
            <a:gdLst/>
            <a:ahLst/>
            <a:cxnLst/>
            <a:rect l="l" t="t" r="r" b="b"/>
            <a:pathLst>
              <a:path w="527684" h="184150">
                <a:moveTo>
                  <a:pt x="479023" y="0"/>
                </a:moveTo>
                <a:lnTo>
                  <a:pt x="477133" y="6096"/>
                </a:lnTo>
                <a:lnTo>
                  <a:pt x="485614" y="10452"/>
                </a:lnTo>
                <a:lnTo>
                  <a:pt x="492972" y="16832"/>
                </a:lnTo>
                <a:lnTo>
                  <a:pt x="511408" y="61116"/>
                </a:lnTo>
                <a:lnTo>
                  <a:pt x="513709" y="92080"/>
                </a:lnTo>
                <a:lnTo>
                  <a:pt x="513136" y="108254"/>
                </a:lnTo>
                <a:lnTo>
                  <a:pt x="504444" y="148468"/>
                </a:lnTo>
                <a:lnTo>
                  <a:pt x="477133" y="177942"/>
                </a:lnTo>
                <a:lnTo>
                  <a:pt x="479023" y="184038"/>
                </a:lnTo>
                <a:lnTo>
                  <a:pt x="514837" y="152400"/>
                </a:lnTo>
                <a:lnTo>
                  <a:pt x="526637" y="108924"/>
                </a:lnTo>
                <a:lnTo>
                  <a:pt x="527425" y="92080"/>
                </a:lnTo>
                <a:lnTo>
                  <a:pt x="526637" y="75177"/>
                </a:lnTo>
                <a:lnTo>
                  <a:pt x="514837" y="31638"/>
                </a:lnTo>
                <a:lnTo>
                  <a:pt x="489986" y="4274"/>
                </a:lnTo>
                <a:lnTo>
                  <a:pt x="479023" y="0"/>
                </a:lnTo>
                <a:close/>
              </a:path>
              <a:path w="527684" h="184150">
                <a:moveTo>
                  <a:pt x="48371" y="0"/>
                </a:moveTo>
                <a:lnTo>
                  <a:pt x="12557" y="31638"/>
                </a:lnTo>
                <a:lnTo>
                  <a:pt x="783" y="75177"/>
                </a:lnTo>
                <a:lnTo>
                  <a:pt x="0" y="92080"/>
                </a:lnTo>
                <a:lnTo>
                  <a:pt x="783" y="108924"/>
                </a:lnTo>
                <a:lnTo>
                  <a:pt x="12557" y="152400"/>
                </a:lnTo>
                <a:lnTo>
                  <a:pt x="48371" y="184038"/>
                </a:lnTo>
                <a:lnTo>
                  <a:pt x="50139" y="177942"/>
                </a:lnTo>
                <a:lnTo>
                  <a:pt x="41723" y="173585"/>
                </a:lnTo>
                <a:lnTo>
                  <a:pt x="34362" y="167205"/>
                </a:lnTo>
                <a:lnTo>
                  <a:pt x="15925" y="123040"/>
                </a:lnTo>
                <a:lnTo>
                  <a:pt x="13563" y="92080"/>
                </a:lnTo>
                <a:lnTo>
                  <a:pt x="14158" y="75916"/>
                </a:lnTo>
                <a:lnTo>
                  <a:pt x="22860" y="35570"/>
                </a:lnTo>
                <a:lnTo>
                  <a:pt x="50139" y="6096"/>
                </a:lnTo>
                <a:lnTo>
                  <a:pt x="48371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5156126" y="1053494"/>
          <a:ext cx="3108958" cy="1701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0230"/>
                <a:gridCol w="876300"/>
                <a:gridCol w="876934"/>
                <a:gridCol w="785494"/>
              </a:tblGrid>
              <a:tr h="275472">
                <a:tc>
                  <a:txBody>
                    <a:bodyPr/>
                    <a:lstStyle/>
                    <a:p>
                      <a:pPr marL="173990">
                        <a:lnSpc>
                          <a:spcPts val="1650"/>
                        </a:lnSpc>
                      </a:pPr>
                      <a:r>
                        <a:rPr sz="1650" spc="-4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800" spc="-67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endParaRPr sz="1800" baseline="-13888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1845"/>
                        </a:lnSpc>
                      </a:pPr>
                      <a:r>
                        <a:rPr sz="1650" spc="-3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800" spc="-5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r>
                        <a:rPr sz="1800" spc="120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2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53975">
                      <a:solidFill>
                        <a:srgbClr val="F07F09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ts val="1845"/>
                        </a:lnSpc>
                      </a:pPr>
                      <a:r>
                        <a:rPr sz="1650" spc="-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650" spc="-18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-15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350" spc="-7" baseline="-1851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 𝑦</a:t>
                      </a:r>
                      <a:r>
                        <a:rPr sz="1200" spc="4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spc="30" baseline="46296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350" baseline="46296">
                        <a:latin typeface="Cambria Math"/>
                        <a:cs typeface="Cambria Math"/>
                      </a:endParaRPr>
                    </a:p>
                  </a:txBody>
                  <a:tcPr marL="0" marR="0" marT="482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R="161290" algn="r">
                        <a:lnSpc>
                          <a:spcPts val="1939"/>
                        </a:lnSpc>
                        <a:spcBef>
                          <a:spcPts val="5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1975"/>
                        </a:lnSpc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945"/>
                        </a:lnSpc>
                        <a:spcBef>
                          <a:spcPts val="5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60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0.16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R="138430" algn="r">
                        <a:lnSpc>
                          <a:spcPts val="1939"/>
                        </a:lnSpc>
                      </a:pPr>
                      <a:r>
                        <a:rPr sz="1650" spc="-20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  <a:spcBef>
                          <a:spcPts val="5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64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0.25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334">
                <a:tc>
                  <a:txBody>
                    <a:bodyPr/>
                    <a:lstStyle/>
                    <a:p>
                      <a:pPr marR="139065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algn="ctr">
                        <a:lnSpc>
                          <a:spcPts val="1950"/>
                        </a:lnSpc>
                        <a:spcBef>
                          <a:spcPts val="12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524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0.36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584">
                <a:tc>
                  <a:txBody>
                    <a:bodyPr/>
                    <a:lstStyle/>
                    <a:p>
                      <a:pPr marR="13906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9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-0.7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349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984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0.49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7885">
                <a:tc>
                  <a:txBody>
                    <a:bodyPr/>
                    <a:lstStyle/>
                    <a:p>
                      <a:pPr marR="13906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5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9209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F07F0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032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0.64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66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61645" y="3572004"/>
            <a:ext cx="104775" cy="1930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11956" y="3992529"/>
            <a:ext cx="210820" cy="810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5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5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09795" y="4038432"/>
            <a:ext cx="97790" cy="171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50" spc="35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628134" y="4117325"/>
            <a:ext cx="521970" cy="22732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250825" algn="l"/>
              </a:tabLst>
            </a:pPr>
            <a:r>
              <a:rPr sz="1350" dirty="0">
                <a:solidFill>
                  <a:srgbClr val="3F3F3F"/>
                </a:solidFill>
                <a:latin typeface="Cambria Math"/>
                <a:cs typeface="Cambria Math"/>
              </a:rPr>
              <a:t>𝑦	−</a:t>
            </a:r>
            <a:r>
              <a:rPr sz="1350" spc="-10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350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61645" y="416162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04335" y="4200678"/>
            <a:ext cx="104139" cy="171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50" spc="150" dirty="0">
                <a:solidFill>
                  <a:srgbClr val="3F3F3F"/>
                </a:solidFill>
                <a:latin typeface="Cambria Math"/>
                <a:cs typeface="Cambria Math"/>
              </a:rPr>
              <a:t>𝑝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562350" y="4248299"/>
            <a:ext cx="38735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55"/>
              </a:lnSpc>
            </a:pPr>
            <a:r>
              <a:rPr sz="1500" spc="65" dirty="0">
                <a:solidFill>
                  <a:srgbClr val="3F3F3F"/>
                </a:solidFill>
                <a:latin typeface="Cambria Math"/>
                <a:cs typeface="Cambria Math"/>
              </a:rPr>
              <a:t>𝑅</a:t>
            </a:r>
            <a:r>
              <a:rPr sz="1650" spc="97" baseline="27777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r>
              <a:rPr sz="1650" spc="-97" baseline="27777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78756" y="4484994"/>
            <a:ext cx="114300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30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697096" y="4506588"/>
            <a:ext cx="514984" cy="27241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50" dirty="0">
                <a:solidFill>
                  <a:srgbClr val="3F3F3F"/>
                </a:solidFill>
                <a:latin typeface="Cambria Math"/>
                <a:cs typeface="Cambria Math"/>
              </a:rPr>
              <a:t>𝑦 −</a:t>
            </a:r>
            <a:r>
              <a:rPr sz="1650" spc="-4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380868" y="4671135"/>
            <a:ext cx="120014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625978" y="4670587"/>
            <a:ext cx="5740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38184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3007739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72893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164075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186177" y="482075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392695" y="4833444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663" y="229485"/>
            <a:ext cx="35363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5" dirty="0"/>
              <a:t>Goodness </a:t>
            </a:r>
            <a:r>
              <a:rPr spc="25" dirty="0"/>
              <a:t>of </a:t>
            </a:r>
            <a:r>
              <a:rPr spc="10" dirty="0"/>
              <a:t>Fit </a:t>
            </a:r>
            <a:r>
              <a:rPr spc="15" dirty="0"/>
              <a:t>–</a:t>
            </a:r>
            <a:r>
              <a:rPr spc="-75" dirty="0"/>
              <a:t> </a:t>
            </a:r>
            <a:r>
              <a:rPr b="0" spc="25" dirty="0">
                <a:latin typeface="Cambria Math"/>
                <a:cs typeface="Cambria Math"/>
              </a:rPr>
              <a:t>𝑹</a:t>
            </a:r>
            <a:r>
              <a:rPr sz="3000" b="0" spc="37" baseline="29166" dirty="0">
                <a:latin typeface="Cambria Math"/>
                <a:cs typeface="Cambria Math"/>
              </a:rPr>
              <a:t>𝟐</a:t>
            </a:r>
            <a:endParaRPr sz="3000" baseline="29166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53050" y="4171950"/>
            <a:ext cx="800100" cy="419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35496" y="4553129"/>
            <a:ext cx="621665" cy="194310"/>
          </a:xfrm>
          <a:custGeom>
            <a:avLst/>
            <a:gdLst/>
            <a:ahLst/>
            <a:cxnLst/>
            <a:rect l="l" t="t" r="r" b="b"/>
            <a:pathLst>
              <a:path w="621665" h="194310">
                <a:moveTo>
                  <a:pt x="559704" y="0"/>
                </a:moveTo>
                <a:lnTo>
                  <a:pt x="556900" y="7869"/>
                </a:lnTo>
                <a:lnTo>
                  <a:pt x="568137" y="12751"/>
                </a:lnTo>
                <a:lnTo>
                  <a:pt x="577828" y="19503"/>
                </a:lnTo>
                <a:lnTo>
                  <a:pt x="601042" y="64412"/>
                </a:lnTo>
                <a:lnTo>
                  <a:pt x="603900" y="96069"/>
                </a:lnTo>
                <a:lnTo>
                  <a:pt x="603183" y="113193"/>
                </a:lnTo>
                <a:lnTo>
                  <a:pt x="592317" y="155100"/>
                </a:lnTo>
                <a:lnTo>
                  <a:pt x="557265" y="186211"/>
                </a:lnTo>
                <a:lnTo>
                  <a:pt x="559704" y="194093"/>
                </a:lnTo>
                <a:lnTo>
                  <a:pt x="596788" y="172057"/>
                </a:lnTo>
                <a:lnTo>
                  <a:pt x="617562" y="131384"/>
                </a:lnTo>
                <a:lnTo>
                  <a:pt x="621548" y="97094"/>
                </a:lnTo>
                <a:lnTo>
                  <a:pt x="620548" y="79296"/>
                </a:lnTo>
                <a:lnTo>
                  <a:pt x="605546" y="34003"/>
                </a:lnTo>
                <a:lnTo>
                  <a:pt x="573776" y="5072"/>
                </a:lnTo>
                <a:lnTo>
                  <a:pt x="559704" y="0"/>
                </a:lnTo>
                <a:close/>
              </a:path>
              <a:path w="621665" h="194310">
                <a:moveTo>
                  <a:pt x="61843" y="0"/>
                </a:moveTo>
                <a:lnTo>
                  <a:pt x="24862" y="22078"/>
                </a:lnTo>
                <a:lnTo>
                  <a:pt x="4000" y="62851"/>
                </a:lnTo>
                <a:lnTo>
                  <a:pt x="0" y="97094"/>
                </a:lnTo>
                <a:lnTo>
                  <a:pt x="981" y="114927"/>
                </a:lnTo>
                <a:lnTo>
                  <a:pt x="15880" y="160172"/>
                </a:lnTo>
                <a:lnTo>
                  <a:pt x="47752" y="189015"/>
                </a:lnTo>
                <a:lnTo>
                  <a:pt x="61843" y="194093"/>
                </a:lnTo>
                <a:lnTo>
                  <a:pt x="64251" y="186211"/>
                </a:lnTo>
                <a:lnTo>
                  <a:pt x="53211" y="181314"/>
                </a:lnTo>
                <a:lnTo>
                  <a:pt x="43685" y="174496"/>
                </a:lnTo>
                <a:lnTo>
                  <a:pt x="20520" y="128737"/>
                </a:lnTo>
                <a:lnTo>
                  <a:pt x="17647" y="96069"/>
                </a:lnTo>
                <a:lnTo>
                  <a:pt x="18364" y="79507"/>
                </a:lnTo>
                <a:lnTo>
                  <a:pt x="29199" y="38621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72772" y="4123370"/>
            <a:ext cx="628015" cy="207645"/>
          </a:xfrm>
          <a:custGeom>
            <a:avLst/>
            <a:gdLst/>
            <a:ahLst/>
            <a:cxnLst/>
            <a:rect l="l" t="t" r="r" b="b"/>
            <a:pathLst>
              <a:path w="628015" h="207645">
                <a:moveTo>
                  <a:pt x="573507" y="0"/>
                </a:moveTo>
                <a:lnTo>
                  <a:pt x="571374" y="6870"/>
                </a:lnTo>
                <a:lnTo>
                  <a:pt x="580915" y="11806"/>
                </a:lnTo>
                <a:lnTo>
                  <a:pt x="589205" y="18991"/>
                </a:lnTo>
                <a:lnTo>
                  <a:pt x="606671" y="53682"/>
                </a:lnTo>
                <a:lnTo>
                  <a:pt x="612522" y="103644"/>
                </a:lnTo>
                <a:lnTo>
                  <a:pt x="611875" y="121794"/>
                </a:lnTo>
                <a:lnTo>
                  <a:pt x="602098" y="167057"/>
                </a:lnTo>
                <a:lnTo>
                  <a:pt x="571374" y="200253"/>
                </a:lnTo>
                <a:lnTo>
                  <a:pt x="573507" y="207111"/>
                </a:lnTo>
                <a:lnTo>
                  <a:pt x="605967" y="184527"/>
                </a:lnTo>
                <a:lnTo>
                  <a:pt x="624359" y="140183"/>
                </a:lnTo>
                <a:lnTo>
                  <a:pt x="627884" y="103561"/>
                </a:lnTo>
                <a:lnTo>
                  <a:pt x="627003" y="84586"/>
                </a:lnTo>
                <a:lnTo>
                  <a:pt x="613771" y="35588"/>
                </a:lnTo>
                <a:lnTo>
                  <a:pt x="585821" y="4800"/>
                </a:lnTo>
                <a:lnTo>
                  <a:pt x="573507" y="0"/>
                </a:lnTo>
                <a:close/>
              </a:path>
              <a:path w="628015" h="207645">
                <a:moveTo>
                  <a:pt x="54463" y="0"/>
                </a:moveTo>
                <a:lnTo>
                  <a:pt x="22017" y="22590"/>
                </a:lnTo>
                <a:lnTo>
                  <a:pt x="3531" y="66932"/>
                </a:lnTo>
                <a:lnTo>
                  <a:pt x="0" y="103644"/>
                </a:lnTo>
                <a:lnTo>
                  <a:pt x="878" y="122531"/>
                </a:lnTo>
                <a:lnTo>
                  <a:pt x="14199" y="171535"/>
                </a:lnTo>
                <a:lnTo>
                  <a:pt x="42154" y="202316"/>
                </a:lnTo>
                <a:lnTo>
                  <a:pt x="54463" y="207111"/>
                </a:lnTo>
                <a:lnTo>
                  <a:pt x="56506" y="200253"/>
                </a:lnTo>
                <a:lnTo>
                  <a:pt x="47005" y="195324"/>
                </a:lnTo>
                <a:lnTo>
                  <a:pt x="38724" y="188147"/>
                </a:lnTo>
                <a:lnTo>
                  <a:pt x="21330" y="153502"/>
                </a:lnTo>
                <a:lnTo>
                  <a:pt x="15482" y="103561"/>
                </a:lnTo>
                <a:lnTo>
                  <a:pt x="16127" y="85449"/>
                </a:lnTo>
                <a:lnTo>
                  <a:pt x="25904" y="40114"/>
                </a:lnTo>
                <a:lnTo>
                  <a:pt x="56506" y="6870"/>
                </a:lnTo>
                <a:lnTo>
                  <a:pt x="54463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76950" y="4424754"/>
            <a:ext cx="1324610" cy="0"/>
          </a:xfrm>
          <a:custGeom>
            <a:avLst/>
            <a:gdLst/>
            <a:ahLst/>
            <a:cxnLst/>
            <a:rect l="l" t="t" r="r" b="b"/>
            <a:pathLst>
              <a:path w="1324609">
                <a:moveTo>
                  <a:pt x="0" y="0"/>
                </a:moveTo>
                <a:lnTo>
                  <a:pt x="1323990" y="0"/>
                </a:lnTo>
              </a:path>
            </a:pathLst>
          </a:custGeom>
          <a:ln w="38099">
            <a:solidFill>
              <a:srgbClr val="095A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3527" y="1233297"/>
            <a:ext cx="2382673" cy="3583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35555" y="1249186"/>
            <a:ext cx="1200150" cy="35661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6855" y="1530632"/>
            <a:ext cx="971550" cy="339090"/>
          </a:xfrm>
          <a:custGeom>
            <a:avLst/>
            <a:gdLst/>
            <a:ahLst/>
            <a:cxnLst/>
            <a:rect l="l" t="t" r="r" b="b"/>
            <a:pathLst>
              <a:path w="971550" h="339089">
                <a:moveTo>
                  <a:pt x="0" y="338553"/>
                </a:moveTo>
                <a:lnTo>
                  <a:pt x="971550" y="338553"/>
                </a:lnTo>
                <a:lnTo>
                  <a:pt x="971550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6619" y="155695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5" dirty="0">
                <a:solidFill>
                  <a:srgbClr val="6B9E24"/>
                </a:solidFill>
                <a:latin typeface="Calibri Light"/>
                <a:cs typeface="Calibri Light"/>
              </a:rPr>
              <a:t>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1200" y="1389059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4951" y="1227185"/>
            <a:ext cx="0" cy="3588385"/>
          </a:xfrm>
          <a:custGeom>
            <a:avLst/>
            <a:gdLst/>
            <a:ahLst/>
            <a:cxnLst/>
            <a:rect l="l" t="t" r="r" b="b"/>
            <a:pathLst>
              <a:path h="3588385">
                <a:moveTo>
                  <a:pt x="0" y="0"/>
                </a:moveTo>
                <a:lnTo>
                  <a:pt x="0" y="358815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4951" y="4811005"/>
            <a:ext cx="3580765" cy="4445"/>
          </a:xfrm>
          <a:custGeom>
            <a:avLst/>
            <a:gdLst/>
            <a:ahLst/>
            <a:cxnLst/>
            <a:rect l="l" t="t" r="r" b="b"/>
            <a:pathLst>
              <a:path w="3580765" h="4445">
                <a:moveTo>
                  <a:pt x="3580762" y="4334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61645" y="2952172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4502" y="2381565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6729" y="1999989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79289" y="3579245"/>
            <a:ext cx="105287" cy="107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95553" y="2400050"/>
            <a:ext cx="105311" cy="107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83461" y="2988563"/>
            <a:ext cx="105287" cy="1076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92680" y="2388357"/>
            <a:ext cx="105287" cy="10757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73779" y="2024999"/>
            <a:ext cx="105277" cy="10770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73083" y="2495930"/>
            <a:ext cx="3562985" cy="365125"/>
          </a:xfrm>
          <a:custGeom>
            <a:avLst/>
            <a:gdLst/>
            <a:ahLst/>
            <a:cxnLst/>
            <a:rect l="l" t="t" r="r" b="b"/>
            <a:pathLst>
              <a:path w="3562985" h="365125">
                <a:moveTo>
                  <a:pt x="0" y="364748"/>
                </a:moveTo>
                <a:lnTo>
                  <a:pt x="3562630" y="0"/>
                </a:lnTo>
              </a:path>
            </a:pathLst>
          </a:custGeom>
          <a:ln w="2857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90481" y="2749545"/>
            <a:ext cx="105299" cy="1077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83461" y="2690871"/>
            <a:ext cx="105287" cy="10757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88358" y="2620267"/>
            <a:ext cx="105287" cy="10769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82980" y="2562474"/>
            <a:ext cx="105284" cy="1077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68202" y="2508753"/>
            <a:ext cx="105277" cy="10757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29861" y="2340935"/>
            <a:ext cx="971550" cy="215900"/>
          </a:xfrm>
          <a:custGeom>
            <a:avLst/>
            <a:gdLst/>
            <a:ahLst/>
            <a:cxnLst/>
            <a:rect l="l" t="t" r="r" b="b"/>
            <a:pathLst>
              <a:path w="971550" h="215900">
                <a:moveTo>
                  <a:pt x="0" y="215443"/>
                </a:moveTo>
                <a:lnTo>
                  <a:pt x="971550" y="215443"/>
                </a:lnTo>
                <a:lnTo>
                  <a:pt x="971550" y="0"/>
                </a:lnTo>
                <a:lnTo>
                  <a:pt x="0" y="0"/>
                </a:lnTo>
                <a:lnTo>
                  <a:pt x="0" y="2154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313304" y="2368801"/>
            <a:ext cx="78422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0" dirty="0">
                <a:solidFill>
                  <a:srgbClr val="FF0000"/>
                </a:solidFill>
                <a:latin typeface="Calibri Light"/>
                <a:cs typeface="Calibri Light"/>
              </a:rPr>
              <a:t>L</a:t>
            </a:r>
            <a:r>
              <a:rPr sz="800" b="0" spc="-9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30" dirty="0">
                <a:solidFill>
                  <a:srgbClr val="FF0000"/>
                </a:solidFill>
                <a:latin typeface="Calibri Light"/>
                <a:cs typeface="Calibri Light"/>
              </a:rPr>
              <a:t>ine</a:t>
            </a:r>
            <a:r>
              <a:rPr sz="800" b="0" spc="-8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15" dirty="0">
                <a:solidFill>
                  <a:srgbClr val="FF0000"/>
                </a:solidFill>
                <a:latin typeface="Calibri Light"/>
                <a:cs typeface="Calibri Light"/>
              </a:rPr>
              <a:t>of</a:t>
            </a:r>
            <a:r>
              <a:rPr sz="800" b="0" spc="-7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-5" dirty="0">
                <a:solidFill>
                  <a:srgbClr val="FF0000"/>
                </a:solidFill>
                <a:latin typeface="Calibri Light"/>
                <a:cs typeface="Calibri Light"/>
              </a:rPr>
              <a:t>Regression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583820" y="1136507"/>
            <a:ext cx="527685" cy="184150"/>
          </a:xfrm>
          <a:custGeom>
            <a:avLst/>
            <a:gdLst/>
            <a:ahLst/>
            <a:cxnLst/>
            <a:rect l="l" t="t" r="r" b="b"/>
            <a:pathLst>
              <a:path w="527684" h="184150">
                <a:moveTo>
                  <a:pt x="479023" y="0"/>
                </a:moveTo>
                <a:lnTo>
                  <a:pt x="477133" y="6096"/>
                </a:lnTo>
                <a:lnTo>
                  <a:pt x="485614" y="10452"/>
                </a:lnTo>
                <a:lnTo>
                  <a:pt x="492972" y="16832"/>
                </a:lnTo>
                <a:lnTo>
                  <a:pt x="511408" y="61116"/>
                </a:lnTo>
                <a:lnTo>
                  <a:pt x="513709" y="92080"/>
                </a:lnTo>
                <a:lnTo>
                  <a:pt x="513136" y="108254"/>
                </a:lnTo>
                <a:lnTo>
                  <a:pt x="504444" y="148468"/>
                </a:lnTo>
                <a:lnTo>
                  <a:pt x="477133" y="177942"/>
                </a:lnTo>
                <a:lnTo>
                  <a:pt x="479023" y="184038"/>
                </a:lnTo>
                <a:lnTo>
                  <a:pt x="514837" y="152400"/>
                </a:lnTo>
                <a:lnTo>
                  <a:pt x="526637" y="108924"/>
                </a:lnTo>
                <a:lnTo>
                  <a:pt x="527425" y="92080"/>
                </a:lnTo>
                <a:lnTo>
                  <a:pt x="526637" y="75177"/>
                </a:lnTo>
                <a:lnTo>
                  <a:pt x="514837" y="31638"/>
                </a:lnTo>
                <a:lnTo>
                  <a:pt x="489986" y="4274"/>
                </a:lnTo>
                <a:lnTo>
                  <a:pt x="479023" y="0"/>
                </a:lnTo>
                <a:close/>
              </a:path>
              <a:path w="527684" h="184150">
                <a:moveTo>
                  <a:pt x="48371" y="0"/>
                </a:moveTo>
                <a:lnTo>
                  <a:pt x="12557" y="31638"/>
                </a:lnTo>
                <a:lnTo>
                  <a:pt x="783" y="75177"/>
                </a:lnTo>
                <a:lnTo>
                  <a:pt x="0" y="92080"/>
                </a:lnTo>
                <a:lnTo>
                  <a:pt x="783" y="108924"/>
                </a:lnTo>
                <a:lnTo>
                  <a:pt x="12557" y="152400"/>
                </a:lnTo>
                <a:lnTo>
                  <a:pt x="48371" y="184038"/>
                </a:lnTo>
                <a:lnTo>
                  <a:pt x="50139" y="177942"/>
                </a:lnTo>
                <a:lnTo>
                  <a:pt x="41723" y="173585"/>
                </a:lnTo>
                <a:lnTo>
                  <a:pt x="34362" y="167205"/>
                </a:lnTo>
                <a:lnTo>
                  <a:pt x="15925" y="123040"/>
                </a:lnTo>
                <a:lnTo>
                  <a:pt x="13563" y="92080"/>
                </a:lnTo>
                <a:lnTo>
                  <a:pt x="14158" y="75916"/>
                </a:lnTo>
                <a:lnTo>
                  <a:pt x="22860" y="35570"/>
                </a:lnTo>
                <a:lnTo>
                  <a:pt x="50139" y="6096"/>
                </a:lnTo>
                <a:lnTo>
                  <a:pt x="48371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409066" y="1136660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4" h="141605">
                <a:moveTo>
                  <a:pt x="420105" y="0"/>
                </a:moveTo>
                <a:lnTo>
                  <a:pt x="418063" y="5699"/>
                </a:lnTo>
                <a:lnTo>
                  <a:pt x="426263" y="9246"/>
                </a:lnTo>
                <a:lnTo>
                  <a:pt x="433299" y="14161"/>
                </a:lnTo>
                <a:lnTo>
                  <a:pt x="451706" y="57801"/>
                </a:lnTo>
                <a:lnTo>
                  <a:pt x="452231" y="69829"/>
                </a:lnTo>
                <a:lnTo>
                  <a:pt x="451706" y="82311"/>
                </a:lnTo>
                <a:lnTo>
                  <a:pt x="439117" y="120597"/>
                </a:lnTo>
                <a:lnTo>
                  <a:pt x="418338" y="135483"/>
                </a:lnTo>
                <a:lnTo>
                  <a:pt x="420105" y="141213"/>
                </a:lnTo>
                <a:lnTo>
                  <a:pt x="453511" y="116586"/>
                </a:lnTo>
                <a:lnTo>
                  <a:pt x="465063" y="70591"/>
                </a:lnTo>
                <a:lnTo>
                  <a:pt x="464347" y="57668"/>
                </a:lnTo>
                <a:lnTo>
                  <a:pt x="447062" y="16056"/>
                </a:lnTo>
                <a:lnTo>
                  <a:pt x="430344" y="3687"/>
                </a:lnTo>
                <a:lnTo>
                  <a:pt x="420105" y="0"/>
                </a:lnTo>
                <a:close/>
              </a:path>
              <a:path w="465454" h="141605">
                <a:moveTo>
                  <a:pt x="45079" y="0"/>
                </a:moveTo>
                <a:lnTo>
                  <a:pt x="11673" y="24749"/>
                </a:lnTo>
                <a:lnTo>
                  <a:pt x="0" y="70591"/>
                </a:lnTo>
                <a:lnTo>
                  <a:pt x="735" y="83603"/>
                </a:lnTo>
                <a:lnTo>
                  <a:pt x="18106" y="125196"/>
                </a:lnTo>
                <a:lnTo>
                  <a:pt x="45079" y="141213"/>
                </a:lnTo>
                <a:lnTo>
                  <a:pt x="46847" y="135483"/>
                </a:lnTo>
                <a:lnTo>
                  <a:pt x="38823" y="131916"/>
                </a:lnTo>
                <a:lnTo>
                  <a:pt x="31897" y="126945"/>
                </a:lnTo>
                <a:lnTo>
                  <a:pt x="13475" y="82311"/>
                </a:lnTo>
                <a:lnTo>
                  <a:pt x="12954" y="69829"/>
                </a:lnTo>
                <a:lnTo>
                  <a:pt x="13475" y="57801"/>
                </a:lnTo>
                <a:lnTo>
                  <a:pt x="26071" y="20431"/>
                </a:lnTo>
                <a:lnTo>
                  <a:pt x="47091" y="5699"/>
                </a:lnTo>
                <a:lnTo>
                  <a:pt x="45079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398246" y="1385315"/>
            <a:ext cx="421640" cy="194310"/>
          </a:xfrm>
          <a:custGeom>
            <a:avLst/>
            <a:gdLst/>
            <a:ahLst/>
            <a:cxnLst/>
            <a:rect l="l" t="t" r="r" b="b"/>
            <a:pathLst>
              <a:path w="421640" h="194309">
                <a:moveTo>
                  <a:pt x="359664" y="0"/>
                </a:moveTo>
                <a:lnTo>
                  <a:pt x="356890" y="7863"/>
                </a:lnTo>
                <a:lnTo>
                  <a:pt x="368122" y="12724"/>
                </a:lnTo>
                <a:lnTo>
                  <a:pt x="377803" y="19480"/>
                </a:lnTo>
                <a:lnTo>
                  <a:pt x="401002" y="64411"/>
                </a:lnTo>
                <a:lnTo>
                  <a:pt x="403860" y="96012"/>
                </a:lnTo>
                <a:lnTo>
                  <a:pt x="403143" y="113127"/>
                </a:lnTo>
                <a:lnTo>
                  <a:pt x="392308" y="155051"/>
                </a:lnTo>
                <a:lnTo>
                  <a:pt x="357256" y="186171"/>
                </a:lnTo>
                <a:lnTo>
                  <a:pt x="359664" y="194066"/>
                </a:lnTo>
                <a:lnTo>
                  <a:pt x="396778" y="172051"/>
                </a:lnTo>
                <a:lnTo>
                  <a:pt x="417553" y="131345"/>
                </a:lnTo>
                <a:lnTo>
                  <a:pt x="421538" y="97017"/>
                </a:lnTo>
                <a:lnTo>
                  <a:pt x="420538" y="79283"/>
                </a:lnTo>
                <a:lnTo>
                  <a:pt x="405536" y="34046"/>
                </a:lnTo>
                <a:lnTo>
                  <a:pt x="373753" y="5071"/>
                </a:lnTo>
                <a:lnTo>
                  <a:pt x="359664" y="0"/>
                </a:lnTo>
                <a:close/>
              </a:path>
              <a:path w="421640" h="194309">
                <a:moveTo>
                  <a:pt x="61874" y="0"/>
                </a:moveTo>
                <a:lnTo>
                  <a:pt x="24862" y="22117"/>
                </a:lnTo>
                <a:lnTo>
                  <a:pt x="4000" y="62857"/>
                </a:lnTo>
                <a:lnTo>
                  <a:pt x="0" y="97017"/>
                </a:lnTo>
                <a:lnTo>
                  <a:pt x="981" y="114887"/>
                </a:lnTo>
                <a:lnTo>
                  <a:pt x="15880" y="160141"/>
                </a:lnTo>
                <a:lnTo>
                  <a:pt x="47765" y="189014"/>
                </a:lnTo>
                <a:lnTo>
                  <a:pt x="61874" y="194066"/>
                </a:lnTo>
                <a:lnTo>
                  <a:pt x="64282" y="186171"/>
                </a:lnTo>
                <a:lnTo>
                  <a:pt x="53229" y="181292"/>
                </a:lnTo>
                <a:lnTo>
                  <a:pt x="43704" y="174475"/>
                </a:lnTo>
                <a:lnTo>
                  <a:pt x="20551" y="128675"/>
                </a:lnTo>
                <a:lnTo>
                  <a:pt x="17678" y="96012"/>
                </a:lnTo>
                <a:lnTo>
                  <a:pt x="18394" y="79491"/>
                </a:lnTo>
                <a:lnTo>
                  <a:pt x="29230" y="38618"/>
                </a:lnTo>
                <a:lnTo>
                  <a:pt x="64648" y="7863"/>
                </a:lnTo>
                <a:lnTo>
                  <a:pt x="618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156126" y="1050321"/>
          <a:ext cx="3905882" cy="1701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2610"/>
                <a:gridCol w="878840"/>
                <a:gridCol w="875664"/>
                <a:gridCol w="796289"/>
                <a:gridCol w="792479"/>
              </a:tblGrid>
              <a:tr h="271723">
                <a:tc>
                  <a:txBody>
                    <a:bodyPr/>
                    <a:lstStyle/>
                    <a:p>
                      <a:pPr marL="173990">
                        <a:lnSpc>
                          <a:spcPts val="1650"/>
                        </a:lnSpc>
                      </a:pPr>
                      <a:r>
                        <a:rPr sz="1650" spc="-4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800" spc="-67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endParaRPr sz="1800" baseline="-13888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45"/>
                        </a:lnSpc>
                      </a:pPr>
                      <a:r>
                        <a:rPr sz="1650" spc="-3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800" spc="-5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r>
                        <a:rPr sz="1800" spc="120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2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845"/>
                        </a:lnSpc>
                      </a:pPr>
                      <a:r>
                        <a:rPr sz="1650" spc="-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650" spc="-18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-15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53975">
                      <a:solidFill>
                        <a:srgbClr val="F07F09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350" spc="-7" baseline="-1851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 𝑦</a:t>
                      </a:r>
                      <a:r>
                        <a:rPr sz="1200" spc="4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spc="30" baseline="46296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350" baseline="46296">
                        <a:latin typeface="Cambria Math"/>
                        <a:cs typeface="Cambria Math"/>
                      </a:endParaRPr>
                    </a:p>
                  </a:txBody>
                  <a:tcPr marL="0" marR="0" marT="4826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20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 − 𝑦</a:t>
                      </a:r>
                      <a:r>
                        <a:rPr sz="1200" spc="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spc="30" baseline="27777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35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2984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R="154305" algn="r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ts val="1975"/>
                        </a:lnSpc>
                        <a:spcBef>
                          <a:spcPts val="2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 algn="ctr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0.16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1905"/>
                        </a:lnSpc>
                      </a:pPr>
                      <a:r>
                        <a:rPr sz="1650" spc="30" dirty="0">
                          <a:latin typeface="Cambria Math"/>
                          <a:cs typeface="Cambria Math"/>
                        </a:rPr>
                        <a:t>0.4</a:t>
                      </a:r>
                      <a:r>
                        <a:rPr sz="1650" spc="26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44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80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R="130810" algn="r">
                        <a:lnSpc>
                          <a:spcPts val="1964"/>
                        </a:lnSpc>
                      </a:pPr>
                      <a:r>
                        <a:rPr sz="1650" spc="-20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ts val="1960"/>
                        </a:lnSpc>
                        <a:spcBef>
                          <a:spcPts val="40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50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0.25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333"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algn="ctr">
                        <a:lnSpc>
                          <a:spcPts val="1920"/>
                        </a:lnSpc>
                        <a:spcBef>
                          <a:spcPts val="1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ts val="1964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0.36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590"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9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73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-0.7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73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0.49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1629"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5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F07F0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0.64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5" name="object 35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61645" y="3572004"/>
            <a:ext cx="104775" cy="1930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11956" y="3992529"/>
            <a:ext cx="210820" cy="810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5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5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09795" y="4038432"/>
            <a:ext cx="97790" cy="171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50" spc="35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28134" y="4117325"/>
            <a:ext cx="521970" cy="22732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250825" algn="l"/>
              </a:tabLst>
            </a:pPr>
            <a:r>
              <a:rPr sz="1350" dirty="0">
                <a:solidFill>
                  <a:srgbClr val="3F3F3F"/>
                </a:solidFill>
                <a:latin typeface="Cambria Math"/>
                <a:cs typeface="Cambria Math"/>
              </a:rPr>
              <a:t>𝑦	−</a:t>
            </a:r>
            <a:r>
              <a:rPr sz="1350" spc="-10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350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1645" y="416162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704335" y="4200678"/>
            <a:ext cx="104139" cy="171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50" spc="150" dirty="0">
                <a:solidFill>
                  <a:srgbClr val="3F3F3F"/>
                </a:solidFill>
                <a:latin typeface="Cambria Math"/>
                <a:cs typeface="Cambria Math"/>
              </a:rPr>
              <a:t>𝑝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562350" y="4248299"/>
            <a:ext cx="38735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55"/>
              </a:lnSpc>
            </a:pPr>
            <a:r>
              <a:rPr sz="1500" spc="65" dirty="0">
                <a:solidFill>
                  <a:srgbClr val="3F3F3F"/>
                </a:solidFill>
                <a:latin typeface="Cambria Math"/>
                <a:cs typeface="Cambria Math"/>
              </a:rPr>
              <a:t>𝑅</a:t>
            </a:r>
            <a:r>
              <a:rPr sz="1650" spc="97" baseline="27777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r>
              <a:rPr sz="1650" spc="-97" baseline="27777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278756" y="4484994"/>
            <a:ext cx="114300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30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97096" y="4506588"/>
            <a:ext cx="514984" cy="27241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50" dirty="0">
                <a:solidFill>
                  <a:srgbClr val="3F3F3F"/>
                </a:solidFill>
                <a:latin typeface="Cambria Math"/>
                <a:cs typeface="Cambria Math"/>
              </a:rPr>
              <a:t>𝑦 −</a:t>
            </a:r>
            <a:r>
              <a:rPr sz="1650" spc="-4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80868" y="4671135"/>
            <a:ext cx="120014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625978" y="4670587"/>
            <a:ext cx="5740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38184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3007739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572893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164075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86177" y="482075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392695" y="4833444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663" y="229485"/>
            <a:ext cx="35363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5" dirty="0"/>
              <a:t>Goodness </a:t>
            </a:r>
            <a:r>
              <a:rPr spc="25" dirty="0"/>
              <a:t>of </a:t>
            </a:r>
            <a:r>
              <a:rPr spc="10" dirty="0"/>
              <a:t>Fit </a:t>
            </a:r>
            <a:r>
              <a:rPr spc="15" dirty="0"/>
              <a:t>–</a:t>
            </a:r>
            <a:r>
              <a:rPr spc="-75" dirty="0"/>
              <a:t> </a:t>
            </a:r>
            <a:r>
              <a:rPr b="0" spc="25" dirty="0">
                <a:latin typeface="Cambria Math"/>
                <a:cs typeface="Cambria Math"/>
              </a:rPr>
              <a:t>𝑹</a:t>
            </a:r>
            <a:r>
              <a:rPr sz="3000" b="0" spc="37" baseline="29166" dirty="0">
                <a:latin typeface="Cambria Math"/>
                <a:cs typeface="Cambria Math"/>
              </a:rPr>
              <a:t>𝟐</a:t>
            </a:r>
            <a:endParaRPr sz="3000" baseline="29166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53050" y="4171950"/>
            <a:ext cx="800100" cy="419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35496" y="4553129"/>
            <a:ext cx="621665" cy="194310"/>
          </a:xfrm>
          <a:custGeom>
            <a:avLst/>
            <a:gdLst/>
            <a:ahLst/>
            <a:cxnLst/>
            <a:rect l="l" t="t" r="r" b="b"/>
            <a:pathLst>
              <a:path w="621665" h="194310">
                <a:moveTo>
                  <a:pt x="559704" y="0"/>
                </a:moveTo>
                <a:lnTo>
                  <a:pt x="556900" y="7869"/>
                </a:lnTo>
                <a:lnTo>
                  <a:pt x="568137" y="12751"/>
                </a:lnTo>
                <a:lnTo>
                  <a:pt x="577828" y="19503"/>
                </a:lnTo>
                <a:lnTo>
                  <a:pt x="601042" y="64412"/>
                </a:lnTo>
                <a:lnTo>
                  <a:pt x="603900" y="96069"/>
                </a:lnTo>
                <a:lnTo>
                  <a:pt x="603183" y="113193"/>
                </a:lnTo>
                <a:lnTo>
                  <a:pt x="592317" y="155100"/>
                </a:lnTo>
                <a:lnTo>
                  <a:pt x="557265" y="186211"/>
                </a:lnTo>
                <a:lnTo>
                  <a:pt x="559704" y="194093"/>
                </a:lnTo>
                <a:lnTo>
                  <a:pt x="596788" y="172057"/>
                </a:lnTo>
                <a:lnTo>
                  <a:pt x="617562" y="131384"/>
                </a:lnTo>
                <a:lnTo>
                  <a:pt x="621548" y="97094"/>
                </a:lnTo>
                <a:lnTo>
                  <a:pt x="620548" y="79296"/>
                </a:lnTo>
                <a:lnTo>
                  <a:pt x="605546" y="34003"/>
                </a:lnTo>
                <a:lnTo>
                  <a:pt x="573776" y="5072"/>
                </a:lnTo>
                <a:lnTo>
                  <a:pt x="559704" y="0"/>
                </a:lnTo>
                <a:close/>
              </a:path>
              <a:path w="621665" h="194310">
                <a:moveTo>
                  <a:pt x="61843" y="0"/>
                </a:moveTo>
                <a:lnTo>
                  <a:pt x="24862" y="22078"/>
                </a:lnTo>
                <a:lnTo>
                  <a:pt x="4000" y="62851"/>
                </a:lnTo>
                <a:lnTo>
                  <a:pt x="0" y="97094"/>
                </a:lnTo>
                <a:lnTo>
                  <a:pt x="981" y="114927"/>
                </a:lnTo>
                <a:lnTo>
                  <a:pt x="15880" y="160172"/>
                </a:lnTo>
                <a:lnTo>
                  <a:pt x="47752" y="189015"/>
                </a:lnTo>
                <a:lnTo>
                  <a:pt x="61843" y="194093"/>
                </a:lnTo>
                <a:lnTo>
                  <a:pt x="64251" y="186211"/>
                </a:lnTo>
                <a:lnTo>
                  <a:pt x="53211" y="181314"/>
                </a:lnTo>
                <a:lnTo>
                  <a:pt x="43685" y="174496"/>
                </a:lnTo>
                <a:lnTo>
                  <a:pt x="20520" y="128737"/>
                </a:lnTo>
                <a:lnTo>
                  <a:pt x="17647" y="96069"/>
                </a:lnTo>
                <a:lnTo>
                  <a:pt x="18364" y="79507"/>
                </a:lnTo>
                <a:lnTo>
                  <a:pt x="29199" y="38621"/>
                </a:lnTo>
                <a:lnTo>
                  <a:pt x="64648" y="7869"/>
                </a:lnTo>
                <a:lnTo>
                  <a:pt x="61843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72772" y="4123370"/>
            <a:ext cx="628015" cy="207645"/>
          </a:xfrm>
          <a:custGeom>
            <a:avLst/>
            <a:gdLst/>
            <a:ahLst/>
            <a:cxnLst/>
            <a:rect l="l" t="t" r="r" b="b"/>
            <a:pathLst>
              <a:path w="628015" h="207645">
                <a:moveTo>
                  <a:pt x="573507" y="0"/>
                </a:moveTo>
                <a:lnTo>
                  <a:pt x="571374" y="6870"/>
                </a:lnTo>
                <a:lnTo>
                  <a:pt x="580915" y="11806"/>
                </a:lnTo>
                <a:lnTo>
                  <a:pt x="589205" y="18991"/>
                </a:lnTo>
                <a:lnTo>
                  <a:pt x="606671" y="53682"/>
                </a:lnTo>
                <a:lnTo>
                  <a:pt x="612522" y="103644"/>
                </a:lnTo>
                <a:lnTo>
                  <a:pt x="611875" y="121794"/>
                </a:lnTo>
                <a:lnTo>
                  <a:pt x="602098" y="167057"/>
                </a:lnTo>
                <a:lnTo>
                  <a:pt x="571374" y="200253"/>
                </a:lnTo>
                <a:lnTo>
                  <a:pt x="573507" y="207111"/>
                </a:lnTo>
                <a:lnTo>
                  <a:pt x="605967" y="184527"/>
                </a:lnTo>
                <a:lnTo>
                  <a:pt x="624359" y="140183"/>
                </a:lnTo>
                <a:lnTo>
                  <a:pt x="627884" y="103561"/>
                </a:lnTo>
                <a:lnTo>
                  <a:pt x="627003" y="84586"/>
                </a:lnTo>
                <a:lnTo>
                  <a:pt x="613771" y="35588"/>
                </a:lnTo>
                <a:lnTo>
                  <a:pt x="585821" y="4800"/>
                </a:lnTo>
                <a:lnTo>
                  <a:pt x="573507" y="0"/>
                </a:lnTo>
                <a:close/>
              </a:path>
              <a:path w="628015" h="207645">
                <a:moveTo>
                  <a:pt x="54463" y="0"/>
                </a:moveTo>
                <a:lnTo>
                  <a:pt x="22017" y="22590"/>
                </a:lnTo>
                <a:lnTo>
                  <a:pt x="3531" y="66932"/>
                </a:lnTo>
                <a:lnTo>
                  <a:pt x="0" y="103644"/>
                </a:lnTo>
                <a:lnTo>
                  <a:pt x="878" y="122531"/>
                </a:lnTo>
                <a:lnTo>
                  <a:pt x="14199" y="171535"/>
                </a:lnTo>
                <a:lnTo>
                  <a:pt x="42154" y="202316"/>
                </a:lnTo>
                <a:lnTo>
                  <a:pt x="54463" y="207111"/>
                </a:lnTo>
                <a:lnTo>
                  <a:pt x="56506" y="200253"/>
                </a:lnTo>
                <a:lnTo>
                  <a:pt x="47005" y="195324"/>
                </a:lnTo>
                <a:lnTo>
                  <a:pt x="38724" y="188147"/>
                </a:lnTo>
                <a:lnTo>
                  <a:pt x="21330" y="153502"/>
                </a:lnTo>
                <a:lnTo>
                  <a:pt x="15482" y="103561"/>
                </a:lnTo>
                <a:lnTo>
                  <a:pt x="16127" y="85449"/>
                </a:lnTo>
                <a:lnTo>
                  <a:pt x="25904" y="40114"/>
                </a:lnTo>
                <a:lnTo>
                  <a:pt x="56506" y="6870"/>
                </a:lnTo>
                <a:lnTo>
                  <a:pt x="54463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76950" y="4424754"/>
            <a:ext cx="1324610" cy="0"/>
          </a:xfrm>
          <a:custGeom>
            <a:avLst/>
            <a:gdLst/>
            <a:ahLst/>
            <a:cxnLst/>
            <a:rect l="l" t="t" r="r" b="b"/>
            <a:pathLst>
              <a:path w="1324609">
                <a:moveTo>
                  <a:pt x="0" y="0"/>
                </a:moveTo>
                <a:lnTo>
                  <a:pt x="1323990" y="0"/>
                </a:lnTo>
              </a:path>
            </a:pathLst>
          </a:custGeom>
          <a:ln w="38099">
            <a:solidFill>
              <a:srgbClr val="095A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3527" y="1233297"/>
            <a:ext cx="2382673" cy="3583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35555" y="1249186"/>
            <a:ext cx="1200150" cy="35661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6855" y="1530632"/>
            <a:ext cx="971550" cy="339090"/>
          </a:xfrm>
          <a:custGeom>
            <a:avLst/>
            <a:gdLst/>
            <a:ahLst/>
            <a:cxnLst/>
            <a:rect l="l" t="t" r="r" b="b"/>
            <a:pathLst>
              <a:path w="971550" h="339089">
                <a:moveTo>
                  <a:pt x="0" y="338553"/>
                </a:moveTo>
                <a:lnTo>
                  <a:pt x="971550" y="338553"/>
                </a:lnTo>
                <a:lnTo>
                  <a:pt x="971550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6619" y="155695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5" dirty="0">
                <a:solidFill>
                  <a:srgbClr val="6B9E24"/>
                </a:solidFill>
                <a:latin typeface="Calibri Light"/>
                <a:cs typeface="Calibri Light"/>
              </a:rPr>
              <a:t>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1200" y="1389059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4951" y="1227185"/>
            <a:ext cx="0" cy="3588385"/>
          </a:xfrm>
          <a:custGeom>
            <a:avLst/>
            <a:gdLst/>
            <a:ahLst/>
            <a:cxnLst/>
            <a:rect l="l" t="t" r="r" b="b"/>
            <a:pathLst>
              <a:path h="3588385">
                <a:moveTo>
                  <a:pt x="0" y="0"/>
                </a:moveTo>
                <a:lnTo>
                  <a:pt x="0" y="358815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4951" y="4811005"/>
            <a:ext cx="3580765" cy="4445"/>
          </a:xfrm>
          <a:custGeom>
            <a:avLst/>
            <a:gdLst/>
            <a:ahLst/>
            <a:cxnLst/>
            <a:rect l="l" t="t" r="r" b="b"/>
            <a:pathLst>
              <a:path w="3580765" h="4445">
                <a:moveTo>
                  <a:pt x="3580762" y="4334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61645" y="2952172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4502" y="2381565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6729" y="1999989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79289" y="3579245"/>
            <a:ext cx="105287" cy="107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95553" y="2400050"/>
            <a:ext cx="105311" cy="107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83461" y="2988563"/>
            <a:ext cx="105287" cy="1076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92680" y="2388357"/>
            <a:ext cx="105287" cy="10757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73779" y="2024999"/>
            <a:ext cx="105277" cy="10770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73083" y="2495930"/>
            <a:ext cx="3562985" cy="365125"/>
          </a:xfrm>
          <a:custGeom>
            <a:avLst/>
            <a:gdLst/>
            <a:ahLst/>
            <a:cxnLst/>
            <a:rect l="l" t="t" r="r" b="b"/>
            <a:pathLst>
              <a:path w="3562985" h="365125">
                <a:moveTo>
                  <a:pt x="0" y="364748"/>
                </a:moveTo>
                <a:lnTo>
                  <a:pt x="3562630" y="0"/>
                </a:lnTo>
              </a:path>
            </a:pathLst>
          </a:custGeom>
          <a:ln w="2857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90481" y="2749545"/>
            <a:ext cx="105299" cy="1077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83461" y="2690871"/>
            <a:ext cx="105287" cy="10757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88358" y="2620267"/>
            <a:ext cx="105287" cy="10769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82980" y="2562474"/>
            <a:ext cx="105284" cy="1077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68202" y="2508753"/>
            <a:ext cx="105277" cy="10757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29861" y="2340935"/>
            <a:ext cx="971550" cy="215900"/>
          </a:xfrm>
          <a:custGeom>
            <a:avLst/>
            <a:gdLst/>
            <a:ahLst/>
            <a:cxnLst/>
            <a:rect l="l" t="t" r="r" b="b"/>
            <a:pathLst>
              <a:path w="971550" h="215900">
                <a:moveTo>
                  <a:pt x="0" y="215443"/>
                </a:moveTo>
                <a:lnTo>
                  <a:pt x="971550" y="215443"/>
                </a:lnTo>
                <a:lnTo>
                  <a:pt x="971550" y="0"/>
                </a:lnTo>
                <a:lnTo>
                  <a:pt x="0" y="0"/>
                </a:lnTo>
                <a:lnTo>
                  <a:pt x="0" y="2154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313304" y="2368801"/>
            <a:ext cx="78422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0" dirty="0">
                <a:solidFill>
                  <a:srgbClr val="FF0000"/>
                </a:solidFill>
                <a:latin typeface="Calibri Light"/>
                <a:cs typeface="Calibri Light"/>
              </a:rPr>
              <a:t>L</a:t>
            </a:r>
            <a:r>
              <a:rPr sz="800" b="0" spc="-9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30" dirty="0">
                <a:solidFill>
                  <a:srgbClr val="FF0000"/>
                </a:solidFill>
                <a:latin typeface="Calibri Light"/>
                <a:cs typeface="Calibri Light"/>
              </a:rPr>
              <a:t>ine</a:t>
            </a:r>
            <a:r>
              <a:rPr sz="800" b="0" spc="-8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15" dirty="0">
                <a:solidFill>
                  <a:srgbClr val="FF0000"/>
                </a:solidFill>
                <a:latin typeface="Calibri Light"/>
                <a:cs typeface="Calibri Light"/>
              </a:rPr>
              <a:t>of</a:t>
            </a:r>
            <a:r>
              <a:rPr sz="800" b="0" spc="-7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-5" dirty="0">
                <a:solidFill>
                  <a:srgbClr val="FF0000"/>
                </a:solidFill>
                <a:latin typeface="Calibri Light"/>
                <a:cs typeface="Calibri Light"/>
              </a:rPr>
              <a:t>Regression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583820" y="1136507"/>
            <a:ext cx="527685" cy="184150"/>
          </a:xfrm>
          <a:custGeom>
            <a:avLst/>
            <a:gdLst/>
            <a:ahLst/>
            <a:cxnLst/>
            <a:rect l="l" t="t" r="r" b="b"/>
            <a:pathLst>
              <a:path w="527684" h="184150">
                <a:moveTo>
                  <a:pt x="479023" y="0"/>
                </a:moveTo>
                <a:lnTo>
                  <a:pt x="477133" y="6096"/>
                </a:lnTo>
                <a:lnTo>
                  <a:pt x="485614" y="10452"/>
                </a:lnTo>
                <a:lnTo>
                  <a:pt x="492972" y="16832"/>
                </a:lnTo>
                <a:lnTo>
                  <a:pt x="511408" y="61116"/>
                </a:lnTo>
                <a:lnTo>
                  <a:pt x="513709" y="92080"/>
                </a:lnTo>
                <a:lnTo>
                  <a:pt x="513136" y="108254"/>
                </a:lnTo>
                <a:lnTo>
                  <a:pt x="504444" y="148468"/>
                </a:lnTo>
                <a:lnTo>
                  <a:pt x="477133" y="177942"/>
                </a:lnTo>
                <a:lnTo>
                  <a:pt x="479023" y="184038"/>
                </a:lnTo>
                <a:lnTo>
                  <a:pt x="514837" y="152400"/>
                </a:lnTo>
                <a:lnTo>
                  <a:pt x="526637" y="108924"/>
                </a:lnTo>
                <a:lnTo>
                  <a:pt x="527425" y="92080"/>
                </a:lnTo>
                <a:lnTo>
                  <a:pt x="526637" y="75177"/>
                </a:lnTo>
                <a:lnTo>
                  <a:pt x="514837" y="31638"/>
                </a:lnTo>
                <a:lnTo>
                  <a:pt x="489986" y="4274"/>
                </a:lnTo>
                <a:lnTo>
                  <a:pt x="479023" y="0"/>
                </a:lnTo>
                <a:close/>
              </a:path>
              <a:path w="527684" h="184150">
                <a:moveTo>
                  <a:pt x="48371" y="0"/>
                </a:moveTo>
                <a:lnTo>
                  <a:pt x="12557" y="31638"/>
                </a:lnTo>
                <a:lnTo>
                  <a:pt x="783" y="75177"/>
                </a:lnTo>
                <a:lnTo>
                  <a:pt x="0" y="92080"/>
                </a:lnTo>
                <a:lnTo>
                  <a:pt x="783" y="108924"/>
                </a:lnTo>
                <a:lnTo>
                  <a:pt x="12557" y="152400"/>
                </a:lnTo>
                <a:lnTo>
                  <a:pt x="48371" y="184038"/>
                </a:lnTo>
                <a:lnTo>
                  <a:pt x="50139" y="177942"/>
                </a:lnTo>
                <a:lnTo>
                  <a:pt x="41723" y="173585"/>
                </a:lnTo>
                <a:lnTo>
                  <a:pt x="34362" y="167205"/>
                </a:lnTo>
                <a:lnTo>
                  <a:pt x="15925" y="123040"/>
                </a:lnTo>
                <a:lnTo>
                  <a:pt x="13563" y="92080"/>
                </a:lnTo>
                <a:lnTo>
                  <a:pt x="14158" y="75916"/>
                </a:lnTo>
                <a:lnTo>
                  <a:pt x="22860" y="35570"/>
                </a:lnTo>
                <a:lnTo>
                  <a:pt x="50139" y="6096"/>
                </a:lnTo>
                <a:lnTo>
                  <a:pt x="48371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409066" y="1136660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4" h="141605">
                <a:moveTo>
                  <a:pt x="420105" y="0"/>
                </a:moveTo>
                <a:lnTo>
                  <a:pt x="418063" y="5699"/>
                </a:lnTo>
                <a:lnTo>
                  <a:pt x="426263" y="9246"/>
                </a:lnTo>
                <a:lnTo>
                  <a:pt x="433299" y="14161"/>
                </a:lnTo>
                <a:lnTo>
                  <a:pt x="451706" y="57801"/>
                </a:lnTo>
                <a:lnTo>
                  <a:pt x="452231" y="69829"/>
                </a:lnTo>
                <a:lnTo>
                  <a:pt x="451706" y="82311"/>
                </a:lnTo>
                <a:lnTo>
                  <a:pt x="439117" y="120597"/>
                </a:lnTo>
                <a:lnTo>
                  <a:pt x="418338" y="135483"/>
                </a:lnTo>
                <a:lnTo>
                  <a:pt x="420105" y="141213"/>
                </a:lnTo>
                <a:lnTo>
                  <a:pt x="453511" y="116586"/>
                </a:lnTo>
                <a:lnTo>
                  <a:pt x="465063" y="70591"/>
                </a:lnTo>
                <a:lnTo>
                  <a:pt x="464347" y="57668"/>
                </a:lnTo>
                <a:lnTo>
                  <a:pt x="447062" y="16056"/>
                </a:lnTo>
                <a:lnTo>
                  <a:pt x="430344" y="3687"/>
                </a:lnTo>
                <a:lnTo>
                  <a:pt x="420105" y="0"/>
                </a:lnTo>
                <a:close/>
              </a:path>
              <a:path w="465454" h="141605">
                <a:moveTo>
                  <a:pt x="45079" y="0"/>
                </a:moveTo>
                <a:lnTo>
                  <a:pt x="11673" y="24749"/>
                </a:lnTo>
                <a:lnTo>
                  <a:pt x="0" y="70591"/>
                </a:lnTo>
                <a:lnTo>
                  <a:pt x="735" y="83603"/>
                </a:lnTo>
                <a:lnTo>
                  <a:pt x="18106" y="125196"/>
                </a:lnTo>
                <a:lnTo>
                  <a:pt x="45079" y="141213"/>
                </a:lnTo>
                <a:lnTo>
                  <a:pt x="46847" y="135483"/>
                </a:lnTo>
                <a:lnTo>
                  <a:pt x="38823" y="131916"/>
                </a:lnTo>
                <a:lnTo>
                  <a:pt x="31897" y="126945"/>
                </a:lnTo>
                <a:lnTo>
                  <a:pt x="13475" y="82311"/>
                </a:lnTo>
                <a:lnTo>
                  <a:pt x="12954" y="69829"/>
                </a:lnTo>
                <a:lnTo>
                  <a:pt x="13475" y="57801"/>
                </a:lnTo>
                <a:lnTo>
                  <a:pt x="26071" y="20431"/>
                </a:lnTo>
                <a:lnTo>
                  <a:pt x="47091" y="5699"/>
                </a:lnTo>
                <a:lnTo>
                  <a:pt x="45079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5156126" y="1050321"/>
          <a:ext cx="3905882" cy="1701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2610"/>
                <a:gridCol w="878840"/>
                <a:gridCol w="875664"/>
                <a:gridCol w="796289"/>
                <a:gridCol w="792479"/>
              </a:tblGrid>
              <a:tr h="271723">
                <a:tc>
                  <a:txBody>
                    <a:bodyPr/>
                    <a:lstStyle/>
                    <a:p>
                      <a:pPr marL="173990">
                        <a:lnSpc>
                          <a:spcPts val="1650"/>
                        </a:lnSpc>
                      </a:pPr>
                      <a:r>
                        <a:rPr sz="1650" spc="-4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800" spc="-67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endParaRPr sz="1800" baseline="-13888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45"/>
                        </a:lnSpc>
                      </a:pPr>
                      <a:r>
                        <a:rPr sz="1650" spc="-3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800" spc="-5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r>
                        <a:rPr sz="1800" spc="120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2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845"/>
                        </a:lnSpc>
                      </a:pPr>
                      <a:r>
                        <a:rPr sz="1650" spc="-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650" spc="-18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-15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53975">
                      <a:solidFill>
                        <a:srgbClr val="F07F09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350" spc="-7" baseline="-1851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 𝑦</a:t>
                      </a:r>
                      <a:r>
                        <a:rPr sz="1200" spc="4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spc="30" baseline="46296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350" baseline="46296">
                        <a:latin typeface="Cambria Math"/>
                        <a:cs typeface="Cambria Math"/>
                      </a:endParaRPr>
                    </a:p>
                  </a:txBody>
                  <a:tcPr marL="0" marR="0" marT="4826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20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 − 𝑦</a:t>
                      </a:r>
                      <a:r>
                        <a:rPr sz="1200" spc="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spc="30" baseline="27777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35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2984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R="154305" algn="r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ts val="1975"/>
                        </a:lnSpc>
                        <a:spcBef>
                          <a:spcPts val="2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 algn="ctr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0.16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0.16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R="130810" algn="r">
                        <a:lnSpc>
                          <a:spcPts val="1964"/>
                        </a:lnSpc>
                      </a:pPr>
                      <a:r>
                        <a:rPr sz="1650" spc="-20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ts val="1960"/>
                        </a:lnSpc>
                        <a:spcBef>
                          <a:spcPts val="40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50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0.25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ts val="1870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0.36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333"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algn="ctr">
                        <a:lnSpc>
                          <a:spcPts val="1920"/>
                        </a:lnSpc>
                        <a:spcBef>
                          <a:spcPts val="1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ts val="1964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0.36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0.16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590"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9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73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-0.7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73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0.49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2.56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1629"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5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F07F0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0.64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F07F09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1.96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28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61645" y="3572004"/>
            <a:ext cx="104775" cy="1930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11956" y="3992529"/>
            <a:ext cx="210820" cy="810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5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5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09795" y="4038432"/>
            <a:ext cx="97790" cy="171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50" spc="35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28134" y="4117325"/>
            <a:ext cx="521970" cy="22732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250825" algn="l"/>
              </a:tabLst>
            </a:pPr>
            <a:r>
              <a:rPr sz="1350" dirty="0">
                <a:solidFill>
                  <a:srgbClr val="3F3F3F"/>
                </a:solidFill>
                <a:latin typeface="Cambria Math"/>
                <a:cs typeface="Cambria Math"/>
              </a:rPr>
              <a:t>𝑦	−</a:t>
            </a:r>
            <a:r>
              <a:rPr sz="1350" spc="-10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350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1645" y="416162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704335" y="4200678"/>
            <a:ext cx="104139" cy="171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50" spc="150" dirty="0">
                <a:solidFill>
                  <a:srgbClr val="3F3F3F"/>
                </a:solidFill>
                <a:latin typeface="Cambria Math"/>
                <a:cs typeface="Cambria Math"/>
              </a:rPr>
              <a:t>𝑝</a:t>
            </a:r>
            <a:endParaRPr sz="9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62350" y="4248299"/>
            <a:ext cx="38735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55"/>
              </a:lnSpc>
            </a:pPr>
            <a:r>
              <a:rPr sz="1500" spc="65" dirty="0">
                <a:solidFill>
                  <a:srgbClr val="3F3F3F"/>
                </a:solidFill>
                <a:latin typeface="Cambria Math"/>
                <a:cs typeface="Cambria Math"/>
              </a:rPr>
              <a:t>𝑅</a:t>
            </a:r>
            <a:r>
              <a:rPr sz="1650" spc="97" baseline="27777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r>
              <a:rPr sz="1650" spc="-97" baseline="27777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78756" y="4484994"/>
            <a:ext cx="114300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30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697096" y="4506588"/>
            <a:ext cx="514984" cy="27241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50" dirty="0">
                <a:solidFill>
                  <a:srgbClr val="3F3F3F"/>
                </a:solidFill>
                <a:latin typeface="Cambria Math"/>
                <a:cs typeface="Cambria Math"/>
              </a:rPr>
              <a:t>𝑦 −</a:t>
            </a:r>
            <a:r>
              <a:rPr sz="1650" spc="-4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650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380868" y="4671135"/>
            <a:ext cx="120014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625978" y="4670587"/>
            <a:ext cx="5740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8184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3007739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72893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164075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186177" y="482075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392695" y="4833444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663" y="229485"/>
            <a:ext cx="35363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5" dirty="0"/>
              <a:t>Goodness </a:t>
            </a:r>
            <a:r>
              <a:rPr spc="25" dirty="0"/>
              <a:t>of </a:t>
            </a:r>
            <a:r>
              <a:rPr spc="10" dirty="0"/>
              <a:t>Fit </a:t>
            </a:r>
            <a:r>
              <a:rPr spc="15" dirty="0"/>
              <a:t>–</a:t>
            </a:r>
            <a:r>
              <a:rPr spc="-75" dirty="0"/>
              <a:t> </a:t>
            </a:r>
            <a:r>
              <a:rPr b="0" spc="25" dirty="0">
                <a:latin typeface="Cambria Math"/>
                <a:cs typeface="Cambria Math"/>
              </a:rPr>
              <a:t>𝑹</a:t>
            </a:r>
            <a:r>
              <a:rPr sz="3000" b="0" spc="37" baseline="29166" dirty="0">
                <a:latin typeface="Cambria Math"/>
                <a:cs typeface="Cambria Math"/>
              </a:rPr>
              <a:t>𝟐</a:t>
            </a:r>
            <a:endParaRPr sz="3000" baseline="29166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3527" y="1233297"/>
            <a:ext cx="2382673" cy="35832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35555" y="1249186"/>
            <a:ext cx="1200150" cy="35661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6855" y="1530632"/>
            <a:ext cx="971550" cy="339090"/>
          </a:xfrm>
          <a:custGeom>
            <a:avLst/>
            <a:gdLst/>
            <a:ahLst/>
            <a:cxnLst/>
            <a:rect l="l" t="t" r="r" b="b"/>
            <a:pathLst>
              <a:path w="971550" h="339089">
                <a:moveTo>
                  <a:pt x="0" y="338553"/>
                </a:moveTo>
                <a:lnTo>
                  <a:pt x="971550" y="338553"/>
                </a:lnTo>
                <a:lnTo>
                  <a:pt x="971550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6619" y="155695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5" dirty="0">
                <a:solidFill>
                  <a:srgbClr val="6B9E24"/>
                </a:solidFill>
                <a:latin typeface="Calibri Light"/>
                <a:cs typeface="Calibri Light"/>
              </a:rPr>
              <a:t>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200" y="1389059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4951" y="1227185"/>
            <a:ext cx="0" cy="3588385"/>
          </a:xfrm>
          <a:custGeom>
            <a:avLst/>
            <a:gdLst/>
            <a:ahLst/>
            <a:cxnLst/>
            <a:rect l="l" t="t" r="r" b="b"/>
            <a:pathLst>
              <a:path h="3588385">
                <a:moveTo>
                  <a:pt x="0" y="0"/>
                </a:moveTo>
                <a:lnTo>
                  <a:pt x="0" y="358815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4951" y="4811005"/>
            <a:ext cx="3580765" cy="4445"/>
          </a:xfrm>
          <a:custGeom>
            <a:avLst/>
            <a:gdLst/>
            <a:ahLst/>
            <a:cxnLst/>
            <a:rect l="l" t="t" r="r" b="b"/>
            <a:pathLst>
              <a:path w="3580765" h="4445">
                <a:moveTo>
                  <a:pt x="3580762" y="4334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1645" y="3564888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1645" y="2952172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4502" y="2381565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6729" y="1999989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79289" y="3579245"/>
            <a:ext cx="105287" cy="107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95553" y="2400050"/>
            <a:ext cx="105311" cy="107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83461" y="2988563"/>
            <a:ext cx="105287" cy="1076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92680" y="2388357"/>
            <a:ext cx="105287" cy="1075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73779" y="2024999"/>
            <a:ext cx="105277" cy="10770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73083" y="2495930"/>
            <a:ext cx="3562985" cy="365125"/>
          </a:xfrm>
          <a:custGeom>
            <a:avLst/>
            <a:gdLst/>
            <a:ahLst/>
            <a:cxnLst/>
            <a:rect l="l" t="t" r="r" b="b"/>
            <a:pathLst>
              <a:path w="3562985" h="365125">
                <a:moveTo>
                  <a:pt x="0" y="364748"/>
                </a:moveTo>
                <a:lnTo>
                  <a:pt x="3562630" y="0"/>
                </a:lnTo>
              </a:path>
            </a:pathLst>
          </a:custGeom>
          <a:ln w="2857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90481" y="2749545"/>
            <a:ext cx="105299" cy="1077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83461" y="2690871"/>
            <a:ext cx="105287" cy="10757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88358" y="2620267"/>
            <a:ext cx="105287" cy="10769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82980" y="2562474"/>
            <a:ext cx="105284" cy="1077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68202" y="2508753"/>
            <a:ext cx="105277" cy="10757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29861" y="2340935"/>
            <a:ext cx="971550" cy="215900"/>
          </a:xfrm>
          <a:custGeom>
            <a:avLst/>
            <a:gdLst/>
            <a:ahLst/>
            <a:cxnLst/>
            <a:rect l="l" t="t" r="r" b="b"/>
            <a:pathLst>
              <a:path w="971550" h="215900">
                <a:moveTo>
                  <a:pt x="0" y="215443"/>
                </a:moveTo>
                <a:lnTo>
                  <a:pt x="971550" y="215443"/>
                </a:lnTo>
                <a:lnTo>
                  <a:pt x="971550" y="0"/>
                </a:lnTo>
                <a:lnTo>
                  <a:pt x="0" y="0"/>
                </a:lnTo>
                <a:lnTo>
                  <a:pt x="0" y="2154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313304" y="2368801"/>
            <a:ext cx="78422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0" dirty="0">
                <a:solidFill>
                  <a:srgbClr val="FF0000"/>
                </a:solidFill>
                <a:latin typeface="Calibri Light"/>
                <a:cs typeface="Calibri Light"/>
              </a:rPr>
              <a:t>L</a:t>
            </a:r>
            <a:r>
              <a:rPr sz="800" b="0" spc="-9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30" dirty="0">
                <a:solidFill>
                  <a:srgbClr val="FF0000"/>
                </a:solidFill>
                <a:latin typeface="Calibri Light"/>
                <a:cs typeface="Calibri Light"/>
              </a:rPr>
              <a:t>ine</a:t>
            </a:r>
            <a:r>
              <a:rPr sz="800" b="0" spc="-8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15" dirty="0">
                <a:solidFill>
                  <a:srgbClr val="FF0000"/>
                </a:solidFill>
                <a:latin typeface="Calibri Light"/>
                <a:cs typeface="Calibri Light"/>
              </a:rPr>
              <a:t>of</a:t>
            </a:r>
            <a:r>
              <a:rPr sz="800" b="0" spc="-7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-5" dirty="0">
                <a:solidFill>
                  <a:srgbClr val="FF0000"/>
                </a:solidFill>
                <a:latin typeface="Calibri Light"/>
                <a:cs typeface="Calibri Light"/>
              </a:rPr>
              <a:t>Regression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583820" y="1136507"/>
            <a:ext cx="527685" cy="184150"/>
          </a:xfrm>
          <a:custGeom>
            <a:avLst/>
            <a:gdLst/>
            <a:ahLst/>
            <a:cxnLst/>
            <a:rect l="l" t="t" r="r" b="b"/>
            <a:pathLst>
              <a:path w="527684" h="184150">
                <a:moveTo>
                  <a:pt x="479023" y="0"/>
                </a:moveTo>
                <a:lnTo>
                  <a:pt x="477133" y="6096"/>
                </a:lnTo>
                <a:lnTo>
                  <a:pt x="485614" y="10452"/>
                </a:lnTo>
                <a:lnTo>
                  <a:pt x="492972" y="16832"/>
                </a:lnTo>
                <a:lnTo>
                  <a:pt x="511408" y="61116"/>
                </a:lnTo>
                <a:lnTo>
                  <a:pt x="513709" y="92080"/>
                </a:lnTo>
                <a:lnTo>
                  <a:pt x="513136" y="108254"/>
                </a:lnTo>
                <a:lnTo>
                  <a:pt x="504444" y="148468"/>
                </a:lnTo>
                <a:lnTo>
                  <a:pt x="477133" y="177942"/>
                </a:lnTo>
                <a:lnTo>
                  <a:pt x="479023" y="184038"/>
                </a:lnTo>
                <a:lnTo>
                  <a:pt x="514837" y="152400"/>
                </a:lnTo>
                <a:lnTo>
                  <a:pt x="526637" y="108924"/>
                </a:lnTo>
                <a:lnTo>
                  <a:pt x="527425" y="92080"/>
                </a:lnTo>
                <a:lnTo>
                  <a:pt x="526637" y="75177"/>
                </a:lnTo>
                <a:lnTo>
                  <a:pt x="514837" y="31638"/>
                </a:lnTo>
                <a:lnTo>
                  <a:pt x="489986" y="4274"/>
                </a:lnTo>
                <a:lnTo>
                  <a:pt x="479023" y="0"/>
                </a:lnTo>
                <a:close/>
              </a:path>
              <a:path w="527684" h="184150">
                <a:moveTo>
                  <a:pt x="48371" y="0"/>
                </a:moveTo>
                <a:lnTo>
                  <a:pt x="12557" y="31638"/>
                </a:lnTo>
                <a:lnTo>
                  <a:pt x="783" y="75177"/>
                </a:lnTo>
                <a:lnTo>
                  <a:pt x="0" y="92080"/>
                </a:lnTo>
                <a:lnTo>
                  <a:pt x="783" y="108924"/>
                </a:lnTo>
                <a:lnTo>
                  <a:pt x="12557" y="152400"/>
                </a:lnTo>
                <a:lnTo>
                  <a:pt x="48371" y="184038"/>
                </a:lnTo>
                <a:lnTo>
                  <a:pt x="50139" y="177942"/>
                </a:lnTo>
                <a:lnTo>
                  <a:pt x="41723" y="173585"/>
                </a:lnTo>
                <a:lnTo>
                  <a:pt x="34362" y="167205"/>
                </a:lnTo>
                <a:lnTo>
                  <a:pt x="15925" y="123040"/>
                </a:lnTo>
                <a:lnTo>
                  <a:pt x="13563" y="92080"/>
                </a:lnTo>
                <a:lnTo>
                  <a:pt x="14158" y="75916"/>
                </a:lnTo>
                <a:lnTo>
                  <a:pt x="22860" y="35570"/>
                </a:lnTo>
                <a:lnTo>
                  <a:pt x="50139" y="6096"/>
                </a:lnTo>
                <a:lnTo>
                  <a:pt x="48371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409066" y="1136660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4" h="141605">
                <a:moveTo>
                  <a:pt x="420105" y="0"/>
                </a:moveTo>
                <a:lnTo>
                  <a:pt x="418063" y="5699"/>
                </a:lnTo>
                <a:lnTo>
                  <a:pt x="426263" y="9246"/>
                </a:lnTo>
                <a:lnTo>
                  <a:pt x="433299" y="14161"/>
                </a:lnTo>
                <a:lnTo>
                  <a:pt x="451706" y="57801"/>
                </a:lnTo>
                <a:lnTo>
                  <a:pt x="452231" y="69829"/>
                </a:lnTo>
                <a:lnTo>
                  <a:pt x="451706" y="82311"/>
                </a:lnTo>
                <a:lnTo>
                  <a:pt x="439117" y="120597"/>
                </a:lnTo>
                <a:lnTo>
                  <a:pt x="418338" y="135483"/>
                </a:lnTo>
                <a:lnTo>
                  <a:pt x="420105" y="141213"/>
                </a:lnTo>
                <a:lnTo>
                  <a:pt x="453511" y="116586"/>
                </a:lnTo>
                <a:lnTo>
                  <a:pt x="465063" y="70591"/>
                </a:lnTo>
                <a:lnTo>
                  <a:pt x="464347" y="57668"/>
                </a:lnTo>
                <a:lnTo>
                  <a:pt x="447062" y="16056"/>
                </a:lnTo>
                <a:lnTo>
                  <a:pt x="430344" y="3687"/>
                </a:lnTo>
                <a:lnTo>
                  <a:pt x="420105" y="0"/>
                </a:lnTo>
                <a:close/>
              </a:path>
              <a:path w="465454" h="141605">
                <a:moveTo>
                  <a:pt x="45079" y="0"/>
                </a:moveTo>
                <a:lnTo>
                  <a:pt x="11673" y="24749"/>
                </a:lnTo>
                <a:lnTo>
                  <a:pt x="0" y="70591"/>
                </a:lnTo>
                <a:lnTo>
                  <a:pt x="735" y="83603"/>
                </a:lnTo>
                <a:lnTo>
                  <a:pt x="18106" y="125196"/>
                </a:lnTo>
                <a:lnTo>
                  <a:pt x="45079" y="141213"/>
                </a:lnTo>
                <a:lnTo>
                  <a:pt x="46847" y="135483"/>
                </a:lnTo>
                <a:lnTo>
                  <a:pt x="38823" y="131916"/>
                </a:lnTo>
                <a:lnTo>
                  <a:pt x="31897" y="126945"/>
                </a:lnTo>
                <a:lnTo>
                  <a:pt x="13475" y="82311"/>
                </a:lnTo>
                <a:lnTo>
                  <a:pt x="12954" y="69829"/>
                </a:lnTo>
                <a:lnTo>
                  <a:pt x="13475" y="57801"/>
                </a:lnTo>
                <a:lnTo>
                  <a:pt x="26071" y="20431"/>
                </a:lnTo>
                <a:lnTo>
                  <a:pt x="47091" y="5699"/>
                </a:lnTo>
                <a:lnTo>
                  <a:pt x="45079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991100" y="3714750"/>
            <a:ext cx="1000125" cy="51435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986777" y="3481386"/>
            <a:ext cx="27495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30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56150" y="2609530"/>
            <a:ext cx="150241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03860" algn="l"/>
                <a:tab pos="819150" algn="l"/>
                <a:tab pos="1210945" algn="l"/>
              </a:tabLst>
            </a:pPr>
            <a:r>
              <a:rPr sz="4800" spc="44" baseline="-11284" dirty="0">
                <a:solidFill>
                  <a:srgbClr val="3F3F3F"/>
                </a:solidFill>
                <a:latin typeface="Cambria Math"/>
                <a:cs typeface="Cambria Math"/>
              </a:rPr>
              <a:t>𝛴	</a:t>
            </a:r>
            <a:r>
              <a:rPr sz="1650" spc="-15" dirty="0">
                <a:latin typeface="Cambria Math"/>
                <a:cs typeface="Cambria Math"/>
              </a:rPr>
              <a:t>1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9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4800" spc="44" baseline="-14756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r>
              <a:rPr sz="4800" baseline="-14756" dirty="0">
                <a:solidFill>
                  <a:srgbClr val="3F3F3F"/>
                </a:solidFill>
                <a:latin typeface="Cambria Math"/>
                <a:cs typeface="Cambria Math"/>
              </a:rPr>
              <a:t>	</a:t>
            </a:r>
            <a:r>
              <a:rPr sz="2475" spc="-22" baseline="-6734" dirty="0">
                <a:latin typeface="Cambria Math"/>
                <a:cs typeface="Cambria Math"/>
              </a:rPr>
              <a:t>5</a:t>
            </a:r>
            <a:r>
              <a:rPr sz="2475" spc="44" baseline="-6734" dirty="0">
                <a:latin typeface="Cambria Math"/>
                <a:cs typeface="Cambria Math"/>
              </a:rPr>
              <a:t>.</a:t>
            </a:r>
            <a:r>
              <a:rPr sz="2475" baseline="-6734" dirty="0">
                <a:latin typeface="Cambria Math"/>
                <a:cs typeface="Cambria Math"/>
              </a:rPr>
              <a:t>2</a:t>
            </a:r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156126" y="1052542"/>
          <a:ext cx="3913505" cy="1701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2610"/>
                <a:gridCol w="882650"/>
                <a:gridCol w="876300"/>
                <a:gridCol w="797560"/>
                <a:gridCol w="794385"/>
              </a:tblGrid>
              <a:tr h="271723">
                <a:tc>
                  <a:txBody>
                    <a:bodyPr/>
                    <a:lstStyle/>
                    <a:p>
                      <a:pPr marL="173990">
                        <a:lnSpc>
                          <a:spcPts val="1650"/>
                        </a:lnSpc>
                      </a:pPr>
                      <a:r>
                        <a:rPr sz="1650" spc="-4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800" spc="-67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endParaRPr sz="1800" baseline="-13888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45"/>
                        </a:lnSpc>
                      </a:pPr>
                      <a:r>
                        <a:rPr sz="1650" spc="-3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800" spc="-5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r>
                        <a:rPr sz="1800" spc="120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2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845"/>
                        </a:lnSpc>
                      </a:pPr>
                      <a:r>
                        <a:rPr sz="1650" spc="-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650" spc="-18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-15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350" spc="-7" baseline="-1851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 𝑦</a:t>
                      </a:r>
                      <a:r>
                        <a:rPr sz="1200" spc="4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spc="30" baseline="46296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350" baseline="46296">
                        <a:latin typeface="Cambria Math"/>
                        <a:cs typeface="Cambria Math"/>
                      </a:endParaRPr>
                    </a:p>
                  </a:txBody>
                  <a:tcPr marL="0" marR="0" marT="4826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76200">
                      <a:solidFill>
                        <a:srgbClr val="F07F09"/>
                      </a:solidFill>
                      <a:prstDash val="solid"/>
                    </a:lnR>
                    <a:lnT w="53975">
                      <a:solidFill>
                        <a:srgbClr val="F07F09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20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 − 𝑦</a:t>
                      </a:r>
                      <a:r>
                        <a:rPr sz="1200" spc="1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spc="30" baseline="27777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35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29844" marB="0">
                    <a:lnL w="76200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38100">
                      <a:solidFill>
                        <a:srgbClr val="F07F09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R="154305" algn="r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ts val="1975"/>
                        </a:lnSpc>
                        <a:spcBef>
                          <a:spcPts val="2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0.16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762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0.16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76200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R="130810" algn="r">
                        <a:lnSpc>
                          <a:spcPts val="1964"/>
                        </a:lnSpc>
                      </a:pPr>
                      <a:r>
                        <a:rPr sz="1650" spc="-20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ts val="1960"/>
                        </a:lnSpc>
                        <a:spcBef>
                          <a:spcPts val="40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50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0.25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762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1870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0.36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76200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333"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ts val="1920"/>
                        </a:lnSpc>
                        <a:spcBef>
                          <a:spcPts val="1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ts val="1964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0.36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762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0.16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5715" marB="0">
                    <a:lnL w="76200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590"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9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73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-0.7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73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0.49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762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2.56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76200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1629"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5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0.64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762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07F0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1.96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2860" marB="0">
                    <a:lnL w="76200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07F0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0" name="Group 59"/>
          <p:cNvGrpSpPr/>
          <p:nvPr/>
        </p:nvGrpSpPr>
        <p:grpSpPr>
          <a:xfrm>
            <a:off x="5254883" y="3557014"/>
            <a:ext cx="3050932" cy="902382"/>
            <a:chOff x="5254883" y="3557014"/>
            <a:chExt cx="3050932" cy="902382"/>
          </a:xfrm>
        </p:grpSpPr>
        <p:sp>
          <p:nvSpPr>
            <p:cNvPr id="31" name="object 31"/>
            <p:cNvSpPr txBox="1"/>
            <p:nvPr/>
          </p:nvSpPr>
          <p:spPr>
            <a:xfrm>
              <a:off x="5254883" y="3760147"/>
              <a:ext cx="473709" cy="39243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800" spc="40" dirty="0">
                  <a:solidFill>
                    <a:srgbClr val="3F3F3F"/>
                  </a:solidFill>
                  <a:latin typeface="Cambria Math"/>
                  <a:cs typeface="Cambria Math"/>
                </a:rPr>
                <a:t>𝑅</a:t>
              </a:r>
              <a:r>
                <a:rPr sz="2025" spc="60" baseline="28806" dirty="0">
                  <a:solidFill>
                    <a:srgbClr val="3F3F3F"/>
                  </a:solidFill>
                  <a:latin typeface="Cambria Math"/>
                  <a:cs typeface="Cambria Math"/>
                </a:rPr>
                <a:t>2</a:t>
              </a:r>
              <a:r>
                <a:rPr sz="2025" spc="-37" baseline="28806" dirty="0">
                  <a:solidFill>
                    <a:srgbClr val="3F3F3F"/>
                  </a:solidFill>
                  <a:latin typeface="Cambria Math"/>
                  <a:cs typeface="Cambria Math"/>
                </a:rPr>
                <a:t> </a:t>
              </a:r>
              <a:r>
                <a:rPr sz="2400" dirty="0">
                  <a:solidFill>
                    <a:srgbClr val="3F3F3F"/>
                  </a:solidFill>
                  <a:latin typeface="Calibri"/>
                  <a:cs typeface="Calibri"/>
                </a:rPr>
                <a:t>=</a:t>
              </a:r>
              <a:endParaRPr sz="2400">
                <a:latin typeface="Calibri"/>
                <a:cs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6343772" y="4083475"/>
              <a:ext cx="757555" cy="238760"/>
            </a:xfrm>
            <a:custGeom>
              <a:avLst/>
              <a:gdLst/>
              <a:ahLst/>
              <a:cxnLst/>
              <a:rect l="l" t="t" r="r" b="b"/>
              <a:pathLst>
                <a:path w="757554" h="238760">
                  <a:moveTo>
                    <a:pt x="680862" y="0"/>
                  </a:moveTo>
                  <a:lnTo>
                    <a:pt x="677539" y="9656"/>
                  </a:lnTo>
                  <a:lnTo>
                    <a:pt x="691332" y="15643"/>
                  </a:lnTo>
                  <a:lnTo>
                    <a:pt x="703185" y="23926"/>
                  </a:lnTo>
                  <a:lnTo>
                    <a:pt x="727287" y="62326"/>
                  </a:lnTo>
                  <a:lnTo>
                    <a:pt x="735208" y="117893"/>
                  </a:lnTo>
                  <a:lnTo>
                    <a:pt x="734308" y="138911"/>
                  </a:lnTo>
                  <a:lnTo>
                    <a:pt x="720973" y="190368"/>
                  </a:lnTo>
                  <a:lnTo>
                    <a:pt x="691480" y="222519"/>
                  </a:lnTo>
                  <a:lnTo>
                    <a:pt x="677936" y="228526"/>
                  </a:lnTo>
                  <a:lnTo>
                    <a:pt x="680862" y="238207"/>
                  </a:lnTo>
                  <a:lnTo>
                    <a:pt x="726437" y="211160"/>
                  </a:lnTo>
                  <a:lnTo>
                    <a:pt x="751998" y="161239"/>
                  </a:lnTo>
                  <a:lnTo>
                    <a:pt x="756940" y="119155"/>
                  </a:lnTo>
                  <a:lnTo>
                    <a:pt x="755702" y="97320"/>
                  </a:lnTo>
                  <a:lnTo>
                    <a:pt x="745843" y="58614"/>
                  </a:lnTo>
                  <a:lnTo>
                    <a:pt x="713342" y="15257"/>
                  </a:lnTo>
                  <a:lnTo>
                    <a:pt x="698172" y="6225"/>
                  </a:lnTo>
                  <a:lnTo>
                    <a:pt x="680862" y="0"/>
                  </a:lnTo>
                  <a:close/>
                </a:path>
                <a:path w="757554" h="238760">
                  <a:moveTo>
                    <a:pt x="75956" y="0"/>
                  </a:moveTo>
                  <a:lnTo>
                    <a:pt x="30569" y="27097"/>
                  </a:lnTo>
                  <a:lnTo>
                    <a:pt x="4941" y="77139"/>
                  </a:lnTo>
                  <a:lnTo>
                    <a:pt x="0" y="119155"/>
                  </a:lnTo>
                  <a:lnTo>
                    <a:pt x="1235" y="141040"/>
                  </a:lnTo>
                  <a:lnTo>
                    <a:pt x="11045" y="179751"/>
                  </a:lnTo>
                  <a:lnTo>
                    <a:pt x="43475" y="222961"/>
                  </a:lnTo>
                  <a:lnTo>
                    <a:pt x="75956" y="238207"/>
                  </a:lnTo>
                  <a:lnTo>
                    <a:pt x="79004" y="228526"/>
                  </a:lnTo>
                  <a:lnTo>
                    <a:pt x="65457" y="222519"/>
                  </a:lnTo>
                  <a:lnTo>
                    <a:pt x="53751" y="214158"/>
                  </a:lnTo>
                  <a:lnTo>
                    <a:pt x="29653" y="175144"/>
                  </a:lnTo>
                  <a:lnTo>
                    <a:pt x="21732" y="117893"/>
                  </a:lnTo>
                  <a:lnTo>
                    <a:pt x="22612" y="97576"/>
                  </a:lnTo>
                  <a:lnTo>
                    <a:pt x="35814" y="47387"/>
                  </a:lnTo>
                  <a:lnTo>
                    <a:pt x="65663" y="15643"/>
                  </a:lnTo>
                  <a:lnTo>
                    <a:pt x="79369" y="9656"/>
                  </a:lnTo>
                  <a:lnTo>
                    <a:pt x="7595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34262" y="3661159"/>
              <a:ext cx="741045" cy="241935"/>
            </a:xfrm>
            <a:custGeom>
              <a:avLst/>
              <a:gdLst/>
              <a:ahLst/>
              <a:cxnLst/>
              <a:rect l="l" t="t" r="r" b="b"/>
              <a:pathLst>
                <a:path w="741045" h="241935">
                  <a:moveTo>
                    <a:pt x="677021" y="0"/>
                  </a:moveTo>
                  <a:lnTo>
                    <a:pt x="674613" y="8001"/>
                  </a:lnTo>
                  <a:lnTo>
                    <a:pt x="685713" y="13785"/>
                  </a:lnTo>
                  <a:lnTo>
                    <a:pt x="695378" y="22190"/>
                  </a:lnTo>
                  <a:lnTo>
                    <a:pt x="715695" y="62646"/>
                  </a:lnTo>
                  <a:lnTo>
                    <a:pt x="722497" y="120895"/>
                  </a:lnTo>
                  <a:lnTo>
                    <a:pt x="721739" y="142092"/>
                  </a:lnTo>
                  <a:lnTo>
                    <a:pt x="710427" y="194940"/>
                  </a:lnTo>
                  <a:lnTo>
                    <a:pt x="685713" y="227893"/>
                  </a:lnTo>
                  <a:lnTo>
                    <a:pt x="674613" y="233647"/>
                  </a:lnTo>
                  <a:lnTo>
                    <a:pt x="677021" y="241648"/>
                  </a:lnTo>
                  <a:lnTo>
                    <a:pt x="714869" y="215306"/>
                  </a:lnTo>
                  <a:lnTo>
                    <a:pt x="736419" y="163569"/>
                  </a:lnTo>
                  <a:lnTo>
                    <a:pt x="740542" y="120895"/>
                  </a:lnTo>
                  <a:lnTo>
                    <a:pt x="739512" y="98728"/>
                  </a:lnTo>
                  <a:lnTo>
                    <a:pt x="731258" y="59055"/>
                  </a:lnTo>
                  <a:lnTo>
                    <a:pt x="703996" y="14379"/>
                  </a:lnTo>
                  <a:lnTo>
                    <a:pt x="691386" y="5594"/>
                  </a:lnTo>
                  <a:lnTo>
                    <a:pt x="677021" y="0"/>
                  </a:lnTo>
                  <a:close/>
                </a:path>
                <a:path w="741045" h="241935">
                  <a:moveTo>
                    <a:pt x="63489" y="0"/>
                  </a:moveTo>
                  <a:lnTo>
                    <a:pt x="25642" y="26357"/>
                  </a:lnTo>
                  <a:lnTo>
                    <a:pt x="4152" y="78118"/>
                  </a:lnTo>
                  <a:lnTo>
                    <a:pt x="0" y="120895"/>
                  </a:lnTo>
                  <a:lnTo>
                    <a:pt x="1042" y="142994"/>
                  </a:lnTo>
                  <a:lnTo>
                    <a:pt x="9309" y="182619"/>
                  </a:lnTo>
                  <a:lnTo>
                    <a:pt x="36515" y="227276"/>
                  </a:lnTo>
                  <a:lnTo>
                    <a:pt x="63489" y="241648"/>
                  </a:lnTo>
                  <a:lnTo>
                    <a:pt x="65897" y="233647"/>
                  </a:lnTo>
                  <a:lnTo>
                    <a:pt x="54813" y="227893"/>
                  </a:lnTo>
                  <a:lnTo>
                    <a:pt x="45159" y="219523"/>
                  </a:lnTo>
                  <a:lnTo>
                    <a:pt x="24880" y="179101"/>
                  </a:lnTo>
                  <a:lnTo>
                    <a:pt x="18013" y="120895"/>
                  </a:lnTo>
                  <a:lnTo>
                    <a:pt x="18778" y="99687"/>
                  </a:lnTo>
                  <a:lnTo>
                    <a:pt x="30205" y="46863"/>
                  </a:lnTo>
                  <a:lnTo>
                    <a:pt x="54813" y="13785"/>
                  </a:lnTo>
                  <a:lnTo>
                    <a:pt x="65897" y="8001"/>
                  </a:lnTo>
                  <a:lnTo>
                    <a:pt x="6348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6501135" y="3728718"/>
              <a:ext cx="115570" cy="19685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165" dirty="0">
                  <a:solidFill>
                    <a:srgbClr val="3F3F3F"/>
                  </a:solidFill>
                  <a:latin typeface="Cambria Math"/>
                  <a:cs typeface="Cambria Math"/>
                </a:rPr>
                <a:t>𝑝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6405884" y="3633151"/>
              <a:ext cx="614680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  <a:tabLst>
                  <a:tab pos="288925" algn="l"/>
                </a:tabLst>
              </a:pPr>
              <a:r>
                <a:rPr sz="1550" spc="15" dirty="0">
                  <a:solidFill>
                    <a:srgbClr val="3F3F3F"/>
                  </a:solidFill>
                  <a:latin typeface="Cambria Math"/>
                  <a:cs typeface="Cambria Math"/>
                </a:rPr>
                <a:t>𝑦	</a:t>
              </a:r>
              <a:r>
                <a:rPr sz="1550" spc="20" dirty="0">
                  <a:solidFill>
                    <a:srgbClr val="3F3F3F"/>
                  </a:solidFill>
                  <a:latin typeface="Cambria Math"/>
                  <a:cs typeface="Cambria Math"/>
                </a:rPr>
                <a:t>−</a:t>
              </a:r>
              <a:r>
                <a:rPr sz="1550" spc="-25" dirty="0">
                  <a:solidFill>
                    <a:srgbClr val="3F3F3F"/>
                  </a:solidFill>
                  <a:latin typeface="Cambria Math"/>
                  <a:cs typeface="Cambria Math"/>
                </a:rPr>
                <a:t> </a:t>
              </a:r>
              <a:r>
                <a:rPr sz="1550" spc="15" dirty="0">
                  <a:solidFill>
                    <a:srgbClr val="3F3F3F"/>
                  </a:solidFill>
                  <a:latin typeface="Cambria Math"/>
                  <a:cs typeface="Cambria Math"/>
                </a:rPr>
                <a:t>𝑦</a:t>
              </a:r>
              <a:endParaRPr sz="1550" dirty="0">
                <a:latin typeface="Cambria Math"/>
                <a:cs typeface="Cambria Math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7092320" y="3557014"/>
              <a:ext cx="108585" cy="19685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40" dirty="0">
                  <a:solidFill>
                    <a:srgbClr val="3F3F3F"/>
                  </a:solidFill>
                  <a:latin typeface="Cambria Math"/>
                  <a:cs typeface="Cambria Math"/>
                </a:rPr>
                <a:t>2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5803148" y="3962805"/>
              <a:ext cx="1663064" cy="0"/>
            </a:xfrm>
            <a:custGeom>
              <a:avLst/>
              <a:gdLst/>
              <a:ahLst/>
              <a:cxnLst/>
              <a:rect l="l" t="t" r="r" b="b"/>
              <a:pathLst>
                <a:path w="1663065">
                  <a:moveTo>
                    <a:pt x="0" y="0"/>
                  </a:moveTo>
                  <a:lnTo>
                    <a:pt x="1663049" y="0"/>
                  </a:lnTo>
                </a:path>
              </a:pathLst>
            </a:custGeom>
            <a:ln w="38099">
              <a:solidFill>
                <a:srgbClr val="095A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419990" y="3600450"/>
              <a:ext cx="885825" cy="71437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7533010" y="3804280"/>
              <a:ext cx="217804" cy="3346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000" spc="20" dirty="0">
                  <a:solidFill>
                    <a:srgbClr val="3F3F3F"/>
                  </a:solidFill>
                  <a:latin typeface="Cambria Math"/>
                  <a:cs typeface="Cambria Math"/>
                </a:rPr>
                <a:t>=</a:t>
              </a:r>
              <a:endParaRPr sz="2000">
                <a:latin typeface="Cambria Math"/>
                <a:cs typeface="Cambria Math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7790436" y="3613470"/>
              <a:ext cx="368935" cy="3346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000" spc="20" dirty="0">
                  <a:solidFill>
                    <a:srgbClr val="3F3F3F"/>
                  </a:solidFill>
                  <a:latin typeface="Cambria Math"/>
                  <a:cs typeface="Cambria Math"/>
                </a:rPr>
                <a:t>1</a:t>
              </a:r>
              <a:r>
                <a:rPr sz="2000" spc="35" dirty="0">
                  <a:solidFill>
                    <a:srgbClr val="3F3F3F"/>
                  </a:solidFill>
                  <a:latin typeface="Cambria Math"/>
                  <a:cs typeface="Cambria Math"/>
                </a:rPr>
                <a:t>.</a:t>
              </a:r>
              <a:r>
                <a:rPr sz="2000" spc="15" dirty="0">
                  <a:solidFill>
                    <a:srgbClr val="3F3F3F"/>
                  </a:solidFill>
                  <a:latin typeface="Cambria Math"/>
                  <a:cs typeface="Cambria Math"/>
                </a:rPr>
                <a:t>9</a:t>
              </a:r>
              <a:endParaRPr sz="2000">
                <a:latin typeface="Cambria Math"/>
                <a:cs typeface="Cambria Math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5973441" y="3952666"/>
              <a:ext cx="274955" cy="5067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3810"/>
                </a:lnSpc>
              </a:pPr>
              <a:r>
                <a:rPr sz="3200" spc="30" dirty="0">
                  <a:solidFill>
                    <a:srgbClr val="3F3F3F"/>
                  </a:solidFill>
                  <a:latin typeface="Cambria Math"/>
                  <a:cs typeface="Cambria Math"/>
                </a:rPr>
                <a:t>𝛴</a:t>
              </a:r>
              <a:endParaRPr sz="3200">
                <a:latin typeface="Cambria Math"/>
                <a:cs typeface="Cambria Math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7125721" y="3992853"/>
              <a:ext cx="135890" cy="249554"/>
            </a:xfrm>
            <a:prstGeom prst="rect">
              <a:avLst/>
            </a:prstGeom>
          </p:spPr>
          <p:txBody>
            <a:bodyPr vert="horz" wrap="square" lIns="0" tIns="31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5"/>
                </a:spcBef>
              </a:pPr>
              <a:r>
                <a:rPr sz="1500" spc="35" dirty="0">
                  <a:solidFill>
                    <a:srgbClr val="3F3F3F"/>
                  </a:solidFill>
                  <a:latin typeface="Cambria Math"/>
                  <a:cs typeface="Cambria Math"/>
                </a:rPr>
                <a:t>2</a:t>
              </a:r>
              <a:endParaRPr sz="1500">
                <a:latin typeface="Cambria Math"/>
                <a:cs typeface="Cambria Math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7790436" y="3988875"/>
              <a:ext cx="368935" cy="327660"/>
            </a:xfrm>
            <a:prstGeom prst="rect">
              <a:avLst/>
            </a:prstGeom>
          </p:spPr>
          <p:txBody>
            <a:bodyPr vert="horz" wrap="square" lIns="0" tIns="31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5"/>
                </a:spcBef>
              </a:pPr>
              <a:r>
                <a:rPr sz="2000" spc="20" dirty="0">
                  <a:solidFill>
                    <a:srgbClr val="3F3F3F"/>
                  </a:solidFill>
                  <a:latin typeface="Cambria Math"/>
                  <a:cs typeface="Cambria Math"/>
                </a:rPr>
                <a:t>5</a:t>
              </a:r>
              <a:r>
                <a:rPr sz="2000" spc="35" dirty="0">
                  <a:solidFill>
                    <a:srgbClr val="3F3F3F"/>
                  </a:solidFill>
                  <a:latin typeface="Cambria Math"/>
                  <a:cs typeface="Cambria Math"/>
                </a:rPr>
                <a:t>.</a:t>
              </a:r>
              <a:r>
                <a:rPr sz="2000" spc="15" dirty="0">
                  <a:solidFill>
                    <a:srgbClr val="3F3F3F"/>
                  </a:solidFill>
                  <a:latin typeface="Cambria Math"/>
                  <a:cs typeface="Cambria Math"/>
                </a:rPr>
                <a:t>2</a:t>
              </a:r>
              <a:endParaRPr sz="2000">
                <a:latin typeface="Cambria Math"/>
                <a:cs typeface="Cambria Math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6419855" y="4024769"/>
              <a:ext cx="618490" cy="327660"/>
            </a:xfrm>
            <a:prstGeom prst="rect">
              <a:avLst/>
            </a:prstGeom>
          </p:spPr>
          <p:txBody>
            <a:bodyPr vert="horz" wrap="square" lIns="0" tIns="31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5"/>
                </a:spcBef>
              </a:pPr>
              <a:r>
                <a:rPr sz="2000" spc="15" dirty="0">
                  <a:solidFill>
                    <a:srgbClr val="3F3F3F"/>
                  </a:solidFill>
                  <a:latin typeface="Cambria Math"/>
                  <a:cs typeface="Cambria Math"/>
                </a:rPr>
                <a:t>𝑦 </a:t>
              </a:r>
              <a:r>
                <a:rPr sz="2000" spc="20" dirty="0">
                  <a:solidFill>
                    <a:srgbClr val="3F3F3F"/>
                  </a:solidFill>
                  <a:latin typeface="Cambria Math"/>
                  <a:cs typeface="Cambria Math"/>
                </a:rPr>
                <a:t>−</a:t>
              </a:r>
              <a:r>
                <a:rPr sz="2000" spc="-105" dirty="0">
                  <a:solidFill>
                    <a:srgbClr val="3F3F3F"/>
                  </a:solidFill>
                  <a:latin typeface="Cambria Math"/>
                  <a:cs typeface="Cambria Math"/>
                </a:rPr>
                <a:t> </a:t>
              </a:r>
              <a:r>
                <a:rPr sz="2000" spc="15" dirty="0">
                  <a:solidFill>
                    <a:srgbClr val="3F3F3F"/>
                  </a:solidFill>
                  <a:latin typeface="Cambria Math"/>
                  <a:cs typeface="Cambria Math"/>
                </a:rPr>
                <a:t>𝑦</a:t>
              </a:r>
              <a:endParaRPr sz="2000">
                <a:latin typeface="Cambria Math"/>
                <a:cs typeface="Cambria Math"/>
              </a:endParaRPr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61645" y="416162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380868" y="4671135"/>
            <a:ext cx="120014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625978" y="4670587"/>
            <a:ext cx="5740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38184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3007739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572893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164075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86177" y="482075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392695" y="4833444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663" y="229485"/>
            <a:ext cx="35363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5" dirty="0"/>
              <a:t>Goodness </a:t>
            </a:r>
            <a:r>
              <a:rPr spc="25" dirty="0"/>
              <a:t>of </a:t>
            </a:r>
            <a:r>
              <a:rPr spc="10" dirty="0"/>
              <a:t>Fit </a:t>
            </a:r>
            <a:r>
              <a:rPr spc="15" dirty="0"/>
              <a:t>–</a:t>
            </a:r>
            <a:r>
              <a:rPr spc="-75" dirty="0"/>
              <a:t> </a:t>
            </a:r>
            <a:r>
              <a:rPr b="0" spc="25" dirty="0">
                <a:latin typeface="Cambria Math"/>
                <a:cs typeface="Cambria Math"/>
              </a:rPr>
              <a:t>𝑹</a:t>
            </a:r>
            <a:r>
              <a:rPr sz="3000" b="0" spc="37" baseline="29166" dirty="0">
                <a:latin typeface="Cambria Math"/>
                <a:cs typeface="Cambria Math"/>
              </a:rPr>
              <a:t>𝟐</a:t>
            </a:r>
            <a:endParaRPr sz="3000" baseline="29166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3527" y="1233297"/>
            <a:ext cx="2382673" cy="35832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35555" y="1249186"/>
            <a:ext cx="1200150" cy="35661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6855" y="1530632"/>
            <a:ext cx="971550" cy="339090"/>
          </a:xfrm>
          <a:custGeom>
            <a:avLst/>
            <a:gdLst/>
            <a:ahLst/>
            <a:cxnLst/>
            <a:rect l="l" t="t" r="r" b="b"/>
            <a:pathLst>
              <a:path w="971550" h="339089">
                <a:moveTo>
                  <a:pt x="0" y="338553"/>
                </a:moveTo>
                <a:lnTo>
                  <a:pt x="971550" y="338553"/>
                </a:lnTo>
                <a:lnTo>
                  <a:pt x="971550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6619" y="1556953"/>
            <a:ext cx="50736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5" dirty="0">
                <a:solidFill>
                  <a:srgbClr val="6B9E24"/>
                </a:solidFill>
                <a:latin typeface="Calibri Light"/>
                <a:cs typeface="Calibri Light"/>
              </a:rPr>
              <a:t>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6B9E24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200" y="1389059"/>
            <a:ext cx="114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6B9E24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4951" y="1227185"/>
            <a:ext cx="0" cy="3588385"/>
          </a:xfrm>
          <a:custGeom>
            <a:avLst/>
            <a:gdLst/>
            <a:ahLst/>
            <a:cxnLst/>
            <a:rect l="l" t="t" r="r" b="b"/>
            <a:pathLst>
              <a:path h="3588385">
                <a:moveTo>
                  <a:pt x="0" y="0"/>
                </a:moveTo>
                <a:lnTo>
                  <a:pt x="0" y="358815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4951" y="4811005"/>
            <a:ext cx="3580765" cy="4445"/>
          </a:xfrm>
          <a:custGeom>
            <a:avLst/>
            <a:gdLst/>
            <a:ahLst/>
            <a:cxnLst/>
            <a:rect l="l" t="t" r="r" b="b"/>
            <a:pathLst>
              <a:path w="3580765" h="4445">
                <a:moveTo>
                  <a:pt x="3580762" y="4334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1645" y="3564888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1645" y="2952172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4502" y="2381565"/>
            <a:ext cx="1047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6729" y="1999989"/>
            <a:ext cx="104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solidFill>
                  <a:srgbClr val="6B9E24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79289" y="3579245"/>
            <a:ext cx="105287" cy="107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95553" y="2400050"/>
            <a:ext cx="105311" cy="107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83461" y="2988563"/>
            <a:ext cx="105287" cy="1076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92680" y="2388357"/>
            <a:ext cx="105287" cy="1075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73779" y="2024999"/>
            <a:ext cx="105277" cy="10770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73083" y="2495930"/>
            <a:ext cx="3562985" cy="365125"/>
          </a:xfrm>
          <a:custGeom>
            <a:avLst/>
            <a:gdLst/>
            <a:ahLst/>
            <a:cxnLst/>
            <a:rect l="l" t="t" r="r" b="b"/>
            <a:pathLst>
              <a:path w="3562985" h="365125">
                <a:moveTo>
                  <a:pt x="0" y="364748"/>
                </a:moveTo>
                <a:lnTo>
                  <a:pt x="3562630" y="0"/>
                </a:lnTo>
              </a:path>
            </a:pathLst>
          </a:custGeom>
          <a:ln w="2857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90481" y="2749545"/>
            <a:ext cx="105299" cy="1077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83461" y="2690871"/>
            <a:ext cx="105287" cy="10757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88358" y="2620267"/>
            <a:ext cx="105287" cy="10769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82980" y="2562474"/>
            <a:ext cx="105284" cy="1077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68202" y="2508753"/>
            <a:ext cx="105277" cy="10757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29861" y="2340935"/>
            <a:ext cx="971550" cy="215900"/>
          </a:xfrm>
          <a:custGeom>
            <a:avLst/>
            <a:gdLst/>
            <a:ahLst/>
            <a:cxnLst/>
            <a:rect l="l" t="t" r="r" b="b"/>
            <a:pathLst>
              <a:path w="971550" h="215900">
                <a:moveTo>
                  <a:pt x="0" y="215443"/>
                </a:moveTo>
                <a:lnTo>
                  <a:pt x="971550" y="215443"/>
                </a:lnTo>
                <a:lnTo>
                  <a:pt x="971550" y="0"/>
                </a:lnTo>
                <a:lnTo>
                  <a:pt x="0" y="0"/>
                </a:lnTo>
                <a:lnTo>
                  <a:pt x="0" y="2154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313304" y="2368801"/>
            <a:ext cx="78422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0" spc="10" dirty="0">
                <a:solidFill>
                  <a:srgbClr val="FF0000"/>
                </a:solidFill>
                <a:latin typeface="Calibri Light"/>
                <a:cs typeface="Calibri Light"/>
              </a:rPr>
              <a:t>L</a:t>
            </a:r>
            <a:r>
              <a:rPr sz="800" b="0" spc="-95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30" dirty="0">
                <a:solidFill>
                  <a:srgbClr val="FF0000"/>
                </a:solidFill>
                <a:latin typeface="Calibri Light"/>
                <a:cs typeface="Calibri Light"/>
              </a:rPr>
              <a:t>ine</a:t>
            </a:r>
            <a:r>
              <a:rPr sz="800" b="0" spc="-8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15" dirty="0">
                <a:solidFill>
                  <a:srgbClr val="FF0000"/>
                </a:solidFill>
                <a:latin typeface="Calibri Light"/>
                <a:cs typeface="Calibri Light"/>
              </a:rPr>
              <a:t>of</a:t>
            </a:r>
            <a:r>
              <a:rPr sz="800" b="0" spc="-7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800" b="0" spc="-5" dirty="0">
                <a:solidFill>
                  <a:srgbClr val="FF0000"/>
                </a:solidFill>
                <a:latin typeface="Calibri Light"/>
                <a:cs typeface="Calibri Light"/>
              </a:rPr>
              <a:t>Regression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583820" y="1136507"/>
            <a:ext cx="527685" cy="184150"/>
          </a:xfrm>
          <a:custGeom>
            <a:avLst/>
            <a:gdLst/>
            <a:ahLst/>
            <a:cxnLst/>
            <a:rect l="l" t="t" r="r" b="b"/>
            <a:pathLst>
              <a:path w="527684" h="184150">
                <a:moveTo>
                  <a:pt x="479023" y="0"/>
                </a:moveTo>
                <a:lnTo>
                  <a:pt x="477133" y="6096"/>
                </a:lnTo>
                <a:lnTo>
                  <a:pt x="485614" y="10452"/>
                </a:lnTo>
                <a:lnTo>
                  <a:pt x="492972" y="16832"/>
                </a:lnTo>
                <a:lnTo>
                  <a:pt x="511408" y="61116"/>
                </a:lnTo>
                <a:lnTo>
                  <a:pt x="513709" y="92080"/>
                </a:lnTo>
                <a:lnTo>
                  <a:pt x="513136" y="108254"/>
                </a:lnTo>
                <a:lnTo>
                  <a:pt x="504444" y="148468"/>
                </a:lnTo>
                <a:lnTo>
                  <a:pt x="477133" y="177942"/>
                </a:lnTo>
                <a:lnTo>
                  <a:pt x="479023" y="184038"/>
                </a:lnTo>
                <a:lnTo>
                  <a:pt x="514837" y="152400"/>
                </a:lnTo>
                <a:lnTo>
                  <a:pt x="526637" y="108924"/>
                </a:lnTo>
                <a:lnTo>
                  <a:pt x="527425" y="92080"/>
                </a:lnTo>
                <a:lnTo>
                  <a:pt x="526637" y="75177"/>
                </a:lnTo>
                <a:lnTo>
                  <a:pt x="514837" y="31638"/>
                </a:lnTo>
                <a:lnTo>
                  <a:pt x="489986" y="4274"/>
                </a:lnTo>
                <a:lnTo>
                  <a:pt x="479023" y="0"/>
                </a:lnTo>
                <a:close/>
              </a:path>
              <a:path w="527684" h="184150">
                <a:moveTo>
                  <a:pt x="48371" y="0"/>
                </a:moveTo>
                <a:lnTo>
                  <a:pt x="12557" y="31638"/>
                </a:lnTo>
                <a:lnTo>
                  <a:pt x="783" y="75177"/>
                </a:lnTo>
                <a:lnTo>
                  <a:pt x="0" y="92080"/>
                </a:lnTo>
                <a:lnTo>
                  <a:pt x="783" y="108924"/>
                </a:lnTo>
                <a:lnTo>
                  <a:pt x="12557" y="152400"/>
                </a:lnTo>
                <a:lnTo>
                  <a:pt x="48371" y="184038"/>
                </a:lnTo>
                <a:lnTo>
                  <a:pt x="50139" y="177942"/>
                </a:lnTo>
                <a:lnTo>
                  <a:pt x="41723" y="173585"/>
                </a:lnTo>
                <a:lnTo>
                  <a:pt x="34362" y="167205"/>
                </a:lnTo>
                <a:lnTo>
                  <a:pt x="15925" y="123040"/>
                </a:lnTo>
                <a:lnTo>
                  <a:pt x="13563" y="92080"/>
                </a:lnTo>
                <a:lnTo>
                  <a:pt x="14158" y="75916"/>
                </a:lnTo>
                <a:lnTo>
                  <a:pt x="22860" y="35570"/>
                </a:lnTo>
                <a:lnTo>
                  <a:pt x="50139" y="6096"/>
                </a:lnTo>
                <a:lnTo>
                  <a:pt x="48371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409066" y="1136660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4" h="141605">
                <a:moveTo>
                  <a:pt x="420105" y="0"/>
                </a:moveTo>
                <a:lnTo>
                  <a:pt x="418063" y="5699"/>
                </a:lnTo>
                <a:lnTo>
                  <a:pt x="426263" y="9246"/>
                </a:lnTo>
                <a:lnTo>
                  <a:pt x="433299" y="14161"/>
                </a:lnTo>
                <a:lnTo>
                  <a:pt x="451706" y="57801"/>
                </a:lnTo>
                <a:lnTo>
                  <a:pt x="452231" y="69829"/>
                </a:lnTo>
                <a:lnTo>
                  <a:pt x="451706" y="82311"/>
                </a:lnTo>
                <a:lnTo>
                  <a:pt x="439117" y="120597"/>
                </a:lnTo>
                <a:lnTo>
                  <a:pt x="418338" y="135483"/>
                </a:lnTo>
                <a:lnTo>
                  <a:pt x="420105" y="141213"/>
                </a:lnTo>
                <a:lnTo>
                  <a:pt x="453511" y="116586"/>
                </a:lnTo>
                <a:lnTo>
                  <a:pt x="465063" y="70591"/>
                </a:lnTo>
                <a:lnTo>
                  <a:pt x="464347" y="57668"/>
                </a:lnTo>
                <a:lnTo>
                  <a:pt x="447062" y="16056"/>
                </a:lnTo>
                <a:lnTo>
                  <a:pt x="430344" y="3687"/>
                </a:lnTo>
                <a:lnTo>
                  <a:pt x="420105" y="0"/>
                </a:lnTo>
                <a:close/>
              </a:path>
              <a:path w="465454" h="141605">
                <a:moveTo>
                  <a:pt x="45079" y="0"/>
                </a:moveTo>
                <a:lnTo>
                  <a:pt x="11673" y="24749"/>
                </a:lnTo>
                <a:lnTo>
                  <a:pt x="0" y="70591"/>
                </a:lnTo>
                <a:lnTo>
                  <a:pt x="735" y="83603"/>
                </a:lnTo>
                <a:lnTo>
                  <a:pt x="18106" y="125196"/>
                </a:lnTo>
                <a:lnTo>
                  <a:pt x="45079" y="141213"/>
                </a:lnTo>
                <a:lnTo>
                  <a:pt x="46847" y="135483"/>
                </a:lnTo>
                <a:lnTo>
                  <a:pt x="38823" y="131916"/>
                </a:lnTo>
                <a:lnTo>
                  <a:pt x="31897" y="126945"/>
                </a:lnTo>
                <a:lnTo>
                  <a:pt x="13475" y="82311"/>
                </a:lnTo>
                <a:lnTo>
                  <a:pt x="12954" y="69829"/>
                </a:lnTo>
                <a:lnTo>
                  <a:pt x="13475" y="57801"/>
                </a:lnTo>
                <a:lnTo>
                  <a:pt x="26071" y="20431"/>
                </a:lnTo>
                <a:lnTo>
                  <a:pt x="47091" y="5699"/>
                </a:lnTo>
                <a:lnTo>
                  <a:pt x="45079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991100" y="3714750"/>
            <a:ext cx="1000125" cy="51435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407664" y="3807780"/>
            <a:ext cx="12509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35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54883" y="3760147"/>
            <a:ext cx="473709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7975" algn="l"/>
              </a:tabLst>
            </a:pPr>
            <a:r>
              <a:rPr sz="1800" dirty="0">
                <a:solidFill>
                  <a:srgbClr val="3F3F3F"/>
                </a:solidFill>
                <a:latin typeface="Cambria Math"/>
                <a:cs typeface="Cambria Math"/>
              </a:rPr>
              <a:t>𝑅	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343772" y="4083475"/>
            <a:ext cx="757555" cy="238760"/>
          </a:xfrm>
          <a:custGeom>
            <a:avLst/>
            <a:gdLst/>
            <a:ahLst/>
            <a:cxnLst/>
            <a:rect l="l" t="t" r="r" b="b"/>
            <a:pathLst>
              <a:path w="757554" h="238760">
                <a:moveTo>
                  <a:pt x="680862" y="0"/>
                </a:moveTo>
                <a:lnTo>
                  <a:pt x="677539" y="9656"/>
                </a:lnTo>
                <a:lnTo>
                  <a:pt x="691332" y="15643"/>
                </a:lnTo>
                <a:lnTo>
                  <a:pt x="703185" y="23926"/>
                </a:lnTo>
                <a:lnTo>
                  <a:pt x="727287" y="62326"/>
                </a:lnTo>
                <a:lnTo>
                  <a:pt x="735208" y="117893"/>
                </a:lnTo>
                <a:lnTo>
                  <a:pt x="734308" y="138911"/>
                </a:lnTo>
                <a:lnTo>
                  <a:pt x="720973" y="190368"/>
                </a:lnTo>
                <a:lnTo>
                  <a:pt x="691480" y="222519"/>
                </a:lnTo>
                <a:lnTo>
                  <a:pt x="677936" y="228526"/>
                </a:lnTo>
                <a:lnTo>
                  <a:pt x="680862" y="238207"/>
                </a:lnTo>
                <a:lnTo>
                  <a:pt x="726437" y="211160"/>
                </a:lnTo>
                <a:lnTo>
                  <a:pt x="751998" y="161239"/>
                </a:lnTo>
                <a:lnTo>
                  <a:pt x="756940" y="119155"/>
                </a:lnTo>
                <a:lnTo>
                  <a:pt x="755702" y="97320"/>
                </a:lnTo>
                <a:lnTo>
                  <a:pt x="745843" y="58614"/>
                </a:lnTo>
                <a:lnTo>
                  <a:pt x="713342" y="15257"/>
                </a:lnTo>
                <a:lnTo>
                  <a:pt x="698172" y="6225"/>
                </a:lnTo>
                <a:lnTo>
                  <a:pt x="680862" y="0"/>
                </a:lnTo>
                <a:close/>
              </a:path>
              <a:path w="757554" h="238760">
                <a:moveTo>
                  <a:pt x="75956" y="0"/>
                </a:moveTo>
                <a:lnTo>
                  <a:pt x="30569" y="27097"/>
                </a:lnTo>
                <a:lnTo>
                  <a:pt x="4941" y="77139"/>
                </a:lnTo>
                <a:lnTo>
                  <a:pt x="0" y="119155"/>
                </a:lnTo>
                <a:lnTo>
                  <a:pt x="1235" y="141040"/>
                </a:lnTo>
                <a:lnTo>
                  <a:pt x="11045" y="179751"/>
                </a:lnTo>
                <a:lnTo>
                  <a:pt x="43475" y="222961"/>
                </a:lnTo>
                <a:lnTo>
                  <a:pt x="75956" y="238207"/>
                </a:lnTo>
                <a:lnTo>
                  <a:pt x="79004" y="228526"/>
                </a:lnTo>
                <a:lnTo>
                  <a:pt x="65457" y="222519"/>
                </a:lnTo>
                <a:lnTo>
                  <a:pt x="53751" y="214158"/>
                </a:lnTo>
                <a:lnTo>
                  <a:pt x="29653" y="175144"/>
                </a:lnTo>
                <a:lnTo>
                  <a:pt x="21732" y="117893"/>
                </a:lnTo>
                <a:lnTo>
                  <a:pt x="22612" y="97576"/>
                </a:lnTo>
                <a:lnTo>
                  <a:pt x="35814" y="47387"/>
                </a:lnTo>
                <a:lnTo>
                  <a:pt x="65663" y="15643"/>
                </a:lnTo>
                <a:lnTo>
                  <a:pt x="79369" y="9656"/>
                </a:lnTo>
                <a:lnTo>
                  <a:pt x="75956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334262" y="3661159"/>
            <a:ext cx="741045" cy="241935"/>
          </a:xfrm>
          <a:custGeom>
            <a:avLst/>
            <a:gdLst/>
            <a:ahLst/>
            <a:cxnLst/>
            <a:rect l="l" t="t" r="r" b="b"/>
            <a:pathLst>
              <a:path w="741045" h="241935">
                <a:moveTo>
                  <a:pt x="677021" y="0"/>
                </a:moveTo>
                <a:lnTo>
                  <a:pt x="674613" y="8001"/>
                </a:lnTo>
                <a:lnTo>
                  <a:pt x="685713" y="13785"/>
                </a:lnTo>
                <a:lnTo>
                  <a:pt x="695378" y="22190"/>
                </a:lnTo>
                <a:lnTo>
                  <a:pt x="715695" y="62646"/>
                </a:lnTo>
                <a:lnTo>
                  <a:pt x="722497" y="120895"/>
                </a:lnTo>
                <a:lnTo>
                  <a:pt x="721739" y="142092"/>
                </a:lnTo>
                <a:lnTo>
                  <a:pt x="710427" y="194940"/>
                </a:lnTo>
                <a:lnTo>
                  <a:pt x="685713" y="227893"/>
                </a:lnTo>
                <a:lnTo>
                  <a:pt x="674613" y="233647"/>
                </a:lnTo>
                <a:lnTo>
                  <a:pt x="677021" y="241648"/>
                </a:lnTo>
                <a:lnTo>
                  <a:pt x="714869" y="215306"/>
                </a:lnTo>
                <a:lnTo>
                  <a:pt x="736419" y="163569"/>
                </a:lnTo>
                <a:lnTo>
                  <a:pt x="740542" y="120895"/>
                </a:lnTo>
                <a:lnTo>
                  <a:pt x="739512" y="98728"/>
                </a:lnTo>
                <a:lnTo>
                  <a:pt x="731258" y="59055"/>
                </a:lnTo>
                <a:lnTo>
                  <a:pt x="703996" y="14379"/>
                </a:lnTo>
                <a:lnTo>
                  <a:pt x="691386" y="5594"/>
                </a:lnTo>
                <a:lnTo>
                  <a:pt x="677021" y="0"/>
                </a:lnTo>
                <a:close/>
              </a:path>
              <a:path w="741045" h="241935">
                <a:moveTo>
                  <a:pt x="63489" y="0"/>
                </a:moveTo>
                <a:lnTo>
                  <a:pt x="25642" y="26357"/>
                </a:lnTo>
                <a:lnTo>
                  <a:pt x="4152" y="78118"/>
                </a:lnTo>
                <a:lnTo>
                  <a:pt x="0" y="120895"/>
                </a:lnTo>
                <a:lnTo>
                  <a:pt x="1042" y="142994"/>
                </a:lnTo>
                <a:lnTo>
                  <a:pt x="9309" y="182619"/>
                </a:lnTo>
                <a:lnTo>
                  <a:pt x="36515" y="227276"/>
                </a:lnTo>
                <a:lnTo>
                  <a:pt x="63489" y="241648"/>
                </a:lnTo>
                <a:lnTo>
                  <a:pt x="65897" y="233647"/>
                </a:lnTo>
                <a:lnTo>
                  <a:pt x="54813" y="227893"/>
                </a:lnTo>
                <a:lnTo>
                  <a:pt x="45159" y="219523"/>
                </a:lnTo>
                <a:lnTo>
                  <a:pt x="24880" y="179101"/>
                </a:lnTo>
                <a:lnTo>
                  <a:pt x="18013" y="120895"/>
                </a:lnTo>
                <a:lnTo>
                  <a:pt x="18778" y="99687"/>
                </a:lnTo>
                <a:lnTo>
                  <a:pt x="30205" y="46863"/>
                </a:lnTo>
                <a:lnTo>
                  <a:pt x="54813" y="13785"/>
                </a:lnTo>
                <a:lnTo>
                  <a:pt x="65897" y="8001"/>
                </a:lnTo>
                <a:lnTo>
                  <a:pt x="63489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501135" y="3728718"/>
            <a:ext cx="97790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64565" algn="l"/>
              </a:tabLst>
            </a:pPr>
            <a:r>
              <a:rPr sz="1100" u="heavy" spc="90" dirty="0">
                <a:solidFill>
                  <a:srgbClr val="3F3F3F"/>
                </a:solidFill>
                <a:uFill>
                  <a:solidFill>
                    <a:srgbClr val="095A81"/>
                  </a:solidFill>
                </a:uFill>
                <a:latin typeface="Cambria Math"/>
                <a:cs typeface="Cambria Math"/>
              </a:rPr>
              <a:t>𝑝	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05884" y="3633151"/>
            <a:ext cx="6146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88925" algn="l"/>
              </a:tabLst>
            </a:pPr>
            <a:r>
              <a:rPr sz="1550" spc="15" dirty="0">
                <a:solidFill>
                  <a:srgbClr val="3F3F3F"/>
                </a:solidFill>
                <a:latin typeface="Cambria Math"/>
                <a:cs typeface="Cambria Math"/>
              </a:rPr>
              <a:t>𝑦	</a:t>
            </a:r>
            <a:r>
              <a:rPr sz="1550" spc="20" dirty="0">
                <a:solidFill>
                  <a:srgbClr val="3F3F3F"/>
                </a:solidFill>
                <a:latin typeface="Cambria Math"/>
                <a:cs typeface="Cambria Math"/>
              </a:rPr>
              <a:t>−</a:t>
            </a:r>
            <a:r>
              <a:rPr sz="1550" spc="-2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1550" spc="15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92320" y="3557014"/>
            <a:ext cx="10858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40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90448" y="3481386"/>
            <a:ext cx="73660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23265" algn="l"/>
              </a:tabLst>
            </a:pPr>
            <a:r>
              <a:rPr sz="3200" u="heavy" spc="5" dirty="0">
                <a:solidFill>
                  <a:srgbClr val="3F3F3F"/>
                </a:solidFill>
                <a:uFill>
                  <a:solidFill>
                    <a:srgbClr val="095A81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heavy" spc="-65" dirty="0">
                <a:solidFill>
                  <a:srgbClr val="3F3F3F"/>
                </a:solidFill>
                <a:uFill>
                  <a:solidFill>
                    <a:srgbClr val="095A81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heavy" spc="15" dirty="0">
                <a:solidFill>
                  <a:srgbClr val="3F3F3F"/>
                </a:solidFill>
                <a:uFill>
                  <a:solidFill>
                    <a:srgbClr val="095A81"/>
                  </a:solidFill>
                </a:uFill>
                <a:latin typeface="Cambria Math"/>
                <a:cs typeface="Cambria Math"/>
              </a:rPr>
              <a:t>𝛴	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56150" y="2609530"/>
            <a:ext cx="150241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03860" algn="l"/>
                <a:tab pos="819150" algn="l"/>
                <a:tab pos="1210945" algn="l"/>
              </a:tabLst>
            </a:pPr>
            <a:r>
              <a:rPr sz="4800" spc="44" baseline="-11284" dirty="0">
                <a:solidFill>
                  <a:srgbClr val="3F3F3F"/>
                </a:solidFill>
                <a:latin typeface="Cambria Math"/>
                <a:cs typeface="Cambria Math"/>
              </a:rPr>
              <a:t>𝛴	</a:t>
            </a:r>
            <a:r>
              <a:rPr sz="1650" spc="-15" dirty="0">
                <a:latin typeface="Cambria Math"/>
                <a:cs typeface="Cambria Math"/>
              </a:rPr>
              <a:t>1</a:t>
            </a:r>
            <a:r>
              <a:rPr sz="1650" spc="30" dirty="0">
                <a:latin typeface="Cambria Math"/>
                <a:cs typeface="Cambria Math"/>
              </a:rPr>
              <a:t>.</a:t>
            </a:r>
            <a:r>
              <a:rPr sz="1650" dirty="0">
                <a:latin typeface="Cambria Math"/>
                <a:cs typeface="Cambria Math"/>
              </a:rPr>
              <a:t>9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4800" spc="44" baseline="-14756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r>
              <a:rPr sz="4800" baseline="-14756" dirty="0">
                <a:solidFill>
                  <a:srgbClr val="3F3F3F"/>
                </a:solidFill>
                <a:latin typeface="Cambria Math"/>
                <a:cs typeface="Cambria Math"/>
              </a:rPr>
              <a:t>	</a:t>
            </a:r>
            <a:r>
              <a:rPr sz="2475" spc="-22" baseline="-6734" dirty="0">
                <a:latin typeface="Cambria Math"/>
                <a:cs typeface="Cambria Math"/>
              </a:rPr>
              <a:t>5</a:t>
            </a:r>
            <a:r>
              <a:rPr sz="2475" spc="44" baseline="-6734" dirty="0">
                <a:latin typeface="Cambria Math"/>
                <a:cs typeface="Cambria Math"/>
              </a:rPr>
              <a:t>.</a:t>
            </a:r>
            <a:r>
              <a:rPr sz="2475" baseline="-6734" dirty="0">
                <a:latin typeface="Cambria Math"/>
                <a:cs typeface="Cambria Math"/>
              </a:rPr>
              <a:t>2</a:t>
            </a:r>
            <a:endParaRPr sz="2475" baseline="-6734">
              <a:latin typeface="Cambria Math"/>
              <a:cs typeface="Cambria Math"/>
            </a:endParaRPr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156126" y="1052542"/>
          <a:ext cx="3913505" cy="1701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2610"/>
                <a:gridCol w="882650"/>
                <a:gridCol w="876300"/>
                <a:gridCol w="797560"/>
                <a:gridCol w="794385"/>
              </a:tblGrid>
              <a:tr h="271723">
                <a:tc>
                  <a:txBody>
                    <a:bodyPr/>
                    <a:lstStyle/>
                    <a:p>
                      <a:pPr marL="173990">
                        <a:lnSpc>
                          <a:spcPts val="1650"/>
                        </a:lnSpc>
                      </a:pPr>
                      <a:r>
                        <a:rPr sz="1650" spc="-4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800" spc="-67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endParaRPr sz="1800" baseline="-13888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845"/>
                        </a:lnSpc>
                      </a:pPr>
                      <a:r>
                        <a:rPr sz="1650" spc="-3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800" spc="-5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</a:t>
                      </a:r>
                      <a:r>
                        <a:rPr sz="1800" spc="120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22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1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845"/>
                        </a:lnSpc>
                      </a:pPr>
                      <a:r>
                        <a:rPr sz="1650" spc="-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(𝑦</a:t>
                      </a:r>
                      <a:r>
                        <a:rPr sz="1650" spc="-18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-15" baseline="-1388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50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350" spc="-7" baseline="-18518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𝑝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− 𝑦</a:t>
                      </a:r>
                      <a:r>
                        <a:rPr sz="1200" spc="4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spc="30" baseline="46296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350" baseline="46296">
                        <a:latin typeface="Cambria Math"/>
                        <a:cs typeface="Cambria Math"/>
                      </a:endParaRPr>
                    </a:p>
                  </a:txBody>
                  <a:tcPr marL="0" marR="0" marT="4826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76200">
                      <a:solidFill>
                        <a:srgbClr val="F07F09"/>
                      </a:solidFill>
                      <a:prstDash val="solid"/>
                    </a:lnR>
                    <a:lnT w="53975">
                      <a:solidFill>
                        <a:srgbClr val="F07F09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200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𝑦 − 𝑦</a:t>
                      </a:r>
                      <a:r>
                        <a:rPr sz="1200" spc="15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350" spc="30" baseline="27777" dirty="0">
                          <a:solidFill>
                            <a:srgbClr val="00AF50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35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29844" marB="0">
                    <a:lnL w="76200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38100">
                      <a:solidFill>
                        <a:srgbClr val="F07F09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R="154305" algn="r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2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ts val="1975"/>
                        </a:lnSpc>
                        <a:spcBef>
                          <a:spcPts val="2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1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0.16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762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0.16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76200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699">
                <a:tc>
                  <a:txBody>
                    <a:bodyPr/>
                    <a:lstStyle/>
                    <a:p>
                      <a:pPr marR="130810" algn="r">
                        <a:lnSpc>
                          <a:spcPts val="1964"/>
                        </a:lnSpc>
                      </a:pPr>
                      <a:r>
                        <a:rPr sz="1650" spc="-20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1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ts val="1960"/>
                        </a:lnSpc>
                        <a:spcBef>
                          <a:spcPts val="40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50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1914"/>
                        </a:lnSpc>
                        <a:spcBef>
                          <a:spcPts val="8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0.25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762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1870"/>
                        </a:lnSpc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0.36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76200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333"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0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ts val="1920"/>
                        </a:lnSpc>
                        <a:spcBef>
                          <a:spcPts val="15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0.4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905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ts val="1964"/>
                        </a:lnSpc>
                        <a:spcBef>
                          <a:spcPts val="10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0.36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270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762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0.16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5715" marB="0">
                    <a:lnL w="76200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590"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0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9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73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-0.7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73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-1.6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0.49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14604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762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2.56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76200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1629"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50" spc="-15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650" spc="35" dirty="0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650" dirty="0">
                          <a:latin typeface="Cambria Math"/>
                          <a:cs typeface="Cambria Math"/>
                        </a:rPr>
                        <a:t>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50" spc="-5" dirty="0">
                          <a:latin typeface="Cambria Math"/>
                          <a:cs typeface="Cambria Math"/>
                        </a:rPr>
                        <a:t>-0.8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650" spc="5" dirty="0">
                          <a:latin typeface="Cambria Math"/>
                          <a:cs typeface="Cambria Math"/>
                        </a:rPr>
                        <a:t>1.4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413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0.64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30480" marB="0">
                    <a:lnL w="53975">
                      <a:solidFill>
                        <a:srgbClr val="F07F09"/>
                      </a:solidFill>
                      <a:prstDash val="solid"/>
                    </a:lnL>
                    <a:lnR w="76200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07F0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50" dirty="0">
                          <a:latin typeface="Cambria Math"/>
                          <a:cs typeface="Cambria Math"/>
                        </a:rPr>
                        <a:t>1.96</a:t>
                      </a:r>
                      <a:endParaRPr sz="1650">
                        <a:latin typeface="Cambria Math"/>
                        <a:cs typeface="Cambria Math"/>
                      </a:endParaRPr>
                    </a:p>
                  </a:txBody>
                  <a:tcPr marL="0" marR="0" marT="22860" marB="0">
                    <a:lnL w="76200">
                      <a:solidFill>
                        <a:srgbClr val="F07F09"/>
                      </a:solidFill>
                      <a:prstDash val="solid"/>
                    </a:lnL>
                    <a:lnR w="53975">
                      <a:solidFill>
                        <a:srgbClr val="F07F09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07F0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1" name="object 41"/>
          <p:cNvSpPr/>
          <p:nvPr/>
        </p:nvSpPr>
        <p:spPr>
          <a:xfrm>
            <a:off x="7496190" y="3743325"/>
            <a:ext cx="885825" cy="44767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536185" y="3790948"/>
            <a:ext cx="76962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20" dirty="0">
                <a:solidFill>
                  <a:srgbClr val="3F3F3F"/>
                </a:solidFill>
                <a:latin typeface="Cambria Math"/>
                <a:cs typeface="Cambria Math"/>
              </a:rPr>
              <a:t>=</a:t>
            </a:r>
            <a:r>
              <a:rPr sz="2000" spc="-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Cambria Math"/>
                <a:cs typeface="Cambria Math"/>
              </a:rPr>
              <a:t>0.36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5973441" y="3952666"/>
            <a:ext cx="274955" cy="506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810"/>
              </a:lnSpc>
            </a:pPr>
            <a:r>
              <a:rPr sz="3200" spc="30" dirty="0">
                <a:solidFill>
                  <a:srgbClr val="3F3F3F"/>
                </a:solidFill>
                <a:latin typeface="Cambria Math"/>
                <a:cs typeface="Cambria Math"/>
              </a:rPr>
              <a:t>𝛴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125721" y="3992853"/>
            <a:ext cx="135890" cy="249554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spc="35" dirty="0">
                <a:solidFill>
                  <a:srgbClr val="3F3F3F"/>
                </a:solidFill>
                <a:latin typeface="Cambria Math"/>
                <a:cs typeface="Cambria Math"/>
              </a:rPr>
              <a:t>2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419855" y="4024769"/>
            <a:ext cx="618490" cy="32766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spc="15" dirty="0">
                <a:solidFill>
                  <a:srgbClr val="3F3F3F"/>
                </a:solidFill>
                <a:latin typeface="Cambria Math"/>
                <a:cs typeface="Cambria Math"/>
              </a:rPr>
              <a:t>𝑦 </a:t>
            </a:r>
            <a:r>
              <a:rPr sz="2000" spc="20" dirty="0">
                <a:solidFill>
                  <a:srgbClr val="3F3F3F"/>
                </a:solidFill>
                <a:latin typeface="Cambria Math"/>
                <a:cs typeface="Cambria Math"/>
              </a:rPr>
              <a:t>−</a:t>
            </a:r>
            <a:r>
              <a:rPr sz="2000" spc="-105" dirty="0">
                <a:solidFill>
                  <a:srgbClr val="3F3F3F"/>
                </a:solidFill>
                <a:latin typeface="Cambria Math"/>
                <a:cs typeface="Cambria Math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Cambria Math"/>
                <a:cs typeface="Cambria Math"/>
              </a:rPr>
              <a:t>𝑦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61645" y="416162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6B9E24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80868" y="4671135"/>
            <a:ext cx="120014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5"/>
              </a:lnSpc>
            </a:pPr>
            <a:r>
              <a:rPr sz="1350" b="1" dirty="0">
                <a:solidFill>
                  <a:srgbClr val="F07F09"/>
                </a:solidFill>
                <a:latin typeface="Calibri"/>
                <a:cs typeface="Calibri"/>
              </a:rPr>
              <a:t>X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625978" y="4670587"/>
            <a:ext cx="5740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 b="0" spc="10" dirty="0">
                <a:solidFill>
                  <a:srgbClr val="F07F09"/>
                </a:solidFill>
                <a:latin typeface="Calibri Light"/>
                <a:cs typeface="Calibri Light"/>
              </a:rPr>
              <a:t>Independent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b="0" spc="25" dirty="0">
                <a:solidFill>
                  <a:srgbClr val="F07F09"/>
                </a:solidFill>
                <a:latin typeface="Calibri Light"/>
                <a:cs typeface="Calibri Light"/>
              </a:rPr>
              <a:t>Variable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38184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3007739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572893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164075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186177" y="482075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392695" y="4833444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663" y="229485"/>
            <a:ext cx="35363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5" dirty="0"/>
              <a:t>Goodness </a:t>
            </a:r>
            <a:r>
              <a:rPr spc="25" dirty="0"/>
              <a:t>of </a:t>
            </a:r>
            <a:r>
              <a:rPr spc="10" dirty="0"/>
              <a:t>Fit </a:t>
            </a:r>
            <a:r>
              <a:rPr spc="15" dirty="0"/>
              <a:t>–</a:t>
            </a:r>
            <a:r>
              <a:rPr spc="-75" dirty="0"/>
              <a:t> </a:t>
            </a:r>
            <a:r>
              <a:rPr b="0" spc="25" dirty="0">
                <a:latin typeface="Cambria Math"/>
                <a:cs typeface="Cambria Math"/>
              </a:rPr>
              <a:t>𝑹</a:t>
            </a:r>
            <a:r>
              <a:rPr sz="3000" b="0" spc="37" baseline="29166" dirty="0">
                <a:latin typeface="Cambria Math"/>
                <a:cs typeface="Cambria Math"/>
              </a:rPr>
              <a:t>𝟐</a:t>
            </a:r>
            <a:endParaRPr sz="3000" baseline="29166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81709" y="2257425"/>
            <a:ext cx="723900" cy="504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687699" y="2303777"/>
            <a:ext cx="106680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50" dirty="0">
                <a:latin typeface="Cambria Math"/>
                <a:cs typeface="Cambria Math"/>
              </a:rPr>
              <a:t>𝑅</a:t>
            </a:r>
            <a:r>
              <a:rPr sz="2325" spc="75" baseline="30465" dirty="0">
                <a:latin typeface="Cambria Math"/>
                <a:cs typeface="Cambria Math"/>
              </a:rPr>
              <a:t>2 </a:t>
            </a:r>
            <a:r>
              <a:rPr sz="2150" spc="20" dirty="0">
                <a:latin typeface="Cambria Math"/>
                <a:cs typeface="Cambria Math"/>
              </a:rPr>
              <a:t>≈</a:t>
            </a:r>
            <a:r>
              <a:rPr sz="2150" spc="-114" dirty="0">
                <a:latin typeface="Cambria Math"/>
                <a:cs typeface="Cambria Math"/>
              </a:rPr>
              <a:t> </a:t>
            </a:r>
            <a:r>
              <a:rPr sz="3600" spc="-15" baseline="1157" dirty="0">
                <a:solidFill>
                  <a:srgbClr val="3F3F3F"/>
                </a:solidFill>
                <a:latin typeface="Calibri"/>
                <a:cs typeface="Calibri"/>
              </a:rPr>
              <a:t>0.6</a:t>
            </a:r>
            <a:endParaRPr sz="3600" baseline="1157" dirty="0">
              <a:latin typeface="Calibri"/>
              <a:cs typeface="Calibri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461645" y="1227185"/>
            <a:ext cx="4739766" cy="3698037"/>
            <a:chOff x="461645" y="1227185"/>
            <a:chExt cx="4739766" cy="3698037"/>
          </a:xfrm>
        </p:grpSpPr>
        <p:sp>
          <p:nvSpPr>
            <p:cNvPr id="4" name="object 4"/>
            <p:cNvSpPr/>
            <p:nvPr/>
          </p:nvSpPr>
          <p:spPr>
            <a:xfrm>
              <a:off x="653527" y="1233297"/>
              <a:ext cx="2382673" cy="358324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35555" y="1249186"/>
              <a:ext cx="1200150" cy="356615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6855" y="1530632"/>
              <a:ext cx="971550" cy="339090"/>
            </a:xfrm>
            <a:custGeom>
              <a:avLst/>
              <a:gdLst/>
              <a:ahLst/>
              <a:cxnLst/>
              <a:rect l="l" t="t" r="r" b="b"/>
              <a:pathLst>
                <a:path w="971550" h="339089">
                  <a:moveTo>
                    <a:pt x="0" y="338553"/>
                  </a:moveTo>
                  <a:lnTo>
                    <a:pt x="971550" y="338553"/>
                  </a:lnTo>
                  <a:lnTo>
                    <a:pt x="971550" y="0"/>
                  </a:lnTo>
                  <a:lnTo>
                    <a:pt x="0" y="0"/>
                  </a:lnTo>
                  <a:lnTo>
                    <a:pt x="0" y="3385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916619" y="1556953"/>
              <a:ext cx="507365" cy="27559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800" b="0" spc="15" dirty="0">
                  <a:solidFill>
                    <a:srgbClr val="6B9E24"/>
                  </a:solidFill>
                  <a:latin typeface="Calibri Light"/>
                  <a:cs typeface="Calibri Light"/>
                </a:rPr>
                <a:t>Dependent</a:t>
              </a:r>
              <a:endParaRPr sz="800">
                <a:latin typeface="Calibri Light"/>
                <a:cs typeface="Calibri Light"/>
              </a:endParaRPr>
            </a:p>
            <a:p>
              <a:pPr marL="12700">
                <a:lnSpc>
                  <a:spcPct val="100000"/>
                </a:lnSpc>
                <a:spcBef>
                  <a:spcPts val="15"/>
                </a:spcBef>
              </a:pPr>
              <a:r>
                <a:rPr sz="800" b="0" spc="25" dirty="0">
                  <a:solidFill>
                    <a:srgbClr val="6B9E24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711200" y="138905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54951" y="1227185"/>
              <a:ext cx="0" cy="3588385"/>
            </a:xfrm>
            <a:custGeom>
              <a:avLst/>
              <a:gdLst/>
              <a:ahLst/>
              <a:cxnLst/>
              <a:rect l="l" t="t" r="r" b="b"/>
              <a:pathLst>
                <a:path h="3588385">
                  <a:moveTo>
                    <a:pt x="0" y="0"/>
                  </a:moveTo>
                  <a:lnTo>
                    <a:pt x="0" y="3588154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4951" y="4811005"/>
              <a:ext cx="3580765" cy="4445"/>
            </a:xfrm>
            <a:custGeom>
              <a:avLst/>
              <a:gdLst/>
              <a:ahLst/>
              <a:cxnLst/>
              <a:rect l="l" t="t" r="r" b="b"/>
              <a:pathLst>
                <a:path w="3580765" h="4445">
                  <a:moveTo>
                    <a:pt x="3580762" y="4334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61645" y="3564888"/>
              <a:ext cx="104775" cy="19685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10" dirty="0">
                  <a:solidFill>
                    <a:srgbClr val="6B9E24"/>
                  </a:solidFill>
                  <a:latin typeface="Cambria Math"/>
                  <a:cs typeface="Cambria Math"/>
                </a:rPr>
                <a:t>2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461645" y="2952172"/>
              <a:ext cx="104775" cy="19748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15" dirty="0">
                  <a:solidFill>
                    <a:srgbClr val="6B9E24"/>
                  </a:solidFill>
                  <a:latin typeface="Cambria Math"/>
                  <a:cs typeface="Cambria Math"/>
                </a:rPr>
                <a:t>3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464502" y="2381565"/>
              <a:ext cx="104775" cy="19748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15" dirty="0">
                  <a:solidFill>
                    <a:srgbClr val="6B9E24"/>
                  </a:solidFill>
                  <a:latin typeface="Cambria Math"/>
                  <a:cs typeface="Cambria Math"/>
                </a:rPr>
                <a:t>4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466729" y="1999989"/>
              <a:ext cx="104775" cy="19685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10" dirty="0">
                  <a:solidFill>
                    <a:srgbClr val="6B9E24"/>
                  </a:solidFill>
                  <a:latin typeface="Cambria Math"/>
                  <a:cs typeface="Cambria Math"/>
                </a:rPr>
                <a:t>5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979289" y="2998850"/>
              <a:ext cx="105287" cy="1076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95553" y="2400050"/>
              <a:ext cx="105311" cy="10756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83461" y="2988563"/>
              <a:ext cx="105287" cy="10769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92680" y="2388357"/>
              <a:ext cx="105287" cy="10757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73779" y="2024999"/>
              <a:ext cx="105277" cy="10770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3083" y="2495930"/>
              <a:ext cx="3562985" cy="365125"/>
            </a:xfrm>
            <a:custGeom>
              <a:avLst/>
              <a:gdLst/>
              <a:ahLst/>
              <a:cxnLst/>
              <a:rect l="l" t="t" r="r" b="b"/>
              <a:pathLst>
                <a:path w="3562985" h="365125">
                  <a:moveTo>
                    <a:pt x="0" y="364748"/>
                  </a:moveTo>
                  <a:lnTo>
                    <a:pt x="3562630" y="0"/>
                  </a:lnTo>
                </a:path>
              </a:pathLst>
            </a:custGeom>
            <a:ln w="2857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90481" y="2749545"/>
              <a:ext cx="105299" cy="10770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83461" y="2690871"/>
              <a:ext cx="105287" cy="10757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88358" y="2620267"/>
              <a:ext cx="105287" cy="10769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82980" y="2562474"/>
              <a:ext cx="105284" cy="10770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68202" y="2508753"/>
              <a:ext cx="105277" cy="107573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29861" y="2340935"/>
              <a:ext cx="971550" cy="215900"/>
            </a:xfrm>
            <a:custGeom>
              <a:avLst/>
              <a:gdLst/>
              <a:ahLst/>
              <a:cxnLst/>
              <a:rect l="l" t="t" r="r" b="b"/>
              <a:pathLst>
                <a:path w="971550" h="215900">
                  <a:moveTo>
                    <a:pt x="0" y="215443"/>
                  </a:moveTo>
                  <a:lnTo>
                    <a:pt x="971550" y="215443"/>
                  </a:lnTo>
                  <a:lnTo>
                    <a:pt x="971550" y="0"/>
                  </a:lnTo>
                  <a:lnTo>
                    <a:pt x="0" y="0"/>
                  </a:lnTo>
                  <a:lnTo>
                    <a:pt x="0" y="2154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4313304" y="2368801"/>
              <a:ext cx="784225" cy="15113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800" b="0" spc="10" dirty="0">
                  <a:solidFill>
                    <a:srgbClr val="FF0000"/>
                  </a:solidFill>
                  <a:latin typeface="Calibri Light"/>
                  <a:cs typeface="Calibri Light"/>
                </a:rPr>
                <a:t>L</a:t>
              </a:r>
              <a:r>
                <a:rPr sz="800" b="0" spc="-95" dirty="0">
                  <a:solidFill>
                    <a:srgbClr val="FF0000"/>
                  </a:solidFill>
                  <a:latin typeface="Calibri Light"/>
                  <a:cs typeface="Calibri Light"/>
                </a:rPr>
                <a:t> </a:t>
              </a:r>
              <a:r>
                <a:rPr sz="800" b="0" spc="30" dirty="0">
                  <a:solidFill>
                    <a:srgbClr val="FF0000"/>
                  </a:solidFill>
                  <a:latin typeface="Calibri Light"/>
                  <a:cs typeface="Calibri Light"/>
                </a:rPr>
                <a:t>ine</a:t>
              </a:r>
              <a:r>
                <a:rPr sz="800" b="0" spc="-80" dirty="0">
                  <a:solidFill>
                    <a:srgbClr val="FF0000"/>
                  </a:solidFill>
                  <a:latin typeface="Calibri Light"/>
                  <a:cs typeface="Calibri Light"/>
                </a:rPr>
                <a:t> </a:t>
              </a:r>
              <a:r>
                <a:rPr sz="800" b="0" spc="15" dirty="0">
                  <a:solidFill>
                    <a:srgbClr val="FF0000"/>
                  </a:solidFill>
                  <a:latin typeface="Calibri Light"/>
                  <a:cs typeface="Calibri Light"/>
                </a:rPr>
                <a:t>of</a:t>
              </a:r>
              <a:r>
                <a:rPr sz="800" b="0" spc="-70" dirty="0">
                  <a:solidFill>
                    <a:srgbClr val="FF0000"/>
                  </a:solidFill>
                  <a:latin typeface="Calibri Light"/>
                  <a:cs typeface="Calibri Light"/>
                </a:rPr>
                <a:t> </a:t>
              </a:r>
              <a:r>
                <a:rPr sz="800" b="0" spc="-5" dirty="0">
                  <a:solidFill>
                    <a:srgbClr val="FF0000"/>
                  </a:solidFill>
                  <a:latin typeface="Calibri Light"/>
                  <a:cs typeface="Calibri Light"/>
                </a:rPr>
                <a:t>Regression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2648206" y="1276664"/>
              <a:ext cx="1557655" cy="20891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200" b="0" spc="20" dirty="0">
                  <a:solidFill>
                    <a:srgbClr val="00AFF0"/>
                  </a:solidFill>
                  <a:latin typeface="Calibri Light"/>
                  <a:cs typeface="Calibri Light"/>
                </a:rPr>
                <a:t>Actual </a:t>
              </a:r>
              <a:r>
                <a:rPr sz="1200" b="0" spc="-5" dirty="0">
                  <a:solidFill>
                    <a:srgbClr val="00AFF0"/>
                  </a:solidFill>
                  <a:latin typeface="Calibri Light"/>
                  <a:cs typeface="Calibri Light"/>
                </a:rPr>
                <a:t>vs </a:t>
              </a:r>
              <a:r>
                <a:rPr sz="1200" b="0" spc="-15" dirty="0">
                  <a:solidFill>
                    <a:srgbClr val="00AFF0"/>
                  </a:solidFill>
                  <a:latin typeface="Calibri Light"/>
                  <a:cs typeface="Calibri Light"/>
                </a:rPr>
                <a:t>Predicted</a:t>
              </a:r>
              <a:r>
                <a:rPr sz="1200" b="0" spc="-125" dirty="0">
                  <a:solidFill>
                    <a:srgbClr val="00AFF0"/>
                  </a:solidFill>
                  <a:latin typeface="Calibri Light"/>
                  <a:cs typeface="Calibri Light"/>
                </a:rPr>
                <a:t> </a:t>
              </a:r>
              <a:r>
                <a:rPr sz="1200" b="0" spc="-25" dirty="0">
                  <a:solidFill>
                    <a:srgbClr val="00AFF0"/>
                  </a:solidFill>
                  <a:latin typeface="Calibri Light"/>
                  <a:cs typeface="Calibri Light"/>
                </a:rPr>
                <a:t>Value</a:t>
              </a:r>
              <a:endParaRPr sz="1200">
                <a:latin typeface="Calibri Light"/>
                <a:cs typeface="Calibri Light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461645" y="4161622"/>
              <a:ext cx="104775" cy="193675"/>
            </a:xfrm>
            <a:prstGeom prst="rect">
              <a:avLst/>
            </a:prstGeom>
          </p:spPr>
          <p:txBody>
            <a:bodyPr vert="horz" wrap="square" lIns="0" tIns="889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70"/>
                </a:spcBef>
              </a:pPr>
              <a:r>
                <a:rPr sz="1100" spc="15" dirty="0">
                  <a:solidFill>
                    <a:srgbClr val="6B9E24"/>
                  </a:solidFill>
                  <a:latin typeface="Cambria Math"/>
                  <a:cs typeface="Cambria Math"/>
                </a:rPr>
                <a:t>1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4380868" y="4671135"/>
              <a:ext cx="120014" cy="1974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1385"/>
                </a:lnSpc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4625978" y="4670587"/>
              <a:ext cx="574040" cy="2546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880"/>
                </a:lnSpc>
              </a:pPr>
              <a:r>
                <a:rPr sz="800" b="0" spc="10" dirty="0">
                  <a:solidFill>
                    <a:srgbClr val="F07F09"/>
                  </a:solidFill>
                  <a:latin typeface="Calibri Light"/>
                  <a:cs typeface="Calibri Light"/>
                </a:rPr>
                <a:t>Independent</a:t>
              </a:r>
              <a:endParaRPr sz="800">
                <a:latin typeface="Calibri Light"/>
                <a:cs typeface="Calibri Light"/>
              </a:endParaRPr>
            </a:p>
            <a:p>
              <a:pPr marL="12700">
                <a:lnSpc>
                  <a:spcPct val="100000"/>
                </a:lnSpc>
                <a:spcBef>
                  <a:spcPts val="15"/>
                </a:spcBef>
              </a:pPr>
              <a:r>
                <a:rPr sz="800" b="0" spc="25" dirty="0">
                  <a:solidFill>
                    <a:srgbClr val="F07F09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38184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007739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72893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64075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86177" y="482075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92695" y="4833444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663" y="229485"/>
            <a:ext cx="35363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5" dirty="0"/>
              <a:t>Goodness </a:t>
            </a:r>
            <a:r>
              <a:rPr spc="25" dirty="0"/>
              <a:t>of </a:t>
            </a:r>
            <a:r>
              <a:rPr spc="10" dirty="0"/>
              <a:t>Fit </a:t>
            </a:r>
            <a:r>
              <a:rPr spc="15" dirty="0"/>
              <a:t>–</a:t>
            </a:r>
            <a:r>
              <a:rPr spc="-75" dirty="0"/>
              <a:t> </a:t>
            </a:r>
            <a:r>
              <a:rPr b="0" spc="25" dirty="0">
                <a:latin typeface="Cambria Math"/>
                <a:cs typeface="Cambria Math"/>
              </a:rPr>
              <a:t>𝑹</a:t>
            </a:r>
            <a:r>
              <a:rPr sz="3000" b="0" spc="37" baseline="29166" dirty="0">
                <a:latin typeface="Cambria Math"/>
                <a:cs typeface="Cambria Math"/>
              </a:rPr>
              <a:t>𝟐</a:t>
            </a:r>
            <a:endParaRPr sz="3000" baseline="29166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Group 42"/>
          <p:cNvGrpSpPr/>
          <p:nvPr/>
        </p:nvGrpSpPr>
        <p:grpSpPr>
          <a:xfrm>
            <a:off x="461645" y="1227185"/>
            <a:ext cx="6396355" cy="3698037"/>
            <a:chOff x="461645" y="1227185"/>
            <a:chExt cx="6396355" cy="3698037"/>
          </a:xfrm>
        </p:grpSpPr>
        <p:sp>
          <p:nvSpPr>
            <p:cNvPr id="4" name="object 4"/>
            <p:cNvSpPr/>
            <p:nvPr/>
          </p:nvSpPr>
          <p:spPr>
            <a:xfrm>
              <a:off x="653527" y="1233297"/>
              <a:ext cx="2382673" cy="35832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35555" y="1249186"/>
              <a:ext cx="1200150" cy="356615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6855" y="1530632"/>
              <a:ext cx="971550" cy="339090"/>
            </a:xfrm>
            <a:custGeom>
              <a:avLst/>
              <a:gdLst/>
              <a:ahLst/>
              <a:cxnLst/>
              <a:rect l="l" t="t" r="r" b="b"/>
              <a:pathLst>
                <a:path w="971550" h="339089">
                  <a:moveTo>
                    <a:pt x="0" y="338553"/>
                  </a:moveTo>
                  <a:lnTo>
                    <a:pt x="971550" y="338553"/>
                  </a:lnTo>
                  <a:lnTo>
                    <a:pt x="971550" y="0"/>
                  </a:lnTo>
                  <a:lnTo>
                    <a:pt x="0" y="0"/>
                  </a:lnTo>
                  <a:lnTo>
                    <a:pt x="0" y="3385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916619" y="1556953"/>
              <a:ext cx="507365" cy="27559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800" b="0" spc="15" dirty="0">
                  <a:solidFill>
                    <a:srgbClr val="6B9E24"/>
                  </a:solidFill>
                  <a:latin typeface="Calibri Light"/>
                  <a:cs typeface="Calibri Light"/>
                </a:rPr>
                <a:t>Dependent</a:t>
              </a:r>
              <a:endParaRPr sz="800">
                <a:latin typeface="Calibri Light"/>
                <a:cs typeface="Calibri Light"/>
              </a:endParaRPr>
            </a:p>
            <a:p>
              <a:pPr marL="12700">
                <a:lnSpc>
                  <a:spcPct val="100000"/>
                </a:lnSpc>
                <a:spcBef>
                  <a:spcPts val="15"/>
                </a:spcBef>
              </a:pPr>
              <a:r>
                <a:rPr sz="800" b="0" spc="25" dirty="0">
                  <a:solidFill>
                    <a:srgbClr val="6B9E24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711200" y="1389059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54951" y="1227185"/>
              <a:ext cx="0" cy="3588385"/>
            </a:xfrm>
            <a:custGeom>
              <a:avLst/>
              <a:gdLst/>
              <a:ahLst/>
              <a:cxnLst/>
              <a:rect l="l" t="t" r="r" b="b"/>
              <a:pathLst>
                <a:path h="3588385">
                  <a:moveTo>
                    <a:pt x="0" y="0"/>
                  </a:moveTo>
                  <a:lnTo>
                    <a:pt x="0" y="3588154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4951" y="4811005"/>
              <a:ext cx="3580765" cy="4445"/>
            </a:xfrm>
            <a:custGeom>
              <a:avLst/>
              <a:gdLst/>
              <a:ahLst/>
              <a:cxnLst/>
              <a:rect l="l" t="t" r="r" b="b"/>
              <a:pathLst>
                <a:path w="3580765" h="4445">
                  <a:moveTo>
                    <a:pt x="3580762" y="4334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61645" y="3564888"/>
              <a:ext cx="104775" cy="19685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10" dirty="0">
                  <a:solidFill>
                    <a:srgbClr val="6B9E24"/>
                  </a:solidFill>
                  <a:latin typeface="Cambria Math"/>
                  <a:cs typeface="Cambria Math"/>
                </a:rPr>
                <a:t>2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461645" y="2952172"/>
              <a:ext cx="104775" cy="19748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15" dirty="0">
                  <a:solidFill>
                    <a:srgbClr val="6B9E24"/>
                  </a:solidFill>
                  <a:latin typeface="Cambria Math"/>
                  <a:cs typeface="Cambria Math"/>
                </a:rPr>
                <a:t>3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464502" y="2381565"/>
              <a:ext cx="104775" cy="19748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15" dirty="0">
                  <a:solidFill>
                    <a:srgbClr val="6B9E24"/>
                  </a:solidFill>
                  <a:latin typeface="Cambria Math"/>
                  <a:cs typeface="Cambria Math"/>
                </a:rPr>
                <a:t>4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466729" y="1999989"/>
              <a:ext cx="104775" cy="19685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10" dirty="0">
                  <a:solidFill>
                    <a:srgbClr val="6B9E24"/>
                  </a:solidFill>
                  <a:latin typeface="Cambria Math"/>
                  <a:cs typeface="Cambria Math"/>
                </a:rPr>
                <a:t>5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979289" y="2651129"/>
              <a:ext cx="105287" cy="10769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95553" y="2606039"/>
              <a:ext cx="105311" cy="1076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83461" y="2872608"/>
              <a:ext cx="105287" cy="10770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92680" y="2555747"/>
              <a:ext cx="105287" cy="10769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73779" y="2398525"/>
              <a:ext cx="105277" cy="10756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3083" y="2495930"/>
              <a:ext cx="3562985" cy="365125"/>
            </a:xfrm>
            <a:custGeom>
              <a:avLst/>
              <a:gdLst/>
              <a:ahLst/>
              <a:cxnLst/>
              <a:rect l="l" t="t" r="r" b="b"/>
              <a:pathLst>
                <a:path w="3562985" h="365125">
                  <a:moveTo>
                    <a:pt x="0" y="364748"/>
                  </a:moveTo>
                  <a:lnTo>
                    <a:pt x="3562630" y="0"/>
                  </a:lnTo>
                </a:path>
              </a:pathLst>
            </a:custGeom>
            <a:ln w="2857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90481" y="2749545"/>
              <a:ext cx="105299" cy="10770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83461" y="2690871"/>
              <a:ext cx="105287" cy="10757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88358" y="2620267"/>
              <a:ext cx="105287" cy="1076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82980" y="2562474"/>
              <a:ext cx="105284" cy="10770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68202" y="2508753"/>
              <a:ext cx="105277" cy="107573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29861" y="2340935"/>
              <a:ext cx="971550" cy="215900"/>
            </a:xfrm>
            <a:custGeom>
              <a:avLst/>
              <a:gdLst/>
              <a:ahLst/>
              <a:cxnLst/>
              <a:rect l="l" t="t" r="r" b="b"/>
              <a:pathLst>
                <a:path w="971550" h="215900">
                  <a:moveTo>
                    <a:pt x="0" y="215443"/>
                  </a:moveTo>
                  <a:lnTo>
                    <a:pt x="971550" y="215443"/>
                  </a:lnTo>
                  <a:lnTo>
                    <a:pt x="971550" y="0"/>
                  </a:lnTo>
                  <a:lnTo>
                    <a:pt x="0" y="0"/>
                  </a:lnTo>
                  <a:lnTo>
                    <a:pt x="0" y="2154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4313304" y="2368801"/>
              <a:ext cx="784225" cy="15113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800" b="0" spc="10" dirty="0">
                  <a:solidFill>
                    <a:srgbClr val="FF0000"/>
                  </a:solidFill>
                  <a:latin typeface="Calibri Light"/>
                  <a:cs typeface="Calibri Light"/>
                </a:rPr>
                <a:t>L</a:t>
              </a:r>
              <a:r>
                <a:rPr sz="800" b="0" spc="-95" dirty="0">
                  <a:solidFill>
                    <a:srgbClr val="FF0000"/>
                  </a:solidFill>
                  <a:latin typeface="Calibri Light"/>
                  <a:cs typeface="Calibri Light"/>
                </a:rPr>
                <a:t> </a:t>
              </a:r>
              <a:r>
                <a:rPr sz="800" b="0" spc="30" dirty="0">
                  <a:solidFill>
                    <a:srgbClr val="FF0000"/>
                  </a:solidFill>
                  <a:latin typeface="Calibri Light"/>
                  <a:cs typeface="Calibri Light"/>
                </a:rPr>
                <a:t>ine</a:t>
              </a:r>
              <a:r>
                <a:rPr sz="800" b="0" spc="-80" dirty="0">
                  <a:solidFill>
                    <a:srgbClr val="FF0000"/>
                  </a:solidFill>
                  <a:latin typeface="Calibri Light"/>
                  <a:cs typeface="Calibri Light"/>
                </a:rPr>
                <a:t> </a:t>
              </a:r>
              <a:r>
                <a:rPr sz="800" b="0" spc="15" dirty="0">
                  <a:solidFill>
                    <a:srgbClr val="FF0000"/>
                  </a:solidFill>
                  <a:latin typeface="Calibri Light"/>
                  <a:cs typeface="Calibri Light"/>
                </a:rPr>
                <a:t>of</a:t>
              </a:r>
              <a:r>
                <a:rPr sz="800" b="0" spc="-70" dirty="0">
                  <a:solidFill>
                    <a:srgbClr val="FF0000"/>
                  </a:solidFill>
                  <a:latin typeface="Calibri Light"/>
                  <a:cs typeface="Calibri Light"/>
                </a:rPr>
                <a:t> </a:t>
              </a:r>
              <a:r>
                <a:rPr sz="800" b="0" spc="-5" dirty="0">
                  <a:solidFill>
                    <a:srgbClr val="FF0000"/>
                  </a:solidFill>
                  <a:latin typeface="Calibri Light"/>
                  <a:cs typeface="Calibri Light"/>
                </a:rPr>
                <a:t>Regression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6134100" y="2181225"/>
              <a:ext cx="723900" cy="50482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5644519" y="2227958"/>
              <a:ext cx="1066800" cy="39243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150" spc="50" dirty="0">
                  <a:latin typeface="Cambria Math"/>
                  <a:cs typeface="Cambria Math"/>
                </a:rPr>
                <a:t>𝑅</a:t>
              </a:r>
              <a:r>
                <a:rPr sz="2325" spc="75" baseline="30465" dirty="0">
                  <a:latin typeface="Cambria Math"/>
                  <a:cs typeface="Cambria Math"/>
                </a:rPr>
                <a:t>2 </a:t>
              </a:r>
              <a:r>
                <a:rPr sz="2150" spc="20" dirty="0">
                  <a:latin typeface="Cambria Math"/>
                  <a:cs typeface="Cambria Math"/>
                </a:rPr>
                <a:t>≈</a:t>
              </a:r>
              <a:r>
                <a:rPr sz="2150" spc="-114" dirty="0">
                  <a:latin typeface="Cambria Math"/>
                  <a:cs typeface="Cambria Math"/>
                </a:rPr>
                <a:t> </a:t>
              </a:r>
              <a:r>
                <a:rPr sz="3600" spc="-15" baseline="1157" dirty="0">
                  <a:solidFill>
                    <a:srgbClr val="3F3F3F"/>
                  </a:solidFill>
                  <a:latin typeface="Calibri"/>
                  <a:cs typeface="Calibri"/>
                </a:rPr>
                <a:t>0.9</a:t>
              </a:r>
              <a:endParaRPr sz="3600" baseline="1157">
                <a:latin typeface="Calibri"/>
                <a:cs typeface="Calibri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2648206" y="1276664"/>
              <a:ext cx="1557655" cy="20891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200" b="0" spc="20" dirty="0">
                  <a:solidFill>
                    <a:srgbClr val="00AFF0"/>
                  </a:solidFill>
                  <a:latin typeface="Calibri Light"/>
                  <a:cs typeface="Calibri Light"/>
                </a:rPr>
                <a:t>Actual </a:t>
              </a:r>
              <a:r>
                <a:rPr sz="1200" b="0" spc="-5" dirty="0">
                  <a:solidFill>
                    <a:srgbClr val="00AFF0"/>
                  </a:solidFill>
                  <a:latin typeface="Calibri Light"/>
                  <a:cs typeface="Calibri Light"/>
                </a:rPr>
                <a:t>vs </a:t>
              </a:r>
              <a:r>
                <a:rPr sz="1200" b="0" spc="-15" dirty="0">
                  <a:solidFill>
                    <a:srgbClr val="00AFF0"/>
                  </a:solidFill>
                  <a:latin typeface="Calibri Light"/>
                  <a:cs typeface="Calibri Light"/>
                </a:rPr>
                <a:t>Predicted</a:t>
              </a:r>
              <a:r>
                <a:rPr sz="1200" b="0" spc="-125" dirty="0">
                  <a:solidFill>
                    <a:srgbClr val="00AFF0"/>
                  </a:solidFill>
                  <a:latin typeface="Calibri Light"/>
                  <a:cs typeface="Calibri Light"/>
                </a:rPr>
                <a:t> </a:t>
              </a:r>
              <a:r>
                <a:rPr sz="1200" b="0" spc="-25" dirty="0">
                  <a:solidFill>
                    <a:srgbClr val="00AFF0"/>
                  </a:solidFill>
                  <a:latin typeface="Calibri Light"/>
                  <a:cs typeface="Calibri Light"/>
                </a:rPr>
                <a:t>Value</a:t>
              </a:r>
              <a:endParaRPr sz="1200">
                <a:latin typeface="Calibri Light"/>
                <a:cs typeface="Calibri Light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461645" y="4161622"/>
              <a:ext cx="104775" cy="193675"/>
            </a:xfrm>
            <a:prstGeom prst="rect">
              <a:avLst/>
            </a:prstGeom>
          </p:spPr>
          <p:txBody>
            <a:bodyPr vert="horz" wrap="square" lIns="0" tIns="889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70"/>
                </a:spcBef>
              </a:pPr>
              <a:r>
                <a:rPr sz="1100" spc="15" dirty="0">
                  <a:solidFill>
                    <a:srgbClr val="6B9E24"/>
                  </a:solidFill>
                  <a:latin typeface="Cambria Math"/>
                  <a:cs typeface="Cambria Math"/>
                </a:rPr>
                <a:t>1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4380868" y="4671135"/>
              <a:ext cx="120014" cy="1974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1385"/>
                </a:lnSpc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4625978" y="4670587"/>
              <a:ext cx="574040" cy="2546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880"/>
                </a:lnSpc>
              </a:pPr>
              <a:r>
                <a:rPr sz="800" b="0" spc="10" dirty="0">
                  <a:solidFill>
                    <a:srgbClr val="F07F09"/>
                  </a:solidFill>
                  <a:latin typeface="Calibri Light"/>
                  <a:cs typeface="Calibri Light"/>
                </a:rPr>
                <a:t>Independent</a:t>
              </a:r>
              <a:endParaRPr sz="800">
                <a:latin typeface="Calibri Light"/>
                <a:cs typeface="Calibri Light"/>
              </a:endParaRPr>
            </a:p>
            <a:p>
              <a:pPr marL="12700">
                <a:lnSpc>
                  <a:spcPct val="100000"/>
                </a:lnSpc>
                <a:spcBef>
                  <a:spcPts val="15"/>
                </a:spcBef>
              </a:pPr>
              <a:r>
                <a:rPr sz="800" b="0" spc="25" dirty="0">
                  <a:solidFill>
                    <a:srgbClr val="F07F09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38184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0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15" dirty="0"/>
              <a:t>2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007739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4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72893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5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64075" y="4812489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6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86177" y="4820752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92695" y="4833444"/>
            <a:ext cx="104775" cy="1936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15" dirty="0">
                <a:solidFill>
                  <a:srgbClr val="5F4778"/>
                </a:solidFill>
                <a:latin typeface="Cambria Math"/>
                <a:cs typeface="Cambria Math"/>
              </a:rPr>
              <a:t>3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663" y="229485"/>
            <a:ext cx="35363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5" dirty="0"/>
              <a:t>Goodness </a:t>
            </a:r>
            <a:r>
              <a:rPr spc="25" dirty="0"/>
              <a:t>of </a:t>
            </a:r>
            <a:r>
              <a:rPr spc="10" dirty="0"/>
              <a:t>Fit </a:t>
            </a:r>
            <a:r>
              <a:rPr spc="15" dirty="0"/>
              <a:t>–</a:t>
            </a:r>
            <a:r>
              <a:rPr spc="-75" dirty="0"/>
              <a:t> </a:t>
            </a:r>
            <a:r>
              <a:rPr b="0" spc="25" dirty="0">
                <a:latin typeface="Cambria Math"/>
                <a:cs typeface="Cambria Math"/>
              </a:rPr>
              <a:t>𝑹</a:t>
            </a:r>
            <a:r>
              <a:rPr sz="3000" b="0" spc="37" baseline="29166" dirty="0">
                <a:latin typeface="Cambria Math"/>
                <a:cs typeface="Cambria Math"/>
              </a:rPr>
              <a:t>𝟐</a:t>
            </a:r>
            <a:endParaRPr sz="3000" baseline="29166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Group 40"/>
          <p:cNvGrpSpPr/>
          <p:nvPr/>
        </p:nvGrpSpPr>
        <p:grpSpPr>
          <a:xfrm>
            <a:off x="1505586" y="1233281"/>
            <a:ext cx="5989513" cy="3799875"/>
            <a:chOff x="1505586" y="1233281"/>
            <a:chExt cx="5989513" cy="3799875"/>
          </a:xfrm>
        </p:grpSpPr>
        <p:sp>
          <p:nvSpPr>
            <p:cNvPr id="4" name="object 4"/>
            <p:cNvSpPr/>
            <p:nvPr/>
          </p:nvSpPr>
          <p:spPr>
            <a:xfrm>
              <a:off x="1696465" y="1239392"/>
              <a:ext cx="2382774" cy="358326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78589" y="1255282"/>
              <a:ext cx="1200150" cy="356618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9854" y="1536728"/>
              <a:ext cx="971550" cy="339090"/>
            </a:xfrm>
            <a:custGeom>
              <a:avLst/>
              <a:gdLst/>
              <a:ahLst/>
              <a:cxnLst/>
              <a:rect l="l" t="t" r="r" b="b"/>
              <a:pathLst>
                <a:path w="971550" h="339089">
                  <a:moveTo>
                    <a:pt x="0" y="338553"/>
                  </a:moveTo>
                  <a:lnTo>
                    <a:pt x="971550" y="338553"/>
                  </a:lnTo>
                  <a:lnTo>
                    <a:pt x="971550" y="0"/>
                  </a:lnTo>
                  <a:lnTo>
                    <a:pt x="0" y="0"/>
                  </a:lnTo>
                  <a:lnTo>
                    <a:pt x="0" y="3385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1960627" y="1563049"/>
              <a:ext cx="507365" cy="275590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 marR="5080">
                <a:lnSpc>
                  <a:spcPct val="101800"/>
                </a:lnSpc>
                <a:spcBef>
                  <a:spcPts val="110"/>
                </a:spcBef>
              </a:pPr>
              <a:r>
                <a:rPr sz="800" b="0" spc="110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50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25" dirty="0">
                  <a:solidFill>
                    <a:srgbClr val="6B9E24"/>
                  </a:solidFill>
                  <a:latin typeface="Calibri Light"/>
                  <a:cs typeface="Calibri Light"/>
                </a:rPr>
                <a:t>p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25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-50" dirty="0">
                  <a:solidFill>
                    <a:srgbClr val="6B9E24"/>
                  </a:solidFill>
                  <a:latin typeface="Calibri Light"/>
                  <a:cs typeface="Calibri Light"/>
                </a:rPr>
                <a:t>d</a:t>
              </a:r>
              <a:r>
                <a:rPr sz="800" b="0" spc="-25" dirty="0">
                  <a:solidFill>
                    <a:srgbClr val="6B9E24"/>
                  </a:solidFill>
                  <a:latin typeface="Calibri Light"/>
                  <a:cs typeface="Calibri Light"/>
                </a:rPr>
                <a:t>e</a:t>
              </a:r>
              <a:r>
                <a:rPr sz="800" b="0" spc="25" dirty="0">
                  <a:solidFill>
                    <a:srgbClr val="6B9E24"/>
                  </a:solidFill>
                  <a:latin typeface="Calibri Light"/>
                  <a:cs typeface="Calibri Light"/>
                </a:rPr>
                <a:t>n</a:t>
              </a:r>
              <a:r>
                <a:rPr sz="800" b="0" spc="5" dirty="0">
                  <a:solidFill>
                    <a:srgbClr val="6B9E24"/>
                  </a:solidFill>
                  <a:latin typeface="Calibri Light"/>
                  <a:cs typeface="Calibri Light"/>
                </a:rPr>
                <a:t>t </a:t>
              </a:r>
              <a:r>
                <a:rPr sz="800" spc="5" dirty="0">
                  <a:solidFill>
                    <a:srgbClr val="6B9E24"/>
                  </a:solidFill>
                  <a:latin typeface="Times New Roman"/>
                  <a:cs typeface="Times New Roman"/>
                </a:rPr>
                <a:t> </a:t>
              </a:r>
              <a:r>
                <a:rPr sz="800" b="0" spc="25" dirty="0">
                  <a:solidFill>
                    <a:srgbClr val="6B9E24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1755522" y="1395028"/>
              <a:ext cx="11493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b="1" dirty="0">
                  <a:solidFill>
                    <a:srgbClr val="6B9E24"/>
                  </a:solidFill>
                  <a:latin typeface="Calibri"/>
                  <a:cs typeface="Calibri"/>
                </a:rPr>
                <a:t>Y</a:t>
              </a:r>
              <a:endParaRPr sz="1350"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697985" y="1233281"/>
              <a:ext cx="0" cy="3588385"/>
            </a:xfrm>
            <a:custGeom>
              <a:avLst/>
              <a:gdLst/>
              <a:ahLst/>
              <a:cxnLst/>
              <a:rect l="l" t="t" r="r" b="b"/>
              <a:pathLst>
                <a:path h="3588385">
                  <a:moveTo>
                    <a:pt x="0" y="0"/>
                  </a:moveTo>
                  <a:lnTo>
                    <a:pt x="0" y="358816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83698" y="4819293"/>
              <a:ext cx="2858770" cy="0"/>
            </a:xfrm>
            <a:custGeom>
              <a:avLst/>
              <a:gdLst/>
              <a:ahLst/>
              <a:cxnLst/>
              <a:rect l="l" t="t" r="r" b="b"/>
              <a:pathLst>
                <a:path w="2858770">
                  <a:moveTo>
                    <a:pt x="0" y="0"/>
                  </a:moveTo>
                  <a:lnTo>
                    <a:pt x="2858705" y="0"/>
                  </a:lnTo>
                </a:path>
              </a:pathLst>
            </a:custGeom>
            <a:ln w="329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505586" y="3570917"/>
              <a:ext cx="104775" cy="78740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15" dirty="0">
                  <a:solidFill>
                    <a:srgbClr val="6B9E24"/>
                  </a:solidFill>
                  <a:latin typeface="Cambria Math"/>
                  <a:cs typeface="Cambria Math"/>
                </a:rPr>
                <a:t>2</a:t>
              </a:r>
              <a:endParaRPr sz="1100">
                <a:latin typeface="Cambria Math"/>
                <a:cs typeface="Cambria Math"/>
              </a:endParaRPr>
            </a:p>
            <a:p>
              <a:pPr>
                <a:lnSpc>
                  <a:spcPct val="100000"/>
                </a:lnSpc>
              </a:pPr>
              <a:endParaRPr sz="1300">
                <a:latin typeface="Times New Roman"/>
                <a:cs typeface="Times New Roman"/>
              </a:endParaRPr>
            </a:p>
            <a:p>
              <a:pPr>
                <a:lnSpc>
                  <a:spcPct val="100000"/>
                </a:lnSpc>
                <a:spcBef>
                  <a:spcPts val="45"/>
                </a:spcBef>
              </a:pPr>
              <a:endParaRPr sz="1550">
                <a:latin typeface="Times New Roman"/>
                <a:cs typeface="Times New Roman"/>
              </a:endParaRPr>
            </a:p>
            <a:p>
              <a:pPr marL="12700">
                <a:lnSpc>
                  <a:spcPct val="100000"/>
                </a:lnSpc>
              </a:pPr>
              <a:r>
                <a:rPr sz="1100" spc="15" dirty="0">
                  <a:solidFill>
                    <a:srgbClr val="6B9E24"/>
                  </a:solidFill>
                  <a:latin typeface="Cambria Math"/>
                  <a:cs typeface="Cambria Math"/>
                </a:rPr>
                <a:t>1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1505586" y="2958466"/>
              <a:ext cx="104775" cy="19685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10" dirty="0">
                  <a:solidFill>
                    <a:srgbClr val="6B9E24"/>
                  </a:solidFill>
                  <a:latin typeface="Cambria Math"/>
                  <a:cs typeface="Cambria Math"/>
                </a:rPr>
                <a:t>3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1508765" y="2387530"/>
              <a:ext cx="104775" cy="19748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15" dirty="0">
                  <a:solidFill>
                    <a:srgbClr val="6B9E24"/>
                  </a:solidFill>
                  <a:latin typeface="Cambria Math"/>
                  <a:cs typeface="Cambria Math"/>
                </a:rPr>
                <a:t>4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1510670" y="2006029"/>
              <a:ext cx="104775" cy="19748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100" spc="15" dirty="0">
                  <a:solidFill>
                    <a:srgbClr val="6B9E24"/>
                  </a:solidFill>
                  <a:latin typeface="Cambria Math"/>
                  <a:cs typeface="Cambria Math"/>
                </a:rPr>
                <a:t>5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036314" y="2619755"/>
              <a:ext cx="105277" cy="10769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38506" y="2764916"/>
              <a:ext cx="105274" cy="10757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26389" y="2676275"/>
              <a:ext cx="105274" cy="1076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35736" y="2613909"/>
              <a:ext cx="105277" cy="10770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10496" y="2461772"/>
              <a:ext cx="105277" cy="10769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16023" y="2502027"/>
              <a:ext cx="3562985" cy="365125"/>
            </a:xfrm>
            <a:custGeom>
              <a:avLst/>
              <a:gdLst/>
              <a:ahLst/>
              <a:cxnLst/>
              <a:rect l="l" t="t" r="r" b="b"/>
              <a:pathLst>
                <a:path w="3562985" h="365125">
                  <a:moveTo>
                    <a:pt x="0" y="364866"/>
                  </a:moveTo>
                  <a:lnTo>
                    <a:pt x="3562746" y="0"/>
                  </a:lnTo>
                </a:path>
              </a:pathLst>
            </a:custGeom>
            <a:ln w="2857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33422" y="2755641"/>
              <a:ext cx="105287" cy="10770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26389" y="2696967"/>
              <a:ext cx="105274" cy="10770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31407" y="2626363"/>
              <a:ext cx="105277" cy="1076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25889" y="2568701"/>
              <a:ext cx="105308" cy="10757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11106" y="2514849"/>
              <a:ext cx="105308" cy="107573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72918" y="2347031"/>
              <a:ext cx="971550" cy="215900"/>
            </a:xfrm>
            <a:custGeom>
              <a:avLst/>
              <a:gdLst/>
              <a:ahLst/>
              <a:cxnLst/>
              <a:rect l="l" t="t" r="r" b="b"/>
              <a:pathLst>
                <a:path w="971550" h="215900">
                  <a:moveTo>
                    <a:pt x="0" y="215443"/>
                  </a:moveTo>
                  <a:lnTo>
                    <a:pt x="971550" y="215443"/>
                  </a:lnTo>
                  <a:lnTo>
                    <a:pt x="971550" y="0"/>
                  </a:lnTo>
                  <a:lnTo>
                    <a:pt x="0" y="0"/>
                  </a:lnTo>
                  <a:lnTo>
                    <a:pt x="0" y="2154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5357245" y="2374834"/>
              <a:ext cx="784225" cy="1517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800" b="0" spc="10" dirty="0">
                  <a:solidFill>
                    <a:srgbClr val="FF0000"/>
                  </a:solidFill>
                  <a:latin typeface="Calibri Light"/>
                  <a:cs typeface="Calibri Light"/>
                </a:rPr>
                <a:t>L</a:t>
              </a:r>
              <a:r>
                <a:rPr sz="800" b="0" spc="-90" dirty="0">
                  <a:solidFill>
                    <a:srgbClr val="FF0000"/>
                  </a:solidFill>
                  <a:latin typeface="Calibri Light"/>
                  <a:cs typeface="Calibri Light"/>
                </a:rPr>
                <a:t> </a:t>
              </a:r>
              <a:r>
                <a:rPr sz="800" b="0" spc="25" dirty="0">
                  <a:solidFill>
                    <a:srgbClr val="FF0000"/>
                  </a:solidFill>
                  <a:latin typeface="Calibri Light"/>
                  <a:cs typeface="Calibri Light"/>
                </a:rPr>
                <a:t>ine</a:t>
              </a:r>
              <a:r>
                <a:rPr sz="800" b="0" spc="-75" dirty="0">
                  <a:solidFill>
                    <a:srgbClr val="FF0000"/>
                  </a:solidFill>
                  <a:latin typeface="Calibri Light"/>
                  <a:cs typeface="Calibri Light"/>
                </a:rPr>
                <a:t> </a:t>
              </a:r>
              <a:r>
                <a:rPr sz="800" b="0" spc="15" dirty="0">
                  <a:solidFill>
                    <a:srgbClr val="FF0000"/>
                  </a:solidFill>
                  <a:latin typeface="Calibri Light"/>
                  <a:cs typeface="Calibri Light"/>
                </a:rPr>
                <a:t>of</a:t>
              </a:r>
              <a:r>
                <a:rPr sz="800" b="0" spc="-65" dirty="0">
                  <a:solidFill>
                    <a:srgbClr val="FF0000"/>
                  </a:solidFill>
                  <a:latin typeface="Calibri Light"/>
                  <a:cs typeface="Calibri Light"/>
                </a:rPr>
                <a:t> </a:t>
              </a:r>
              <a:r>
                <a:rPr sz="800" b="0" spc="-5" dirty="0">
                  <a:solidFill>
                    <a:srgbClr val="FF0000"/>
                  </a:solidFill>
                  <a:latin typeface="Calibri Light"/>
                  <a:cs typeface="Calibri Light"/>
                </a:rPr>
                <a:t>Regression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6134100" y="2181225"/>
              <a:ext cx="523875" cy="50482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6648644" y="2227958"/>
              <a:ext cx="846455" cy="39243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150" spc="50" dirty="0">
                  <a:latin typeface="Cambria Math"/>
                  <a:cs typeface="Cambria Math"/>
                </a:rPr>
                <a:t>𝑅</a:t>
              </a:r>
              <a:r>
                <a:rPr sz="2325" spc="75" baseline="30465" dirty="0">
                  <a:latin typeface="Cambria Math"/>
                  <a:cs typeface="Cambria Math"/>
                </a:rPr>
                <a:t>2 </a:t>
              </a:r>
              <a:r>
                <a:rPr sz="2150" spc="20" dirty="0">
                  <a:latin typeface="Cambria Math"/>
                  <a:cs typeface="Cambria Math"/>
                </a:rPr>
                <a:t>≈</a:t>
              </a:r>
              <a:r>
                <a:rPr sz="2150" spc="-45" dirty="0">
                  <a:latin typeface="Cambria Math"/>
                  <a:cs typeface="Cambria Math"/>
                </a:rPr>
                <a:t> </a:t>
              </a:r>
              <a:r>
                <a:rPr sz="3600" baseline="1157" dirty="0">
                  <a:solidFill>
                    <a:srgbClr val="3F3F3F"/>
                  </a:solidFill>
                  <a:latin typeface="Calibri"/>
                  <a:cs typeface="Calibri"/>
                </a:rPr>
                <a:t>1</a:t>
              </a:r>
              <a:endParaRPr sz="3600" baseline="1157" dirty="0">
                <a:latin typeface="Calibri"/>
                <a:cs typeface="Calibri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2648206" y="1276664"/>
              <a:ext cx="1557655" cy="20891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200" b="0" spc="20" dirty="0">
                  <a:solidFill>
                    <a:srgbClr val="00AFF0"/>
                  </a:solidFill>
                  <a:latin typeface="Calibri Light"/>
                  <a:cs typeface="Calibri Light"/>
                </a:rPr>
                <a:t>Actual </a:t>
              </a:r>
              <a:r>
                <a:rPr sz="1200" b="0" spc="-5" dirty="0">
                  <a:solidFill>
                    <a:srgbClr val="00AFF0"/>
                  </a:solidFill>
                  <a:latin typeface="Calibri Light"/>
                  <a:cs typeface="Calibri Light"/>
                </a:rPr>
                <a:t>vs </a:t>
              </a:r>
              <a:r>
                <a:rPr sz="1200" b="0" spc="-15" dirty="0">
                  <a:solidFill>
                    <a:srgbClr val="00AFF0"/>
                  </a:solidFill>
                  <a:latin typeface="Calibri Light"/>
                  <a:cs typeface="Calibri Light"/>
                </a:rPr>
                <a:t>Predicted</a:t>
              </a:r>
              <a:r>
                <a:rPr sz="1200" b="0" spc="-125" dirty="0">
                  <a:solidFill>
                    <a:srgbClr val="00AFF0"/>
                  </a:solidFill>
                  <a:latin typeface="Calibri Light"/>
                  <a:cs typeface="Calibri Light"/>
                </a:rPr>
                <a:t> </a:t>
              </a:r>
              <a:r>
                <a:rPr sz="1200" b="0" spc="-25" dirty="0">
                  <a:solidFill>
                    <a:srgbClr val="00AFF0"/>
                  </a:solidFill>
                  <a:latin typeface="Calibri Light"/>
                  <a:cs typeface="Calibri Light"/>
                </a:rPr>
                <a:t>Value</a:t>
              </a:r>
              <a:endParaRPr sz="1200">
                <a:latin typeface="Calibri Light"/>
                <a:cs typeface="Calibri Light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542404" y="4612195"/>
              <a:ext cx="971550" cy="339090"/>
            </a:xfrm>
            <a:custGeom>
              <a:avLst/>
              <a:gdLst/>
              <a:ahLst/>
              <a:cxnLst/>
              <a:rect l="l" t="t" r="r" b="b"/>
              <a:pathLst>
                <a:path w="971550" h="339089">
                  <a:moveTo>
                    <a:pt x="0" y="338553"/>
                  </a:moveTo>
                  <a:lnTo>
                    <a:pt x="971550" y="338553"/>
                  </a:lnTo>
                  <a:lnTo>
                    <a:pt x="971550" y="0"/>
                  </a:lnTo>
                  <a:lnTo>
                    <a:pt x="0" y="0"/>
                  </a:lnTo>
                  <a:lnTo>
                    <a:pt x="0" y="3385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4629788" y="4689871"/>
              <a:ext cx="902969" cy="3092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r">
                <a:lnSpc>
                  <a:spcPts val="1185"/>
                </a:lnSpc>
              </a:pPr>
              <a:r>
                <a:rPr sz="1350" b="1" dirty="0">
                  <a:solidFill>
                    <a:srgbClr val="F07F09"/>
                  </a:solidFill>
                  <a:latin typeface="Calibri"/>
                  <a:cs typeface="Calibri"/>
                </a:rPr>
                <a:t>X</a:t>
              </a:r>
              <a:endParaRPr sz="1350">
                <a:latin typeface="Calibri"/>
                <a:cs typeface="Calibri"/>
              </a:endParaRPr>
            </a:p>
            <a:p>
              <a:pPr>
                <a:lnSpc>
                  <a:spcPts val="1220"/>
                </a:lnSpc>
                <a:tabLst>
                  <a:tab pos="590550" algn="l"/>
                </a:tabLst>
              </a:pPr>
              <a:r>
                <a:rPr sz="1100" spc="15" dirty="0">
                  <a:solidFill>
                    <a:srgbClr val="5F4778"/>
                  </a:solidFill>
                  <a:latin typeface="Cambria Math"/>
                  <a:cs typeface="Cambria Math"/>
                </a:rPr>
                <a:t>5</a:t>
              </a:r>
              <a:r>
                <a:rPr sz="1100" spc="15" dirty="0">
                  <a:solidFill>
                    <a:srgbClr val="5F4778"/>
                  </a:solidFill>
                  <a:latin typeface="Times New Roman"/>
                  <a:cs typeface="Times New Roman"/>
                </a:rPr>
                <a:t>	</a:t>
              </a:r>
              <a:r>
                <a:rPr sz="1100" spc="15" dirty="0">
                  <a:solidFill>
                    <a:srgbClr val="5F4778"/>
                  </a:solidFill>
                  <a:latin typeface="Cambria Math"/>
                  <a:cs typeface="Cambria Math"/>
                </a:rPr>
                <a:t>6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4625978" y="4670587"/>
              <a:ext cx="574040" cy="2546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880"/>
                </a:lnSpc>
              </a:pPr>
              <a:r>
                <a:rPr sz="800" b="0" spc="10" dirty="0">
                  <a:solidFill>
                    <a:srgbClr val="F07F09"/>
                  </a:solidFill>
                  <a:latin typeface="Calibri Light"/>
                  <a:cs typeface="Calibri Light"/>
                </a:rPr>
                <a:t>Independent</a:t>
              </a:r>
              <a:endParaRPr sz="800">
                <a:latin typeface="Calibri Light"/>
                <a:cs typeface="Calibri Light"/>
              </a:endParaRPr>
            </a:p>
            <a:p>
              <a:pPr marL="12700">
                <a:lnSpc>
                  <a:spcPct val="100000"/>
                </a:lnSpc>
                <a:spcBef>
                  <a:spcPts val="15"/>
                </a:spcBef>
              </a:pPr>
              <a:r>
                <a:rPr sz="800" b="0" spc="25" dirty="0">
                  <a:solidFill>
                    <a:srgbClr val="F07F09"/>
                  </a:solidFill>
                  <a:latin typeface="Calibri Light"/>
                  <a:cs typeface="Calibri Light"/>
                </a:rPr>
                <a:t>Variable</a:t>
              </a:r>
              <a:endParaRPr sz="800">
                <a:latin typeface="Calibri Light"/>
                <a:cs typeface="Calibri Light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1682505" y="4818526"/>
              <a:ext cx="104775" cy="193675"/>
            </a:xfrm>
            <a:prstGeom prst="rect">
              <a:avLst/>
            </a:prstGeom>
          </p:spPr>
          <p:txBody>
            <a:bodyPr vert="horz" wrap="square" lIns="0" tIns="889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70"/>
                </a:spcBef>
              </a:pPr>
              <a:r>
                <a:rPr sz="1100" spc="15" dirty="0">
                  <a:solidFill>
                    <a:srgbClr val="5F4778"/>
                  </a:solidFill>
                  <a:latin typeface="Cambria Math"/>
                  <a:cs typeface="Cambria Math"/>
                </a:rPr>
                <a:t>0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2843532" y="4818526"/>
              <a:ext cx="104775" cy="193675"/>
            </a:xfrm>
            <a:prstGeom prst="rect">
              <a:avLst/>
            </a:prstGeom>
          </p:spPr>
          <p:txBody>
            <a:bodyPr vert="horz" wrap="square" lIns="0" tIns="889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70"/>
                </a:spcBef>
              </a:pPr>
              <a:r>
                <a:rPr sz="1100" spc="15" dirty="0">
                  <a:solidFill>
                    <a:srgbClr val="5F4778"/>
                  </a:solidFill>
                  <a:latin typeface="Cambria Math"/>
                  <a:cs typeface="Cambria Math"/>
                </a:rPr>
                <a:t>2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4051564" y="4818526"/>
              <a:ext cx="104775" cy="193675"/>
            </a:xfrm>
            <a:prstGeom prst="rect">
              <a:avLst/>
            </a:prstGeom>
          </p:spPr>
          <p:txBody>
            <a:bodyPr vert="horz" wrap="square" lIns="0" tIns="889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70"/>
                </a:spcBef>
              </a:pPr>
              <a:r>
                <a:rPr sz="1100" spc="15" dirty="0">
                  <a:solidFill>
                    <a:srgbClr val="5F4778"/>
                  </a:solidFill>
                  <a:latin typeface="Cambria Math"/>
                  <a:cs typeface="Cambria Math"/>
                </a:rPr>
                <a:t>4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2230502" y="4827098"/>
              <a:ext cx="104775" cy="193675"/>
            </a:xfrm>
            <a:prstGeom prst="rect">
              <a:avLst/>
            </a:prstGeom>
          </p:spPr>
          <p:txBody>
            <a:bodyPr vert="horz" wrap="square" lIns="0" tIns="889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70"/>
                </a:spcBef>
              </a:pPr>
              <a:r>
                <a:rPr sz="1100" spc="15" dirty="0">
                  <a:solidFill>
                    <a:srgbClr val="5F4778"/>
                  </a:solidFill>
                  <a:latin typeface="Cambria Math"/>
                  <a:cs typeface="Cambria Math"/>
                </a:rPr>
                <a:t>1</a:t>
              </a:r>
              <a:endParaRPr sz="1100">
                <a:latin typeface="Cambria Math"/>
                <a:cs typeface="Cambria Math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3437011" y="4839481"/>
              <a:ext cx="104775" cy="193675"/>
            </a:xfrm>
            <a:prstGeom prst="rect">
              <a:avLst/>
            </a:prstGeom>
          </p:spPr>
          <p:txBody>
            <a:bodyPr vert="horz" wrap="square" lIns="0" tIns="889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70"/>
                </a:spcBef>
              </a:pPr>
              <a:r>
                <a:rPr sz="1100" spc="15" dirty="0">
                  <a:solidFill>
                    <a:srgbClr val="5F4778"/>
                  </a:solidFill>
                  <a:latin typeface="Cambria Math"/>
                  <a:cs typeface="Cambria Math"/>
                </a:rPr>
                <a:t>3</a:t>
              </a:r>
              <a:endParaRPr sz="1100">
                <a:latin typeface="Cambria Math"/>
                <a:cs typeface="Cambria Math"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1207" y="4963810"/>
            <a:ext cx="123317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75"/>
              </a:lnSpc>
            </a:pPr>
            <a:r>
              <a:rPr sz="950" b="1" spc="8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www</a:t>
            </a:r>
            <a:r>
              <a:rPr sz="950" b="1" spc="3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.i</a:t>
            </a:r>
            <a:r>
              <a:rPr sz="950" b="1" spc="1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n</a:t>
            </a:r>
            <a:r>
              <a:rPr sz="950" b="1" spc="-2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t</a:t>
            </a:r>
            <a:r>
              <a:rPr sz="950" b="1" spc="7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e</a:t>
            </a:r>
            <a:r>
              <a:rPr sz="950" b="1" spc="3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ll</a:t>
            </a:r>
            <a:r>
              <a:rPr sz="950" b="1" spc="-4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i</a:t>
            </a:r>
            <a:r>
              <a:rPr sz="950" b="1" spc="1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p</a:t>
            </a:r>
            <a:r>
              <a:rPr sz="950" b="1" spc="7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a</a:t>
            </a:r>
            <a:r>
              <a:rPr sz="950" b="1" spc="-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a</a:t>
            </a:r>
            <a:r>
              <a:rPr sz="950" b="1" spc="-2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t</a:t>
            </a:r>
            <a:r>
              <a:rPr sz="950" b="1" spc="3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.</a:t>
            </a:r>
            <a:r>
              <a:rPr sz="950" b="1" spc="-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c</a:t>
            </a:r>
            <a:r>
              <a:rPr sz="950" b="1" spc="2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om</a:t>
            </a:r>
            <a:endParaRPr sz="9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873788" y="1524"/>
            <a:ext cx="4270211" cy="5141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0000" y="167100"/>
            <a:ext cx="1370328" cy="4776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45005" y="3227004"/>
            <a:ext cx="2474595" cy="905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India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z="1200" b="1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+91-7847955955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marL="39370">
              <a:lnSpc>
                <a:spcPct val="100000"/>
              </a:lnSpc>
            </a:pPr>
            <a:r>
              <a:rPr sz="1200" b="1" spc="10" dirty="0">
                <a:solidFill>
                  <a:srgbClr val="595959"/>
                </a:solidFill>
                <a:latin typeface="Arial"/>
                <a:cs typeface="Arial"/>
              </a:rPr>
              <a:t>US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: </a:t>
            </a: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1-800-216-8930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(TOLL</a:t>
            </a:r>
            <a:r>
              <a:rPr sz="1200" b="1" spc="-1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15" dirty="0">
                <a:solidFill>
                  <a:srgbClr val="595959"/>
                </a:solidFill>
                <a:latin typeface="Arial"/>
                <a:cs typeface="Arial"/>
              </a:rPr>
              <a:t>FREE)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50" b="1" spc="5" dirty="0">
                <a:solidFill>
                  <a:srgbClr val="595959"/>
                </a:solidFill>
                <a:latin typeface="Arial"/>
                <a:cs typeface="Arial"/>
                <a:hlinkClick r:id="rId5"/>
              </a:rPr>
              <a:t>sales@intellipaat.com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9154" y="1775046"/>
            <a:ext cx="3930837" cy="307098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52693" y="1524"/>
            <a:ext cx="2539998" cy="16766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90293" y="1715767"/>
            <a:ext cx="296227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rgbClr val="578FFF"/>
                </a:solidFill>
                <a:hlinkClick r:id="rId2"/>
              </a:rPr>
              <a:t>www.intellipaat.com</a:t>
            </a:r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3990471" y="3322877"/>
            <a:ext cx="2260601" cy="7535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8539" y="81475"/>
            <a:ext cx="8526956" cy="49805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</TotalTime>
  <Words>3920</Words>
  <Application>Microsoft Office PowerPoint</Application>
  <PresentationFormat>On-screen Show (16:9)</PresentationFormat>
  <Paragraphs>2305</Paragraphs>
  <Slides>72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3" baseType="lpstr">
      <vt:lpstr>Office Theme</vt:lpstr>
      <vt:lpstr>Linear Regression using Python</vt:lpstr>
      <vt:lpstr>PowerPoint Presentation</vt:lpstr>
      <vt:lpstr>Regression   is a   technique that   displays the relationship  between variable “y” based on the values of variable “x”.</vt:lpstr>
      <vt:lpstr>PowerPoint Presentation</vt:lpstr>
      <vt:lpstr>There are various types of Regression, but we will focus on:</vt:lpstr>
      <vt:lpstr>LINEAR REGRESSION</vt:lpstr>
      <vt:lpstr>PowerPoint Presentation</vt:lpstr>
      <vt:lpstr>Understandin  g Linear  Regression</vt:lpstr>
      <vt:lpstr>Understandin  g Linear  Regression</vt:lpstr>
      <vt:lpstr>Understandin  g Linear  Regression</vt:lpstr>
      <vt:lpstr>Understandin  g Linear  Regression</vt:lpstr>
      <vt:lpstr>Line of Linear  Regression</vt:lpstr>
      <vt:lpstr>Understandin  g Linear  Regression</vt:lpstr>
      <vt:lpstr>Regression Line Least Square Method</vt:lpstr>
      <vt:lpstr>Understandin  g Linear  Regression</vt:lpstr>
      <vt:lpstr>Understandin  g Linear  Regression</vt:lpstr>
      <vt:lpstr>Understandin  g Linear  Regression</vt:lpstr>
      <vt:lpstr>Understandin  g Linear  Regression</vt:lpstr>
      <vt:lpstr>PowerPoint Presentation</vt:lpstr>
      <vt:lpstr>Understandin  g Linear  Regression</vt:lpstr>
      <vt:lpstr>Understandin  g Linear  Regression</vt:lpstr>
      <vt:lpstr>Understandin  g Linear  Regression</vt:lpstr>
      <vt:lpstr>Understandin  g Linear  Regression</vt:lpstr>
      <vt:lpstr>Understanding Linear  Regression</vt:lpstr>
      <vt:lpstr>Understanding Linear  Regression</vt:lpstr>
      <vt:lpstr>Understanding Linear  Regression</vt:lpstr>
      <vt:lpstr>Understanding Linear  Regression</vt:lpstr>
      <vt:lpstr>Understanding Linear  Regression</vt:lpstr>
      <vt:lpstr>Understanding Linear  Regression</vt:lpstr>
      <vt:lpstr>Understanding Linear  Regression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Understanding Linear</vt:lpstr>
      <vt:lpstr>Mean Square Error</vt:lpstr>
      <vt:lpstr>Mean Square Error</vt:lpstr>
      <vt:lpstr>Finding the best Fit Line</vt:lpstr>
      <vt:lpstr>Goodness of Fit – 𝑹𝟐</vt:lpstr>
      <vt:lpstr>Goodness of Fit – 𝑹𝟐</vt:lpstr>
      <vt:lpstr>Goodness of Fit – 𝑹𝟐</vt:lpstr>
      <vt:lpstr>Goodness of Fit – 𝑹𝟐</vt:lpstr>
      <vt:lpstr>Goodness of Fit – 𝑹𝟐</vt:lpstr>
      <vt:lpstr>Goodness of Fit – 𝑹𝟐</vt:lpstr>
      <vt:lpstr>Goodness of Fit – 𝑹𝟐</vt:lpstr>
      <vt:lpstr>Goodness of Fit – 𝑹𝟐</vt:lpstr>
      <vt:lpstr>Goodness of Fit – 𝑹𝟐</vt:lpstr>
      <vt:lpstr>Goodness of Fit – 𝑹𝟐</vt:lpstr>
      <vt:lpstr>Goodness of Fit – 𝑹𝟐</vt:lpstr>
      <vt:lpstr>Goodness of Fit – 𝑹𝟐</vt:lpstr>
      <vt:lpstr>Goodness of Fit – 𝑹𝟐</vt:lpstr>
      <vt:lpstr>www.intellipaat.com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 using Python</dc:title>
  <cp:lastModifiedBy>HP</cp:lastModifiedBy>
  <cp:revision>16</cp:revision>
  <dcterms:created xsi:type="dcterms:W3CDTF">2019-09-19T13:45:25Z</dcterms:created>
  <dcterms:modified xsi:type="dcterms:W3CDTF">2019-09-20T11:22:48Z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2019-02-21T00:00:00Z</vt:filetime>
  </property>
  <property fmtid="{D5CDD505-2E9C-101B-9397-08002B2CF9AE}" pid="3" name="Creator">
    <vt:lpwstr>Online2PDF.com</vt:lpwstr>
  </property>
  <property fmtid="{D5CDD505-2E9C-101B-9397-08002B2CF9AE}" pid="4" name="LastSaved">
    <vt:filetime>2019-09-19T00:00:00Z</vt:filetime>
  </property>
</Properties>
</file>