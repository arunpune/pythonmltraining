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2" r:id="rId4"/>
    <p:sldId id="260" r:id="rId5"/>
    <p:sldId id="263" r:id="rId6"/>
    <p:sldId id="261" r:id="rId7"/>
    <p:sldId id="26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0" d="100"/>
          <a:sy n="80" d="100"/>
        </p:scale>
        <p:origin x="1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4A52-0755-412E-BDC3-AADA4375A9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9B9222D-38AB-4399-855B-C3766D9BD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BC766-8F50-4240-A8F5-8451DAF4D95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53AE250B-8E7C-4064-98AB-223066B777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43CE43-4CA0-4373-8524-360BF92A391F}"/>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1320435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C73B1-0090-41FC-86B4-14EFDDE992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3CC5FC-D690-4434-8E65-484BF84B76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28E0C3-C89C-425D-8506-62979CD038F9}"/>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3E6CF2AA-7C62-47FF-8D4A-79D7D74802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E5F311-5940-4062-AF9E-42297F1DFE72}"/>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853564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70512-ADF2-482E-86EE-815795592E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490772-C403-4A93-9071-E430423BC0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611C7C-0D5E-4D9A-A5D0-CA86EBC86A8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3BE60A6F-0980-48AD-A2FA-D1B310B9B3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015090-988D-44C5-8D74-E8313D5605AC}"/>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844843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ED167-D457-41DF-BBB9-6B798AC93D4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4E49CC-F573-47E6-BD4F-AC30A1913E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38AB207-4C05-4FED-B9D8-F091F73B2E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5C78632-72D3-4E77-89EE-C1E8FD434AF4}"/>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6AB20D65-ABDA-4C47-A48E-5762C3F139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139D4F-012E-4B67-9220-F3CDB65B2F00}"/>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649081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6E1F2-9F0F-4F63-94DA-3990983DB71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D3A4CE-A5E0-4206-820B-EF224204D2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8AB994-5EDC-4080-AF9D-5849B77EFC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901779A-4AEC-4160-86D4-349F79231B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B43C3B-F313-46AC-83A0-A96B51CE39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E5EAD4E-FA8E-4416-8A71-3A52E5BB78EF}"/>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8" name="Footer Placeholder 7">
            <a:extLst>
              <a:ext uri="{FF2B5EF4-FFF2-40B4-BE49-F238E27FC236}">
                <a16:creationId xmlns:a16="http://schemas.microsoft.com/office/drawing/2014/main" id="{CBF19332-67B3-41EA-8D32-40F089FF41E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6A36F1C-7441-4593-B903-A09C6678DEE2}"/>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6134690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2AC95-7020-4DA3-A56C-52310DA8C2F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CD6023B-5BD4-4BC6-8296-88ABC3E78650}"/>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4" name="Footer Placeholder 3">
            <a:extLst>
              <a:ext uri="{FF2B5EF4-FFF2-40B4-BE49-F238E27FC236}">
                <a16:creationId xmlns:a16="http://schemas.microsoft.com/office/drawing/2014/main" id="{2EAD7C3E-4CC5-459F-B388-71F83437E1B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86A7412-D4B2-47C1-B70C-37A7EC7FC3DD}"/>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46354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74318B-389D-4E7A-813B-0A7B294CBBED}"/>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3" name="Footer Placeholder 2">
            <a:extLst>
              <a:ext uri="{FF2B5EF4-FFF2-40B4-BE49-F238E27FC236}">
                <a16:creationId xmlns:a16="http://schemas.microsoft.com/office/drawing/2014/main" id="{9923D535-0DC0-4B77-816C-24155B560BC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5B55C68-3F28-4624-83E1-82503BB52EAB}"/>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028401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6C27-624B-4AD6-B79F-F81B66CD1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4E068A-EAA5-47B1-8614-E958D78E1E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6ED3445-8D4D-41AE-B8AE-9BFB00F0A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F4D9E9-BEED-481F-AEE4-AE24CAA5E955}"/>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4DFA6463-CF1B-4C04-9FD5-2E2AAB7B0F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E8AE58-D452-4A1B-BB80-65BF0D5F43D3}"/>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1944781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D5E84-C527-41A3-ACEF-274A82BE87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620259-0804-4183-837E-305D6216B8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1EAF04-CB4A-434B-B427-DD7FBA6FEB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F6DD27-0CA7-4121-91E0-F403B61E6CAA}"/>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6" name="Footer Placeholder 5">
            <a:extLst>
              <a:ext uri="{FF2B5EF4-FFF2-40B4-BE49-F238E27FC236}">
                <a16:creationId xmlns:a16="http://schemas.microsoft.com/office/drawing/2014/main" id="{1391AE2B-D55F-4D8C-976F-AFB11401C7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34486D-3DDE-4378-BB38-E84C30941230}"/>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41768660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B395-7D1E-4825-AA4B-F6A14E0D19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A1C056F-DD9E-43BE-8667-7D18BFE9D5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9A05D2-D7EF-4B80-9C5D-D58A126D513D}"/>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76D7CBD1-535E-4BE7-9F60-362BCB54AB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C5F258-3DCB-47AF-8F68-E872F59A3EA1}"/>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3840362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06DE032-E86F-4DC8-A090-AE12A86016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69EFF8-3148-47EB-BA2D-738BCD7212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1722A3-9642-4005-99A3-11134BD8D837}"/>
              </a:ext>
            </a:extLst>
          </p:cNvPr>
          <p:cNvSpPr>
            <a:spLocks noGrp="1"/>
          </p:cNvSpPr>
          <p:nvPr>
            <p:ph type="dt" sz="half" idx="10"/>
          </p:nvPr>
        </p:nvSpPr>
        <p:spPr/>
        <p:txBody>
          <a:body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D45E11D6-DEB6-41FA-B8E7-5B2E51E01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F0E2B2-0EF4-40BB-8A98-0FB94917983D}"/>
              </a:ext>
            </a:extLst>
          </p:cNvPr>
          <p:cNvSpPr>
            <a:spLocks noGrp="1"/>
          </p:cNvSpPr>
          <p:nvPr>
            <p:ph type="sldNum" sz="quarter" idx="12"/>
          </p:nvPr>
        </p:nvSpPr>
        <p:spPr/>
        <p:txBody>
          <a:bodyPr/>
          <a:lstStyle/>
          <a:p>
            <a:fld id="{D294B63B-FF5B-44CF-A18D-BDC52C81D908}" type="slidenum">
              <a:rPr lang="en-IN" smtClean="0"/>
              <a:t>‹#›</a:t>
            </a:fld>
            <a:endParaRPr lang="en-IN"/>
          </a:p>
        </p:txBody>
      </p:sp>
    </p:spTree>
    <p:extLst>
      <p:ext uri="{BB962C8B-B14F-4D97-AF65-F5344CB8AC3E}">
        <p14:creationId xmlns:p14="http://schemas.microsoft.com/office/powerpoint/2010/main" val="2739756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6BF80-D1E8-474D-B1FC-BA384D0AFE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853AA7-705E-4543-ACC2-C3F13859EC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79060-9133-4AFC-8CA7-7B3F364A94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1C1CF-0BCD-4D92-B32A-5F23712B24BC}" type="datetimeFigureOut">
              <a:rPr lang="en-IN" smtClean="0"/>
              <a:t>23-07-2020</a:t>
            </a:fld>
            <a:endParaRPr lang="en-IN"/>
          </a:p>
        </p:txBody>
      </p:sp>
      <p:sp>
        <p:nvSpPr>
          <p:cNvPr id="5" name="Footer Placeholder 4">
            <a:extLst>
              <a:ext uri="{FF2B5EF4-FFF2-40B4-BE49-F238E27FC236}">
                <a16:creationId xmlns:a16="http://schemas.microsoft.com/office/drawing/2014/main" id="{968D2296-65B5-4D91-99E1-202189E0AD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2AF30A9-6D57-4771-8B17-4A94DFB3DF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94B63B-FF5B-44CF-A18D-BDC52C81D908}" type="slidenum">
              <a:rPr lang="en-IN" smtClean="0"/>
              <a:t>‹#›</a:t>
            </a:fld>
            <a:endParaRPr lang="en-IN"/>
          </a:p>
        </p:txBody>
      </p:sp>
    </p:spTree>
    <p:extLst>
      <p:ext uri="{BB962C8B-B14F-4D97-AF65-F5344CB8AC3E}">
        <p14:creationId xmlns:p14="http://schemas.microsoft.com/office/powerpoint/2010/main" val="28260408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package" Target="../embeddings/Microsoft_Excel_Worksheet2.xlsx"/><Relationship Id="rId3" Type="http://schemas.openxmlformats.org/officeDocument/2006/relationships/image" Target="../media/image5.png"/><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package" Target="../embeddings/Microsoft_Excel_Worksheet1.xlsx"/><Relationship Id="rId5" Type="http://schemas.openxmlformats.org/officeDocument/2006/relationships/image" Target="../media/image2.emf"/><Relationship Id="rId4" Type="http://schemas.openxmlformats.org/officeDocument/2006/relationships/package" Target="../embeddings/Microsoft_Excel_Worksheet.xlsx"/><Relationship Id="rId9"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AAD80-3B5D-4C77-8DD5-52A176A52D09}"/>
              </a:ext>
            </a:extLst>
          </p:cNvPr>
          <p:cNvSpPr>
            <a:spLocks noGrp="1"/>
          </p:cNvSpPr>
          <p:nvPr>
            <p:ph type="ctrTitle"/>
          </p:nvPr>
        </p:nvSpPr>
        <p:spPr/>
        <p:txBody>
          <a:bodyPr/>
          <a:lstStyle/>
          <a:p>
            <a:r>
              <a:rPr lang="en-IN" dirty="0"/>
              <a:t>Correlation</a:t>
            </a:r>
          </a:p>
        </p:txBody>
      </p:sp>
      <p:sp>
        <p:nvSpPr>
          <p:cNvPr id="3" name="Subtitle 2">
            <a:extLst>
              <a:ext uri="{FF2B5EF4-FFF2-40B4-BE49-F238E27FC236}">
                <a16:creationId xmlns:a16="http://schemas.microsoft.com/office/drawing/2014/main" id="{BBD413AA-2158-4F59-BA1C-278A3FF9C185}"/>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461796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sp>
        <p:nvSpPr>
          <p:cNvPr id="3" name="Content Placeholder 2">
            <a:extLst>
              <a:ext uri="{FF2B5EF4-FFF2-40B4-BE49-F238E27FC236}">
                <a16:creationId xmlns:a16="http://schemas.microsoft.com/office/drawing/2014/main" id="{2A13EE77-7991-47F0-8702-B931C1BF17D2}"/>
              </a:ext>
            </a:extLst>
          </p:cNvPr>
          <p:cNvSpPr>
            <a:spLocks noGrp="1"/>
          </p:cNvSpPr>
          <p:nvPr>
            <p:ph idx="1"/>
          </p:nvPr>
        </p:nvSpPr>
        <p:spPr>
          <a:xfrm>
            <a:off x="838200" y="1337733"/>
            <a:ext cx="10515600" cy="3242734"/>
          </a:xfrm>
        </p:spPr>
        <p:txBody>
          <a:bodyPr>
            <a:normAutofit/>
          </a:bodyPr>
          <a:lstStyle/>
          <a:p>
            <a:r>
              <a:rPr lang="en-US" sz="2600" dirty="0"/>
              <a:t>Correlation coefficient is an equation that is used to determine the strength of relation between two variables. </a:t>
            </a:r>
          </a:p>
          <a:p>
            <a:r>
              <a:rPr lang="en-US" sz="2600" dirty="0"/>
              <a:t>Correlation coefficient sometimes called as cross correlation coefficient. Correlation coefficient always lies between -1 to +1 </a:t>
            </a:r>
          </a:p>
          <a:p>
            <a:r>
              <a:rPr lang="en-US" sz="2600" dirty="0"/>
              <a:t>where -1 represents X and Y are negatively correlated and </a:t>
            </a:r>
          </a:p>
          <a:p>
            <a:r>
              <a:rPr lang="en-US" sz="2600" dirty="0"/>
              <a:t>+1 represents X and Y are positively correlated.</a:t>
            </a:r>
          </a:p>
          <a:p>
            <a:r>
              <a:rPr lang="en-US" sz="2600" dirty="0"/>
              <a:t>0 means there is no correlation</a:t>
            </a:r>
          </a:p>
        </p:txBody>
      </p:sp>
      <p:pic>
        <p:nvPicPr>
          <p:cNvPr id="4" name="Picture 3">
            <a:extLst>
              <a:ext uri="{FF2B5EF4-FFF2-40B4-BE49-F238E27FC236}">
                <a16:creationId xmlns:a16="http://schemas.microsoft.com/office/drawing/2014/main" id="{CB37EEF0-72BD-47FF-90B3-CAC355C8E03D}"/>
              </a:ext>
            </a:extLst>
          </p:cNvPr>
          <p:cNvPicPr>
            <a:picLocks noChangeAspect="1"/>
          </p:cNvPicPr>
          <p:nvPr/>
        </p:nvPicPr>
        <p:blipFill>
          <a:blip r:embed="rId2"/>
          <a:stretch>
            <a:fillRect/>
          </a:stretch>
        </p:blipFill>
        <p:spPr>
          <a:xfrm>
            <a:off x="3812116" y="4580467"/>
            <a:ext cx="2857500" cy="1495425"/>
          </a:xfrm>
          <a:prstGeom prst="rect">
            <a:avLst/>
          </a:prstGeom>
        </p:spPr>
      </p:pic>
    </p:spTree>
    <p:extLst>
      <p:ext uri="{BB962C8B-B14F-4D97-AF65-F5344CB8AC3E}">
        <p14:creationId xmlns:p14="http://schemas.microsoft.com/office/powerpoint/2010/main" val="2538617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sp>
        <p:nvSpPr>
          <p:cNvPr id="3" name="Content Placeholder 2">
            <a:extLst>
              <a:ext uri="{FF2B5EF4-FFF2-40B4-BE49-F238E27FC236}">
                <a16:creationId xmlns:a16="http://schemas.microsoft.com/office/drawing/2014/main" id="{2A13EE77-7991-47F0-8702-B931C1BF17D2}"/>
              </a:ext>
            </a:extLst>
          </p:cNvPr>
          <p:cNvSpPr>
            <a:spLocks noGrp="1"/>
          </p:cNvSpPr>
          <p:nvPr>
            <p:ph idx="1"/>
          </p:nvPr>
        </p:nvSpPr>
        <p:spPr>
          <a:xfrm>
            <a:off x="838200" y="1337733"/>
            <a:ext cx="10515600" cy="4839230"/>
          </a:xfrm>
        </p:spPr>
        <p:txBody>
          <a:bodyPr>
            <a:normAutofit fontScale="92500"/>
          </a:bodyPr>
          <a:lstStyle/>
          <a:p>
            <a:r>
              <a:rPr lang="en-US" dirty="0"/>
              <a:t>Each data point in the dataset is an observation, and the features are the properties or attributes of those observations.</a:t>
            </a:r>
          </a:p>
          <a:p>
            <a:endParaRPr lang="en-US" dirty="0"/>
          </a:p>
          <a:p>
            <a:r>
              <a:rPr lang="en-US" dirty="0"/>
              <a:t>Every dataset you work with uses variables and observations. </a:t>
            </a:r>
          </a:p>
          <a:p>
            <a:r>
              <a:rPr lang="en-US" dirty="0"/>
              <a:t>For example, you might be interested in understanding the following:</a:t>
            </a:r>
          </a:p>
          <a:p>
            <a:endParaRPr lang="en-US" dirty="0"/>
          </a:p>
          <a:p>
            <a:pPr lvl="1"/>
            <a:r>
              <a:rPr lang="en-US" dirty="0"/>
              <a:t>How the height of basketball players is correlated to their shooting accuracy</a:t>
            </a:r>
          </a:p>
          <a:p>
            <a:pPr lvl="1"/>
            <a:r>
              <a:rPr lang="en-US" dirty="0"/>
              <a:t>Whether there’s a relationship between employee work experience and salary</a:t>
            </a:r>
          </a:p>
          <a:p>
            <a:pPr lvl="1"/>
            <a:r>
              <a:rPr lang="en-US" dirty="0"/>
              <a:t>In the examples above, the height, shooting accuracy, years of experience, salary, population density, and gross domestic product are the features or variables. The data related to each player, employee, and each country are the observations.</a:t>
            </a:r>
          </a:p>
          <a:p>
            <a:pPr marL="0" indent="0">
              <a:buNone/>
            </a:pPr>
            <a:endParaRPr lang="en-US" dirty="0"/>
          </a:p>
        </p:txBody>
      </p:sp>
    </p:spTree>
    <p:extLst>
      <p:ext uri="{BB962C8B-B14F-4D97-AF65-F5344CB8AC3E}">
        <p14:creationId xmlns:p14="http://schemas.microsoft.com/office/powerpoint/2010/main" val="315461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graphicFrame>
        <p:nvGraphicFramePr>
          <p:cNvPr id="13" name="Table 12">
            <a:extLst>
              <a:ext uri="{FF2B5EF4-FFF2-40B4-BE49-F238E27FC236}">
                <a16:creationId xmlns:a16="http://schemas.microsoft.com/office/drawing/2014/main" id="{3519B47C-805A-474E-871E-13DE4714EE1B}"/>
              </a:ext>
            </a:extLst>
          </p:cNvPr>
          <p:cNvGraphicFramePr>
            <a:graphicFrameLocks noGrp="1"/>
          </p:cNvGraphicFramePr>
          <p:nvPr>
            <p:extLst>
              <p:ext uri="{D42A27DB-BD31-4B8C-83A1-F6EECF244321}">
                <p14:modId xmlns:p14="http://schemas.microsoft.com/office/powerpoint/2010/main" val="1518115418"/>
              </p:ext>
            </p:extLst>
          </p:nvPr>
        </p:nvGraphicFramePr>
        <p:xfrm>
          <a:off x="2880783" y="2904066"/>
          <a:ext cx="4381500" cy="1473200"/>
        </p:xfrm>
        <a:graphic>
          <a:graphicData uri="http://schemas.openxmlformats.org/drawingml/2006/table">
            <a:tbl>
              <a:tblPr>
                <a:tableStyleId>{5C22544A-7EE6-4342-B048-85BDC9FD1C3A}</a:tableStyleId>
              </a:tblPr>
              <a:tblGrid>
                <a:gridCol w="609600">
                  <a:extLst>
                    <a:ext uri="{9D8B030D-6E8A-4147-A177-3AD203B41FA5}">
                      <a16:colId xmlns:a16="http://schemas.microsoft.com/office/drawing/2014/main" val="2770354573"/>
                    </a:ext>
                  </a:extLst>
                </a:gridCol>
                <a:gridCol w="723900">
                  <a:extLst>
                    <a:ext uri="{9D8B030D-6E8A-4147-A177-3AD203B41FA5}">
                      <a16:colId xmlns:a16="http://schemas.microsoft.com/office/drawing/2014/main" val="3114339252"/>
                    </a:ext>
                  </a:extLst>
                </a:gridCol>
                <a:gridCol w="609600">
                  <a:extLst>
                    <a:ext uri="{9D8B030D-6E8A-4147-A177-3AD203B41FA5}">
                      <a16:colId xmlns:a16="http://schemas.microsoft.com/office/drawing/2014/main" val="2794761766"/>
                    </a:ext>
                  </a:extLst>
                </a:gridCol>
                <a:gridCol w="609600">
                  <a:extLst>
                    <a:ext uri="{9D8B030D-6E8A-4147-A177-3AD203B41FA5}">
                      <a16:colId xmlns:a16="http://schemas.microsoft.com/office/drawing/2014/main" val="3360575294"/>
                    </a:ext>
                  </a:extLst>
                </a:gridCol>
                <a:gridCol w="609600">
                  <a:extLst>
                    <a:ext uri="{9D8B030D-6E8A-4147-A177-3AD203B41FA5}">
                      <a16:colId xmlns:a16="http://schemas.microsoft.com/office/drawing/2014/main" val="2189218165"/>
                    </a:ext>
                  </a:extLst>
                </a:gridCol>
                <a:gridCol w="609600">
                  <a:extLst>
                    <a:ext uri="{9D8B030D-6E8A-4147-A177-3AD203B41FA5}">
                      <a16:colId xmlns:a16="http://schemas.microsoft.com/office/drawing/2014/main" val="3783512845"/>
                    </a:ext>
                  </a:extLst>
                </a:gridCol>
                <a:gridCol w="609600">
                  <a:extLst>
                    <a:ext uri="{9D8B030D-6E8A-4147-A177-3AD203B41FA5}">
                      <a16:colId xmlns:a16="http://schemas.microsoft.com/office/drawing/2014/main" val="3876125349"/>
                    </a:ext>
                  </a:extLst>
                </a:gridCol>
              </a:tblGrid>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y</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y*y</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411906164"/>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375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625</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0199096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18</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450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324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625</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88941119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27</a:t>
                      </a:r>
                      <a:endParaRPr lang="en-IN" sz="1100" b="0" i="0" u="none" strike="noStrike" dirty="0">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567</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441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729</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392924708"/>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31</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744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576</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961</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290875603"/>
                  </a:ext>
                </a:extLst>
              </a:tr>
              <a:tr h="184150">
                <a:tc>
                  <a:txBody>
                    <a:bodyPr/>
                    <a:lstStyle/>
                    <a:p>
                      <a:pPr algn="ctr"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27</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32</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864</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729</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r" fontAlgn="b"/>
                      <a:r>
                        <a:rPr lang="en-IN" sz="1100" u="none" strike="noStrike">
                          <a:effectLst/>
                        </a:rPr>
                        <a:t>1024</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858098598"/>
                  </a:ext>
                </a:extLst>
              </a:tr>
              <a:tr h="184150">
                <a:tc>
                  <a:txBody>
                    <a:bodyPr/>
                    <a:lstStyle/>
                    <a:p>
                      <a:pPr algn="ctr" fontAlgn="b"/>
                      <a:r>
                        <a:rPr lang="en-IN" sz="1100" u="none" strike="noStrike">
                          <a:effectLst/>
                        </a:rPr>
                        <a:t>Sum</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105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140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3000</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2295</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3964</a:t>
                      </a:r>
                      <a:endParaRPr lang="en-IN" sz="1100" b="0" i="0" u="none" strike="noStrike">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637728834"/>
                  </a:ext>
                </a:extLst>
              </a:tr>
              <a:tr h="184150">
                <a:tc>
                  <a:txBody>
                    <a:bodyPr/>
                    <a:lstStyle/>
                    <a:p>
                      <a:pPr algn="ctr" fontAlgn="b"/>
                      <a:r>
                        <a:rPr lang="en-IN" sz="1100" u="none" strike="noStrike">
                          <a:effectLst/>
                        </a:rPr>
                        <a:t>Sum</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l" fontAlgn="b"/>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x*y</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a:effectLst/>
                        </a:rPr>
                        <a:t>x*x</a:t>
                      </a:r>
                      <a:endParaRPr lang="en-IN" sz="11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IN" sz="1100" u="none" strike="noStrike" dirty="0">
                          <a:effectLst/>
                        </a:rPr>
                        <a:t>y*y</a:t>
                      </a:r>
                      <a:endParaRPr lang="en-IN" sz="11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562548378"/>
                  </a:ext>
                </a:extLst>
              </a:tr>
            </a:tbl>
          </a:graphicData>
        </a:graphic>
      </p:graphicFrame>
      <p:sp>
        <p:nvSpPr>
          <p:cNvPr id="16" name="TextBox 15">
            <a:extLst>
              <a:ext uri="{FF2B5EF4-FFF2-40B4-BE49-F238E27FC236}">
                <a16:creationId xmlns:a16="http://schemas.microsoft.com/office/drawing/2014/main" id="{BF8D7A45-1AB3-4645-9AB1-3D2E5FBB2F6B}"/>
              </a:ext>
            </a:extLst>
          </p:cNvPr>
          <p:cNvSpPr txBox="1"/>
          <p:nvPr/>
        </p:nvSpPr>
        <p:spPr>
          <a:xfrm>
            <a:off x="2717800" y="4726376"/>
            <a:ext cx="6096000" cy="1754326"/>
          </a:xfrm>
          <a:prstGeom prst="rect">
            <a:avLst/>
          </a:prstGeom>
          <a:noFill/>
        </p:spPr>
        <p:txBody>
          <a:bodyPr wrap="square">
            <a:spAutoFit/>
          </a:bodyPr>
          <a:lstStyle/>
          <a:p>
            <a:r>
              <a:rPr lang="fr-FR" dirty="0"/>
              <a:t>Corrélation coefficient </a:t>
            </a:r>
          </a:p>
          <a:p>
            <a:r>
              <a:rPr lang="fr-FR" dirty="0"/>
              <a:t>= (5 * 3000 - 105 * 140) </a:t>
            </a:r>
          </a:p>
          <a:p>
            <a:r>
              <a:rPr lang="fr-FR" dirty="0"/>
              <a:t>     / </a:t>
            </a:r>
            <a:r>
              <a:rPr lang="fr-FR" dirty="0" err="1"/>
              <a:t>sqrt</a:t>
            </a:r>
            <a:r>
              <a:rPr lang="fr-FR" dirty="0"/>
              <a:t>((5 * 2295 - 1052)*(5*3964 - 1402))</a:t>
            </a:r>
          </a:p>
          <a:p>
            <a:r>
              <a:rPr lang="fr-FR" dirty="0"/>
              <a:t>= 300 / </a:t>
            </a:r>
            <a:r>
              <a:rPr lang="fr-FR" dirty="0" err="1"/>
              <a:t>sqrt</a:t>
            </a:r>
            <a:r>
              <a:rPr lang="fr-FR" dirty="0"/>
              <a:t>(450 * 220) = 0.953463</a:t>
            </a:r>
          </a:p>
          <a:p>
            <a:endParaRPr lang="fr-FR" dirty="0"/>
          </a:p>
          <a:p>
            <a:r>
              <a:rPr lang="fr-FR" dirty="0"/>
              <a:t>Corrélation coefficient = 0.953463</a:t>
            </a:r>
          </a:p>
        </p:txBody>
      </p:sp>
      <p:pic>
        <p:nvPicPr>
          <p:cNvPr id="15" name="Picture 14">
            <a:extLst>
              <a:ext uri="{FF2B5EF4-FFF2-40B4-BE49-F238E27FC236}">
                <a16:creationId xmlns:a16="http://schemas.microsoft.com/office/drawing/2014/main" id="{D91AC6FF-8167-4C19-86A5-8BDA24A4768D}"/>
              </a:ext>
            </a:extLst>
          </p:cNvPr>
          <p:cNvPicPr>
            <a:picLocks noChangeAspect="1"/>
          </p:cNvPicPr>
          <p:nvPr/>
        </p:nvPicPr>
        <p:blipFill>
          <a:blip r:embed="rId2"/>
          <a:stretch>
            <a:fillRect/>
          </a:stretch>
        </p:blipFill>
        <p:spPr>
          <a:xfrm>
            <a:off x="2908300" y="1044839"/>
            <a:ext cx="2857500" cy="1495425"/>
          </a:xfrm>
          <a:prstGeom prst="rect">
            <a:avLst/>
          </a:prstGeom>
        </p:spPr>
      </p:pic>
    </p:spTree>
    <p:extLst>
      <p:ext uri="{BB962C8B-B14F-4D97-AF65-F5344CB8AC3E}">
        <p14:creationId xmlns:p14="http://schemas.microsoft.com/office/powerpoint/2010/main" val="1814169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838200" y="365126"/>
            <a:ext cx="10515600" cy="315912"/>
          </a:xfrm>
        </p:spPr>
        <p:txBody>
          <a:bodyPr>
            <a:normAutofit fontScale="90000"/>
          </a:bodyPr>
          <a:lstStyle/>
          <a:p>
            <a:r>
              <a:rPr lang="en-IN" dirty="0"/>
              <a:t>Correlation</a:t>
            </a:r>
          </a:p>
        </p:txBody>
      </p:sp>
      <p:pic>
        <p:nvPicPr>
          <p:cNvPr id="7" name="Picture 6">
            <a:extLst>
              <a:ext uri="{FF2B5EF4-FFF2-40B4-BE49-F238E27FC236}">
                <a16:creationId xmlns:a16="http://schemas.microsoft.com/office/drawing/2014/main" id="{32719CAF-4035-472E-88D6-E09459A92C19}"/>
              </a:ext>
            </a:extLst>
          </p:cNvPr>
          <p:cNvPicPr>
            <a:picLocks noChangeAspect="1"/>
          </p:cNvPicPr>
          <p:nvPr/>
        </p:nvPicPr>
        <p:blipFill>
          <a:blip r:embed="rId3"/>
          <a:stretch>
            <a:fillRect/>
          </a:stretch>
        </p:blipFill>
        <p:spPr>
          <a:xfrm>
            <a:off x="376766" y="3558645"/>
            <a:ext cx="10591800" cy="3076575"/>
          </a:xfrm>
          <a:prstGeom prst="rect">
            <a:avLst/>
          </a:prstGeom>
        </p:spPr>
      </p:pic>
      <p:graphicFrame>
        <p:nvGraphicFramePr>
          <p:cNvPr id="10" name="Object 9">
            <a:extLst>
              <a:ext uri="{FF2B5EF4-FFF2-40B4-BE49-F238E27FC236}">
                <a16:creationId xmlns:a16="http://schemas.microsoft.com/office/drawing/2014/main" id="{E338AEFA-C20D-46A6-B0D0-1F72268FCA65}"/>
              </a:ext>
            </a:extLst>
          </p:cNvPr>
          <p:cNvGraphicFramePr>
            <a:graphicFrameLocks noChangeAspect="1"/>
          </p:cNvGraphicFramePr>
          <p:nvPr/>
        </p:nvGraphicFramePr>
        <p:xfrm>
          <a:off x="9100609" y="1267355"/>
          <a:ext cx="1339850" cy="2032000"/>
        </p:xfrm>
        <a:graphic>
          <a:graphicData uri="http://schemas.openxmlformats.org/presentationml/2006/ole">
            <mc:AlternateContent xmlns:mc="http://schemas.openxmlformats.org/markup-compatibility/2006">
              <mc:Choice xmlns:v="urn:schemas-microsoft-com:vml" Requires="v">
                <p:oleObj spid="_x0000_s2070" name="Worksheet" r:id="rId4" imgW="1339936" imgH="2032175" progId="Excel.Sheet.12">
                  <p:embed/>
                </p:oleObj>
              </mc:Choice>
              <mc:Fallback>
                <p:oleObj name="Worksheet" r:id="rId4" imgW="1339936" imgH="2032175" progId="Excel.Sheet.12">
                  <p:embed/>
                  <p:pic>
                    <p:nvPicPr>
                      <p:cNvPr id="10" name="Object 9">
                        <a:extLst>
                          <a:ext uri="{FF2B5EF4-FFF2-40B4-BE49-F238E27FC236}">
                            <a16:creationId xmlns:a16="http://schemas.microsoft.com/office/drawing/2014/main" id="{E338AEFA-C20D-46A6-B0D0-1F72268FCA65}"/>
                          </a:ext>
                        </a:extLst>
                      </p:cNvPr>
                      <p:cNvPicPr/>
                      <p:nvPr/>
                    </p:nvPicPr>
                    <p:blipFill>
                      <a:blip r:embed="rId5"/>
                      <a:stretch>
                        <a:fillRect/>
                      </a:stretch>
                    </p:blipFill>
                    <p:spPr>
                      <a:xfrm>
                        <a:off x="9100609" y="1267355"/>
                        <a:ext cx="1339850" cy="20320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2A73D4C-46C5-4EF1-8F97-E2A9032899A5}"/>
              </a:ext>
            </a:extLst>
          </p:cNvPr>
          <p:cNvGraphicFramePr>
            <a:graphicFrameLocks noChangeAspect="1"/>
          </p:cNvGraphicFramePr>
          <p:nvPr/>
        </p:nvGraphicFramePr>
        <p:xfrm>
          <a:off x="988483" y="1267355"/>
          <a:ext cx="1339850" cy="2032000"/>
        </p:xfrm>
        <a:graphic>
          <a:graphicData uri="http://schemas.openxmlformats.org/presentationml/2006/ole">
            <mc:AlternateContent xmlns:mc="http://schemas.openxmlformats.org/markup-compatibility/2006">
              <mc:Choice xmlns:v="urn:schemas-microsoft-com:vml" Requires="v">
                <p:oleObj spid="_x0000_s2071" name="Worksheet" r:id="rId6" imgW="1339936" imgH="2032175" progId="Excel.Sheet.12">
                  <p:embed/>
                </p:oleObj>
              </mc:Choice>
              <mc:Fallback>
                <p:oleObj name="Worksheet" r:id="rId6" imgW="1339936" imgH="2032175" progId="Excel.Sheet.12">
                  <p:embed/>
                  <p:pic>
                    <p:nvPicPr>
                      <p:cNvPr id="11" name="Object 10">
                        <a:extLst>
                          <a:ext uri="{FF2B5EF4-FFF2-40B4-BE49-F238E27FC236}">
                            <a16:creationId xmlns:a16="http://schemas.microsoft.com/office/drawing/2014/main" id="{72A73D4C-46C5-4EF1-8F97-E2A9032899A5}"/>
                          </a:ext>
                        </a:extLst>
                      </p:cNvPr>
                      <p:cNvPicPr/>
                      <p:nvPr/>
                    </p:nvPicPr>
                    <p:blipFill>
                      <a:blip r:embed="rId7"/>
                      <a:stretch>
                        <a:fillRect/>
                      </a:stretch>
                    </p:blipFill>
                    <p:spPr>
                      <a:xfrm>
                        <a:off x="988483" y="1267355"/>
                        <a:ext cx="1339850" cy="20320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391F617-8E4F-4912-9869-F34654472ED6}"/>
              </a:ext>
            </a:extLst>
          </p:cNvPr>
          <p:cNvGraphicFramePr>
            <a:graphicFrameLocks noChangeAspect="1"/>
          </p:cNvGraphicFramePr>
          <p:nvPr/>
        </p:nvGraphicFramePr>
        <p:xfrm>
          <a:off x="5091112" y="1267355"/>
          <a:ext cx="1339850" cy="2032000"/>
        </p:xfrm>
        <a:graphic>
          <a:graphicData uri="http://schemas.openxmlformats.org/presentationml/2006/ole">
            <mc:AlternateContent xmlns:mc="http://schemas.openxmlformats.org/markup-compatibility/2006">
              <mc:Choice xmlns:v="urn:schemas-microsoft-com:vml" Requires="v">
                <p:oleObj spid="_x0000_s2072" name="Worksheet" r:id="rId8" imgW="1339936" imgH="2032175" progId="Excel.Sheet.12">
                  <p:embed/>
                </p:oleObj>
              </mc:Choice>
              <mc:Fallback>
                <p:oleObj name="Worksheet" r:id="rId8" imgW="1339936" imgH="2032175" progId="Excel.Sheet.12">
                  <p:embed/>
                  <p:pic>
                    <p:nvPicPr>
                      <p:cNvPr id="12" name="Object 11">
                        <a:extLst>
                          <a:ext uri="{FF2B5EF4-FFF2-40B4-BE49-F238E27FC236}">
                            <a16:creationId xmlns:a16="http://schemas.microsoft.com/office/drawing/2014/main" id="{9391F617-8E4F-4912-9869-F34654472ED6}"/>
                          </a:ext>
                        </a:extLst>
                      </p:cNvPr>
                      <p:cNvPicPr/>
                      <p:nvPr/>
                    </p:nvPicPr>
                    <p:blipFill>
                      <a:blip r:embed="rId9"/>
                      <a:stretch>
                        <a:fillRect/>
                      </a:stretch>
                    </p:blipFill>
                    <p:spPr>
                      <a:xfrm>
                        <a:off x="5091112" y="1267355"/>
                        <a:ext cx="1339850" cy="2032000"/>
                      </a:xfrm>
                      <a:prstGeom prst="rect">
                        <a:avLst/>
                      </a:prstGeom>
                    </p:spPr>
                  </p:pic>
                </p:oleObj>
              </mc:Fallback>
            </mc:AlternateContent>
          </a:graphicData>
        </a:graphic>
      </p:graphicFrame>
    </p:spTree>
    <p:extLst>
      <p:ext uri="{BB962C8B-B14F-4D97-AF65-F5344CB8AC3E}">
        <p14:creationId xmlns:p14="http://schemas.microsoft.com/office/powerpoint/2010/main" val="2920478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title"/>
          </p:nvPr>
        </p:nvSpPr>
        <p:spPr>
          <a:xfrm>
            <a:off x="973666" y="2388659"/>
            <a:ext cx="10515600" cy="315912"/>
          </a:xfrm>
        </p:spPr>
        <p:txBody>
          <a:bodyPr>
            <a:normAutofit fontScale="90000"/>
          </a:bodyPr>
          <a:lstStyle/>
          <a:p>
            <a:br>
              <a:rPr lang="en-IN" dirty="0"/>
            </a:br>
            <a:r>
              <a:rPr lang="en-US" dirty="0"/>
              <a:t>Correlation does not imply causation </a:t>
            </a:r>
            <a:br>
              <a:rPr lang="en-IN" dirty="0"/>
            </a:br>
            <a:r>
              <a:rPr lang="en-IN" dirty="0"/>
              <a:t>Correlation is not causation	</a:t>
            </a:r>
          </a:p>
        </p:txBody>
      </p:sp>
    </p:spTree>
    <p:extLst>
      <p:ext uri="{BB962C8B-B14F-4D97-AF65-F5344CB8AC3E}">
        <p14:creationId xmlns:p14="http://schemas.microsoft.com/office/powerpoint/2010/main" val="561457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6D260-ABE7-493B-B809-D27E549D7153}"/>
              </a:ext>
            </a:extLst>
          </p:cNvPr>
          <p:cNvSpPr>
            <a:spLocks noGrp="1"/>
          </p:cNvSpPr>
          <p:nvPr>
            <p:ph type="ctrTitle"/>
          </p:nvPr>
        </p:nvSpPr>
        <p:spPr/>
        <p:txBody>
          <a:bodyPr>
            <a:normAutofit/>
          </a:bodyPr>
          <a:lstStyle/>
          <a:p>
            <a:r>
              <a:rPr lang="en-IN" dirty="0"/>
              <a:t>End</a:t>
            </a:r>
          </a:p>
        </p:txBody>
      </p:sp>
      <p:sp>
        <p:nvSpPr>
          <p:cNvPr id="3" name="Subtitle 2">
            <a:extLst>
              <a:ext uri="{FF2B5EF4-FFF2-40B4-BE49-F238E27FC236}">
                <a16:creationId xmlns:a16="http://schemas.microsoft.com/office/drawing/2014/main" id="{EF9A9AFD-8045-40E2-A1FB-1478A56F45C7}"/>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140776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2168</TotalTime>
  <Words>289</Words>
  <Application>Microsoft Office PowerPoint</Application>
  <PresentationFormat>Widescreen</PresentationFormat>
  <Paragraphs>68</Paragraphs>
  <Slides>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Calibri Light</vt:lpstr>
      <vt:lpstr>Office Theme</vt:lpstr>
      <vt:lpstr>Worksheet</vt:lpstr>
      <vt:lpstr>Correlation</vt:lpstr>
      <vt:lpstr>Correlation</vt:lpstr>
      <vt:lpstr>Correlation</vt:lpstr>
      <vt:lpstr>Correlation</vt:lpstr>
      <vt:lpstr>Correlation</vt:lpstr>
      <vt:lpstr> Correlation does not imply causation  Correlation is not causation </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Arunkumar Nair</dc:creator>
  <cp:lastModifiedBy>Arunkumar Nair</cp:lastModifiedBy>
  <cp:revision>14</cp:revision>
  <dcterms:created xsi:type="dcterms:W3CDTF">2020-07-22T18:19:10Z</dcterms:created>
  <dcterms:modified xsi:type="dcterms:W3CDTF">2020-07-24T06:31:34Z</dcterms:modified>
</cp:coreProperties>
</file>