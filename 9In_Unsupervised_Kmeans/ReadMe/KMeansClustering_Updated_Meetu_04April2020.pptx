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ink/ink1.xml" ContentType="application/inkml+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ink/ink2.xml" ContentType="application/inkml+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drawings/drawing1.xml" ContentType="application/vnd.openxmlformats-officedocument.drawingml.chartshapes+xml"/>
  <Override PartName="/ppt/ink/ink3.xml" ContentType="application/inkml+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ink/ink4.xml" ContentType="application/inkml+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ink/ink5.xml" ContentType="application/inkml+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ink/ink6.xml" ContentType="application/inkml+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ink/ink7.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6" r:id="rId3"/>
    <p:sldId id="306" r:id="rId4"/>
    <p:sldId id="287" r:id="rId5"/>
    <p:sldId id="295" r:id="rId6"/>
    <p:sldId id="288" r:id="rId7"/>
    <p:sldId id="308" r:id="rId8"/>
    <p:sldId id="310" r:id="rId9"/>
    <p:sldId id="289" r:id="rId10"/>
    <p:sldId id="303" r:id="rId11"/>
    <p:sldId id="260" r:id="rId12"/>
    <p:sldId id="284" r:id="rId13"/>
    <p:sldId id="279" r:id="rId14"/>
    <p:sldId id="285" r:id="rId15"/>
    <p:sldId id="290" r:id="rId16"/>
    <p:sldId id="291" r:id="rId17"/>
    <p:sldId id="292" r:id="rId18"/>
    <p:sldId id="274" r:id="rId19"/>
    <p:sldId id="298" r:id="rId20"/>
    <p:sldId id="262" r:id="rId21"/>
    <p:sldId id="297" r:id="rId22"/>
    <p:sldId id="299" r:id="rId23"/>
    <p:sldId id="300" r:id="rId24"/>
    <p:sldId id="301" r:id="rId25"/>
    <p:sldId id="264" r:id="rId26"/>
    <p:sldId id="302" r:id="rId27"/>
    <p:sldId id="304" r:id="rId28"/>
    <p:sldId id="305" r:id="rId29"/>
    <p:sldId id="307" r:id="rId30"/>
    <p:sldId id="311" r:id="rId31"/>
    <p:sldId id="272"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runkumar Nair" initials="AN" lastIdx="1" clrIdx="0">
    <p:extLst>
      <p:ext uri="{19B8F6BF-5375-455C-9EA6-DF929625EA0E}">
        <p15:presenceInfo xmlns:p15="http://schemas.microsoft.com/office/powerpoint/2012/main" userId="645c9327375490a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p:cViewPr varScale="1">
        <p:scale>
          <a:sx n="69" d="100"/>
          <a:sy n="69" d="100"/>
        </p:scale>
        <p:origin x="1320"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runk\Downloads\Intelli\IntelliDataSciencePython\PythonDataScience\1PythonTrainingToUSe\Module%209_Unsupervised_Learning_Kmeans\ReadMe\KMeans-ExcelShee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arunk\Downloads\Intelli\IntelliDataSciencePython\PythonDataScience\1PythonTrainingToUSe\Module%209_Unsupervised_Learning_Kmeans\ReadMe\KMeans-ExcelShee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arunk\Downloads\Intelli\IntelliDataSciencePython\PythonDataScience\1PythonTrainingToUSe\Module%209_Unsupervised_Learning_Kmeans\ReadMe\KMeans-ExcelSheet.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arunk\Downloads\Intelli\IntelliDataSciencePython\PythonDataScience\1PythonTrainingToUSe\Module%209_Unsupervised_Learning_Kmeans\ReadMe\KMeans-ExcelSheet.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arunk\Downloads\Intelli\IntelliDataSciencePython\PythonDataScience\1PythonTrainingToUSe\Module%209_Unsupervised_Learning_Kmeans\ReadMe\KMeans-ExcelSheet.xlsx" TargetMode="Externa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chartUserShapes" Target="../drawings/drawing1.xml"/></Relationships>
</file>

<file path=ppt/charts/_rels/chart6.xml.rels><?xml version="1.0" encoding="UTF-8" standalone="yes"?>
<Relationships xmlns="http://schemas.openxmlformats.org/package/2006/relationships"><Relationship Id="rId3" Type="http://schemas.openxmlformats.org/officeDocument/2006/relationships/oleObject" Target="file:///C:\Users\arunk\Downloads\Intelli\IntelliDataSciencePython\PythonDataScience\1PythonTrainingToUSe\Module%209_Unsupervised_Learning_Kmeans\ReadMe\KMeans-ExcelSheet.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arunk\Downloads\Intelli\IntelliDataSciencePython\PythonDataScience\1PythonTrainingToUSe\Module%209_Unsupervised_Learning_Kmeans\ReadMe\KMeans-ExcelSheet.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arunk\Downloads\Intelli\IntelliDataSciencePython\PythonDataScience\1PythonTrainingToUSe\Module%209_Unsupervised_Learning_Kmeans\ReadMe\KMeans-ExcelSheet.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arunk\Downloads\Intelli\IntelliDataSciencePython\PythonDataScience\1PythonTrainingToUSe\Module%209_Unsupervised_Learning_Kmeans\ReadMe\KMeans-ExcelSheet.xlsx" TargetMode="External"/><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Sheet1!$F$2</c:f>
              <c:strCache>
                <c:ptCount val="1"/>
                <c:pt idx="0">
                  <c:v>Column2</c:v>
                </c:pt>
              </c:strCache>
            </c:strRef>
          </c:tx>
          <c:spPr>
            <a:ln w="19050" cap="rnd">
              <a:noFill/>
              <a:round/>
            </a:ln>
            <a:effectLst/>
          </c:spPr>
          <c:marker>
            <c:symbol val="circle"/>
            <c:size val="5"/>
            <c:spPr>
              <a:solidFill>
                <a:schemeClr val="accent1"/>
              </a:solidFill>
              <a:ln w="9525">
                <a:solidFill>
                  <a:schemeClr val="accent1"/>
                </a:solidFill>
              </a:ln>
              <a:effectLst/>
            </c:spPr>
          </c:marker>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1"/>
            <c:showSerName val="0"/>
            <c:showPercent val="0"/>
            <c:showBubbleSize val="0"/>
            <c:showLeaderLines val="0"/>
            <c:extLst xmlns:c16r2="http://schemas.microsoft.com/office/drawing/2015/06/chart">
              <c:ext xmlns:c15="http://schemas.microsoft.com/office/drawing/2012/chart" uri="{CE6537A1-D6FC-4f65-9D91-7224C49458BB}">
                <c15:spPr xmlns:c15="http://schemas.microsoft.com/office/drawing/2012/chart">
                  <a:prstGeom prst="wedgeRectCallout">
                    <a:avLst/>
                  </a:prstGeom>
                  <a:noFill/>
                  <a:ln>
                    <a:noFill/>
                  </a:ln>
                </c15:spPr>
                <c15:layout/>
                <c15:showLeaderLines val="0"/>
              </c:ext>
            </c:extLst>
          </c:dLbls>
          <c:xVal>
            <c:numRef>
              <c:f>Sheet1!$E$3:$E$7</c:f>
              <c:numCache>
                <c:formatCode>General</c:formatCode>
                <c:ptCount val="5"/>
                <c:pt idx="0">
                  <c:v>1</c:v>
                </c:pt>
                <c:pt idx="1">
                  <c:v>2</c:v>
                </c:pt>
                <c:pt idx="2">
                  <c:v>4</c:v>
                </c:pt>
                <c:pt idx="3">
                  <c:v>7</c:v>
                </c:pt>
                <c:pt idx="4">
                  <c:v>5</c:v>
                </c:pt>
              </c:numCache>
            </c:numRef>
          </c:xVal>
          <c:yVal>
            <c:numRef>
              <c:f>Sheet1!$F$3:$F$7</c:f>
              <c:numCache>
                <c:formatCode>General</c:formatCode>
                <c:ptCount val="5"/>
                <c:pt idx="0">
                  <c:v>1</c:v>
                </c:pt>
                <c:pt idx="1">
                  <c:v>1</c:v>
                </c:pt>
                <c:pt idx="2">
                  <c:v>5</c:v>
                </c:pt>
                <c:pt idx="3">
                  <c:v>7</c:v>
                </c:pt>
                <c:pt idx="4">
                  <c:v>7</c:v>
                </c:pt>
              </c:numCache>
            </c:numRef>
          </c:yVal>
          <c:smooth val="0"/>
          <c:extLst xmlns:c16r2="http://schemas.microsoft.com/office/drawing/2015/06/chart">
            <c:ext xmlns:c16="http://schemas.microsoft.com/office/drawing/2014/chart" uri="{C3380CC4-5D6E-409C-BE32-E72D297353CC}">
              <c16:uniqueId val="{00000000-9AB7-483F-A7E6-7939AB4F7847}"/>
            </c:ext>
          </c:extLst>
        </c:ser>
        <c:dLbls>
          <c:showLegendKey val="0"/>
          <c:showVal val="0"/>
          <c:showCatName val="0"/>
          <c:showSerName val="0"/>
          <c:showPercent val="0"/>
          <c:showBubbleSize val="0"/>
        </c:dLbls>
        <c:axId val="184843472"/>
        <c:axId val="227738968"/>
      </c:scatterChart>
      <c:valAx>
        <c:axId val="184843472"/>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Column1</a:t>
                </a:r>
              </a:p>
            </c:rich>
          </c:tx>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7738968"/>
        <c:crosses val="autoZero"/>
        <c:crossBetween val="midCat"/>
      </c:valAx>
      <c:valAx>
        <c:axId val="22773896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Coloumn2</a:t>
                </a:r>
              </a:p>
            </c:rich>
          </c:tx>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4843472"/>
        <c:crosses val="autoZero"/>
        <c:crossBetween val="midCat"/>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Sheet1!$F$2</c:f>
              <c:strCache>
                <c:ptCount val="1"/>
                <c:pt idx="0">
                  <c:v>Column2</c:v>
                </c:pt>
              </c:strCache>
            </c:strRef>
          </c:tx>
          <c:spPr>
            <a:ln w="19050" cap="rnd">
              <a:noFill/>
              <a:round/>
            </a:ln>
            <a:effectLst/>
          </c:spPr>
          <c:marker>
            <c:symbol val="circle"/>
            <c:size val="5"/>
            <c:spPr>
              <a:solidFill>
                <a:schemeClr val="accent1"/>
              </a:solidFill>
              <a:ln w="9525">
                <a:solidFill>
                  <a:schemeClr val="accent1"/>
                </a:solidFill>
              </a:ln>
              <a:effectLst/>
            </c:spPr>
          </c:marker>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1"/>
            <c:showSerName val="0"/>
            <c:showPercent val="0"/>
            <c:showBubbleSize val="0"/>
            <c:showLeaderLines val="0"/>
            <c:extLst xmlns:c16r2="http://schemas.microsoft.com/office/drawing/2015/06/chart">
              <c:ext xmlns:c15="http://schemas.microsoft.com/office/drawing/2012/chart" uri="{CE6537A1-D6FC-4f65-9D91-7224C49458BB}">
                <c15:spPr xmlns:c15="http://schemas.microsoft.com/office/drawing/2012/chart">
                  <a:prstGeom prst="wedgeRectCallout">
                    <a:avLst/>
                  </a:prstGeom>
                  <a:noFill/>
                  <a:ln>
                    <a:noFill/>
                  </a:ln>
                </c15:spPr>
                <c15:layout/>
                <c15:showLeaderLines val="0"/>
              </c:ext>
            </c:extLst>
          </c:dLbls>
          <c:xVal>
            <c:numRef>
              <c:f>Sheet1!$E$3:$E$7</c:f>
              <c:numCache>
                <c:formatCode>General</c:formatCode>
                <c:ptCount val="5"/>
                <c:pt idx="0">
                  <c:v>1</c:v>
                </c:pt>
                <c:pt idx="1">
                  <c:v>2</c:v>
                </c:pt>
                <c:pt idx="2">
                  <c:v>4</c:v>
                </c:pt>
                <c:pt idx="3">
                  <c:v>7</c:v>
                </c:pt>
                <c:pt idx="4">
                  <c:v>5</c:v>
                </c:pt>
              </c:numCache>
            </c:numRef>
          </c:xVal>
          <c:yVal>
            <c:numRef>
              <c:f>Sheet1!$F$3:$F$7</c:f>
              <c:numCache>
                <c:formatCode>General</c:formatCode>
                <c:ptCount val="5"/>
                <c:pt idx="0">
                  <c:v>1</c:v>
                </c:pt>
                <c:pt idx="1">
                  <c:v>1</c:v>
                </c:pt>
                <c:pt idx="2">
                  <c:v>5</c:v>
                </c:pt>
                <c:pt idx="3">
                  <c:v>7</c:v>
                </c:pt>
                <c:pt idx="4">
                  <c:v>7</c:v>
                </c:pt>
              </c:numCache>
            </c:numRef>
          </c:yVal>
          <c:smooth val="0"/>
          <c:extLst xmlns:c16r2="http://schemas.microsoft.com/office/drawing/2015/06/chart">
            <c:ext xmlns:c16="http://schemas.microsoft.com/office/drawing/2014/chart" uri="{C3380CC4-5D6E-409C-BE32-E72D297353CC}">
              <c16:uniqueId val="{00000000-9AB7-483F-A7E6-7939AB4F7847}"/>
            </c:ext>
          </c:extLst>
        </c:ser>
        <c:dLbls>
          <c:showLegendKey val="0"/>
          <c:showVal val="0"/>
          <c:showCatName val="0"/>
          <c:showSerName val="0"/>
          <c:showPercent val="0"/>
          <c:showBubbleSize val="0"/>
        </c:dLbls>
        <c:axId val="184521880"/>
        <c:axId val="228552784"/>
      </c:scatterChart>
      <c:valAx>
        <c:axId val="184521880"/>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Column1</a:t>
                </a:r>
              </a:p>
            </c:rich>
          </c:tx>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8552784"/>
        <c:crosses val="autoZero"/>
        <c:crossBetween val="midCat"/>
      </c:valAx>
      <c:valAx>
        <c:axId val="22855278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Coloumn2</a:t>
                </a:r>
              </a:p>
            </c:rich>
          </c:tx>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4521880"/>
        <c:crosses val="autoZero"/>
        <c:crossBetween val="midCat"/>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Sheet1!$F$2</c:f>
              <c:strCache>
                <c:ptCount val="1"/>
                <c:pt idx="0">
                  <c:v>Column2</c:v>
                </c:pt>
              </c:strCache>
            </c:strRef>
          </c:tx>
          <c:spPr>
            <a:ln w="19050" cap="rnd">
              <a:noFill/>
              <a:round/>
            </a:ln>
            <a:effectLst/>
          </c:spPr>
          <c:marker>
            <c:symbol val="circle"/>
            <c:size val="5"/>
            <c:spPr>
              <a:solidFill>
                <a:schemeClr val="accent1"/>
              </a:solidFill>
              <a:ln w="9525">
                <a:solidFill>
                  <a:schemeClr val="accent1"/>
                </a:solidFill>
              </a:ln>
              <a:effectLst/>
            </c:spPr>
          </c:marker>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1"/>
            <c:showSerName val="0"/>
            <c:showPercent val="0"/>
            <c:showBubbleSize val="0"/>
            <c:showLeaderLines val="0"/>
            <c:extLst xmlns:c16r2="http://schemas.microsoft.com/office/drawing/2015/06/chart">
              <c:ext xmlns:c15="http://schemas.microsoft.com/office/drawing/2012/chart" uri="{CE6537A1-D6FC-4f65-9D91-7224C49458BB}">
                <c15:spPr xmlns:c15="http://schemas.microsoft.com/office/drawing/2012/chart">
                  <a:prstGeom prst="wedgeRectCallout">
                    <a:avLst/>
                  </a:prstGeom>
                  <a:noFill/>
                  <a:ln>
                    <a:noFill/>
                  </a:ln>
                </c15:spPr>
                <c15:layout/>
                <c15:showLeaderLines val="0"/>
              </c:ext>
            </c:extLst>
          </c:dLbls>
          <c:xVal>
            <c:numRef>
              <c:f>Sheet1!$E$3:$E$7</c:f>
              <c:numCache>
                <c:formatCode>General</c:formatCode>
                <c:ptCount val="5"/>
                <c:pt idx="0">
                  <c:v>1</c:v>
                </c:pt>
                <c:pt idx="1">
                  <c:v>2</c:v>
                </c:pt>
                <c:pt idx="2">
                  <c:v>4</c:v>
                </c:pt>
                <c:pt idx="3">
                  <c:v>7</c:v>
                </c:pt>
                <c:pt idx="4">
                  <c:v>5</c:v>
                </c:pt>
              </c:numCache>
            </c:numRef>
          </c:xVal>
          <c:yVal>
            <c:numRef>
              <c:f>Sheet1!$F$3:$F$7</c:f>
              <c:numCache>
                <c:formatCode>General</c:formatCode>
                <c:ptCount val="5"/>
                <c:pt idx="0">
                  <c:v>1</c:v>
                </c:pt>
                <c:pt idx="1">
                  <c:v>1</c:v>
                </c:pt>
                <c:pt idx="2">
                  <c:v>5</c:v>
                </c:pt>
                <c:pt idx="3">
                  <c:v>7</c:v>
                </c:pt>
                <c:pt idx="4">
                  <c:v>7</c:v>
                </c:pt>
              </c:numCache>
            </c:numRef>
          </c:yVal>
          <c:smooth val="0"/>
          <c:extLst xmlns:c16r2="http://schemas.microsoft.com/office/drawing/2015/06/chart">
            <c:ext xmlns:c16="http://schemas.microsoft.com/office/drawing/2014/chart" uri="{C3380CC4-5D6E-409C-BE32-E72D297353CC}">
              <c16:uniqueId val="{00000000-9AB7-483F-A7E6-7939AB4F7847}"/>
            </c:ext>
          </c:extLst>
        </c:ser>
        <c:dLbls>
          <c:showLegendKey val="0"/>
          <c:showVal val="0"/>
          <c:showCatName val="0"/>
          <c:showSerName val="0"/>
          <c:showPercent val="0"/>
          <c:showBubbleSize val="0"/>
        </c:dLbls>
        <c:axId val="228553568"/>
        <c:axId val="228553960"/>
      </c:scatterChart>
      <c:valAx>
        <c:axId val="228553568"/>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Column1</a:t>
                </a:r>
              </a:p>
            </c:rich>
          </c:tx>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8553960"/>
        <c:crosses val="autoZero"/>
        <c:crossBetween val="midCat"/>
      </c:valAx>
      <c:valAx>
        <c:axId val="22855396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Coloumn2</a:t>
                </a:r>
              </a:p>
            </c:rich>
          </c:tx>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8553568"/>
        <c:crosses val="autoZero"/>
        <c:crossBetween val="midCat"/>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Sheet1!$F$2</c:f>
              <c:strCache>
                <c:ptCount val="1"/>
                <c:pt idx="0">
                  <c:v>Column2</c:v>
                </c:pt>
              </c:strCache>
            </c:strRef>
          </c:tx>
          <c:spPr>
            <a:ln w="19050" cap="rnd">
              <a:noFill/>
              <a:round/>
            </a:ln>
            <a:effectLst/>
          </c:spPr>
          <c:marker>
            <c:symbol val="circle"/>
            <c:size val="5"/>
            <c:spPr>
              <a:solidFill>
                <a:schemeClr val="accent1"/>
              </a:solidFill>
              <a:ln w="9525">
                <a:solidFill>
                  <a:schemeClr val="accent1"/>
                </a:solidFill>
              </a:ln>
              <a:effectLst/>
            </c:spPr>
          </c:marker>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1"/>
            <c:showSerName val="0"/>
            <c:showPercent val="0"/>
            <c:showBubbleSize val="0"/>
            <c:showLeaderLines val="0"/>
            <c:extLst xmlns:c16r2="http://schemas.microsoft.com/office/drawing/2015/06/chart">
              <c:ext xmlns:c15="http://schemas.microsoft.com/office/drawing/2012/chart" uri="{CE6537A1-D6FC-4f65-9D91-7224C49458BB}">
                <c15:spPr xmlns:c15="http://schemas.microsoft.com/office/drawing/2012/chart">
                  <a:prstGeom prst="wedgeRectCallout">
                    <a:avLst/>
                  </a:prstGeom>
                  <a:noFill/>
                  <a:ln>
                    <a:noFill/>
                  </a:ln>
                </c15:spPr>
                <c15:layout/>
                <c15:showLeaderLines val="0"/>
              </c:ext>
            </c:extLst>
          </c:dLbls>
          <c:xVal>
            <c:numRef>
              <c:f>Sheet1!$E$3:$E$7</c:f>
              <c:numCache>
                <c:formatCode>General</c:formatCode>
                <c:ptCount val="5"/>
                <c:pt idx="0">
                  <c:v>1</c:v>
                </c:pt>
                <c:pt idx="1">
                  <c:v>2</c:v>
                </c:pt>
                <c:pt idx="2">
                  <c:v>4</c:v>
                </c:pt>
                <c:pt idx="3">
                  <c:v>7</c:v>
                </c:pt>
                <c:pt idx="4">
                  <c:v>5</c:v>
                </c:pt>
              </c:numCache>
            </c:numRef>
          </c:xVal>
          <c:yVal>
            <c:numRef>
              <c:f>Sheet1!$F$3:$F$7</c:f>
              <c:numCache>
                <c:formatCode>General</c:formatCode>
                <c:ptCount val="5"/>
                <c:pt idx="0">
                  <c:v>1</c:v>
                </c:pt>
                <c:pt idx="1">
                  <c:v>1</c:v>
                </c:pt>
                <c:pt idx="2">
                  <c:v>5</c:v>
                </c:pt>
                <c:pt idx="3">
                  <c:v>7</c:v>
                </c:pt>
                <c:pt idx="4">
                  <c:v>7</c:v>
                </c:pt>
              </c:numCache>
            </c:numRef>
          </c:yVal>
          <c:smooth val="0"/>
          <c:extLst xmlns:c16r2="http://schemas.microsoft.com/office/drawing/2015/06/chart">
            <c:ext xmlns:c16="http://schemas.microsoft.com/office/drawing/2014/chart" uri="{C3380CC4-5D6E-409C-BE32-E72D297353CC}">
              <c16:uniqueId val="{00000000-9AB7-483F-A7E6-7939AB4F7847}"/>
            </c:ext>
          </c:extLst>
        </c:ser>
        <c:dLbls>
          <c:showLegendKey val="0"/>
          <c:showVal val="0"/>
          <c:showCatName val="0"/>
          <c:showSerName val="0"/>
          <c:showPercent val="0"/>
          <c:showBubbleSize val="0"/>
        </c:dLbls>
        <c:axId val="293580736"/>
        <c:axId val="293581128"/>
      </c:scatterChart>
      <c:valAx>
        <c:axId val="29358073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Column1</a:t>
                </a:r>
              </a:p>
            </c:rich>
          </c:tx>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93581128"/>
        <c:crosses val="autoZero"/>
        <c:crossBetween val="midCat"/>
      </c:valAx>
      <c:valAx>
        <c:axId val="29358112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Coloumn2</a:t>
                </a:r>
              </a:p>
            </c:rich>
          </c:tx>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93580736"/>
        <c:crosses val="autoZero"/>
        <c:crossBetween val="midCat"/>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2670603674540681"/>
          <c:y val="0.14856481481481484"/>
          <c:w val="0.85029396325459317"/>
          <c:h val="0.62271617089530473"/>
        </c:manualLayout>
      </c:layout>
      <c:scatterChart>
        <c:scatterStyle val="lineMarker"/>
        <c:varyColors val="0"/>
        <c:ser>
          <c:idx val="0"/>
          <c:order val="0"/>
          <c:tx>
            <c:strRef>
              <c:f>Sheet1!$F$2</c:f>
              <c:strCache>
                <c:ptCount val="1"/>
                <c:pt idx="0">
                  <c:v>Column2</c:v>
                </c:pt>
              </c:strCache>
            </c:strRef>
          </c:tx>
          <c:spPr>
            <a:ln w="19050" cap="rnd">
              <a:noFill/>
              <a:round/>
            </a:ln>
            <a:effectLst/>
          </c:spPr>
          <c:marker>
            <c:symbol val="circle"/>
            <c:size val="5"/>
            <c:spPr>
              <a:solidFill>
                <a:schemeClr val="accent1"/>
              </a:solidFill>
              <a:ln w="9525">
                <a:solidFill>
                  <a:schemeClr val="accent1"/>
                </a:solidFill>
              </a:ln>
              <a:effectLst/>
            </c:spPr>
          </c:marker>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1"/>
            <c:showSerName val="0"/>
            <c:showPercent val="0"/>
            <c:showBubbleSize val="0"/>
            <c:showLeaderLines val="0"/>
            <c:extLst xmlns:c16r2="http://schemas.microsoft.com/office/drawing/2015/06/chart">
              <c:ext xmlns:c15="http://schemas.microsoft.com/office/drawing/2012/chart" uri="{CE6537A1-D6FC-4f65-9D91-7224C49458BB}">
                <c15:spPr xmlns:c15="http://schemas.microsoft.com/office/drawing/2012/chart">
                  <a:prstGeom prst="wedgeRectCallout">
                    <a:avLst/>
                  </a:prstGeom>
                  <a:noFill/>
                  <a:ln>
                    <a:noFill/>
                  </a:ln>
                </c15:spPr>
                <c15:layout/>
                <c15:showLeaderLines val="0"/>
              </c:ext>
            </c:extLst>
          </c:dLbls>
          <c:xVal>
            <c:numRef>
              <c:f>Sheet1!$E$3:$E$7</c:f>
              <c:numCache>
                <c:formatCode>General</c:formatCode>
                <c:ptCount val="5"/>
                <c:pt idx="0">
                  <c:v>1</c:v>
                </c:pt>
                <c:pt idx="1">
                  <c:v>2</c:v>
                </c:pt>
                <c:pt idx="2">
                  <c:v>4</c:v>
                </c:pt>
                <c:pt idx="3">
                  <c:v>7</c:v>
                </c:pt>
                <c:pt idx="4">
                  <c:v>5</c:v>
                </c:pt>
              </c:numCache>
            </c:numRef>
          </c:xVal>
          <c:yVal>
            <c:numRef>
              <c:f>Sheet1!$F$3:$F$7</c:f>
              <c:numCache>
                <c:formatCode>General</c:formatCode>
                <c:ptCount val="5"/>
                <c:pt idx="0">
                  <c:v>1</c:v>
                </c:pt>
                <c:pt idx="1">
                  <c:v>1</c:v>
                </c:pt>
                <c:pt idx="2">
                  <c:v>5</c:v>
                </c:pt>
                <c:pt idx="3">
                  <c:v>7</c:v>
                </c:pt>
                <c:pt idx="4">
                  <c:v>7</c:v>
                </c:pt>
              </c:numCache>
            </c:numRef>
          </c:yVal>
          <c:smooth val="0"/>
          <c:extLst xmlns:c16r2="http://schemas.microsoft.com/office/drawing/2015/06/chart">
            <c:ext xmlns:c16="http://schemas.microsoft.com/office/drawing/2014/chart" uri="{C3380CC4-5D6E-409C-BE32-E72D297353CC}">
              <c16:uniqueId val="{00000000-9AB7-483F-A7E6-7939AB4F7847}"/>
            </c:ext>
          </c:extLst>
        </c:ser>
        <c:dLbls>
          <c:showLegendKey val="0"/>
          <c:showVal val="0"/>
          <c:showCatName val="0"/>
          <c:showSerName val="0"/>
          <c:showPercent val="0"/>
          <c:showBubbleSize val="0"/>
        </c:dLbls>
        <c:axId val="293582304"/>
        <c:axId val="293582696"/>
      </c:scatterChart>
      <c:valAx>
        <c:axId val="293582304"/>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Column1</a:t>
                </a:r>
              </a:p>
            </c:rich>
          </c:tx>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93582696"/>
        <c:crosses val="autoZero"/>
        <c:crossBetween val="midCat"/>
      </c:valAx>
      <c:valAx>
        <c:axId val="29358269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Coloumn2</a:t>
                </a:r>
              </a:p>
            </c:rich>
          </c:tx>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93582304"/>
        <c:crosses val="autoZero"/>
        <c:crossBetween val="midCat"/>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Sheet1!$F$2</c:f>
              <c:strCache>
                <c:ptCount val="1"/>
                <c:pt idx="0">
                  <c:v>Column2</c:v>
                </c:pt>
              </c:strCache>
            </c:strRef>
          </c:tx>
          <c:spPr>
            <a:ln w="19050" cap="rnd">
              <a:noFill/>
              <a:round/>
            </a:ln>
            <a:effectLst/>
          </c:spPr>
          <c:marker>
            <c:symbol val="circle"/>
            <c:size val="5"/>
            <c:spPr>
              <a:solidFill>
                <a:schemeClr val="accent1"/>
              </a:solidFill>
              <a:ln w="9525">
                <a:solidFill>
                  <a:schemeClr val="accent1"/>
                </a:solidFill>
              </a:ln>
              <a:effectLst/>
            </c:spPr>
          </c:marker>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1"/>
            <c:showSerName val="0"/>
            <c:showPercent val="0"/>
            <c:showBubbleSize val="0"/>
            <c:showLeaderLines val="0"/>
            <c:extLst xmlns:c16r2="http://schemas.microsoft.com/office/drawing/2015/06/chart">
              <c:ext xmlns:c15="http://schemas.microsoft.com/office/drawing/2012/chart" uri="{CE6537A1-D6FC-4f65-9D91-7224C49458BB}">
                <c15:spPr xmlns:c15="http://schemas.microsoft.com/office/drawing/2012/chart">
                  <a:prstGeom prst="wedgeRectCallout">
                    <a:avLst/>
                  </a:prstGeom>
                  <a:noFill/>
                  <a:ln>
                    <a:noFill/>
                  </a:ln>
                </c15:spPr>
                <c15:layout/>
                <c15:showLeaderLines val="0"/>
              </c:ext>
            </c:extLst>
          </c:dLbls>
          <c:xVal>
            <c:numRef>
              <c:f>Sheet1!$E$3:$E$7</c:f>
              <c:numCache>
                <c:formatCode>General</c:formatCode>
                <c:ptCount val="5"/>
                <c:pt idx="0">
                  <c:v>1</c:v>
                </c:pt>
                <c:pt idx="1">
                  <c:v>2</c:v>
                </c:pt>
                <c:pt idx="2">
                  <c:v>4</c:v>
                </c:pt>
                <c:pt idx="3">
                  <c:v>7</c:v>
                </c:pt>
                <c:pt idx="4">
                  <c:v>5</c:v>
                </c:pt>
              </c:numCache>
            </c:numRef>
          </c:xVal>
          <c:yVal>
            <c:numRef>
              <c:f>Sheet1!$F$3:$F$7</c:f>
              <c:numCache>
                <c:formatCode>General</c:formatCode>
                <c:ptCount val="5"/>
                <c:pt idx="0">
                  <c:v>1</c:v>
                </c:pt>
                <c:pt idx="1">
                  <c:v>1</c:v>
                </c:pt>
                <c:pt idx="2">
                  <c:v>5</c:v>
                </c:pt>
                <c:pt idx="3">
                  <c:v>7</c:v>
                </c:pt>
                <c:pt idx="4">
                  <c:v>7</c:v>
                </c:pt>
              </c:numCache>
            </c:numRef>
          </c:yVal>
          <c:smooth val="0"/>
          <c:extLst xmlns:c16r2="http://schemas.microsoft.com/office/drawing/2015/06/chart">
            <c:ext xmlns:c16="http://schemas.microsoft.com/office/drawing/2014/chart" uri="{C3380CC4-5D6E-409C-BE32-E72D297353CC}">
              <c16:uniqueId val="{00000000-9AB7-483F-A7E6-7939AB4F7847}"/>
            </c:ext>
          </c:extLst>
        </c:ser>
        <c:dLbls>
          <c:showLegendKey val="0"/>
          <c:showVal val="0"/>
          <c:showCatName val="0"/>
          <c:showSerName val="0"/>
          <c:showPercent val="0"/>
          <c:showBubbleSize val="0"/>
        </c:dLbls>
        <c:axId val="293583872"/>
        <c:axId val="293584264"/>
      </c:scatterChart>
      <c:valAx>
        <c:axId val="293583872"/>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Column1</a:t>
                </a:r>
              </a:p>
            </c:rich>
          </c:tx>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93584264"/>
        <c:crosses val="autoZero"/>
        <c:crossBetween val="midCat"/>
      </c:valAx>
      <c:valAx>
        <c:axId val="29358426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Coloumn2</a:t>
                </a:r>
              </a:p>
            </c:rich>
          </c:tx>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93583872"/>
        <c:crosses val="autoZero"/>
        <c:crossBetween val="midCat"/>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Sheet1!$F$2</c:f>
              <c:strCache>
                <c:ptCount val="1"/>
                <c:pt idx="0">
                  <c:v>Column2</c:v>
                </c:pt>
              </c:strCache>
            </c:strRef>
          </c:tx>
          <c:spPr>
            <a:ln w="19050" cap="rnd">
              <a:noFill/>
              <a:round/>
            </a:ln>
            <a:effectLst/>
          </c:spPr>
          <c:marker>
            <c:symbol val="circle"/>
            <c:size val="5"/>
            <c:spPr>
              <a:solidFill>
                <a:schemeClr val="accent1"/>
              </a:solidFill>
              <a:ln w="9525">
                <a:solidFill>
                  <a:schemeClr val="accent1"/>
                </a:solidFill>
              </a:ln>
              <a:effectLst/>
            </c:spPr>
          </c:marker>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1"/>
            <c:showSerName val="0"/>
            <c:showPercent val="0"/>
            <c:showBubbleSize val="0"/>
            <c:showLeaderLines val="0"/>
            <c:extLst xmlns:c16r2="http://schemas.microsoft.com/office/drawing/2015/06/chart">
              <c:ext xmlns:c15="http://schemas.microsoft.com/office/drawing/2012/chart" uri="{CE6537A1-D6FC-4f65-9D91-7224C49458BB}">
                <c15:spPr xmlns:c15="http://schemas.microsoft.com/office/drawing/2012/chart">
                  <a:prstGeom prst="wedgeRectCallout">
                    <a:avLst/>
                  </a:prstGeom>
                  <a:noFill/>
                  <a:ln>
                    <a:noFill/>
                  </a:ln>
                </c15:spPr>
                <c15:layout/>
                <c15:showLeaderLines val="0"/>
              </c:ext>
            </c:extLst>
          </c:dLbls>
          <c:xVal>
            <c:numRef>
              <c:f>Sheet1!$E$3:$E$7</c:f>
              <c:numCache>
                <c:formatCode>General</c:formatCode>
                <c:ptCount val="5"/>
                <c:pt idx="0">
                  <c:v>1</c:v>
                </c:pt>
                <c:pt idx="1">
                  <c:v>2</c:v>
                </c:pt>
                <c:pt idx="2">
                  <c:v>4</c:v>
                </c:pt>
                <c:pt idx="3">
                  <c:v>7</c:v>
                </c:pt>
                <c:pt idx="4">
                  <c:v>5</c:v>
                </c:pt>
              </c:numCache>
            </c:numRef>
          </c:xVal>
          <c:yVal>
            <c:numRef>
              <c:f>Sheet1!$F$3:$F$7</c:f>
              <c:numCache>
                <c:formatCode>General</c:formatCode>
                <c:ptCount val="5"/>
                <c:pt idx="0">
                  <c:v>1</c:v>
                </c:pt>
                <c:pt idx="1">
                  <c:v>1</c:v>
                </c:pt>
                <c:pt idx="2">
                  <c:v>5</c:v>
                </c:pt>
                <c:pt idx="3">
                  <c:v>7</c:v>
                </c:pt>
                <c:pt idx="4">
                  <c:v>7</c:v>
                </c:pt>
              </c:numCache>
            </c:numRef>
          </c:yVal>
          <c:smooth val="0"/>
          <c:extLst xmlns:c16r2="http://schemas.microsoft.com/office/drawing/2015/06/chart">
            <c:ext xmlns:c16="http://schemas.microsoft.com/office/drawing/2014/chart" uri="{C3380CC4-5D6E-409C-BE32-E72D297353CC}">
              <c16:uniqueId val="{00000000-9AB7-483F-A7E6-7939AB4F7847}"/>
            </c:ext>
          </c:extLst>
        </c:ser>
        <c:dLbls>
          <c:showLegendKey val="0"/>
          <c:showVal val="0"/>
          <c:showCatName val="0"/>
          <c:showSerName val="0"/>
          <c:showPercent val="0"/>
          <c:showBubbleSize val="0"/>
        </c:dLbls>
        <c:axId val="292966728"/>
        <c:axId val="292967120"/>
      </c:scatterChart>
      <c:valAx>
        <c:axId val="292966728"/>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Column1</a:t>
                </a:r>
              </a:p>
            </c:rich>
          </c:tx>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92967120"/>
        <c:crosses val="autoZero"/>
        <c:crossBetween val="midCat"/>
      </c:valAx>
      <c:valAx>
        <c:axId val="29296712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Coloumn2</a:t>
                </a:r>
              </a:p>
            </c:rich>
          </c:tx>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92966728"/>
        <c:crosses val="autoZero"/>
        <c:crossBetween val="midCat"/>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Sheet1!$F$2</c:f>
              <c:strCache>
                <c:ptCount val="1"/>
                <c:pt idx="0">
                  <c:v>Column2</c:v>
                </c:pt>
              </c:strCache>
            </c:strRef>
          </c:tx>
          <c:spPr>
            <a:ln w="19050" cap="rnd">
              <a:noFill/>
              <a:round/>
            </a:ln>
            <a:effectLst/>
          </c:spPr>
          <c:marker>
            <c:symbol val="circle"/>
            <c:size val="5"/>
            <c:spPr>
              <a:solidFill>
                <a:schemeClr val="accent1"/>
              </a:solidFill>
              <a:ln w="9525">
                <a:solidFill>
                  <a:schemeClr val="accent1"/>
                </a:solidFill>
              </a:ln>
              <a:effectLst/>
            </c:spPr>
          </c:marker>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1"/>
            <c:showSerName val="0"/>
            <c:showPercent val="0"/>
            <c:showBubbleSize val="0"/>
            <c:showLeaderLines val="0"/>
            <c:extLst xmlns:c16r2="http://schemas.microsoft.com/office/drawing/2015/06/chart">
              <c:ext xmlns:c15="http://schemas.microsoft.com/office/drawing/2012/chart" uri="{CE6537A1-D6FC-4f65-9D91-7224C49458BB}">
                <c15:spPr xmlns:c15="http://schemas.microsoft.com/office/drawing/2012/chart">
                  <a:prstGeom prst="wedgeRectCallout">
                    <a:avLst/>
                  </a:prstGeom>
                  <a:noFill/>
                  <a:ln>
                    <a:noFill/>
                  </a:ln>
                </c15:spPr>
                <c15:layout/>
                <c15:showLeaderLines val="0"/>
              </c:ext>
            </c:extLst>
          </c:dLbls>
          <c:xVal>
            <c:numRef>
              <c:f>Sheet1!$E$3:$E$7</c:f>
              <c:numCache>
                <c:formatCode>General</c:formatCode>
                <c:ptCount val="5"/>
                <c:pt idx="0">
                  <c:v>1</c:v>
                </c:pt>
                <c:pt idx="1">
                  <c:v>2</c:v>
                </c:pt>
                <c:pt idx="2">
                  <c:v>4</c:v>
                </c:pt>
                <c:pt idx="3">
                  <c:v>7</c:v>
                </c:pt>
                <c:pt idx="4">
                  <c:v>5</c:v>
                </c:pt>
              </c:numCache>
            </c:numRef>
          </c:xVal>
          <c:yVal>
            <c:numRef>
              <c:f>Sheet1!$F$3:$F$7</c:f>
              <c:numCache>
                <c:formatCode>General</c:formatCode>
                <c:ptCount val="5"/>
                <c:pt idx="0">
                  <c:v>1</c:v>
                </c:pt>
                <c:pt idx="1">
                  <c:v>1</c:v>
                </c:pt>
                <c:pt idx="2">
                  <c:v>5</c:v>
                </c:pt>
                <c:pt idx="3">
                  <c:v>7</c:v>
                </c:pt>
                <c:pt idx="4">
                  <c:v>7</c:v>
                </c:pt>
              </c:numCache>
            </c:numRef>
          </c:yVal>
          <c:smooth val="0"/>
          <c:extLst xmlns:c16r2="http://schemas.microsoft.com/office/drawing/2015/06/chart">
            <c:ext xmlns:c16="http://schemas.microsoft.com/office/drawing/2014/chart" uri="{C3380CC4-5D6E-409C-BE32-E72D297353CC}">
              <c16:uniqueId val="{00000000-9AB7-483F-A7E6-7939AB4F7847}"/>
            </c:ext>
          </c:extLst>
        </c:ser>
        <c:dLbls>
          <c:showLegendKey val="0"/>
          <c:showVal val="0"/>
          <c:showCatName val="0"/>
          <c:showSerName val="0"/>
          <c:showPercent val="0"/>
          <c:showBubbleSize val="0"/>
        </c:dLbls>
        <c:axId val="292968296"/>
        <c:axId val="292968688"/>
      </c:scatterChart>
      <c:valAx>
        <c:axId val="29296829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Column1</a:t>
                </a:r>
              </a:p>
            </c:rich>
          </c:tx>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92968688"/>
        <c:crosses val="autoZero"/>
        <c:crossBetween val="midCat"/>
      </c:valAx>
      <c:valAx>
        <c:axId val="29296868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Coloumn2</a:t>
                </a:r>
              </a:p>
            </c:rich>
          </c:tx>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92968296"/>
        <c:crosses val="autoZero"/>
        <c:crossBetween val="midCat"/>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Sheet1!$F$2</c:f>
              <c:strCache>
                <c:ptCount val="1"/>
                <c:pt idx="0">
                  <c:v>Column2</c:v>
                </c:pt>
              </c:strCache>
            </c:strRef>
          </c:tx>
          <c:spPr>
            <a:ln w="19050" cap="rnd">
              <a:noFill/>
              <a:round/>
            </a:ln>
            <a:effectLst/>
          </c:spPr>
          <c:marker>
            <c:symbol val="circle"/>
            <c:size val="5"/>
            <c:spPr>
              <a:solidFill>
                <a:schemeClr val="accent1"/>
              </a:solidFill>
              <a:ln w="9525">
                <a:solidFill>
                  <a:schemeClr val="accent1"/>
                </a:solidFill>
              </a:ln>
              <a:effectLst/>
            </c:spPr>
          </c:marker>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1"/>
            <c:showSerName val="0"/>
            <c:showPercent val="0"/>
            <c:showBubbleSize val="0"/>
            <c:showLeaderLines val="0"/>
            <c:extLst xmlns:c16r2="http://schemas.microsoft.com/office/drawing/2015/06/chart">
              <c:ext xmlns:c15="http://schemas.microsoft.com/office/drawing/2012/chart" uri="{CE6537A1-D6FC-4f65-9D91-7224C49458BB}">
                <c15:spPr xmlns:c15="http://schemas.microsoft.com/office/drawing/2012/chart">
                  <a:prstGeom prst="wedgeRectCallout">
                    <a:avLst/>
                  </a:prstGeom>
                  <a:noFill/>
                  <a:ln>
                    <a:noFill/>
                  </a:ln>
                </c15:spPr>
                <c15:layout/>
                <c15:showLeaderLines val="0"/>
              </c:ext>
            </c:extLst>
          </c:dLbls>
          <c:xVal>
            <c:numRef>
              <c:f>Sheet1!$E$3:$E$7</c:f>
              <c:numCache>
                <c:formatCode>General</c:formatCode>
                <c:ptCount val="5"/>
                <c:pt idx="0">
                  <c:v>1</c:v>
                </c:pt>
                <c:pt idx="1">
                  <c:v>2</c:v>
                </c:pt>
                <c:pt idx="2">
                  <c:v>4</c:v>
                </c:pt>
                <c:pt idx="3">
                  <c:v>7</c:v>
                </c:pt>
                <c:pt idx="4">
                  <c:v>5</c:v>
                </c:pt>
              </c:numCache>
            </c:numRef>
          </c:xVal>
          <c:yVal>
            <c:numRef>
              <c:f>Sheet1!$F$3:$F$7</c:f>
              <c:numCache>
                <c:formatCode>General</c:formatCode>
                <c:ptCount val="5"/>
                <c:pt idx="0">
                  <c:v>1</c:v>
                </c:pt>
                <c:pt idx="1">
                  <c:v>1</c:v>
                </c:pt>
                <c:pt idx="2">
                  <c:v>5</c:v>
                </c:pt>
                <c:pt idx="3">
                  <c:v>7</c:v>
                </c:pt>
                <c:pt idx="4">
                  <c:v>7</c:v>
                </c:pt>
              </c:numCache>
            </c:numRef>
          </c:yVal>
          <c:smooth val="0"/>
          <c:extLst xmlns:c16r2="http://schemas.microsoft.com/office/drawing/2015/06/chart">
            <c:ext xmlns:c16="http://schemas.microsoft.com/office/drawing/2014/chart" uri="{C3380CC4-5D6E-409C-BE32-E72D297353CC}">
              <c16:uniqueId val="{00000000-9AB7-483F-A7E6-7939AB4F7847}"/>
            </c:ext>
          </c:extLst>
        </c:ser>
        <c:dLbls>
          <c:showLegendKey val="0"/>
          <c:showVal val="0"/>
          <c:showCatName val="0"/>
          <c:showSerName val="0"/>
          <c:showPercent val="0"/>
          <c:showBubbleSize val="0"/>
        </c:dLbls>
        <c:axId val="292969864"/>
        <c:axId val="293129688"/>
      </c:scatterChart>
      <c:valAx>
        <c:axId val="292969864"/>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Column1</a:t>
                </a:r>
              </a:p>
            </c:rich>
          </c:tx>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93129688"/>
        <c:crosses val="autoZero"/>
        <c:crossBetween val="midCat"/>
      </c:valAx>
      <c:valAx>
        <c:axId val="29312968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Coloumn2</a:t>
                </a:r>
              </a:p>
            </c:rich>
          </c:tx>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92969864"/>
        <c:crosses val="autoZero"/>
        <c:crossBetween val="midCat"/>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0.21053</cdr:x>
      <cdr:y>0.30737</cdr:y>
    </cdr:from>
    <cdr:to>
      <cdr:x>0.34629</cdr:x>
      <cdr:y>0.51014</cdr:y>
    </cdr:to>
    <cdr:sp macro="" textlink="">
      <cdr:nvSpPr>
        <cdr:cNvPr id="2" name="Oval 1">
          <a:extLst xmlns:a="http://schemas.openxmlformats.org/drawingml/2006/main">
            <a:ext uri="{FF2B5EF4-FFF2-40B4-BE49-F238E27FC236}">
              <a16:creationId xmlns:a16="http://schemas.microsoft.com/office/drawing/2014/main" xmlns="" id="{A84819CD-330C-4B23-A0F3-79812C3C64B2}"/>
            </a:ext>
          </a:extLst>
        </cdr:cNvPr>
        <cdr:cNvSpPr/>
      </cdr:nvSpPr>
      <cdr:spPr>
        <a:xfrm xmlns:a="http://schemas.openxmlformats.org/drawingml/2006/main">
          <a:off x="962533" y="843188"/>
          <a:ext cx="620686" cy="556232"/>
        </a:xfrm>
        <a:prstGeom xmlns:a="http://schemas.openxmlformats.org/drawingml/2006/main" prst="ellipse">
          <a:avLst/>
        </a:prstGeom>
        <a:noFill xmlns:a="http://schemas.openxmlformats.org/drawingml/2006/mai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r>
            <a:rPr lang="en-US" sz="800" dirty="0">
              <a:solidFill>
                <a:schemeClr val="tx1"/>
              </a:solidFill>
            </a:rPr>
            <a:t>2.33</a:t>
          </a:r>
        </a:p>
        <a:p xmlns:a="http://schemas.openxmlformats.org/drawingml/2006/main">
          <a:r>
            <a:rPr lang="en-US" sz="800" dirty="0">
              <a:solidFill>
                <a:schemeClr val="tx1"/>
              </a:solidFill>
            </a:rPr>
            <a:t>2.33</a:t>
          </a:r>
        </a:p>
      </cdr:txBody>
    </cdr:sp>
  </cdr:relSizeAnchor>
  <cdr:relSizeAnchor xmlns:cdr="http://schemas.openxmlformats.org/drawingml/2006/chartDrawing">
    <cdr:from>
      <cdr:x>0.70774</cdr:x>
      <cdr:y>0</cdr:y>
    </cdr:from>
    <cdr:to>
      <cdr:x>0.8435</cdr:x>
      <cdr:y>0.20277</cdr:y>
    </cdr:to>
    <cdr:sp macro="" textlink="">
      <cdr:nvSpPr>
        <cdr:cNvPr id="3" name="Oval 2">
          <a:extLst xmlns:a="http://schemas.openxmlformats.org/drawingml/2006/main">
            <a:ext uri="{FF2B5EF4-FFF2-40B4-BE49-F238E27FC236}">
              <a16:creationId xmlns:a16="http://schemas.microsoft.com/office/drawing/2014/main" xmlns="" id="{D5A27D3D-6902-4964-BC72-D4B78357C30C}"/>
            </a:ext>
          </a:extLst>
        </cdr:cNvPr>
        <cdr:cNvSpPr/>
      </cdr:nvSpPr>
      <cdr:spPr>
        <a:xfrm xmlns:a="http://schemas.openxmlformats.org/drawingml/2006/main">
          <a:off x="3235778" y="-2245581"/>
          <a:ext cx="620686" cy="556232"/>
        </a:xfrm>
        <a:prstGeom xmlns:a="http://schemas.openxmlformats.org/drawingml/2006/main" prst="ellipse">
          <a:avLst/>
        </a:prstGeom>
        <a:noFill xmlns:a="http://schemas.openxmlformats.org/drawingml/2006/mai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r>
            <a:rPr lang="en-US" sz="800" dirty="0">
              <a:solidFill>
                <a:schemeClr val="tx1"/>
              </a:solidFill>
            </a:rPr>
            <a:t>6</a:t>
          </a:r>
        </a:p>
        <a:p xmlns:a="http://schemas.openxmlformats.org/drawingml/2006/main">
          <a:r>
            <a:rPr lang="en-US" sz="800" dirty="0">
              <a:solidFill>
                <a:schemeClr val="tx1"/>
              </a:solidFill>
            </a:rPr>
            <a:t>7</a:t>
          </a:r>
        </a:p>
      </cdr:txBody>
    </cdr:sp>
  </cdr:relSizeAnchor>
</c:userShape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3-30T12:11:07.80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3-30T12:11:07.80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3-30T12:11:07.80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3-30T12:11:07.80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3-30T12:11:07.80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3-30T12:11:07.80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3-30T12:11:07.80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04/04/2020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04/04/2020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04/04/2020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04/04/2020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04/04/2020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04/04/2020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04/04/2020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04/04/2020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04/04/2020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04/04/2020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04/04/2020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04/04/2020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linkedin.com/in/arunkumarnair/" TargetMode="External"/><Relationship Id="rId2" Type="http://schemas.openxmlformats.org/officeDocument/2006/relationships/hyperlink" Target="mailto:arunkg99@g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chart" Target="../charts/chart3.xml"/><Relationship Id="rId1" Type="http://schemas.openxmlformats.org/officeDocument/2006/relationships/slideLayout" Target="../slideLayouts/slideLayout2.xml"/><Relationship Id="rId5" Type="http://schemas.openxmlformats.org/officeDocument/2006/relationships/image" Target="../media/image6.emf"/><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chart" Target="../charts/chart4.xml"/><Relationship Id="rId1" Type="http://schemas.openxmlformats.org/officeDocument/2006/relationships/slideLayout" Target="../slideLayouts/slideLayout2.xml"/><Relationship Id="rId5" Type="http://schemas.openxmlformats.org/officeDocument/2006/relationships/image" Target="../media/image6.emf"/><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chart" Target="../charts/chart5.xml"/><Relationship Id="rId1" Type="http://schemas.openxmlformats.org/officeDocument/2006/relationships/slideLayout" Target="../slideLayouts/slideLayout2.xml"/><Relationship Id="rId5" Type="http://schemas.openxmlformats.org/officeDocument/2006/relationships/image" Target="../media/image6.emf"/><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chart" Target="../charts/chart6.xml"/><Relationship Id="rId1" Type="http://schemas.openxmlformats.org/officeDocument/2006/relationships/slideLayout" Target="../slideLayouts/slideLayout2.xml"/><Relationship Id="rId5" Type="http://schemas.openxmlformats.org/officeDocument/2006/relationships/image" Target="../media/image9.emf"/><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chart" Target="../charts/chart7.xml"/><Relationship Id="rId1" Type="http://schemas.openxmlformats.org/officeDocument/2006/relationships/slideLayout" Target="../slideLayouts/slideLayout2.xml"/><Relationship Id="rId5" Type="http://schemas.openxmlformats.org/officeDocument/2006/relationships/image" Target="../media/image9.emf"/><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chart" Target="../charts/chart8.xml"/><Relationship Id="rId1" Type="http://schemas.openxmlformats.org/officeDocument/2006/relationships/slideLayout" Target="../slideLayouts/slideLayout2.xml"/><Relationship Id="rId5" Type="http://schemas.openxmlformats.org/officeDocument/2006/relationships/image" Target="../media/image9.emf"/><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chart" Target="../charts/chart9.xml"/><Relationship Id="rId1" Type="http://schemas.openxmlformats.org/officeDocument/2006/relationships/slideLayout" Target="../slideLayouts/slideLayout2.xml"/><Relationship Id="rId5" Type="http://schemas.openxmlformats.org/officeDocument/2006/relationships/image" Target="../media/image9.emf"/><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K-Means</a:t>
            </a:r>
          </a:p>
        </p:txBody>
      </p:sp>
      <p:sp>
        <p:nvSpPr>
          <p:cNvPr id="3" name="Subtitle 2"/>
          <p:cNvSpPr>
            <a:spLocks noGrp="1"/>
          </p:cNvSpPr>
          <p:nvPr>
            <p:ph type="subTitle" idx="1"/>
          </p:nvPr>
        </p:nvSpPr>
        <p:spPr/>
        <p:txBody>
          <a:bodyPr>
            <a:normAutofit fontScale="77500" lnSpcReduction="20000"/>
          </a:bodyPr>
          <a:lstStyle/>
          <a:p>
            <a:r>
              <a:rPr lang="en-IN" dirty="0"/>
              <a:t>By </a:t>
            </a:r>
            <a:r>
              <a:rPr lang="en-IN" dirty="0" err="1"/>
              <a:t>Arunkumar</a:t>
            </a:r>
            <a:r>
              <a:rPr lang="en-IN" dirty="0"/>
              <a:t> Nair</a:t>
            </a:r>
          </a:p>
          <a:p>
            <a:r>
              <a:rPr lang="en-IN" dirty="0">
                <a:hlinkClick r:id="rId2"/>
              </a:rPr>
              <a:t>arunkg99@gmail.com</a:t>
            </a:r>
            <a:endParaRPr lang="en-IN" dirty="0"/>
          </a:p>
          <a:p>
            <a:r>
              <a:rPr lang="en-IN" dirty="0"/>
              <a:t>91-9890652675</a:t>
            </a:r>
          </a:p>
          <a:p>
            <a:r>
              <a:rPr lang="en-IN" dirty="0">
                <a:hlinkClick r:id="rId3"/>
              </a:rPr>
              <a:t>https://www.linkedin.com/in/arunkumarnair/</a:t>
            </a:r>
            <a:endParaRPr lang="en-IN" dirty="0"/>
          </a:p>
          <a:p>
            <a:endParaRPr lang="en-IN" dirty="0"/>
          </a:p>
        </p:txBody>
      </p:sp>
    </p:spTree>
    <p:extLst>
      <p:ext uri="{BB962C8B-B14F-4D97-AF65-F5344CB8AC3E}">
        <p14:creationId xmlns:p14="http://schemas.microsoft.com/office/powerpoint/2010/main" val="22189478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81D47D4-6A34-4FDA-9C10-C337F57026F2}"/>
              </a:ext>
            </a:extLst>
          </p:cNvPr>
          <p:cNvSpPr>
            <a:spLocks noGrp="1"/>
          </p:cNvSpPr>
          <p:nvPr>
            <p:ph type="title"/>
          </p:nvPr>
        </p:nvSpPr>
        <p:spPr/>
        <p:txBody>
          <a:bodyPr/>
          <a:lstStyle/>
          <a:p>
            <a:r>
              <a:rPr lang="en-IN" dirty="0"/>
              <a:t>K Means</a:t>
            </a:r>
          </a:p>
        </p:txBody>
      </p:sp>
      <p:sp>
        <p:nvSpPr>
          <p:cNvPr id="3" name="Content Placeholder 2">
            <a:extLst>
              <a:ext uri="{FF2B5EF4-FFF2-40B4-BE49-F238E27FC236}">
                <a16:creationId xmlns:a16="http://schemas.microsoft.com/office/drawing/2014/main" xmlns="" id="{36DDC28A-95A3-4E02-B771-A79C5BD0A810}"/>
              </a:ext>
            </a:extLst>
          </p:cNvPr>
          <p:cNvSpPr>
            <a:spLocks noGrp="1"/>
          </p:cNvSpPr>
          <p:nvPr>
            <p:ph idx="1"/>
          </p:nvPr>
        </p:nvSpPr>
        <p:spPr/>
        <p:txBody>
          <a:bodyPr/>
          <a:lstStyle/>
          <a:p>
            <a:r>
              <a:rPr lang="en-US" b="1" dirty="0"/>
              <a:t>k</a:t>
            </a:r>
            <a:r>
              <a:rPr lang="en-US" dirty="0"/>
              <a:t>-</a:t>
            </a:r>
            <a:r>
              <a:rPr lang="en-US" b="1" dirty="0"/>
              <a:t>means</a:t>
            </a:r>
            <a:r>
              <a:rPr lang="en-US" dirty="0"/>
              <a:t> is one of the simplest unsupervised learning algorithms that solve the clustering problems. </a:t>
            </a:r>
          </a:p>
          <a:p>
            <a:r>
              <a:rPr lang="en-US" dirty="0"/>
              <a:t>The procedure follows a </a:t>
            </a:r>
            <a:r>
              <a:rPr lang="en-US" b="1" dirty="0"/>
              <a:t>simple</a:t>
            </a:r>
            <a:r>
              <a:rPr lang="en-US" dirty="0"/>
              <a:t> and easy way to classify a given data set through a certain number of clusters (assume </a:t>
            </a:r>
            <a:r>
              <a:rPr lang="en-US" b="1" dirty="0"/>
              <a:t>k</a:t>
            </a:r>
            <a:r>
              <a:rPr lang="en-US" dirty="0"/>
              <a:t> clusters). The main idea is to define </a:t>
            </a:r>
            <a:r>
              <a:rPr lang="en-US" b="1" dirty="0"/>
              <a:t>k</a:t>
            </a:r>
            <a:r>
              <a:rPr lang="en-US" dirty="0"/>
              <a:t> centers, one for each cluster.</a:t>
            </a:r>
            <a:endParaRPr lang="en-IN" dirty="0"/>
          </a:p>
        </p:txBody>
      </p:sp>
    </p:spTree>
    <p:extLst>
      <p:ext uri="{BB962C8B-B14F-4D97-AF65-F5344CB8AC3E}">
        <p14:creationId xmlns:p14="http://schemas.microsoft.com/office/powerpoint/2010/main" val="14431209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4FCBCCE-7175-41A3-93B0-F32B66EE1145}"/>
              </a:ext>
            </a:extLst>
          </p:cNvPr>
          <p:cNvSpPr>
            <a:spLocks noGrp="1"/>
          </p:cNvSpPr>
          <p:nvPr>
            <p:ph type="title"/>
          </p:nvPr>
        </p:nvSpPr>
        <p:spPr/>
        <p:txBody>
          <a:bodyPr/>
          <a:lstStyle/>
          <a:p>
            <a:r>
              <a:rPr lang="en-IN" dirty="0"/>
              <a:t>K Means</a:t>
            </a:r>
          </a:p>
        </p:txBody>
      </p:sp>
      <p:sp>
        <p:nvSpPr>
          <p:cNvPr id="3" name="Content Placeholder 2">
            <a:extLst>
              <a:ext uri="{FF2B5EF4-FFF2-40B4-BE49-F238E27FC236}">
                <a16:creationId xmlns:a16="http://schemas.microsoft.com/office/drawing/2014/main" xmlns="" id="{50FBD91F-CD0D-4102-A654-9253DD15BABA}"/>
              </a:ext>
            </a:extLst>
          </p:cNvPr>
          <p:cNvSpPr>
            <a:spLocks noGrp="1"/>
          </p:cNvSpPr>
          <p:nvPr>
            <p:ph idx="1"/>
          </p:nvPr>
        </p:nvSpPr>
        <p:spPr/>
        <p:txBody>
          <a:bodyPr>
            <a:normAutofit fontScale="77500" lnSpcReduction="20000"/>
          </a:bodyPr>
          <a:lstStyle/>
          <a:p>
            <a:pPr marL="285750" indent="-285750"/>
            <a:r>
              <a:rPr lang="en-US" dirty="0"/>
              <a:t>The k-means algorithm is an </a:t>
            </a:r>
            <a:r>
              <a:rPr lang="en-US" b="1" dirty="0"/>
              <a:t>unsupervised </a:t>
            </a:r>
            <a:r>
              <a:rPr lang="en-US" dirty="0"/>
              <a:t>clustering algorithm. It takes a bunch of unlabeled points and tries to group them into “K” number of clusters.</a:t>
            </a:r>
          </a:p>
          <a:p>
            <a:pPr marL="285750" indent="-285750"/>
            <a:endParaRPr lang="en-US" dirty="0"/>
          </a:p>
          <a:p>
            <a:pPr marL="285750" indent="-285750"/>
            <a:r>
              <a:rPr lang="en-US" dirty="0"/>
              <a:t>Used unlabeled data (Data without defined categories or Group)</a:t>
            </a:r>
          </a:p>
          <a:p>
            <a:pPr marL="285750" indent="-285750"/>
            <a:endParaRPr lang="en-US" dirty="0"/>
          </a:p>
          <a:p>
            <a:pPr marL="285750" indent="-285750"/>
            <a:r>
              <a:rPr lang="en-US" dirty="0"/>
              <a:t>Data points are clustered based on similarities</a:t>
            </a:r>
          </a:p>
          <a:p>
            <a:pPr marL="285750" indent="-285750"/>
            <a:endParaRPr lang="en-US" dirty="0"/>
          </a:p>
          <a:p>
            <a:pPr marL="285750" indent="-285750"/>
            <a:r>
              <a:rPr lang="en-US" dirty="0"/>
              <a:t>The goal of this algorithm is to find groups in the data, with the number of groups represented by the variable </a:t>
            </a:r>
            <a:r>
              <a:rPr lang="en-US" i="1" dirty="0"/>
              <a:t>K</a:t>
            </a:r>
            <a:r>
              <a:rPr lang="en-US" dirty="0"/>
              <a:t>.</a:t>
            </a:r>
          </a:p>
          <a:p>
            <a:endParaRPr lang="en-US" dirty="0"/>
          </a:p>
          <a:p>
            <a:endParaRPr lang="en-IN" dirty="0"/>
          </a:p>
        </p:txBody>
      </p:sp>
    </p:spTree>
    <p:extLst>
      <p:ext uri="{BB962C8B-B14F-4D97-AF65-F5344CB8AC3E}">
        <p14:creationId xmlns:p14="http://schemas.microsoft.com/office/powerpoint/2010/main" val="273335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9F49E52-49D5-496A-B100-8184C05A30F6}"/>
              </a:ext>
            </a:extLst>
          </p:cNvPr>
          <p:cNvSpPr>
            <a:spLocks noGrp="1"/>
          </p:cNvSpPr>
          <p:nvPr>
            <p:ph type="title"/>
          </p:nvPr>
        </p:nvSpPr>
        <p:spPr/>
        <p:txBody>
          <a:bodyPr/>
          <a:lstStyle/>
          <a:p>
            <a:r>
              <a:rPr lang="en-IN" dirty="0"/>
              <a:t>K Means</a:t>
            </a:r>
          </a:p>
        </p:txBody>
      </p:sp>
      <p:sp>
        <p:nvSpPr>
          <p:cNvPr id="3" name="Content Placeholder 2">
            <a:extLst>
              <a:ext uri="{FF2B5EF4-FFF2-40B4-BE49-F238E27FC236}">
                <a16:creationId xmlns:a16="http://schemas.microsoft.com/office/drawing/2014/main" xmlns="" id="{A33DF889-AF48-42FE-86B4-26C27C84BE96}"/>
              </a:ext>
            </a:extLst>
          </p:cNvPr>
          <p:cNvSpPr>
            <a:spLocks noGrp="1"/>
          </p:cNvSpPr>
          <p:nvPr>
            <p:ph idx="1"/>
          </p:nvPr>
        </p:nvSpPr>
        <p:spPr/>
        <p:txBody>
          <a:bodyPr>
            <a:normAutofit fontScale="77500" lnSpcReduction="20000"/>
          </a:bodyPr>
          <a:lstStyle/>
          <a:p>
            <a:pPr marL="0" indent="0">
              <a:buNone/>
            </a:pPr>
            <a:r>
              <a:rPr lang="en-US" b="1" dirty="0"/>
              <a:t>K-Means is applied in</a:t>
            </a:r>
          </a:p>
          <a:p>
            <a:pPr marL="0" indent="0">
              <a:buNone/>
            </a:pPr>
            <a:r>
              <a:rPr lang="en-US" dirty="0"/>
              <a:t>The </a:t>
            </a:r>
            <a:r>
              <a:rPr lang="en-US" i="1" dirty="0"/>
              <a:t>K</a:t>
            </a:r>
            <a:r>
              <a:rPr lang="en-US" dirty="0"/>
              <a:t>-means clustering algorithm is used to find groups which have not been explicitly labeled in the data and to find patterns and make better decisions.. Once the algorithm has been run and the groups are defined, any new data can be easily assigned to the most relevant group.</a:t>
            </a:r>
          </a:p>
          <a:p>
            <a:r>
              <a:rPr lang="en-US" dirty="0"/>
              <a:t>Customer Profiling:</a:t>
            </a:r>
          </a:p>
          <a:p>
            <a:r>
              <a:rPr lang="en-US" dirty="0"/>
              <a:t>market segmentation,</a:t>
            </a:r>
          </a:p>
          <a:p>
            <a:r>
              <a:rPr lang="en-US" dirty="0"/>
              <a:t>computer vision</a:t>
            </a:r>
          </a:p>
          <a:p>
            <a:r>
              <a:rPr lang="en-US" dirty="0"/>
              <a:t>Geo-statistics</a:t>
            </a:r>
          </a:p>
          <a:p>
            <a:r>
              <a:rPr lang="en-US" dirty="0"/>
              <a:t>Astronomy</a:t>
            </a:r>
          </a:p>
          <a:p>
            <a:endParaRPr lang="en-IN" dirty="0"/>
          </a:p>
        </p:txBody>
      </p:sp>
    </p:spTree>
    <p:extLst>
      <p:ext uri="{BB962C8B-B14F-4D97-AF65-F5344CB8AC3E}">
        <p14:creationId xmlns:p14="http://schemas.microsoft.com/office/powerpoint/2010/main" val="24690809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Common business cases where K-means is used</a:t>
            </a:r>
          </a:p>
        </p:txBody>
      </p:sp>
      <p:sp>
        <p:nvSpPr>
          <p:cNvPr id="3" name="Content Placeholder 2"/>
          <p:cNvSpPr>
            <a:spLocks noGrp="1"/>
          </p:cNvSpPr>
          <p:nvPr>
            <p:ph idx="1"/>
          </p:nvPr>
        </p:nvSpPr>
        <p:spPr/>
        <p:txBody>
          <a:bodyPr>
            <a:normAutofit fontScale="55000" lnSpcReduction="20000"/>
          </a:bodyPr>
          <a:lstStyle/>
          <a:p>
            <a:r>
              <a:rPr lang="en-US" dirty="0"/>
              <a:t>Behavioral segmentation:</a:t>
            </a:r>
          </a:p>
          <a:p>
            <a:pPr lvl="1"/>
            <a:r>
              <a:rPr lang="en-US" dirty="0"/>
              <a:t>Segment by purchase history</a:t>
            </a:r>
          </a:p>
          <a:p>
            <a:pPr lvl="1"/>
            <a:r>
              <a:rPr lang="en-US" dirty="0"/>
              <a:t>Segment by activities on application, website, or platform</a:t>
            </a:r>
          </a:p>
          <a:p>
            <a:pPr lvl="1"/>
            <a:r>
              <a:rPr lang="en-US" dirty="0"/>
              <a:t>Define personas based on interests</a:t>
            </a:r>
          </a:p>
          <a:p>
            <a:pPr lvl="1"/>
            <a:r>
              <a:rPr lang="en-US" dirty="0"/>
              <a:t>Create profiles based on activity monitoring</a:t>
            </a:r>
          </a:p>
          <a:p>
            <a:r>
              <a:rPr lang="en-US" dirty="0"/>
              <a:t>Inventory categorization:</a:t>
            </a:r>
          </a:p>
          <a:p>
            <a:pPr lvl="1"/>
            <a:r>
              <a:rPr lang="en-US" dirty="0"/>
              <a:t>Group inventory by sales activity</a:t>
            </a:r>
          </a:p>
          <a:p>
            <a:pPr lvl="1"/>
            <a:r>
              <a:rPr lang="en-US" dirty="0"/>
              <a:t>Group inventory by manufacturing metrics</a:t>
            </a:r>
          </a:p>
          <a:p>
            <a:r>
              <a:rPr lang="en-US" dirty="0"/>
              <a:t>Sorting sensor measurements:</a:t>
            </a:r>
          </a:p>
          <a:p>
            <a:pPr lvl="1"/>
            <a:r>
              <a:rPr lang="en-US" dirty="0"/>
              <a:t>Detect activity types in motion sensors</a:t>
            </a:r>
          </a:p>
          <a:p>
            <a:pPr lvl="1"/>
            <a:r>
              <a:rPr lang="en-US" dirty="0"/>
              <a:t>Group images</a:t>
            </a:r>
          </a:p>
          <a:p>
            <a:pPr lvl="1"/>
            <a:r>
              <a:rPr lang="en-US" dirty="0"/>
              <a:t>Separate audio</a:t>
            </a:r>
          </a:p>
          <a:p>
            <a:pPr lvl="1"/>
            <a:r>
              <a:rPr lang="en-US" dirty="0"/>
              <a:t>Identify groups in health monitoring</a:t>
            </a:r>
          </a:p>
          <a:p>
            <a:r>
              <a:rPr lang="en-US" dirty="0"/>
              <a:t>Detecting bots or anomalies:</a:t>
            </a:r>
          </a:p>
          <a:p>
            <a:pPr lvl="1"/>
            <a:r>
              <a:rPr lang="en-US" dirty="0"/>
              <a:t>Separate valid activity groups from bots</a:t>
            </a:r>
          </a:p>
          <a:p>
            <a:pPr lvl="1"/>
            <a:r>
              <a:rPr lang="en-US" dirty="0"/>
              <a:t>Group valid activity to clean up outlier detection</a:t>
            </a:r>
          </a:p>
          <a:p>
            <a:endParaRPr lang="en-US" dirty="0"/>
          </a:p>
        </p:txBody>
      </p:sp>
    </p:spTree>
    <p:extLst>
      <p:ext uri="{BB962C8B-B14F-4D97-AF65-F5344CB8AC3E}">
        <p14:creationId xmlns:p14="http://schemas.microsoft.com/office/powerpoint/2010/main" val="7461027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9F49E52-49D5-496A-B100-8184C05A30F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A33DF889-AF48-42FE-86B4-26C27C84BE96}"/>
              </a:ext>
            </a:extLst>
          </p:cNvPr>
          <p:cNvSpPr>
            <a:spLocks noGrp="1"/>
          </p:cNvSpPr>
          <p:nvPr>
            <p:ph idx="1"/>
          </p:nvPr>
        </p:nvSpPr>
        <p:spPr/>
        <p:txBody>
          <a:bodyPr>
            <a:normAutofit fontScale="92500"/>
          </a:bodyPr>
          <a:lstStyle/>
          <a:p>
            <a:pPr marL="0" indent="0">
              <a:buNone/>
            </a:pPr>
            <a:r>
              <a:rPr lang="en-US" dirty="0"/>
              <a:t>K-means algorithm in data mining starts with a first group of randomly selected centroids, which are used as the beginning points for every cluster, and then performs iterative (repetitive) calculations to optimize the positions of the centroids</a:t>
            </a:r>
          </a:p>
          <a:p>
            <a:pPr marL="0" indent="0">
              <a:buNone/>
            </a:pPr>
            <a:r>
              <a:rPr lang="en-US" dirty="0"/>
              <a:t>K-means is an </a:t>
            </a:r>
            <a:r>
              <a:rPr lang="en-US" b="1" dirty="0"/>
              <a:t>iterative algorithm</a:t>
            </a:r>
            <a:r>
              <a:rPr lang="en-US" dirty="0"/>
              <a:t> and it does two main steps: </a:t>
            </a:r>
          </a:p>
          <a:p>
            <a:pPr marL="0" indent="0">
              <a:buNone/>
            </a:pPr>
            <a:r>
              <a:rPr lang="en-US" dirty="0"/>
              <a:t>1. </a:t>
            </a:r>
            <a:r>
              <a:rPr lang="en-US" b="1" dirty="0"/>
              <a:t>Cluster assignment</a:t>
            </a:r>
            <a:r>
              <a:rPr lang="en-US" dirty="0"/>
              <a:t> </a:t>
            </a:r>
          </a:p>
          <a:p>
            <a:pPr marL="0" indent="0">
              <a:buNone/>
            </a:pPr>
            <a:r>
              <a:rPr lang="en-US" dirty="0"/>
              <a:t>2.</a:t>
            </a:r>
            <a:r>
              <a:rPr lang="en-US" b="1" dirty="0"/>
              <a:t> Move centroid step</a:t>
            </a:r>
            <a:r>
              <a:rPr lang="en-US" dirty="0"/>
              <a:t>.</a:t>
            </a:r>
            <a:endParaRPr lang="en-IN" dirty="0"/>
          </a:p>
        </p:txBody>
      </p:sp>
    </p:spTree>
    <p:extLst>
      <p:ext uri="{BB962C8B-B14F-4D97-AF65-F5344CB8AC3E}">
        <p14:creationId xmlns:p14="http://schemas.microsoft.com/office/powerpoint/2010/main" val="17832783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pattFill prst="pct75">
            <a:fgClr>
              <a:schemeClr val="accent1"/>
            </a:fgClr>
            <a:bgClr>
              <a:schemeClr val="bg1"/>
            </a:bgClr>
          </a:pattFill>
        </p:spPr>
        <p:txBody>
          <a:bodyPr/>
          <a:lstStyle/>
          <a:p>
            <a:r>
              <a:rPr lang="en-US" dirty="0"/>
              <a:t>Cluster Assignment Step</a:t>
            </a:r>
          </a:p>
        </p:txBody>
      </p:sp>
      <p:sp>
        <p:nvSpPr>
          <p:cNvPr id="3" name="Content Placeholder 2"/>
          <p:cNvSpPr>
            <a:spLocks noGrp="1"/>
          </p:cNvSpPr>
          <p:nvPr>
            <p:ph idx="1"/>
          </p:nvPr>
        </p:nvSpPr>
        <p:spPr/>
        <p:txBody>
          <a:bodyPr/>
          <a:lstStyle/>
          <a:p>
            <a:pPr marL="0" indent="0">
              <a:buNone/>
            </a:pPr>
            <a:r>
              <a:rPr lang="en-US" b="1" dirty="0" smtClean="0"/>
              <a:t>In Assignment step</a:t>
            </a:r>
            <a:r>
              <a:rPr lang="en-US" dirty="0"/>
              <a:t> each observation </a:t>
            </a:r>
            <a:r>
              <a:rPr lang="en-US" dirty="0" smtClean="0"/>
              <a:t>is assign to </a:t>
            </a:r>
            <a:r>
              <a:rPr lang="en-US" dirty="0"/>
              <a:t>the </a:t>
            </a:r>
            <a:r>
              <a:rPr lang="en-US" b="1" dirty="0"/>
              <a:t>cluster</a:t>
            </a:r>
            <a:r>
              <a:rPr lang="en-US" dirty="0"/>
              <a:t> with the nearest </a:t>
            </a:r>
            <a:r>
              <a:rPr lang="en-US" b="1" dirty="0" smtClean="0"/>
              <a:t>mean </a:t>
            </a:r>
            <a:r>
              <a:rPr lang="en-US" dirty="0" smtClean="0"/>
              <a:t>(with </a:t>
            </a:r>
            <a:r>
              <a:rPr lang="en-US" dirty="0"/>
              <a:t>the least squared Euclidean </a:t>
            </a:r>
            <a:r>
              <a:rPr lang="en-US" dirty="0" smtClean="0"/>
              <a:t>distance). Every </a:t>
            </a:r>
            <a:r>
              <a:rPr lang="en-US" dirty="0"/>
              <a:t>data point is assigned </a:t>
            </a:r>
            <a:r>
              <a:rPr lang="en-US" dirty="0" smtClean="0"/>
              <a:t>to find </a:t>
            </a:r>
            <a:r>
              <a:rPr lang="en-US" dirty="0"/>
              <a:t>the closest </a:t>
            </a:r>
            <a:r>
              <a:rPr lang="en-US" dirty="0" smtClean="0"/>
              <a:t>center, through this step </a:t>
            </a:r>
            <a:r>
              <a:rPr lang="en-US" dirty="0"/>
              <a:t>the sum of the distances of all such assignments is minimized</a:t>
            </a:r>
            <a:r>
              <a:rPr lang="en-US" dirty="0" smtClean="0"/>
              <a:t>.</a:t>
            </a:r>
            <a:endParaRPr lang="en-US" dirty="0"/>
          </a:p>
        </p:txBody>
      </p:sp>
    </p:spTree>
    <p:extLst>
      <p:ext uri="{BB962C8B-B14F-4D97-AF65-F5344CB8AC3E}">
        <p14:creationId xmlns:p14="http://schemas.microsoft.com/office/powerpoint/2010/main" val="25787444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pattFill prst="pct75">
            <a:fgClr>
              <a:schemeClr val="accent1"/>
            </a:fgClr>
            <a:bgClr>
              <a:schemeClr val="bg1"/>
            </a:bgClr>
          </a:pattFill>
        </p:spPr>
        <p:txBody>
          <a:bodyPr/>
          <a:lstStyle/>
          <a:p>
            <a:r>
              <a:rPr lang="en-US" b="1" dirty="0"/>
              <a:t>Move centroid step</a:t>
            </a:r>
            <a:endParaRPr lang="en-US" dirty="0"/>
          </a:p>
        </p:txBody>
      </p:sp>
      <p:sp>
        <p:nvSpPr>
          <p:cNvPr id="3" name="Content Placeholder 2"/>
          <p:cNvSpPr>
            <a:spLocks noGrp="1"/>
          </p:cNvSpPr>
          <p:nvPr>
            <p:ph idx="1"/>
          </p:nvPr>
        </p:nvSpPr>
        <p:spPr/>
        <p:txBody>
          <a:bodyPr/>
          <a:lstStyle/>
          <a:p>
            <a:pPr marL="0" indent="0">
              <a:buNone/>
            </a:pPr>
            <a:r>
              <a:rPr lang="en-US" dirty="0" smtClean="0"/>
              <a:t>This step is essential because </a:t>
            </a:r>
            <a:r>
              <a:rPr lang="en-US" dirty="0"/>
              <a:t>the initial centroids were chosen arbitrarily, </a:t>
            </a:r>
            <a:r>
              <a:rPr lang="en-US" dirty="0" smtClean="0"/>
              <a:t>the </a:t>
            </a:r>
            <a:r>
              <a:rPr lang="en-US" dirty="0"/>
              <a:t>model </a:t>
            </a:r>
            <a:r>
              <a:rPr lang="en-US" dirty="0" smtClean="0"/>
              <a:t>updates </a:t>
            </a:r>
            <a:r>
              <a:rPr lang="en-US" dirty="0"/>
              <a:t>them with new cluster values. The new value might or might not occur in the dataset, in fact, it would be a coincidence if it does. This is because the updated cluster </a:t>
            </a:r>
            <a:r>
              <a:rPr lang="en-US" dirty="0" smtClean="0"/>
              <a:t>centroid </a:t>
            </a:r>
            <a:r>
              <a:rPr lang="en-US" dirty="0"/>
              <a:t>is the average or the mean value of all the </a:t>
            </a:r>
            <a:r>
              <a:rPr lang="en-US" dirty="0" smtClean="0"/>
              <a:t>data points </a:t>
            </a:r>
            <a:r>
              <a:rPr lang="en-US" dirty="0"/>
              <a:t>within that cluster.</a:t>
            </a:r>
            <a:endParaRPr lang="en-US" dirty="0"/>
          </a:p>
        </p:txBody>
      </p:sp>
    </p:spTree>
    <p:extLst>
      <p:ext uri="{BB962C8B-B14F-4D97-AF65-F5344CB8AC3E}">
        <p14:creationId xmlns:p14="http://schemas.microsoft.com/office/powerpoint/2010/main" val="192196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90F3FA32-1A04-468E-90E6-0142B8D2A6B8}"/>
              </a:ext>
            </a:extLst>
          </p:cNvPr>
          <p:cNvSpPr>
            <a:spLocks noGrp="1"/>
          </p:cNvSpPr>
          <p:nvPr>
            <p:ph type="title"/>
          </p:nvPr>
        </p:nvSpPr>
        <p:spPr/>
        <p:txBody>
          <a:bodyPr/>
          <a:lstStyle/>
          <a:p>
            <a:r>
              <a:rPr lang="en-IN" dirty="0"/>
              <a:t>K=3 Clusters</a:t>
            </a:r>
          </a:p>
        </p:txBody>
      </p:sp>
      <p:pic>
        <p:nvPicPr>
          <p:cNvPr id="6" name="Picture 5">
            <a:extLst>
              <a:ext uri="{FF2B5EF4-FFF2-40B4-BE49-F238E27FC236}">
                <a16:creationId xmlns:a16="http://schemas.microsoft.com/office/drawing/2014/main" xmlns="" id="{DEDDD2DD-3EC2-4D28-8EA1-5382418C66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7000" y="2895600"/>
            <a:ext cx="3895725" cy="3676650"/>
          </a:xfrm>
          <a:prstGeom prst="rect">
            <a:avLst/>
          </a:prstGeom>
        </p:spPr>
      </p:pic>
      <p:sp>
        <p:nvSpPr>
          <p:cNvPr id="2" name="Rectangle 1"/>
          <p:cNvSpPr/>
          <p:nvPr/>
        </p:nvSpPr>
        <p:spPr>
          <a:xfrm>
            <a:off x="152400" y="1371600"/>
            <a:ext cx="8991600" cy="1200329"/>
          </a:xfrm>
          <a:prstGeom prst="rect">
            <a:avLst/>
          </a:prstGeom>
        </p:spPr>
        <p:txBody>
          <a:bodyPr wrap="square">
            <a:spAutoFit/>
          </a:bodyPr>
          <a:lstStyle/>
          <a:p>
            <a:r>
              <a:rPr lang="en-US" dirty="0">
                <a:solidFill>
                  <a:srgbClr val="7E8081"/>
                </a:solidFill>
                <a:latin typeface="Open Sans" panose="020B0606030504020204" pitchFamily="34" charset="0"/>
              </a:rPr>
              <a:t>Let’s </a:t>
            </a:r>
            <a:r>
              <a:rPr lang="en-US" dirty="0" smtClean="0">
                <a:solidFill>
                  <a:srgbClr val="7E8081"/>
                </a:solidFill>
                <a:latin typeface="Open Sans" panose="020B0606030504020204" pitchFamily="34" charset="0"/>
              </a:rPr>
              <a:t>understand it with </a:t>
            </a:r>
            <a:r>
              <a:rPr lang="en-US" dirty="0">
                <a:solidFill>
                  <a:srgbClr val="7E8081"/>
                </a:solidFill>
                <a:latin typeface="Open Sans" panose="020B0606030504020204" pitchFamily="34" charset="0"/>
              </a:rPr>
              <a:t>a simple 2D example </a:t>
            </a:r>
            <a:r>
              <a:rPr lang="en-US" dirty="0" smtClean="0">
                <a:solidFill>
                  <a:srgbClr val="7E8081"/>
                </a:solidFill>
                <a:latin typeface="Open Sans" panose="020B0606030504020204" pitchFamily="34" charset="0"/>
              </a:rPr>
              <a:t>;</a:t>
            </a:r>
          </a:p>
          <a:p>
            <a:r>
              <a:rPr lang="en-US" dirty="0" smtClean="0">
                <a:solidFill>
                  <a:srgbClr val="7E8081"/>
                </a:solidFill>
                <a:latin typeface="Open Sans" panose="020B0606030504020204" pitchFamily="34" charset="0"/>
              </a:rPr>
              <a:t>Imaging </a:t>
            </a:r>
            <a:r>
              <a:rPr lang="en-US" dirty="0">
                <a:solidFill>
                  <a:srgbClr val="7E8081"/>
                </a:solidFill>
                <a:latin typeface="Open Sans" panose="020B0606030504020204" pitchFamily="34" charset="0"/>
              </a:rPr>
              <a:t>we have these </a:t>
            </a:r>
            <a:r>
              <a:rPr lang="en-US" dirty="0" smtClean="0">
                <a:solidFill>
                  <a:srgbClr val="7E8081"/>
                </a:solidFill>
                <a:latin typeface="Open Sans" panose="020B0606030504020204" pitchFamily="34" charset="0"/>
              </a:rPr>
              <a:t>Some data </a:t>
            </a:r>
            <a:r>
              <a:rPr lang="en-US" dirty="0">
                <a:solidFill>
                  <a:srgbClr val="7E8081"/>
                </a:solidFill>
                <a:latin typeface="Open Sans" panose="020B0606030504020204" pitchFamily="34" charset="0"/>
              </a:rPr>
              <a:t>points in the following figure and want to assign them into three clusters. </a:t>
            </a:r>
            <a:r>
              <a:rPr lang="en-US" dirty="0" smtClean="0">
                <a:solidFill>
                  <a:srgbClr val="7E8081"/>
                </a:solidFill>
                <a:latin typeface="Open Sans" panose="020B0606030504020204" pitchFamily="34" charset="0"/>
              </a:rPr>
              <a:t>Then the centroid will be chosen with the similarity in data points</a:t>
            </a:r>
            <a:endParaRPr lang="en-US" dirty="0"/>
          </a:p>
        </p:txBody>
      </p:sp>
    </p:spTree>
    <p:extLst>
      <p:ext uri="{BB962C8B-B14F-4D97-AF65-F5344CB8AC3E}">
        <p14:creationId xmlns:p14="http://schemas.microsoft.com/office/powerpoint/2010/main" val="21823009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6F9061CB-8A88-457D-BCD8-32B3E3684A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019800"/>
          </a:xfrm>
          <a:prstGeom prst="rect">
            <a:avLst/>
          </a:prstGeom>
        </p:spPr>
      </p:pic>
      <p:sp>
        <p:nvSpPr>
          <p:cNvPr id="3" name="Rectangle 2"/>
          <p:cNvSpPr/>
          <p:nvPr/>
        </p:nvSpPr>
        <p:spPr>
          <a:xfrm>
            <a:off x="1981200" y="6197814"/>
            <a:ext cx="6858000" cy="584775"/>
          </a:xfrm>
          <a:prstGeom prst="rect">
            <a:avLst/>
          </a:prstGeom>
        </p:spPr>
        <p:txBody>
          <a:bodyPr wrap="square">
            <a:spAutoFit/>
          </a:bodyPr>
          <a:lstStyle/>
          <a:p>
            <a:pPr algn="ctr"/>
            <a:r>
              <a:rPr lang="en-IN" sz="1600" dirty="0"/>
              <a:t>The pictorial explanation of assigning cluster and centroid.  </a:t>
            </a:r>
          </a:p>
          <a:p>
            <a:pPr algn="ctr"/>
            <a:r>
              <a:rPr lang="en-IN" sz="1600" dirty="0" smtClean="0"/>
              <a:t> K=2 </a:t>
            </a:r>
            <a:r>
              <a:rPr lang="en-IN" sz="1600" dirty="0"/>
              <a:t>Clusters</a:t>
            </a:r>
            <a:endParaRPr lang="en-IN" sz="1600" dirty="0"/>
          </a:p>
        </p:txBody>
      </p:sp>
    </p:spTree>
    <p:extLst>
      <p:ext uri="{BB962C8B-B14F-4D97-AF65-F5344CB8AC3E}">
        <p14:creationId xmlns:p14="http://schemas.microsoft.com/office/powerpoint/2010/main" val="27643015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Data with No Answers</a:t>
            </a:r>
          </a:p>
        </p:txBody>
      </p:sp>
      <p:pic>
        <p:nvPicPr>
          <p:cNvPr id="4098"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6836" r="50945" b="29288"/>
          <a:stretch/>
        </p:blipFill>
        <p:spPr bwMode="auto">
          <a:xfrm>
            <a:off x="2438400" y="1981200"/>
            <a:ext cx="3956836" cy="2438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a:extLst>
              <a:ext uri="{FF2B5EF4-FFF2-40B4-BE49-F238E27FC236}">
                <a16:creationId xmlns:a16="http://schemas.microsoft.com/office/drawing/2014/main" xmlns="" id="{3A427C80-0E5B-4486-BF2D-9AAEE0DD8573}"/>
              </a:ext>
            </a:extLst>
          </p:cNvPr>
          <p:cNvSpPr/>
          <p:nvPr/>
        </p:nvSpPr>
        <p:spPr>
          <a:xfrm>
            <a:off x="5791200" y="3810000"/>
            <a:ext cx="304800" cy="190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xmlns="" id="{DF16F39B-2B84-4206-9E2F-8A76771A9401}"/>
              </a:ext>
            </a:extLst>
          </p:cNvPr>
          <p:cNvSpPr/>
          <p:nvPr/>
        </p:nvSpPr>
        <p:spPr>
          <a:xfrm>
            <a:off x="7391400" y="2971800"/>
            <a:ext cx="304800" cy="114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xmlns="" id="{2A9A7A55-39C0-4911-A109-955914C5F317}"/>
              </a:ext>
            </a:extLst>
          </p:cNvPr>
          <p:cNvSpPr txBox="1"/>
          <p:nvPr/>
        </p:nvSpPr>
        <p:spPr>
          <a:xfrm>
            <a:off x="4718836" y="2209799"/>
            <a:ext cx="383438" cy="246221"/>
          </a:xfrm>
          <a:prstGeom prst="rect">
            <a:avLst/>
          </a:prstGeom>
          <a:noFill/>
          <a:ln w="3175">
            <a:solidFill>
              <a:schemeClr val="tx1"/>
            </a:solidFill>
          </a:ln>
        </p:spPr>
        <p:txBody>
          <a:bodyPr wrap="none" rtlCol="0">
            <a:spAutoFit/>
          </a:bodyPr>
          <a:lstStyle/>
          <a:p>
            <a:r>
              <a:rPr lang="en-IN" sz="1000" dirty="0"/>
              <a:t>Age</a:t>
            </a:r>
          </a:p>
        </p:txBody>
      </p:sp>
      <p:sp>
        <p:nvSpPr>
          <p:cNvPr id="9" name="TextBox 8">
            <a:extLst>
              <a:ext uri="{FF2B5EF4-FFF2-40B4-BE49-F238E27FC236}">
                <a16:creationId xmlns:a16="http://schemas.microsoft.com/office/drawing/2014/main" xmlns="" id="{FA118CAC-DC7B-4B5E-A793-5B0010C11F0E}"/>
              </a:ext>
            </a:extLst>
          </p:cNvPr>
          <p:cNvSpPr txBox="1"/>
          <p:nvPr/>
        </p:nvSpPr>
        <p:spPr>
          <a:xfrm>
            <a:off x="5404636" y="2209136"/>
            <a:ext cx="562975" cy="246221"/>
          </a:xfrm>
          <a:prstGeom prst="rect">
            <a:avLst/>
          </a:prstGeom>
          <a:noFill/>
          <a:ln w="3175">
            <a:solidFill>
              <a:schemeClr val="tx1"/>
            </a:solidFill>
          </a:ln>
        </p:spPr>
        <p:txBody>
          <a:bodyPr wrap="none" rtlCol="0">
            <a:spAutoFit/>
          </a:bodyPr>
          <a:lstStyle/>
          <a:p>
            <a:r>
              <a:rPr lang="en-IN" sz="1000" dirty="0"/>
              <a:t>Weight</a:t>
            </a:r>
          </a:p>
        </p:txBody>
      </p:sp>
    </p:spTree>
    <p:extLst>
      <p:ext uri="{BB962C8B-B14F-4D97-AF65-F5344CB8AC3E}">
        <p14:creationId xmlns:p14="http://schemas.microsoft.com/office/powerpoint/2010/main" val="35019195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Data with No Answers</a:t>
            </a:r>
          </a:p>
        </p:txBody>
      </p:sp>
      <p:sp>
        <p:nvSpPr>
          <p:cNvPr id="4" name="Rectangle 3">
            <a:extLst>
              <a:ext uri="{FF2B5EF4-FFF2-40B4-BE49-F238E27FC236}">
                <a16:creationId xmlns:a16="http://schemas.microsoft.com/office/drawing/2014/main" xmlns="" id="{3A427C80-0E5B-4486-BF2D-9AAEE0DD8573}"/>
              </a:ext>
            </a:extLst>
          </p:cNvPr>
          <p:cNvSpPr/>
          <p:nvPr/>
        </p:nvSpPr>
        <p:spPr>
          <a:xfrm>
            <a:off x="5791200" y="3810000"/>
            <a:ext cx="304800" cy="190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xmlns="" id="{DF16F39B-2B84-4206-9E2F-8A76771A9401}"/>
              </a:ext>
            </a:extLst>
          </p:cNvPr>
          <p:cNvSpPr/>
          <p:nvPr/>
        </p:nvSpPr>
        <p:spPr>
          <a:xfrm>
            <a:off x="7391400" y="2971800"/>
            <a:ext cx="304800" cy="114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Picture 9">
            <a:extLst>
              <a:ext uri="{FF2B5EF4-FFF2-40B4-BE49-F238E27FC236}">
                <a16:creationId xmlns:a16="http://schemas.microsoft.com/office/drawing/2014/main" xmlns="" id="{F0B04D61-CEBC-453D-BBEB-487436B2BC78}"/>
              </a:ext>
            </a:extLst>
          </p:cNvPr>
          <p:cNvPicPr>
            <a:picLocks noChangeAspect="1"/>
          </p:cNvPicPr>
          <p:nvPr/>
        </p:nvPicPr>
        <p:blipFill>
          <a:blip r:embed="rId2"/>
          <a:stretch>
            <a:fillRect/>
          </a:stretch>
        </p:blipFill>
        <p:spPr>
          <a:xfrm>
            <a:off x="2437534" y="2133600"/>
            <a:ext cx="4268932" cy="2590800"/>
          </a:xfrm>
          <a:prstGeom prst="rect">
            <a:avLst/>
          </a:prstGeom>
        </p:spPr>
      </p:pic>
    </p:spTree>
    <p:extLst>
      <p:ext uri="{BB962C8B-B14F-4D97-AF65-F5344CB8AC3E}">
        <p14:creationId xmlns:p14="http://schemas.microsoft.com/office/powerpoint/2010/main" val="33708260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Data with No Answers</a:t>
            </a:r>
          </a:p>
        </p:txBody>
      </p:sp>
      <p:sp>
        <p:nvSpPr>
          <p:cNvPr id="4" name="Rectangle 3">
            <a:extLst>
              <a:ext uri="{FF2B5EF4-FFF2-40B4-BE49-F238E27FC236}">
                <a16:creationId xmlns:a16="http://schemas.microsoft.com/office/drawing/2014/main" xmlns="" id="{3A427C80-0E5B-4486-BF2D-9AAEE0DD8573}"/>
              </a:ext>
            </a:extLst>
          </p:cNvPr>
          <p:cNvSpPr/>
          <p:nvPr/>
        </p:nvSpPr>
        <p:spPr>
          <a:xfrm>
            <a:off x="5791200" y="3810000"/>
            <a:ext cx="304800" cy="190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xmlns="" id="{DF16F39B-2B84-4206-9E2F-8A76771A9401}"/>
              </a:ext>
            </a:extLst>
          </p:cNvPr>
          <p:cNvSpPr/>
          <p:nvPr/>
        </p:nvSpPr>
        <p:spPr>
          <a:xfrm>
            <a:off x="7391400" y="2971800"/>
            <a:ext cx="304800" cy="114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a:extLst>
              <a:ext uri="{FF2B5EF4-FFF2-40B4-BE49-F238E27FC236}">
                <a16:creationId xmlns:a16="http://schemas.microsoft.com/office/drawing/2014/main" xmlns="" id="{43B532FB-331E-4629-A2CA-4E18C3ECB025}"/>
              </a:ext>
            </a:extLst>
          </p:cNvPr>
          <p:cNvPicPr>
            <a:picLocks noChangeAspect="1"/>
          </p:cNvPicPr>
          <p:nvPr/>
        </p:nvPicPr>
        <p:blipFill>
          <a:blip r:embed="rId2"/>
          <a:stretch>
            <a:fillRect/>
          </a:stretch>
        </p:blipFill>
        <p:spPr>
          <a:xfrm>
            <a:off x="4102211" y="2286000"/>
            <a:ext cx="4584589" cy="2755631"/>
          </a:xfrm>
          <a:prstGeom prst="rect">
            <a:avLst/>
          </a:prstGeom>
        </p:spPr>
      </p:pic>
      <p:pic>
        <p:nvPicPr>
          <p:cNvPr id="11" name="Picture 10">
            <a:extLst>
              <a:ext uri="{FF2B5EF4-FFF2-40B4-BE49-F238E27FC236}">
                <a16:creationId xmlns:a16="http://schemas.microsoft.com/office/drawing/2014/main" xmlns="" id="{BABC4704-A558-4F61-838A-EB93065546CF}"/>
              </a:ext>
            </a:extLst>
          </p:cNvPr>
          <p:cNvPicPr>
            <a:picLocks noChangeAspect="1"/>
          </p:cNvPicPr>
          <p:nvPr/>
        </p:nvPicPr>
        <p:blipFill>
          <a:blip r:embed="rId3"/>
          <a:stretch>
            <a:fillRect/>
          </a:stretch>
        </p:blipFill>
        <p:spPr>
          <a:xfrm>
            <a:off x="152400" y="2590800"/>
            <a:ext cx="3892262" cy="2362200"/>
          </a:xfrm>
          <a:prstGeom prst="rect">
            <a:avLst/>
          </a:prstGeom>
        </p:spPr>
      </p:pic>
    </p:spTree>
    <p:extLst>
      <p:ext uri="{BB962C8B-B14F-4D97-AF65-F5344CB8AC3E}">
        <p14:creationId xmlns:p14="http://schemas.microsoft.com/office/powerpoint/2010/main" val="9230187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Data with No Answers</a:t>
            </a:r>
          </a:p>
        </p:txBody>
      </p:sp>
      <p:sp>
        <p:nvSpPr>
          <p:cNvPr id="4" name="Rectangle 3">
            <a:extLst>
              <a:ext uri="{FF2B5EF4-FFF2-40B4-BE49-F238E27FC236}">
                <a16:creationId xmlns:a16="http://schemas.microsoft.com/office/drawing/2014/main" xmlns="" id="{3A427C80-0E5B-4486-BF2D-9AAEE0DD8573}"/>
              </a:ext>
            </a:extLst>
          </p:cNvPr>
          <p:cNvSpPr/>
          <p:nvPr/>
        </p:nvSpPr>
        <p:spPr>
          <a:xfrm>
            <a:off x="5791200" y="3810000"/>
            <a:ext cx="304800" cy="190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xmlns="" id="{DF16F39B-2B84-4206-9E2F-8A76771A9401}"/>
              </a:ext>
            </a:extLst>
          </p:cNvPr>
          <p:cNvSpPr/>
          <p:nvPr/>
        </p:nvSpPr>
        <p:spPr>
          <a:xfrm>
            <a:off x="7391400" y="2971800"/>
            <a:ext cx="304800" cy="114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a:extLst>
              <a:ext uri="{FF2B5EF4-FFF2-40B4-BE49-F238E27FC236}">
                <a16:creationId xmlns:a16="http://schemas.microsoft.com/office/drawing/2014/main" xmlns="" id="{BABC4704-A558-4F61-838A-EB93065546CF}"/>
              </a:ext>
            </a:extLst>
          </p:cNvPr>
          <p:cNvPicPr>
            <a:picLocks noChangeAspect="1"/>
          </p:cNvPicPr>
          <p:nvPr/>
        </p:nvPicPr>
        <p:blipFill>
          <a:blip r:embed="rId2"/>
          <a:stretch>
            <a:fillRect/>
          </a:stretch>
        </p:blipFill>
        <p:spPr>
          <a:xfrm>
            <a:off x="152400" y="2590800"/>
            <a:ext cx="3892262" cy="2362200"/>
          </a:xfrm>
          <a:prstGeom prst="rect">
            <a:avLst/>
          </a:prstGeom>
        </p:spPr>
      </p:pic>
      <p:graphicFrame>
        <p:nvGraphicFramePr>
          <p:cNvPr id="7" name="Chart 6">
            <a:extLst>
              <a:ext uri="{FF2B5EF4-FFF2-40B4-BE49-F238E27FC236}">
                <a16:creationId xmlns:a16="http://schemas.microsoft.com/office/drawing/2014/main" xmlns="" id="{D603CB13-E743-4CE3-A806-CEC531152898}"/>
              </a:ext>
            </a:extLst>
          </p:cNvPr>
          <p:cNvGraphicFramePr>
            <a:graphicFrameLocks/>
          </p:cNvGraphicFramePr>
          <p:nvPr>
            <p:extLst>
              <p:ext uri="{D42A27DB-BD31-4B8C-83A1-F6EECF244321}">
                <p14:modId xmlns:p14="http://schemas.microsoft.com/office/powerpoint/2010/main" val="2189560832"/>
              </p:ext>
            </p:extLst>
          </p:nvPr>
        </p:nvGraphicFramePr>
        <p:xfrm>
          <a:off x="4114800" y="2245581"/>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9674449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1. Cluster assignment</a:t>
            </a:r>
          </a:p>
        </p:txBody>
      </p:sp>
      <p:sp>
        <p:nvSpPr>
          <p:cNvPr id="4" name="Rectangle 3">
            <a:extLst>
              <a:ext uri="{FF2B5EF4-FFF2-40B4-BE49-F238E27FC236}">
                <a16:creationId xmlns:a16="http://schemas.microsoft.com/office/drawing/2014/main" xmlns="" id="{3A427C80-0E5B-4486-BF2D-9AAEE0DD8573}"/>
              </a:ext>
            </a:extLst>
          </p:cNvPr>
          <p:cNvSpPr/>
          <p:nvPr/>
        </p:nvSpPr>
        <p:spPr>
          <a:xfrm>
            <a:off x="5791200" y="3810000"/>
            <a:ext cx="304800" cy="190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xmlns="" id="{DF16F39B-2B84-4206-9E2F-8A76771A9401}"/>
              </a:ext>
            </a:extLst>
          </p:cNvPr>
          <p:cNvSpPr/>
          <p:nvPr/>
        </p:nvSpPr>
        <p:spPr>
          <a:xfrm>
            <a:off x="7391400" y="2971800"/>
            <a:ext cx="304800" cy="114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a:extLst>
              <a:ext uri="{FF2B5EF4-FFF2-40B4-BE49-F238E27FC236}">
                <a16:creationId xmlns:a16="http://schemas.microsoft.com/office/drawing/2014/main" xmlns="" id="{BABC4704-A558-4F61-838A-EB93065546CF}"/>
              </a:ext>
            </a:extLst>
          </p:cNvPr>
          <p:cNvPicPr>
            <a:picLocks noChangeAspect="1"/>
          </p:cNvPicPr>
          <p:nvPr/>
        </p:nvPicPr>
        <p:blipFill>
          <a:blip r:embed="rId2"/>
          <a:stretch>
            <a:fillRect/>
          </a:stretch>
        </p:blipFill>
        <p:spPr>
          <a:xfrm>
            <a:off x="152400" y="2590800"/>
            <a:ext cx="3892262" cy="2362200"/>
          </a:xfrm>
          <a:prstGeom prst="rect">
            <a:avLst/>
          </a:prstGeom>
        </p:spPr>
      </p:pic>
      <p:graphicFrame>
        <p:nvGraphicFramePr>
          <p:cNvPr id="7" name="Chart 6">
            <a:extLst>
              <a:ext uri="{FF2B5EF4-FFF2-40B4-BE49-F238E27FC236}">
                <a16:creationId xmlns:a16="http://schemas.microsoft.com/office/drawing/2014/main" xmlns="" id="{D603CB13-E743-4CE3-A806-CEC531152898}"/>
              </a:ext>
            </a:extLst>
          </p:cNvPr>
          <p:cNvGraphicFramePr>
            <a:graphicFrameLocks/>
          </p:cNvGraphicFramePr>
          <p:nvPr/>
        </p:nvGraphicFramePr>
        <p:xfrm>
          <a:off x="4114800" y="2245581"/>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a:extLst>
              <a:ext uri="{FF2B5EF4-FFF2-40B4-BE49-F238E27FC236}">
                <a16:creationId xmlns:a16="http://schemas.microsoft.com/office/drawing/2014/main" xmlns="" id="{3D6B1717-2F8C-453F-8EE5-AC2829BB137B}"/>
              </a:ext>
            </a:extLst>
          </p:cNvPr>
          <p:cNvSpPr txBox="1"/>
          <p:nvPr/>
        </p:nvSpPr>
        <p:spPr>
          <a:xfrm>
            <a:off x="762000" y="1524000"/>
            <a:ext cx="7924800" cy="369332"/>
          </a:xfrm>
          <a:prstGeom prst="rect">
            <a:avLst/>
          </a:prstGeom>
          <a:noFill/>
        </p:spPr>
        <p:txBody>
          <a:bodyPr wrap="square" rtlCol="0">
            <a:spAutoFit/>
          </a:bodyPr>
          <a:lstStyle/>
          <a:p>
            <a:r>
              <a:rPr lang="en-US" dirty="0"/>
              <a:t>K =2, which means let us create 2 clusters of data points. </a:t>
            </a:r>
            <a:endParaRPr lang="en-IN" dirty="0"/>
          </a:p>
        </p:txBody>
      </p:sp>
    </p:spTree>
    <p:extLst>
      <p:ext uri="{BB962C8B-B14F-4D97-AF65-F5344CB8AC3E}">
        <p14:creationId xmlns:p14="http://schemas.microsoft.com/office/powerpoint/2010/main" val="1757754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1. Cluster assignment</a:t>
            </a:r>
          </a:p>
        </p:txBody>
      </p:sp>
      <p:sp>
        <p:nvSpPr>
          <p:cNvPr id="4" name="Rectangle 3">
            <a:extLst>
              <a:ext uri="{FF2B5EF4-FFF2-40B4-BE49-F238E27FC236}">
                <a16:creationId xmlns:a16="http://schemas.microsoft.com/office/drawing/2014/main" xmlns="" id="{3A427C80-0E5B-4486-BF2D-9AAEE0DD8573}"/>
              </a:ext>
            </a:extLst>
          </p:cNvPr>
          <p:cNvSpPr/>
          <p:nvPr/>
        </p:nvSpPr>
        <p:spPr>
          <a:xfrm>
            <a:off x="5791200" y="3810000"/>
            <a:ext cx="304800" cy="190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xmlns="" id="{DF16F39B-2B84-4206-9E2F-8A76771A9401}"/>
              </a:ext>
            </a:extLst>
          </p:cNvPr>
          <p:cNvSpPr/>
          <p:nvPr/>
        </p:nvSpPr>
        <p:spPr>
          <a:xfrm>
            <a:off x="7391400" y="2971800"/>
            <a:ext cx="304800" cy="114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7" name="Chart 6">
            <a:extLst>
              <a:ext uri="{FF2B5EF4-FFF2-40B4-BE49-F238E27FC236}">
                <a16:creationId xmlns:a16="http://schemas.microsoft.com/office/drawing/2014/main" xmlns="" id="{D603CB13-E743-4CE3-A806-CEC531152898}"/>
              </a:ext>
            </a:extLst>
          </p:cNvPr>
          <p:cNvGraphicFramePr>
            <a:graphicFrameLocks/>
          </p:cNvGraphicFramePr>
          <p:nvPr/>
        </p:nvGraphicFramePr>
        <p:xfrm>
          <a:off x="4114800" y="2245581"/>
          <a:ext cx="45720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xmlns="" id="{3D6B1717-2F8C-453F-8EE5-AC2829BB137B}"/>
              </a:ext>
            </a:extLst>
          </p:cNvPr>
          <p:cNvSpPr txBox="1"/>
          <p:nvPr/>
        </p:nvSpPr>
        <p:spPr>
          <a:xfrm>
            <a:off x="762000" y="1524000"/>
            <a:ext cx="7924800" cy="369332"/>
          </a:xfrm>
          <a:prstGeom prst="rect">
            <a:avLst/>
          </a:prstGeom>
          <a:noFill/>
        </p:spPr>
        <p:txBody>
          <a:bodyPr wrap="square" rtlCol="0">
            <a:spAutoFit/>
          </a:bodyPr>
          <a:lstStyle/>
          <a:p>
            <a:r>
              <a:rPr lang="en-US" dirty="0"/>
              <a:t>First time the Algorithm creates 2 Random Clusters – A and B</a:t>
            </a:r>
            <a:endParaRPr lang="en-IN" dirty="0"/>
          </a:p>
        </p:txBody>
      </p:sp>
      <p:sp>
        <p:nvSpPr>
          <p:cNvPr id="8" name="TextBox 7">
            <a:extLst>
              <a:ext uri="{FF2B5EF4-FFF2-40B4-BE49-F238E27FC236}">
                <a16:creationId xmlns:a16="http://schemas.microsoft.com/office/drawing/2014/main" xmlns="" id="{C54C36AD-06FC-41D3-ADBB-EC1383FAFFA5}"/>
              </a:ext>
            </a:extLst>
          </p:cNvPr>
          <p:cNvSpPr txBox="1"/>
          <p:nvPr/>
        </p:nvSpPr>
        <p:spPr>
          <a:xfrm>
            <a:off x="759448" y="5439730"/>
            <a:ext cx="7924800" cy="923330"/>
          </a:xfrm>
          <a:prstGeom prst="rect">
            <a:avLst/>
          </a:prstGeom>
          <a:noFill/>
        </p:spPr>
        <p:txBody>
          <a:bodyPr wrap="square" rtlCol="0">
            <a:spAutoFit/>
          </a:bodyPr>
          <a:lstStyle/>
          <a:p>
            <a:r>
              <a:rPr lang="en-US" dirty="0"/>
              <a:t>Start with a </a:t>
            </a:r>
            <a:r>
              <a:rPr lang="en-US" b="1" dirty="0"/>
              <a:t>Random Cluster, let us assign </a:t>
            </a:r>
          </a:p>
          <a:p>
            <a:r>
              <a:rPr lang="en-US" b="1" dirty="0"/>
              <a:t>Row 1,2,3 to Cluster A</a:t>
            </a:r>
          </a:p>
          <a:p>
            <a:r>
              <a:rPr lang="en-US" b="1" dirty="0"/>
              <a:t>Row 4,5 to Cluster B</a:t>
            </a:r>
            <a:endParaRPr lang="en-IN" b="1" dirty="0"/>
          </a:p>
        </p:txBody>
      </p:sp>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xmlns="" id="{B7C3641D-D69A-4137-A6ED-34FFBFC98D97}"/>
                  </a:ext>
                </a:extLst>
              </p14:cNvPr>
              <p14:cNvContentPartPr/>
              <p14:nvPr/>
            </p14:nvContentPartPr>
            <p14:xfrm>
              <a:off x="8937078" y="5008696"/>
              <a:ext cx="360" cy="360"/>
            </p14:xfrm>
          </p:contentPart>
        </mc:Choice>
        <mc:Fallback xmlns="">
          <p:pic>
            <p:nvPicPr>
              <p:cNvPr id="12" name="Ink 11">
                <a:extLst>
                  <a:ext uri="{FF2B5EF4-FFF2-40B4-BE49-F238E27FC236}">
                    <a16:creationId xmlns:a16="http://schemas.microsoft.com/office/drawing/2014/main" id="{B7C3641D-D69A-4137-A6ED-34FFBFC98D97}"/>
                  </a:ext>
                </a:extLst>
              </p:cNvPr>
              <p:cNvPicPr/>
              <p:nvPr/>
            </p:nvPicPr>
            <p:blipFill>
              <a:blip r:embed="rId4"/>
              <a:stretch>
                <a:fillRect/>
              </a:stretch>
            </p:blipFill>
            <p:spPr>
              <a:xfrm>
                <a:off x="8928438" y="5000056"/>
                <a:ext cx="18000" cy="18000"/>
              </a:xfrm>
              <a:prstGeom prst="rect">
                <a:avLst/>
              </a:prstGeom>
            </p:spPr>
          </p:pic>
        </mc:Fallback>
      </mc:AlternateContent>
      <p:sp>
        <p:nvSpPr>
          <p:cNvPr id="15" name="Freeform: Shape 14">
            <a:extLst>
              <a:ext uri="{FF2B5EF4-FFF2-40B4-BE49-F238E27FC236}">
                <a16:creationId xmlns:a16="http://schemas.microsoft.com/office/drawing/2014/main" xmlns="" id="{03C8D3B5-DDF6-4240-951E-70923B661CDB}"/>
              </a:ext>
            </a:extLst>
          </p:cNvPr>
          <p:cNvSpPr/>
          <p:nvPr/>
        </p:nvSpPr>
        <p:spPr>
          <a:xfrm>
            <a:off x="4992853" y="3148717"/>
            <a:ext cx="2004295" cy="1391478"/>
          </a:xfrm>
          <a:custGeom>
            <a:avLst/>
            <a:gdLst>
              <a:gd name="connsiteX0" fmla="*/ 566 w 2004295"/>
              <a:gd name="connsiteY0" fmla="*/ 1049572 h 1391478"/>
              <a:gd name="connsiteX1" fmla="*/ 48274 w 2004295"/>
              <a:gd name="connsiteY1" fmla="*/ 985961 h 1391478"/>
              <a:gd name="connsiteX2" fmla="*/ 95982 w 2004295"/>
              <a:gd name="connsiteY2" fmla="*/ 914400 h 1391478"/>
              <a:gd name="connsiteX3" fmla="*/ 159592 w 2004295"/>
              <a:gd name="connsiteY3" fmla="*/ 858740 h 1391478"/>
              <a:gd name="connsiteX4" fmla="*/ 215251 w 2004295"/>
              <a:gd name="connsiteY4" fmla="*/ 834886 h 1391478"/>
              <a:gd name="connsiteX5" fmla="*/ 278862 w 2004295"/>
              <a:gd name="connsiteY5" fmla="*/ 803081 h 1391478"/>
              <a:gd name="connsiteX6" fmla="*/ 334521 w 2004295"/>
              <a:gd name="connsiteY6" fmla="*/ 763325 h 1391478"/>
              <a:gd name="connsiteX7" fmla="*/ 358375 w 2004295"/>
              <a:gd name="connsiteY7" fmla="*/ 739471 h 1391478"/>
              <a:gd name="connsiteX8" fmla="*/ 406083 w 2004295"/>
              <a:gd name="connsiteY8" fmla="*/ 707666 h 1391478"/>
              <a:gd name="connsiteX9" fmla="*/ 469693 w 2004295"/>
              <a:gd name="connsiteY9" fmla="*/ 636104 h 1391478"/>
              <a:gd name="connsiteX10" fmla="*/ 541255 w 2004295"/>
              <a:gd name="connsiteY10" fmla="*/ 588396 h 1391478"/>
              <a:gd name="connsiteX11" fmla="*/ 565109 w 2004295"/>
              <a:gd name="connsiteY11" fmla="*/ 564542 h 1391478"/>
              <a:gd name="connsiteX12" fmla="*/ 628719 w 2004295"/>
              <a:gd name="connsiteY12" fmla="*/ 524786 h 1391478"/>
              <a:gd name="connsiteX13" fmla="*/ 652573 w 2004295"/>
              <a:gd name="connsiteY13" fmla="*/ 500932 h 1391478"/>
              <a:gd name="connsiteX14" fmla="*/ 676427 w 2004295"/>
              <a:gd name="connsiteY14" fmla="*/ 485029 h 1391478"/>
              <a:gd name="connsiteX15" fmla="*/ 771843 w 2004295"/>
              <a:gd name="connsiteY15" fmla="*/ 365760 h 1391478"/>
              <a:gd name="connsiteX16" fmla="*/ 827502 w 2004295"/>
              <a:gd name="connsiteY16" fmla="*/ 270344 h 1391478"/>
              <a:gd name="connsiteX17" fmla="*/ 843404 w 2004295"/>
              <a:gd name="connsiteY17" fmla="*/ 246490 h 1391478"/>
              <a:gd name="connsiteX18" fmla="*/ 859307 w 2004295"/>
              <a:gd name="connsiteY18" fmla="*/ 222636 h 1391478"/>
              <a:gd name="connsiteX19" fmla="*/ 883161 w 2004295"/>
              <a:gd name="connsiteY19" fmla="*/ 190831 h 1391478"/>
              <a:gd name="connsiteX20" fmla="*/ 914966 w 2004295"/>
              <a:gd name="connsiteY20" fmla="*/ 174928 h 1391478"/>
              <a:gd name="connsiteX21" fmla="*/ 938820 w 2004295"/>
              <a:gd name="connsiteY21" fmla="*/ 159026 h 1391478"/>
              <a:gd name="connsiteX22" fmla="*/ 986528 w 2004295"/>
              <a:gd name="connsiteY22" fmla="*/ 143123 h 1391478"/>
              <a:gd name="connsiteX23" fmla="*/ 1010382 w 2004295"/>
              <a:gd name="connsiteY23" fmla="*/ 135172 h 1391478"/>
              <a:gd name="connsiteX24" fmla="*/ 1105797 w 2004295"/>
              <a:gd name="connsiteY24" fmla="*/ 111318 h 1391478"/>
              <a:gd name="connsiteX25" fmla="*/ 1169408 w 2004295"/>
              <a:gd name="connsiteY25" fmla="*/ 95415 h 1391478"/>
              <a:gd name="connsiteX26" fmla="*/ 1193262 w 2004295"/>
              <a:gd name="connsiteY26" fmla="*/ 87464 h 1391478"/>
              <a:gd name="connsiteX27" fmla="*/ 1256872 w 2004295"/>
              <a:gd name="connsiteY27" fmla="*/ 79513 h 1391478"/>
              <a:gd name="connsiteX28" fmla="*/ 1376142 w 2004295"/>
              <a:gd name="connsiteY28" fmla="*/ 63610 h 1391478"/>
              <a:gd name="connsiteX29" fmla="*/ 1399996 w 2004295"/>
              <a:gd name="connsiteY29" fmla="*/ 47707 h 1391478"/>
              <a:gd name="connsiteX30" fmla="*/ 1439752 w 2004295"/>
              <a:gd name="connsiteY30" fmla="*/ 31805 h 1391478"/>
              <a:gd name="connsiteX31" fmla="*/ 1543119 w 2004295"/>
              <a:gd name="connsiteY31" fmla="*/ 0 h 1391478"/>
              <a:gd name="connsiteX32" fmla="*/ 1757804 w 2004295"/>
              <a:gd name="connsiteY32" fmla="*/ 15902 h 1391478"/>
              <a:gd name="connsiteX33" fmla="*/ 1789610 w 2004295"/>
              <a:gd name="connsiteY33" fmla="*/ 23853 h 1391478"/>
              <a:gd name="connsiteX34" fmla="*/ 1877074 w 2004295"/>
              <a:gd name="connsiteY34" fmla="*/ 55659 h 1391478"/>
              <a:gd name="connsiteX35" fmla="*/ 1948636 w 2004295"/>
              <a:gd name="connsiteY35" fmla="*/ 87464 h 1391478"/>
              <a:gd name="connsiteX36" fmla="*/ 1996344 w 2004295"/>
              <a:gd name="connsiteY36" fmla="*/ 151074 h 1391478"/>
              <a:gd name="connsiteX37" fmla="*/ 2004295 w 2004295"/>
              <a:gd name="connsiteY37" fmla="*/ 190831 h 1391478"/>
              <a:gd name="connsiteX38" fmla="*/ 1980441 w 2004295"/>
              <a:gd name="connsiteY38" fmla="*/ 389613 h 1391478"/>
              <a:gd name="connsiteX39" fmla="*/ 1948636 w 2004295"/>
              <a:gd name="connsiteY39" fmla="*/ 421419 h 1391478"/>
              <a:gd name="connsiteX40" fmla="*/ 1940684 w 2004295"/>
              <a:gd name="connsiteY40" fmla="*/ 445273 h 1391478"/>
              <a:gd name="connsiteX41" fmla="*/ 1932733 w 2004295"/>
              <a:gd name="connsiteY41" fmla="*/ 477078 h 1391478"/>
              <a:gd name="connsiteX42" fmla="*/ 1900928 w 2004295"/>
              <a:gd name="connsiteY42" fmla="*/ 548640 h 1391478"/>
              <a:gd name="connsiteX43" fmla="*/ 1885025 w 2004295"/>
              <a:gd name="connsiteY43" fmla="*/ 620201 h 1391478"/>
              <a:gd name="connsiteX44" fmla="*/ 1877074 w 2004295"/>
              <a:gd name="connsiteY44" fmla="*/ 707666 h 1391478"/>
              <a:gd name="connsiteX45" fmla="*/ 1837317 w 2004295"/>
              <a:gd name="connsiteY45" fmla="*/ 818984 h 1391478"/>
              <a:gd name="connsiteX46" fmla="*/ 1829366 w 2004295"/>
              <a:gd name="connsiteY46" fmla="*/ 842838 h 1391478"/>
              <a:gd name="connsiteX47" fmla="*/ 1805512 w 2004295"/>
              <a:gd name="connsiteY47" fmla="*/ 866692 h 1391478"/>
              <a:gd name="connsiteX48" fmla="*/ 1725999 w 2004295"/>
              <a:gd name="connsiteY48" fmla="*/ 962107 h 1391478"/>
              <a:gd name="connsiteX49" fmla="*/ 1702145 w 2004295"/>
              <a:gd name="connsiteY49" fmla="*/ 1025718 h 1391478"/>
              <a:gd name="connsiteX50" fmla="*/ 1686243 w 2004295"/>
              <a:gd name="connsiteY50" fmla="*/ 1049572 h 1391478"/>
              <a:gd name="connsiteX51" fmla="*/ 1654437 w 2004295"/>
              <a:gd name="connsiteY51" fmla="*/ 1105231 h 1391478"/>
              <a:gd name="connsiteX52" fmla="*/ 1630584 w 2004295"/>
              <a:gd name="connsiteY52" fmla="*/ 1176793 h 1391478"/>
              <a:gd name="connsiteX53" fmla="*/ 1495411 w 2004295"/>
              <a:gd name="connsiteY53" fmla="*/ 1264257 h 1391478"/>
              <a:gd name="connsiteX54" fmla="*/ 1471557 w 2004295"/>
              <a:gd name="connsiteY54" fmla="*/ 1280160 h 1391478"/>
              <a:gd name="connsiteX55" fmla="*/ 1384093 w 2004295"/>
              <a:gd name="connsiteY55" fmla="*/ 1304013 h 1391478"/>
              <a:gd name="connsiteX56" fmla="*/ 1352288 w 2004295"/>
              <a:gd name="connsiteY56" fmla="*/ 1319916 h 1391478"/>
              <a:gd name="connsiteX57" fmla="*/ 1280726 w 2004295"/>
              <a:gd name="connsiteY57" fmla="*/ 1343770 h 1391478"/>
              <a:gd name="connsiteX58" fmla="*/ 1233018 w 2004295"/>
              <a:gd name="connsiteY58" fmla="*/ 1359673 h 1391478"/>
              <a:gd name="connsiteX59" fmla="*/ 1161457 w 2004295"/>
              <a:gd name="connsiteY59" fmla="*/ 1367624 h 1391478"/>
              <a:gd name="connsiteX60" fmla="*/ 1097846 w 2004295"/>
              <a:gd name="connsiteY60" fmla="*/ 1375575 h 1391478"/>
              <a:gd name="connsiteX61" fmla="*/ 1026284 w 2004295"/>
              <a:gd name="connsiteY61" fmla="*/ 1391478 h 1391478"/>
              <a:gd name="connsiteX62" fmla="*/ 907015 w 2004295"/>
              <a:gd name="connsiteY62" fmla="*/ 1375575 h 1391478"/>
              <a:gd name="connsiteX63" fmla="*/ 835453 w 2004295"/>
              <a:gd name="connsiteY63" fmla="*/ 1359673 h 1391478"/>
              <a:gd name="connsiteX64" fmla="*/ 724135 w 2004295"/>
              <a:gd name="connsiteY64" fmla="*/ 1351721 h 1391478"/>
              <a:gd name="connsiteX65" fmla="*/ 636670 w 2004295"/>
              <a:gd name="connsiteY65" fmla="*/ 1335819 h 1391478"/>
              <a:gd name="connsiteX66" fmla="*/ 366326 w 2004295"/>
              <a:gd name="connsiteY66" fmla="*/ 1319916 h 1391478"/>
              <a:gd name="connsiteX67" fmla="*/ 286813 w 2004295"/>
              <a:gd name="connsiteY67" fmla="*/ 1311965 h 1391478"/>
              <a:gd name="connsiteX68" fmla="*/ 183446 w 2004295"/>
              <a:gd name="connsiteY68" fmla="*/ 1304013 h 1391478"/>
              <a:gd name="connsiteX69" fmla="*/ 111884 w 2004295"/>
              <a:gd name="connsiteY69" fmla="*/ 1280160 h 1391478"/>
              <a:gd name="connsiteX70" fmla="*/ 95982 w 2004295"/>
              <a:gd name="connsiteY70" fmla="*/ 1256306 h 1391478"/>
              <a:gd name="connsiteX71" fmla="*/ 48274 w 2004295"/>
              <a:gd name="connsiteY71" fmla="*/ 1248354 h 1391478"/>
              <a:gd name="connsiteX72" fmla="*/ 40323 w 2004295"/>
              <a:gd name="connsiteY72" fmla="*/ 1200646 h 1391478"/>
              <a:gd name="connsiteX73" fmla="*/ 24420 w 2004295"/>
              <a:gd name="connsiteY73" fmla="*/ 1176793 h 1391478"/>
              <a:gd name="connsiteX74" fmla="*/ 566 w 2004295"/>
              <a:gd name="connsiteY74" fmla="*/ 1049572 h 1391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2004295" h="1391478">
                <a:moveTo>
                  <a:pt x="566" y="1049572"/>
                </a:moveTo>
                <a:cubicBezTo>
                  <a:pt x="4542" y="1017767"/>
                  <a:pt x="33187" y="1007753"/>
                  <a:pt x="48274" y="985961"/>
                </a:cubicBezTo>
                <a:cubicBezTo>
                  <a:pt x="65309" y="961356"/>
                  <a:pt x="74550" y="935833"/>
                  <a:pt x="95982" y="914400"/>
                </a:cubicBezTo>
                <a:cubicBezTo>
                  <a:pt x="115904" y="894477"/>
                  <a:pt x="136149" y="874369"/>
                  <a:pt x="159592" y="858740"/>
                </a:cubicBezTo>
                <a:cubicBezTo>
                  <a:pt x="176387" y="847543"/>
                  <a:pt x="197197" y="843913"/>
                  <a:pt x="215251" y="834886"/>
                </a:cubicBezTo>
                <a:cubicBezTo>
                  <a:pt x="310531" y="787247"/>
                  <a:pt x="141289" y="858111"/>
                  <a:pt x="278862" y="803081"/>
                </a:cubicBezTo>
                <a:cubicBezTo>
                  <a:pt x="340884" y="741059"/>
                  <a:pt x="261261" y="815653"/>
                  <a:pt x="334521" y="763325"/>
                </a:cubicBezTo>
                <a:cubicBezTo>
                  <a:pt x="343671" y="756789"/>
                  <a:pt x="349499" y="746375"/>
                  <a:pt x="358375" y="739471"/>
                </a:cubicBezTo>
                <a:cubicBezTo>
                  <a:pt x="373462" y="727737"/>
                  <a:pt x="390996" y="719400"/>
                  <a:pt x="406083" y="707666"/>
                </a:cubicBezTo>
                <a:cubicBezTo>
                  <a:pt x="429040" y="689811"/>
                  <a:pt x="451335" y="654462"/>
                  <a:pt x="469693" y="636104"/>
                </a:cubicBezTo>
                <a:cubicBezTo>
                  <a:pt x="495994" y="609802"/>
                  <a:pt x="510971" y="611109"/>
                  <a:pt x="541255" y="588396"/>
                </a:cubicBezTo>
                <a:cubicBezTo>
                  <a:pt x="550251" y="581649"/>
                  <a:pt x="556571" y="571860"/>
                  <a:pt x="565109" y="564542"/>
                </a:cubicBezTo>
                <a:cubicBezTo>
                  <a:pt x="594011" y="539769"/>
                  <a:pt x="596138" y="541076"/>
                  <a:pt x="628719" y="524786"/>
                </a:cubicBezTo>
                <a:cubicBezTo>
                  <a:pt x="636670" y="516835"/>
                  <a:pt x="643934" y="508131"/>
                  <a:pt x="652573" y="500932"/>
                </a:cubicBezTo>
                <a:cubicBezTo>
                  <a:pt x="659914" y="494814"/>
                  <a:pt x="669670" y="491786"/>
                  <a:pt x="676427" y="485029"/>
                </a:cubicBezTo>
                <a:cubicBezTo>
                  <a:pt x="699372" y="462084"/>
                  <a:pt x="755042" y="391608"/>
                  <a:pt x="771843" y="365760"/>
                </a:cubicBezTo>
                <a:cubicBezTo>
                  <a:pt x="791910" y="334888"/>
                  <a:pt x="808558" y="301918"/>
                  <a:pt x="827502" y="270344"/>
                </a:cubicBezTo>
                <a:cubicBezTo>
                  <a:pt x="832419" y="262150"/>
                  <a:pt x="838103" y="254441"/>
                  <a:pt x="843404" y="246490"/>
                </a:cubicBezTo>
                <a:cubicBezTo>
                  <a:pt x="848705" y="238539"/>
                  <a:pt x="853573" y="230281"/>
                  <a:pt x="859307" y="222636"/>
                </a:cubicBezTo>
                <a:cubicBezTo>
                  <a:pt x="867258" y="212034"/>
                  <a:pt x="873099" y="199455"/>
                  <a:pt x="883161" y="190831"/>
                </a:cubicBezTo>
                <a:cubicBezTo>
                  <a:pt x="892161" y="183117"/>
                  <a:pt x="904675" y="180809"/>
                  <a:pt x="914966" y="174928"/>
                </a:cubicBezTo>
                <a:cubicBezTo>
                  <a:pt x="923263" y="170187"/>
                  <a:pt x="930087" y="162907"/>
                  <a:pt x="938820" y="159026"/>
                </a:cubicBezTo>
                <a:cubicBezTo>
                  <a:pt x="954138" y="152218"/>
                  <a:pt x="970625" y="148424"/>
                  <a:pt x="986528" y="143123"/>
                </a:cubicBezTo>
                <a:lnTo>
                  <a:pt x="1010382" y="135172"/>
                </a:lnTo>
                <a:cubicBezTo>
                  <a:pt x="1058509" y="103087"/>
                  <a:pt x="1013930" y="127530"/>
                  <a:pt x="1105797" y="111318"/>
                </a:cubicBezTo>
                <a:cubicBezTo>
                  <a:pt x="1127321" y="107520"/>
                  <a:pt x="1148673" y="102326"/>
                  <a:pt x="1169408" y="95415"/>
                </a:cubicBezTo>
                <a:cubicBezTo>
                  <a:pt x="1177359" y="92765"/>
                  <a:pt x="1185016" y="88963"/>
                  <a:pt x="1193262" y="87464"/>
                </a:cubicBezTo>
                <a:cubicBezTo>
                  <a:pt x="1214286" y="83642"/>
                  <a:pt x="1235718" y="82535"/>
                  <a:pt x="1256872" y="79513"/>
                </a:cubicBezTo>
                <a:cubicBezTo>
                  <a:pt x="1381799" y="61666"/>
                  <a:pt x="1208844" y="82198"/>
                  <a:pt x="1376142" y="63610"/>
                </a:cubicBezTo>
                <a:cubicBezTo>
                  <a:pt x="1384093" y="58309"/>
                  <a:pt x="1391449" y="51981"/>
                  <a:pt x="1399996" y="47707"/>
                </a:cubicBezTo>
                <a:cubicBezTo>
                  <a:pt x="1412762" y="41324"/>
                  <a:pt x="1426339" y="36683"/>
                  <a:pt x="1439752" y="31805"/>
                </a:cubicBezTo>
                <a:cubicBezTo>
                  <a:pt x="1480103" y="17132"/>
                  <a:pt x="1500881" y="12068"/>
                  <a:pt x="1543119" y="0"/>
                </a:cubicBezTo>
                <a:cubicBezTo>
                  <a:pt x="1630298" y="4359"/>
                  <a:pt x="1681583" y="2044"/>
                  <a:pt x="1757804" y="15902"/>
                </a:cubicBezTo>
                <a:cubicBezTo>
                  <a:pt x="1768556" y="17857"/>
                  <a:pt x="1779008" y="21203"/>
                  <a:pt x="1789610" y="23853"/>
                </a:cubicBezTo>
                <a:cubicBezTo>
                  <a:pt x="1868091" y="63095"/>
                  <a:pt x="1762130" y="12555"/>
                  <a:pt x="1877074" y="55659"/>
                </a:cubicBezTo>
                <a:cubicBezTo>
                  <a:pt x="1901516" y="64825"/>
                  <a:pt x="1924782" y="76862"/>
                  <a:pt x="1948636" y="87464"/>
                </a:cubicBezTo>
                <a:cubicBezTo>
                  <a:pt x="1949384" y="88400"/>
                  <a:pt x="1991877" y="139161"/>
                  <a:pt x="1996344" y="151074"/>
                </a:cubicBezTo>
                <a:cubicBezTo>
                  <a:pt x="2001089" y="163728"/>
                  <a:pt x="2001645" y="177579"/>
                  <a:pt x="2004295" y="190831"/>
                </a:cubicBezTo>
                <a:cubicBezTo>
                  <a:pt x="2002187" y="224563"/>
                  <a:pt x="2001325" y="344365"/>
                  <a:pt x="1980441" y="389613"/>
                </a:cubicBezTo>
                <a:cubicBezTo>
                  <a:pt x="1974158" y="403226"/>
                  <a:pt x="1959238" y="410817"/>
                  <a:pt x="1948636" y="421419"/>
                </a:cubicBezTo>
                <a:cubicBezTo>
                  <a:pt x="1945985" y="429370"/>
                  <a:pt x="1942987" y="437214"/>
                  <a:pt x="1940684" y="445273"/>
                </a:cubicBezTo>
                <a:cubicBezTo>
                  <a:pt x="1937682" y="455780"/>
                  <a:pt x="1936656" y="466878"/>
                  <a:pt x="1932733" y="477078"/>
                </a:cubicBezTo>
                <a:cubicBezTo>
                  <a:pt x="1923362" y="501442"/>
                  <a:pt x="1909183" y="523876"/>
                  <a:pt x="1900928" y="548640"/>
                </a:cubicBezTo>
                <a:cubicBezTo>
                  <a:pt x="1893201" y="571822"/>
                  <a:pt x="1890326" y="596347"/>
                  <a:pt x="1885025" y="620201"/>
                </a:cubicBezTo>
                <a:cubicBezTo>
                  <a:pt x="1882375" y="649356"/>
                  <a:pt x="1882162" y="678836"/>
                  <a:pt x="1877074" y="707666"/>
                </a:cubicBezTo>
                <a:cubicBezTo>
                  <a:pt x="1874469" y="722427"/>
                  <a:pt x="1839417" y="813209"/>
                  <a:pt x="1837317" y="818984"/>
                </a:cubicBezTo>
                <a:cubicBezTo>
                  <a:pt x="1834453" y="826861"/>
                  <a:pt x="1834015" y="835864"/>
                  <a:pt x="1829366" y="842838"/>
                </a:cubicBezTo>
                <a:cubicBezTo>
                  <a:pt x="1823129" y="852194"/>
                  <a:pt x="1812048" y="857542"/>
                  <a:pt x="1805512" y="866692"/>
                </a:cubicBezTo>
                <a:cubicBezTo>
                  <a:pt x="1735685" y="964450"/>
                  <a:pt x="1784982" y="942447"/>
                  <a:pt x="1725999" y="962107"/>
                </a:cubicBezTo>
                <a:cubicBezTo>
                  <a:pt x="1718048" y="983311"/>
                  <a:pt x="1711516" y="1005102"/>
                  <a:pt x="1702145" y="1025718"/>
                </a:cubicBezTo>
                <a:cubicBezTo>
                  <a:pt x="1698191" y="1034418"/>
                  <a:pt x="1689598" y="1040624"/>
                  <a:pt x="1686243" y="1049572"/>
                </a:cubicBezTo>
                <a:cubicBezTo>
                  <a:pt x="1664955" y="1106340"/>
                  <a:pt x="1697641" y="1076428"/>
                  <a:pt x="1654437" y="1105231"/>
                </a:cubicBezTo>
                <a:cubicBezTo>
                  <a:pt x="1646486" y="1129085"/>
                  <a:pt x="1645670" y="1156678"/>
                  <a:pt x="1630584" y="1176793"/>
                </a:cubicBezTo>
                <a:cubicBezTo>
                  <a:pt x="1586651" y="1235371"/>
                  <a:pt x="1549698" y="1228065"/>
                  <a:pt x="1495411" y="1264257"/>
                </a:cubicBezTo>
                <a:cubicBezTo>
                  <a:pt x="1487460" y="1269558"/>
                  <a:pt x="1480557" y="1276946"/>
                  <a:pt x="1471557" y="1280160"/>
                </a:cubicBezTo>
                <a:cubicBezTo>
                  <a:pt x="1443098" y="1290324"/>
                  <a:pt x="1412762" y="1294457"/>
                  <a:pt x="1384093" y="1304013"/>
                </a:cubicBezTo>
                <a:cubicBezTo>
                  <a:pt x="1372848" y="1307761"/>
                  <a:pt x="1363119" y="1315102"/>
                  <a:pt x="1352288" y="1319916"/>
                </a:cubicBezTo>
                <a:cubicBezTo>
                  <a:pt x="1297097" y="1344446"/>
                  <a:pt x="1330426" y="1328860"/>
                  <a:pt x="1280726" y="1343770"/>
                </a:cubicBezTo>
                <a:cubicBezTo>
                  <a:pt x="1264670" y="1348587"/>
                  <a:pt x="1249455" y="1356385"/>
                  <a:pt x="1233018" y="1359673"/>
                </a:cubicBezTo>
                <a:cubicBezTo>
                  <a:pt x="1209484" y="1364380"/>
                  <a:pt x="1185293" y="1364820"/>
                  <a:pt x="1161457" y="1367624"/>
                </a:cubicBezTo>
                <a:cubicBezTo>
                  <a:pt x="1140235" y="1370121"/>
                  <a:pt x="1118890" y="1371861"/>
                  <a:pt x="1097846" y="1375575"/>
                </a:cubicBezTo>
                <a:cubicBezTo>
                  <a:pt x="1073782" y="1379822"/>
                  <a:pt x="1050138" y="1386177"/>
                  <a:pt x="1026284" y="1391478"/>
                </a:cubicBezTo>
                <a:cubicBezTo>
                  <a:pt x="1004149" y="1388711"/>
                  <a:pt x="931141" y="1379961"/>
                  <a:pt x="907015" y="1375575"/>
                </a:cubicBezTo>
                <a:cubicBezTo>
                  <a:pt x="872595" y="1369317"/>
                  <a:pt x="872944" y="1363620"/>
                  <a:pt x="835453" y="1359673"/>
                </a:cubicBezTo>
                <a:cubicBezTo>
                  <a:pt x="798457" y="1355779"/>
                  <a:pt x="761241" y="1354372"/>
                  <a:pt x="724135" y="1351721"/>
                </a:cubicBezTo>
                <a:cubicBezTo>
                  <a:pt x="685779" y="1338936"/>
                  <a:pt x="693886" y="1339906"/>
                  <a:pt x="636670" y="1335819"/>
                </a:cubicBezTo>
                <a:cubicBezTo>
                  <a:pt x="546629" y="1329387"/>
                  <a:pt x="456387" y="1326057"/>
                  <a:pt x="366326" y="1319916"/>
                </a:cubicBezTo>
                <a:cubicBezTo>
                  <a:pt x="339751" y="1318104"/>
                  <a:pt x="313349" y="1314273"/>
                  <a:pt x="286813" y="1311965"/>
                </a:cubicBezTo>
                <a:cubicBezTo>
                  <a:pt x="252385" y="1308971"/>
                  <a:pt x="217902" y="1306664"/>
                  <a:pt x="183446" y="1304013"/>
                </a:cubicBezTo>
                <a:cubicBezTo>
                  <a:pt x="163659" y="1299066"/>
                  <a:pt x="128005" y="1291675"/>
                  <a:pt x="111884" y="1280160"/>
                </a:cubicBezTo>
                <a:cubicBezTo>
                  <a:pt x="104108" y="1274606"/>
                  <a:pt x="104529" y="1260580"/>
                  <a:pt x="95982" y="1256306"/>
                </a:cubicBezTo>
                <a:cubicBezTo>
                  <a:pt x="81562" y="1249096"/>
                  <a:pt x="64177" y="1251005"/>
                  <a:pt x="48274" y="1248354"/>
                </a:cubicBezTo>
                <a:cubicBezTo>
                  <a:pt x="45624" y="1232451"/>
                  <a:pt x="45421" y="1215941"/>
                  <a:pt x="40323" y="1200646"/>
                </a:cubicBezTo>
                <a:cubicBezTo>
                  <a:pt x="37301" y="1191580"/>
                  <a:pt x="26934" y="1186012"/>
                  <a:pt x="24420" y="1176793"/>
                </a:cubicBezTo>
                <a:cubicBezTo>
                  <a:pt x="14497" y="1140408"/>
                  <a:pt x="-3410" y="1081377"/>
                  <a:pt x="566" y="1049572"/>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Freeform: Shape 16">
            <a:extLst>
              <a:ext uri="{FF2B5EF4-FFF2-40B4-BE49-F238E27FC236}">
                <a16:creationId xmlns:a16="http://schemas.microsoft.com/office/drawing/2014/main" xmlns="" id="{3E0936D7-CEF6-4B00-A8AA-5FB3653E1C11}"/>
              </a:ext>
            </a:extLst>
          </p:cNvPr>
          <p:cNvSpPr/>
          <p:nvPr/>
        </p:nvSpPr>
        <p:spPr>
          <a:xfrm>
            <a:off x="6933502" y="2703443"/>
            <a:ext cx="1630673" cy="548640"/>
          </a:xfrm>
          <a:custGeom>
            <a:avLst/>
            <a:gdLst>
              <a:gd name="connsiteX0" fmla="*/ 87500 w 1630673"/>
              <a:gd name="connsiteY0" fmla="*/ 373712 h 548640"/>
              <a:gd name="connsiteX1" fmla="*/ 39792 w 1630673"/>
              <a:gd name="connsiteY1" fmla="*/ 341907 h 548640"/>
              <a:gd name="connsiteX2" fmla="*/ 7987 w 1630673"/>
              <a:gd name="connsiteY2" fmla="*/ 294199 h 548640"/>
              <a:gd name="connsiteX3" fmla="*/ 35 w 1630673"/>
              <a:gd name="connsiteY3" fmla="*/ 262394 h 548640"/>
              <a:gd name="connsiteX4" fmla="*/ 15938 w 1630673"/>
              <a:gd name="connsiteY4" fmla="*/ 135173 h 548640"/>
              <a:gd name="connsiteX5" fmla="*/ 79548 w 1630673"/>
              <a:gd name="connsiteY5" fmla="*/ 103367 h 548640"/>
              <a:gd name="connsiteX6" fmla="*/ 222672 w 1630673"/>
              <a:gd name="connsiteY6" fmla="*/ 87465 h 548640"/>
              <a:gd name="connsiteX7" fmla="*/ 540724 w 1630673"/>
              <a:gd name="connsiteY7" fmla="*/ 79514 h 548640"/>
              <a:gd name="connsiteX8" fmla="*/ 604335 w 1630673"/>
              <a:gd name="connsiteY8" fmla="*/ 71562 h 548640"/>
              <a:gd name="connsiteX9" fmla="*/ 659994 w 1630673"/>
              <a:gd name="connsiteY9" fmla="*/ 63611 h 548640"/>
              <a:gd name="connsiteX10" fmla="*/ 779263 w 1630673"/>
              <a:gd name="connsiteY10" fmla="*/ 55660 h 548640"/>
              <a:gd name="connsiteX11" fmla="*/ 858776 w 1630673"/>
              <a:gd name="connsiteY11" fmla="*/ 39757 h 548640"/>
              <a:gd name="connsiteX12" fmla="*/ 1009851 w 1630673"/>
              <a:gd name="connsiteY12" fmla="*/ 0 h 548640"/>
              <a:gd name="connsiteX13" fmla="*/ 1319952 w 1630673"/>
              <a:gd name="connsiteY13" fmla="*/ 7952 h 548640"/>
              <a:gd name="connsiteX14" fmla="*/ 1407416 w 1630673"/>
              <a:gd name="connsiteY14" fmla="*/ 23854 h 548640"/>
              <a:gd name="connsiteX15" fmla="*/ 1502832 w 1630673"/>
              <a:gd name="connsiteY15" fmla="*/ 31806 h 548640"/>
              <a:gd name="connsiteX16" fmla="*/ 1534637 w 1630673"/>
              <a:gd name="connsiteY16" fmla="*/ 39757 h 548640"/>
              <a:gd name="connsiteX17" fmla="*/ 1598248 w 1630673"/>
              <a:gd name="connsiteY17" fmla="*/ 111319 h 548640"/>
              <a:gd name="connsiteX18" fmla="*/ 1614150 w 1630673"/>
              <a:gd name="connsiteY18" fmla="*/ 190832 h 548640"/>
              <a:gd name="connsiteX19" fmla="*/ 1630053 w 1630673"/>
              <a:gd name="connsiteY19" fmla="*/ 238540 h 548640"/>
              <a:gd name="connsiteX20" fmla="*/ 1622101 w 1630673"/>
              <a:gd name="connsiteY20" fmla="*/ 357809 h 548640"/>
              <a:gd name="connsiteX21" fmla="*/ 1574394 w 1630673"/>
              <a:gd name="connsiteY21" fmla="*/ 429371 h 548640"/>
              <a:gd name="connsiteX22" fmla="*/ 1542588 w 1630673"/>
              <a:gd name="connsiteY22" fmla="*/ 437322 h 548640"/>
              <a:gd name="connsiteX23" fmla="*/ 1486929 w 1630673"/>
              <a:gd name="connsiteY23" fmla="*/ 453225 h 548640"/>
              <a:gd name="connsiteX24" fmla="*/ 1439221 w 1630673"/>
              <a:gd name="connsiteY24" fmla="*/ 477079 h 548640"/>
              <a:gd name="connsiteX25" fmla="*/ 1375611 w 1630673"/>
              <a:gd name="connsiteY25" fmla="*/ 508884 h 548640"/>
              <a:gd name="connsiteX26" fmla="*/ 1296098 w 1630673"/>
              <a:gd name="connsiteY26" fmla="*/ 524787 h 548640"/>
              <a:gd name="connsiteX27" fmla="*/ 1264293 w 1630673"/>
              <a:gd name="connsiteY27" fmla="*/ 532738 h 548640"/>
              <a:gd name="connsiteX28" fmla="*/ 1160926 w 1630673"/>
              <a:gd name="connsiteY28" fmla="*/ 548640 h 548640"/>
              <a:gd name="connsiteX29" fmla="*/ 985997 w 1630673"/>
              <a:gd name="connsiteY29" fmla="*/ 540689 h 548640"/>
              <a:gd name="connsiteX30" fmla="*/ 954192 w 1630673"/>
              <a:gd name="connsiteY30" fmla="*/ 532738 h 548640"/>
              <a:gd name="connsiteX31" fmla="*/ 524821 w 1630673"/>
              <a:gd name="connsiteY31" fmla="*/ 524787 h 548640"/>
              <a:gd name="connsiteX32" fmla="*/ 421455 w 1630673"/>
              <a:gd name="connsiteY32" fmla="*/ 500933 h 548640"/>
              <a:gd name="connsiteX33" fmla="*/ 373747 w 1630673"/>
              <a:gd name="connsiteY33" fmla="*/ 492981 h 548640"/>
              <a:gd name="connsiteX34" fmla="*/ 341941 w 1630673"/>
              <a:gd name="connsiteY34" fmla="*/ 485030 h 548640"/>
              <a:gd name="connsiteX35" fmla="*/ 286282 w 1630673"/>
              <a:gd name="connsiteY35" fmla="*/ 469127 h 548640"/>
              <a:gd name="connsiteX36" fmla="*/ 230623 w 1630673"/>
              <a:gd name="connsiteY36" fmla="*/ 461176 h 548640"/>
              <a:gd name="connsiteX37" fmla="*/ 206769 w 1630673"/>
              <a:gd name="connsiteY37" fmla="*/ 453225 h 548640"/>
              <a:gd name="connsiteX38" fmla="*/ 167013 w 1630673"/>
              <a:gd name="connsiteY38" fmla="*/ 445274 h 548640"/>
              <a:gd name="connsiteX39" fmla="*/ 135208 w 1630673"/>
              <a:gd name="connsiteY39" fmla="*/ 437322 h 548640"/>
              <a:gd name="connsiteX40" fmla="*/ 87500 w 1630673"/>
              <a:gd name="connsiteY40" fmla="*/ 373712 h 54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30673" h="548640">
                <a:moveTo>
                  <a:pt x="87500" y="373712"/>
                </a:moveTo>
                <a:cubicBezTo>
                  <a:pt x="71597" y="357810"/>
                  <a:pt x="53307" y="355422"/>
                  <a:pt x="39792" y="341907"/>
                </a:cubicBezTo>
                <a:cubicBezTo>
                  <a:pt x="26277" y="328392"/>
                  <a:pt x="7987" y="294199"/>
                  <a:pt x="7987" y="294199"/>
                </a:cubicBezTo>
                <a:cubicBezTo>
                  <a:pt x="5336" y="283597"/>
                  <a:pt x="-511" y="273308"/>
                  <a:pt x="35" y="262394"/>
                </a:cubicBezTo>
                <a:cubicBezTo>
                  <a:pt x="2169" y="219710"/>
                  <a:pt x="3069" y="175926"/>
                  <a:pt x="15938" y="135173"/>
                </a:cubicBezTo>
                <a:cubicBezTo>
                  <a:pt x="22118" y="115604"/>
                  <a:pt x="63227" y="105593"/>
                  <a:pt x="79548" y="103367"/>
                </a:cubicBezTo>
                <a:cubicBezTo>
                  <a:pt x="127109" y="96881"/>
                  <a:pt x="174735" y="89944"/>
                  <a:pt x="222672" y="87465"/>
                </a:cubicBezTo>
                <a:cubicBezTo>
                  <a:pt x="328581" y="81987"/>
                  <a:pt x="434707" y="82164"/>
                  <a:pt x="540724" y="79514"/>
                </a:cubicBezTo>
                <a:lnTo>
                  <a:pt x="604335" y="71562"/>
                </a:lnTo>
                <a:cubicBezTo>
                  <a:pt x="622912" y="69085"/>
                  <a:pt x="641330" y="65308"/>
                  <a:pt x="659994" y="63611"/>
                </a:cubicBezTo>
                <a:cubicBezTo>
                  <a:pt x="699675" y="60004"/>
                  <a:pt x="739507" y="58310"/>
                  <a:pt x="779263" y="55660"/>
                </a:cubicBezTo>
                <a:cubicBezTo>
                  <a:pt x="805767" y="50359"/>
                  <a:pt x="833134" y="48304"/>
                  <a:pt x="858776" y="39757"/>
                </a:cubicBezTo>
                <a:cubicBezTo>
                  <a:pt x="971972" y="2026"/>
                  <a:pt x="921003" y="12694"/>
                  <a:pt x="1009851" y="0"/>
                </a:cubicBezTo>
                <a:cubicBezTo>
                  <a:pt x="1113218" y="2651"/>
                  <a:pt x="1216737" y="1759"/>
                  <a:pt x="1319952" y="7952"/>
                </a:cubicBezTo>
                <a:cubicBezTo>
                  <a:pt x="1349531" y="9727"/>
                  <a:pt x="1378032" y="20021"/>
                  <a:pt x="1407416" y="23854"/>
                </a:cubicBezTo>
                <a:cubicBezTo>
                  <a:pt x="1439064" y="27982"/>
                  <a:pt x="1471027" y="29155"/>
                  <a:pt x="1502832" y="31806"/>
                </a:cubicBezTo>
                <a:cubicBezTo>
                  <a:pt x="1513434" y="34456"/>
                  <a:pt x="1524863" y="34870"/>
                  <a:pt x="1534637" y="39757"/>
                </a:cubicBezTo>
                <a:cubicBezTo>
                  <a:pt x="1569958" y="57417"/>
                  <a:pt x="1576073" y="78057"/>
                  <a:pt x="1598248" y="111319"/>
                </a:cubicBezTo>
                <a:cubicBezTo>
                  <a:pt x="1603549" y="137823"/>
                  <a:pt x="1607595" y="164610"/>
                  <a:pt x="1614150" y="190832"/>
                </a:cubicBezTo>
                <a:cubicBezTo>
                  <a:pt x="1618216" y="207094"/>
                  <a:pt x="1629256" y="221796"/>
                  <a:pt x="1630053" y="238540"/>
                </a:cubicBezTo>
                <a:cubicBezTo>
                  <a:pt x="1631948" y="278340"/>
                  <a:pt x="1629556" y="318668"/>
                  <a:pt x="1622101" y="357809"/>
                </a:cubicBezTo>
                <a:cubicBezTo>
                  <a:pt x="1618558" y="376412"/>
                  <a:pt x="1594795" y="417714"/>
                  <a:pt x="1574394" y="429371"/>
                </a:cubicBezTo>
                <a:cubicBezTo>
                  <a:pt x="1564906" y="434793"/>
                  <a:pt x="1553131" y="434447"/>
                  <a:pt x="1542588" y="437322"/>
                </a:cubicBezTo>
                <a:cubicBezTo>
                  <a:pt x="1523972" y="442399"/>
                  <a:pt x="1505482" y="447924"/>
                  <a:pt x="1486929" y="453225"/>
                </a:cubicBezTo>
                <a:cubicBezTo>
                  <a:pt x="1434653" y="488074"/>
                  <a:pt x="1490952" y="453565"/>
                  <a:pt x="1439221" y="477079"/>
                </a:cubicBezTo>
                <a:cubicBezTo>
                  <a:pt x="1417640" y="486889"/>
                  <a:pt x="1398857" y="504235"/>
                  <a:pt x="1375611" y="508884"/>
                </a:cubicBezTo>
                <a:lnTo>
                  <a:pt x="1296098" y="524787"/>
                </a:lnTo>
                <a:cubicBezTo>
                  <a:pt x="1285413" y="527077"/>
                  <a:pt x="1275009" y="530595"/>
                  <a:pt x="1264293" y="532738"/>
                </a:cubicBezTo>
                <a:cubicBezTo>
                  <a:pt x="1236713" y="538254"/>
                  <a:pt x="1187657" y="544821"/>
                  <a:pt x="1160926" y="548640"/>
                </a:cubicBezTo>
                <a:cubicBezTo>
                  <a:pt x="1102616" y="545990"/>
                  <a:pt x="1044195" y="545166"/>
                  <a:pt x="985997" y="540689"/>
                </a:cubicBezTo>
                <a:cubicBezTo>
                  <a:pt x="975101" y="539851"/>
                  <a:pt x="965113" y="533115"/>
                  <a:pt x="954192" y="532738"/>
                </a:cubicBezTo>
                <a:cubicBezTo>
                  <a:pt x="811129" y="527805"/>
                  <a:pt x="667945" y="527437"/>
                  <a:pt x="524821" y="524787"/>
                </a:cubicBezTo>
                <a:cubicBezTo>
                  <a:pt x="490366" y="516836"/>
                  <a:pt x="456057" y="508218"/>
                  <a:pt x="421455" y="500933"/>
                </a:cubicBezTo>
                <a:cubicBezTo>
                  <a:pt x="405679" y="497612"/>
                  <a:pt x="389556" y="496143"/>
                  <a:pt x="373747" y="492981"/>
                </a:cubicBezTo>
                <a:cubicBezTo>
                  <a:pt x="363031" y="490838"/>
                  <a:pt x="352449" y="488032"/>
                  <a:pt x="341941" y="485030"/>
                </a:cubicBezTo>
                <a:cubicBezTo>
                  <a:pt x="312137" y="476515"/>
                  <a:pt x="320460" y="475341"/>
                  <a:pt x="286282" y="469127"/>
                </a:cubicBezTo>
                <a:cubicBezTo>
                  <a:pt x="267843" y="465774"/>
                  <a:pt x="249176" y="463826"/>
                  <a:pt x="230623" y="461176"/>
                </a:cubicBezTo>
                <a:cubicBezTo>
                  <a:pt x="222672" y="458526"/>
                  <a:pt x="214900" y="455258"/>
                  <a:pt x="206769" y="453225"/>
                </a:cubicBezTo>
                <a:cubicBezTo>
                  <a:pt x="193658" y="449947"/>
                  <a:pt x="180206" y="448206"/>
                  <a:pt x="167013" y="445274"/>
                </a:cubicBezTo>
                <a:cubicBezTo>
                  <a:pt x="156345" y="442903"/>
                  <a:pt x="145810" y="439973"/>
                  <a:pt x="135208" y="437322"/>
                </a:cubicBezTo>
                <a:cubicBezTo>
                  <a:pt x="100115" y="384683"/>
                  <a:pt x="103403" y="389614"/>
                  <a:pt x="87500" y="373712"/>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xmlns="" id="{BF6781E4-464E-422A-B544-0159217FCAED}"/>
              </a:ext>
            </a:extLst>
          </p:cNvPr>
          <p:cNvSpPr txBox="1"/>
          <p:nvPr/>
        </p:nvSpPr>
        <p:spPr>
          <a:xfrm>
            <a:off x="6377114" y="3938726"/>
            <a:ext cx="317716" cy="369332"/>
          </a:xfrm>
          <a:prstGeom prst="rect">
            <a:avLst/>
          </a:prstGeom>
          <a:noFill/>
        </p:spPr>
        <p:txBody>
          <a:bodyPr wrap="none" rtlCol="0">
            <a:spAutoFit/>
          </a:bodyPr>
          <a:lstStyle/>
          <a:p>
            <a:r>
              <a:rPr lang="en-IN" dirty="0"/>
              <a:t>A</a:t>
            </a:r>
          </a:p>
        </p:txBody>
      </p:sp>
      <p:sp>
        <p:nvSpPr>
          <p:cNvPr id="19" name="TextBox 18">
            <a:extLst>
              <a:ext uri="{FF2B5EF4-FFF2-40B4-BE49-F238E27FC236}">
                <a16:creationId xmlns:a16="http://schemas.microsoft.com/office/drawing/2014/main" xmlns="" id="{36AD3D2B-22A1-46F4-A0E9-246C4CD7BCA6}"/>
              </a:ext>
            </a:extLst>
          </p:cNvPr>
          <p:cNvSpPr txBox="1"/>
          <p:nvPr/>
        </p:nvSpPr>
        <p:spPr>
          <a:xfrm>
            <a:off x="7973251" y="2971800"/>
            <a:ext cx="309700" cy="369332"/>
          </a:xfrm>
          <a:prstGeom prst="rect">
            <a:avLst/>
          </a:prstGeom>
          <a:noFill/>
        </p:spPr>
        <p:txBody>
          <a:bodyPr wrap="none" rtlCol="0">
            <a:spAutoFit/>
          </a:bodyPr>
          <a:lstStyle/>
          <a:p>
            <a:r>
              <a:rPr lang="en-IN" dirty="0"/>
              <a:t>B</a:t>
            </a:r>
          </a:p>
        </p:txBody>
      </p:sp>
      <p:pic>
        <p:nvPicPr>
          <p:cNvPr id="21" name="Picture 20">
            <a:extLst>
              <a:ext uri="{FF2B5EF4-FFF2-40B4-BE49-F238E27FC236}">
                <a16:creationId xmlns:a16="http://schemas.microsoft.com/office/drawing/2014/main" xmlns="" id="{3DAD3338-C3DF-4C0C-B1C6-1DA68EA1D56F}"/>
              </a:ext>
            </a:extLst>
          </p:cNvPr>
          <p:cNvPicPr>
            <a:picLocks noChangeAspect="1"/>
          </p:cNvPicPr>
          <p:nvPr/>
        </p:nvPicPr>
        <p:blipFill>
          <a:blip r:embed="rId5"/>
          <a:stretch>
            <a:fillRect/>
          </a:stretch>
        </p:blipFill>
        <p:spPr>
          <a:xfrm>
            <a:off x="361604" y="2816031"/>
            <a:ext cx="3739626" cy="1705114"/>
          </a:xfrm>
          <a:prstGeom prst="rect">
            <a:avLst/>
          </a:prstGeom>
        </p:spPr>
      </p:pic>
    </p:spTree>
    <p:extLst>
      <p:ext uri="{BB962C8B-B14F-4D97-AF65-F5344CB8AC3E}">
        <p14:creationId xmlns:p14="http://schemas.microsoft.com/office/powerpoint/2010/main" val="19211477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2. Compute the Centroid</a:t>
            </a:r>
          </a:p>
        </p:txBody>
      </p:sp>
      <p:sp>
        <p:nvSpPr>
          <p:cNvPr id="4" name="Rectangle 3">
            <a:extLst>
              <a:ext uri="{FF2B5EF4-FFF2-40B4-BE49-F238E27FC236}">
                <a16:creationId xmlns:a16="http://schemas.microsoft.com/office/drawing/2014/main" xmlns="" id="{3A427C80-0E5B-4486-BF2D-9AAEE0DD8573}"/>
              </a:ext>
            </a:extLst>
          </p:cNvPr>
          <p:cNvSpPr/>
          <p:nvPr/>
        </p:nvSpPr>
        <p:spPr>
          <a:xfrm>
            <a:off x="5791200" y="3810000"/>
            <a:ext cx="304800" cy="190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xmlns="" id="{DF16F39B-2B84-4206-9E2F-8A76771A9401}"/>
              </a:ext>
            </a:extLst>
          </p:cNvPr>
          <p:cNvSpPr/>
          <p:nvPr/>
        </p:nvSpPr>
        <p:spPr>
          <a:xfrm>
            <a:off x="7391400" y="2971800"/>
            <a:ext cx="304800" cy="114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7" name="Chart 6">
            <a:extLst>
              <a:ext uri="{FF2B5EF4-FFF2-40B4-BE49-F238E27FC236}">
                <a16:creationId xmlns:a16="http://schemas.microsoft.com/office/drawing/2014/main" xmlns="" id="{D603CB13-E743-4CE3-A806-CEC531152898}"/>
              </a:ext>
            </a:extLst>
          </p:cNvPr>
          <p:cNvGraphicFramePr>
            <a:graphicFrameLocks/>
          </p:cNvGraphicFramePr>
          <p:nvPr/>
        </p:nvGraphicFramePr>
        <p:xfrm>
          <a:off x="4114800" y="2245581"/>
          <a:ext cx="45720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xmlns="" id="{3D6B1717-2F8C-453F-8EE5-AC2829BB137B}"/>
              </a:ext>
            </a:extLst>
          </p:cNvPr>
          <p:cNvSpPr txBox="1"/>
          <p:nvPr/>
        </p:nvSpPr>
        <p:spPr>
          <a:xfrm>
            <a:off x="762000" y="1524000"/>
            <a:ext cx="7924800" cy="646331"/>
          </a:xfrm>
          <a:prstGeom prst="rect">
            <a:avLst/>
          </a:prstGeom>
          <a:noFill/>
        </p:spPr>
        <p:txBody>
          <a:bodyPr wrap="square" rtlCol="0">
            <a:spAutoFit/>
          </a:bodyPr>
          <a:lstStyle/>
          <a:p>
            <a:r>
              <a:rPr lang="en-US" dirty="0"/>
              <a:t>The algorithm goes through the clusters and will compute the Centroid for Cluster A and Cluster B</a:t>
            </a:r>
            <a:endParaRPr lang="en-IN" dirty="0"/>
          </a:p>
        </p:txBody>
      </p:sp>
      <p:sp>
        <p:nvSpPr>
          <p:cNvPr id="8" name="TextBox 7">
            <a:extLst>
              <a:ext uri="{FF2B5EF4-FFF2-40B4-BE49-F238E27FC236}">
                <a16:creationId xmlns:a16="http://schemas.microsoft.com/office/drawing/2014/main" xmlns="" id="{C54C36AD-06FC-41D3-ADBB-EC1383FAFFA5}"/>
              </a:ext>
            </a:extLst>
          </p:cNvPr>
          <p:cNvSpPr txBox="1"/>
          <p:nvPr/>
        </p:nvSpPr>
        <p:spPr>
          <a:xfrm>
            <a:off x="759448" y="5439730"/>
            <a:ext cx="7924800" cy="369332"/>
          </a:xfrm>
          <a:prstGeom prst="rect">
            <a:avLst/>
          </a:prstGeom>
          <a:noFill/>
        </p:spPr>
        <p:txBody>
          <a:bodyPr wrap="square" rtlCol="0">
            <a:spAutoFit/>
          </a:bodyPr>
          <a:lstStyle/>
          <a:p>
            <a:r>
              <a:rPr lang="en-US" dirty="0"/>
              <a:t>What is the centroid of Cluster A and Cluster B?</a:t>
            </a:r>
            <a:endParaRPr lang="en-IN" b="1" dirty="0"/>
          </a:p>
        </p:txBody>
      </p:sp>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xmlns="" id="{B7C3641D-D69A-4137-A6ED-34FFBFC98D97}"/>
                  </a:ext>
                </a:extLst>
              </p14:cNvPr>
              <p14:cNvContentPartPr/>
              <p14:nvPr/>
            </p14:nvContentPartPr>
            <p14:xfrm>
              <a:off x="8937078" y="5008696"/>
              <a:ext cx="360" cy="360"/>
            </p14:xfrm>
          </p:contentPart>
        </mc:Choice>
        <mc:Fallback xmlns="">
          <p:pic>
            <p:nvPicPr>
              <p:cNvPr id="12" name="Ink 11">
                <a:extLst>
                  <a:ext uri="{FF2B5EF4-FFF2-40B4-BE49-F238E27FC236}">
                    <a16:creationId xmlns:a16="http://schemas.microsoft.com/office/drawing/2014/main" id="{B7C3641D-D69A-4137-A6ED-34FFBFC98D97}"/>
                  </a:ext>
                </a:extLst>
              </p:cNvPr>
              <p:cNvPicPr/>
              <p:nvPr/>
            </p:nvPicPr>
            <p:blipFill>
              <a:blip r:embed="rId4"/>
              <a:stretch>
                <a:fillRect/>
              </a:stretch>
            </p:blipFill>
            <p:spPr>
              <a:xfrm>
                <a:off x="8928438" y="5000056"/>
                <a:ext cx="18000" cy="18000"/>
              </a:xfrm>
              <a:prstGeom prst="rect">
                <a:avLst/>
              </a:prstGeom>
            </p:spPr>
          </p:pic>
        </mc:Fallback>
      </mc:AlternateContent>
      <p:sp>
        <p:nvSpPr>
          <p:cNvPr id="15" name="Freeform: Shape 14">
            <a:extLst>
              <a:ext uri="{FF2B5EF4-FFF2-40B4-BE49-F238E27FC236}">
                <a16:creationId xmlns:a16="http://schemas.microsoft.com/office/drawing/2014/main" xmlns="" id="{03C8D3B5-DDF6-4240-951E-70923B661CDB}"/>
              </a:ext>
            </a:extLst>
          </p:cNvPr>
          <p:cNvSpPr/>
          <p:nvPr/>
        </p:nvSpPr>
        <p:spPr>
          <a:xfrm>
            <a:off x="4992853" y="3148717"/>
            <a:ext cx="2004295" cy="1391478"/>
          </a:xfrm>
          <a:custGeom>
            <a:avLst/>
            <a:gdLst>
              <a:gd name="connsiteX0" fmla="*/ 566 w 2004295"/>
              <a:gd name="connsiteY0" fmla="*/ 1049572 h 1391478"/>
              <a:gd name="connsiteX1" fmla="*/ 48274 w 2004295"/>
              <a:gd name="connsiteY1" fmla="*/ 985961 h 1391478"/>
              <a:gd name="connsiteX2" fmla="*/ 95982 w 2004295"/>
              <a:gd name="connsiteY2" fmla="*/ 914400 h 1391478"/>
              <a:gd name="connsiteX3" fmla="*/ 159592 w 2004295"/>
              <a:gd name="connsiteY3" fmla="*/ 858740 h 1391478"/>
              <a:gd name="connsiteX4" fmla="*/ 215251 w 2004295"/>
              <a:gd name="connsiteY4" fmla="*/ 834886 h 1391478"/>
              <a:gd name="connsiteX5" fmla="*/ 278862 w 2004295"/>
              <a:gd name="connsiteY5" fmla="*/ 803081 h 1391478"/>
              <a:gd name="connsiteX6" fmla="*/ 334521 w 2004295"/>
              <a:gd name="connsiteY6" fmla="*/ 763325 h 1391478"/>
              <a:gd name="connsiteX7" fmla="*/ 358375 w 2004295"/>
              <a:gd name="connsiteY7" fmla="*/ 739471 h 1391478"/>
              <a:gd name="connsiteX8" fmla="*/ 406083 w 2004295"/>
              <a:gd name="connsiteY8" fmla="*/ 707666 h 1391478"/>
              <a:gd name="connsiteX9" fmla="*/ 469693 w 2004295"/>
              <a:gd name="connsiteY9" fmla="*/ 636104 h 1391478"/>
              <a:gd name="connsiteX10" fmla="*/ 541255 w 2004295"/>
              <a:gd name="connsiteY10" fmla="*/ 588396 h 1391478"/>
              <a:gd name="connsiteX11" fmla="*/ 565109 w 2004295"/>
              <a:gd name="connsiteY11" fmla="*/ 564542 h 1391478"/>
              <a:gd name="connsiteX12" fmla="*/ 628719 w 2004295"/>
              <a:gd name="connsiteY12" fmla="*/ 524786 h 1391478"/>
              <a:gd name="connsiteX13" fmla="*/ 652573 w 2004295"/>
              <a:gd name="connsiteY13" fmla="*/ 500932 h 1391478"/>
              <a:gd name="connsiteX14" fmla="*/ 676427 w 2004295"/>
              <a:gd name="connsiteY14" fmla="*/ 485029 h 1391478"/>
              <a:gd name="connsiteX15" fmla="*/ 771843 w 2004295"/>
              <a:gd name="connsiteY15" fmla="*/ 365760 h 1391478"/>
              <a:gd name="connsiteX16" fmla="*/ 827502 w 2004295"/>
              <a:gd name="connsiteY16" fmla="*/ 270344 h 1391478"/>
              <a:gd name="connsiteX17" fmla="*/ 843404 w 2004295"/>
              <a:gd name="connsiteY17" fmla="*/ 246490 h 1391478"/>
              <a:gd name="connsiteX18" fmla="*/ 859307 w 2004295"/>
              <a:gd name="connsiteY18" fmla="*/ 222636 h 1391478"/>
              <a:gd name="connsiteX19" fmla="*/ 883161 w 2004295"/>
              <a:gd name="connsiteY19" fmla="*/ 190831 h 1391478"/>
              <a:gd name="connsiteX20" fmla="*/ 914966 w 2004295"/>
              <a:gd name="connsiteY20" fmla="*/ 174928 h 1391478"/>
              <a:gd name="connsiteX21" fmla="*/ 938820 w 2004295"/>
              <a:gd name="connsiteY21" fmla="*/ 159026 h 1391478"/>
              <a:gd name="connsiteX22" fmla="*/ 986528 w 2004295"/>
              <a:gd name="connsiteY22" fmla="*/ 143123 h 1391478"/>
              <a:gd name="connsiteX23" fmla="*/ 1010382 w 2004295"/>
              <a:gd name="connsiteY23" fmla="*/ 135172 h 1391478"/>
              <a:gd name="connsiteX24" fmla="*/ 1105797 w 2004295"/>
              <a:gd name="connsiteY24" fmla="*/ 111318 h 1391478"/>
              <a:gd name="connsiteX25" fmla="*/ 1169408 w 2004295"/>
              <a:gd name="connsiteY25" fmla="*/ 95415 h 1391478"/>
              <a:gd name="connsiteX26" fmla="*/ 1193262 w 2004295"/>
              <a:gd name="connsiteY26" fmla="*/ 87464 h 1391478"/>
              <a:gd name="connsiteX27" fmla="*/ 1256872 w 2004295"/>
              <a:gd name="connsiteY27" fmla="*/ 79513 h 1391478"/>
              <a:gd name="connsiteX28" fmla="*/ 1376142 w 2004295"/>
              <a:gd name="connsiteY28" fmla="*/ 63610 h 1391478"/>
              <a:gd name="connsiteX29" fmla="*/ 1399996 w 2004295"/>
              <a:gd name="connsiteY29" fmla="*/ 47707 h 1391478"/>
              <a:gd name="connsiteX30" fmla="*/ 1439752 w 2004295"/>
              <a:gd name="connsiteY30" fmla="*/ 31805 h 1391478"/>
              <a:gd name="connsiteX31" fmla="*/ 1543119 w 2004295"/>
              <a:gd name="connsiteY31" fmla="*/ 0 h 1391478"/>
              <a:gd name="connsiteX32" fmla="*/ 1757804 w 2004295"/>
              <a:gd name="connsiteY32" fmla="*/ 15902 h 1391478"/>
              <a:gd name="connsiteX33" fmla="*/ 1789610 w 2004295"/>
              <a:gd name="connsiteY33" fmla="*/ 23853 h 1391478"/>
              <a:gd name="connsiteX34" fmla="*/ 1877074 w 2004295"/>
              <a:gd name="connsiteY34" fmla="*/ 55659 h 1391478"/>
              <a:gd name="connsiteX35" fmla="*/ 1948636 w 2004295"/>
              <a:gd name="connsiteY35" fmla="*/ 87464 h 1391478"/>
              <a:gd name="connsiteX36" fmla="*/ 1996344 w 2004295"/>
              <a:gd name="connsiteY36" fmla="*/ 151074 h 1391478"/>
              <a:gd name="connsiteX37" fmla="*/ 2004295 w 2004295"/>
              <a:gd name="connsiteY37" fmla="*/ 190831 h 1391478"/>
              <a:gd name="connsiteX38" fmla="*/ 1980441 w 2004295"/>
              <a:gd name="connsiteY38" fmla="*/ 389613 h 1391478"/>
              <a:gd name="connsiteX39" fmla="*/ 1948636 w 2004295"/>
              <a:gd name="connsiteY39" fmla="*/ 421419 h 1391478"/>
              <a:gd name="connsiteX40" fmla="*/ 1940684 w 2004295"/>
              <a:gd name="connsiteY40" fmla="*/ 445273 h 1391478"/>
              <a:gd name="connsiteX41" fmla="*/ 1932733 w 2004295"/>
              <a:gd name="connsiteY41" fmla="*/ 477078 h 1391478"/>
              <a:gd name="connsiteX42" fmla="*/ 1900928 w 2004295"/>
              <a:gd name="connsiteY42" fmla="*/ 548640 h 1391478"/>
              <a:gd name="connsiteX43" fmla="*/ 1885025 w 2004295"/>
              <a:gd name="connsiteY43" fmla="*/ 620201 h 1391478"/>
              <a:gd name="connsiteX44" fmla="*/ 1877074 w 2004295"/>
              <a:gd name="connsiteY44" fmla="*/ 707666 h 1391478"/>
              <a:gd name="connsiteX45" fmla="*/ 1837317 w 2004295"/>
              <a:gd name="connsiteY45" fmla="*/ 818984 h 1391478"/>
              <a:gd name="connsiteX46" fmla="*/ 1829366 w 2004295"/>
              <a:gd name="connsiteY46" fmla="*/ 842838 h 1391478"/>
              <a:gd name="connsiteX47" fmla="*/ 1805512 w 2004295"/>
              <a:gd name="connsiteY47" fmla="*/ 866692 h 1391478"/>
              <a:gd name="connsiteX48" fmla="*/ 1725999 w 2004295"/>
              <a:gd name="connsiteY48" fmla="*/ 962107 h 1391478"/>
              <a:gd name="connsiteX49" fmla="*/ 1702145 w 2004295"/>
              <a:gd name="connsiteY49" fmla="*/ 1025718 h 1391478"/>
              <a:gd name="connsiteX50" fmla="*/ 1686243 w 2004295"/>
              <a:gd name="connsiteY50" fmla="*/ 1049572 h 1391478"/>
              <a:gd name="connsiteX51" fmla="*/ 1654437 w 2004295"/>
              <a:gd name="connsiteY51" fmla="*/ 1105231 h 1391478"/>
              <a:gd name="connsiteX52" fmla="*/ 1630584 w 2004295"/>
              <a:gd name="connsiteY52" fmla="*/ 1176793 h 1391478"/>
              <a:gd name="connsiteX53" fmla="*/ 1495411 w 2004295"/>
              <a:gd name="connsiteY53" fmla="*/ 1264257 h 1391478"/>
              <a:gd name="connsiteX54" fmla="*/ 1471557 w 2004295"/>
              <a:gd name="connsiteY54" fmla="*/ 1280160 h 1391478"/>
              <a:gd name="connsiteX55" fmla="*/ 1384093 w 2004295"/>
              <a:gd name="connsiteY55" fmla="*/ 1304013 h 1391478"/>
              <a:gd name="connsiteX56" fmla="*/ 1352288 w 2004295"/>
              <a:gd name="connsiteY56" fmla="*/ 1319916 h 1391478"/>
              <a:gd name="connsiteX57" fmla="*/ 1280726 w 2004295"/>
              <a:gd name="connsiteY57" fmla="*/ 1343770 h 1391478"/>
              <a:gd name="connsiteX58" fmla="*/ 1233018 w 2004295"/>
              <a:gd name="connsiteY58" fmla="*/ 1359673 h 1391478"/>
              <a:gd name="connsiteX59" fmla="*/ 1161457 w 2004295"/>
              <a:gd name="connsiteY59" fmla="*/ 1367624 h 1391478"/>
              <a:gd name="connsiteX60" fmla="*/ 1097846 w 2004295"/>
              <a:gd name="connsiteY60" fmla="*/ 1375575 h 1391478"/>
              <a:gd name="connsiteX61" fmla="*/ 1026284 w 2004295"/>
              <a:gd name="connsiteY61" fmla="*/ 1391478 h 1391478"/>
              <a:gd name="connsiteX62" fmla="*/ 907015 w 2004295"/>
              <a:gd name="connsiteY62" fmla="*/ 1375575 h 1391478"/>
              <a:gd name="connsiteX63" fmla="*/ 835453 w 2004295"/>
              <a:gd name="connsiteY63" fmla="*/ 1359673 h 1391478"/>
              <a:gd name="connsiteX64" fmla="*/ 724135 w 2004295"/>
              <a:gd name="connsiteY64" fmla="*/ 1351721 h 1391478"/>
              <a:gd name="connsiteX65" fmla="*/ 636670 w 2004295"/>
              <a:gd name="connsiteY65" fmla="*/ 1335819 h 1391478"/>
              <a:gd name="connsiteX66" fmla="*/ 366326 w 2004295"/>
              <a:gd name="connsiteY66" fmla="*/ 1319916 h 1391478"/>
              <a:gd name="connsiteX67" fmla="*/ 286813 w 2004295"/>
              <a:gd name="connsiteY67" fmla="*/ 1311965 h 1391478"/>
              <a:gd name="connsiteX68" fmla="*/ 183446 w 2004295"/>
              <a:gd name="connsiteY68" fmla="*/ 1304013 h 1391478"/>
              <a:gd name="connsiteX69" fmla="*/ 111884 w 2004295"/>
              <a:gd name="connsiteY69" fmla="*/ 1280160 h 1391478"/>
              <a:gd name="connsiteX70" fmla="*/ 95982 w 2004295"/>
              <a:gd name="connsiteY70" fmla="*/ 1256306 h 1391478"/>
              <a:gd name="connsiteX71" fmla="*/ 48274 w 2004295"/>
              <a:gd name="connsiteY71" fmla="*/ 1248354 h 1391478"/>
              <a:gd name="connsiteX72" fmla="*/ 40323 w 2004295"/>
              <a:gd name="connsiteY72" fmla="*/ 1200646 h 1391478"/>
              <a:gd name="connsiteX73" fmla="*/ 24420 w 2004295"/>
              <a:gd name="connsiteY73" fmla="*/ 1176793 h 1391478"/>
              <a:gd name="connsiteX74" fmla="*/ 566 w 2004295"/>
              <a:gd name="connsiteY74" fmla="*/ 1049572 h 1391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2004295" h="1391478">
                <a:moveTo>
                  <a:pt x="566" y="1049572"/>
                </a:moveTo>
                <a:cubicBezTo>
                  <a:pt x="4542" y="1017767"/>
                  <a:pt x="33187" y="1007753"/>
                  <a:pt x="48274" y="985961"/>
                </a:cubicBezTo>
                <a:cubicBezTo>
                  <a:pt x="65309" y="961356"/>
                  <a:pt x="74550" y="935833"/>
                  <a:pt x="95982" y="914400"/>
                </a:cubicBezTo>
                <a:cubicBezTo>
                  <a:pt x="115904" y="894477"/>
                  <a:pt x="136149" y="874369"/>
                  <a:pt x="159592" y="858740"/>
                </a:cubicBezTo>
                <a:cubicBezTo>
                  <a:pt x="176387" y="847543"/>
                  <a:pt x="197197" y="843913"/>
                  <a:pt x="215251" y="834886"/>
                </a:cubicBezTo>
                <a:cubicBezTo>
                  <a:pt x="310531" y="787247"/>
                  <a:pt x="141289" y="858111"/>
                  <a:pt x="278862" y="803081"/>
                </a:cubicBezTo>
                <a:cubicBezTo>
                  <a:pt x="340884" y="741059"/>
                  <a:pt x="261261" y="815653"/>
                  <a:pt x="334521" y="763325"/>
                </a:cubicBezTo>
                <a:cubicBezTo>
                  <a:pt x="343671" y="756789"/>
                  <a:pt x="349499" y="746375"/>
                  <a:pt x="358375" y="739471"/>
                </a:cubicBezTo>
                <a:cubicBezTo>
                  <a:pt x="373462" y="727737"/>
                  <a:pt x="390996" y="719400"/>
                  <a:pt x="406083" y="707666"/>
                </a:cubicBezTo>
                <a:cubicBezTo>
                  <a:pt x="429040" y="689811"/>
                  <a:pt x="451335" y="654462"/>
                  <a:pt x="469693" y="636104"/>
                </a:cubicBezTo>
                <a:cubicBezTo>
                  <a:pt x="495994" y="609802"/>
                  <a:pt x="510971" y="611109"/>
                  <a:pt x="541255" y="588396"/>
                </a:cubicBezTo>
                <a:cubicBezTo>
                  <a:pt x="550251" y="581649"/>
                  <a:pt x="556571" y="571860"/>
                  <a:pt x="565109" y="564542"/>
                </a:cubicBezTo>
                <a:cubicBezTo>
                  <a:pt x="594011" y="539769"/>
                  <a:pt x="596138" y="541076"/>
                  <a:pt x="628719" y="524786"/>
                </a:cubicBezTo>
                <a:cubicBezTo>
                  <a:pt x="636670" y="516835"/>
                  <a:pt x="643934" y="508131"/>
                  <a:pt x="652573" y="500932"/>
                </a:cubicBezTo>
                <a:cubicBezTo>
                  <a:pt x="659914" y="494814"/>
                  <a:pt x="669670" y="491786"/>
                  <a:pt x="676427" y="485029"/>
                </a:cubicBezTo>
                <a:cubicBezTo>
                  <a:pt x="699372" y="462084"/>
                  <a:pt x="755042" y="391608"/>
                  <a:pt x="771843" y="365760"/>
                </a:cubicBezTo>
                <a:cubicBezTo>
                  <a:pt x="791910" y="334888"/>
                  <a:pt x="808558" y="301918"/>
                  <a:pt x="827502" y="270344"/>
                </a:cubicBezTo>
                <a:cubicBezTo>
                  <a:pt x="832419" y="262150"/>
                  <a:pt x="838103" y="254441"/>
                  <a:pt x="843404" y="246490"/>
                </a:cubicBezTo>
                <a:cubicBezTo>
                  <a:pt x="848705" y="238539"/>
                  <a:pt x="853573" y="230281"/>
                  <a:pt x="859307" y="222636"/>
                </a:cubicBezTo>
                <a:cubicBezTo>
                  <a:pt x="867258" y="212034"/>
                  <a:pt x="873099" y="199455"/>
                  <a:pt x="883161" y="190831"/>
                </a:cubicBezTo>
                <a:cubicBezTo>
                  <a:pt x="892161" y="183117"/>
                  <a:pt x="904675" y="180809"/>
                  <a:pt x="914966" y="174928"/>
                </a:cubicBezTo>
                <a:cubicBezTo>
                  <a:pt x="923263" y="170187"/>
                  <a:pt x="930087" y="162907"/>
                  <a:pt x="938820" y="159026"/>
                </a:cubicBezTo>
                <a:cubicBezTo>
                  <a:pt x="954138" y="152218"/>
                  <a:pt x="970625" y="148424"/>
                  <a:pt x="986528" y="143123"/>
                </a:cubicBezTo>
                <a:lnTo>
                  <a:pt x="1010382" y="135172"/>
                </a:lnTo>
                <a:cubicBezTo>
                  <a:pt x="1058509" y="103087"/>
                  <a:pt x="1013930" y="127530"/>
                  <a:pt x="1105797" y="111318"/>
                </a:cubicBezTo>
                <a:cubicBezTo>
                  <a:pt x="1127321" y="107520"/>
                  <a:pt x="1148673" y="102326"/>
                  <a:pt x="1169408" y="95415"/>
                </a:cubicBezTo>
                <a:cubicBezTo>
                  <a:pt x="1177359" y="92765"/>
                  <a:pt x="1185016" y="88963"/>
                  <a:pt x="1193262" y="87464"/>
                </a:cubicBezTo>
                <a:cubicBezTo>
                  <a:pt x="1214286" y="83642"/>
                  <a:pt x="1235718" y="82535"/>
                  <a:pt x="1256872" y="79513"/>
                </a:cubicBezTo>
                <a:cubicBezTo>
                  <a:pt x="1381799" y="61666"/>
                  <a:pt x="1208844" y="82198"/>
                  <a:pt x="1376142" y="63610"/>
                </a:cubicBezTo>
                <a:cubicBezTo>
                  <a:pt x="1384093" y="58309"/>
                  <a:pt x="1391449" y="51981"/>
                  <a:pt x="1399996" y="47707"/>
                </a:cubicBezTo>
                <a:cubicBezTo>
                  <a:pt x="1412762" y="41324"/>
                  <a:pt x="1426339" y="36683"/>
                  <a:pt x="1439752" y="31805"/>
                </a:cubicBezTo>
                <a:cubicBezTo>
                  <a:pt x="1480103" y="17132"/>
                  <a:pt x="1500881" y="12068"/>
                  <a:pt x="1543119" y="0"/>
                </a:cubicBezTo>
                <a:cubicBezTo>
                  <a:pt x="1630298" y="4359"/>
                  <a:pt x="1681583" y="2044"/>
                  <a:pt x="1757804" y="15902"/>
                </a:cubicBezTo>
                <a:cubicBezTo>
                  <a:pt x="1768556" y="17857"/>
                  <a:pt x="1779008" y="21203"/>
                  <a:pt x="1789610" y="23853"/>
                </a:cubicBezTo>
                <a:cubicBezTo>
                  <a:pt x="1868091" y="63095"/>
                  <a:pt x="1762130" y="12555"/>
                  <a:pt x="1877074" y="55659"/>
                </a:cubicBezTo>
                <a:cubicBezTo>
                  <a:pt x="1901516" y="64825"/>
                  <a:pt x="1924782" y="76862"/>
                  <a:pt x="1948636" y="87464"/>
                </a:cubicBezTo>
                <a:cubicBezTo>
                  <a:pt x="1949384" y="88400"/>
                  <a:pt x="1991877" y="139161"/>
                  <a:pt x="1996344" y="151074"/>
                </a:cubicBezTo>
                <a:cubicBezTo>
                  <a:pt x="2001089" y="163728"/>
                  <a:pt x="2001645" y="177579"/>
                  <a:pt x="2004295" y="190831"/>
                </a:cubicBezTo>
                <a:cubicBezTo>
                  <a:pt x="2002187" y="224563"/>
                  <a:pt x="2001325" y="344365"/>
                  <a:pt x="1980441" y="389613"/>
                </a:cubicBezTo>
                <a:cubicBezTo>
                  <a:pt x="1974158" y="403226"/>
                  <a:pt x="1959238" y="410817"/>
                  <a:pt x="1948636" y="421419"/>
                </a:cubicBezTo>
                <a:cubicBezTo>
                  <a:pt x="1945985" y="429370"/>
                  <a:pt x="1942987" y="437214"/>
                  <a:pt x="1940684" y="445273"/>
                </a:cubicBezTo>
                <a:cubicBezTo>
                  <a:pt x="1937682" y="455780"/>
                  <a:pt x="1936656" y="466878"/>
                  <a:pt x="1932733" y="477078"/>
                </a:cubicBezTo>
                <a:cubicBezTo>
                  <a:pt x="1923362" y="501442"/>
                  <a:pt x="1909183" y="523876"/>
                  <a:pt x="1900928" y="548640"/>
                </a:cubicBezTo>
                <a:cubicBezTo>
                  <a:pt x="1893201" y="571822"/>
                  <a:pt x="1890326" y="596347"/>
                  <a:pt x="1885025" y="620201"/>
                </a:cubicBezTo>
                <a:cubicBezTo>
                  <a:pt x="1882375" y="649356"/>
                  <a:pt x="1882162" y="678836"/>
                  <a:pt x="1877074" y="707666"/>
                </a:cubicBezTo>
                <a:cubicBezTo>
                  <a:pt x="1874469" y="722427"/>
                  <a:pt x="1839417" y="813209"/>
                  <a:pt x="1837317" y="818984"/>
                </a:cubicBezTo>
                <a:cubicBezTo>
                  <a:pt x="1834453" y="826861"/>
                  <a:pt x="1834015" y="835864"/>
                  <a:pt x="1829366" y="842838"/>
                </a:cubicBezTo>
                <a:cubicBezTo>
                  <a:pt x="1823129" y="852194"/>
                  <a:pt x="1812048" y="857542"/>
                  <a:pt x="1805512" y="866692"/>
                </a:cubicBezTo>
                <a:cubicBezTo>
                  <a:pt x="1735685" y="964450"/>
                  <a:pt x="1784982" y="942447"/>
                  <a:pt x="1725999" y="962107"/>
                </a:cubicBezTo>
                <a:cubicBezTo>
                  <a:pt x="1718048" y="983311"/>
                  <a:pt x="1711516" y="1005102"/>
                  <a:pt x="1702145" y="1025718"/>
                </a:cubicBezTo>
                <a:cubicBezTo>
                  <a:pt x="1698191" y="1034418"/>
                  <a:pt x="1689598" y="1040624"/>
                  <a:pt x="1686243" y="1049572"/>
                </a:cubicBezTo>
                <a:cubicBezTo>
                  <a:pt x="1664955" y="1106340"/>
                  <a:pt x="1697641" y="1076428"/>
                  <a:pt x="1654437" y="1105231"/>
                </a:cubicBezTo>
                <a:cubicBezTo>
                  <a:pt x="1646486" y="1129085"/>
                  <a:pt x="1645670" y="1156678"/>
                  <a:pt x="1630584" y="1176793"/>
                </a:cubicBezTo>
                <a:cubicBezTo>
                  <a:pt x="1586651" y="1235371"/>
                  <a:pt x="1549698" y="1228065"/>
                  <a:pt x="1495411" y="1264257"/>
                </a:cubicBezTo>
                <a:cubicBezTo>
                  <a:pt x="1487460" y="1269558"/>
                  <a:pt x="1480557" y="1276946"/>
                  <a:pt x="1471557" y="1280160"/>
                </a:cubicBezTo>
                <a:cubicBezTo>
                  <a:pt x="1443098" y="1290324"/>
                  <a:pt x="1412762" y="1294457"/>
                  <a:pt x="1384093" y="1304013"/>
                </a:cubicBezTo>
                <a:cubicBezTo>
                  <a:pt x="1372848" y="1307761"/>
                  <a:pt x="1363119" y="1315102"/>
                  <a:pt x="1352288" y="1319916"/>
                </a:cubicBezTo>
                <a:cubicBezTo>
                  <a:pt x="1297097" y="1344446"/>
                  <a:pt x="1330426" y="1328860"/>
                  <a:pt x="1280726" y="1343770"/>
                </a:cubicBezTo>
                <a:cubicBezTo>
                  <a:pt x="1264670" y="1348587"/>
                  <a:pt x="1249455" y="1356385"/>
                  <a:pt x="1233018" y="1359673"/>
                </a:cubicBezTo>
                <a:cubicBezTo>
                  <a:pt x="1209484" y="1364380"/>
                  <a:pt x="1185293" y="1364820"/>
                  <a:pt x="1161457" y="1367624"/>
                </a:cubicBezTo>
                <a:cubicBezTo>
                  <a:pt x="1140235" y="1370121"/>
                  <a:pt x="1118890" y="1371861"/>
                  <a:pt x="1097846" y="1375575"/>
                </a:cubicBezTo>
                <a:cubicBezTo>
                  <a:pt x="1073782" y="1379822"/>
                  <a:pt x="1050138" y="1386177"/>
                  <a:pt x="1026284" y="1391478"/>
                </a:cubicBezTo>
                <a:cubicBezTo>
                  <a:pt x="1004149" y="1388711"/>
                  <a:pt x="931141" y="1379961"/>
                  <a:pt x="907015" y="1375575"/>
                </a:cubicBezTo>
                <a:cubicBezTo>
                  <a:pt x="872595" y="1369317"/>
                  <a:pt x="872944" y="1363620"/>
                  <a:pt x="835453" y="1359673"/>
                </a:cubicBezTo>
                <a:cubicBezTo>
                  <a:pt x="798457" y="1355779"/>
                  <a:pt x="761241" y="1354372"/>
                  <a:pt x="724135" y="1351721"/>
                </a:cubicBezTo>
                <a:cubicBezTo>
                  <a:pt x="685779" y="1338936"/>
                  <a:pt x="693886" y="1339906"/>
                  <a:pt x="636670" y="1335819"/>
                </a:cubicBezTo>
                <a:cubicBezTo>
                  <a:pt x="546629" y="1329387"/>
                  <a:pt x="456387" y="1326057"/>
                  <a:pt x="366326" y="1319916"/>
                </a:cubicBezTo>
                <a:cubicBezTo>
                  <a:pt x="339751" y="1318104"/>
                  <a:pt x="313349" y="1314273"/>
                  <a:pt x="286813" y="1311965"/>
                </a:cubicBezTo>
                <a:cubicBezTo>
                  <a:pt x="252385" y="1308971"/>
                  <a:pt x="217902" y="1306664"/>
                  <a:pt x="183446" y="1304013"/>
                </a:cubicBezTo>
                <a:cubicBezTo>
                  <a:pt x="163659" y="1299066"/>
                  <a:pt x="128005" y="1291675"/>
                  <a:pt x="111884" y="1280160"/>
                </a:cubicBezTo>
                <a:cubicBezTo>
                  <a:pt x="104108" y="1274606"/>
                  <a:pt x="104529" y="1260580"/>
                  <a:pt x="95982" y="1256306"/>
                </a:cubicBezTo>
                <a:cubicBezTo>
                  <a:pt x="81562" y="1249096"/>
                  <a:pt x="64177" y="1251005"/>
                  <a:pt x="48274" y="1248354"/>
                </a:cubicBezTo>
                <a:cubicBezTo>
                  <a:pt x="45624" y="1232451"/>
                  <a:pt x="45421" y="1215941"/>
                  <a:pt x="40323" y="1200646"/>
                </a:cubicBezTo>
                <a:cubicBezTo>
                  <a:pt x="37301" y="1191580"/>
                  <a:pt x="26934" y="1186012"/>
                  <a:pt x="24420" y="1176793"/>
                </a:cubicBezTo>
                <a:cubicBezTo>
                  <a:pt x="14497" y="1140408"/>
                  <a:pt x="-3410" y="1081377"/>
                  <a:pt x="566" y="1049572"/>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Freeform: Shape 16">
            <a:extLst>
              <a:ext uri="{FF2B5EF4-FFF2-40B4-BE49-F238E27FC236}">
                <a16:creationId xmlns:a16="http://schemas.microsoft.com/office/drawing/2014/main" xmlns="" id="{3E0936D7-CEF6-4B00-A8AA-5FB3653E1C11}"/>
              </a:ext>
            </a:extLst>
          </p:cNvPr>
          <p:cNvSpPr/>
          <p:nvPr/>
        </p:nvSpPr>
        <p:spPr>
          <a:xfrm>
            <a:off x="6933502" y="2703443"/>
            <a:ext cx="1630673" cy="548640"/>
          </a:xfrm>
          <a:custGeom>
            <a:avLst/>
            <a:gdLst>
              <a:gd name="connsiteX0" fmla="*/ 87500 w 1630673"/>
              <a:gd name="connsiteY0" fmla="*/ 373712 h 548640"/>
              <a:gd name="connsiteX1" fmla="*/ 39792 w 1630673"/>
              <a:gd name="connsiteY1" fmla="*/ 341907 h 548640"/>
              <a:gd name="connsiteX2" fmla="*/ 7987 w 1630673"/>
              <a:gd name="connsiteY2" fmla="*/ 294199 h 548640"/>
              <a:gd name="connsiteX3" fmla="*/ 35 w 1630673"/>
              <a:gd name="connsiteY3" fmla="*/ 262394 h 548640"/>
              <a:gd name="connsiteX4" fmla="*/ 15938 w 1630673"/>
              <a:gd name="connsiteY4" fmla="*/ 135173 h 548640"/>
              <a:gd name="connsiteX5" fmla="*/ 79548 w 1630673"/>
              <a:gd name="connsiteY5" fmla="*/ 103367 h 548640"/>
              <a:gd name="connsiteX6" fmla="*/ 222672 w 1630673"/>
              <a:gd name="connsiteY6" fmla="*/ 87465 h 548640"/>
              <a:gd name="connsiteX7" fmla="*/ 540724 w 1630673"/>
              <a:gd name="connsiteY7" fmla="*/ 79514 h 548640"/>
              <a:gd name="connsiteX8" fmla="*/ 604335 w 1630673"/>
              <a:gd name="connsiteY8" fmla="*/ 71562 h 548640"/>
              <a:gd name="connsiteX9" fmla="*/ 659994 w 1630673"/>
              <a:gd name="connsiteY9" fmla="*/ 63611 h 548640"/>
              <a:gd name="connsiteX10" fmla="*/ 779263 w 1630673"/>
              <a:gd name="connsiteY10" fmla="*/ 55660 h 548640"/>
              <a:gd name="connsiteX11" fmla="*/ 858776 w 1630673"/>
              <a:gd name="connsiteY11" fmla="*/ 39757 h 548640"/>
              <a:gd name="connsiteX12" fmla="*/ 1009851 w 1630673"/>
              <a:gd name="connsiteY12" fmla="*/ 0 h 548640"/>
              <a:gd name="connsiteX13" fmla="*/ 1319952 w 1630673"/>
              <a:gd name="connsiteY13" fmla="*/ 7952 h 548640"/>
              <a:gd name="connsiteX14" fmla="*/ 1407416 w 1630673"/>
              <a:gd name="connsiteY14" fmla="*/ 23854 h 548640"/>
              <a:gd name="connsiteX15" fmla="*/ 1502832 w 1630673"/>
              <a:gd name="connsiteY15" fmla="*/ 31806 h 548640"/>
              <a:gd name="connsiteX16" fmla="*/ 1534637 w 1630673"/>
              <a:gd name="connsiteY16" fmla="*/ 39757 h 548640"/>
              <a:gd name="connsiteX17" fmla="*/ 1598248 w 1630673"/>
              <a:gd name="connsiteY17" fmla="*/ 111319 h 548640"/>
              <a:gd name="connsiteX18" fmla="*/ 1614150 w 1630673"/>
              <a:gd name="connsiteY18" fmla="*/ 190832 h 548640"/>
              <a:gd name="connsiteX19" fmla="*/ 1630053 w 1630673"/>
              <a:gd name="connsiteY19" fmla="*/ 238540 h 548640"/>
              <a:gd name="connsiteX20" fmla="*/ 1622101 w 1630673"/>
              <a:gd name="connsiteY20" fmla="*/ 357809 h 548640"/>
              <a:gd name="connsiteX21" fmla="*/ 1574394 w 1630673"/>
              <a:gd name="connsiteY21" fmla="*/ 429371 h 548640"/>
              <a:gd name="connsiteX22" fmla="*/ 1542588 w 1630673"/>
              <a:gd name="connsiteY22" fmla="*/ 437322 h 548640"/>
              <a:gd name="connsiteX23" fmla="*/ 1486929 w 1630673"/>
              <a:gd name="connsiteY23" fmla="*/ 453225 h 548640"/>
              <a:gd name="connsiteX24" fmla="*/ 1439221 w 1630673"/>
              <a:gd name="connsiteY24" fmla="*/ 477079 h 548640"/>
              <a:gd name="connsiteX25" fmla="*/ 1375611 w 1630673"/>
              <a:gd name="connsiteY25" fmla="*/ 508884 h 548640"/>
              <a:gd name="connsiteX26" fmla="*/ 1296098 w 1630673"/>
              <a:gd name="connsiteY26" fmla="*/ 524787 h 548640"/>
              <a:gd name="connsiteX27" fmla="*/ 1264293 w 1630673"/>
              <a:gd name="connsiteY27" fmla="*/ 532738 h 548640"/>
              <a:gd name="connsiteX28" fmla="*/ 1160926 w 1630673"/>
              <a:gd name="connsiteY28" fmla="*/ 548640 h 548640"/>
              <a:gd name="connsiteX29" fmla="*/ 985997 w 1630673"/>
              <a:gd name="connsiteY29" fmla="*/ 540689 h 548640"/>
              <a:gd name="connsiteX30" fmla="*/ 954192 w 1630673"/>
              <a:gd name="connsiteY30" fmla="*/ 532738 h 548640"/>
              <a:gd name="connsiteX31" fmla="*/ 524821 w 1630673"/>
              <a:gd name="connsiteY31" fmla="*/ 524787 h 548640"/>
              <a:gd name="connsiteX32" fmla="*/ 421455 w 1630673"/>
              <a:gd name="connsiteY32" fmla="*/ 500933 h 548640"/>
              <a:gd name="connsiteX33" fmla="*/ 373747 w 1630673"/>
              <a:gd name="connsiteY33" fmla="*/ 492981 h 548640"/>
              <a:gd name="connsiteX34" fmla="*/ 341941 w 1630673"/>
              <a:gd name="connsiteY34" fmla="*/ 485030 h 548640"/>
              <a:gd name="connsiteX35" fmla="*/ 286282 w 1630673"/>
              <a:gd name="connsiteY35" fmla="*/ 469127 h 548640"/>
              <a:gd name="connsiteX36" fmla="*/ 230623 w 1630673"/>
              <a:gd name="connsiteY36" fmla="*/ 461176 h 548640"/>
              <a:gd name="connsiteX37" fmla="*/ 206769 w 1630673"/>
              <a:gd name="connsiteY37" fmla="*/ 453225 h 548640"/>
              <a:gd name="connsiteX38" fmla="*/ 167013 w 1630673"/>
              <a:gd name="connsiteY38" fmla="*/ 445274 h 548640"/>
              <a:gd name="connsiteX39" fmla="*/ 135208 w 1630673"/>
              <a:gd name="connsiteY39" fmla="*/ 437322 h 548640"/>
              <a:gd name="connsiteX40" fmla="*/ 87500 w 1630673"/>
              <a:gd name="connsiteY40" fmla="*/ 373712 h 54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30673" h="548640">
                <a:moveTo>
                  <a:pt x="87500" y="373712"/>
                </a:moveTo>
                <a:cubicBezTo>
                  <a:pt x="71597" y="357810"/>
                  <a:pt x="53307" y="355422"/>
                  <a:pt x="39792" y="341907"/>
                </a:cubicBezTo>
                <a:cubicBezTo>
                  <a:pt x="26277" y="328392"/>
                  <a:pt x="7987" y="294199"/>
                  <a:pt x="7987" y="294199"/>
                </a:cubicBezTo>
                <a:cubicBezTo>
                  <a:pt x="5336" y="283597"/>
                  <a:pt x="-511" y="273308"/>
                  <a:pt x="35" y="262394"/>
                </a:cubicBezTo>
                <a:cubicBezTo>
                  <a:pt x="2169" y="219710"/>
                  <a:pt x="3069" y="175926"/>
                  <a:pt x="15938" y="135173"/>
                </a:cubicBezTo>
                <a:cubicBezTo>
                  <a:pt x="22118" y="115604"/>
                  <a:pt x="63227" y="105593"/>
                  <a:pt x="79548" y="103367"/>
                </a:cubicBezTo>
                <a:cubicBezTo>
                  <a:pt x="127109" y="96881"/>
                  <a:pt x="174735" y="89944"/>
                  <a:pt x="222672" y="87465"/>
                </a:cubicBezTo>
                <a:cubicBezTo>
                  <a:pt x="328581" y="81987"/>
                  <a:pt x="434707" y="82164"/>
                  <a:pt x="540724" y="79514"/>
                </a:cubicBezTo>
                <a:lnTo>
                  <a:pt x="604335" y="71562"/>
                </a:lnTo>
                <a:cubicBezTo>
                  <a:pt x="622912" y="69085"/>
                  <a:pt x="641330" y="65308"/>
                  <a:pt x="659994" y="63611"/>
                </a:cubicBezTo>
                <a:cubicBezTo>
                  <a:pt x="699675" y="60004"/>
                  <a:pt x="739507" y="58310"/>
                  <a:pt x="779263" y="55660"/>
                </a:cubicBezTo>
                <a:cubicBezTo>
                  <a:pt x="805767" y="50359"/>
                  <a:pt x="833134" y="48304"/>
                  <a:pt x="858776" y="39757"/>
                </a:cubicBezTo>
                <a:cubicBezTo>
                  <a:pt x="971972" y="2026"/>
                  <a:pt x="921003" y="12694"/>
                  <a:pt x="1009851" y="0"/>
                </a:cubicBezTo>
                <a:cubicBezTo>
                  <a:pt x="1113218" y="2651"/>
                  <a:pt x="1216737" y="1759"/>
                  <a:pt x="1319952" y="7952"/>
                </a:cubicBezTo>
                <a:cubicBezTo>
                  <a:pt x="1349531" y="9727"/>
                  <a:pt x="1378032" y="20021"/>
                  <a:pt x="1407416" y="23854"/>
                </a:cubicBezTo>
                <a:cubicBezTo>
                  <a:pt x="1439064" y="27982"/>
                  <a:pt x="1471027" y="29155"/>
                  <a:pt x="1502832" y="31806"/>
                </a:cubicBezTo>
                <a:cubicBezTo>
                  <a:pt x="1513434" y="34456"/>
                  <a:pt x="1524863" y="34870"/>
                  <a:pt x="1534637" y="39757"/>
                </a:cubicBezTo>
                <a:cubicBezTo>
                  <a:pt x="1569958" y="57417"/>
                  <a:pt x="1576073" y="78057"/>
                  <a:pt x="1598248" y="111319"/>
                </a:cubicBezTo>
                <a:cubicBezTo>
                  <a:pt x="1603549" y="137823"/>
                  <a:pt x="1607595" y="164610"/>
                  <a:pt x="1614150" y="190832"/>
                </a:cubicBezTo>
                <a:cubicBezTo>
                  <a:pt x="1618216" y="207094"/>
                  <a:pt x="1629256" y="221796"/>
                  <a:pt x="1630053" y="238540"/>
                </a:cubicBezTo>
                <a:cubicBezTo>
                  <a:pt x="1631948" y="278340"/>
                  <a:pt x="1629556" y="318668"/>
                  <a:pt x="1622101" y="357809"/>
                </a:cubicBezTo>
                <a:cubicBezTo>
                  <a:pt x="1618558" y="376412"/>
                  <a:pt x="1594795" y="417714"/>
                  <a:pt x="1574394" y="429371"/>
                </a:cubicBezTo>
                <a:cubicBezTo>
                  <a:pt x="1564906" y="434793"/>
                  <a:pt x="1553131" y="434447"/>
                  <a:pt x="1542588" y="437322"/>
                </a:cubicBezTo>
                <a:cubicBezTo>
                  <a:pt x="1523972" y="442399"/>
                  <a:pt x="1505482" y="447924"/>
                  <a:pt x="1486929" y="453225"/>
                </a:cubicBezTo>
                <a:cubicBezTo>
                  <a:pt x="1434653" y="488074"/>
                  <a:pt x="1490952" y="453565"/>
                  <a:pt x="1439221" y="477079"/>
                </a:cubicBezTo>
                <a:cubicBezTo>
                  <a:pt x="1417640" y="486889"/>
                  <a:pt x="1398857" y="504235"/>
                  <a:pt x="1375611" y="508884"/>
                </a:cubicBezTo>
                <a:lnTo>
                  <a:pt x="1296098" y="524787"/>
                </a:lnTo>
                <a:cubicBezTo>
                  <a:pt x="1285413" y="527077"/>
                  <a:pt x="1275009" y="530595"/>
                  <a:pt x="1264293" y="532738"/>
                </a:cubicBezTo>
                <a:cubicBezTo>
                  <a:pt x="1236713" y="538254"/>
                  <a:pt x="1187657" y="544821"/>
                  <a:pt x="1160926" y="548640"/>
                </a:cubicBezTo>
                <a:cubicBezTo>
                  <a:pt x="1102616" y="545990"/>
                  <a:pt x="1044195" y="545166"/>
                  <a:pt x="985997" y="540689"/>
                </a:cubicBezTo>
                <a:cubicBezTo>
                  <a:pt x="975101" y="539851"/>
                  <a:pt x="965113" y="533115"/>
                  <a:pt x="954192" y="532738"/>
                </a:cubicBezTo>
                <a:cubicBezTo>
                  <a:pt x="811129" y="527805"/>
                  <a:pt x="667945" y="527437"/>
                  <a:pt x="524821" y="524787"/>
                </a:cubicBezTo>
                <a:cubicBezTo>
                  <a:pt x="490366" y="516836"/>
                  <a:pt x="456057" y="508218"/>
                  <a:pt x="421455" y="500933"/>
                </a:cubicBezTo>
                <a:cubicBezTo>
                  <a:pt x="405679" y="497612"/>
                  <a:pt x="389556" y="496143"/>
                  <a:pt x="373747" y="492981"/>
                </a:cubicBezTo>
                <a:cubicBezTo>
                  <a:pt x="363031" y="490838"/>
                  <a:pt x="352449" y="488032"/>
                  <a:pt x="341941" y="485030"/>
                </a:cubicBezTo>
                <a:cubicBezTo>
                  <a:pt x="312137" y="476515"/>
                  <a:pt x="320460" y="475341"/>
                  <a:pt x="286282" y="469127"/>
                </a:cubicBezTo>
                <a:cubicBezTo>
                  <a:pt x="267843" y="465774"/>
                  <a:pt x="249176" y="463826"/>
                  <a:pt x="230623" y="461176"/>
                </a:cubicBezTo>
                <a:cubicBezTo>
                  <a:pt x="222672" y="458526"/>
                  <a:pt x="214900" y="455258"/>
                  <a:pt x="206769" y="453225"/>
                </a:cubicBezTo>
                <a:cubicBezTo>
                  <a:pt x="193658" y="449947"/>
                  <a:pt x="180206" y="448206"/>
                  <a:pt x="167013" y="445274"/>
                </a:cubicBezTo>
                <a:cubicBezTo>
                  <a:pt x="156345" y="442903"/>
                  <a:pt x="145810" y="439973"/>
                  <a:pt x="135208" y="437322"/>
                </a:cubicBezTo>
                <a:cubicBezTo>
                  <a:pt x="100115" y="384683"/>
                  <a:pt x="103403" y="389614"/>
                  <a:pt x="87500" y="373712"/>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xmlns="" id="{BF6781E4-464E-422A-B544-0159217FCAED}"/>
              </a:ext>
            </a:extLst>
          </p:cNvPr>
          <p:cNvSpPr txBox="1"/>
          <p:nvPr/>
        </p:nvSpPr>
        <p:spPr>
          <a:xfrm>
            <a:off x="6377114" y="3938726"/>
            <a:ext cx="317716" cy="369332"/>
          </a:xfrm>
          <a:prstGeom prst="rect">
            <a:avLst/>
          </a:prstGeom>
          <a:noFill/>
        </p:spPr>
        <p:txBody>
          <a:bodyPr wrap="none" rtlCol="0">
            <a:spAutoFit/>
          </a:bodyPr>
          <a:lstStyle/>
          <a:p>
            <a:r>
              <a:rPr lang="en-IN" dirty="0"/>
              <a:t>A</a:t>
            </a:r>
          </a:p>
        </p:txBody>
      </p:sp>
      <p:sp>
        <p:nvSpPr>
          <p:cNvPr id="19" name="TextBox 18">
            <a:extLst>
              <a:ext uri="{FF2B5EF4-FFF2-40B4-BE49-F238E27FC236}">
                <a16:creationId xmlns:a16="http://schemas.microsoft.com/office/drawing/2014/main" xmlns="" id="{36AD3D2B-22A1-46F4-A0E9-246C4CD7BCA6}"/>
              </a:ext>
            </a:extLst>
          </p:cNvPr>
          <p:cNvSpPr txBox="1"/>
          <p:nvPr/>
        </p:nvSpPr>
        <p:spPr>
          <a:xfrm>
            <a:off x="7973251" y="2971800"/>
            <a:ext cx="309700" cy="369332"/>
          </a:xfrm>
          <a:prstGeom prst="rect">
            <a:avLst/>
          </a:prstGeom>
          <a:noFill/>
        </p:spPr>
        <p:txBody>
          <a:bodyPr wrap="none" rtlCol="0">
            <a:spAutoFit/>
          </a:bodyPr>
          <a:lstStyle/>
          <a:p>
            <a:r>
              <a:rPr lang="en-IN" dirty="0"/>
              <a:t>B</a:t>
            </a:r>
          </a:p>
        </p:txBody>
      </p:sp>
      <p:sp>
        <p:nvSpPr>
          <p:cNvPr id="14" name="TextBox 13">
            <a:extLst>
              <a:ext uri="{FF2B5EF4-FFF2-40B4-BE49-F238E27FC236}">
                <a16:creationId xmlns:a16="http://schemas.microsoft.com/office/drawing/2014/main" xmlns="" id="{0C3CB657-AF3A-4071-9746-677C3E0CAA52}"/>
              </a:ext>
            </a:extLst>
          </p:cNvPr>
          <p:cNvSpPr txBox="1"/>
          <p:nvPr/>
        </p:nvSpPr>
        <p:spPr>
          <a:xfrm>
            <a:off x="5848422" y="3631168"/>
            <a:ext cx="407484" cy="369332"/>
          </a:xfrm>
          <a:prstGeom prst="rect">
            <a:avLst/>
          </a:prstGeom>
          <a:noFill/>
        </p:spPr>
        <p:txBody>
          <a:bodyPr wrap="none" rtlCol="0">
            <a:spAutoFit/>
          </a:bodyPr>
          <a:lstStyle/>
          <a:p>
            <a:r>
              <a:rPr lang="en-IN" dirty="0"/>
              <a:t>*?</a:t>
            </a:r>
          </a:p>
        </p:txBody>
      </p:sp>
      <p:sp>
        <p:nvSpPr>
          <p:cNvPr id="16" name="TextBox 15">
            <a:extLst>
              <a:ext uri="{FF2B5EF4-FFF2-40B4-BE49-F238E27FC236}">
                <a16:creationId xmlns:a16="http://schemas.microsoft.com/office/drawing/2014/main" xmlns="" id="{DE3B9795-7838-4488-9C58-D740D9E8E5F8}"/>
              </a:ext>
            </a:extLst>
          </p:cNvPr>
          <p:cNvSpPr txBox="1"/>
          <p:nvPr/>
        </p:nvSpPr>
        <p:spPr>
          <a:xfrm>
            <a:off x="7530698" y="2790116"/>
            <a:ext cx="407484" cy="369332"/>
          </a:xfrm>
          <a:prstGeom prst="rect">
            <a:avLst/>
          </a:prstGeom>
          <a:noFill/>
        </p:spPr>
        <p:txBody>
          <a:bodyPr wrap="none" rtlCol="0">
            <a:spAutoFit/>
          </a:bodyPr>
          <a:lstStyle/>
          <a:p>
            <a:r>
              <a:rPr lang="en-IN" dirty="0"/>
              <a:t>*?</a:t>
            </a:r>
          </a:p>
        </p:txBody>
      </p:sp>
      <p:pic>
        <p:nvPicPr>
          <p:cNvPr id="20" name="Picture 19">
            <a:extLst>
              <a:ext uri="{FF2B5EF4-FFF2-40B4-BE49-F238E27FC236}">
                <a16:creationId xmlns:a16="http://schemas.microsoft.com/office/drawing/2014/main" xmlns="" id="{D947F929-046D-4B4D-B544-F542151B709D}"/>
              </a:ext>
            </a:extLst>
          </p:cNvPr>
          <p:cNvPicPr>
            <a:picLocks noChangeAspect="1"/>
          </p:cNvPicPr>
          <p:nvPr/>
        </p:nvPicPr>
        <p:blipFill>
          <a:blip r:embed="rId5"/>
          <a:stretch>
            <a:fillRect/>
          </a:stretch>
        </p:blipFill>
        <p:spPr>
          <a:xfrm>
            <a:off x="361604" y="2816031"/>
            <a:ext cx="3739626" cy="1705114"/>
          </a:xfrm>
          <a:prstGeom prst="rect">
            <a:avLst/>
          </a:prstGeom>
        </p:spPr>
      </p:pic>
    </p:spTree>
    <p:extLst>
      <p:ext uri="{BB962C8B-B14F-4D97-AF65-F5344CB8AC3E}">
        <p14:creationId xmlns:p14="http://schemas.microsoft.com/office/powerpoint/2010/main" val="24391546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28">
            <a:extLst>
              <a:ext uri="{FF2B5EF4-FFF2-40B4-BE49-F238E27FC236}">
                <a16:creationId xmlns:a16="http://schemas.microsoft.com/office/drawing/2014/main" xmlns="" id="{5A790F43-AE98-46DA-BA54-5F6E87696E0B}"/>
              </a:ext>
            </a:extLst>
          </p:cNvPr>
          <p:cNvPicPr>
            <a:picLocks noChangeAspect="1"/>
          </p:cNvPicPr>
          <p:nvPr/>
        </p:nvPicPr>
        <p:blipFill>
          <a:blip r:embed="rId2"/>
          <a:stretch>
            <a:fillRect/>
          </a:stretch>
        </p:blipFill>
        <p:spPr>
          <a:xfrm>
            <a:off x="3801710" y="1887649"/>
            <a:ext cx="5236530" cy="1912094"/>
          </a:xfrm>
          <a:prstGeom prst="rect">
            <a:avLst/>
          </a:prstGeom>
        </p:spPr>
      </p:pic>
      <p:sp>
        <p:nvSpPr>
          <p:cNvPr id="2" name="Title 1"/>
          <p:cNvSpPr>
            <a:spLocks noGrp="1"/>
          </p:cNvSpPr>
          <p:nvPr>
            <p:ph type="title"/>
          </p:nvPr>
        </p:nvSpPr>
        <p:spPr/>
        <p:txBody>
          <a:bodyPr/>
          <a:lstStyle/>
          <a:p>
            <a:r>
              <a:rPr lang="en-IN" dirty="0"/>
              <a:t>2. Compute the centroid for A, B</a:t>
            </a:r>
          </a:p>
        </p:txBody>
      </p:sp>
      <p:sp>
        <p:nvSpPr>
          <p:cNvPr id="5" name="TextBox 4"/>
          <p:cNvSpPr txBox="1"/>
          <p:nvPr/>
        </p:nvSpPr>
        <p:spPr>
          <a:xfrm>
            <a:off x="2244436" y="4648200"/>
            <a:ext cx="651140" cy="369332"/>
          </a:xfrm>
          <a:prstGeom prst="rect">
            <a:avLst/>
          </a:prstGeom>
          <a:noFill/>
        </p:spPr>
        <p:txBody>
          <a:bodyPr wrap="none" rtlCol="0">
            <a:spAutoFit/>
          </a:bodyPr>
          <a:lstStyle/>
          <a:p>
            <a:r>
              <a:rPr lang="en-IN" dirty="0"/>
              <a:t>2.33,</a:t>
            </a:r>
          </a:p>
        </p:txBody>
      </p:sp>
      <p:sp>
        <p:nvSpPr>
          <p:cNvPr id="9" name="TextBox 8"/>
          <p:cNvSpPr txBox="1"/>
          <p:nvPr/>
        </p:nvSpPr>
        <p:spPr>
          <a:xfrm>
            <a:off x="5320196" y="4629621"/>
            <a:ext cx="359394" cy="369332"/>
          </a:xfrm>
          <a:prstGeom prst="rect">
            <a:avLst/>
          </a:prstGeom>
          <a:noFill/>
        </p:spPr>
        <p:txBody>
          <a:bodyPr wrap="none" rtlCol="0">
            <a:spAutoFit/>
          </a:bodyPr>
          <a:lstStyle/>
          <a:p>
            <a:r>
              <a:rPr lang="en-IN" dirty="0"/>
              <a:t>6,</a:t>
            </a:r>
          </a:p>
        </p:txBody>
      </p:sp>
      <p:sp>
        <p:nvSpPr>
          <p:cNvPr id="14" name="Left Brace 13"/>
          <p:cNvSpPr/>
          <p:nvPr/>
        </p:nvSpPr>
        <p:spPr>
          <a:xfrm>
            <a:off x="5565795" y="3190728"/>
            <a:ext cx="155421" cy="53593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2" name="TextBox 11"/>
          <p:cNvSpPr txBox="1"/>
          <p:nvPr/>
        </p:nvSpPr>
        <p:spPr>
          <a:xfrm>
            <a:off x="5087870" y="2506674"/>
            <a:ext cx="436338" cy="261610"/>
          </a:xfrm>
          <a:prstGeom prst="rect">
            <a:avLst/>
          </a:prstGeom>
          <a:noFill/>
        </p:spPr>
        <p:txBody>
          <a:bodyPr wrap="none" rtlCol="0">
            <a:spAutoFit/>
          </a:bodyPr>
          <a:lstStyle/>
          <a:p>
            <a:r>
              <a:rPr lang="en-IN" sz="1100" dirty="0"/>
              <a:t>2.33</a:t>
            </a:r>
          </a:p>
        </p:txBody>
      </p:sp>
      <p:sp>
        <p:nvSpPr>
          <p:cNvPr id="16" name="TextBox 15"/>
          <p:cNvSpPr txBox="1"/>
          <p:nvPr/>
        </p:nvSpPr>
        <p:spPr>
          <a:xfrm>
            <a:off x="5230626" y="3234634"/>
            <a:ext cx="256802" cy="261610"/>
          </a:xfrm>
          <a:prstGeom prst="rect">
            <a:avLst/>
          </a:prstGeom>
          <a:noFill/>
        </p:spPr>
        <p:txBody>
          <a:bodyPr wrap="none" rtlCol="0">
            <a:spAutoFit/>
          </a:bodyPr>
          <a:lstStyle/>
          <a:p>
            <a:r>
              <a:rPr lang="en-IN" sz="1100" dirty="0"/>
              <a:t>6</a:t>
            </a:r>
          </a:p>
        </p:txBody>
      </p:sp>
      <p:sp>
        <p:nvSpPr>
          <p:cNvPr id="24" name="TextBox 23"/>
          <p:cNvSpPr txBox="1"/>
          <p:nvPr/>
        </p:nvSpPr>
        <p:spPr>
          <a:xfrm>
            <a:off x="569615" y="4962148"/>
            <a:ext cx="3504486" cy="369332"/>
          </a:xfrm>
          <a:prstGeom prst="rect">
            <a:avLst/>
          </a:prstGeom>
          <a:noFill/>
        </p:spPr>
        <p:txBody>
          <a:bodyPr wrap="none" rtlCol="0">
            <a:spAutoFit/>
          </a:bodyPr>
          <a:lstStyle/>
          <a:p>
            <a:r>
              <a:rPr lang="en-IN" dirty="0"/>
              <a:t>A= </a:t>
            </a:r>
            <a:r>
              <a:rPr lang="en-IN" dirty="0">
                <a:solidFill>
                  <a:srgbClr val="FF0000"/>
                </a:solidFill>
              </a:rPr>
              <a:t>(1+2+4)/3=2.33</a:t>
            </a:r>
            <a:r>
              <a:rPr lang="en-IN" dirty="0"/>
              <a:t>, </a:t>
            </a:r>
            <a:r>
              <a:rPr lang="en-IN" dirty="0">
                <a:solidFill>
                  <a:srgbClr val="FF0000"/>
                </a:solidFill>
              </a:rPr>
              <a:t>(1+1+5)/3=2.33</a:t>
            </a:r>
          </a:p>
        </p:txBody>
      </p:sp>
      <p:sp>
        <p:nvSpPr>
          <p:cNvPr id="26" name="TextBox 25"/>
          <p:cNvSpPr txBox="1"/>
          <p:nvPr/>
        </p:nvSpPr>
        <p:spPr>
          <a:xfrm>
            <a:off x="4866999" y="4921115"/>
            <a:ext cx="2448106" cy="369332"/>
          </a:xfrm>
          <a:prstGeom prst="rect">
            <a:avLst/>
          </a:prstGeom>
          <a:noFill/>
        </p:spPr>
        <p:txBody>
          <a:bodyPr wrap="none" rtlCol="0">
            <a:spAutoFit/>
          </a:bodyPr>
          <a:lstStyle/>
          <a:p>
            <a:r>
              <a:rPr lang="en-IN" dirty="0"/>
              <a:t>B= </a:t>
            </a:r>
            <a:r>
              <a:rPr lang="en-IN" dirty="0">
                <a:solidFill>
                  <a:schemeClr val="tx2">
                    <a:lumMod val="60000"/>
                    <a:lumOff val="40000"/>
                  </a:schemeClr>
                </a:solidFill>
              </a:rPr>
              <a:t>(7+5)/2=6</a:t>
            </a:r>
            <a:r>
              <a:rPr lang="en-IN" dirty="0"/>
              <a:t>, (</a:t>
            </a:r>
            <a:r>
              <a:rPr lang="en-IN" dirty="0">
                <a:solidFill>
                  <a:schemeClr val="tx2">
                    <a:lumMod val="60000"/>
                    <a:lumOff val="40000"/>
                  </a:schemeClr>
                </a:solidFill>
              </a:rPr>
              <a:t>7+7)/2=7</a:t>
            </a:r>
          </a:p>
        </p:txBody>
      </p:sp>
      <p:sp>
        <p:nvSpPr>
          <p:cNvPr id="20" name="TextBox 19"/>
          <p:cNvSpPr txBox="1"/>
          <p:nvPr/>
        </p:nvSpPr>
        <p:spPr>
          <a:xfrm>
            <a:off x="2808898" y="4637313"/>
            <a:ext cx="593432" cy="369332"/>
          </a:xfrm>
          <a:prstGeom prst="rect">
            <a:avLst/>
          </a:prstGeom>
          <a:noFill/>
        </p:spPr>
        <p:txBody>
          <a:bodyPr wrap="none" rtlCol="0">
            <a:spAutoFit/>
          </a:bodyPr>
          <a:lstStyle/>
          <a:p>
            <a:r>
              <a:rPr lang="en-IN" dirty="0"/>
              <a:t>2.33</a:t>
            </a:r>
          </a:p>
        </p:txBody>
      </p:sp>
      <p:sp>
        <p:nvSpPr>
          <p:cNvPr id="21" name="TextBox 20"/>
          <p:cNvSpPr txBox="1"/>
          <p:nvPr/>
        </p:nvSpPr>
        <p:spPr>
          <a:xfrm>
            <a:off x="5599440" y="4618734"/>
            <a:ext cx="301686" cy="369332"/>
          </a:xfrm>
          <a:prstGeom prst="rect">
            <a:avLst/>
          </a:prstGeom>
          <a:noFill/>
        </p:spPr>
        <p:txBody>
          <a:bodyPr wrap="none" rtlCol="0">
            <a:spAutoFit/>
          </a:bodyPr>
          <a:lstStyle/>
          <a:p>
            <a:r>
              <a:rPr lang="en-IN" dirty="0"/>
              <a:t>7</a:t>
            </a:r>
          </a:p>
        </p:txBody>
      </p:sp>
      <p:cxnSp>
        <p:nvCxnSpPr>
          <p:cNvPr id="28" name="Elbow Connector 27"/>
          <p:cNvCxnSpPr>
            <a:cxnSpLocks/>
            <a:stCxn id="16" idx="2"/>
          </p:cNvCxnSpPr>
          <p:nvPr/>
        </p:nvCxnSpPr>
        <p:spPr>
          <a:xfrm rot="16200000" flipH="1">
            <a:off x="4837831" y="4017440"/>
            <a:ext cx="1135960" cy="9356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Elbow Connector 27">
            <a:extLst>
              <a:ext uri="{FF2B5EF4-FFF2-40B4-BE49-F238E27FC236}">
                <a16:creationId xmlns:a16="http://schemas.microsoft.com/office/drawing/2014/main" xmlns="" id="{84272F1C-D832-4DFA-8766-9FA1ACF6A3EB}"/>
              </a:ext>
            </a:extLst>
          </p:cNvPr>
          <p:cNvCxnSpPr>
            <a:cxnSpLocks/>
            <a:stCxn id="48" idx="2"/>
            <a:endCxn id="21" idx="3"/>
          </p:cNvCxnSpPr>
          <p:nvPr/>
        </p:nvCxnSpPr>
        <p:spPr>
          <a:xfrm rot="5400000">
            <a:off x="6084675" y="3414206"/>
            <a:ext cx="1205645" cy="1572742"/>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45" name="Left Brace 44">
            <a:extLst>
              <a:ext uri="{FF2B5EF4-FFF2-40B4-BE49-F238E27FC236}">
                <a16:creationId xmlns:a16="http://schemas.microsoft.com/office/drawing/2014/main" xmlns="" id="{58C94CB4-3351-4D3A-B6A5-C7962DE4EEFA}"/>
              </a:ext>
            </a:extLst>
          </p:cNvPr>
          <p:cNvSpPr/>
          <p:nvPr/>
        </p:nvSpPr>
        <p:spPr>
          <a:xfrm>
            <a:off x="5516352" y="2265892"/>
            <a:ext cx="204864" cy="75242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46" name="Left Brace 45">
            <a:extLst>
              <a:ext uri="{FF2B5EF4-FFF2-40B4-BE49-F238E27FC236}">
                <a16:creationId xmlns:a16="http://schemas.microsoft.com/office/drawing/2014/main" xmlns="" id="{2369FCBC-8BB1-4ADF-BAD7-1E76BE57BD20}"/>
              </a:ext>
            </a:extLst>
          </p:cNvPr>
          <p:cNvSpPr/>
          <p:nvPr/>
        </p:nvSpPr>
        <p:spPr>
          <a:xfrm>
            <a:off x="7651712" y="3170720"/>
            <a:ext cx="155421" cy="53593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47" name="TextBox 46">
            <a:extLst>
              <a:ext uri="{FF2B5EF4-FFF2-40B4-BE49-F238E27FC236}">
                <a16:creationId xmlns:a16="http://schemas.microsoft.com/office/drawing/2014/main" xmlns="" id="{43B67A58-0145-43B4-95B3-82096DE03206}"/>
              </a:ext>
            </a:extLst>
          </p:cNvPr>
          <p:cNvSpPr txBox="1"/>
          <p:nvPr/>
        </p:nvSpPr>
        <p:spPr>
          <a:xfrm>
            <a:off x="7165931" y="2483592"/>
            <a:ext cx="436338" cy="261610"/>
          </a:xfrm>
          <a:prstGeom prst="rect">
            <a:avLst/>
          </a:prstGeom>
          <a:noFill/>
        </p:spPr>
        <p:txBody>
          <a:bodyPr wrap="none" rtlCol="0">
            <a:spAutoFit/>
          </a:bodyPr>
          <a:lstStyle/>
          <a:p>
            <a:r>
              <a:rPr lang="en-IN" sz="1100" dirty="0"/>
              <a:t>2.33</a:t>
            </a:r>
          </a:p>
        </p:txBody>
      </p:sp>
      <p:sp>
        <p:nvSpPr>
          <p:cNvPr id="48" name="TextBox 47">
            <a:extLst>
              <a:ext uri="{FF2B5EF4-FFF2-40B4-BE49-F238E27FC236}">
                <a16:creationId xmlns:a16="http://schemas.microsoft.com/office/drawing/2014/main" xmlns="" id="{C73E1E78-5C64-4CA1-9B7D-06E86B7AF727}"/>
              </a:ext>
            </a:extLst>
          </p:cNvPr>
          <p:cNvSpPr txBox="1"/>
          <p:nvPr/>
        </p:nvSpPr>
        <p:spPr>
          <a:xfrm>
            <a:off x="7345467" y="3336145"/>
            <a:ext cx="256802" cy="261610"/>
          </a:xfrm>
          <a:prstGeom prst="rect">
            <a:avLst/>
          </a:prstGeom>
          <a:noFill/>
        </p:spPr>
        <p:txBody>
          <a:bodyPr wrap="none" rtlCol="0">
            <a:spAutoFit/>
          </a:bodyPr>
          <a:lstStyle/>
          <a:p>
            <a:r>
              <a:rPr lang="en-IN" sz="1100" dirty="0"/>
              <a:t>7</a:t>
            </a:r>
          </a:p>
        </p:txBody>
      </p:sp>
      <p:sp>
        <p:nvSpPr>
          <p:cNvPr id="49" name="Left Brace 48">
            <a:extLst>
              <a:ext uri="{FF2B5EF4-FFF2-40B4-BE49-F238E27FC236}">
                <a16:creationId xmlns:a16="http://schemas.microsoft.com/office/drawing/2014/main" xmlns="" id="{67FA81EB-7170-4308-BD72-30BA4EA64CB8}"/>
              </a:ext>
            </a:extLst>
          </p:cNvPr>
          <p:cNvSpPr/>
          <p:nvPr/>
        </p:nvSpPr>
        <p:spPr>
          <a:xfrm>
            <a:off x="7602269" y="2238183"/>
            <a:ext cx="204864" cy="75242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cxnSp>
        <p:nvCxnSpPr>
          <p:cNvPr id="52" name="Connector: Elbow 51">
            <a:extLst>
              <a:ext uri="{FF2B5EF4-FFF2-40B4-BE49-F238E27FC236}">
                <a16:creationId xmlns:a16="http://schemas.microsoft.com/office/drawing/2014/main" xmlns="" id="{B6D0E89F-0EDD-47A5-A144-026B9D180AEA}"/>
              </a:ext>
            </a:extLst>
          </p:cNvPr>
          <p:cNvCxnSpPr>
            <a:cxnSpLocks/>
            <a:stCxn id="12" idx="1"/>
            <a:endCxn id="5" idx="0"/>
          </p:cNvCxnSpPr>
          <p:nvPr/>
        </p:nvCxnSpPr>
        <p:spPr>
          <a:xfrm rot="10800000" flipV="1">
            <a:off x="2570006" y="2637478"/>
            <a:ext cx="2517864" cy="201072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5124" name="Group 5123">
            <a:extLst>
              <a:ext uri="{FF2B5EF4-FFF2-40B4-BE49-F238E27FC236}">
                <a16:creationId xmlns:a16="http://schemas.microsoft.com/office/drawing/2014/main" xmlns="" id="{C4758264-8FEC-4B98-A479-2E8B55006135}"/>
              </a:ext>
            </a:extLst>
          </p:cNvPr>
          <p:cNvGrpSpPr/>
          <p:nvPr/>
        </p:nvGrpSpPr>
        <p:grpSpPr>
          <a:xfrm>
            <a:off x="3781256" y="2614397"/>
            <a:ext cx="3384675" cy="2222051"/>
            <a:chOff x="3781256" y="2614397"/>
            <a:chExt cx="3384675" cy="2222051"/>
          </a:xfrm>
        </p:grpSpPr>
        <p:cxnSp>
          <p:nvCxnSpPr>
            <p:cNvPr id="58" name="Connector: Elbow 57">
              <a:extLst>
                <a:ext uri="{FF2B5EF4-FFF2-40B4-BE49-F238E27FC236}">
                  <a16:creationId xmlns:a16="http://schemas.microsoft.com/office/drawing/2014/main" xmlns="" id="{F587C462-67A1-4DF4-A02F-4B1AD213211E}"/>
                </a:ext>
              </a:extLst>
            </p:cNvPr>
            <p:cNvCxnSpPr>
              <a:cxnSpLocks/>
            </p:cNvCxnSpPr>
            <p:nvPr/>
          </p:nvCxnSpPr>
          <p:spPr>
            <a:xfrm rot="10800000" flipV="1">
              <a:off x="3781256" y="2913386"/>
              <a:ext cx="2413378" cy="1923062"/>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Connector: Elbow 62">
              <a:extLst>
                <a:ext uri="{FF2B5EF4-FFF2-40B4-BE49-F238E27FC236}">
                  <a16:creationId xmlns:a16="http://schemas.microsoft.com/office/drawing/2014/main" xmlns="" id="{6B8AB946-28D5-4410-9FC9-1A66B9872731}"/>
                </a:ext>
              </a:extLst>
            </p:cNvPr>
            <p:cNvCxnSpPr>
              <a:cxnSpLocks/>
              <a:endCxn id="47" idx="1"/>
            </p:cNvCxnSpPr>
            <p:nvPr/>
          </p:nvCxnSpPr>
          <p:spPr>
            <a:xfrm flipV="1">
              <a:off x="6157554" y="2614397"/>
              <a:ext cx="1008377" cy="298989"/>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45205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2.33, 2.33"/>
          <p:cNvSpPr>
            <a:spLocks noGrp="1"/>
          </p:cNvSpPr>
          <p:nvPr>
            <p:ph type="title"/>
          </p:nvPr>
        </p:nvSpPr>
        <p:spPr/>
        <p:txBody>
          <a:bodyPr>
            <a:normAutofit/>
          </a:bodyPr>
          <a:lstStyle/>
          <a:p>
            <a:r>
              <a:rPr lang="en-IN" dirty="0"/>
              <a:t>2. Compute the centroid</a:t>
            </a:r>
          </a:p>
        </p:txBody>
      </p:sp>
      <p:sp>
        <p:nvSpPr>
          <p:cNvPr id="4" name="Rectangle 3">
            <a:extLst>
              <a:ext uri="{FF2B5EF4-FFF2-40B4-BE49-F238E27FC236}">
                <a16:creationId xmlns:a16="http://schemas.microsoft.com/office/drawing/2014/main" xmlns="" id="{3A427C80-0E5B-4486-BF2D-9AAEE0DD8573}"/>
              </a:ext>
            </a:extLst>
          </p:cNvPr>
          <p:cNvSpPr/>
          <p:nvPr/>
        </p:nvSpPr>
        <p:spPr>
          <a:xfrm>
            <a:off x="5791200" y="3810000"/>
            <a:ext cx="304800" cy="190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xmlns="" id="{DF16F39B-2B84-4206-9E2F-8A76771A9401}"/>
              </a:ext>
            </a:extLst>
          </p:cNvPr>
          <p:cNvSpPr/>
          <p:nvPr/>
        </p:nvSpPr>
        <p:spPr>
          <a:xfrm>
            <a:off x="7391400" y="2971800"/>
            <a:ext cx="304800" cy="114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7" name="Chart 6">
            <a:extLst>
              <a:ext uri="{FF2B5EF4-FFF2-40B4-BE49-F238E27FC236}">
                <a16:creationId xmlns:a16="http://schemas.microsoft.com/office/drawing/2014/main" xmlns="" id="{D603CB13-E743-4CE3-A806-CEC531152898}"/>
              </a:ext>
            </a:extLst>
          </p:cNvPr>
          <p:cNvGraphicFramePr>
            <a:graphicFrameLocks/>
          </p:cNvGraphicFramePr>
          <p:nvPr/>
        </p:nvGraphicFramePr>
        <p:xfrm>
          <a:off x="4114800" y="2245581"/>
          <a:ext cx="45720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xmlns="" id="{3D6B1717-2F8C-453F-8EE5-AC2829BB137B}"/>
              </a:ext>
            </a:extLst>
          </p:cNvPr>
          <p:cNvSpPr txBox="1"/>
          <p:nvPr/>
        </p:nvSpPr>
        <p:spPr>
          <a:xfrm>
            <a:off x="762000" y="1524000"/>
            <a:ext cx="7924800" cy="369332"/>
          </a:xfrm>
          <a:prstGeom prst="rect">
            <a:avLst/>
          </a:prstGeom>
          <a:noFill/>
        </p:spPr>
        <p:txBody>
          <a:bodyPr wrap="square" rtlCol="0">
            <a:spAutoFit/>
          </a:bodyPr>
          <a:lstStyle/>
          <a:p>
            <a:r>
              <a:rPr lang="en-US" dirty="0"/>
              <a:t>Centroid values for Cluster A and Cluster B</a:t>
            </a:r>
            <a:endParaRPr lang="en-IN" dirty="0"/>
          </a:p>
        </p:txBody>
      </p:sp>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xmlns="" id="{B7C3641D-D69A-4137-A6ED-34FFBFC98D97}"/>
                  </a:ext>
                </a:extLst>
              </p14:cNvPr>
              <p14:cNvContentPartPr/>
              <p14:nvPr/>
            </p14:nvContentPartPr>
            <p14:xfrm>
              <a:off x="8937078" y="5008696"/>
              <a:ext cx="360" cy="360"/>
            </p14:xfrm>
          </p:contentPart>
        </mc:Choice>
        <mc:Fallback xmlns="">
          <p:pic>
            <p:nvPicPr>
              <p:cNvPr id="12" name="Ink 11">
                <a:extLst>
                  <a:ext uri="{FF2B5EF4-FFF2-40B4-BE49-F238E27FC236}">
                    <a16:creationId xmlns:a16="http://schemas.microsoft.com/office/drawing/2014/main" id="{B7C3641D-D69A-4137-A6ED-34FFBFC98D97}"/>
                  </a:ext>
                </a:extLst>
              </p:cNvPr>
              <p:cNvPicPr/>
              <p:nvPr/>
            </p:nvPicPr>
            <p:blipFill>
              <a:blip r:embed="rId4"/>
              <a:stretch>
                <a:fillRect/>
              </a:stretch>
            </p:blipFill>
            <p:spPr>
              <a:xfrm>
                <a:off x="8928438" y="5000056"/>
                <a:ext cx="18000" cy="18000"/>
              </a:xfrm>
              <a:prstGeom prst="rect">
                <a:avLst/>
              </a:prstGeom>
            </p:spPr>
          </p:pic>
        </mc:Fallback>
      </mc:AlternateContent>
      <p:sp>
        <p:nvSpPr>
          <p:cNvPr id="15" name="Freeform: Shape 14">
            <a:extLst>
              <a:ext uri="{FF2B5EF4-FFF2-40B4-BE49-F238E27FC236}">
                <a16:creationId xmlns:a16="http://schemas.microsoft.com/office/drawing/2014/main" xmlns="" id="{03C8D3B5-DDF6-4240-951E-70923B661CDB}"/>
              </a:ext>
            </a:extLst>
          </p:cNvPr>
          <p:cNvSpPr/>
          <p:nvPr/>
        </p:nvSpPr>
        <p:spPr>
          <a:xfrm>
            <a:off x="4992853" y="3148717"/>
            <a:ext cx="2004295" cy="1391478"/>
          </a:xfrm>
          <a:custGeom>
            <a:avLst/>
            <a:gdLst>
              <a:gd name="connsiteX0" fmla="*/ 566 w 2004295"/>
              <a:gd name="connsiteY0" fmla="*/ 1049572 h 1391478"/>
              <a:gd name="connsiteX1" fmla="*/ 48274 w 2004295"/>
              <a:gd name="connsiteY1" fmla="*/ 985961 h 1391478"/>
              <a:gd name="connsiteX2" fmla="*/ 95982 w 2004295"/>
              <a:gd name="connsiteY2" fmla="*/ 914400 h 1391478"/>
              <a:gd name="connsiteX3" fmla="*/ 159592 w 2004295"/>
              <a:gd name="connsiteY3" fmla="*/ 858740 h 1391478"/>
              <a:gd name="connsiteX4" fmla="*/ 215251 w 2004295"/>
              <a:gd name="connsiteY4" fmla="*/ 834886 h 1391478"/>
              <a:gd name="connsiteX5" fmla="*/ 278862 w 2004295"/>
              <a:gd name="connsiteY5" fmla="*/ 803081 h 1391478"/>
              <a:gd name="connsiteX6" fmla="*/ 334521 w 2004295"/>
              <a:gd name="connsiteY6" fmla="*/ 763325 h 1391478"/>
              <a:gd name="connsiteX7" fmla="*/ 358375 w 2004295"/>
              <a:gd name="connsiteY7" fmla="*/ 739471 h 1391478"/>
              <a:gd name="connsiteX8" fmla="*/ 406083 w 2004295"/>
              <a:gd name="connsiteY8" fmla="*/ 707666 h 1391478"/>
              <a:gd name="connsiteX9" fmla="*/ 469693 w 2004295"/>
              <a:gd name="connsiteY9" fmla="*/ 636104 h 1391478"/>
              <a:gd name="connsiteX10" fmla="*/ 541255 w 2004295"/>
              <a:gd name="connsiteY10" fmla="*/ 588396 h 1391478"/>
              <a:gd name="connsiteX11" fmla="*/ 565109 w 2004295"/>
              <a:gd name="connsiteY11" fmla="*/ 564542 h 1391478"/>
              <a:gd name="connsiteX12" fmla="*/ 628719 w 2004295"/>
              <a:gd name="connsiteY12" fmla="*/ 524786 h 1391478"/>
              <a:gd name="connsiteX13" fmla="*/ 652573 w 2004295"/>
              <a:gd name="connsiteY13" fmla="*/ 500932 h 1391478"/>
              <a:gd name="connsiteX14" fmla="*/ 676427 w 2004295"/>
              <a:gd name="connsiteY14" fmla="*/ 485029 h 1391478"/>
              <a:gd name="connsiteX15" fmla="*/ 771843 w 2004295"/>
              <a:gd name="connsiteY15" fmla="*/ 365760 h 1391478"/>
              <a:gd name="connsiteX16" fmla="*/ 827502 w 2004295"/>
              <a:gd name="connsiteY16" fmla="*/ 270344 h 1391478"/>
              <a:gd name="connsiteX17" fmla="*/ 843404 w 2004295"/>
              <a:gd name="connsiteY17" fmla="*/ 246490 h 1391478"/>
              <a:gd name="connsiteX18" fmla="*/ 859307 w 2004295"/>
              <a:gd name="connsiteY18" fmla="*/ 222636 h 1391478"/>
              <a:gd name="connsiteX19" fmla="*/ 883161 w 2004295"/>
              <a:gd name="connsiteY19" fmla="*/ 190831 h 1391478"/>
              <a:gd name="connsiteX20" fmla="*/ 914966 w 2004295"/>
              <a:gd name="connsiteY20" fmla="*/ 174928 h 1391478"/>
              <a:gd name="connsiteX21" fmla="*/ 938820 w 2004295"/>
              <a:gd name="connsiteY21" fmla="*/ 159026 h 1391478"/>
              <a:gd name="connsiteX22" fmla="*/ 986528 w 2004295"/>
              <a:gd name="connsiteY22" fmla="*/ 143123 h 1391478"/>
              <a:gd name="connsiteX23" fmla="*/ 1010382 w 2004295"/>
              <a:gd name="connsiteY23" fmla="*/ 135172 h 1391478"/>
              <a:gd name="connsiteX24" fmla="*/ 1105797 w 2004295"/>
              <a:gd name="connsiteY24" fmla="*/ 111318 h 1391478"/>
              <a:gd name="connsiteX25" fmla="*/ 1169408 w 2004295"/>
              <a:gd name="connsiteY25" fmla="*/ 95415 h 1391478"/>
              <a:gd name="connsiteX26" fmla="*/ 1193262 w 2004295"/>
              <a:gd name="connsiteY26" fmla="*/ 87464 h 1391478"/>
              <a:gd name="connsiteX27" fmla="*/ 1256872 w 2004295"/>
              <a:gd name="connsiteY27" fmla="*/ 79513 h 1391478"/>
              <a:gd name="connsiteX28" fmla="*/ 1376142 w 2004295"/>
              <a:gd name="connsiteY28" fmla="*/ 63610 h 1391478"/>
              <a:gd name="connsiteX29" fmla="*/ 1399996 w 2004295"/>
              <a:gd name="connsiteY29" fmla="*/ 47707 h 1391478"/>
              <a:gd name="connsiteX30" fmla="*/ 1439752 w 2004295"/>
              <a:gd name="connsiteY30" fmla="*/ 31805 h 1391478"/>
              <a:gd name="connsiteX31" fmla="*/ 1543119 w 2004295"/>
              <a:gd name="connsiteY31" fmla="*/ 0 h 1391478"/>
              <a:gd name="connsiteX32" fmla="*/ 1757804 w 2004295"/>
              <a:gd name="connsiteY32" fmla="*/ 15902 h 1391478"/>
              <a:gd name="connsiteX33" fmla="*/ 1789610 w 2004295"/>
              <a:gd name="connsiteY33" fmla="*/ 23853 h 1391478"/>
              <a:gd name="connsiteX34" fmla="*/ 1877074 w 2004295"/>
              <a:gd name="connsiteY34" fmla="*/ 55659 h 1391478"/>
              <a:gd name="connsiteX35" fmla="*/ 1948636 w 2004295"/>
              <a:gd name="connsiteY35" fmla="*/ 87464 h 1391478"/>
              <a:gd name="connsiteX36" fmla="*/ 1996344 w 2004295"/>
              <a:gd name="connsiteY36" fmla="*/ 151074 h 1391478"/>
              <a:gd name="connsiteX37" fmla="*/ 2004295 w 2004295"/>
              <a:gd name="connsiteY37" fmla="*/ 190831 h 1391478"/>
              <a:gd name="connsiteX38" fmla="*/ 1980441 w 2004295"/>
              <a:gd name="connsiteY38" fmla="*/ 389613 h 1391478"/>
              <a:gd name="connsiteX39" fmla="*/ 1948636 w 2004295"/>
              <a:gd name="connsiteY39" fmla="*/ 421419 h 1391478"/>
              <a:gd name="connsiteX40" fmla="*/ 1940684 w 2004295"/>
              <a:gd name="connsiteY40" fmla="*/ 445273 h 1391478"/>
              <a:gd name="connsiteX41" fmla="*/ 1932733 w 2004295"/>
              <a:gd name="connsiteY41" fmla="*/ 477078 h 1391478"/>
              <a:gd name="connsiteX42" fmla="*/ 1900928 w 2004295"/>
              <a:gd name="connsiteY42" fmla="*/ 548640 h 1391478"/>
              <a:gd name="connsiteX43" fmla="*/ 1885025 w 2004295"/>
              <a:gd name="connsiteY43" fmla="*/ 620201 h 1391478"/>
              <a:gd name="connsiteX44" fmla="*/ 1877074 w 2004295"/>
              <a:gd name="connsiteY44" fmla="*/ 707666 h 1391478"/>
              <a:gd name="connsiteX45" fmla="*/ 1837317 w 2004295"/>
              <a:gd name="connsiteY45" fmla="*/ 818984 h 1391478"/>
              <a:gd name="connsiteX46" fmla="*/ 1829366 w 2004295"/>
              <a:gd name="connsiteY46" fmla="*/ 842838 h 1391478"/>
              <a:gd name="connsiteX47" fmla="*/ 1805512 w 2004295"/>
              <a:gd name="connsiteY47" fmla="*/ 866692 h 1391478"/>
              <a:gd name="connsiteX48" fmla="*/ 1725999 w 2004295"/>
              <a:gd name="connsiteY48" fmla="*/ 962107 h 1391478"/>
              <a:gd name="connsiteX49" fmla="*/ 1702145 w 2004295"/>
              <a:gd name="connsiteY49" fmla="*/ 1025718 h 1391478"/>
              <a:gd name="connsiteX50" fmla="*/ 1686243 w 2004295"/>
              <a:gd name="connsiteY50" fmla="*/ 1049572 h 1391478"/>
              <a:gd name="connsiteX51" fmla="*/ 1654437 w 2004295"/>
              <a:gd name="connsiteY51" fmla="*/ 1105231 h 1391478"/>
              <a:gd name="connsiteX52" fmla="*/ 1630584 w 2004295"/>
              <a:gd name="connsiteY52" fmla="*/ 1176793 h 1391478"/>
              <a:gd name="connsiteX53" fmla="*/ 1495411 w 2004295"/>
              <a:gd name="connsiteY53" fmla="*/ 1264257 h 1391478"/>
              <a:gd name="connsiteX54" fmla="*/ 1471557 w 2004295"/>
              <a:gd name="connsiteY54" fmla="*/ 1280160 h 1391478"/>
              <a:gd name="connsiteX55" fmla="*/ 1384093 w 2004295"/>
              <a:gd name="connsiteY55" fmla="*/ 1304013 h 1391478"/>
              <a:gd name="connsiteX56" fmla="*/ 1352288 w 2004295"/>
              <a:gd name="connsiteY56" fmla="*/ 1319916 h 1391478"/>
              <a:gd name="connsiteX57" fmla="*/ 1280726 w 2004295"/>
              <a:gd name="connsiteY57" fmla="*/ 1343770 h 1391478"/>
              <a:gd name="connsiteX58" fmla="*/ 1233018 w 2004295"/>
              <a:gd name="connsiteY58" fmla="*/ 1359673 h 1391478"/>
              <a:gd name="connsiteX59" fmla="*/ 1161457 w 2004295"/>
              <a:gd name="connsiteY59" fmla="*/ 1367624 h 1391478"/>
              <a:gd name="connsiteX60" fmla="*/ 1097846 w 2004295"/>
              <a:gd name="connsiteY60" fmla="*/ 1375575 h 1391478"/>
              <a:gd name="connsiteX61" fmla="*/ 1026284 w 2004295"/>
              <a:gd name="connsiteY61" fmla="*/ 1391478 h 1391478"/>
              <a:gd name="connsiteX62" fmla="*/ 907015 w 2004295"/>
              <a:gd name="connsiteY62" fmla="*/ 1375575 h 1391478"/>
              <a:gd name="connsiteX63" fmla="*/ 835453 w 2004295"/>
              <a:gd name="connsiteY63" fmla="*/ 1359673 h 1391478"/>
              <a:gd name="connsiteX64" fmla="*/ 724135 w 2004295"/>
              <a:gd name="connsiteY64" fmla="*/ 1351721 h 1391478"/>
              <a:gd name="connsiteX65" fmla="*/ 636670 w 2004295"/>
              <a:gd name="connsiteY65" fmla="*/ 1335819 h 1391478"/>
              <a:gd name="connsiteX66" fmla="*/ 366326 w 2004295"/>
              <a:gd name="connsiteY66" fmla="*/ 1319916 h 1391478"/>
              <a:gd name="connsiteX67" fmla="*/ 286813 w 2004295"/>
              <a:gd name="connsiteY67" fmla="*/ 1311965 h 1391478"/>
              <a:gd name="connsiteX68" fmla="*/ 183446 w 2004295"/>
              <a:gd name="connsiteY68" fmla="*/ 1304013 h 1391478"/>
              <a:gd name="connsiteX69" fmla="*/ 111884 w 2004295"/>
              <a:gd name="connsiteY69" fmla="*/ 1280160 h 1391478"/>
              <a:gd name="connsiteX70" fmla="*/ 95982 w 2004295"/>
              <a:gd name="connsiteY70" fmla="*/ 1256306 h 1391478"/>
              <a:gd name="connsiteX71" fmla="*/ 48274 w 2004295"/>
              <a:gd name="connsiteY71" fmla="*/ 1248354 h 1391478"/>
              <a:gd name="connsiteX72" fmla="*/ 40323 w 2004295"/>
              <a:gd name="connsiteY72" fmla="*/ 1200646 h 1391478"/>
              <a:gd name="connsiteX73" fmla="*/ 24420 w 2004295"/>
              <a:gd name="connsiteY73" fmla="*/ 1176793 h 1391478"/>
              <a:gd name="connsiteX74" fmla="*/ 566 w 2004295"/>
              <a:gd name="connsiteY74" fmla="*/ 1049572 h 1391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2004295" h="1391478">
                <a:moveTo>
                  <a:pt x="566" y="1049572"/>
                </a:moveTo>
                <a:cubicBezTo>
                  <a:pt x="4542" y="1017767"/>
                  <a:pt x="33187" y="1007753"/>
                  <a:pt x="48274" y="985961"/>
                </a:cubicBezTo>
                <a:cubicBezTo>
                  <a:pt x="65309" y="961356"/>
                  <a:pt x="74550" y="935833"/>
                  <a:pt x="95982" y="914400"/>
                </a:cubicBezTo>
                <a:cubicBezTo>
                  <a:pt x="115904" y="894477"/>
                  <a:pt x="136149" y="874369"/>
                  <a:pt x="159592" y="858740"/>
                </a:cubicBezTo>
                <a:cubicBezTo>
                  <a:pt x="176387" y="847543"/>
                  <a:pt x="197197" y="843913"/>
                  <a:pt x="215251" y="834886"/>
                </a:cubicBezTo>
                <a:cubicBezTo>
                  <a:pt x="310531" y="787247"/>
                  <a:pt x="141289" y="858111"/>
                  <a:pt x="278862" y="803081"/>
                </a:cubicBezTo>
                <a:cubicBezTo>
                  <a:pt x="340884" y="741059"/>
                  <a:pt x="261261" y="815653"/>
                  <a:pt x="334521" y="763325"/>
                </a:cubicBezTo>
                <a:cubicBezTo>
                  <a:pt x="343671" y="756789"/>
                  <a:pt x="349499" y="746375"/>
                  <a:pt x="358375" y="739471"/>
                </a:cubicBezTo>
                <a:cubicBezTo>
                  <a:pt x="373462" y="727737"/>
                  <a:pt x="390996" y="719400"/>
                  <a:pt x="406083" y="707666"/>
                </a:cubicBezTo>
                <a:cubicBezTo>
                  <a:pt x="429040" y="689811"/>
                  <a:pt x="451335" y="654462"/>
                  <a:pt x="469693" y="636104"/>
                </a:cubicBezTo>
                <a:cubicBezTo>
                  <a:pt x="495994" y="609802"/>
                  <a:pt x="510971" y="611109"/>
                  <a:pt x="541255" y="588396"/>
                </a:cubicBezTo>
                <a:cubicBezTo>
                  <a:pt x="550251" y="581649"/>
                  <a:pt x="556571" y="571860"/>
                  <a:pt x="565109" y="564542"/>
                </a:cubicBezTo>
                <a:cubicBezTo>
                  <a:pt x="594011" y="539769"/>
                  <a:pt x="596138" y="541076"/>
                  <a:pt x="628719" y="524786"/>
                </a:cubicBezTo>
                <a:cubicBezTo>
                  <a:pt x="636670" y="516835"/>
                  <a:pt x="643934" y="508131"/>
                  <a:pt x="652573" y="500932"/>
                </a:cubicBezTo>
                <a:cubicBezTo>
                  <a:pt x="659914" y="494814"/>
                  <a:pt x="669670" y="491786"/>
                  <a:pt x="676427" y="485029"/>
                </a:cubicBezTo>
                <a:cubicBezTo>
                  <a:pt x="699372" y="462084"/>
                  <a:pt x="755042" y="391608"/>
                  <a:pt x="771843" y="365760"/>
                </a:cubicBezTo>
                <a:cubicBezTo>
                  <a:pt x="791910" y="334888"/>
                  <a:pt x="808558" y="301918"/>
                  <a:pt x="827502" y="270344"/>
                </a:cubicBezTo>
                <a:cubicBezTo>
                  <a:pt x="832419" y="262150"/>
                  <a:pt x="838103" y="254441"/>
                  <a:pt x="843404" y="246490"/>
                </a:cubicBezTo>
                <a:cubicBezTo>
                  <a:pt x="848705" y="238539"/>
                  <a:pt x="853573" y="230281"/>
                  <a:pt x="859307" y="222636"/>
                </a:cubicBezTo>
                <a:cubicBezTo>
                  <a:pt x="867258" y="212034"/>
                  <a:pt x="873099" y="199455"/>
                  <a:pt x="883161" y="190831"/>
                </a:cubicBezTo>
                <a:cubicBezTo>
                  <a:pt x="892161" y="183117"/>
                  <a:pt x="904675" y="180809"/>
                  <a:pt x="914966" y="174928"/>
                </a:cubicBezTo>
                <a:cubicBezTo>
                  <a:pt x="923263" y="170187"/>
                  <a:pt x="930087" y="162907"/>
                  <a:pt x="938820" y="159026"/>
                </a:cubicBezTo>
                <a:cubicBezTo>
                  <a:pt x="954138" y="152218"/>
                  <a:pt x="970625" y="148424"/>
                  <a:pt x="986528" y="143123"/>
                </a:cubicBezTo>
                <a:lnTo>
                  <a:pt x="1010382" y="135172"/>
                </a:lnTo>
                <a:cubicBezTo>
                  <a:pt x="1058509" y="103087"/>
                  <a:pt x="1013930" y="127530"/>
                  <a:pt x="1105797" y="111318"/>
                </a:cubicBezTo>
                <a:cubicBezTo>
                  <a:pt x="1127321" y="107520"/>
                  <a:pt x="1148673" y="102326"/>
                  <a:pt x="1169408" y="95415"/>
                </a:cubicBezTo>
                <a:cubicBezTo>
                  <a:pt x="1177359" y="92765"/>
                  <a:pt x="1185016" y="88963"/>
                  <a:pt x="1193262" y="87464"/>
                </a:cubicBezTo>
                <a:cubicBezTo>
                  <a:pt x="1214286" y="83642"/>
                  <a:pt x="1235718" y="82535"/>
                  <a:pt x="1256872" y="79513"/>
                </a:cubicBezTo>
                <a:cubicBezTo>
                  <a:pt x="1381799" y="61666"/>
                  <a:pt x="1208844" y="82198"/>
                  <a:pt x="1376142" y="63610"/>
                </a:cubicBezTo>
                <a:cubicBezTo>
                  <a:pt x="1384093" y="58309"/>
                  <a:pt x="1391449" y="51981"/>
                  <a:pt x="1399996" y="47707"/>
                </a:cubicBezTo>
                <a:cubicBezTo>
                  <a:pt x="1412762" y="41324"/>
                  <a:pt x="1426339" y="36683"/>
                  <a:pt x="1439752" y="31805"/>
                </a:cubicBezTo>
                <a:cubicBezTo>
                  <a:pt x="1480103" y="17132"/>
                  <a:pt x="1500881" y="12068"/>
                  <a:pt x="1543119" y="0"/>
                </a:cubicBezTo>
                <a:cubicBezTo>
                  <a:pt x="1630298" y="4359"/>
                  <a:pt x="1681583" y="2044"/>
                  <a:pt x="1757804" y="15902"/>
                </a:cubicBezTo>
                <a:cubicBezTo>
                  <a:pt x="1768556" y="17857"/>
                  <a:pt x="1779008" y="21203"/>
                  <a:pt x="1789610" y="23853"/>
                </a:cubicBezTo>
                <a:cubicBezTo>
                  <a:pt x="1868091" y="63095"/>
                  <a:pt x="1762130" y="12555"/>
                  <a:pt x="1877074" y="55659"/>
                </a:cubicBezTo>
                <a:cubicBezTo>
                  <a:pt x="1901516" y="64825"/>
                  <a:pt x="1924782" y="76862"/>
                  <a:pt x="1948636" y="87464"/>
                </a:cubicBezTo>
                <a:cubicBezTo>
                  <a:pt x="1949384" y="88400"/>
                  <a:pt x="1991877" y="139161"/>
                  <a:pt x="1996344" y="151074"/>
                </a:cubicBezTo>
                <a:cubicBezTo>
                  <a:pt x="2001089" y="163728"/>
                  <a:pt x="2001645" y="177579"/>
                  <a:pt x="2004295" y="190831"/>
                </a:cubicBezTo>
                <a:cubicBezTo>
                  <a:pt x="2002187" y="224563"/>
                  <a:pt x="2001325" y="344365"/>
                  <a:pt x="1980441" y="389613"/>
                </a:cubicBezTo>
                <a:cubicBezTo>
                  <a:pt x="1974158" y="403226"/>
                  <a:pt x="1959238" y="410817"/>
                  <a:pt x="1948636" y="421419"/>
                </a:cubicBezTo>
                <a:cubicBezTo>
                  <a:pt x="1945985" y="429370"/>
                  <a:pt x="1942987" y="437214"/>
                  <a:pt x="1940684" y="445273"/>
                </a:cubicBezTo>
                <a:cubicBezTo>
                  <a:pt x="1937682" y="455780"/>
                  <a:pt x="1936656" y="466878"/>
                  <a:pt x="1932733" y="477078"/>
                </a:cubicBezTo>
                <a:cubicBezTo>
                  <a:pt x="1923362" y="501442"/>
                  <a:pt x="1909183" y="523876"/>
                  <a:pt x="1900928" y="548640"/>
                </a:cubicBezTo>
                <a:cubicBezTo>
                  <a:pt x="1893201" y="571822"/>
                  <a:pt x="1890326" y="596347"/>
                  <a:pt x="1885025" y="620201"/>
                </a:cubicBezTo>
                <a:cubicBezTo>
                  <a:pt x="1882375" y="649356"/>
                  <a:pt x="1882162" y="678836"/>
                  <a:pt x="1877074" y="707666"/>
                </a:cubicBezTo>
                <a:cubicBezTo>
                  <a:pt x="1874469" y="722427"/>
                  <a:pt x="1839417" y="813209"/>
                  <a:pt x="1837317" y="818984"/>
                </a:cubicBezTo>
                <a:cubicBezTo>
                  <a:pt x="1834453" y="826861"/>
                  <a:pt x="1834015" y="835864"/>
                  <a:pt x="1829366" y="842838"/>
                </a:cubicBezTo>
                <a:cubicBezTo>
                  <a:pt x="1823129" y="852194"/>
                  <a:pt x="1812048" y="857542"/>
                  <a:pt x="1805512" y="866692"/>
                </a:cubicBezTo>
                <a:cubicBezTo>
                  <a:pt x="1735685" y="964450"/>
                  <a:pt x="1784982" y="942447"/>
                  <a:pt x="1725999" y="962107"/>
                </a:cubicBezTo>
                <a:cubicBezTo>
                  <a:pt x="1718048" y="983311"/>
                  <a:pt x="1711516" y="1005102"/>
                  <a:pt x="1702145" y="1025718"/>
                </a:cubicBezTo>
                <a:cubicBezTo>
                  <a:pt x="1698191" y="1034418"/>
                  <a:pt x="1689598" y="1040624"/>
                  <a:pt x="1686243" y="1049572"/>
                </a:cubicBezTo>
                <a:cubicBezTo>
                  <a:pt x="1664955" y="1106340"/>
                  <a:pt x="1697641" y="1076428"/>
                  <a:pt x="1654437" y="1105231"/>
                </a:cubicBezTo>
                <a:cubicBezTo>
                  <a:pt x="1646486" y="1129085"/>
                  <a:pt x="1645670" y="1156678"/>
                  <a:pt x="1630584" y="1176793"/>
                </a:cubicBezTo>
                <a:cubicBezTo>
                  <a:pt x="1586651" y="1235371"/>
                  <a:pt x="1549698" y="1228065"/>
                  <a:pt x="1495411" y="1264257"/>
                </a:cubicBezTo>
                <a:cubicBezTo>
                  <a:pt x="1487460" y="1269558"/>
                  <a:pt x="1480557" y="1276946"/>
                  <a:pt x="1471557" y="1280160"/>
                </a:cubicBezTo>
                <a:cubicBezTo>
                  <a:pt x="1443098" y="1290324"/>
                  <a:pt x="1412762" y="1294457"/>
                  <a:pt x="1384093" y="1304013"/>
                </a:cubicBezTo>
                <a:cubicBezTo>
                  <a:pt x="1372848" y="1307761"/>
                  <a:pt x="1363119" y="1315102"/>
                  <a:pt x="1352288" y="1319916"/>
                </a:cubicBezTo>
                <a:cubicBezTo>
                  <a:pt x="1297097" y="1344446"/>
                  <a:pt x="1330426" y="1328860"/>
                  <a:pt x="1280726" y="1343770"/>
                </a:cubicBezTo>
                <a:cubicBezTo>
                  <a:pt x="1264670" y="1348587"/>
                  <a:pt x="1249455" y="1356385"/>
                  <a:pt x="1233018" y="1359673"/>
                </a:cubicBezTo>
                <a:cubicBezTo>
                  <a:pt x="1209484" y="1364380"/>
                  <a:pt x="1185293" y="1364820"/>
                  <a:pt x="1161457" y="1367624"/>
                </a:cubicBezTo>
                <a:cubicBezTo>
                  <a:pt x="1140235" y="1370121"/>
                  <a:pt x="1118890" y="1371861"/>
                  <a:pt x="1097846" y="1375575"/>
                </a:cubicBezTo>
                <a:cubicBezTo>
                  <a:pt x="1073782" y="1379822"/>
                  <a:pt x="1050138" y="1386177"/>
                  <a:pt x="1026284" y="1391478"/>
                </a:cubicBezTo>
                <a:cubicBezTo>
                  <a:pt x="1004149" y="1388711"/>
                  <a:pt x="931141" y="1379961"/>
                  <a:pt x="907015" y="1375575"/>
                </a:cubicBezTo>
                <a:cubicBezTo>
                  <a:pt x="872595" y="1369317"/>
                  <a:pt x="872944" y="1363620"/>
                  <a:pt x="835453" y="1359673"/>
                </a:cubicBezTo>
                <a:cubicBezTo>
                  <a:pt x="798457" y="1355779"/>
                  <a:pt x="761241" y="1354372"/>
                  <a:pt x="724135" y="1351721"/>
                </a:cubicBezTo>
                <a:cubicBezTo>
                  <a:pt x="685779" y="1338936"/>
                  <a:pt x="693886" y="1339906"/>
                  <a:pt x="636670" y="1335819"/>
                </a:cubicBezTo>
                <a:cubicBezTo>
                  <a:pt x="546629" y="1329387"/>
                  <a:pt x="456387" y="1326057"/>
                  <a:pt x="366326" y="1319916"/>
                </a:cubicBezTo>
                <a:cubicBezTo>
                  <a:pt x="339751" y="1318104"/>
                  <a:pt x="313349" y="1314273"/>
                  <a:pt x="286813" y="1311965"/>
                </a:cubicBezTo>
                <a:cubicBezTo>
                  <a:pt x="252385" y="1308971"/>
                  <a:pt x="217902" y="1306664"/>
                  <a:pt x="183446" y="1304013"/>
                </a:cubicBezTo>
                <a:cubicBezTo>
                  <a:pt x="163659" y="1299066"/>
                  <a:pt x="128005" y="1291675"/>
                  <a:pt x="111884" y="1280160"/>
                </a:cubicBezTo>
                <a:cubicBezTo>
                  <a:pt x="104108" y="1274606"/>
                  <a:pt x="104529" y="1260580"/>
                  <a:pt x="95982" y="1256306"/>
                </a:cubicBezTo>
                <a:cubicBezTo>
                  <a:pt x="81562" y="1249096"/>
                  <a:pt x="64177" y="1251005"/>
                  <a:pt x="48274" y="1248354"/>
                </a:cubicBezTo>
                <a:cubicBezTo>
                  <a:pt x="45624" y="1232451"/>
                  <a:pt x="45421" y="1215941"/>
                  <a:pt x="40323" y="1200646"/>
                </a:cubicBezTo>
                <a:cubicBezTo>
                  <a:pt x="37301" y="1191580"/>
                  <a:pt x="26934" y="1186012"/>
                  <a:pt x="24420" y="1176793"/>
                </a:cubicBezTo>
                <a:cubicBezTo>
                  <a:pt x="14497" y="1140408"/>
                  <a:pt x="-3410" y="1081377"/>
                  <a:pt x="566" y="1049572"/>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Freeform: Shape 16">
            <a:extLst>
              <a:ext uri="{FF2B5EF4-FFF2-40B4-BE49-F238E27FC236}">
                <a16:creationId xmlns:a16="http://schemas.microsoft.com/office/drawing/2014/main" xmlns="" id="{3E0936D7-CEF6-4B00-A8AA-5FB3653E1C11}"/>
              </a:ext>
            </a:extLst>
          </p:cNvPr>
          <p:cNvSpPr/>
          <p:nvPr/>
        </p:nvSpPr>
        <p:spPr>
          <a:xfrm>
            <a:off x="6933502" y="2703443"/>
            <a:ext cx="1630673" cy="548640"/>
          </a:xfrm>
          <a:custGeom>
            <a:avLst/>
            <a:gdLst>
              <a:gd name="connsiteX0" fmla="*/ 87500 w 1630673"/>
              <a:gd name="connsiteY0" fmla="*/ 373712 h 548640"/>
              <a:gd name="connsiteX1" fmla="*/ 39792 w 1630673"/>
              <a:gd name="connsiteY1" fmla="*/ 341907 h 548640"/>
              <a:gd name="connsiteX2" fmla="*/ 7987 w 1630673"/>
              <a:gd name="connsiteY2" fmla="*/ 294199 h 548640"/>
              <a:gd name="connsiteX3" fmla="*/ 35 w 1630673"/>
              <a:gd name="connsiteY3" fmla="*/ 262394 h 548640"/>
              <a:gd name="connsiteX4" fmla="*/ 15938 w 1630673"/>
              <a:gd name="connsiteY4" fmla="*/ 135173 h 548640"/>
              <a:gd name="connsiteX5" fmla="*/ 79548 w 1630673"/>
              <a:gd name="connsiteY5" fmla="*/ 103367 h 548640"/>
              <a:gd name="connsiteX6" fmla="*/ 222672 w 1630673"/>
              <a:gd name="connsiteY6" fmla="*/ 87465 h 548640"/>
              <a:gd name="connsiteX7" fmla="*/ 540724 w 1630673"/>
              <a:gd name="connsiteY7" fmla="*/ 79514 h 548640"/>
              <a:gd name="connsiteX8" fmla="*/ 604335 w 1630673"/>
              <a:gd name="connsiteY8" fmla="*/ 71562 h 548640"/>
              <a:gd name="connsiteX9" fmla="*/ 659994 w 1630673"/>
              <a:gd name="connsiteY9" fmla="*/ 63611 h 548640"/>
              <a:gd name="connsiteX10" fmla="*/ 779263 w 1630673"/>
              <a:gd name="connsiteY10" fmla="*/ 55660 h 548640"/>
              <a:gd name="connsiteX11" fmla="*/ 858776 w 1630673"/>
              <a:gd name="connsiteY11" fmla="*/ 39757 h 548640"/>
              <a:gd name="connsiteX12" fmla="*/ 1009851 w 1630673"/>
              <a:gd name="connsiteY12" fmla="*/ 0 h 548640"/>
              <a:gd name="connsiteX13" fmla="*/ 1319952 w 1630673"/>
              <a:gd name="connsiteY13" fmla="*/ 7952 h 548640"/>
              <a:gd name="connsiteX14" fmla="*/ 1407416 w 1630673"/>
              <a:gd name="connsiteY14" fmla="*/ 23854 h 548640"/>
              <a:gd name="connsiteX15" fmla="*/ 1502832 w 1630673"/>
              <a:gd name="connsiteY15" fmla="*/ 31806 h 548640"/>
              <a:gd name="connsiteX16" fmla="*/ 1534637 w 1630673"/>
              <a:gd name="connsiteY16" fmla="*/ 39757 h 548640"/>
              <a:gd name="connsiteX17" fmla="*/ 1598248 w 1630673"/>
              <a:gd name="connsiteY17" fmla="*/ 111319 h 548640"/>
              <a:gd name="connsiteX18" fmla="*/ 1614150 w 1630673"/>
              <a:gd name="connsiteY18" fmla="*/ 190832 h 548640"/>
              <a:gd name="connsiteX19" fmla="*/ 1630053 w 1630673"/>
              <a:gd name="connsiteY19" fmla="*/ 238540 h 548640"/>
              <a:gd name="connsiteX20" fmla="*/ 1622101 w 1630673"/>
              <a:gd name="connsiteY20" fmla="*/ 357809 h 548640"/>
              <a:gd name="connsiteX21" fmla="*/ 1574394 w 1630673"/>
              <a:gd name="connsiteY21" fmla="*/ 429371 h 548640"/>
              <a:gd name="connsiteX22" fmla="*/ 1542588 w 1630673"/>
              <a:gd name="connsiteY22" fmla="*/ 437322 h 548640"/>
              <a:gd name="connsiteX23" fmla="*/ 1486929 w 1630673"/>
              <a:gd name="connsiteY23" fmla="*/ 453225 h 548640"/>
              <a:gd name="connsiteX24" fmla="*/ 1439221 w 1630673"/>
              <a:gd name="connsiteY24" fmla="*/ 477079 h 548640"/>
              <a:gd name="connsiteX25" fmla="*/ 1375611 w 1630673"/>
              <a:gd name="connsiteY25" fmla="*/ 508884 h 548640"/>
              <a:gd name="connsiteX26" fmla="*/ 1296098 w 1630673"/>
              <a:gd name="connsiteY26" fmla="*/ 524787 h 548640"/>
              <a:gd name="connsiteX27" fmla="*/ 1264293 w 1630673"/>
              <a:gd name="connsiteY27" fmla="*/ 532738 h 548640"/>
              <a:gd name="connsiteX28" fmla="*/ 1160926 w 1630673"/>
              <a:gd name="connsiteY28" fmla="*/ 548640 h 548640"/>
              <a:gd name="connsiteX29" fmla="*/ 985997 w 1630673"/>
              <a:gd name="connsiteY29" fmla="*/ 540689 h 548640"/>
              <a:gd name="connsiteX30" fmla="*/ 954192 w 1630673"/>
              <a:gd name="connsiteY30" fmla="*/ 532738 h 548640"/>
              <a:gd name="connsiteX31" fmla="*/ 524821 w 1630673"/>
              <a:gd name="connsiteY31" fmla="*/ 524787 h 548640"/>
              <a:gd name="connsiteX32" fmla="*/ 421455 w 1630673"/>
              <a:gd name="connsiteY32" fmla="*/ 500933 h 548640"/>
              <a:gd name="connsiteX33" fmla="*/ 373747 w 1630673"/>
              <a:gd name="connsiteY33" fmla="*/ 492981 h 548640"/>
              <a:gd name="connsiteX34" fmla="*/ 341941 w 1630673"/>
              <a:gd name="connsiteY34" fmla="*/ 485030 h 548640"/>
              <a:gd name="connsiteX35" fmla="*/ 286282 w 1630673"/>
              <a:gd name="connsiteY35" fmla="*/ 469127 h 548640"/>
              <a:gd name="connsiteX36" fmla="*/ 230623 w 1630673"/>
              <a:gd name="connsiteY36" fmla="*/ 461176 h 548640"/>
              <a:gd name="connsiteX37" fmla="*/ 206769 w 1630673"/>
              <a:gd name="connsiteY37" fmla="*/ 453225 h 548640"/>
              <a:gd name="connsiteX38" fmla="*/ 167013 w 1630673"/>
              <a:gd name="connsiteY38" fmla="*/ 445274 h 548640"/>
              <a:gd name="connsiteX39" fmla="*/ 135208 w 1630673"/>
              <a:gd name="connsiteY39" fmla="*/ 437322 h 548640"/>
              <a:gd name="connsiteX40" fmla="*/ 87500 w 1630673"/>
              <a:gd name="connsiteY40" fmla="*/ 373712 h 54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30673" h="548640">
                <a:moveTo>
                  <a:pt x="87500" y="373712"/>
                </a:moveTo>
                <a:cubicBezTo>
                  <a:pt x="71597" y="357810"/>
                  <a:pt x="53307" y="355422"/>
                  <a:pt x="39792" y="341907"/>
                </a:cubicBezTo>
                <a:cubicBezTo>
                  <a:pt x="26277" y="328392"/>
                  <a:pt x="7987" y="294199"/>
                  <a:pt x="7987" y="294199"/>
                </a:cubicBezTo>
                <a:cubicBezTo>
                  <a:pt x="5336" y="283597"/>
                  <a:pt x="-511" y="273308"/>
                  <a:pt x="35" y="262394"/>
                </a:cubicBezTo>
                <a:cubicBezTo>
                  <a:pt x="2169" y="219710"/>
                  <a:pt x="3069" y="175926"/>
                  <a:pt x="15938" y="135173"/>
                </a:cubicBezTo>
                <a:cubicBezTo>
                  <a:pt x="22118" y="115604"/>
                  <a:pt x="63227" y="105593"/>
                  <a:pt x="79548" y="103367"/>
                </a:cubicBezTo>
                <a:cubicBezTo>
                  <a:pt x="127109" y="96881"/>
                  <a:pt x="174735" y="89944"/>
                  <a:pt x="222672" y="87465"/>
                </a:cubicBezTo>
                <a:cubicBezTo>
                  <a:pt x="328581" y="81987"/>
                  <a:pt x="434707" y="82164"/>
                  <a:pt x="540724" y="79514"/>
                </a:cubicBezTo>
                <a:lnTo>
                  <a:pt x="604335" y="71562"/>
                </a:lnTo>
                <a:cubicBezTo>
                  <a:pt x="622912" y="69085"/>
                  <a:pt x="641330" y="65308"/>
                  <a:pt x="659994" y="63611"/>
                </a:cubicBezTo>
                <a:cubicBezTo>
                  <a:pt x="699675" y="60004"/>
                  <a:pt x="739507" y="58310"/>
                  <a:pt x="779263" y="55660"/>
                </a:cubicBezTo>
                <a:cubicBezTo>
                  <a:pt x="805767" y="50359"/>
                  <a:pt x="833134" y="48304"/>
                  <a:pt x="858776" y="39757"/>
                </a:cubicBezTo>
                <a:cubicBezTo>
                  <a:pt x="971972" y="2026"/>
                  <a:pt x="921003" y="12694"/>
                  <a:pt x="1009851" y="0"/>
                </a:cubicBezTo>
                <a:cubicBezTo>
                  <a:pt x="1113218" y="2651"/>
                  <a:pt x="1216737" y="1759"/>
                  <a:pt x="1319952" y="7952"/>
                </a:cubicBezTo>
                <a:cubicBezTo>
                  <a:pt x="1349531" y="9727"/>
                  <a:pt x="1378032" y="20021"/>
                  <a:pt x="1407416" y="23854"/>
                </a:cubicBezTo>
                <a:cubicBezTo>
                  <a:pt x="1439064" y="27982"/>
                  <a:pt x="1471027" y="29155"/>
                  <a:pt x="1502832" y="31806"/>
                </a:cubicBezTo>
                <a:cubicBezTo>
                  <a:pt x="1513434" y="34456"/>
                  <a:pt x="1524863" y="34870"/>
                  <a:pt x="1534637" y="39757"/>
                </a:cubicBezTo>
                <a:cubicBezTo>
                  <a:pt x="1569958" y="57417"/>
                  <a:pt x="1576073" y="78057"/>
                  <a:pt x="1598248" y="111319"/>
                </a:cubicBezTo>
                <a:cubicBezTo>
                  <a:pt x="1603549" y="137823"/>
                  <a:pt x="1607595" y="164610"/>
                  <a:pt x="1614150" y="190832"/>
                </a:cubicBezTo>
                <a:cubicBezTo>
                  <a:pt x="1618216" y="207094"/>
                  <a:pt x="1629256" y="221796"/>
                  <a:pt x="1630053" y="238540"/>
                </a:cubicBezTo>
                <a:cubicBezTo>
                  <a:pt x="1631948" y="278340"/>
                  <a:pt x="1629556" y="318668"/>
                  <a:pt x="1622101" y="357809"/>
                </a:cubicBezTo>
                <a:cubicBezTo>
                  <a:pt x="1618558" y="376412"/>
                  <a:pt x="1594795" y="417714"/>
                  <a:pt x="1574394" y="429371"/>
                </a:cubicBezTo>
                <a:cubicBezTo>
                  <a:pt x="1564906" y="434793"/>
                  <a:pt x="1553131" y="434447"/>
                  <a:pt x="1542588" y="437322"/>
                </a:cubicBezTo>
                <a:cubicBezTo>
                  <a:pt x="1523972" y="442399"/>
                  <a:pt x="1505482" y="447924"/>
                  <a:pt x="1486929" y="453225"/>
                </a:cubicBezTo>
                <a:cubicBezTo>
                  <a:pt x="1434653" y="488074"/>
                  <a:pt x="1490952" y="453565"/>
                  <a:pt x="1439221" y="477079"/>
                </a:cubicBezTo>
                <a:cubicBezTo>
                  <a:pt x="1417640" y="486889"/>
                  <a:pt x="1398857" y="504235"/>
                  <a:pt x="1375611" y="508884"/>
                </a:cubicBezTo>
                <a:lnTo>
                  <a:pt x="1296098" y="524787"/>
                </a:lnTo>
                <a:cubicBezTo>
                  <a:pt x="1285413" y="527077"/>
                  <a:pt x="1275009" y="530595"/>
                  <a:pt x="1264293" y="532738"/>
                </a:cubicBezTo>
                <a:cubicBezTo>
                  <a:pt x="1236713" y="538254"/>
                  <a:pt x="1187657" y="544821"/>
                  <a:pt x="1160926" y="548640"/>
                </a:cubicBezTo>
                <a:cubicBezTo>
                  <a:pt x="1102616" y="545990"/>
                  <a:pt x="1044195" y="545166"/>
                  <a:pt x="985997" y="540689"/>
                </a:cubicBezTo>
                <a:cubicBezTo>
                  <a:pt x="975101" y="539851"/>
                  <a:pt x="965113" y="533115"/>
                  <a:pt x="954192" y="532738"/>
                </a:cubicBezTo>
                <a:cubicBezTo>
                  <a:pt x="811129" y="527805"/>
                  <a:pt x="667945" y="527437"/>
                  <a:pt x="524821" y="524787"/>
                </a:cubicBezTo>
                <a:cubicBezTo>
                  <a:pt x="490366" y="516836"/>
                  <a:pt x="456057" y="508218"/>
                  <a:pt x="421455" y="500933"/>
                </a:cubicBezTo>
                <a:cubicBezTo>
                  <a:pt x="405679" y="497612"/>
                  <a:pt x="389556" y="496143"/>
                  <a:pt x="373747" y="492981"/>
                </a:cubicBezTo>
                <a:cubicBezTo>
                  <a:pt x="363031" y="490838"/>
                  <a:pt x="352449" y="488032"/>
                  <a:pt x="341941" y="485030"/>
                </a:cubicBezTo>
                <a:cubicBezTo>
                  <a:pt x="312137" y="476515"/>
                  <a:pt x="320460" y="475341"/>
                  <a:pt x="286282" y="469127"/>
                </a:cubicBezTo>
                <a:cubicBezTo>
                  <a:pt x="267843" y="465774"/>
                  <a:pt x="249176" y="463826"/>
                  <a:pt x="230623" y="461176"/>
                </a:cubicBezTo>
                <a:cubicBezTo>
                  <a:pt x="222672" y="458526"/>
                  <a:pt x="214900" y="455258"/>
                  <a:pt x="206769" y="453225"/>
                </a:cubicBezTo>
                <a:cubicBezTo>
                  <a:pt x="193658" y="449947"/>
                  <a:pt x="180206" y="448206"/>
                  <a:pt x="167013" y="445274"/>
                </a:cubicBezTo>
                <a:cubicBezTo>
                  <a:pt x="156345" y="442903"/>
                  <a:pt x="145810" y="439973"/>
                  <a:pt x="135208" y="437322"/>
                </a:cubicBezTo>
                <a:cubicBezTo>
                  <a:pt x="100115" y="384683"/>
                  <a:pt x="103403" y="389614"/>
                  <a:pt x="87500" y="373712"/>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xmlns="" id="{BF6781E4-464E-422A-B544-0159217FCAED}"/>
              </a:ext>
            </a:extLst>
          </p:cNvPr>
          <p:cNvSpPr txBox="1"/>
          <p:nvPr/>
        </p:nvSpPr>
        <p:spPr>
          <a:xfrm>
            <a:off x="6377114" y="3938726"/>
            <a:ext cx="317716" cy="369332"/>
          </a:xfrm>
          <a:prstGeom prst="rect">
            <a:avLst/>
          </a:prstGeom>
          <a:noFill/>
        </p:spPr>
        <p:txBody>
          <a:bodyPr wrap="none" rtlCol="0">
            <a:spAutoFit/>
          </a:bodyPr>
          <a:lstStyle/>
          <a:p>
            <a:r>
              <a:rPr lang="en-IN" dirty="0"/>
              <a:t>A</a:t>
            </a:r>
          </a:p>
        </p:txBody>
      </p:sp>
      <p:sp>
        <p:nvSpPr>
          <p:cNvPr id="19" name="TextBox 18">
            <a:extLst>
              <a:ext uri="{FF2B5EF4-FFF2-40B4-BE49-F238E27FC236}">
                <a16:creationId xmlns:a16="http://schemas.microsoft.com/office/drawing/2014/main" xmlns="" id="{36AD3D2B-22A1-46F4-A0E9-246C4CD7BCA6}"/>
              </a:ext>
            </a:extLst>
          </p:cNvPr>
          <p:cNvSpPr txBox="1"/>
          <p:nvPr/>
        </p:nvSpPr>
        <p:spPr>
          <a:xfrm>
            <a:off x="7973251" y="2971800"/>
            <a:ext cx="309700" cy="369332"/>
          </a:xfrm>
          <a:prstGeom prst="rect">
            <a:avLst/>
          </a:prstGeom>
          <a:noFill/>
        </p:spPr>
        <p:txBody>
          <a:bodyPr wrap="none" rtlCol="0">
            <a:spAutoFit/>
          </a:bodyPr>
          <a:lstStyle/>
          <a:p>
            <a:r>
              <a:rPr lang="en-IN" dirty="0"/>
              <a:t>B</a:t>
            </a:r>
          </a:p>
        </p:txBody>
      </p:sp>
      <p:sp>
        <p:nvSpPr>
          <p:cNvPr id="14" name="TextBox 13">
            <a:extLst>
              <a:ext uri="{FF2B5EF4-FFF2-40B4-BE49-F238E27FC236}">
                <a16:creationId xmlns:a16="http://schemas.microsoft.com/office/drawing/2014/main" xmlns="" id="{0C3CB657-AF3A-4071-9746-677C3E0CAA52}"/>
              </a:ext>
            </a:extLst>
          </p:cNvPr>
          <p:cNvSpPr txBox="1"/>
          <p:nvPr/>
        </p:nvSpPr>
        <p:spPr>
          <a:xfrm>
            <a:off x="5674396" y="3780199"/>
            <a:ext cx="300082" cy="646331"/>
          </a:xfrm>
          <a:prstGeom prst="rect">
            <a:avLst/>
          </a:prstGeom>
          <a:noFill/>
        </p:spPr>
        <p:txBody>
          <a:bodyPr wrap="none" rtlCol="0">
            <a:spAutoFit/>
          </a:bodyPr>
          <a:lstStyle/>
          <a:p>
            <a:r>
              <a:rPr lang="en-IN" dirty="0"/>
              <a:t>*</a:t>
            </a:r>
          </a:p>
          <a:p>
            <a:endParaRPr lang="en-IN" dirty="0"/>
          </a:p>
        </p:txBody>
      </p:sp>
      <p:sp>
        <p:nvSpPr>
          <p:cNvPr id="16" name="TextBox 15">
            <a:extLst>
              <a:ext uri="{FF2B5EF4-FFF2-40B4-BE49-F238E27FC236}">
                <a16:creationId xmlns:a16="http://schemas.microsoft.com/office/drawing/2014/main" xmlns="" id="{DE3B9795-7838-4488-9C58-D740D9E8E5F8}"/>
              </a:ext>
            </a:extLst>
          </p:cNvPr>
          <p:cNvSpPr txBox="1"/>
          <p:nvPr/>
        </p:nvSpPr>
        <p:spPr>
          <a:xfrm>
            <a:off x="7409688" y="2765684"/>
            <a:ext cx="300082" cy="369332"/>
          </a:xfrm>
          <a:prstGeom prst="rect">
            <a:avLst/>
          </a:prstGeom>
          <a:noFill/>
        </p:spPr>
        <p:txBody>
          <a:bodyPr wrap="none" rtlCol="0">
            <a:spAutoFit/>
          </a:bodyPr>
          <a:lstStyle/>
          <a:p>
            <a:r>
              <a:rPr lang="en-IN" dirty="0"/>
              <a:t>*</a:t>
            </a:r>
          </a:p>
        </p:txBody>
      </p:sp>
      <p:pic>
        <p:nvPicPr>
          <p:cNvPr id="20" name="Picture 19">
            <a:extLst>
              <a:ext uri="{FF2B5EF4-FFF2-40B4-BE49-F238E27FC236}">
                <a16:creationId xmlns:a16="http://schemas.microsoft.com/office/drawing/2014/main" xmlns="" id="{D947F929-046D-4B4D-B544-F542151B709D}"/>
              </a:ext>
            </a:extLst>
          </p:cNvPr>
          <p:cNvPicPr>
            <a:picLocks noChangeAspect="1"/>
          </p:cNvPicPr>
          <p:nvPr/>
        </p:nvPicPr>
        <p:blipFill>
          <a:blip r:embed="rId5"/>
          <a:stretch>
            <a:fillRect/>
          </a:stretch>
        </p:blipFill>
        <p:spPr>
          <a:xfrm>
            <a:off x="361604" y="2816031"/>
            <a:ext cx="3739626" cy="1705114"/>
          </a:xfrm>
          <a:prstGeom prst="rect">
            <a:avLst/>
          </a:prstGeom>
        </p:spPr>
      </p:pic>
      <p:sp>
        <p:nvSpPr>
          <p:cNvPr id="21" name="TextBox 20">
            <a:extLst>
              <a:ext uri="{FF2B5EF4-FFF2-40B4-BE49-F238E27FC236}">
                <a16:creationId xmlns:a16="http://schemas.microsoft.com/office/drawing/2014/main" xmlns="" id="{33C6A8E3-943D-444D-B00E-9258BBC0E918}"/>
              </a:ext>
            </a:extLst>
          </p:cNvPr>
          <p:cNvSpPr txBox="1"/>
          <p:nvPr/>
        </p:nvSpPr>
        <p:spPr>
          <a:xfrm>
            <a:off x="3844731" y="5134866"/>
            <a:ext cx="1253869" cy="369332"/>
          </a:xfrm>
          <a:prstGeom prst="rect">
            <a:avLst/>
          </a:prstGeom>
          <a:noFill/>
        </p:spPr>
        <p:txBody>
          <a:bodyPr wrap="none" rtlCol="0">
            <a:spAutoFit/>
          </a:bodyPr>
          <a:lstStyle/>
          <a:p>
            <a:r>
              <a:rPr lang="en-IN" dirty="0"/>
              <a:t>(2.33, 2.33)</a:t>
            </a:r>
          </a:p>
        </p:txBody>
      </p:sp>
      <p:sp>
        <p:nvSpPr>
          <p:cNvPr id="22" name="TextBox 21">
            <a:extLst>
              <a:ext uri="{FF2B5EF4-FFF2-40B4-BE49-F238E27FC236}">
                <a16:creationId xmlns:a16="http://schemas.microsoft.com/office/drawing/2014/main" xmlns="" id="{E2605B60-6320-45DA-A8E6-E4060380ABA3}"/>
              </a:ext>
            </a:extLst>
          </p:cNvPr>
          <p:cNvSpPr txBox="1"/>
          <p:nvPr/>
        </p:nvSpPr>
        <p:spPr>
          <a:xfrm>
            <a:off x="6920491" y="5116287"/>
            <a:ext cx="670376" cy="369332"/>
          </a:xfrm>
          <a:prstGeom prst="rect">
            <a:avLst/>
          </a:prstGeom>
          <a:noFill/>
        </p:spPr>
        <p:txBody>
          <a:bodyPr wrap="none" rtlCol="0">
            <a:spAutoFit/>
          </a:bodyPr>
          <a:lstStyle/>
          <a:p>
            <a:r>
              <a:rPr lang="en-IN" dirty="0"/>
              <a:t>(6, 7)</a:t>
            </a:r>
          </a:p>
        </p:txBody>
      </p:sp>
      <p:sp>
        <p:nvSpPr>
          <p:cNvPr id="23" name="TextBox 22">
            <a:extLst>
              <a:ext uri="{FF2B5EF4-FFF2-40B4-BE49-F238E27FC236}">
                <a16:creationId xmlns:a16="http://schemas.microsoft.com/office/drawing/2014/main" xmlns="" id="{AACC901D-E790-4E3F-A381-E842CDEAE6C3}"/>
              </a:ext>
            </a:extLst>
          </p:cNvPr>
          <p:cNvSpPr txBox="1"/>
          <p:nvPr/>
        </p:nvSpPr>
        <p:spPr>
          <a:xfrm>
            <a:off x="2169910" y="5448814"/>
            <a:ext cx="3504486" cy="369332"/>
          </a:xfrm>
          <a:prstGeom prst="rect">
            <a:avLst/>
          </a:prstGeom>
          <a:noFill/>
        </p:spPr>
        <p:txBody>
          <a:bodyPr wrap="none" rtlCol="0">
            <a:spAutoFit/>
          </a:bodyPr>
          <a:lstStyle/>
          <a:p>
            <a:r>
              <a:rPr lang="en-IN" dirty="0"/>
              <a:t>A= </a:t>
            </a:r>
            <a:r>
              <a:rPr lang="en-IN" dirty="0">
                <a:solidFill>
                  <a:srgbClr val="FF0000"/>
                </a:solidFill>
              </a:rPr>
              <a:t>(1+2+4)/3=2.33</a:t>
            </a:r>
            <a:r>
              <a:rPr lang="en-IN" dirty="0"/>
              <a:t>, </a:t>
            </a:r>
            <a:r>
              <a:rPr lang="en-IN" dirty="0">
                <a:solidFill>
                  <a:srgbClr val="FF0000"/>
                </a:solidFill>
              </a:rPr>
              <a:t>(1+1+5)/3=2.33</a:t>
            </a:r>
          </a:p>
        </p:txBody>
      </p:sp>
      <p:sp>
        <p:nvSpPr>
          <p:cNvPr id="24" name="TextBox 23">
            <a:extLst>
              <a:ext uri="{FF2B5EF4-FFF2-40B4-BE49-F238E27FC236}">
                <a16:creationId xmlns:a16="http://schemas.microsoft.com/office/drawing/2014/main" xmlns="" id="{EB64932C-DE31-4657-9AC5-64E25EBC0391}"/>
              </a:ext>
            </a:extLst>
          </p:cNvPr>
          <p:cNvSpPr txBox="1"/>
          <p:nvPr/>
        </p:nvSpPr>
        <p:spPr>
          <a:xfrm>
            <a:off x="6467294" y="5407781"/>
            <a:ext cx="2448106" cy="369332"/>
          </a:xfrm>
          <a:prstGeom prst="rect">
            <a:avLst/>
          </a:prstGeom>
          <a:noFill/>
        </p:spPr>
        <p:txBody>
          <a:bodyPr wrap="none" rtlCol="0">
            <a:spAutoFit/>
          </a:bodyPr>
          <a:lstStyle/>
          <a:p>
            <a:r>
              <a:rPr lang="en-IN" dirty="0"/>
              <a:t>B= </a:t>
            </a:r>
            <a:r>
              <a:rPr lang="en-IN" dirty="0">
                <a:solidFill>
                  <a:schemeClr val="tx2">
                    <a:lumMod val="60000"/>
                    <a:lumOff val="40000"/>
                  </a:schemeClr>
                </a:solidFill>
              </a:rPr>
              <a:t>(7+5)/2=6</a:t>
            </a:r>
            <a:r>
              <a:rPr lang="en-IN" dirty="0"/>
              <a:t>, (</a:t>
            </a:r>
            <a:r>
              <a:rPr lang="en-IN" dirty="0">
                <a:solidFill>
                  <a:schemeClr val="tx2">
                    <a:lumMod val="60000"/>
                    <a:lumOff val="40000"/>
                  </a:schemeClr>
                </a:solidFill>
              </a:rPr>
              <a:t>7+7)/2=7</a:t>
            </a:r>
          </a:p>
        </p:txBody>
      </p:sp>
    </p:spTree>
    <p:extLst>
      <p:ext uri="{BB962C8B-B14F-4D97-AF65-F5344CB8AC3E}">
        <p14:creationId xmlns:p14="http://schemas.microsoft.com/office/powerpoint/2010/main" val="42163261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3. Measure the Distances </a:t>
            </a:r>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739980"/>
            <a:ext cx="8229600" cy="42464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070701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3600" dirty="0"/>
              <a:t>4. Reassign the data point to closest centroid. </a:t>
            </a:r>
            <a:br>
              <a:rPr lang="en-IN" sz="3600" dirty="0"/>
            </a:br>
            <a:r>
              <a:rPr lang="en-IN" sz="3600" dirty="0"/>
              <a:t>Recreate the Clusters</a:t>
            </a:r>
            <a:endParaRPr lang="en-IN" dirty="0"/>
          </a:p>
        </p:txBody>
      </p:sp>
      <p:sp>
        <p:nvSpPr>
          <p:cNvPr id="4" name="Rectangle 3">
            <a:extLst>
              <a:ext uri="{FF2B5EF4-FFF2-40B4-BE49-F238E27FC236}">
                <a16:creationId xmlns:a16="http://schemas.microsoft.com/office/drawing/2014/main" xmlns="" id="{3A427C80-0E5B-4486-BF2D-9AAEE0DD8573}"/>
              </a:ext>
            </a:extLst>
          </p:cNvPr>
          <p:cNvSpPr/>
          <p:nvPr/>
        </p:nvSpPr>
        <p:spPr>
          <a:xfrm>
            <a:off x="5791200" y="3810000"/>
            <a:ext cx="304800" cy="190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xmlns="" id="{DF16F39B-2B84-4206-9E2F-8A76771A9401}"/>
              </a:ext>
            </a:extLst>
          </p:cNvPr>
          <p:cNvSpPr/>
          <p:nvPr/>
        </p:nvSpPr>
        <p:spPr>
          <a:xfrm>
            <a:off x="7391400" y="2971800"/>
            <a:ext cx="304800" cy="114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7" name="Chart 6">
            <a:extLst>
              <a:ext uri="{FF2B5EF4-FFF2-40B4-BE49-F238E27FC236}">
                <a16:creationId xmlns:a16="http://schemas.microsoft.com/office/drawing/2014/main" xmlns="" id="{D603CB13-E743-4CE3-A806-CEC531152898}"/>
              </a:ext>
            </a:extLst>
          </p:cNvPr>
          <p:cNvGraphicFramePr>
            <a:graphicFrameLocks/>
          </p:cNvGraphicFramePr>
          <p:nvPr/>
        </p:nvGraphicFramePr>
        <p:xfrm>
          <a:off x="4114800" y="2245581"/>
          <a:ext cx="45720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xmlns="" id="{3D6B1717-2F8C-453F-8EE5-AC2829BB137B}"/>
              </a:ext>
            </a:extLst>
          </p:cNvPr>
          <p:cNvSpPr txBox="1"/>
          <p:nvPr/>
        </p:nvSpPr>
        <p:spPr>
          <a:xfrm>
            <a:off x="762000" y="1524000"/>
            <a:ext cx="7924800" cy="646331"/>
          </a:xfrm>
          <a:prstGeom prst="rect">
            <a:avLst/>
          </a:prstGeom>
          <a:noFill/>
        </p:spPr>
        <p:txBody>
          <a:bodyPr wrap="square" rtlCol="0">
            <a:spAutoFit/>
          </a:bodyPr>
          <a:lstStyle/>
          <a:p>
            <a:r>
              <a:rPr lang="en-US" dirty="0"/>
              <a:t>After calculating the Euclidean distance, the data point (3) is reassigned to the closest centroid, which is in cluster (B).</a:t>
            </a:r>
          </a:p>
        </p:txBody>
      </p:sp>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xmlns="" id="{B7C3641D-D69A-4137-A6ED-34FFBFC98D97}"/>
                  </a:ext>
                </a:extLst>
              </p14:cNvPr>
              <p14:cNvContentPartPr/>
              <p14:nvPr/>
            </p14:nvContentPartPr>
            <p14:xfrm>
              <a:off x="8937078" y="5008696"/>
              <a:ext cx="360" cy="360"/>
            </p14:xfrm>
          </p:contentPart>
        </mc:Choice>
        <mc:Fallback xmlns="">
          <p:pic>
            <p:nvPicPr>
              <p:cNvPr id="12" name="Ink 11">
                <a:extLst>
                  <a:ext uri="{FF2B5EF4-FFF2-40B4-BE49-F238E27FC236}">
                    <a16:creationId xmlns:a16="http://schemas.microsoft.com/office/drawing/2014/main" id="{B7C3641D-D69A-4137-A6ED-34FFBFC98D97}"/>
                  </a:ext>
                </a:extLst>
              </p:cNvPr>
              <p:cNvPicPr/>
              <p:nvPr/>
            </p:nvPicPr>
            <p:blipFill>
              <a:blip r:embed="rId4"/>
              <a:stretch>
                <a:fillRect/>
              </a:stretch>
            </p:blipFill>
            <p:spPr>
              <a:xfrm>
                <a:off x="8928438" y="5000056"/>
                <a:ext cx="18000" cy="18000"/>
              </a:xfrm>
              <a:prstGeom prst="rect">
                <a:avLst/>
              </a:prstGeom>
            </p:spPr>
          </p:pic>
        </mc:Fallback>
      </mc:AlternateContent>
      <p:sp>
        <p:nvSpPr>
          <p:cNvPr id="18" name="TextBox 17">
            <a:extLst>
              <a:ext uri="{FF2B5EF4-FFF2-40B4-BE49-F238E27FC236}">
                <a16:creationId xmlns:a16="http://schemas.microsoft.com/office/drawing/2014/main" xmlns="" id="{BF6781E4-464E-422A-B544-0159217FCAED}"/>
              </a:ext>
            </a:extLst>
          </p:cNvPr>
          <p:cNvSpPr txBox="1"/>
          <p:nvPr/>
        </p:nvSpPr>
        <p:spPr>
          <a:xfrm>
            <a:off x="6377114" y="3938726"/>
            <a:ext cx="317716" cy="369332"/>
          </a:xfrm>
          <a:prstGeom prst="rect">
            <a:avLst/>
          </a:prstGeom>
          <a:noFill/>
        </p:spPr>
        <p:txBody>
          <a:bodyPr wrap="none" rtlCol="0">
            <a:spAutoFit/>
          </a:bodyPr>
          <a:lstStyle/>
          <a:p>
            <a:r>
              <a:rPr lang="en-IN" dirty="0"/>
              <a:t>A</a:t>
            </a:r>
          </a:p>
        </p:txBody>
      </p:sp>
      <p:sp>
        <p:nvSpPr>
          <p:cNvPr id="19" name="TextBox 18">
            <a:extLst>
              <a:ext uri="{FF2B5EF4-FFF2-40B4-BE49-F238E27FC236}">
                <a16:creationId xmlns:a16="http://schemas.microsoft.com/office/drawing/2014/main" xmlns="" id="{36AD3D2B-22A1-46F4-A0E9-246C4CD7BCA6}"/>
              </a:ext>
            </a:extLst>
          </p:cNvPr>
          <p:cNvSpPr txBox="1"/>
          <p:nvPr/>
        </p:nvSpPr>
        <p:spPr>
          <a:xfrm>
            <a:off x="7973251" y="2971800"/>
            <a:ext cx="309700" cy="369332"/>
          </a:xfrm>
          <a:prstGeom prst="rect">
            <a:avLst/>
          </a:prstGeom>
          <a:noFill/>
        </p:spPr>
        <p:txBody>
          <a:bodyPr wrap="none" rtlCol="0">
            <a:spAutoFit/>
          </a:bodyPr>
          <a:lstStyle/>
          <a:p>
            <a:r>
              <a:rPr lang="en-IN" dirty="0"/>
              <a:t>B</a:t>
            </a:r>
          </a:p>
        </p:txBody>
      </p:sp>
      <p:sp>
        <p:nvSpPr>
          <p:cNvPr id="21" name="Freeform: Shape 20">
            <a:extLst>
              <a:ext uri="{FF2B5EF4-FFF2-40B4-BE49-F238E27FC236}">
                <a16:creationId xmlns:a16="http://schemas.microsoft.com/office/drawing/2014/main" xmlns="" id="{31A6D215-FBEB-4F46-95FB-D32DF1225E37}"/>
              </a:ext>
            </a:extLst>
          </p:cNvPr>
          <p:cNvSpPr/>
          <p:nvPr/>
        </p:nvSpPr>
        <p:spPr>
          <a:xfrm>
            <a:off x="6313128" y="2703442"/>
            <a:ext cx="2251047" cy="1030357"/>
          </a:xfrm>
          <a:custGeom>
            <a:avLst/>
            <a:gdLst>
              <a:gd name="connsiteX0" fmla="*/ 87500 w 1630673"/>
              <a:gd name="connsiteY0" fmla="*/ 373712 h 548640"/>
              <a:gd name="connsiteX1" fmla="*/ 39792 w 1630673"/>
              <a:gd name="connsiteY1" fmla="*/ 341907 h 548640"/>
              <a:gd name="connsiteX2" fmla="*/ 7987 w 1630673"/>
              <a:gd name="connsiteY2" fmla="*/ 294199 h 548640"/>
              <a:gd name="connsiteX3" fmla="*/ 35 w 1630673"/>
              <a:gd name="connsiteY3" fmla="*/ 262394 h 548640"/>
              <a:gd name="connsiteX4" fmla="*/ 15938 w 1630673"/>
              <a:gd name="connsiteY4" fmla="*/ 135173 h 548640"/>
              <a:gd name="connsiteX5" fmla="*/ 79548 w 1630673"/>
              <a:gd name="connsiteY5" fmla="*/ 103367 h 548640"/>
              <a:gd name="connsiteX6" fmla="*/ 222672 w 1630673"/>
              <a:gd name="connsiteY6" fmla="*/ 87465 h 548640"/>
              <a:gd name="connsiteX7" fmla="*/ 540724 w 1630673"/>
              <a:gd name="connsiteY7" fmla="*/ 79514 h 548640"/>
              <a:gd name="connsiteX8" fmla="*/ 604335 w 1630673"/>
              <a:gd name="connsiteY8" fmla="*/ 71562 h 548640"/>
              <a:gd name="connsiteX9" fmla="*/ 659994 w 1630673"/>
              <a:gd name="connsiteY9" fmla="*/ 63611 h 548640"/>
              <a:gd name="connsiteX10" fmla="*/ 779263 w 1630673"/>
              <a:gd name="connsiteY10" fmla="*/ 55660 h 548640"/>
              <a:gd name="connsiteX11" fmla="*/ 858776 w 1630673"/>
              <a:gd name="connsiteY11" fmla="*/ 39757 h 548640"/>
              <a:gd name="connsiteX12" fmla="*/ 1009851 w 1630673"/>
              <a:gd name="connsiteY12" fmla="*/ 0 h 548640"/>
              <a:gd name="connsiteX13" fmla="*/ 1319952 w 1630673"/>
              <a:gd name="connsiteY13" fmla="*/ 7952 h 548640"/>
              <a:gd name="connsiteX14" fmla="*/ 1407416 w 1630673"/>
              <a:gd name="connsiteY14" fmla="*/ 23854 h 548640"/>
              <a:gd name="connsiteX15" fmla="*/ 1502832 w 1630673"/>
              <a:gd name="connsiteY15" fmla="*/ 31806 h 548640"/>
              <a:gd name="connsiteX16" fmla="*/ 1534637 w 1630673"/>
              <a:gd name="connsiteY16" fmla="*/ 39757 h 548640"/>
              <a:gd name="connsiteX17" fmla="*/ 1598248 w 1630673"/>
              <a:gd name="connsiteY17" fmla="*/ 111319 h 548640"/>
              <a:gd name="connsiteX18" fmla="*/ 1614150 w 1630673"/>
              <a:gd name="connsiteY18" fmla="*/ 190832 h 548640"/>
              <a:gd name="connsiteX19" fmla="*/ 1630053 w 1630673"/>
              <a:gd name="connsiteY19" fmla="*/ 238540 h 548640"/>
              <a:gd name="connsiteX20" fmla="*/ 1622101 w 1630673"/>
              <a:gd name="connsiteY20" fmla="*/ 357809 h 548640"/>
              <a:gd name="connsiteX21" fmla="*/ 1574394 w 1630673"/>
              <a:gd name="connsiteY21" fmla="*/ 429371 h 548640"/>
              <a:gd name="connsiteX22" fmla="*/ 1542588 w 1630673"/>
              <a:gd name="connsiteY22" fmla="*/ 437322 h 548640"/>
              <a:gd name="connsiteX23" fmla="*/ 1486929 w 1630673"/>
              <a:gd name="connsiteY23" fmla="*/ 453225 h 548640"/>
              <a:gd name="connsiteX24" fmla="*/ 1439221 w 1630673"/>
              <a:gd name="connsiteY24" fmla="*/ 477079 h 548640"/>
              <a:gd name="connsiteX25" fmla="*/ 1375611 w 1630673"/>
              <a:gd name="connsiteY25" fmla="*/ 508884 h 548640"/>
              <a:gd name="connsiteX26" fmla="*/ 1296098 w 1630673"/>
              <a:gd name="connsiteY26" fmla="*/ 524787 h 548640"/>
              <a:gd name="connsiteX27" fmla="*/ 1264293 w 1630673"/>
              <a:gd name="connsiteY27" fmla="*/ 532738 h 548640"/>
              <a:gd name="connsiteX28" fmla="*/ 1160926 w 1630673"/>
              <a:gd name="connsiteY28" fmla="*/ 548640 h 548640"/>
              <a:gd name="connsiteX29" fmla="*/ 985997 w 1630673"/>
              <a:gd name="connsiteY29" fmla="*/ 540689 h 548640"/>
              <a:gd name="connsiteX30" fmla="*/ 954192 w 1630673"/>
              <a:gd name="connsiteY30" fmla="*/ 532738 h 548640"/>
              <a:gd name="connsiteX31" fmla="*/ 524821 w 1630673"/>
              <a:gd name="connsiteY31" fmla="*/ 524787 h 548640"/>
              <a:gd name="connsiteX32" fmla="*/ 421455 w 1630673"/>
              <a:gd name="connsiteY32" fmla="*/ 500933 h 548640"/>
              <a:gd name="connsiteX33" fmla="*/ 373747 w 1630673"/>
              <a:gd name="connsiteY33" fmla="*/ 492981 h 548640"/>
              <a:gd name="connsiteX34" fmla="*/ 341941 w 1630673"/>
              <a:gd name="connsiteY34" fmla="*/ 485030 h 548640"/>
              <a:gd name="connsiteX35" fmla="*/ 286282 w 1630673"/>
              <a:gd name="connsiteY35" fmla="*/ 469127 h 548640"/>
              <a:gd name="connsiteX36" fmla="*/ 230623 w 1630673"/>
              <a:gd name="connsiteY36" fmla="*/ 461176 h 548640"/>
              <a:gd name="connsiteX37" fmla="*/ 206769 w 1630673"/>
              <a:gd name="connsiteY37" fmla="*/ 453225 h 548640"/>
              <a:gd name="connsiteX38" fmla="*/ 167013 w 1630673"/>
              <a:gd name="connsiteY38" fmla="*/ 445274 h 548640"/>
              <a:gd name="connsiteX39" fmla="*/ 135208 w 1630673"/>
              <a:gd name="connsiteY39" fmla="*/ 437322 h 548640"/>
              <a:gd name="connsiteX40" fmla="*/ 87500 w 1630673"/>
              <a:gd name="connsiteY40" fmla="*/ 373712 h 54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30673" h="548640">
                <a:moveTo>
                  <a:pt x="87500" y="373712"/>
                </a:moveTo>
                <a:cubicBezTo>
                  <a:pt x="71597" y="357810"/>
                  <a:pt x="53307" y="355422"/>
                  <a:pt x="39792" y="341907"/>
                </a:cubicBezTo>
                <a:cubicBezTo>
                  <a:pt x="26277" y="328392"/>
                  <a:pt x="7987" y="294199"/>
                  <a:pt x="7987" y="294199"/>
                </a:cubicBezTo>
                <a:cubicBezTo>
                  <a:pt x="5336" y="283597"/>
                  <a:pt x="-511" y="273308"/>
                  <a:pt x="35" y="262394"/>
                </a:cubicBezTo>
                <a:cubicBezTo>
                  <a:pt x="2169" y="219710"/>
                  <a:pt x="3069" y="175926"/>
                  <a:pt x="15938" y="135173"/>
                </a:cubicBezTo>
                <a:cubicBezTo>
                  <a:pt x="22118" y="115604"/>
                  <a:pt x="63227" y="105593"/>
                  <a:pt x="79548" y="103367"/>
                </a:cubicBezTo>
                <a:cubicBezTo>
                  <a:pt x="127109" y="96881"/>
                  <a:pt x="174735" y="89944"/>
                  <a:pt x="222672" y="87465"/>
                </a:cubicBezTo>
                <a:cubicBezTo>
                  <a:pt x="328581" y="81987"/>
                  <a:pt x="434707" y="82164"/>
                  <a:pt x="540724" y="79514"/>
                </a:cubicBezTo>
                <a:lnTo>
                  <a:pt x="604335" y="71562"/>
                </a:lnTo>
                <a:cubicBezTo>
                  <a:pt x="622912" y="69085"/>
                  <a:pt x="641330" y="65308"/>
                  <a:pt x="659994" y="63611"/>
                </a:cubicBezTo>
                <a:cubicBezTo>
                  <a:pt x="699675" y="60004"/>
                  <a:pt x="739507" y="58310"/>
                  <a:pt x="779263" y="55660"/>
                </a:cubicBezTo>
                <a:cubicBezTo>
                  <a:pt x="805767" y="50359"/>
                  <a:pt x="833134" y="48304"/>
                  <a:pt x="858776" y="39757"/>
                </a:cubicBezTo>
                <a:cubicBezTo>
                  <a:pt x="971972" y="2026"/>
                  <a:pt x="921003" y="12694"/>
                  <a:pt x="1009851" y="0"/>
                </a:cubicBezTo>
                <a:cubicBezTo>
                  <a:pt x="1113218" y="2651"/>
                  <a:pt x="1216737" y="1759"/>
                  <a:pt x="1319952" y="7952"/>
                </a:cubicBezTo>
                <a:cubicBezTo>
                  <a:pt x="1349531" y="9727"/>
                  <a:pt x="1378032" y="20021"/>
                  <a:pt x="1407416" y="23854"/>
                </a:cubicBezTo>
                <a:cubicBezTo>
                  <a:pt x="1439064" y="27982"/>
                  <a:pt x="1471027" y="29155"/>
                  <a:pt x="1502832" y="31806"/>
                </a:cubicBezTo>
                <a:cubicBezTo>
                  <a:pt x="1513434" y="34456"/>
                  <a:pt x="1524863" y="34870"/>
                  <a:pt x="1534637" y="39757"/>
                </a:cubicBezTo>
                <a:cubicBezTo>
                  <a:pt x="1569958" y="57417"/>
                  <a:pt x="1576073" y="78057"/>
                  <a:pt x="1598248" y="111319"/>
                </a:cubicBezTo>
                <a:cubicBezTo>
                  <a:pt x="1603549" y="137823"/>
                  <a:pt x="1607595" y="164610"/>
                  <a:pt x="1614150" y="190832"/>
                </a:cubicBezTo>
                <a:cubicBezTo>
                  <a:pt x="1618216" y="207094"/>
                  <a:pt x="1629256" y="221796"/>
                  <a:pt x="1630053" y="238540"/>
                </a:cubicBezTo>
                <a:cubicBezTo>
                  <a:pt x="1631948" y="278340"/>
                  <a:pt x="1629556" y="318668"/>
                  <a:pt x="1622101" y="357809"/>
                </a:cubicBezTo>
                <a:cubicBezTo>
                  <a:pt x="1618558" y="376412"/>
                  <a:pt x="1594795" y="417714"/>
                  <a:pt x="1574394" y="429371"/>
                </a:cubicBezTo>
                <a:cubicBezTo>
                  <a:pt x="1564906" y="434793"/>
                  <a:pt x="1553131" y="434447"/>
                  <a:pt x="1542588" y="437322"/>
                </a:cubicBezTo>
                <a:cubicBezTo>
                  <a:pt x="1523972" y="442399"/>
                  <a:pt x="1505482" y="447924"/>
                  <a:pt x="1486929" y="453225"/>
                </a:cubicBezTo>
                <a:cubicBezTo>
                  <a:pt x="1434653" y="488074"/>
                  <a:pt x="1490952" y="453565"/>
                  <a:pt x="1439221" y="477079"/>
                </a:cubicBezTo>
                <a:cubicBezTo>
                  <a:pt x="1417640" y="486889"/>
                  <a:pt x="1398857" y="504235"/>
                  <a:pt x="1375611" y="508884"/>
                </a:cubicBezTo>
                <a:lnTo>
                  <a:pt x="1296098" y="524787"/>
                </a:lnTo>
                <a:cubicBezTo>
                  <a:pt x="1285413" y="527077"/>
                  <a:pt x="1275009" y="530595"/>
                  <a:pt x="1264293" y="532738"/>
                </a:cubicBezTo>
                <a:cubicBezTo>
                  <a:pt x="1236713" y="538254"/>
                  <a:pt x="1187657" y="544821"/>
                  <a:pt x="1160926" y="548640"/>
                </a:cubicBezTo>
                <a:cubicBezTo>
                  <a:pt x="1102616" y="545990"/>
                  <a:pt x="1044195" y="545166"/>
                  <a:pt x="985997" y="540689"/>
                </a:cubicBezTo>
                <a:cubicBezTo>
                  <a:pt x="975101" y="539851"/>
                  <a:pt x="965113" y="533115"/>
                  <a:pt x="954192" y="532738"/>
                </a:cubicBezTo>
                <a:cubicBezTo>
                  <a:pt x="811129" y="527805"/>
                  <a:pt x="667945" y="527437"/>
                  <a:pt x="524821" y="524787"/>
                </a:cubicBezTo>
                <a:cubicBezTo>
                  <a:pt x="490366" y="516836"/>
                  <a:pt x="456057" y="508218"/>
                  <a:pt x="421455" y="500933"/>
                </a:cubicBezTo>
                <a:cubicBezTo>
                  <a:pt x="405679" y="497612"/>
                  <a:pt x="389556" y="496143"/>
                  <a:pt x="373747" y="492981"/>
                </a:cubicBezTo>
                <a:cubicBezTo>
                  <a:pt x="363031" y="490838"/>
                  <a:pt x="352449" y="488032"/>
                  <a:pt x="341941" y="485030"/>
                </a:cubicBezTo>
                <a:cubicBezTo>
                  <a:pt x="312137" y="476515"/>
                  <a:pt x="320460" y="475341"/>
                  <a:pt x="286282" y="469127"/>
                </a:cubicBezTo>
                <a:cubicBezTo>
                  <a:pt x="267843" y="465774"/>
                  <a:pt x="249176" y="463826"/>
                  <a:pt x="230623" y="461176"/>
                </a:cubicBezTo>
                <a:cubicBezTo>
                  <a:pt x="222672" y="458526"/>
                  <a:pt x="214900" y="455258"/>
                  <a:pt x="206769" y="453225"/>
                </a:cubicBezTo>
                <a:cubicBezTo>
                  <a:pt x="193658" y="449947"/>
                  <a:pt x="180206" y="448206"/>
                  <a:pt x="167013" y="445274"/>
                </a:cubicBezTo>
                <a:cubicBezTo>
                  <a:pt x="156345" y="442903"/>
                  <a:pt x="145810" y="439973"/>
                  <a:pt x="135208" y="437322"/>
                </a:cubicBezTo>
                <a:cubicBezTo>
                  <a:pt x="100115" y="384683"/>
                  <a:pt x="103403" y="389614"/>
                  <a:pt x="87500" y="373712"/>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Freeform: Shape 21">
            <a:extLst>
              <a:ext uri="{FF2B5EF4-FFF2-40B4-BE49-F238E27FC236}">
                <a16:creationId xmlns:a16="http://schemas.microsoft.com/office/drawing/2014/main" xmlns="" id="{EAD92BC7-6FB2-4F42-9F10-A5FD5E3F43D3}"/>
              </a:ext>
            </a:extLst>
          </p:cNvPr>
          <p:cNvSpPr/>
          <p:nvPr/>
        </p:nvSpPr>
        <p:spPr>
          <a:xfrm>
            <a:off x="4876800" y="3566530"/>
            <a:ext cx="1539628" cy="954616"/>
          </a:xfrm>
          <a:custGeom>
            <a:avLst/>
            <a:gdLst>
              <a:gd name="connsiteX0" fmla="*/ 87500 w 1630673"/>
              <a:gd name="connsiteY0" fmla="*/ 373712 h 548640"/>
              <a:gd name="connsiteX1" fmla="*/ 39792 w 1630673"/>
              <a:gd name="connsiteY1" fmla="*/ 341907 h 548640"/>
              <a:gd name="connsiteX2" fmla="*/ 7987 w 1630673"/>
              <a:gd name="connsiteY2" fmla="*/ 294199 h 548640"/>
              <a:gd name="connsiteX3" fmla="*/ 35 w 1630673"/>
              <a:gd name="connsiteY3" fmla="*/ 262394 h 548640"/>
              <a:gd name="connsiteX4" fmla="*/ 15938 w 1630673"/>
              <a:gd name="connsiteY4" fmla="*/ 135173 h 548640"/>
              <a:gd name="connsiteX5" fmla="*/ 79548 w 1630673"/>
              <a:gd name="connsiteY5" fmla="*/ 103367 h 548640"/>
              <a:gd name="connsiteX6" fmla="*/ 222672 w 1630673"/>
              <a:gd name="connsiteY6" fmla="*/ 87465 h 548640"/>
              <a:gd name="connsiteX7" fmla="*/ 540724 w 1630673"/>
              <a:gd name="connsiteY7" fmla="*/ 79514 h 548640"/>
              <a:gd name="connsiteX8" fmla="*/ 604335 w 1630673"/>
              <a:gd name="connsiteY8" fmla="*/ 71562 h 548640"/>
              <a:gd name="connsiteX9" fmla="*/ 659994 w 1630673"/>
              <a:gd name="connsiteY9" fmla="*/ 63611 h 548640"/>
              <a:gd name="connsiteX10" fmla="*/ 779263 w 1630673"/>
              <a:gd name="connsiteY10" fmla="*/ 55660 h 548640"/>
              <a:gd name="connsiteX11" fmla="*/ 858776 w 1630673"/>
              <a:gd name="connsiteY11" fmla="*/ 39757 h 548640"/>
              <a:gd name="connsiteX12" fmla="*/ 1009851 w 1630673"/>
              <a:gd name="connsiteY12" fmla="*/ 0 h 548640"/>
              <a:gd name="connsiteX13" fmla="*/ 1319952 w 1630673"/>
              <a:gd name="connsiteY13" fmla="*/ 7952 h 548640"/>
              <a:gd name="connsiteX14" fmla="*/ 1407416 w 1630673"/>
              <a:gd name="connsiteY14" fmla="*/ 23854 h 548640"/>
              <a:gd name="connsiteX15" fmla="*/ 1502832 w 1630673"/>
              <a:gd name="connsiteY15" fmla="*/ 31806 h 548640"/>
              <a:gd name="connsiteX16" fmla="*/ 1534637 w 1630673"/>
              <a:gd name="connsiteY16" fmla="*/ 39757 h 548640"/>
              <a:gd name="connsiteX17" fmla="*/ 1598248 w 1630673"/>
              <a:gd name="connsiteY17" fmla="*/ 111319 h 548640"/>
              <a:gd name="connsiteX18" fmla="*/ 1614150 w 1630673"/>
              <a:gd name="connsiteY18" fmla="*/ 190832 h 548640"/>
              <a:gd name="connsiteX19" fmla="*/ 1630053 w 1630673"/>
              <a:gd name="connsiteY19" fmla="*/ 238540 h 548640"/>
              <a:gd name="connsiteX20" fmla="*/ 1622101 w 1630673"/>
              <a:gd name="connsiteY20" fmla="*/ 357809 h 548640"/>
              <a:gd name="connsiteX21" fmla="*/ 1574394 w 1630673"/>
              <a:gd name="connsiteY21" fmla="*/ 429371 h 548640"/>
              <a:gd name="connsiteX22" fmla="*/ 1542588 w 1630673"/>
              <a:gd name="connsiteY22" fmla="*/ 437322 h 548640"/>
              <a:gd name="connsiteX23" fmla="*/ 1486929 w 1630673"/>
              <a:gd name="connsiteY23" fmla="*/ 453225 h 548640"/>
              <a:gd name="connsiteX24" fmla="*/ 1439221 w 1630673"/>
              <a:gd name="connsiteY24" fmla="*/ 477079 h 548640"/>
              <a:gd name="connsiteX25" fmla="*/ 1375611 w 1630673"/>
              <a:gd name="connsiteY25" fmla="*/ 508884 h 548640"/>
              <a:gd name="connsiteX26" fmla="*/ 1296098 w 1630673"/>
              <a:gd name="connsiteY26" fmla="*/ 524787 h 548640"/>
              <a:gd name="connsiteX27" fmla="*/ 1264293 w 1630673"/>
              <a:gd name="connsiteY27" fmla="*/ 532738 h 548640"/>
              <a:gd name="connsiteX28" fmla="*/ 1160926 w 1630673"/>
              <a:gd name="connsiteY28" fmla="*/ 548640 h 548640"/>
              <a:gd name="connsiteX29" fmla="*/ 985997 w 1630673"/>
              <a:gd name="connsiteY29" fmla="*/ 540689 h 548640"/>
              <a:gd name="connsiteX30" fmla="*/ 954192 w 1630673"/>
              <a:gd name="connsiteY30" fmla="*/ 532738 h 548640"/>
              <a:gd name="connsiteX31" fmla="*/ 524821 w 1630673"/>
              <a:gd name="connsiteY31" fmla="*/ 524787 h 548640"/>
              <a:gd name="connsiteX32" fmla="*/ 421455 w 1630673"/>
              <a:gd name="connsiteY32" fmla="*/ 500933 h 548640"/>
              <a:gd name="connsiteX33" fmla="*/ 373747 w 1630673"/>
              <a:gd name="connsiteY33" fmla="*/ 492981 h 548640"/>
              <a:gd name="connsiteX34" fmla="*/ 341941 w 1630673"/>
              <a:gd name="connsiteY34" fmla="*/ 485030 h 548640"/>
              <a:gd name="connsiteX35" fmla="*/ 286282 w 1630673"/>
              <a:gd name="connsiteY35" fmla="*/ 469127 h 548640"/>
              <a:gd name="connsiteX36" fmla="*/ 230623 w 1630673"/>
              <a:gd name="connsiteY36" fmla="*/ 461176 h 548640"/>
              <a:gd name="connsiteX37" fmla="*/ 206769 w 1630673"/>
              <a:gd name="connsiteY37" fmla="*/ 453225 h 548640"/>
              <a:gd name="connsiteX38" fmla="*/ 167013 w 1630673"/>
              <a:gd name="connsiteY38" fmla="*/ 445274 h 548640"/>
              <a:gd name="connsiteX39" fmla="*/ 135208 w 1630673"/>
              <a:gd name="connsiteY39" fmla="*/ 437322 h 548640"/>
              <a:gd name="connsiteX40" fmla="*/ 87500 w 1630673"/>
              <a:gd name="connsiteY40" fmla="*/ 373712 h 54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30673" h="548640">
                <a:moveTo>
                  <a:pt x="87500" y="373712"/>
                </a:moveTo>
                <a:cubicBezTo>
                  <a:pt x="71597" y="357810"/>
                  <a:pt x="53307" y="355422"/>
                  <a:pt x="39792" y="341907"/>
                </a:cubicBezTo>
                <a:cubicBezTo>
                  <a:pt x="26277" y="328392"/>
                  <a:pt x="7987" y="294199"/>
                  <a:pt x="7987" y="294199"/>
                </a:cubicBezTo>
                <a:cubicBezTo>
                  <a:pt x="5336" y="283597"/>
                  <a:pt x="-511" y="273308"/>
                  <a:pt x="35" y="262394"/>
                </a:cubicBezTo>
                <a:cubicBezTo>
                  <a:pt x="2169" y="219710"/>
                  <a:pt x="3069" y="175926"/>
                  <a:pt x="15938" y="135173"/>
                </a:cubicBezTo>
                <a:cubicBezTo>
                  <a:pt x="22118" y="115604"/>
                  <a:pt x="63227" y="105593"/>
                  <a:pt x="79548" y="103367"/>
                </a:cubicBezTo>
                <a:cubicBezTo>
                  <a:pt x="127109" y="96881"/>
                  <a:pt x="174735" y="89944"/>
                  <a:pt x="222672" y="87465"/>
                </a:cubicBezTo>
                <a:cubicBezTo>
                  <a:pt x="328581" y="81987"/>
                  <a:pt x="434707" y="82164"/>
                  <a:pt x="540724" y="79514"/>
                </a:cubicBezTo>
                <a:lnTo>
                  <a:pt x="604335" y="71562"/>
                </a:lnTo>
                <a:cubicBezTo>
                  <a:pt x="622912" y="69085"/>
                  <a:pt x="641330" y="65308"/>
                  <a:pt x="659994" y="63611"/>
                </a:cubicBezTo>
                <a:cubicBezTo>
                  <a:pt x="699675" y="60004"/>
                  <a:pt x="739507" y="58310"/>
                  <a:pt x="779263" y="55660"/>
                </a:cubicBezTo>
                <a:cubicBezTo>
                  <a:pt x="805767" y="50359"/>
                  <a:pt x="833134" y="48304"/>
                  <a:pt x="858776" y="39757"/>
                </a:cubicBezTo>
                <a:cubicBezTo>
                  <a:pt x="971972" y="2026"/>
                  <a:pt x="921003" y="12694"/>
                  <a:pt x="1009851" y="0"/>
                </a:cubicBezTo>
                <a:cubicBezTo>
                  <a:pt x="1113218" y="2651"/>
                  <a:pt x="1216737" y="1759"/>
                  <a:pt x="1319952" y="7952"/>
                </a:cubicBezTo>
                <a:cubicBezTo>
                  <a:pt x="1349531" y="9727"/>
                  <a:pt x="1378032" y="20021"/>
                  <a:pt x="1407416" y="23854"/>
                </a:cubicBezTo>
                <a:cubicBezTo>
                  <a:pt x="1439064" y="27982"/>
                  <a:pt x="1471027" y="29155"/>
                  <a:pt x="1502832" y="31806"/>
                </a:cubicBezTo>
                <a:cubicBezTo>
                  <a:pt x="1513434" y="34456"/>
                  <a:pt x="1524863" y="34870"/>
                  <a:pt x="1534637" y="39757"/>
                </a:cubicBezTo>
                <a:cubicBezTo>
                  <a:pt x="1569958" y="57417"/>
                  <a:pt x="1576073" y="78057"/>
                  <a:pt x="1598248" y="111319"/>
                </a:cubicBezTo>
                <a:cubicBezTo>
                  <a:pt x="1603549" y="137823"/>
                  <a:pt x="1607595" y="164610"/>
                  <a:pt x="1614150" y="190832"/>
                </a:cubicBezTo>
                <a:cubicBezTo>
                  <a:pt x="1618216" y="207094"/>
                  <a:pt x="1629256" y="221796"/>
                  <a:pt x="1630053" y="238540"/>
                </a:cubicBezTo>
                <a:cubicBezTo>
                  <a:pt x="1631948" y="278340"/>
                  <a:pt x="1629556" y="318668"/>
                  <a:pt x="1622101" y="357809"/>
                </a:cubicBezTo>
                <a:cubicBezTo>
                  <a:pt x="1618558" y="376412"/>
                  <a:pt x="1594795" y="417714"/>
                  <a:pt x="1574394" y="429371"/>
                </a:cubicBezTo>
                <a:cubicBezTo>
                  <a:pt x="1564906" y="434793"/>
                  <a:pt x="1553131" y="434447"/>
                  <a:pt x="1542588" y="437322"/>
                </a:cubicBezTo>
                <a:cubicBezTo>
                  <a:pt x="1523972" y="442399"/>
                  <a:pt x="1505482" y="447924"/>
                  <a:pt x="1486929" y="453225"/>
                </a:cubicBezTo>
                <a:cubicBezTo>
                  <a:pt x="1434653" y="488074"/>
                  <a:pt x="1490952" y="453565"/>
                  <a:pt x="1439221" y="477079"/>
                </a:cubicBezTo>
                <a:cubicBezTo>
                  <a:pt x="1417640" y="486889"/>
                  <a:pt x="1398857" y="504235"/>
                  <a:pt x="1375611" y="508884"/>
                </a:cubicBezTo>
                <a:lnTo>
                  <a:pt x="1296098" y="524787"/>
                </a:lnTo>
                <a:cubicBezTo>
                  <a:pt x="1285413" y="527077"/>
                  <a:pt x="1275009" y="530595"/>
                  <a:pt x="1264293" y="532738"/>
                </a:cubicBezTo>
                <a:cubicBezTo>
                  <a:pt x="1236713" y="538254"/>
                  <a:pt x="1187657" y="544821"/>
                  <a:pt x="1160926" y="548640"/>
                </a:cubicBezTo>
                <a:cubicBezTo>
                  <a:pt x="1102616" y="545990"/>
                  <a:pt x="1044195" y="545166"/>
                  <a:pt x="985997" y="540689"/>
                </a:cubicBezTo>
                <a:cubicBezTo>
                  <a:pt x="975101" y="539851"/>
                  <a:pt x="965113" y="533115"/>
                  <a:pt x="954192" y="532738"/>
                </a:cubicBezTo>
                <a:cubicBezTo>
                  <a:pt x="811129" y="527805"/>
                  <a:pt x="667945" y="527437"/>
                  <a:pt x="524821" y="524787"/>
                </a:cubicBezTo>
                <a:cubicBezTo>
                  <a:pt x="490366" y="516836"/>
                  <a:pt x="456057" y="508218"/>
                  <a:pt x="421455" y="500933"/>
                </a:cubicBezTo>
                <a:cubicBezTo>
                  <a:pt x="405679" y="497612"/>
                  <a:pt x="389556" y="496143"/>
                  <a:pt x="373747" y="492981"/>
                </a:cubicBezTo>
                <a:cubicBezTo>
                  <a:pt x="363031" y="490838"/>
                  <a:pt x="352449" y="488032"/>
                  <a:pt x="341941" y="485030"/>
                </a:cubicBezTo>
                <a:cubicBezTo>
                  <a:pt x="312137" y="476515"/>
                  <a:pt x="320460" y="475341"/>
                  <a:pt x="286282" y="469127"/>
                </a:cubicBezTo>
                <a:cubicBezTo>
                  <a:pt x="267843" y="465774"/>
                  <a:pt x="249176" y="463826"/>
                  <a:pt x="230623" y="461176"/>
                </a:cubicBezTo>
                <a:cubicBezTo>
                  <a:pt x="222672" y="458526"/>
                  <a:pt x="214900" y="455258"/>
                  <a:pt x="206769" y="453225"/>
                </a:cubicBezTo>
                <a:cubicBezTo>
                  <a:pt x="193658" y="449947"/>
                  <a:pt x="180206" y="448206"/>
                  <a:pt x="167013" y="445274"/>
                </a:cubicBezTo>
                <a:cubicBezTo>
                  <a:pt x="156345" y="442903"/>
                  <a:pt x="145810" y="439973"/>
                  <a:pt x="135208" y="437322"/>
                </a:cubicBezTo>
                <a:cubicBezTo>
                  <a:pt x="100115" y="384683"/>
                  <a:pt x="103403" y="389614"/>
                  <a:pt x="87500" y="373712"/>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a:extLst>
              <a:ext uri="{FF2B5EF4-FFF2-40B4-BE49-F238E27FC236}">
                <a16:creationId xmlns:a16="http://schemas.microsoft.com/office/drawing/2014/main" xmlns="" id="{ACB00763-E832-4E5D-B618-6AE393C06650}"/>
              </a:ext>
            </a:extLst>
          </p:cNvPr>
          <p:cNvPicPr>
            <a:picLocks noChangeAspect="1"/>
          </p:cNvPicPr>
          <p:nvPr/>
        </p:nvPicPr>
        <p:blipFill>
          <a:blip r:embed="rId5"/>
          <a:stretch>
            <a:fillRect/>
          </a:stretch>
        </p:blipFill>
        <p:spPr>
          <a:xfrm>
            <a:off x="76200" y="2682460"/>
            <a:ext cx="4131342" cy="1508540"/>
          </a:xfrm>
          <a:prstGeom prst="rect">
            <a:avLst/>
          </a:prstGeom>
        </p:spPr>
      </p:pic>
      <p:sp>
        <p:nvSpPr>
          <p:cNvPr id="23" name="TextBox 22">
            <a:extLst>
              <a:ext uri="{FF2B5EF4-FFF2-40B4-BE49-F238E27FC236}">
                <a16:creationId xmlns:a16="http://schemas.microsoft.com/office/drawing/2014/main" xmlns="" id="{7653E32D-6F34-4AC9-86BE-5B6884FD809D}"/>
              </a:ext>
            </a:extLst>
          </p:cNvPr>
          <p:cNvSpPr txBox="1"/>
          <p:nvPr/>
        </p:nvSpPr>
        <p:spPr>
          <a:xfrm>
            <a:off x="759448" y="5439730"/>
            <a:ext cx="7924800" cy="923330"/>
          </a:xfrm>
          <a:prstGeom prst="rect">
            <a:avLst/>
          </a:prstGeom>
          <a:noFill/>
        </p:spPr>
        <p:txBody>
          <a:bodyPr wrap="square" rtlCol="0">
            <a:spAutoFit/>
          </a:bodyPr>
          <a:lstStyle/>
          <a:p>
            <a:r>
              <a:rPr lang="en-US" dirty="0"/>
              <a:t>Recreate the </a:t>
            </a:r>
            <a:r>
              <a:rPr lang="en-US" b="1" dirty="0"/>
              <a:t>Cluster, let us assign 3 to Cluster B</a:t>
            </a:r>
          </a:p>
          <a:p>
            <a:r>
              <a:rPr lang="en-US" b="1" dirty="0"/>
              <a:t>Row 1,2 to Cluster A</a:t>
            </a:r>
          </a:p>
          <a:p>
            <a:r>
              <a:rPr lang="en-US" b="1" dirty="0"/>
              <a:t>Row </a:t>
            </a:r>
            <a:r>
              <a:rPr lang="en-US" b="1" dirty="0">
                <a:solidFill>
                  <a:srgbClr val="FF0000"/>
                </a:solidFill>
              </a:rPr>
              <a:t>3</a:t>
            </a:r>
            <a:r>
              <a:rPr lang="en-US" b="1" dirty="0"/>
              <a:t>,4,5 to Cluster B</a:t>
            </a:r>
            <a:endParaRPr lang="en-IN" b="1" dirty="0"/>
          </a:p>
        </p:txBody>
      </p:sp>
    </p:spTree>
    <p:extLst>
      <p:ext uri="{BB962C8B-B14F-4D97-AF65-F5344CB8AC3E}">
        <p14:creationId xmlns:p14="http://schemas.microsoft.com/office/powerpoint/2010/main" val="5920345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5. Re Compute the Centroid</a:t>
            </a:r>
          </a:p>
        </p:txBody>
      </p:sp>
      <p:sp>
        <p:nvSpPr>
          <p:cNvPr id="4" name="Rectangle 3">
            <a:extLst>
              <a:ext uri="{FF2B5EF4-FFF2-40B4-BE49-F238E27FC236}">
                <a16:creationId xmlns:a16="http://schemas.microsoft.com/office/drawing/2014/main" xmlns="" id="{3A427C80-0E5B-4486-BF2D-9AAEE0DD8573}"/>
              </a:ext>
            </a:extLst>
          </p:cNvPr>
          <p:cNvSpPr/>
          <p:nvPr/>
        </p:nvSpPr>
        <p:spPr>
          <a:xfrm>
            <a:off x="5791200" y="3810000"/>
            <a:ext cx="304800" cy="190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xmlns="" id="{DF16F39B-2B84-4206-9E2F-8A76771A9401}"/>
              </a:ext>
            </a:extLst>
          </p:cNvPr>
          <p:cNvSpPr/>
          <p:nvPr/>
        </p:nvSpPr>
        <p:spPr>
          <a:xfrm>
            <a:off x="7391400" y="2971800"/>
            <a:ext cx="304800" cy="114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7" name="Chart 6">
            <a:extLst>
              <a:ext uri="{FF2B5EF4-FFF2-40B4-BE49-F238E27FC236}">
                <a16:creationId xmlns:a16="http://schemas.microsoft.com/office/drawing/2014/main" xmlns="" id="{D603CB13-E743-4CE3-A806-CEC531152898}"/>
              </a:ext>
            </a:extLst>
          </p:cNvPr>
          <p:cNvGraphicFramePr>
            <a:graphicFrameLocks/>
          </p:cNvGraphicFramePr>
          <p:nvPr/>
        </p:nvGraphicFramePr>
        <p:xfrm>
          <a:off x="4114800" y="2245581"/>
          <a:ext cx="45720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xmlns="" id="{3D6B1717-2F8C-453F-8EE5-AC2829BB137B}"/>
              </a:ext>
            </a:extLst>
          </p:cNvPr>
          <p:cNvSpPr txBox="1"/>
          <p:nvPr/>
        </p:nvSpPr>
        <p:spPr>
          <a:xfrm>
            <a:off x="762000" y="1524000"/>
            <a:ext cx="7924800" cy="369332"/>
          </a:xfrm>
          <a:prstGeom prst="rect">
            <a:avLst/>
          </a:prstGeom>
          <a:noFill/>
        </p:spPr>
        <p:txBody>
          <a:bodyPr wrap="square" rtlCol="0">
            <a:spAutoFit/>
          </a:bodyPr>
          <a:lstStyle/>
          <a:p>
            <a:r>
              <a:rPr lang="en-US" dirty="0"/>
              <a:t>Recompute the centroid of the clusters with the modified data points</a:t>
            </a:r>
          </a:p>
        </p:txBody>
      </p:sp>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xmlns="" id="{B7C3641D-D69A-4137-A6ED-34FFBFC98D97}"/>
                  </a:ext>
                </a:extLst>
              </p14:cNvPr>
              <p14:cNvContentPartPr/>
              <p14:nvPr/>
            </p14:nvContentPartPr>
            <p14:xfrm>
              <a:off x="8937078" y="5008696"/>
              <a:ext cx="360" cy="360"/>
            </p14:xfrm>
          </p:contentPart>
        </mc:Choice>
        <mc:Fallback xmlns="">
          <p:pic>
            <p:nvPicPr>
              <p:cNvPr id="12" name="Ink 11">
                <a:extLst>
                  <a:ext uri="{FF2B5EF4-FFF2-40B4-BE49-F238E27FC236}">
                    <a16:creationId xmlns:a16="http://schemas.microsoft.com/office/drawing/2014/main" id="{B7C3641D-D69A-4137-A6ED-34FFBFC98D97}"/>
                  </a:ext>
                </a:extLst>
              </p:cNvPr>
              <p:cNvPicPr/>
              <p:nvPr/>
            </p:nvPicPr>
            <p:blipFill>
              <a:blip r:embed="rId4"/>
              <a:stretch>
                <a:fillRect/>
              </a:stretch>
            </p:blipFill>
            <p:spPr>
              <a:xfrm>
                <a:off x="8928438" y="5000056"/>
                <a:ext cx="18000" cy="18000"/>
              </a:xfrm>
              <a:prstGeom prst="rect">
                <a:avLst/>
              </a:prstGeom>
            </p:spPr>
          </p:pic>
        </mc:Fallback>
      </mc:AlternateContent>
      <p:sp>
        <p:nvSpPr>
          <p:cNvPr id="18" name="TextBox 17">
            <a:extLst>
              <a:ext uri="{FF2B5EF4-FFF2-40B4-BE49-F238E27FC236}">
                <a16:creationId xmlns:a16="http://schemas.microsoft.com/office/drawing/2014/main" xmlns="" id="{BF6781E4-464E-422A-B544-0159217FCAED}"/>
              </a:ext>
            </a:extLst>
          </p:cNvPr>
          <p:cNvSpPr txBox="1"/>
          <p:nvPr/>
        </p:nvSpPr>
        <p:spPr>
          <a:xfrm>
            <a:off x="6377114" y="3938726"/>
            <a:ext cx="317716" cy="369332"/>
          </a:xfrm>
          <a:prstGeom prst="rect">
            <a:avLst/>
          </a:prstGeom>
          <a:noFill/>
        </p:spPr>
        <p:txBody>
          <a:bodyPr wrap="none" rtlCol="0">
            <a:spAutoFit/>
          </a:bodyPr>
          <a:lstStyle/>
          <a:p>
            <a:r>
              <a:rPr lang="en-IN" dirty="0"/>
              <a:t>A</a:t>
            </a:r>
          </a:p>
        </p:txBody>
      </p:sp>
      <p:sp>
        <p:nvSpPr>
          <p:cNvPr id="19" name="TextBox 18">
            <a:extLst>
              <a:ext uri="{FF2B5EF4-FFF2-40B4-BE49-F238E27FC236}">
                <a16:creationId xmlns:a16="http://schemas.microsoft.com/office/drawing/2014/main" xmlns="" id="{36AD3D2B-22A1-46F4-A0E9-246C4CD7BCA6}"/>
              </a:ext>
            </a:extLst>
          </p:cNvPr>
          <p:cNvSpPr txBox="1"/>
          <p:nvPr/>
        </p:nvSpPr>
        <p:spPr>
          <a:xfrm>
            <a:off x="7973251" y="2971800"/>
            <a:ext cx="309700" cy="369332"/>
          </a:xfrm>
          <a:prstGeom prst="rect">
            <a:avLst/>
          </a:prstGeom>
          <a:noFill/>
        </p:spPr>
        <p:txBody>
          <a:bodyPr wrap="none" rtlCol="0">
            <a:spAutoFit/>
          </a:bodyPr>
          <a:lstStyle/>
          <a:p>
            <a:r>
              <a:rPr lang="en-IN" dirty="0"/>
              <a:t>B</a:t>
            </a:r>
          </a:p>
        </p:txBody>
      </p:sp>
      <p:sp>
        <p:nvSpPr>
          <p:cNvPr id="14" name="TextBox 13">
            <a:extLst>
              <a:ext uri="{FF2B5EF4-FFF2-40B4-BE49-F238E27FC236}">
                <a16:creationId xmlns:a16="http://schemas.microsoft.com/office/drawing/2014/main" xmlns="" id="{0C3CB657-AF3A-4071-9746-677C3E0CAA52}"/>
              </a:ext>
            </a:extLst>
          </p:cNvPr>
          <p:cNvSpPr txBox="1"/>
          <p:nvPr/>
        </p:nvSpPr>
        <p:spPr>
          <a:xfrm>
            <a:off x="5848422" y="3631168"/>
            <a:ext cx="407484" cy="369332"/>
          </a:xfrm>
          <a:prstGeom prst="rect">
            <a:avLst/>
          </a:prstGeom>
          <a:noFill/>
        </p:spPr>
        <p:txBody>
          <a:bodyPr wrap="none" rtlCol="0">
            <a:spAutoFit/>
          </a:bodyPr>
          <a:lstStyle/>
          <a:p>
            <a:r>
              <a:rPr lang="en-IN" dirty="0"/>
              <a:t>*?</a:t>
            </a:r>
          </a:p>
        </p:txBody>
      </p:sp>
      <p:sp>
        <p:nvSpPr>
          <p:cNvPr id="16" name="TextBox 15">
            <a:extLst>
              <a:ext uri="{FF2B5EF4-FFF2-40B4-BE49-F238E27FC236}">
                <a16:creationId xmlns:a16="http://schemas.microsoft.com/office/drawing/2014/main" xmlns="" id="{DE3B9795-7838-4488-9C58-D740D9E8E5F8}"/>
              </a:ext>
            </a:extLst>
          </p:cNvPr>
          <p:cNvSpPr txBox="1"/>
          <p:nvPr/>
        </p:nvSpPr>
        <p:spPr>
          <a:xfrm>
            <a:off x="7530698" y="2790116"/>
            <a:ext cx="407484" cy="369332"/>
          </a:xfrm>
          <a:prstGeom prst="rect">
            <a:avLst/>
          </a:prstGeom>
          <a:noFill/>
        </p:spPr>
        <p:txBody>
          <a:bodyPr wrap="none" rtlCol="0">
            <a:spAutoFit/>
          </a:bodyPr>
          <a:lstStyle/>
          <a:p>
            <a:r>
              <a:rPr lang="en-IN" dirty="0"/>
              <a:t>*?</a:t>
            </a:r>
          </a:p>
        </p:txBody>
      </p:sp>
      <p:sp>
        <p:nvSpPr>
          <p:cNvPr id="21" name="Freeform: Shape 20">
            <a:extLst>
              <a:ext uri="{FF2B5EF4-FFF2-40B4-BE49-F238E27FC236}">
                <a16:creationId xmlns:a16="http://schemas.microsoft.com/office/drawing/2014/main" xmlns="" id="{31A6D215-FBEB-4F46-95FB-D32DF1225E37}"/>
              </a:ext>
            </a:extLst>
          </p:cNvPr>
          <p:cNvSpPr/>
          <p:nvPr/>
        </p:nvSpPr>
        <p:spPr>
          <a:xfrm>
            <a:off x="6313128" y="2703442"/>
            <a:ext cx="2251047" cy="1030357"/>
          </a:xfrm>
          <a:custGeom>
            <a:avLst/>
            <a:gdLst>
              <a:gd name="connsiteX0" fmla="*/ 87500 w 1630673"/>
              <a:gd name="connsiteY0" fmla="*/ 373712 h 548640"/>
              <a:gd name="connsiteX1" fmla="*/ 39792 w 1630673"/>
              <a:gd name="connsiteY1" fmla="*/ 341907 h 548640"/>
              <a:gd name="connsiteX2" fmla="*/ 7987 w 1630673"/>
              <a:gd name="connsiteY2" fmla="*/ 294199 h 548640"/>
              <a:gd name="connsiteX3" fmla="*/ 35 w 1630673"/>
              <a:gd name="connsiteY3" fmla="*/ 262394 h 548640"/>
              <a:gd name="connsiteX4" fmla="*/ 15938 w 1630673"/>
              <a:gd name="connsiteY4" fmla="*/ 135173 h 548640"/>
              <a:gd name="connsiteX5" fmla="*/ 79548 w 1630673"/>
              <a:gd name="connsiteY5" fmla="*/ 103367 h 548640"/>
              <a:gd name="connsiteX6" fmla="*/ 222672 w 1630673"/>
              <a:gd name="connsiteY6" fmla="*/ 87465 h 548640"/>
              <a:gd name="connsiteX7" fmla="*/ 540724 w 1630673"/>
              <a:gd name="connsiteY7" fmla="*/ 79514 h 548640"/>
              <a:gd name="connsiteX8" fmla="*/ 604335 w 1630673"/>
              <a:gd name="connsiteY8" fmla="*/ 71562 h 548640"/>
              <a:gd name="connsiteX9" fmla="*/ 659994 w 1630673"/>
              <a:gd name="connsiteY9" fmla="*/ 63611 h 548640"/>
              <a:gd name="connsiteX10" fmla="*/ 779263 w 1630673"/>
              <a:gd name="connsiteY10" fmla="*/ 55660 h 548640"/>
              <a:gd name="connsiteX11" fmla="*/ 858776 w 1630673"/>
              <a:gd name="connsiteY11" fmla="*/ 39757 h 548640"/>
              <a:gd name="connsiteX12" fmla="*/ 1009851 w 1630673"/>
              <a:gd name="connsiteY12" fmla="*/ 0 h 548640"/>
              <a:gd name="connsiteX13" fmla="*/ 1319952 w 1630673"/>
              <a:gd name="connsiteY13" fmla="*/ 7952 h 548640"/>
              <a:gd name="connsiteX14" fmla="*/ 1407416 w 1630673"/>
              <a:gd name="connsiteY14" fmla="*/ 23854 h 548640"/>
              <a:gd name="connsiteX15" fmla="*/ 1502832 w 1630673"/>
              <a:gd name="connsiteY15" fmla="*/ 31806 h 548640"/>
              <a:gd name="connsiteX16" fmla="*/ 1534637 w 1630673"/>
              <a:gd name="connsiteY16" fmla="*/ 39757 h 548640"/>
              <a:gd name="connsiteX17" fmla="*/ 1598248 w 1630673"/>
              <a:gd name="connsiteY17" fmla="*/ 111319 h 548640"/>
              <a:gd name="connsiteX18" fmla="*/ 1614150 w 1630673"/>
              <a:gd name="connsiteY18" fmla="*/ 190832 h 548640"/>
              <a:gd name="connsiteX19" fmla="*/ 1630053 w 1630673"/>
              <a:gd name="connsiteY19" fmla="*/ 238540 h 548640"/>
              <a:gd name="connsiteX20" fmla="*/ 1622101 w 1630673"/>
              <a:gd name="connsiteY20" fmla="*/ 357809 h 548640"/>
              <a:gd name="connsiteX21" fmla="*/ 1574394 w 1630673"/>
              <a:gd name="connsiteY21" fmla="*/ 429371 h 548640"/>
              <a:gd name="connsiteX22" fmla="*/ 1542588 w 1630673"/>
              <a:gd name="connsiteY22" fmla="*/ 437322 h 548640"/>
              <a:gd name="connsiteX23" fmla="*/ 1486929 w 1630673"/>
              <a:gd name="connsiteY23" fmla="*/ 453225 h 548640"/>
              <a:gd name="connsiteX24" fmla="*/ 1439221 w 1630673"/>
              <a:gd name="connsiteY24" fmla="*/ 477079 h 548640"/>
              <a:gd name="connsiteX25" fmla="*/ 1375611 w 1630673"/>
              <a:gd name="connsiteY25" fmla="*/ 508884 h 548640"/>
              <a:gd name="connsiteX26" fmla="*/ 1296098 w 1630673"/>
              <a:gd name="connsiteY26" fmla="*/ 524787 h 548640"/>
              <a:gd name="connsiteX27" fmla="*/ 1264293 w 1630673"/>
              <a:gd name="connsiteY27" fmla="*/ 532738 h 548640"/>
              <a:gd name="connsiteX28" fmla="*/ 1160926 w 1630673"/>
              <a:gd name="connsiteY28" fmla="*/ 548640 h 548640"/>
              <a:gd name="connsiteX29" fmla="*/ 985997 w 1630673"/>
              <a:gd name="connsiteY29" fmla="*/ 540689 h 548640"/>
              <a:gd name="connsiteX30" fmla="*/ 954192 w 1630673"/>
              <a:gd name="connsiteY30" fmla="*/ 532738 h 548640"/>
              <a:gd name="connsiteX31" fmla="*/ 524821 w 1630673"/>
              <a:gd name="connsiteY31" fmla="*/ 524787 h 548640"/>
              <a:gd name="connsiteX32" fmla="*/ 421455 w 1630673"/>
              <a:gd name="connsiteY32" fmla="*/ 500933 h 548640"/>
              <a:gd name="connsiteX33" fmla="*/ 373747 w 1630673"/>
              <a:gd name="connsiteY33" fmla="*/ 492981 h 548640"/>
              <a:gd name="connsiteX34" fmla="*/ 341941 w 1630673"/>
              <a:gd name="connsiteY34" fmla="*/ 485030 h 548640"/>
              <a:gd name="connsiteX35" fmla="*/ 286282 w 1630673"/>
              <a:gd name="connsiteY35" fmla="*/ 469127 h 548640"/>
              <a:gd name="connsiteX36" fmla="*/ 230623 w 1630673"/>
              <a:gd name="connsiteY36" fmla="*/ 461176 h 548640"/>
              <a:gd name="connsiteX37" fmla="*/ 206769 w 1630673"/>
              <a:gd name="connsiteY37" fmla="*/ 453225 h 548640"/>
              <a:gd name="connsiteX38" fmla="*/ 167013 w 1630673"/>
              <a:gd name="connsiteY38" fmla="*/ 445274 h 548640"/>
              <a:gd name="connsiteX39" fmla="*/ 135208 w 1630673"/>
              <a:gd name="connsiteY39" fmla="*/ 437322 h 548640"/>
              <a:gd name="connsiteX40" fmla="*/ 87500 w 1630673"/>
              <a:gd name="connsiteY40" fmla="*/ 373712 h 54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30673" h="548640">
                <a:moveTo>
                  <a:pt x="87500" y="373712"/>
                </a:moveTo>
                <a:cubicBezTo>
                  <a:pt x="71597" y="357810"/>
                  <a:pt x="53307" y="355422"/>
                  <a:pt x="39792" y="341907"/>
                </a:cubicBezTo>
                <a:cubicBezTo>
                  <a:pt x="26277" y="328392"/>
                  <a:pt x="7987" y="294199"/>
                  <a:pt x="7987" y="294199"/>
                </a:cubicBezTo>
                <a:cubicBezTo>
                  <a:pt x="5336" y="283597"/>
                  <a:pt x="-511" y="273308"/>
                  <a:pt x="35" y="262394"/>
                </a:cubicBezTo>
                <a:cubicBezTo>
                  <a:pt x="2169" y="219710"/>
                  <a:pt x="3069" y="175926"/>
                  <a:pt x="15938" y="135173"/>
                </a:cubicBezTo>
                <a:cubicBezTo>
                  <a:pt x="22118" y="115604"/>
                  <a:pt x="63227" y="105593"/>
                  <a:pt x="79548" y="103367"/>
                </a:cubicBezTo>
                <a:cubicBezTo>
                  <a:pt x="127109" y="96881"/>
                  <a:pt x="174735" y="89944"/>
                  <a:pt x="222672" y="87465"/>
                </a:cubicBezTo>
                <a:cubicBezTo>
                  <a:pt x="328581" y="81987"/>
                  <a:pt x="434707" y="82164"/>
                  <a:pt x="540724" y="79514"/>
                </a:cubicBezTo>
                <a:lnTo>
                  <a:pt x="604335" y="71562"/>
                </a:lnTo>
                <a:cubicBezTo>
                  <a:pt x="622912" y="69085"/>
                  <a:pt x="641330" y="65308"/>
                  <a:pt x="659994" y="63611"/>
                </a:cubicBezTo>
                <a:cubicBezTo>
                  <a:pt x="699675" y="60004"/>
                  <a:pt x="739507" y="58310"/>
                  <a:pt x="779263" y="55660"/>
                </a:cubicBezTo>
                <a:cubicBezTo>
                  <a:pt x="805767" y="50359"/>
                  <a:pt x="833134" y="48304"/>
                  <a:pt x="858776" y="39757"/>
                </a:cubicBezTo>
                <a:cubicBezTo>
                  <a:pt x="971972" y="2026"/>
                  <a:pt x="921003" y="12694"/>
                  <a:pt x="1009851" y="0"/>
                </a:cubicBezTo>
                <a:cubicBezTo>
                  <a:pt x="1113218" y="2651"/>
                  <a:pt x="1216737" y="1759"/>
                  <a:pt x="1319952" y="7952"/>
                </a:cubicBezTo>
                <a:cubicBezTo>
                  <a:pt x="1349531" y="9727"/>
                  <a:pt x="1378032" y="20021"/>
                  <a:pt x="1407416" y="23854"/>
                </a:cubicBezTo>
                <a:cubicBezTo>
                  <a:pt x="1439064" y="27982"/>
                  <a:pt x="1471027" y="29155"/>
                  <a:pt x="1502832" y="31806"/>
                </a:cubicBezTo>
                <a:cubicBezTo>
                  <a:pt x="1513434" y="34456"/>
                  <a:pt x="1524863" y="34870"/>
                  <a:pt x="1534637" y="39757"/>
                </a:cubicBezTo>
                <a:cubicBezTo>
                  <a:pt x="1569958" y="57417"/>
                  <a:pt x="1576073" y="78057"/>
                  <a:pt x="1598248" y="111319"/>
                </a:cubicBezTo>
                <a:cubicBezTo>
                  <a:pt x="1603549" y="137823"/>
                  <a:pt x="1607595" y="164610"/>
                  <a:pt x="1614150" y="190832"/>
                </a:cubicBezTo>
                <a:cubicBezTo>
                  <a:pt x="1618216" y="207094"/>
                  <a:pt x="1629256" y="221796"/>
                  <a:pt x="1630053" y="238540"/>
                </a:cubicBezTo>
                <a:cubicBezTo>
                  <a:pt x="1631948" y="278340"/>
                  <a:pt x="1629556" y="318668"/>
                  <a:pt x="1622101" y="357809"/>
                </a:cubicBezTo>
                <a:cubicBezTo>
                  <a:pt x="1618558" y="376412"/>
                  <a:pt x="1594795" y="417714"/>
                  <a:pt x="1574394" y="429371"/>
                </a:cubicBezTo>
                <a:cubicBezTo>
                  <a:pt x="1564906" y="434793"/>
                  <a:pt x="1553131" y="434447"/>
                  <a:pt x="1542588" y="437322"/>
                </a:cubicBezTo>
                <a:cubicBezTo>
                  <a:pt x="1523972" y="442399"/>
                  <a:pt x="1505482" y="447924"/>
                  <a:pt x="1486929" y="453225"/>
                </a:cubicBezTo>
                <a:cubicBezTo>
                  <a:pt x="1434653" y="488074"/>
                  <a:pt x="1490952" y="453565"/>
                  <a:pt x="1439221" y="477079"/>
                </a:cubicBezTo>
                <a:cubicBezTo>
                  <a:pt x="1417640" y="486889"/>
                  <a:pt x="1398857" y="504235"/>
                  <a:pt x="1375611" y="508884"/>
                </a:cubicBezTo>
                <a:lnTo>
                  <a:pt x="1296098" y="524787"/>
                </a:lnTo>
                <a:cubicBezTo>
                  <a:pt x="1285413" y="527077"/>
                  <a:pt x="1275009" y="530595"/>
                  <a:pt x="1264293" y="532738"/>
                </a:cubicBezTo>
                <a:cubicBezTo>
                  <a:pt x="1236713" y="538254"/>
                  <a:pt x="1187657" y="544821"/>
                  <a:pt x="1160926" y="548640"/>
                </a:cubicBezTo>
                <a:cubicBezTo>
                  <a:pt x="1102616" y="545990"/>
                  <a:pt x="1044195" y="545166"/>
                  <a:pt x="985997" y="540689"/>
                </a:cubicBezTo>
                <a:cubicBezTo>
                  <a:pt x="975101" y="539851"/>
                  <a:pt x="965113" y="533115"/>
                  <a:pt x="954192" y="532738"/>
                </a:cubicBezTo>
                <a:cubicBezTo>
                  <a:pt x="811129" y="527805"/>
                  <a:pt x="667945" y="527437"/>
                  <a:pt x="524821" y="524787"/>
                </a:cubicBezTo>
                <a:cubicBezTo>
                  <a:pt x="490366" y="516836"/>
                  <a:pt x="456057" y="508218"/>
                  <a:pt x="421455" y="500933"/>
                </a:cubicBezTo>
                <a:cubicBezTo>
                  <a:pt x="405679" y="497612"/>
                  <a:pt x="389556" y="496143"/>
                  <a:pt x="373747" y="492981"/>
                </a:cubicBezTo>
                <a:cubicBezTo>
                  <a:pt x="363031" y="490838"/>
                  <a:pt x="352449" y="488032"/>
                  <a:pt x="341941" y="485030"/>
                </a:cubicBezTo>
                <a:cubicBezTo>
                  <a:pt x="312137" y="476515"/>
                  <a:pt x="320460" y="475341"/>
                  <a:pt x="286282" y="469127"/>
                </a:cubicBezTo>
                <a:cubicBezTo>
                  <a:pt x="267843" y="465774"/>
                  <a:pt x="249176" y="463826"/>
                  <a:pt x="230623" y="461176"/>
                </a:cubicBezTo>
                <a:cubicBezTo>
                  <a:pt x="222672" y="458526"/>
                  <a:pt x="214900" y="455258"/>
                  <a:pt x="206769" y="453225"/>
                </a:cubicBezTo>
                <a:cubicBezTo>
                  <a:pt x="193658" y="449947"/>
                  <a:pt x="180206" y="448206"/>
                  <a:pt x="167013" y="445274"/>
                </a:cubicBezTo>
                <a:cubicBezTo>
                  <a:pt x="156345" y="442903"/>
                  <a:pt x="145810" y="439973"/>
                  <a:pt x="135208" y="437322"/>
                </a:cubicBezTo>
                <a:cubicBezTo>
                  <a:pt x="100115" y="384683"/>
                  <a:pt x="103403" y="389614"/>
                  <a:pt x="87500" y="373712"/>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Freeform: Shape 21">
            <a:extLst>
              <a:ext uri="{FF2B5EF4-FFF2-40B4-BE49-F238E27FC236}">
                <a16:creationId xmlns:a16="http://schemas.microsoft.com/office/drawing/2014/main" xmlns="" id="{EAD92BC7-6FB2-4F42-9F10-A5FD5E3F43D3}"/>
              </a:ext>
            </a:extLst>
          </p:cNvPr>
          <p:cNvSpPr/>
          <p:nvPr/>
        </p:nvSpPr>
        <p:spPr>
          <a:xfrm>
            <a:off x="4876800" y="3566530"/>
            <a:ext cx="1539628" cy="954616"/>
          </a:xfrm>
          <a:custGeom>
            <a:avLst/>
            <a:gdLst>
              <a:gd name="connsiteX0" fmla="*/ 87500 w 1630673"/>
              <a:gd name="connsiteY0" fmla="*/ 373712 h 548640"/>
              <a:gd name="connsiteX1" fmla="*/ 39792 w 1630673"/>
              <a:gd name="connsiteY1" fmla="*/ 341907 h 548640"/>
              <a:gd name="connsiteX2" fmla="*/ 7987 w 1630673"/>
              <a:gd name="connsiteY2" fmla="*/ 294199 h 548640"/>
              <a:gd name="connsiteX3" fmla="*/ 35 w 1630673"/>
              <a:gd name="connsiteY3" fmla="*/ 262394 h 548640"/>
              <a:gd name="connsiteX4" fmla="*/ 15938 w 1630673"/>
              <a:gd name="connsiteY4" fmla="*/ 135173 h 548640"/>
              <a:gd name="connsiteX5" fmla="*/ 79548 w 1630673"/>
              <a:gd name="connsiteY5" fmla="*/ 103367 h 548640"/>
              <a:gd name="connsiteX6" fmla="*/ 222672 w 1630673"/>
              <a:gd name="connsiteY6" fmla="*/ 87465 h 548640"/>
              <a:gd name="connsiteX7" fmla="*/ 540724 w 1630673"/>
              <a:gd name="connsiteY7" fmla="*/ 79514 h 548640"/>
              <a:gd name="connsiteX8" fmla="*/ 604335 w 1630673"/>
              <a:gd name="connsiteY8" fmla="*/ 71562 h 548640"/>
              <a:gd name="connsiteX9" fmla="*/ 659994 w 1630673"/>
              <a:gd name="connsiteY9" fmla="*/ 63611 h 548640"/>
              <a:gd name="connsiteX10" fmla="*/ 779263 w 1630673"/>
              <a:gd name="connsiteY10" fmla="*/ 55660 h 548640"/>
              <a:gd name="connsiteX11" fmla="*/ 858776 w 1630673"/>
              <a:gd name="connsiteY11" fmla="*/ 39757 h 548640"/>
              <a:gd name="connsiteX12" fmla="*/ 1009851 w 1630673"/>
              <a:gd name="connsiteY12" fmla="*/ 0 h 548640"/>
              <a:gd name="connsiteX13" fmla="*/ 1319952 w 1630673"/>
              <a:gd name="connsiteY13" fmla="*/ 7952 h 548640"/>
              <a:gd name="connsiteX14" fmla="*/ 1407416 w 1630673"/>
              <a:gd name="connsiteY14" fmla="*/ 23854 h 548640"/>
              <a:gd name="connsiteX15" fmla="*/ 1502832 w 1630673"/>
              <a:gd name="connsiteY15" fmla="*/ 31806 h 548640"/>
              <a:gd name="connsiteX16" fmla="*/ 1534637 w 1630673"/>
              <a:gd name="connsiteY16" fmla="*/ 39757 h 548640"/>
              <a:gd name="connsiteX17" fmla="*/ 1598248 w 1630673"/>
              <a:gd name="connsiteY17" fmla="*/ 111319 h 548640"/>
              <a:gd name="connsiteX18" fmla="*/ 1614150 w 1630673"/>
              <a:gd name="connsiteY18" fmla="*/ 190832 h 548640"/>
              <a:gd name="connsiteX19" fmla="*/ 1630053 w 1630673"/>
              <a:gd name="connsiteY19" fmla="*/ 238540 h 548640"/>
              <a:gd name="connsiteX20" fmla="*/ 1622101 w 1630673"/>
              <a:gd name="connsiteY20" fmla="*/ 357809 h 548640"/>
              <a:gd name="connsiteX21" fmla="*/ 1574394 w 1630673"/>
              <a:gd name="connsiteY21" fmla="*/ 429371 h 548640"/>
              <a:gd name="connsiteX22" fmla="*/ 1542588 w 1630673"/>
              <a:gd name="connsiteY22" fmla="*/ 437322 h 548640"/>
              <a:gd name="connsiteX23" fmla="*/ 1486929 w 1630673"/>
              <a:gd name="connsiteY23" fmla="*/ 453225 h 548640"/>
              <a:gd name="connsiteX24" fmla="*/ 1439221 w 1630673"/>
              <a:gd name="connsiteY24" fmla="*/ 477079 h 548640"/>
              <a:gd name="connsiteX25" fmla="*/ 1375611 w 1630673"/>
              <a:gd name="connsiteY25" fmla="*/ 508884 h 548640"/>
              <a:gd name="connsiteX26" fmla="*/ 1296098 w 1630673"/>
              <a:gd name="connsiteY26" fmla="*/ 524787 h 548640"/>
              <a:gd name="connsiteX27" fmla="*/ 1264293 w 1630673"/>
              <a:gd name="connsiteY27" fmla="*/ 532738 h 548640"/>
              <a:gd name="connsiteX28" fmla="*/ 1160926 w 1630673"/>
              <a:gd name="connsiteY28" fmla="*/ 548640 h 548640"/>
              <a:gd name="connsiteX29" fmla="*/ 985997 w 1630673"/>
              <a:gd name="connsiteY29" fmla="*/ 540689 h 548640"/>
              <a:gd name="connsiteX30" fmla="*/ 954192 w 1630673"/>
              <a:gd name="connsiteY30" fmla="*/ 532738 h 548640"/>
              <a:gd name="connsiteX31" fmla="*/ 524821 w 1630673"/>
              <a:gd name="connsiteY31" fmla="*/ 524787 h 548640"/>
              <a:gd name="connsiteX32" fmla="*/ 421455 w 1630673"/>
              <a:gd name="connsiteY32" fmla="*/ 500933 h 548640"/>
              <a:gd name="connsiteX33" fmla="*/ 373747 w 1630673"/>
              <a:gd name="connsiteY33" fmla="*/ 492981 h 548640"/>
              <a:gd name="connsiteX34" fmla="*/ 341941 w 1630673"/>
              <a:gd name="connsiteY34" fmla="*/ 485030 h 548640"/>
              <a:gd name="connsiteX35" fmla="*/ 286282 w 1630673"/>
              <a:gd name="connsiteY35" fmla="*/ 469127 h 548640"/>
              <a:gd name="connsiteX36" fmla="*/ 230623 w 1630673"/>
              <a:gd name="connsiteY36" fmla="*/ 461176 h 548640"/>
              <a:gd name="connsiteX37" fmla="*/ 206769 w 1630673"/>
              <a:gd name="connsiteY37" fmla="*/ 453225 h 548640"/>
              <a:gd name="connsiteX38" fmla="*/ 167013 w 1630673"/>
              <a:gd name="connsiteY38" fmla="*/ 445274 h 548640"/>
              <a:gd name="connsiteX39" fmla="*/ 135208 w 1630673"/>
              <a:gd name="connsiteY39" fmla="*/ 437322 h 548640"/>
              <a:gd name="connsiteX40" fmla="*/ 87500 w 1630673"/>
              <a:gd name="connsiteY40" fmla="*/ 373712 h 54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30673" h="548640">
                <a:moveTo>
                  <a:pt x="87500" y="373712"/>
                </a:moveTo>
                <a:cubicBezTo>
                  <a:pt x="71597" y="357810"/>
                  <a:pt x="53307" y="355422"/>
                  <a:pt x="39792" y="341907"/>
                </a:cubicBezTo>
                <a:cubicBezTo>
                  <a:pt x="26277" y="328392"/>
                  <a:pt x="7987" y="294199"/>
                  <a:pt x="7987" y="294199"/>
                </a:cubicBezTo>
                <a:cubicBezTo>
                  <a:pt x="5336" y="283597"/>
                  <a:pt x="-511" y="273308"/>
                  <a:pt x="35" y="262394"/>
                </a:cubicBezTo>
                <a:cubicBezTo>
                  <a:pt x="2169" y="219710"/>
                  <a:pt x="3069" y="175926"/>
                  <a:pt x="15938" y="135173"/>
                </a:cubicBezTo>
                <a:cubicBezTo>
                  <a:pt x="22118" y="115604"/>
                  <a:pt x="63227" y="105593"/>
                  <a:pt x="79548" y="103367"/>
                </a:cubicBezTo>
                <a:cubicBezTo>
                  <a:pt x="127109" y="96881"/>
                  <a:pt x="174735" y="89944"/>
                  <a:pt x="222672" y="87465"/>
                </a:cubicBezTo>
                <a:cubicBezTo>
                  <a:pt x="328581" y="81987"/>
                  <a:pt x="434707" y="82164"/>
                  <a:pt x="540724" y="79514"/>
                </a:cubicBezTo>
                <a:lnTo>
                  <a:pt x="604335" y="71562"/>
                </a:lnTo>
                <a:cubicBezTo>
                  <a:pt x="622912" y="69085"/>
                  <a:pt x="641330" y="65308"/>
                  <a:pt x="659994" y="63611"/>
                </a:cubicBezTo>
                <a:cubicBezTo>
                  <a:pt x="699675" y="60004"/>
                  <a:pt x="739507" y="58310"/>
                  <a:pt x="779263" y="55660"/>
                </a:cubicBezTo>
                <a:cubicBezTo>
                  <a:pt x="805767" y="50359"/>
                  <a:pt x="833134" y="48304"/>
                  <a:pt x="858776" y="39757"/>
                </a:cubicBezTo>
                <a:cubicBezTo>
                  <a:pt x="971972" y="2026"/>
                  <a:pt x="921003" y="12694"/>
                  <a:pt x="1009851" y="0"/>
                </a:cubicBezTo>
                <a:cubicBezTo>
                  <a:pt x="1113218" y="2651"/>
                  <a:pt x="1216737" y="1759"/>
                  <a:pt x="1319952" y="7952"/>
                </a:cubicBezTo>
                <a:cubicBezTo>
                  <a:pt x="1349531" y="9727"/>
                  <a:pt x="1378032" y="20021"/>
                  <a:pt x="1407416" y="23854"/>
                </a:cubicBezTo>
                <a:cubicBezTo>
                  <a:pt x="1439064" y="27982"/>
                  <a:pt x="1471027" y="29155"/>
                  <a:pt x="1502832" y="31806"/>
                </a:cubicBezTo>
                <a:cubicBezTo>
                  <a:pt x="1513434" y="34456"/>
                  <a:pt x="1524863" y="34870"/>
                  <a:pt x="1534637" y="39757"/>
                </a:cubicBezTo>
                <a:cubicBezTo>
                  <a:pt x="1569958" y="57417"/>
                  <a:pt x="1576073" y="78057"/>
                  <a:pt x="1598248" y="111319"/>
                </a:cubicBezTo>
                <a:cubicBezTo>
                  <a:pt x="1603549" y="137823"/>
                  <a:pt x="1607595" y="164610"/>
                  <a:pt x="1614150" y="190832"/>
                </a:cubicBezTo>
                <a:cubicBezTo>
                  <a:pt x="1618216" y="207094"/>
                  <a:pt x="1629256" y="221796"/>
                  <a:pt x="1630053" y="238540"/>
                </a:cubicBezTo>
                <a:cubicBezTo>
                  <a:pt x="1631948" y="278340"/>
                  <a:pt x="1629556" y="318668"/>
                  <a:pt x="1622101" y="357809"/>
                </a:cubicBezTo>
                <a:cubicBezTo>
                  <a:pt x="1618558" y="376412"/>
                  <a:pt x="1594795" y="417714"/>
                  <a:pt x="1574394" y="429371"/>
                </a:cubicBezTo>
                <a:cubicBezTo>
                  <a:pt x="1564906" y="434793"/>
                  <a:pt x="1553131" y="434447"/>
                  <a:pt x="1542588" y="437322"/>
                </a:cubicBezTo>
                <a:cubicBezTo>
                  <a:pt x="1523972" y="442399"/>
                  <a:pt x="1505482" y="447924"/>
                  <a:pt x="1486929" y="453225"/>
                </a:cubicBezTo>
                <a:cubicBezTo>
                  <a:pt x="1434653" y="488074"/>
                  <a:pt x="1490952" y="453565"/>
                  <a:pt x="1439221" y="477079"/>
                </a:cubicBezTo>
                <a:cubicBezTo>
                  <a:pt x="1417640" y="486889"/>
                  <a:pt x="1398857" y="504235"/>
                  <a:pt x="1375611" y="508884"/>
                </a:cubicBezTo>
                <a:lnTo>
                  <a:pt x="1296098" y="524787"/>
                </a:lnTo>
                <a:cubicBezTo>
                  <a:pt x="1285413" y="527077"/>
                  <a:pt x="1275009" y="530595"/>
                  <a:pt x="1264293" y="532738"/>
                </a:cubicBezTo>
                <a:cubicBezTo>
                  <a:pt x="1236713" y="538254"/>
                  <a:pt x="1187657" y="544821"/>
                  <a:pt x="1160926" y="548640"/>
                </a:cubicBezTo>
                <a:cubicBezTo>
                  <a:pt x="1102616" y="545990"/>
                  <a:pt x="1044195" y="545166"/>
                  <a:pt x="985997" y="540689"/>
                </a:cubicBezTo>
                <a:cubicBezTo>
                  <a:pt x="975101" y="539851"/>
                  <a:pt x="965113" y="533115"/>
                  <a:pt x="954192" y="532738"/>
                </a:cubicBezTo>
                <a:cubicBezTo>
                  <a:pt x="811129" y="527805"/>
                  <a:pt x="667945" y="527437"/>
                  <a:pt x="524821" y="524787"/>
                </a:cubicBezTo>
                <a:cubicBezTo>
                  <a:pt x="490366" y="516836"/>
                  <a:pt x="456057" y="508218"/>
                  <a:pt x="421455" y="500933"/>
                </a:cubicBezTo>
                <a:cubicBezTo>
                  <a:pt x="405679" y="497612"/>
                  <a:pt x="389556" y="496143"/>
                  <a:pt x="373747" y="492981"/>
                </a:cubicBezTo>
                <a:cubicBezTo>
                  <a:pt x="363031" y="490838"/>
                  <a:pt x="352449" y="488032"/>
                  <a:pt x="341941" y="485030"/>
                </a:cubicBezTo>
                <a:cubicBezTo>
                  <a:pt x="312137" y="476515"/>
                  <a:pt x="320460" y="475341"/>
                  <a:pt x="286282" y="469127"/>
                </a:cubicBezTo>
                <a:cubicBezTo>
                  <a:pt x="267843" y="465774"/>
                  <a:pt x="249176" y="463826"/>
                  <a:pt x="230623" y="461176"/>
                </a:cubicBezTo>
                <a:cubicBezTo>
                  <a:pt x="222672" y="458526"/>
                  <a:pt x="214900" y="455258"/>
                  <a:pt x="206769" y="453225"/>
                </a:cubicBezTo>
                <a:cubicBezTo>
                  <a:pt x="193658" y="449947"/>
                  <a:pt x="180206" y="448206"/>
                  <a:pt x="167013" y="445274"/>
                </a:cubicBezTo>
                <a:cubicBezTo>
                  <a:pt x="156345" y="442903"/>
                  <a:pt x="145810" y="439973"/>
                  <a:pt x="135208" y="437322"/>
                </a:cubicBezTo>
                <a:cubicBezTo>
                  <a:pt x="100115" y="384683"/>
                  <a:pt x="103403" y="389614"/>
                  <a:pt x="87500" y="373712"/>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7" name="Picture 16">
            <a:extLst>
              <a:ext uri="{FF2B5EF4-FFF2-40B4-BE49-F238E27FC236}">
                <a16:creationId xmlns:a16="http://schemas.microsoft.com/office/drawing/2014/main" xmlns="" id="{6BD23AC7-7BEE-4009-8467-6511AFAF2427}"/>
              </a:ext>
            </a:extLst>
          </p:cNvPr>
          <p:cNvPicPr>
            <a:picLocks noChangeAspect="1"/>
          </p:cNvPicPr>
          <p:nvPr/>
        </p:nvPicPr>
        <p:blipFill>
          <a:blip r:embed="rId5"/>
          <a:stretch>
            <a:fillRect/>
          </a:stretch>
        </p:blipFill>
        <p:spPr>
          <a:xfrm>
            <a:off x="76200" y="2682460"/>
            <a:ext cx="4131342" cy="1508540"/>
          </a:xfrm>
          <a:prstGeom prst="rect">
            <a:avLst/>
          </a:prstGeom>
        </p:spPr>
      </p:pic>
    </p:spTree>
    <p:extLst>
      <p:ext uri="{BB962C8B-B14F-4D97-AF65-F5344CB8AC3E}">
        <p14:creationId xmlns:p14="http://schemas.microsoft.com/office/powerpoint/2010/main" val="15243406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xmlns="" id="{262EC6EE-CA02-48E0-A65E-A8A3C72A2F17}"/>
              </a:ext>
            </a:extLst>
          </p:cNvPr>
          <p:cNvPicPr>
            <a:picLocks noChangeAspect="1"/>
          </p:cNvPicPr>
          <p:nvPr/>
        </p:nvPicPr>
        <p:blipFill>
          <a:blip r:embed="rId2"/>
          <a:stretch>
            <a:fillRect/>
          </a:stretch>
        </p:blipFill>
        <p:spPr>
          <a:xfrm>
            <a:off x="1676400" y="2371686"/>
            <a:ext cx="5791200" cy="2114628"/>
          </a:xfrm>
          <a:prstGeom prst="rect">
            <a:avLst/>
          </a:prstGeom>
        </p:spPr>
      </p:pic>
      <p:sp>
        <p:nvSpPr>
          <p:cNvPr id="2" name="Title 1"/>
          <p:cNvSpPr>
            <a:spLocks noGrp="1"/>
          </p:cNvSpPr>
          <p:nvPr>
            <p:ph type="title"/>
          </p:nvPr>
        </p:nvSpPr>
        <p:spPr/>
        <p:txBody>
          <a:bodyPr/>
          <a:lstStyle/>
          <a:p>
            <a:r>
              <a:rPr lang="en-IN" dirty="0"/>
              <a:t>6. Compute the centroid for A, B</a:t>
            </a:r>
          </a:p>
        </p:txBody>
      </p:sp>
      <p:sp>
        <p:nvSpPr>
          <p:cNvPr id="24" name="TextBox 23"/>
          <p:cNvSpPr txBox="1"/>
          <p:nvPr/>
        </p:nvSpPr>
        <p:spPr>
          <a:xfrm>
            <a:off x="569615" y="4962148"/>
            <a:ext cx="2630848" cy="369332"/>
          </a:xfrm>
          <a:prstGeom prst="rect">
            <a:avLst/>
          </a:prstGeom>
          <a:noFill/>
        </p:spPr>
        <p:txBody>
          <a:bodyPr wrap="none" rtlCol="0">
            <a:spAutoFit/>
          </a:bodyPr>
          <a:lstStyle/>
          <a:p>
            <a:r>
              <a:rPr lang="en-IN" dirty="0"/>
              <a:t>A= </a:t>
            </a:r>
            <a:r>
              <a:rPr lang="en-IN" dirty="0">
                <a:solidFill>
                  <a:srgbClr val="FF0000"/>
                </a:solidFill>
              </a:rPr>
              <a:t>(1+2)/2=1.5</a:t>
            </a:r>
            <a:r>
              <a:rPr lang="en-IN" dirty="0"/>
              <a:t>, </a:t>
            </a:r>
            <a:r>
              <a:rPr lang="en-IN" dirty="0">
                <a:solidFill>
                  <a:srgbClr val="FF0000"/>
                </a:solidFill>
              </a:rPr>
              <a:t>(1+1)/2=1</a:t>
            </a:r>
          </a:p>
        </p:txBody>
      </p:sp>
      <p:sp>
        <p:nvSpPr>
          <p:cNvPr id="47" name="TextBox 46">
            <a:extLst>
              <a:ext uri="{FF2B5EF4-FFF2-40B4-BE49-F238E27FC236}">
                <a16:creationId xmlns:a16="http://schemas.microsoft.com/office/drawing/2014/main" xmlns="" id="{43B67A58-0145-43B4-95B3-82096DE03206}"/>
              </a:ext>
            </a:extLst>
          </p:cNvPr>
          <p:cNvSpPr txBox="1"/>
          <p:nvPr/>
        </p:nvSpPr>
        <p:spPr>
          <a:xfrm>
            <a:off x="5812062" y="2938790"/>
            <a:ext cx="436338" cy="261610"/>
          </a:xfrm>
          <a:prstGeom prst="rect">
            <a:avLst/>
          </a:prstGeom>
          <a:noFill/>
        </p:spPr>
        <p:txBody>
          <a:bodyPr wrap="square" rtlCol="0">
            <a:spAutoFit/>
          </a:bodyPr>
          <a:lstStyle/>
          <a:p>
            <a:r>
              <a:rPr lang="en-IN" sz="1100" dirty="0"/>
              <a:t>1</a:t>
            </a:r>
          </a:p>
        </p:txBody>
      </p:sp>
      <p:sp>
        <p:nvSpPr>
          <p:cNvPr id="49" name="Left Brace 48">
            <a:extLst>
              <a:ext uri="{FF2B5EF4-FFF2-40B4-BE49-F238E27FC236}">
                <a16:creationId xmlns:a16="http://schemas.microsoft.com/office/drawing/2014/main" xmlns="" id="{67FA81EB-7170-4308-BD72-30BA4EA64CB8}"/>
              </a:ext>
            </a:extLst>
          </p:cNvPr>
          <p:cNvSpPr/>
          <p:nvPr/>
        </p:nvSpPr>
        <p:spPr>
          <a:xfrm>
            <a:off x="6030087" y="2743200"/>
            <a:ext cx="222684" cy="64254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7" name="TextBox 26">
            <a:extLst>
              <a:ext uri="{FF2B5EF4-FFF2-40B4-BE49-F238E27FC236}">
                <a16:creationId xmlns:a16="http://schemas.microsoft.com/office/drawing/2014/main" xmlns="" id="{82314DFD-7DBE-44F7-96CF-9CB0E9571CB3}"/>
              </a:ext>
            </a:extLst>
          </p:cNvPr>
          <p:cNvSpPr txBox="1"/>
          <p:nvPr/>
        </p:nvSpPr>
        <p:spPr>
          <a:xfrm>
            <a:off x="5638800" y="3853190"/>
            <a:ext cx="436338" cy="261610"/>
          </a:xfrm>
          <a:prstGeom prst="rect">
            <a:avLst/>
          </a:prstGeom>
          <a:noFill/>
        </p:spPr>
        <p:txBody>
          <a:bodyPr wrap="square" rtlCol="0">
            <a:spAutoFit/>
          </a:bodyPr>
          <a:lstStyle/>
          <a:p>
            <a:r>
              <a:rPr lang="en-IN" sz="1100" dirty="0"/>
              <a:t>6.33</a:t>
            </a:r>
          </a:p>
        </p:txBody>
      </p:sp>
      <p:sp>
        <p:nvSpPr>
          <p:cNvPr id="30" name="Left Brace 29">
            <a:extLst>
              <a:ext uri="{FF2B5EF4-FFF2-40B4-BE49-F238E27FC236}">
                <a16:creationId xmlns:a16="http://schemas.microsoft.com/office/drawing/2014/main" xmlns="" id="{F742D9F3-5CFD-4C56-914C-3F6C95165C0A}"/>
              </a:ext>
            </a:extLst>
          </p:cNvPr>
          <p:cNvSpPr/>
          <p:nvPr/>
        </p:nvSpPr>
        <p:spPr>
          <a:xfrm>
            <a:off x="6047907" y="3571837"/>
            <a:ext cx="204864" cy="83402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31" name="TextBox 30">
            <a:extLst>
              <a:ext uri="{FF2B5EF4-FFF2-40B4-BE49-F238E27FC236}">
                <a16:creationId xmlns:a16="http://schemas.microsoft.com/office/drawing/2014/main" xmlns="" id="{F21A98D8-FD4E-4268-B410-BAA03F22A228}"/>
              </a:ext>
            </a:extLst>
          </p:cNvPr>
          <p:cNvSpPr txBox="1"/>
          <p:nvPr/>
        </p:nvSpPr>
        <p:spPr>
          <a:xfrm>
            <a:off x="3343343" y="3002304"/>
            <a:ext cx="436338" cy="261610"/>
          </a:xfrm>
          <a:prstGeom prst="rect">
            <a:avLst/>
          </a:prstGeom>
          <a:noFill/>
        </p:spPr>
        <p:txBody>
          <a:bodyPr wrap="square" rtlCol="0">
            <a:spAutoFit/>
          </a:bodyPr>
          <a:lstStyle/>
          <a:p>
            <a:r>
              <a:rPr lang="en-IN" sz="1100" dirty="0"/>
              <a:t>1.5</a:t>
            </a:r>
          </a:p>
        </p:txBody>
      </p:sp>
      <p:sp>
        <p:nvSpPr>
          <p:cNvPr id="32" name="Left Brace 31">
            <a:extLst>
              <a:ext uri="{FF2B5EF4-FFF2-40B4-BE49-F238E27FC236}">
                <a16:creationId xmlns:a16="http://schemas.microsoft.com/office/drawing/2014/main" xmlns="" id="{42B5F69E-658D-424C-9A54-1178C0B6E8C3}"/>
              </a:ext>
            </a:extLst>
          </p:cNvPr>
          <p:cNvSpPr/>
          <p:nvPr/>
        </p:nvSpPr>
        <p:spPr>
          <a:xfrm>
            <a:off x="3659429" y="2799806"/>
            <a:ext cx="222684" cy="64254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33" name="TextBox 32">
            <a:extLst>
              <a:ext uri="{FF2B5EF4-FFF2-40B4-BE49-F238E27FC236}">
                <a16:creationId xmlns:a16="http://schemas.microsoft.com/office/drawing/2014/main" xmlns="" id="{DD0ED5DE-5F1D-4E6A-899C-5662353ED5C3}"/>
              </a:ext>
            </a:extLst>
          </p:cNvPr>
          <p:cNvSpPr txBox="1"/>
          <p:nvPr/>
        </p:nvSpPr>
        <p:spPr>
          <a:xfrm>
            <a:off x="3268142" y="3909796"/>
            <a:ext cx="436338" cy="261610"/>
          </a:xfrm>
          <a:prstGeom prst="rect">
            <a:avLst/>
          </a:prstGeom>
          <a:noFill/>
        </p:spPr>
        <p:txBody>
          <a:bodyPr wrap="square" rtlCol="0">
            <a:spAutoFit/>
          </a:bodyPr>
          <a:lstStyle/>
          <a:p>
            <a:r>
              <a:rPr lang="en-IN" sz="1100" dirty="0"/>
              <a:t>5.33</a:t>
            </a:r>
          </a:p>
        </p:txBody>
      </p:sp>
      <p:sp>
        <p:nvSpPr>
          <p:cNvPr id="34" name="Left Brace 33">
            <a:extLst>
              <a:ext uri="{FF2B5EF4-FFF2-40B4-BE49-F238E27FC236}">
                <a16:creationId xmlns:a16="http://schemas.microsoft.com/office/drawing/2014/main" xmlns="" id="{7AAACA3B-D2CD-4BF6-993D-8EF17755D4AC}"/>
              </a:ext>
            </a:extLst>
          </p:cNvPr>
          <p:cNvSpPr/>
          <p:nvPr/>
        </p:nvSpPr>
        <p:spPr>
          <a:xfrm>
            <a:off x="3677249" y="3628443"/>
            <a:ext cx="204864" cy="83402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35" name="TextBox 34">
            <a:extLst>
              <a:ext uri="{FF2B5EF4-FFF2-40B4-BE49-F238E27FC236}">
                <a16:creationId xmlns:a16="http://schemas.microsoft.com/office/drawing/2014/main" xmlns="" id="{97984302-268D-4AED-98D2-D768D7A57C15}"/>
              </a:ext>
            </a:extLst>
          </p:cNvPr>
          <p:cNvSpPr txBox="1"/>
          <p:nvPr/>
        </p:nvSpPr>
        <p:spPr>
          <a:xfrm>
            <a:off x="4953000" y="4962148"/>
            <a:ext cx="3496470" cy="369332"/>
          </a:xfrm>
          <a:prstGeom prst="rect">
            <a:avLst/>
          </a:prstGeom>
          <a:noFill/>
        </p:spPr>
        <p:txBody>
          <a:bodyPr wrap="none" rtlCol="0">
            <a:spAutoFit/>
          </a:bodyPr>
          <a:lstStyle/>
          <a:p>
            <a:r>
              <a:rPr lang="en-IN" dirty="0"/>
              <a:t>B= </a:t>
            </a:r>
            <a:r>
              <a:rPr lang="en-IN" dirty="0">
                <a:solidFill>
                  <a:srgbClr val="FF0000"/>
                </a:solidFill>
              </a:rPr>
              <a:t>(4+7+5)/3=5.33</a:t>
            </a:r>
            <a:r>
              <a:rPr lang="en-IN" dirty="0"/>
              <a:t>, </a:t>
            </a:r>
            <a:r>
              <a:rPr lang="en-IN" dirty="0">
                <a:solidFill>
                  <a:srgbClr val="FF0000"/>
                </a:solidFill>
              </a:rPr>
              <a:t>(5+7+7)/3=6.33</a:t>
            </a:r>
          </a:p>
        </p:txBody>
      </p:sp>
    </p:spTree>
    <p:extLst>
      <p:ext uri="{BB962C8B-B14F-4D97-AF65-F5344CB8AC3E}">
        <p14:creationId xmlns:p14="http://schemas.microsoft.com/office/powerpoint/2010/main" val="22839930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7. Re Compute the Centroid</a:t>
            </a:r>
          </a:p>
        </p:txBody>
      </p:sp>
      <p:sp>
        <p:nvSpPr>
          <p:cNvPr id="4" name="Rectangle 3">
            <a:extLst>
              <a:ext uri="{FF2B5EF4-FFF2-40B4-BE49-F238E27FC236}">
                <a16:creationId xmlns:a16="http://schemas.microsoft.com/office/drawing/2014/main" xmlns="" id="{3A427C80-0E5B-4486-BF2D-9AAEE0DD8573}"/>
              </a:ext>
            </a:extLst>
          </p:cNvPr>
          <p:cNvSpPr/>
          <p:nvPr/>
        </p:nvSpPr>
        <p:spPr>
          <a:xfrm>
            <a:off x="5791200" y="3810000"/>
            <a:ext cx="304800" cy="190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xmlns="" id="{DF16F39B-2B84-4206-9E2F-8A76771A9401}"/>
              </a:ext>
            </a:extLst>
          </p:cNvPr>
          <p:cNvSpPr/>
          <p:nvPr/>
        </p:nvSpPr>
        <p:spPr>
          <a:xfrm>
            <a:off x="7391400" y="2971800"/>
            <a:ext cx="304800" cy="114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7" name="Chart 6">
            <a:extLst>
              <a:ext uri="{FF2B5EF4-FFF2-40B4-BE49-F238E27FC236}">
                <a16:creationId xmlns:a16="http://schemas.microsoft.com/office/drawing/2014/main" xmlns="" id="{D603CB13-E743-4CE3-A806-CEC531152898}"/>
              </a:ext>
            </a:extLst>
          </p:cNvPr>
          <p:cNvGraphicFramePr>
            <a:graphicFrameLocks/>
          </p:cNvGraphicFramePr>
          <p:nvPr/>
        </p:nvGraphicFramePr>
        <p:xfrm>
          <a:off x="4114800" y="2245581"/>
          <a:ext cx="45720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xmlns="" id="{3D6B1717-2F8C-453F-8EE5-AC2829BB137B}"/>
              </a:ext>
            </a:extLst>
          </p:cNvPr>
          <p:cNvSpPr txBox="1"/>
          <p:nvPr/>
        </p:nvSpPr>
        <p:spPr>
          <a:xfrm>
            <a:off x="762000" y="1524000"/>
            <a:ext cx="7924800" cy="369332"/>
          </a:xfrm>
          <a:prstGeom prst="rect">
            <a:avLst/>
          </a:prstGeom>
          <a:noFill/>
        </p:spPr>
        <p:txBody>
          <a:bodyPr wrap="square" rtlCol="0">
            <a:spAutoFit/>
          </a:bodyPr>
          <a:lstStyle/>
          <a:p>
            <a:r>
              <a:rPr lang="en-US" dirty="0"/>
              <a:t>Recompute the centroid of the clusters with the modified data points</a:t>
            </a:r>
          </a:p>
        </p:txBody>
      </p:sp>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xmlns="" id="{B7C3641D-D69A-4137-A6ED-34FFBFC98D97}"/>
                  </a:ext>
                </a:extLst>
              </p14:cNvPr>
              <p14:cNvContentPartPr/>
              <p14:nvPr/>
            </p14:nvContentPartPr>
            <p14:xfrm>
              <a:off x="8937078" y="5008696"/>
              <a:ext cx="360" cy="360"/>
            </p14:xfrm>
          </p:contentPart>
        </mc:Choice>
        <mc:Fallback xmlns="">
          <p:pic>
            <p:nvPicPr>
              <p:cNvPr id="12" name="Ink 11">
                <a:extLst>
                  <a:ext uri="{FF2B5EF4-FFF2-40B4-BE49-F238E27FC236}">
                    <a16:creationId xmlns:a16="http://schemas.microsoft.com/office/drawing/2014/main" id="{B7C3641D-D69A-4137-A6ED-34FFBFC98D97}"/>
                  </a:ext>
                </a:extLst>
              </p:cNvPr>
              <p:cNvPicPr/>
              <p:nvPr/>
            </p:nvPicPr>
            <p:blipFill>
              <a:blip r:embed="rId4"/>
              <a:stretch>
                <a:fillRect/>
              </a:stretch>
            </p:blipFill>
            <p:spPr>
              <a:xfrm>
                <a:off x="8928438" y="5000056"/>
                <a:ext cx="18000" cy="18000"/>
              </a:xfrm>
              <a:prstGeom prst="rect">
                <a:avLst/>
              </a:prstGeom>
            </p:spPr>
          </p:pic>
        </mc:Fallback>
      </mc:AlternateContent>
      <p:sp>
        <p:nvSpPr>
          <p:cNvPr id="18" name="TextBox 17">
            <a:extLst>
              <a:ext uri="{FF2B5EF4-FFF2-40B4-BE49-F238E27FC236}">
                <a16:creationId xmlns:a16="http://schemas.microsoft.com/office/drawing/2014/main" xmlns="" id="{BF6781E4-464E-422A-B544-0159217FCAED}"/>
              </a:ext>
            </a:extLst>
          </p:cNvPr>
          <p:cNvSpPr txBox="1"/>
          <p:nvPr/>
        </p:nvSpPr>
        <p:spPr>
          <a:xfrm>
            <a:off x="6377114" y="3938726"/>
            <a:ext cx="317716" cy="369332"/>
          </a:xfrm>
          <a:prstGeom prst="rect">
            <a:avLst/>
          </a:prstGeom>
          <a:noFill/>
        </p:spPr>
        <p:txBody>
          <a:bodyPr wrap="none" rtlCol="0">
            <a:spAutoFit/>
          </a:bodyPr>
          <a:lstStyle/>
          <a:p>
            <a:r>
              <a:rPr lang="en-IN" dirty="0"/>
              <a:t>A</a:t>
            </a:r>
          </a:p>
        </p:txBody>
      </p:sp>
      <p:sp>
        <p:nvSpPr>
          <p:cNvPr id="19" name="TextBox 18">
            <a:extLst>
              <a:ext uri="{FF2B5EF4-FFF2-40B4-BE49-F238E27FC236}">
                <a16:creationId xmlns:a16="http://schemas.microsoft.com/office/drawing/2014/main" xmlns="" id="{36AD3D2B-22A1-46F4-A0E9-246C4CD7BCA6}"/>
              </a:ext>
            </a:extLst>
          </p:cNvPr>
          <p:cNvSpPr txBox="1"/>
          <p:nvPr/>
        </p:nvSpPr>
        <p:spPr>
          <a:xfrm>
            <a:off x="7973251" y="2971800"/>
            <a:ext cx="309700" cy="369332"/>
          </a:xfrm>
          <a:prstGeom prst="rect">
            <a:avLst/>
          </a:prstGeom>
          <a:noFill/>
        </p:spPr>
        <p:txBody>
          <a:bodyPr wrap="none" rtlCol="0">
            <a:spAutoFit/>
          </a:bodyPr>
          <a:lstStyle/>
          <a:p>
            <a:r>
              <a:rPr lang="en-IN" dirty="0"/>
              <a:t>B</a:t>
            </a:r>
          </a:p>
        </p:txBody>
      </p:sp>
      <p:sp>
        <p:nvSpPr>
          <p:cNvPr id="14" name="TextBox 13">
            <a:extLst>
              <a:ext uri="{FF2B5EF4-FFF2-40B4-BE49-F238E27FC236}">
                <a16:creationId xmlns:a16="http://schemas.microsoft.com/office/drawing/2014/main" xmlns="" id="{0C3CB657-AF3A-4071-9746-677C3E0CAA52}"/>
              </a:ext>
            </a:extLst>
          </p:cNvPr>
          <p:cNvSpPr txBox="1"/>
          <p:nvPr/>
        </p:nvSpPr>
        <p:spPr>
          <a:xfrm>
            <a:off x="4989188" y="3938096"/>
            <a:ext cx="300082" cy="369332"/>
          </a:xfrm>
          <a:prstGeom prst="rect">
            <a:avLst/>
          </a:prstGeom>
          <a:noFill/>
        </p:spPr>
        <p:txBody>
          <a:bodyPr wrap="none" rtlCol="0">
            <a:spAutoFit/>
          </a:bodyPr>
          <a:lstStyle/>
          <a:p>
            <a:r>
              <a:rPr lang="en-IN" dirty="0"/>
              <a:t>*</a:t>
            </a:r>
          </a:p>
        </p:txBody>
      </p:sp>
      <p:sp>
        <p:nvSpPr>
          <p:cNvPr id="16" name="TextBox 15">
            <a:extLst>
              <a:ext uri="{FF2B5EF4-FFF2-40B4-BE49-F238E27FC236}">
                <a16:creationId xmlns:a16="http://schemas.microsoft.com/office/drawing/2014/main" xmlns="" id="{DE3B9795-7838-4488-9C58-D740D9E8E5F8}"/>
              </a:ext>
            </a:extLst>
          </p:cNvPr>
          <p:cNvSpPr txBox="1"/>
          <p:nvPr/>
        </p:nvSpPr>
        <p:spPr>
          <a:xfrm>
            <a:off x="7405745" y="3086100"/>
            <a:ext cx="300082" cy="369332"/>
          </a:xfrm>
          <a:prstGeom prst="rect">
            <a:avLst/>
          </a:prstGeom>
          <a:noFill/>
        </p:spPr>
        <p:txBody>
          <a:bodyPr wrap="none" rtlCol="0">
            <a:spAutoFit/>
          </a:bodyPr>
          <a:lstStyle/>
          <a:p>
            <a:r>
              <a:rPr lang="en-IN" dirty="0"/>
              <a:t>*</a:t>
            </a:r>
          </a:p>
        </p:txBody>
      </p:sp>
      <p:sp>
        <p:nvSpPr>
          <p:cNvPr id="21" name="Freeform: Shape 20">
            <a:extLst>
              <a:ext uri="{FF2B5EF4-FFF2-40B4-BE49-F238E27FC236}">
                <a16:creationId xmlns:a16="http://schemas.microsoft.com/office/drawing/2014/main" xmlns="" id="{31A6D215-FBEB-4F46-95FB-D32DF1225E37}"/>
              </a:ext>
            </a:extLst>
          </p:cNvPr>
          <p:cNvSpPr/>
          <p:nvPr/>
        </p:nvSpPr>
        <p:spPr>
          <a:xfrm>
            <a:off x="6313128" y="2703442"/>
            <a:ext cx="2251047" cy="1030357"/>
          </a:xfrm>
          <a:custGeom>
            <a:avLst/>
            <a:gdLst>
              <a:gd name="connsiteX0" fmla="*/ 87500 w 1630673"/>
              <a:gd name="connsiteY0" fmla="*/ 373712 h 548640"/>
              <a:gd name="connsiteX1" fmla="*/ 39792 w 1630673"/>
              <a:gd name="connsiteY1" fmla="*/ 341907 h 548640"/>
              <a:gd name="connsiteX2" fmla="*/ 7987 w 1630673"/>
              <a:gd name="connsiteY2" fmla="*/ 294199 h 548640"/>
              <a:gd name="connsiteX3" fmla="*/ 35 w 1630673"/>
              <a:gd name="connsiteY3" fmla="*/ 262394 h 548640"/>
              <a:gd name="connsiteX4" fmla="*/ 15938 w 1630673"/>
              <a:gd name="connsiteY4" fmla="*/ 135173 h 548640"/>
              <a:gd name="connsiteX5" fmla="*/ 79548 w 1630673"/>
              <a:gd name="connsiteY5" fmla="*/ 103367 h 548640"/>
              <a:gd name="connsiteX6" fmla="*/ 222672 w 1630673"/>
              <a:gd name="connsiteY6" fmla="*/ 87465 h 548640"/>
              <a:gd name="connsiteX7" fmla="*/ 540724 w 1630673"/>
              <a:gd name="connsiteY7" fmla="*/ 79514 h 548640"/>
              <a:gd name="connsiteX8" fmla="*/ 604335 w 1630673"/>
              <a:gd name="connsiteY8" fmla="*/ 71562 h 548640"/>
              <a:gd name="connsiteX9" fmla="*/ 659994 w 1630673"/>
              <a:gd name="connsiteY9" fmla="*/ 63611 h 548640"/>
              <a:gd name="connsiteX10" fmla="*/ 779263 w 1630673"/>
              <a:gd name="connsiteY10" fmla="*/ 55660 h 548640"/>
              <a:gd name="connsiteX11" fmla="*/ 858776 w 1630673"/>
              <a:gd name="connsiteY11" fmla="*/ 39757 h 548640"/>
              <a:gd name="connsiteX12" fmla="*/ 1009851 w 1630673"/>
              <a:gd name="connsiteY12" fmla="*/ 0 h 548640"/>
              <a:gd name="connsiteX13" fmla="*/ 1319952 w 1630673"/>
              <a:gd name="connsiteY13" fmla="*/ 7952 h 548640"/>
              <a:gd name="connsiteX14" fmla="*/ 1407416 w 1630673"/>
              <a:gd name="connsiteY14" fmla="*/ 23854 h 548640"/>
              <a:gd name="connsiteX15" fmla="*/ 1502832 w 1630673"/>
              <a:gd name="connsiteY15" fmla="*/ 31806 h 548640"/>
              <a:gd name="connsiteX16" fmla="*/ 1534637 w 1630673"/>
              <a:gd name="connsiteY16" fmla="*/ 39757 h 548640"/>
              <a:gd name="connsiteX17" fmla="*/ 1598248 w 1630673"/>
              <a:gd name="connsiteY17" fmla="*/ 111319 h 548640"/>
              <a:gd name="connsiteX18" fmla="*/ 1614150 w 1630673"/>
              <a:gd name="connsiteY18" fmla="*/ 190832 h 548640"/>
              <a:gd name="connsiteX19" fmla="*/ 1630053 w 1630673"/>
              <a:gd name="connsiteY19" fmla="*/ 238540 h 548640"/>
              <a:gd name="connsiteX20" fmla="*/ 1622101 w 1630673"/>
              <a:gd name="connsiteY20" fmla="*/ 357809 h 548640"/>
              <a:gd name="connsiteX21" fmla="*/ 1574394 w 1630673"/>
              <a:gd name="connsiteY21" fmla="*/ 429371 h 548640"/>
              <a:gd name="connsiteX22" fmla="*/ 1542588 w 1630673"/>
              <a:gd name="connsiteY22" fmla="*/ 437322 h 548640"/>
              <a:gd name="connsiteX23" fmla="*/ 1486929 w 1630673"/>
              <a:gd name="connsiteY23" fmla="*/ 453225 h 548640"/>
              <a:gd name="connsiteX24" fmla="*/ 1439221 w 1630673"/>
              <a:gd name="connsiteY24" fmla="*/ 477079 h 548640"/>
              <a:gd name="connsiteX25" fmla="*/ 1375611 w 1630673"/>
              <a:gd name="connsiteY25" fmla="*/ 508884 h 548640"/>
              <a:gd name="connsiteX26" fmla="*/ 1296098 w 1630673"/>
              <a:gd name="connsiteY26" fmla="*/ 524787 h 548640"/>
              <a:gd name="connsiteX27" fmla="*/ 1264293 w 1630673"/>
              <a:gd name="connsiteY27" fmla="*/ 532738 h 548640"/>
              <a:gd name="connsiteX28" fmla="*/ 1160926 w 1630673"/>
              <a:gd name="connsiteY28" fmla="*/ 548640 h 548640"/>
              <a:gd name="connsiteX29" fmla="*/ 985997 w 1630673"/>
              <a:gd name="connsiteY29" fmla="*/ 540689 h 548640"/>
              <a:gd name="connsiteX30" fmla="*/ 954192 w 1630673"/>
              <a:gd name="connsiteY30" fmla="*/ 532738 h 548640"/>
              <a:gd name="connsiteX31" fmla="*/ 524821 w 1630673"/>
              <a:gd name="connsiteY31" fmla="*/ 524787 h 548640"/>
              <a:gd name="connsiteX32" fmla="*/ 421455 w 1630673"/>
              <a:gd name="connsiteY32" fmla="*/ 500933 h 548640"/>
              <a:gd name="connsiteX33" fmla="*/ 373747 w 1630673"/>
              <a:gd name="connsiteY33" fmla="*/ 492981 h 548640"/>
              <a:gd name="connsiteX34" fmla="*/ 341941 w 1630673"/>
              <a:gd name="connsiteY34" fmla="*/ 485030 h 548640"/>
              <a:gd name="connsiteX35" fmla="*/ 286282 w 1630673"/>
              <a:gd name="connsiteY35" fmla="*/ 469127 h 548640"/>
              <a:gd name="connsiteX36" fmla="*/ 230623 w 1630673"/>
              <a:gd name="connsiteY36" fmla="*/ 461176 h 548640"/>
              <a:gd name="connsiteX37" fmla="*/ 206769 w 1630673"/>
              <a:gd name="connsiteY37" fmla="*/ 453225 h 548640"/>
              <a:gd name="connsiteX38" fmla="*/ 167013 w 1630673"/>
              <a:gd name="connsiteY38" fmla="*/ 445274 h 548640"/>
              <a:gd name="connsiteX39" fmla="*/ 135208 w 1630673"/>
              <a:gd name="connsiteY39" fmla="*/ 437322 h 548640"/>
              <a:gd name="connsiteX40" fmla="*/ 87500 w 1630673"/>
              <a:gd name="connsiteY40" fmla="*/ 373712 h 54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30673" h="548640">
                <a:moveTo>
                  <a:pt x="87500" y="373712"/>
                </a:moveTo>
                <a:cubicBezTo>
                  <a:pt x="71597" y="357810"/>
                  <a:pt x="53307" y="355422"/>
                  <a:pt x="39792" y="341907"/>
                </a:cubicBezTo>
                <a:cubicBezTo>
                  <a:pt x="26277" y="328392"/>
                  <a:pt x="7987" y="294199"/>
                  <a:pt x="7987" y="294199"/>
                </a:cubicBezTo>
                <a:cubicBezTo>
                  <a:pt x="5336" y="283597"/>
                  <a:pt x="-511" y="273308"/>
                  <a:pt x="35" y="262394"/>
                </a:cubicBezTo>
                <a:cubicBezTo>
                  <a:pt x="2169" y="219710"/>
                  <a:pt x="3069" y="175926"/>
                  <a:pt x="15938" y="135173"/>
                </a:cubicBezTo>
                <a:cubicBezTo>
                  <a:pt x="22118" y="115604"/>
                  <a:pt x="63227" y="105593"/>
                  <a:pt x="79548" y="103367"/>
                </a:cubicBezTo>
                <a:cubicBezTo>
                  <a:pt x="127109" y="96881"/>
                  <a:pt x="174735" y="89944"/>
                  <a:pt x="222672" y="87465"/>
                </a:cubicBezTo>
                <a:cubicBezTo>
                  <a:pt x="328581" y="81987"/>
                  <a:pt x="434707" y="82164"/>
                  <a:pt x="540724" y="79514"/>
                </a:cubicBezTo>
                <a:lnTo>
                  <a:pt x="604335" y="71562"/>
                </a:lnTo>
                <a:cubicBezTo>
                  <a:pt x="622912" y="69085"/>
                  <a:pt x="641330" y="65308"/>
                  <a:pt x="659994" y="63611"/>
                </a:cubicBezTo>
                <a:cubicBezTo>
                  <a:pt x="699675" y="60004"/>
                  <a:pt x="739507" y="58310"/>
                  <a:pt x="779263" y="55660"/>
                </a:cubicBezTo>
                <a:cubicBezTo>
                  <a:pt x="805767" y="50359"/>
                  <a:pt x="833134" y="48304"/>
                  <a:pt x="858776" y="39757"/>
                </a:cubicBezTo>
                <a:cubicBezTo>
                  <a:pt x="971972" y="2026"/>
                  <a:pt x="921003" y="12694"/>
                  <a:pt x="1009851" y="0"/>
                </a:cubicBezTo>
                <a:cubicBezTo>
                  <a:pt x="1113218" y="2651"/>
                  <a:pt x="1216737" y="1759"/>
                  <a:pt x="1319952" y="7952"/>
                </a:cubicBezTo>
                <a:cubicBezTo>
                  <a:pt x="1349531" y="9727"/>
                  <a:pt x="1378032" y="20021"/>
                  <a:pt x="1407416" y="23854"/>
                </a:cubicBezTo>
                <a:cubicBezTo>
                  <a:pt x="1439064" y="27982"/>
                  <a:pt x="1471027" y="29155"/>
                  <a:pt x="1502832" y="31806"/>
                </a:cubicBezTo>
                <a:cubicBezTo>
                  <a:pt x="1513434" y="34456"/>
                  <a:pt x="1524863" y="34870"/>
                  <a:pt x="1534637" y="39757"/>
                </a:cubicBezTo>
                <a:cubicBezTo>
                  <a:pt x="1569958" y="57417"/>
                  <a:pt x="1576073" y="78057"/>
                  <a:pt x="1598248" y="111319"/>
                </a:cubicBezTo>
                <a:cubicBezTo>
                  <a:pt x="1603549" y="137823"/>
                  <a:pt x="1607595" y="164610"/>
                  <a:pt x="1614150" y="190832"/>
                </a:cubicBezTo>
                <a:cubicBezTo>
                  <a:pt x="1618216" y="207094"/>
                  <a:pt x="1629256" y="221796"/>
                  <a:pt x="1630053" y="238540"/>
                </a:cubicBezTo>
                <a:cubicBezTo>
                  <a:pt x="1631948" y="278340"/>
                  <a:pt x="1629556" y="318668"/>
                  <a:pt x="1622101" y="357809"/>
                </a:cubicBezTo>
                <a:cubicBezTo>
                  <a:pt x="1618558" y="376412"/>
                  <a:pt x="1594795" y="417714"/>
                  <a:pt x="1574394" y="429371"/>
                </a:cubicBezTo>
                <a:cubicBezTo>
                  <a:pt x="1564906" y="434793"/>
                  <a:pt x="1553131" y="434447"/>
                  <a:pt x="1542588" y="437322"/>
                </a:cubicBezTo>
                <a:cubicBezTo>
                  <a:pt x="1523972" y="442399"/>
                  <a:pt x="1505482" y="447924"/>
                  <a:pt x="1486929" y="453225"/>
                </a:cubicBezTo>
                <a:cubicBezTo>
                  <a:pt x="1434653" y="488074"/>
                  <a:pt x="1490952" y="453565"/>
                  <a:pt x="1439221" y="477079"/>
                </a:cubicBezTo>
                <a:cubicBezTo>
                  <a:pt x="1417640" y="486889"/>
                  <a:pt x="1398857" y="504235"/>
                  <a:pt x="1375611" y="508884"/>
                </a:cubicBezTo>
                <a:lnTo>
                  <a:pt x="1296098" y="524787"/>
                </a:lnTo>
                <a:cubicBezTo>
                  <a:pt x="1285413" y="527077"/>
                  <a:pt x="1275009" y="530595"/>
                  <a:pt x="1264293" y="532738"/>
                </a:cubicBezTo>
                <a:cubicBezTo>
                  <a:pt x="1236713" y="538254"/>
                  <a:pt x="1187657" y="544821"/>
                  <a:pt x="1160926" y="548640"/>
                </a:cubicBezTo>
                <a:cubicBezTo>
                  <a:pt x="1102616" y="545990"/>
                  <a:pt x="1044195" y="545166"/>
                  <a:pt x="985997" y="540689"/>
                </a:cubicBezTo>
                <a:cubicBezTo>
                  <a:pt x="975101" y="539851"/>
                  <a:pt x="965113" y="533115"/>
                  <a:pt x="954192" y="532738"/>
                </a:cubicBezTo>
                <a:cubicBezTo>
                  <a:pt x="811129" y="527805"/>
                  <a:pt x="667945" y="527437"/>
                  <a:pt x="524821" y="524787"/>
                </a:cubicBezTo>
                <a:cubicBezTo>
                  <a:pt x="490366" y="516836"/>
                  <a:pt x="456057" y="508218"/>
                  <a:pt x="421455" y="500933"/>
                </a:cubicBezTo>
                <a:cubicBezTo>
                  <a:pt x="405679" y="497612"/>
                  <a:pt x="389556" y="496143"/>
                  <a:pt x="373747" y="492981"/>
                </a:cubicBezTo>
                <a:cubicBezTo>
                  <a:pt x="363031" y="490838"/>
                  <a:pt x="352449" y="488032"/>
                  <a:pt x="341941" y="485030"/>
                </a:cubicBezTo>
                <a:cubicBezTo>
                  <a:pt x="312137" y="476515"/>
                  <a:pt x="320460" y="475341"/>
                  <a:pt x="286282" y="469127"/>
                </a:cubicBezTo>
                <a:cubicBezTo>
                  <a:pt x="267843" y="465774"/>
                  <a:pt x="249176" y="463826"/>
                  <a:pt x="230623" y="461176"/>
                </a:cubicBezTo>
                <a:cubicBezTo>
                  <a:pt x="222672" y="458526"/>
                  <a:pt x="214900" y="455258"/>
                  <a:pt x="206769" y="453225"/>
                </a:cubicBezTo>
                <a:cubicBezTo>
                  <a:pt x="193658" y="449947"/>
                  <a:pt x="180206" y="448206"/>
                  <a:pt x="167013" y="445274"/>
                </a:cubicBezTo>
                <a:cubicBezTo>
                  <a:pt x="156345" y="442903"/>
                  <a:pt x="145810" y="439973"/>
                  <a:pt x="135208" y="437322"/>
                </a:cubicBezTo>
                <a:cubicBezTo>
                  <a:pt x="100115" y="384683"/>
                  <a:pt x="103403" y="389614"/>
                  <a:pt x="87500" y="373712"/>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Freeform: Shape 21">
            <a:extLst>
              <a:ext uri="{FF2B5EF4-FFF2-40B4-BE49-F238E27FC236}">
                <a16:creationId xmlns:a16="http://schemas.microsoft.com/office/drawing/2014/main" xmlns="" id="{EAD92BC7-6FB2-4F42-9F10-A5FD5E3F43D3}"/>
              </a:ext>
            </a:extLst>
          </p:cNvPr>
          <p:cNvSpPr/>
          <p:nvPr/>
        </p:nvSpPr>
        <p:spPr>
          <a:xfrm>
            <a:off x="4572000" y="3693584"/>
            <a:ext cx="1539628" cy="954616"/>
          </a:xfrm>
          <a:custGeom>
            <a:avLst/>
            <a:gdLst>
              <a:gd name="connsiteX0" fmla="*/ 87500 w 1630673"/>
              <a:gd name="connsiteY0" fmla="*/ 373712 h 548640"/>
              <a:gd name="connsiteX1" fmla="*/ 39792 w 1630673"/>
              <a:gd name="connsiteY1" fmla="*/ 341907 h 548640"/>
              <a:gd name="connsiteX2" fmla="*/ 7987 w 1630673"/>
              <a:gd name="connsiteY2" fmla="*/ 294199 h 548640"/>
              <a:gd name="connsiteX3" fmla="*/ 35 w 1630673"/>
              <a:gd name="connsiteY3" fmla="*/ 262394 h 548640"/>
              <a:gd name="connsiteX4" fmla="*/ 15938 w 1630673"/>
              <a:gd name="connsiteY4" fmla="*/ 135173 h 548640"/>
              <a:gd name="connsiteX5" fmla="*/ 79548 w 1630673"/>
              <a:gd name="connsiteY5" fmla="*/ 103367 h 548640"/>
              <a:gd name="connsiteX6" fmla="*/ 222672 w 1630673"/>
              <a:gd name="connsiteY6" fmla="*/ 87465 h 548640"/>
              <a:gd name="connsiteX7" fmla="*/ 540724 w 1630673"/>
              <a:gd name="connsiteY7" fmla="*/ 79514 h 548640"/>
              <a:gd name="connsiteX8" fmla="*/ 604335 w 1630673"/>
              <a:gd name="connsiteY8" fmla="*/ 71562 h 548640"/>
              <a:gd name="connsiteX9" fmla="*/ 659994 w 1630673"/>
              <a:gd name="connsiteY9" fmla="*/ 63611 h 548640"/>
              <a:gd name="connsiteX10" fmla="*/ 779263 w 1630673"/>
              <a:gd name="connsiteY10" fmla="*/ 55660 h 548640"/>
              <a:gd name="connsiteX11" fmla="*/ 858776 w 1630673"/>
              <a:gd name="connsiteY11" fmla="*/ 39757 h 548640"/>
              <a:gd name="connsiteX12" fmla="*/ 1009851 w 1630673"/>
              <a:gd name="connsiteY12" fmla="*/ 0 h 548640"/>
              <a:gd name="connsiteX13" fmla="*/ 1319952 w 1630673"/>
              <a:gd name="connsiteY13" fmla="*/ 7952 h 548640"/>
              <a:gd name="connsiteX14" fmla="*/ 1407416 w 1630673"/>
              <a:gd name="connsiteY14" fmla="*/ 23854 h 548640"/>
              <a:gd name="connsiteX15" fmla="*/ 1502832 w 1630673"/>
              <a:gd name="connsiteY15" fmla="*/ 31806 h 548640"/>
              <a:gd name="connsiteX16" fmla="*/ 1534637 w 1630673"/>
              <a:gd name="connsiteY16" fmla="*/ 39757 h 548640"/>
              <a:gd name="connsiteX17" fmla="*/ 1598248 w 1630673"/>
              <a:gd name="connsiteY17" fmla="*/ 111319 h 548640"/>
              <a:gd name="connsiteX18" fmla="*/ 1614150 w 1630673"/>
              <a:gd name="connsiteY18" fmla="*/ 190832 h 548640"/>
              <a:gd name="connsiteX19" fmla="*/ 1630053 w 1630673"/>
              <a:gd name="connsiteY19" fmla="*/ 238540 h 548640"/>
              <a:gd name="connsiteX20" fmla="*/ 1622101 w 1630673"/>
              <a:gd name="connsiteY20" fmla="*/ 357809 h 548640"/>
              <a:gd name="connsiteX21" fmla="*/ 1574394 w 1630673"/>
              <a:gd name="connsiteY21" fmla="*/ 429371 h 548640"/>
              <a:gd name="connsiteX22" fmla="*/ 1542588 w 1630673"/>
              <a:gd name="connsiteY22" fmla="*/ 437322 h 548640"/>
              <a:gd name="connsiteX23" fmla="*/ 1486929 w 1630673"/>
              <a:gd name="connsiteY23" fmla="*/ 453225 h 548640"/>
              <a:gd name="connsiteX24" fmla="*/ 1439221 w 1630673"/>
              <a:gd name="connsiteY24" fmla="*/ 477079 h 548640"/>
              <a:gd name="connsiteX25" fmla="*/ 1375611 w 1630673"/>
              <a:gd name="connsiteY25" fmla="*/ 508884 h 548640"/>
              <a:gd name="connsiteX26" fmla="*/ 1296098 w 1630673"/>
              <a:gd name="connsiteY26" fmla="*/ 524787 h 548640"/>
              <a:gd name="connsiteX27" fmla="*/ 1264293 w 1630673"/>
              <a:gd name="connsiteY27" fmla="*/ 532738 h 548640"/>
              <a:gd name="connsiteX28" fmla="*/ 1160926 w 1630673"/>
              <a:gd name="connsiteY28" fmla="*/ 548640 h 548640"/>
              <a:gd name="connsiteX29" fmla="*/ 985997 w 1630673"/>
              <a:gd name="connsiteY29" fmla="*/ 540689 h 548640"/>
              <a:gd name="connsiteX30" fmla="*/ 954192 w 1630673"/>
              <a:gd name="connsiteY30" fmla="*/ 532738 h 548640"/>
              <a:gd name="connsiteX31" fmla="*/ 524821 w 1630673"/>
              <a:gd name="connsiteY31" fmla="*/ 524787 h 548640"/>
              <a:gd name="connsiteX32" fmla="*/ 421455 w 1630673"/>
              <a:gd name="connsiteY32" fmla="*/ 500933 h 548640"/>
              <a:gd name="connsiteX33" fmla="*/ 373747 w 1630673"/>
              <a:gd name="connsiteY33" fmla="*/ 492981 h 548640"/>
              <a:gd name="connsiteX34" fmla="*/ 341941 w 1630673"/>
              <a:gd name="connsiteY34" fmla="*/ 485030 h 548640"/>
              <a:gd name="connsiteX35" fmla="*/ 286282 w 1630673"/>
              <a:gd name="connsiteY35" fmla="*/ 469127 h 548640"/>
              <a:gd name="connsiteX36" fmla="*/ 230623 w 1630673"/>
              <a:gd name="connsiteY36" fmla="*/ 461176 h 548640"/>
              <a:gd name="connsiteX37" fmla="*/ 206769 w 1630673"/>
              <a:gd name="connsiteY37" fmla="*/ 453225 h 548640"/>
              <a:gd name="connsiteX38" fmla="*/ 167013 w 1630673"/>
              <a:gd name="connsiteY38" fmla="*/ 445274 h 548640"/>
              <a:gd name="connsiteX39" fmla="*/ 135208 w 1630673"/>
              <a:gd name="connsiteY39" fmla="*/ 437322 h 548640"/>
              <a:gd name="connsiteX40" fmla="*/ 87500 w 1630673"/>
              <a:gd name="connsiteY40" fmla="*/ 373712 h 54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30673" h="548640">
                <a:moveTo>
                  <a:pt x="87500" y="373712"/>
                </a:moveTo>
                <a:cubicBezTo>
                  <a:pt x="71597" y="357810"/>
                  <a:pt x="53307" y="355422"/>
                  <a:pt x="39792" y="341907"/>
                </a:cubicBezTo>
                <a:cubicBezTo>
                  <a:pt x="26277" y="328392"/>
                  <a:pt x="7987" y="294199"/>
                  <a:pt x="7987" y="294199"/>
                </a:cubicBezTo>
                <a:cubicBezTo>
                  <a:pt x="5336" y="283597"/>
                  <a:pt x="-511" y="273308"/>
                  <a:pt x="35" y="262394"/>
                </a:cubicBezTo>
                <a:cubicBezTo>
                  <a:pt x="2169" y="219710"/>
                  <a:pt x="3069" y="175926"/>
                  <a:pt x="15938" y="135173"/>
                </a:cubicBezTo>
                <a:cubicBezTo>
                  <a:pt x="22118" y="115604"/>
                  <a:pt x="63227" y="105593"/>
                  <a:pt x="79548" y="103367"/>
                </a:cubicBezTo>
                <a:cubicBezTo>
                  <a:pt x="127109" y="96881"/>
                  <a:pt x="174735" y="89944"/>
                  <a:pt x="222672" y="87465"/>
                </a:cubicBezTo>
                <a:cubicBezTo>
                  <a:pt x="328581" y="81987"/>
                  <a:pt x="434707" y="82164"/>
                  <a:pt x="540724" y="79514"/>
                </a:cubicBezTo>
                <a:lnTo>
                  <a:pt x="604335" y="71562"/>
                </a:lnTo>
                <a:cubicBezTo>
                  <a:pt x="622912" y="69085"/>
                  <a:pt x="641330" y="65308"/>
                  <a:pt x="659994" y="63611"/>
                </a:cubicBezTo>
                <a:cubicBezTo>
                  <a:pt x="699675" y="60004"/>
                  <a:pt x="739507" y="58310"/>
                  <a:pt x="779263" y="55660"/>
                </a:cubicBezTo>
                <a:cubicBezTo>
                  <a:pt x="805767" y="50359"/>
                  <a:pt x="833134" y="48304"/>
                  <a:pt x="858776" y="39757"/>
                </a:cubicBezTo>
                <a:cubicBezTo>
                  <a:pt x="971972" y="2026"/>
                  <a:pt x="921003" y="12694"/>
                  <a:pt x="1009851" y="0"/>
                </a:cubicBezTo>
                <a:cubicBezTo>
                  <a:pt x="1113218" y="2651"/>
                  <a:pt x="1216737" y="1759"/>
                  <a:pt x="1319952" y="7952"/>
                </a:cubicBezTo>
                <a:cubicBezTo>
                  <a:pt x="1349531" y="9727"/>
                  <a:pt x="1378032" y="20021"/>
                  <a:pt x="1407416" y="23854"/>
                </a:cubicBezTo>
                <a:cubicBezTo>
                  <a:pt x="1439064" y="27982"/>
                  <a:pt x="1471027" y="29155"/>
                  <a:pt x="1502832" y="31806"/>
                </a:cubicBezTo>
                <a:cubicBezTo>
                  <a:pt x="1513434" y="34456"/>
                  <a:pt x="1524863" y="34870"/>
                  <a:pt x="1534637" y="39757"/>
                </a:cubicBezTo>
                <a:cubicBezTo>
                  <a:pt x="1569958" y="57417"/>
                  <a:pt x="1576073" y="78057"/>
                  <a:pt x="1598248" y="111319"/>
                </a:cubicBezTo>
                <a:cubicBezTo>
                  <a:pt x="1603549" y="137823"/>
                  <a:pt x="1607595" y="164610"/>
                  <a:pt x="1614150" y="190832"/>
                </a:cubicBezTo>
                <a:cubicBezTo>
                  <a:pt x="1618216" y="207094"/>
                  <a:pt x="1629256" y="221796"/>
                  <a:pt x="1630053" y="238540"/>
                </a:cubicBezTo>
                <a:cubicBezTo>
                  <a:pt x="1631948" y="278340"/>
                  <a:pt x="1629556" y="318668"/>
                  <a:pt x="1622101" y="357809"/>
                </a:cubicBezTo>
                <a:cubicBezTo>
                  <a:pt x="1618558" y="376412"/>
                  <a:pt x="1594795" y="417714"/>
                  <a:pt x="1574394" y="429371"/>
                </a:cubicBezTo>
                <a:cubicBezTo>
                  <a:pt x="1564906" y="434793"/>
                  <a:pt x="1553131" y="434447"/>
                  <a:pt x="1542588" y="437322"/>
                </a:cubicBezTo>
                <a:cubicBezTo>
                  <a:pt x="1523972" y="442399"/>
                  <a:pt x="1505482" y="447924"/>
                  <a:pt x="1486929" y="453225"/>
                </a:cubicBezTo>
                <a:cubicBezTo>
                  <a:pt x="1434653" y="488074"/>
                  <a:pt x="1490952" y="453565"/>
                  <a:pt x="1439221" y="477079"/>
                </a:cubicBezTo>
                <a:cubicBezTo>
                  <a:pt x="1417640" y="486889"/>
                  <a:pt x="1398857" y="504235"/>
                  <a:pt x="1375611" y="508884"/>
                </a:cubicBezTo>
                <a:lnTo>
                  <a:pt x="1296098" y="524787"/>
                </a:lnTo>
                <a:cubicBezTo>
                  <a:pt x="1285413" y="527077"/>
                  <a:pt x="1275009" y="530595"/>
                  <a:pt x="1264293" y="532738"/>
                </a:cubicBezTo>
                <a:cubicBezTo>
                  <a:pt x="1236713" y="538254"/>
                  <a:pt x="1187657" y="544821"/>
                  <a:pt x="1160926" y="548640"/>
                </a:cubicBezTo>
                <a:cubicBezTo>
                  <a:pt x="1102616" y="545990"/>
                  <a:pt x="1044195" y="545166"/>
                  <a:pt x="985997" y="540689"/>
                </a:cubicBezTo>
                <a:cubicBezTo>
                  <a:pt x="975101" y="539851"/>
                  <a:pt x="965113" y="533115"/>
                  <a:pt x="954192" y="532738"/>
                </a:cubicBezTo>
                <a:cubicBezTo>
                  <a:pt x="811129" y="527805"/>
                  <a:pt x="667945" y="527437"/>
                  <a:pt x="524821" y="524787"/>
                </a:cubicBezTo>
                <a:cubicBezTo>
                  <a:pt x="490366" y="516836"/>
                  <a:pt x="456057" y="508218"/>
                  <a:pt x="421455" y="500933"/>
                </a:cubicBezTo>
                <a:cubicBezTo>
                  <a:pt x="405679" y="497612"/>
                  <a:pt x="389556" y="496143"/>
                  <a:pt x="373747" y="492981"/>
                </a:cubicBezTo>
                <a:cubicBezTo>
                  <a:pt x="363031" y="490838"/>
                  <a:pt x="352449" y="488032"/>
                  <a:pt x="341941" y="485030"/>
                </a:cubicBezTo>
                <a:cubicBezTo>
                  <a:pt x="312137" y="476515"/>
                  <a:pt x="320460" y="475341"/>
                  <a:pt x="286282" y="469127"/>
                </a:cubicBezTo>
                <a:cubicBezTo>
                  <a:pt x="267843" y="465774"/>
                  <a:pt x="249176" y="463826"/>
                  <a:pt x="230623" y="461176"/>
                </a:cubicBezTo>
                <a:cubicBezTo>
                  <a:pt x="222672" y="458526"/>
                  <a:pt x="214900" y="455258"/>
                  <a:pt x="206769" y="453225"/>
                </a:cubicBezTo>
                <a:cubicBezTo>
                  <a:pt x="193658" y="449947"/>
                  <a:pt x="180206" y="448206"/>
                  <a:pt x="167013" y="445274"/>
                </a:cubicBezTo>
                <a:cubicBezTo>
                  <a:pt x="156345" y="442903"/>
                  <a:pt x="145810" y="439973"/>
                  <a:pt x="135208" y="437322"/>
                </a:cubicBezTo>
                <a:cubicBezTo>
                  <a:pt x="100115" y="384683"/>
                  <a:pt x="103403" y="389614"/>
                  <a:pt x="87500" y="373712"/>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7" name="Picture 16">
            <a:extLst>
              <a:ext uri="{FF2B5EF4-FFF2-40B4-BE49-F238E27FC236}">
                <a16:creationId xmlns:a16="http://schemas.microsoft.com/office/drawing/2014/main" xmlns="" id="{6BD23AC7-7BEE-4009-8467-6511AFAF2427}"/>
              </a:ext>
            </a:extLst>
          </p:cNvPr>
          <p:cNvPicPr>
            <a:picLocks noChangeAspect="1"/>
          </p:cNvPicPr>
          <p:nvPr/>
        </p:nvPicPr>
        <p:blipFill>
          <a:blip r:embed="rId5"/>
          <a:stretch>
            <a:fillRect/>
          </a:stretch>
        </p:blipFill>
        <p:spPr>
          <a:xfrm>
            <a:off x="76200" y="2682460"/>
            <a:ext cx="4131342" cy="1508540"/>
          </a:xfrm>
          <a:prstGeom prst="rect">
            <a:avLst/>
          </a:prstGeom>
        </p:spPr>
      </p:pic>
      <p:sp>
        <p:nvSpPr>
          <p:cNvPr id="15" name="Oval 14">
            <a:extLst>
              <a:ext uri="{FF2B5EF4-FFF2-40B4-BE49-F238E27FC236}">
                <a16:creationId xmlns:a16="http://schemas.microsoft.com/office/drawing/2014/main" xmlns="" id="{D23AEF27-DD04-48AC-9F04-AD6E85969A11}"/>
              </a:ext>
            </a:extLst>
          </p:cNvPr>
          <p:cNvSpPr/>
          <p:nvPr/>
        </p:nvSpPr>
        <p:spPr>
          <a:xfrm>
            <a:off x="4835791" y="3205740"/>
            <a:ext cx="620686" cy="55623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sz="800" dirty="0">
                <a:solidFill>
                  <a:schemeClr val="tx1"/>
                </a:solidFill>
              </a:rPr>
              <a:t>1.5</a:t>
            </a:r>
          </a:p>
          <a:p>
            <a:r>
              <a:rPr lang="en-US" sz="800" dirty="0">
                <a:solidFill>
                  <a:schemeClr val="tx1"/>
                </a:solidFill>
              </a:rPr>
              <a:t>1</a:t>
            </a:r>
          </a:p>
        </p:txBody>
      </p:sp>
      <p:sp>
        <p:nvSpPr>
          <p:cNvPr id="20" name="Oval 19">
            <a:extLst>
              <a:ext uri="{FF2B5EF4-FFF2-40B4-BE49-F238E27FC236}">
                <a16:creationId xmlns:a16="http://schemas.microsoft.com/office/drawing/2014/main" xmlns="" id="{D23AEF27-DD04-48AC-9F04-AD6E85969A11}"/>
              </a:ext>
            </a:extLst>
          </p:cNvPr>
          <p:cNvSpPr/>
          <p:nvPr/>
        </p:nvSpPr>
        <p:spPr>
          <a:xfrm>
            <a:off x="7682246" y="3784751"/>
            <a:ext cx="620686" cy="55623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sz="800" dirty="0">
                <a:solidFill>
                  <a:schemeClr val="tx1"/>
                </a:solidFill>
              </a:rPr>
              <a:t>5.33</a:t>
            </a:r>
          </a:p>
          <a:p>
            <a:r>
              <a:rPr lang="en-US" sz="800" dirty="0">
                <a:solidFill>
                  <a:schemeClr val="tx1"/>
                </a:solidFill>
              </a:rPr>
              <a:t>6.33</a:t>
            </a:r>
          </a:p>
        </p:txBody>
      </p:sp>
      <p:sp>
        <p:nvSpPr>
          <p:cNvPr id="23" name="TextBox 22">
            <a:extLst>
              <a:ext uri="{FF2B5EF4-FFF2-40B4-BE49-F238E27FC236}">
                <a16:creationId xmlns:a16="http://schemas.microsoft.com/office/drawing/2014/main" xmlns="" id="{33ECCD9E-8E39-4663-A1AD-4BC69BFC5AB8}"/>
              </a:ext>
            </a:extLst>
          </p:cNvPr>
          <p:cNvSpPr txBox="1"/>
          <p:nvPr/>
        </p:nvSpPr>
        <p:spPr>
          <a:xfrm>
            <a:off x="569615" y="5580457"/>
            <a:ext cx="2630848" cy="369332"/>
          </a:xfrm>
          <a:prstGeom prst="rect">
            <a:avLst/>
          </a:prstGeom>
          <a:noFill/>
        </p:spPr>
        <p:txBody>
          <a:bodyPr wrap="none" rtlCol="0">
            <a:spAutoFit/>
          </a:bodyPr>
          <a:lstStyle/>
          <a:p>
            <a:r>
              <a:rPr lang="en-IN" dirty="0"/>
              <a:t>A= </a:t>
            </a:r>
            <a:r>
              <a:rPr lang="en-IN" dirty="0">
                <a:solidFill>
                  <a:srgbClr val="FF0000"/>
                </a:solidFill>
              </a:rPr>
              <a:t>(1+2)/2=1.5</a:t>
            </a:r>
            <a:r>
              <a:rPr lang="en-IN" dirty="0"/>
              <a:t>, </a:t>
            </a:r>
            <a:r>
              <a:rPr lang="en-IN" dirty="0">
                <a:solidFill>
                  <a:srgbClr val="FF0000"/>
                </a:solidFill>
              </a:rPr>
              <a:t>(1+1)/2=1</a:t>
            </a:r>
          </a:p>
        </p:txBody>
      </p:sp>
      <p:sp>
        <p:nvSpPr>
          <p:cNvPr id="24" name="TextBox 23">
            <a:extLst>
              <a:ext uri="{FF2B5EF4-FFF2-40B4-BE49-F238E27FC236}">
                <a16:creationId xmlns:a16="http://schemas.microsoft.com/office/drawing/2014/main" xmlns="" id="{40149F9A-BCB1-4257-9179-3F22FDAAB148}"/>
              </a:ext>
            </a:extLst>
          </p:cNvPr>
          <p:cNvSpPr txBox="1"/>
          <p:nvPr/>
        </p:nvSpPr>
        <p:spPr>
          <a:xfrm>
            <a:off x="4953000" y="5580457"/>
            <a:ext cx="3496470" cy="369332"/>
          </a:xfrm>
          <a:prstGeom prst="rect">
            <a:avLst/>
          </a:prstGeom>
          <a:noFill/>
        </p:spPr>
        <p:txBody>
          <a:bodyPr wrap="none" rtlCol="0">
            <a:spAutoFit/>
          </a:bodyPr>
          <a:lstStyle/>
          <a:p>
            <a:r>
              <a:rPr lang="en-IN" dirty="0"/>
              <a:t>B= </a:t>
            </a:r>
            <a:r>
              <a:rPr lang="en-IN" dirty="0">
                <a:solidFill>
                  <a:srgbClr val="FF0000"/>
                </a:solidFill>
              </a:rPr>
              <a:t>(4+7+5)/3=5.33</a:t>
            </a:r>
            <a:r>
              <a:rPr lang="en-IN" dirty="0"/>
              <a:t>, </a:t>
            </a:r>
            <a:r>
              <a:rPr lang="en-IN" dirty="0">
                <a:solidFill>
                  <a:srgbClr val="FF0000"/>
                </a:solidFill>
              </a:rPr>
              <a:t>(5+7+7)/3=6.33</a:t>
            </a:r>
          </a:p>
        </p:txBody>
      </p:sp>
      <p:sp>
        <p:nvSpPr>
          <p:cNvPr id="25" name="TextBox 24">
            <a:extLst>
              <a:ext uri="{FF2B5EF4-FFF2-40B4-BE49-F238E27FC236}">
                <a16:creationId xmlns:a16="http://schemas.microsoft.com/office/drawing/2014/main" xmlns="" id="{6A3E2F89-9AFD-4E5D-9634-1450EA0011A8}"/>
              </a:ext>
            </a:extLst>
          </p:cNvPr>
          <p:cNvSpPr txBox="1"/>
          <p:nvPr/>
        </p:nvSpPr>
        <p:spPr>
          <a:xfrm>
            <a:off x="1582259" y="5278733"/>
            <a:ext cx="845103" cy="369332"/>
          </a:xfrm>
          <a:prstGeom prst="rect">
            <a:avLst/>
          </a:prstGeom>
          <a:noFill/>
        </p:spPr>
        <p:txBody>
          <a:bodyPr wrap="none" rtlCol="0">
            <a:spAutoFit/>
          </a:bodyPr>
          <a:lstStyle/>
          <a:p>
            <a:r>
              <a:rPr lang="en-IN" dirty="0"/>
              <a:t>(1.5, 1)</a:t>
            </a:r>
          </a:p>
        </p:txBody>
      </p:sp>
      <p:sp>
        <p:nvSpPr>
          <p:cNvPr id="26" name="TextBox 25">
            <a:extLst>
              <a:ext uri="{FF2B5EF4-FFF2-40B4-BE49-F238E27FC236}">
                <a16:creationId xmlns:a16="http://schemas.microsoft.com/office/drawing/2014/main" xmlns="" id="{2E1C7BA9-D0D7-4D2A-B4C9-D49C308824D1}"/>
              </a:ext>
            </a:extLst>
          </p:cNvPr>
          <p:cNvSpPr txBox="1"/>
          <p:nvPr/>
        </p:nvSpPr>
        <p:spPr>
          <a:xfrm>
            <a:off x="6377114" y="5211125"/>
            <a:ext cx="1253869" cy="369332"/>
          </a:xfrm>
          <a:prstGeom prst="rect">
            <a:avLst/>
          </a:prstGeom>
          <a:noFill/>
        </p:spPr>
        <p:txBody>
          <a:bodyPr wrap="none" rtlCol="0">
            <a:spAutoFit/>
          </a:bodyPr>
          <a:lstStyle/>
          <a:p>
            <a:r>
              <a:rPr lang="en-IN" dirty="0"/>
              <a:t>(5.33, 6.33)</a:t>
            </a:r>
          </a:p>
        </p:txBody>
      </p:sp>
    </p:spTree>
    <p:extLst>
      <p:ext uri="{BB962C8B-B14F-4D97-AF65-F5344CB8AC3E}">
        <p14:creationId xmlns:p14="http://schemas.microsoft.com/office/powerpoint/2010/main" val="25427552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Re-Compute the Centroids</a:t>
            </a:r>
          </a:p>
        </p:txBody>
      </p:sp>
      <p:pic>
        <p:nvPicPr>
          <p:cNvPr id="8195"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682513"/>
            <a:ext cx="8229600" cy="4361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420347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Repeat</a:t>
            </a:r>
          </a:p>
        </p:txBody>
      </p:sp>
      <p:sp>
        <p:nvSpPr>
          <p:cNvPr id="4" name="Rectangle 3">
            <a:extLst>
              <a:ext uri="{FF2B5EF4-FFF2-40B4-BE49-F238E27FC236}">
                <a16:creationId xmlns:a16="http://schemas.microsoft.com/office/drawing/2014/main" xmlns="" id="{3A427C80-0E5B-4486-BF2D-9AAEE0DD8573}"/>
              </a:ext>
            </a:extLst>
          </p:cNvPr>
          <p:cNvSpPr/>
          <p:nvPr/>
        </p:nvSpPr>
        <p:spPr>
          <a:xfrm>
            <a:off x="5791200" y="3810000"/>
            <a:ext cx="304800" cy="190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xmlns="" id="{DF16F39B-2B84-4206-9E2F-8A76771A9401}"/>
              </a:ext>
            </a:extLst>
          </p:cNvPr>
          <p:cNvSpPr/>
          <p:nvPr/>
        </p:nvSpPr>
        <p:spPr>
          <a:xfrm>
            <a:off x="7391400" y="2971800"/>
            <a:ext cx="304800" cy="114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7" name="Chart 6">
            <a:extLst>
              <a:ext uri="{FF2B5EF4-FFF2-40B4-BE49-F238E27FC236}">
                <a16:creationId xmlns:a16="http://schemas.microsoft.com/office/drawing/2014/main" xmlns="" id="{D603CB13-E743-4CE3-A806-CEC531152898}"/>
              </a:ext>
            </a:extLst>
          </p:cNvPr>
          <p:cNvGraphicFramePr>
            <a:graphicFrameLocks/>
          </p:cNvGraphicFramePr>
          <p:nvPr/>
        </p:nvGraphicFramePr>
        <p:xfrm>
          <a:off x="4114800" y="2245581"/>
          <a:ext cx="45720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xmlns="" id="{3D6B1717-2F8C-453F-8EE5-AC2829BB137B}"/>
              </a:ext>
            </a:extLst>
          </p:cNvPr>
          <p:cNvSpPr txBox="1"/>
          <p:nvPr/>
        </p:nvSpPr>
        <p:spPr>
          <a:xfrm>
            <a:off x="762000" y="1524000"/>
            <a:ext cx="7924800" cy="646331"/>
          </a:xfrm>
          <a:prstGeom prst="rect">
            <a:avLst/>
          </a:prstGeom>
          <a:noFill/>
        </p:spPr>
        <p:txBody>
          <a:bodyPr wrap="square" rtlCol="0">
            <a:spAutoFit/>
          </a:bodyPr>
          <a:lstStyle/>
          <a:p>
            <a:r>
              <a:rPr lang="en-US" dirty="0"/>
              <a:t>This process is repeated until there is no change in the clusters. K is chosen randomly or by giving specific initial starting points by the user.</a:t>
            </a:r>
          </a:p>
        </p:txBody>
      </p:sp>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xmlns="" id="{B7C3641D-D69A-4137-A6ED-34FFBFC98D97}"/>
                  </a:ext>
                </a:extLst>
              </p14:cNvPr>
              <p14:cNvContentPartPr/>
              <p14:nvPr/>
            </p14:nvContentPartPr>
            <p14:xfrm>
              <a:off x="8937078" y="5008696"/>
              <a:ext cx="360" cy="360"/>
            </p14:xfrm>
          </p:contentPart>
        </mc:Choice>
        <mc:Fallback xmlns="">
          <p:pic>
            <p:nvPicPr>
              <p:cNvPr id="12" name="Ink 11">
                <a:extLst>
                  <a:ext uri="{FF2B5EF4-FFF2-40B4-BE49-F238E27FC236}">
                    <a16:creationId xmlns:a16="http://schemas.microsoft.com/office/drawing/2014/main" id="{B7C3641D-D69A-4137-A6ED-34FFBFC98D97}"/>
                  </a:ext>
                </a:extLst>
              </p:cNvPr>
              <p:cNvPicPr/>
              <p:nvPr/>
            </p:nvPicPr>
            <p:blipFill>
              <a:blip r:embed="rId4"/>
              <a:stretch>
                <a:fillRect/>
              </a:stretch>
            </p:blipFill>
            <p:spPr>
              <a:xfrm>
                <a:off x="8928438" y="5000056"/>
                <a:ext cx="18000" cy="18000"/>
              </a:xfrm>
              <a:prstGeom prst="rect">
                <a:avLst/>
              </a:prstGeom>
            </p:spPr>
          </p:pic>
        </mc:Fallback>
      </mc:AlternateContent>
      <p:sp>
        <p:nvSpPr>
          <p:cNvPr id="18" name="TextBox 17">
            <a:extLst>
              <a:ext uri="{FF2B5EF4-FFF2-40B4-BE49-F238E27FC236}">
                <a16:creationId xmlns:a16="http://schemas.microsoft.com/office/drawing/2014/main" xmlns="" id="{BF6781E4-464E-422A-B544-0159217FCAED}"/>
              </a:ext>
            </a:extLst>
          </p:cNvPr>
          <p:cNvSpPr txBox="1"/>
          <p:nvPr/>
        </p:nvSpPr>
        <p:spPr>
          <a:xfrm>
            <a:off x="6377114" y="3938726"/>
            <a:ext cx="317716" cy="369332"/>
          </a:xfrm>
          <a:prstGeom prst="rect">
            <a:avLst/>
          </a:prstGeom>
          <a:noFill/>
        </p:spPr>
        <p:txBody>
          <a:bodyPr wrap="none" rtlCol="0">
            <a:spAutoFit/>
          </a:bodyPr>
          <a:lstStyle/>
          <a:p>
            <a:r>
              <a:rPr lang="en-IN" dirty="0"/>
              <a:t>A</a:t>
            </a:r>
          </a:p>
        </p:txBody>
      </p:sp>
      <p:sp>
        <p:nvSpPr>
          <p:cNvPr id="19" name="TextBox 18">
            <a:extLst>
              <a:ext uri="{FF2B5EF4-FFF2-40B4-BE49-F238E27FC236}">
                <a16:creationId xmlns:a16="http://schemas.microsoft.com/office/drawing/2014/main" xmlns="" id="{36AD3D2B-22A1-46F4-A0E9-246C4CD7BCA6}"/>
              </a:ext>
            </a:extLst>
          </p:cNvPr>
          <p:cNvSpPr txBox="1"/>
          <p:nvPr/>
        </p:nvSpPr>
        <p:spPr>
          <a:xfrm>
            <a:off x="7973251" y="2971800"/>
            <a:ext cx="309700" cy="369332"/>
          </a:xfrm>
          <a:prstGeom prst="rect">
            <a:avLst/>
          </a:prstGeom>
          <a:noFill/>
        </p:spPr>
        <p:txBody>
          <a:bodyPr wrap="none" rtlCol="0">
            <a:spAutoFit/>
          </a:bodyPr>
          <a:lstStyle/>
          <a:p>
            <a:r>
              <a:rPr lang="en-IN" dirty="0"/>
              <a:t>B</a:t>
            </a:r>
          </a:p>
        </p:txBody>
      </p:sp>
      <p:sp>
        <p:nvSpPr>
          <p:cNvPr id="14" name="TextBox 13">
            <a:extLst>
              <a:ext uri="{FF2B5EF4-FFF2-40B4-BE49-F238E27FC236}">
                <a16:creationId xmlns:a16="http://schemas.microsoft.com/office/drawing/2014/main" xmlns="" id="{0C3CB657-AF3A-4071-9746-677C3E0CAA52}"/>
              </a:ext>
            </a:extLst>
          </p:cNvPr>
          <p:cNvSpPr txBox="1"/>
          <p:nvPr/>
        </p:nvSpPr>
        <p:spPr>
          <a:xfrm>
            <a:off x="5848422" y="3631168"/>
            <a:ext cx="300082" cy="369332"/>
          </a:xfrm>
          <a:prstGeom prst="rect">
            <a:avLst/>
          </a:prstGeom>
          <a:noFill/>
        </p:spPr>
        <p:txBody>
          <a:bodyPr wrap="none" rtlCol="0">
            <a:spAutoFit/>
          </a:bodyPr>
          <a:lstStyle/>
          <a:p>
            <a:r>
              <a:rPr lang="en-IN" dirty="0"/>
              <a:t>*</a:t>
            </a:r>
          </a:p>
        </p:txBody>
      </p:sp>
      <p:sp>
        <p:nvSpPr>
          <p:cNvPr id="16" name="TextBox 15">
            <a:extLst>
              <a:ext uri="{FF2B5EF4-FFF2-40B4-BE49-F238E27FC236}">
                <a16:creationId xmlns:a16="http://schemas.microsoft.com/office/drawing/2014/main" xmlns="" id="{DE3B9795-7838-4488-9C58-D740D9E8E5F8}"/>
              </a:ext>
            </a:extLst>
          </p:cNvPr>
          <p:cNvSpPr txBox="1"/>
          <p:nvPr/>
        </p:nvSpPr>
        <p:spPr>
          <a:xfrm>
            <a:off x="7530698" y="2790116"/>
            <a:ext cx="300082" cy="369332"/>
          </a:xfrm>
          <a:prstGeom prst="rect">
            <a:avLst/>
          </a:prstGeom>
          <a:noFill/>
        </p:spPr>
        <p:txBody>
          <a:bodyPr wrap="none" rtlCol="0">
            <a:spAutoFit/>
          </a:bodyPr>
          <a:lstStyle/>
          <a:p>
            <a:r>
              <a:rPr lang="en-IN" dirty="0"/>
              <a:t>*</a:t>
            </a:r>
          </a:p>
        </p:txBody>
      </p:sp>
      <p:sp>
        <p:nvSpPr>
          <p:cNvPr id="21" name="Freeform: Shape 20">
            <a:extLst>
              <a:ext uri="{FF2B5EF4-FFF2-40B4-BE49-F238E27FC236}">
                <a16:creationId xmlns:a16="http://schemas.microsoft.com/office/drawing/2014/main" xmlns="" id="{31A6D215-FBEB-4F46-95FB-D32DF1225E37}"/>
              </a:ext>
            </a:extLst>
          </p:cNvPr>
          <p:cNvSpPr/>
          <p:nvPr/>
        </p:nvSpPr>
        <p:spPr>
          <a:xfrm>
            <a:off x="6313128" y="2703442"/>
            <a:ext cx="2251047" cy="1030357"/>
          </a:xfrm>
          <a:custGeom>
            <a:avLst/>
            <a:gdLst>
              <a:gd name="connsiteX0" fmla="*/ 87500 w 1630673"/>
              <a:gd name="connsiteY0" fmla="*/ 373712 h 548640"/>
              <a:gd name="connsiteX1" fmla="*/ 39792 w 1630673"/>
              <a:gd name="connsiteY1" fmla="*/ 341907 h 548640"/>
              <a:gd name="connsiteX2" fmla="*/ 7987 w 1630673"/>
              <a:gd name="connsiteY2" fmla="*/ 294199 h 548640"/>
              <a:gd name="connsiteX3" fmla="*/ 35 w 1630673"/>
              <a:gd name="connsiteY3" fmla="*/ 262394 h 548640"/>
              <a:gd name="connsiteX4" fmla="*/ 15938 w 1630673"/>
              <a:gd name="connsiteY4" fmla="*/ 135173 h 548640"/>
              <a:gd name="connsiteX5" fmla="*/ 79548 w 1630673"/>
              <a:gd name="connsiteY5" fmla="*/ 103367 h 548640"/>
              <a:gd name="connsiteX6" fmla="*/ 222672 w 1630673"/>
              <a:gd name="connsiteY6" fmla="*/ 87465 h 548640"/>
              <a:gd name="connsiteX7" fmla="*/ 540724 w 1630673"/>
              <a:gd name="connsiteY7" fmla="*/ 79514 h 548640"/>
              <a:gd name="connsiteX8" fmla="*/ 604335 w 1630673"/>
              <a:gd name="connsiteY8" fmla="*/ 71562 h 548640"/>
              <a:gd name="connsiteX9" fmla="*/ 659994 w 1630673"/>
              <a:gd name="connsiteY9" fmla="*/ 63611 h 548640"/>
              <a:gd name="connsiteX10" fmla="*/ 779263 w 1630673"/>
              <a:gd name="connsiteY10" fmla="*/ 55660 h 548640"/>
              <a:gd name="connsiteX11" fmla="*/ 858776 w 1630673"/>
              <a:gd name="connsiteY11" fmla="*/ 39757 h 548640"/>
              <a:gd name="connsiteX12" fmla="*/ 1009851 w 1630673"/>
              <a:gd name="connsiteY12" fmla="*/ 0 h 548640"/>
              <a:gd name="connsiteX13" fmla="*/ 1319952 w 1630673"/>
              <a:gd name="connsiteY13" fmla="*/ 7952 h 548640"/>
              <a:gd name="connsiteX14" fmla="*/ 1407416 w 1630673"/>
              <a:gd name="connsiteY14" fmla="*/ 23854 h 548640"/>
              <a:gd name="connsiteX15" fmla="*/ 1502832 w 1630673"/>
              <a:gd name="connsiteY15" fmla="*/ 31806 h 548640"/>
              <a:gd name="connsiteX16" fmla="*/ 1534637 w 1630673"/>
              <a:gd name="connsiteY16" fmla="*/ 39757 h 548640"/>
              <a:gd name="connsiteX17" fmla="*/ 1598248 w 1630673"/>
              <a:gd name="connsiteY17" fmla="*/ 111319 h 548640"/>
              <a:gd name="connsiteX18" fmla="*/ 1614150 w 1630673"/>
              <a:gd name="connsiteY18" fmla="*/ 190832 h 548640"/>
              <a:gd name="connsiteX19" fmla="*/ 1630053 w 1630673"/>
              <a:gd name="connsiteY19" fmla="*/ 238540 h 548640"/>
              <a:gd name="connsiteX20" fmla="*/ 1622101 w 1630673"/>
              <a:gd name="connsiteY20" fmla="*/ 357809 h 548640"/>
              <a:gd name="connsiteX21" fmla="*/ 1574394 w 1630673"/>
              <a:gd name="connsiteY21" fmla="*/ 429371 h 548640"/>
              <a:gd name="connsiteX22" fmla="*/ 1542588 w 1630673"/>
              <a:gd name="connsiteY22" fmla="*/ 437322 h 548640"/>
              <a:gd name="connsiteX23" fmla="*/ 1486929 w 1630673"/>
              <a:gd name="connsiteY23" fmla="*/ 453225 h 548640"/>
              <a:gd name="connsiteX24" fmla="*/ 1439221 w 1630673"/>
              <a:gd name="connsiteY24" fmla="*/ 477079 h 548640"/>
              <a:gd name="connsiteX25" fmla="*/ 1375611 w 1630673"/>
              <a:gd name="connsiteY25" fmla="*/ 508884 h 548640"/>
              <a:gd name="connsiteX26" fmla="*/ 1296098 w 1630673"/>
              <a:gd name="connsiteY26" fmla="*/ 524787 h 548640"/>
              <a:gd name="connsiteX27" fmla="*/ 1264293 w 1630673"/>
              <a:gd name="connsiteY27" fmla="*/ 532738 h 548640"/>
              <a:gd name="connsiteX28" fmla="*/ 1160926 w 1630673"/>
              <a:gd name="connsiteY28" fmla="*/ 548640 h 548640"/>
              <a:gd name="connsiteX29" fmla="*/ 985997 w 1630673"/>
              <a:gd name="connsiteY29" fmla="*/ 540689 h 548640"/>
              <a:gd name="connsiteX30" fmla="*/ 954192 w 1630673"/>
              <a:gd name="connsiteY30" fmla="*/ 532738 h 548640"/>
              <a:gd name="connsiteX31" fmla="*/ 524821 w 1630673"/>
              <a:gd name="connsiteY31" fmla="*/ 524787 h 548640"/>
              <a:gd name="connsiteX32" fmla="*/ 421455 w 1630673"/>
              <a:gd name="connsiteY32" fmla="*/ 500933 h 548640"/>
              <a:gd name="connsiteX33" fmla="*/ 373747 w 1630673"/>
              <a:gd name="connsiteY33" fmla="*/ 492981 h 548640"/>
              <a:gd name="connsiteX34" fmla="*/ 341941 w 1630673"/>
              <a:gd name="connsiteY34" fmla="*/ 485030 h 548640"/>
              <a:gd name="connsiteX35" fmla="*/ 286282 w 1630673"/>
              <a:gd name="connsiteY35" fmla="*/ 469127 h 548640"/>
              <a:gd name="connsiteX36" fmla="*/ 230623 w 1630673"/>
              <a:gd name="connsiteY36" fmla="*/ 461176 h 548640"/>
              <a:gd name="connsiteX37" fmla="*/ 206769 w 1630673"/>
              <a:gd name="connsiteY37" fmla="*/ 453225 h 548640"/>
              <a:gd name="connsiteX38" fmla="*/ 167013 w 1630673"/>
              <a:gd name="connsiteY38" fmla="*/ 445274 h 548640"/>
              <a:gd name="connsiteX39" fmla="*/ 135208 w 1630673"/>
              <a:gd name="connsiteY39" fmla="*/ 437322 h 548640"/>
              <a:gd name="connsiteX40" fmla="*/ 87500 w 1630673"/>
              <a:gd name="connsiteY40" fmla="*/ 373712 h 54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30673" h="548640">
                <a:moveTo>
                  <a:pt x="87500" y="373712"/>
                </a:moveTo>
                <a:cubicBezTo>
                  <a:pt x="71597" y="357810"/>
                  <a:pt x="53307" y="355422"/>
                  <a:pt x="39792" y="341907"/>
                </a:cubicBezTo>
                <a:cubicBezTo>
                  <a:pt x="26277" y="328392"/>
                  <a:pt x="7987" y="294199"/>
                  <a:pt x="7987" y="294199"/>
                </a:cubicBezTo>
                <a:cubicBezTo>
                  <a:pt x="5336" y="283597"/>
                  <a:pt x="-511" y="273308"/>
                  <a:pt x="35" y="262394"/>
                </a:cubicBezTo>
                <a:cubicBezTo>
                  <a:pt x="2169" y="219710"/>
                  <a:pt x="3069" y="175926"/>
                  <a:pt x="15938" y="135173"/>
                </a:cubicBezTo>
                <a:cubicBezTo>
                  <a:pt x="22118" y="115604"/>
                  <a:pt x="63227" y="105593"/>
                  <a:pt x="79548" y="103367"/>
                </a:cubicBezTo>
                <a:cubicBezTo>
                  <a:pt x="127109" y="96881"/>
                  <a:pt x="174735" y="89944"/>
                  <a:pt x="222672" y="87465"/>
                </a:cubicBezTo>
                <a:cubicBezTo>
                  <a:pt x="328581" y="81987"/>
                  <a:pt x="434707" y="82164"/>
                  <a:pt x="540724" y="79514"/>
                </a:cubicBezTo>
                <a:lnTo>
                  <a:pt x="604335" y="71562"/>
                </a:lnTo>
                <a:cubicBezTo>
                  <a:pt x="622912" y="69085"/>
                  <a:pt x="641330" y="65308"/>
                  <a:pt x="659994" y="63611"/>
                </a:cubicBezTo>
                <a:cubicBezTo>
                  <a:pt x="699675" y="60004"/>
                  <a:pt x="739507" y="58310"/>
                  <a:pt x="779263" y="55660"/>
                </a:cubicBezTo>
                <a:cubicBezTo>
                  <a:pt x="805767" y="50359"/>
                  <a:pt x="833134" y="48304"/>
                  <a:pt x="858776" y="39757"/>
                </a:cubicBezTo>
                <a:cubicBezTo>
                  <a:pt x="971972" y="2026"/>
                  <a:pt x="921003" y="12694"/>
                  <a:pt x="1009851" y="0"/>
                </a:cubicBezTo>
                <a:cubicBezTo>
                  <a:pt x="1113218" y="2651"/>
                  <a:pt x="1216737" y="1759"/>
                  <a:pt x="1319952" y="7952"/>
                </a:cubicBezTo>
                <a:cubicBezTo>
                  <a:pt x="1349531" y="9727"/>
                  <a:pt x="1378032" y="20021"/>
                  <a:pt x="1407416" y="23854"/>
                </a:cubicBezTo>
                <a:cubicBezTo>
                  <a:pt x="1439064" y="27982"/>
                  <a:pt x="1471027" y="29155"/>
                  <a:pt x="1502832" y="31806"/>
                </a:cubicBezTo>
                <a:cubicBezTo>
                  <a:pt x="1513434" y="34456"/>
                  <a:pt x="1524863" y="34870"/>
                  <a:pt x="1534637" y="39757"/>
                </a:cubicBezTo>
                <a:cubicBezTo>
                  <a:pt x="1569958" y="57417"/>
                  <a:pt x="1576073" y="78057"/>
                  <a:pt x="1598248" y="111319"/>
                </a:cubicBezTo>
                <a:cubicBezTo>
                  <a:pt x="1603549" y="137823"/>
                  <a:pt x="1607595" y="164610"/>
                  <a:pt x="1614150" y="190832"/>
                </a:cubicBezTo>
                <a:cubicBezTo>
                  <a:pt x="1618216" y="207094"/>
                  <a:pt x="1629256" y="221796"/>
                  <a:pt x="1630053" y="238540"/>
                </a:cubicBezTo>
                <a:cubicBezTo>
                  <a:pt x="1631948" y="278340"/>
                  <a:pt x="1629556" y="318668"/>
                  <a:pt x="1622101" y="357809"/>
                </a:cubicBezTo>
                <a:cubicBezTo>
                  <a:pt x="1618558" y="376412"/>
                  <a:pt x="1594795" y="417714"/>
                  <a:pt x="1574394" y="429371"/>
                </a:cubicBezTo>
                <a:cubicBezTo>
                  <a:pt x="1564906" y="434793"/>
                  <a:pt x="1553131" y="434447"/>
                  <a:pt x="1542588" y="437322"/>
                </a:cubicBezTo>
                <a:cubicBezTo>
                  <a:pt x="1523972" y="442399"/>
                  <a:pt x="1505482" y="447924"/>
                  <a:pt x="1486929" y="453225"/>
                </a:cubicBezTo>
                <a:cubicBezTo>
                  <a:pt x="1434653" y="488074"/>
                  <a:pt x="1490952" y="453565"/>
                  <a:pt x="1439221" y="477079"/>
                </a:cubicBezTo>
                <a:cubicBezTo>
                  <a:pt x="1417640" y="486889"/>
                  <a:pt x="1398857" y="504235"/>
                  <a:pt x="1375611" y="508884"/>
                </a:cubicBezTo>
                <a:lnTo>
                  <a:pt x="1296098" y="524787"/>
                </a:lnTo>
                <a:cubicBezTo>
                  <a:pt x="1285413" y="527077"/>
                  <a:pt x="1275009" y="530595"/>
                  <a:pt x="1264293" y="532738"/>
                </a:cubicBezTo>
                <a:cubicBezTo>
                  <a:pt x="1236713" y="538254"/>
                  <a:pt x="1187657" y="544821"/>
                  <a:pt x="1160926" y="548640"/>
                </a:cubicBezTo>
                <a:cubicBezTo>
                  <a:pt x="1102616" y="545990"/>
                  <a:pt x="1044195" y="545166"/>
                  <a:pt x="985997" y="540689"/>
                </a:cubicBezTo>
                <a:cubicBezTo>
                  <a:pt x="975101" y="539851"/>
                  <a:pt x="965113" y="533115"/>
                  <a:pt x="954192" y="532738"/>
                </a:cubicBezTo>
                <a:cubicBezTo>
                  <a:pt x="811129" y="527805"/>
                  <a:pt x="667945" y="527437"/>
                  <a:pt x="524821" y="524787"/>
                </a:cubicBezTo>
                <a:cubicBezTo>
                  <a:pt x="490366" y="516836"/>
                  <a:pt x="456057" y="508218"/>
                  <a:pt x="421455" y="500933"/>
                </a:cubicBezTo>
                <a:cubicBezTo>
                  <a:pt x="405679" y="497612"/>
                  <a:pt x="389556" y="496143"/>
                  <a:pt x="373747" y="492981"/>
                </a:cubicBezTo>
                <a:cubicBezTo>
                  <a:pt x="363031" y="490838"/>
                  <a:pt x="352449" y="488032"/>
                  <a:pt x="341941" y="485030"/>
                </a:cubicBezTo>
                <a:cubicBezTo>
                  <a:pt x="312137" y="476515"/>
                  <a:pt x="320460" y="475341"/>
                  <a:pt x="286282" y="469127"/>
                </a:cubicBezTo>
                <a:cubicBezTo>
                  <a:pt x="267843" y="465774"/>
                  <a:pt x="249176" y="463826"/>
                  <a:pt x="230623" y="461176"/>
                </a:cubicBezTo>
                <a:cubicBezTo>
                  <a:pt x="222672" y="458526"/>
                  <a:pt x="214900" y="455258"/>
                  <a:pt x="206769" y="453225"/>
                </a:cubicBezTo>
                <a:cubicBezTo>
                  <a:pt x="193658" y="449947"/>
                  <a:pt x="180206" y="448206"/>
                  <a:pt x="167013" y="445274"/>
                </a:cubicBezTo>
                <a:cubicBezTo>
                  <a:pt x="156345" y="442903"/>
                  <a:pt x="145810" y="439973"/>
                  <a:pt x="135208" y="437322"/>
                </a:cubicBezTo>
                <a:cubicBezTo>
                  <a:pt x="100115" y="384683"/>
                  <a:pt x="103403" y="389614"/>
                  <a:pt x="87500" y="373712"/>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Freeform: Shape 21">
            <a:extLst>
              <a:ext uri="{FF2B5EF4-FFF2-40B4-BE49-F238E27FC236}">
                <a16:creationId xmlns:a16="http://schemas.microsoft.com/office/drawing/2014/main" xmlns="" id="{EAD92BC7-6FB2-4F42-9F10-A5FD5E3F43D3}"/>
              </a:ext>
            </a:extLst>
          </p:cNvPr>
          <p:cNvSpPr/>
          <p:nvPr/>
        </p:nvSpPr>
        <p:spPr>
          <a:xfrm>
            <a:off x="4876800" y="3566530"/>
            <a:ext cx="1539628" cy="954616"/>
          </a:xfrm>
          <a:custGeom>
            <a:avLst/>
            <a:gdLst>
              <a:gd name="connsiteX0" fmla="*/ 87500 w 1630673"/>
              <a:gd name="connsiteY0" fmla="*/ 373712 h 548640"/>
              <a:gd name="connsiteX1" fmla="*/ 39792 w 1630673"/>
              <a:gd name="connsiteY1" fmla="*/ 341907 h 548640"/>
              <a:gd name="connsiteX2" fmla="*/ 7987 w 1630673"/>
              <a:gd name="connsiteY2" fmla="*/ 294199 h 548640"/>
              <a:gd name="connsiteX3" fmla="*/ 35 w 1630673"/>
              <a:gd name="connsiteY3" fmla="*/ 262394 h 548640"/>
              <a:gd name="connsiteX4" fmla="*/ 15938 w 1630673"/>
              <a:gd name="connsiteY4" fmla="*/ 135173 h 548640"/>
              <a:gd name="connsiteX5" fmla="*/ 79548 w 1630673"/>
              <a:gd name="connsiteY5" fmla="*/ 103367 h 548640"/>
              <a:gd name="connsiteX6" fmla="*/ 222672 w 1630673"/>
              <a:gd name="connsiteY6" fmla="*/ 87465 h 548640"/>
              <a:gd name="connsiteX7" fmla="*/ 540724 w 1630673"/>
              <a:gd name="connsiteY7" fmla="*/ 79514 h 548640"/>
              <a:gd name="connsiteX8" fmla="*/ 604335 w 1630673"/>
              <a:gd name="connsiteY8" fmla="*/ 71562 h 548640"/>
              <a:gd name="connsiteX9" fmla="*/ 659994 w 1630673"/>
              <a:gd name="connsiteY9" fmla="*/ 63611 h 548640"/>
              <a:gd name="connsiteX10" fmla="*/ 779263 w 1630673"/>
              <a:gd name="connsiteY10" fmla="*/ 55660 h 548640"/>
              <a:gd name="connsiteX11" fmla="*/ 858776 w 1630673"/>
              <a:gd name="connsiteY11" fmla="*/ 39757 h 548640"/>
              <a:gd name="connsiteX12" fmla="*/ 1009851 w 1630673"/>
              <a:gd name="connsiteY12" fmla="*/ 0 h 548640"/>
              <a:gd name="connsiteX13" fmla="*/ 1319952 w 1630673"/>
              <a:gd name="connsiteY13" fmla="*/ 7952 h 548640"/>
              <a:gd name="connsiteX14" fmla="*/ 1407416 w 1630673"/>
              <a:gd name="connsiteY14" fmla="*/ 23854 h 548640"/>
              <a:gd name="connsiteX15" fmla="*/ 1502832 w 1630673"/>
              <a:gd name="connsiteY15" fmla="*/ 31806 h 548640"/>
              <a:gd name="connsiteX16" fmla="*/ 1534637 w 1630673"/>
              <a:gd name="connsiteY16" fmla="*/ 39757 h 548640"/>
              <a:gd name="connsiteX17" fmla="*/ 1598248 w 1630673"/>
              <a:gd name="connsiteY17" fmla="*/ 111319 h 548640"/>
              <a:gd name="connsiteX18" fmla="*/ 1614150 w 1630673"/>
              <a:gd name="connsiteY18" fmla="*/ 190832 h 548640"/>
              <a:gd name="connsiteX19" fmla="*/ 1630053 w 1630673"/>
              <a:gd name="connsiteY19" fmla="*/ 238540 h 548640"/>
              <a:gd name="connsiteX20" fmla="*/ 1622101 w 1630673"/>
              <a:gd name="connsiteY20" fmla="*/ 357809 h 548640"/>
              <a:gd name="connsiteX21" fmla="*/ 1574394 w 1630673"/>
              <a:gd name="connsiteY21" fmla="*/ 429371 h 548640"/>
              <a:gd name="connsiteX22" fmla="*/ 1542588 w 1630673"/>
              <a:gd name="connsiteY22" fmla="*/ 437322 h 548640"/>
              <a:gd name="connsiteX23" fmla="*/ 1486929 w 1630673"/>
              <a:gd name="connsiteY23" fmla="*/ 453225 h 548640"/>
              <a:gd name="connsiteX24" fmla="*/ 1439221 w 1630673"/>
              <a:gd name="connsiteY24" fmla="*/ 477079 h 548640"/>
              <a:gd name="connsiteX25" fmla="*/ 1375611 w 1630673"/>
              <a:gd name="connsiteY25" fmla="*/ 508884 h 548640"/>
              <a:gd name="connsiteX26" fmla="*/ 1296098 w 1630673"/>
              <a:gd name="connsiteY26" fmla="*/ 524787 h 548640"/>
              <a:gd name="connsiteX27" fmla="*/ 1264293 w 1630673"/>
              <a:gd name="connsiteY27" fmla="*/ 532738 h 548640"/>
              <a:gd name="connsiteX28" fmla="*/ 1160926 w 1630673"/>
              <a:gd name="connsiteY28" fmla="*/ 548640 h 548640"/>
              <a:gd name="connsiteX29" fmla="*/ 985997 w 1630673"/>
              <a:gd name="connsiteY29" fmla="*/ 540689 h 548640"/>
              <a:gd name="connsiteX30" fmla="*/ 954192 w 1630673"/>
              <a:gd name="connsiteY30" fmla="*/ 532738 h 548640"/>
              <a:gd name="connsiteX31" fmla="*/ 524821 w 1630673"/>
              <a:gd name="connsiteY31" fmla="*/ 524787 h 548640"/>
              <a:gd name="connsiteX32" fmla="*/ 421455 w 1630673"/>
              <a:gd name="connsiteY32" fmla="*/ 500933 h 548640"/>
              <a:gd name="connsiteX33" fmla="*/ 373747 w 1630673"/>
              <a:gd name="connsiteY33" fmla="*/ 492981 h 548640"/>
              <a:gd name="connsiteX34" fmla="*/ 341941 w 1630673"/>
              <a:gd name="connsiteY34" fmla="*/ 485030 h 548640"/>
              <a:gd name="connsiteX35" fmla="*/ 286282 w 1630673"/>
              <a:gd name="connsiteY35" fmla="*/ 469127 h 548640"/>
              <a:gd name="connsiteX36" fmla="*/ 230623 w 1630673"/>
              <a:gd name="connsiteY36" fmla="*/ 461176 h 548640"/>
              <a:gd name="connsiteX37" fmla="*/ 206769 w 1630673"/>
              <a:gd name="connsiteY37" fmla="*/ 453225 h 548640"/>
              <a:gd name="connsiteX38" fmla="*/ 167013 w 1630673"/>
              <a:gd name="connsiteY38" fmla="*/ 445274 h 548640"/>
              <a:gd name="connsiteX39" fmla="*/ 135208 w 1630673"/>
              <a:gd name="connsiteY39" fmla="*/ 437322 h 548640"/>
              <a:gd name="connsiteX40" fmla="*/ 87500 w 1630673"/>
              <a:gd name="connsiteY40" fmla="*/ 373712 h 54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30673" h="548640">
                <a:moveTo>
                  <a:pt x="87500" y="373712"/>
                </a:moveTo>
                <a:cubicBezTo>
                  <a:pt x="71597" y="357810"/>
                  <a:pt x="53307" y="355422"/>
                  <a:pt x="39792" y="341907"/>
                </a:cubicBezTo>
                <a:cubicBezTo>
                  <a:pt x="26277" y="328392"/>
                  <a:pt x="7987" y="294199"/>
                  <a:pt x="7987" y="294199"/>
                </a:cubicBezTo>
                <a:cubicBezTo>
                  <a:pt x="5336" y="283597"/>
                  <a:pt x="-511" y="273308"/>
                  <a:pt x="35" y="262394"/>
                </a:cubicBezTo>
                <a:cubicBezTo>
                  <a:pt x="2169" y="219710"/>
                  <a:pt x="3069" y="175926"/>
                  <a:pt x="15938" y="135173"/>
                </a:cubicBezTo>
                <a:cubicBezTo>
                  <a:pt x="22118" y="115604"/>
                  <a:pt x="63227" y="105593"/>
                  <a:pt x="79548" y="103367"/>
                </a:cubicBezTo>
                <a:cubicBezTo>
                  <a:pt x="127109" y="96881"/>
                  <a:pt x="174735" y="89944"/>
                  <a:pt x="222672" y="87465"/>
                </a:cubicBezTo>
                <a:cubicBezTo>
                  <a:pt x="328581" y="81987"/>
                  <a:pt x="434707" y="82164"/>
                  <a:pt x="540724" y="79514"/>
                </a:cubicBezTo>
                <a:lnTo>
                  <a:pt x="604335" y="71562"/>
                </a:lnTo>
                <a:cubicBezTo>
                  <a:pt x="622912" y="69085"/>
                  <a:pt x="641330" y="65308"/>
                  <a:pt x="659994" y="63611"/>
                </a:cubicBezTo>
                <a:cubicBezTo>
                  <a:pt x="699675" y="60004"/>
                  <a:pt x="739507" y="58310"/>
                  <a:pt x="779263" y="55660"/>
                </a:cubicBezTo>
                <a:cubicBezTo>
                  <a:pt x="805767" y="50359"/>
                  <a:pt x="833134" y="48304"/>
                  <a:pt x="858776" y="39757"/>
                </a:cubicBezTo>
                <a:cubicBezTo>
                  <a:pt x="971972" y="2026"/>
                  <a:pt x="921003" y="12694"/>
                  <a:pt x="1009851" y="0"/>
                </a:cubicBezTo>
                <a:cubicBezTo>
                  <a:pt x="1113218" y="2651"/>
                  <a:pt x="1216737" y="1759"/>
                  <a:pt x="1319952" y="7952"/>
                </a:cubicBezTo>
                <a:cubicBezTo>
                  <a:pt x="1349531" y="9727"/>
                  <a:pt x="1378032" y="20021"/>
                  <a:pt x="1407416" y="23854"/>
                </a:cubicBezTo>
                <a:cubicBezTo>
                  <a:pt x="1439064" y="27982"/>
                  <a:pt x="1471027" y="29155"/>
                  <a:pt x="1502832" y="31806"/>
                </a:cubicBezTo>
                <a:cubicBezTo>
                  <a:pt x="1513434" y="34456"/>
                  <a:pt x="1524863" y="34870"/>
                  <a:pt x="1534637" y="39757"/>
                </a:cubicBezTo>
                <a:cubicBezTo>
                  <a:pt x="1569958" y="57417"/>
                  <a:pt x="1576073" y="78057"/>
                  <a:pt x="1598248" y="111319"/>
                </a:cubicBezTo>
                <a:cubicBezTo>
                  <a:pt x="1603549" y="137823"/>
                  <a:pt x="1607595" y="164610"/>
                  <a:pt x="1614150" y="190832"/>
                </a:cubicBezTo>
                <a:cubicBezTo>
                  <a:pt x="1618216" y="207094"/>
                  <a:pt x="1629256" y="221796"/>
                  <a:pt x="1630053" y="238540"/>
                </a:cubicBezTo>
                <a:cubicBezTo>
                  <a:pt x="1631948" y="278340"/>
                  <a:pt x="1629556" y="318668"/>
                  <a:pt x="1622101" y="357809"/>
                </a:cubicBezTo>
                <a:cubicBezTo>
                  <a:pt x="1618558" y="376412"/>
                  <a:pt x="1594795" y="417714"/>
                  <a:pt x="1574394" y="429371"/>
                </a:cubicBezTo>
                <a:cubicBezTo>
                  <a:pt x="1564906" y="434793"/>
                  <a:pt x="1553131" y="434447"/>
                  <a:pt x="1542588" y="437322"/>
                </a:cubicBezTo>
                <a:cubicBezTo>
                  <a:pt x="1523972" y="442399"/>
                  <a:pt x="1505482" y="447924"/>
                  <a:pt x="1486929" y="453225"/>
                </a:cubicBezTo>
                <a:cubicBezTo>
                  <a:pt x="1434653" y="488074"/>
                  <a:pt x="1490952" y="453565"/>
                  <a:pt x="1439221" y="477079"/>
                </a:cubicBezTo>
                <a:cubicBezTo>
                  <a:pt x="1417640" y="486889"/>
                  <a:pt x="1398857" y="504235"/>
                  <a:pt x="1375611" y="508884"/>
                </a:cubicBezTo>
                <a:lnTo>
                  <a:pt x="1296098" y="524787"/>
                </a:lnTo>
                <a:cubicBezTo>
                  <a:pt x="1285413" y="527077"/>
                  <a:pt x="1275009" y="530595"/>
                  <a:pt x="1264293" y="532738"/>
                </a:cubicBezTo>
                <a:cubicBezTo>
                  <a:pt x="1236713" y="538254"/>
                  <a:pt x="1187657" y="544821"/>
                  <a:pt x="1160926" y="548640"/>
                </a:cubicBezTo>
                <a:cubicBezTo>
                  <a:pt x="1102616" y="545990"/>
                  <a:pt x="1044195" y="545166"/>
                  <a:pt x="985997" y="540689"/>
                </a:cubicBezTo>
                <a:cubicBezTo>
                  <a:pt x="975101" y="539851"/>
                  <a:pt x="965113" y="533115"/>
                  <a:pt x="954192" y="532738"/>
                </a:cubicBezTo>
                <a:cubicBezTo>
                  <a:pt x="811129" y="527805"/>
                  <a:pt x="667945" y="527437"/>
                  <a:pt x="524821" y="524787"/>
                </a:cubicBezTo>
                <a:cubicBezTo>
                  <a:pt x="490366" y="516836"/>
                  <a:pt x="456057" y="508218"/>
                  <a:pt x="421455" y="500933"/>
                </a:cubicBezTo>
                <a:cubicBezTo>
                  <a:pt x="405679" y="497612"/>
                  <a:pt x="389556" y="496143"/>
                  <a:pt x="373747" y="492981"/>
                </a:cubicBezTo>
                <a:cubicBezTo>
                  <a:pt x="363031" y="490838"/>
                  <a:pt x="352449" y="488032"/>
                  <a:pt x="341941" y="485030"/>
                </a:cubicBezTo>
                <a:cubicBezTo>
                  <a:pt x="312137" y="476515"/>
                  <a:pt x="320460" y="475341"/>
                  <a:pt x="286282" y="469127"/>
                </a:cubicBezTo>
                <a:cubicBezTo>
                  <a:pt x="267843" y="465774"/>
                  <a:pt x="249176" y="463826"/>
                  <a:pt x="230623" y="461176"/>
                </a:cubicBezTo>
                <a:cubicBezTo>
                  <a:pt x="222672" y="458526"/>
                  <a:pt x="214900" y="455258"/>
                  <a:pt x="206769" y="453225"/>
                </a:cubicBezTo>
                <a:cubicBezTo>
                  <a:pt x="193658" y="449947"/>
                  <a:pt x="180206" y="448206"/>
                  <a:pt x="167013" y="445274"/>
                </a:cubicBezTo>
                <a:cubicBezTo>
                  <a:pt x="156345" y="442903"/>
                  <a:pt x="145810" y="439973"/>
                  <a:pt x="135208" y="437322"/>
                </a:cubicBezTo>
                <a:cubicBezTo>
                  <a:pt x="100115" y="384683"/>
                  <a:pt x="103403" y="389614"/>
                  <a:pt x="87500" y="373712"/>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7" name="Picture 16">
            <a:extLst>
              <a:ext uri="{FF2B5EF4-FFF2-40B4-BE49-F238E27FC236}">
                <a16:creationId xmlns:a16="http://schemas.microsoft.com/office/drawing/2014/main" xmlns="" id="{6BD23AC7-7BEE-4009-8467-6511AFAF2427}"/>
              </a:ext>
            </a:extLst>
          </p:cNvPr>
          <p:cNvPicPr>
            <a:picLocks noChangeAspect="1"/>
          </p:cNvPicPr>
          <p:nvPr/>
        </p:nvPicPr>
        <p:blipFill>
          <a:blip r:embed="rId5"/>
          <a:stretch>
            <a:fillRect/>
          </a:stretch>
        </p:blipFill>
        <p:spPr>
          <a:xfrm>
            <a:off x="76200" y="2682460"/>
            <a:ext cx="4131342" cy="1508540"/>
          </a:xfrm>
          <a:prstGeom prst="rect">
            <a:avLst/>
          </a:prstGeom>
        </p:spPr>
      </p:pic>
      <p:sp>
        <p:nvSpPr>
          <p:cNvPr id="15" name="Oval 14">
            <a:extLst>
              <a:ext uri="{FF2B5EF4-FFF2-40B4-BE49-F238E27FC236}">
                <a16:creationId xmlns:a16="http://schemas.microsoft.com/office/drawing/2014/main" xmlns="" id="{D23AEF27-DD04-48AC-9F04-AD6E85969A11}"/>
              </a:ext>
            </a:extLst>
          </p:cNvPr>
          <p:cNvSpPr/>
          <p:nvPr/>
        </p:nvSpPr>
        <p:spPr>
          <a:xfrm>
            <a:off x="5289270" y="3081212"/>
            <a:ext cx="620686" cy="55623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sz="800" dirty="0">
                <a:solidFill>
                  <a:schemeClr val="tx1"/>
                </a:solidFill>
              </a:rPr>
              <a:t>1.5</a:t>
            </a:r>
          </a:p>
          <a:p>
            <a:r>
              <a:rPr lang="en-US" sz="800" dirty="0">
                <a:solidFill>
                  <a:schemeClr val="tx1"/>
                </a:solidFill>
              </a:rPr>
              <a:t>1</a:t>
            </a:r>
          </a:p>
        </p:txBody>
      </p:sp>
      <p:sp>
        <p:nvSpPr>
          <p:cNvPr id="20" name="Oval 19">
            <a:extLst>
              <a:ext uri="{FF2B5EF4-FFF2-40B4-BE49-F238E27FC236}">
                <a16:creationId xmlns:a16="http://schemas.microsoft.com/office/drawing/2014/main" xmlns="" id="{D23AEF27-DD04-48AC-9F04-AD6E85969A11}"/>
              </a:ext>
            </a:extLst>
          </p:cNvPr>
          <p:cNvSpPr/>
          <p:nvPr/>
        </p:nvSpPr>
        <p:spPr>
          <a:xfrm>
            <a:off x="7476385" y="3134275"/>
            <a:ext cx="620686" cy="55623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sz="800" dirty="0">
                <a:solidFill>
                  <a:schemeClr val="tx1"/>
                </a:solidFill>
              </a:rPr>
              <a:t>5.33</a:t>
            </a:r>
          </a:p>
          <a:p>
            <a:r>
              <a:rPr lang="en-US" sz="800" dirty="0">
                <a:solidFill>
                  <a:schemeClr val="tx1"/>
                </a:solidFill>
              </a:rPr>
              <a:t>6.33</a:t>
            </a:r>
          </a:p>
        </p:txBody>
      </p:sp>
    </p:spTree>
    <p:extLst>
      <p:ext uri="{BB962C8B-B14F-4D97-AF65-F5344CB8AC3E}">
        <p14:creationId xmlns:p14="http://schemas.microsoft.com/office/powerpoint/2010/main" val="22910022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C024EFA1-850C-42B1-BF57-A4A8E8A4EA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3875" y="709612"/>
            <a:ext cx="8096250" cy="5438775"/>
          </a:xfrm>
          <a:prstGeom prst="rect">
            <a:avLst/>
          </a:prstGeom>
        </p:spPr>
      </p:pic>
    </p:spTree>
    <p:extLst>
      <p:ext uri="{BB962C8B-B14F-4D97-AF65-F5344CB8AC3E}">
        <p14:creationId xmlns:p14="http://schemas.microsoft.com/office/powerpoint/2010/main" val="4075484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34753664-E8A0-454F-A96D-FEBA8F752A39}"/>
              </a:ext>
            </a:extLst>
          </p:cNvPr>
          <p:cNvPicPr>
            <a:picLocks noGrp="1" noChangeAspect="1"/>
          </p:cNvPicPr>
          <p:nvPr>
            <p:ph idx="4294967295"/>
          </p:nvPr>
        </p:nvPicPr>
        <p:blipFill rotWithShape="1">
          <a:blip r:embed="rId2">
            <a:extLst>
              <a:ext uri="{28A0092B-C50C-407E-A947-70E740481C1C}">
                <a14:useLocalDpi xmlns:a14="http://schemas.microsoft.com/office/drawing/2010/main" val="0"/>
              </a:ext>
            </a:extLst>
          </a:blip>
          <a:srcRect b="5717"/>
          <a:stretch/>
        </p:blipFill>
        <p:spPr>
          <a:xfrm>
            <a:off x="1206500" y="1600200"/>
            <a:ext cx="6337300" cy="4267200"/>
          </a:xfrm>
        </p:spPr>
      </p:pic>
      <p:sp>
        <p:nvSpPr>
          <p:cNvPr id="6" name="Rectangle 5">
            <a:extLst>
              <a:ext uri="{FF2B5EF4-FFF2-40B4-BE49-F238E27FC236}">
                <a16:creationId xmlns:a16="http://schemas.microsoft.com/office/drawing/2014/main" xmlns="" id="{8EA19508-9C07-4432-8167-82450DCA865D}"/>
              </a:ext>
            </a:extLst>
          </p:cNvPr>
          <p:cNvSpPr/>
          <p:nvPr/>
        </p:nvSpPr>
        <p:spPr>
          <a:xfrm>
            <a:off x="1082037" y="1582782"/>
            <a:ext cx="1371600"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172150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738"/>
            <a:ext cx="8229600" cy="1143000"/>
          </a:xfrm>
        </p:spPr>
        <p:txBody>
          <a:bodyPr/>
          <a:lstStyle/>
          <a:p>
            <a:r>
              <a:rPr lang="en-US" dirty="0"/>
              <a:t>Implementation using python </a:t>
            </a:r>
          </a:p>
        </p:txBody>
      </p:sp>
      <p:pic>
        <p:nvPicPr>
          <p:cNvPr id="4" name="Content Placeholder 3"/>
          <p:cNvPicPr>
            <a:picLocks noGrp="1" noChangeAspect="1"/>
          </p:cNvPicPr>
          <p:nvPr>
            <p:ph idx="1"/>
          </p:nvPr>
        </p:nvPicPr>
        <p:blipFill rotWithShape="1">
          <a:blip r:embed="rId2"/>
          <a:srcRect l="11640" t="21942" r="12758" b="65078"/>
          <a:stretch/>
        </p:blipFill>
        <p:spPr>
          <a:xfrm>
            <a:off x="0" y="1281661"/>
            <a:ext cx="9161238" cy="951874"/>
          </a:xfrm>
          <a:prstGeom prst="rect">
            <a:avLst/>
          </a:prstGeom>
        </p:spPr>
      </p:pic>
      <p:pic>
        <p:nvPicPr>
          <p:cNvPr id="5" name="Picture 4"/>
          <p:cNvPicPr>
            <a:picLocks noChangeAspect="1"/>
          </p:cNvPicPr>
          <p:nvPr/>
        </p:nvPicPr>
        <p:blipFill rotWithShape="1">
          <a:blip r:embed="rId3"/>
          <a:srcRect l="13248" t="24232" r="13939" b="4047"/>
          <a:stretch/>
        </p:blipFill>
        <p:spPr>
          <a:xfrm>
            <a:off x="83002" y="2286000"/>
            <a:ext cx="9060998" cy="5017958"/>
          </a:xfrm>
          <a:prstGeom prst="rect">
            <a:avLst/>
          </a:prstGeom>
        </p:spPr>
      </p:pic>
    </p:spTree>
    <p:extLst>
      <p:ext uri="{BB962C8B-B14F-4D97-AF65-F5344CB8AC3E}">
        <p14:creationId xmlns:p14="http://schemas.microsoft.com/office/powerpoint/2010/main" val="41743741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90600"/>
          </a:xfrm>
          <a:pattFill prst="pct70">
            <a:fgClr>
              <a:schemeClr val="accent1"/>
            </a:fgClr>
            <a:bgClr>
              <a:schemeClr val="bg1"/>
            </a:bgClr>
          </a:pattFill>
        </p:spPr>
        <p:txBody>
          <a:bodyPr>
            <a:normAutofit fontScale="90000"/>
          </a:bodyPr>
          <a:lstStyle/>
          <a:p>
            <a:r>
              <a:rPr lang="en-US" b="1" dirty="0" smtClean="0"/>
              <a:t/>
            </a:r>
            <a:br>
              <a:rPr lang="en-US" b="1" dirty="0" smtClean="0"/>
            </a:br>
            <a:r>
              <a:rPr lang="en-US" b="1" dirty="0" smtClean="0"/>
              <a:t>How </a:t>
            </a:r>
            <a:r>
              <a:rPr lang="en-US" b="1" dirty="0"/>
              <a:t>many clusters</a:t>
            </a:r>
            <a:br>
              <a:rPr lang="en-US" b="1" dirty="0"/>
            </a:br>
            <a:endParaRPr lang="en-US" dirty="0"/>
          </a:p>
        </p:txBody>
      </p:sp>
      <p:pic>
        <p:nvPicPr>
          <p:cNvPr id="1026" name="Picture 2" descr="https://miro.medium.com/max/440/1*xOGY4uu6ng7E8lPLP-onWw.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09800" y="3048000"/>
            <a:ext cx="4191000" cy="36195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143000" y="1219200"/>
            <a:ext cx="7391400" cy="2031325"/>
          </a:xfrm>
          <a:prstGeom prst="rect">
            <a:avLst/>
          </a:prstGeom>
        </p:spPr>
        <p:txBody>
          <a:bodyPr wrap="square">
            <a:spAutoFit/>
          </a:bodyPr>
          <a:lstStyle/>
          <a:p>
            <a:r>
              <a:rPr lang="en-US" dirty="0" smtClean="0">
                <a:latin typeface="medium-content-serif-font"/>
              </a:rPr>
              <a:t>The Elbow method </a:t>
            </a:r>
            <a:r>
              <a:rPr lang="en-US" dirty="0">
                <a:latin typeface="medium-content-serif-font"/>
              </a:rPr>
              <a:t>is </a:t>
            </a:r>
            <a:r>
              <a:rPr lang="en-US" dirty="0" smtClean="0">
                <a:latin typeface="medium-content-serif-font"/>
              </a:rPr>
              <a:t>used to decide the number of cluster. The </a:t>
            </a:r>
            <a:r>
              <a:rPr lang="en-US" dirty="0">
                <a:latin typeface="medium-content-serif-font"/>
              </a:rPr>
              <a:t>idea behind good clustering is having a small value of inertia, and small number of clusters.</a:t>
            </a:r>
          </a:p>
          <a:p>
            <a:r>
              <a:rPr lang="en-US" dirty="0">
                <a:latin typeface="medium-content-serif-font"/>
              </a:rPr>
              <a:t>The value of inertia decreases as the number of clusters increase. So, its a trade-off here. </a:t>
            </a:r>
            <a:r>
              <a:rPr lang="en-US" dirty="0" smtClean="0">
                <a:latin typeface="medium-content-serif-font"/>
              </a:rPr>
              <a:t>The </a:t>
            </a:r>
            <a:r>
              <a:rPr lang="en-US" dirty="0">
                <a:latin typeface="medium-content-serif-font"/>
              </a:rPr>
              <a:t>elbow point in the </a:t>
            </a:r>
            <a:r>
              <a:rPr lang="en-US" dirty="0" smtClean="0">
                <a:latin typeface="medium-content-serif-font"/>
              </a:rPr>
              <a:t>elbow </a:t>
            </a:r>
            <a:r>
              <a:rPr lang="en-US" dirty="0">
                <a:latin typeface="medium-content-serif-font"/>
              </a:rPr>
              <a:t>graph is a good choice because after that the change in the value of inertia isn’t significant.</a:t>
            </a:r>
            <a:endParaRPr lang="en-US" b="0" i="0" dirty="0">
              <a:effectLst/>
              <a:latin typeface="medium-content-serif-font"/>
            </a:endParaRPr>
          </a:p>
        </p:txBody>
      </p:sp>
    </p:spTree>
    <p:extLst>
      <p:ext uri="{BB962C8B-B14F-4D97-AF65-F5344CB8AC3E}">
        <p14:creationId xmlns:p14="http://schemas.microsoft.com/office/powerpoint/2010/main" val="25435859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IN" dirty="0"/>
              <a:t>Thanks </a:t>
            </a:r>
          </a:p>
        </p:txBody>
      </p:sp>
      <p:sp>
        <p:nvSpPr>
          <p:cNvPr id="5" name="Subtitle 4"/>
          <p:cNvSpPr>
            <a:spLocks noGrp="1"/>
          </p:cNvSpPr>
          <p:nvPr>
            <p:ph type="subTitle" idx="1"/>
          </p:nvPr>
        </p:nvSpPr>
        <p:spPr/>
        <p:txBody>
          <a:bodyPr/>
          <a:lstStyle/>
          <a:p>
            <a:endParaRPr lang="en-IN"/>
          </a:p>
        </p:txBody>
      </p:sp>
    </p:spTree>
    <p:extLst>
      <p:ext uri="{BB962C8B-B14F-4D97-AF65-F5344CB8AC3E}">
        <p14:creationId xmlns:p14="http://schemas.microsoft.com/office/powerpoint/2010/main" val="15540832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5051</TotalTime>
  <Words>804</Words>
  <Application>Microsoft Office PowerPoint</Application>
  <PresentationFormat>On-screen Show (4:3)</PresentationFormat>
  <Paragraphs>170</Paragraphs>
  <Slides>31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medium-content-serif-font</vt:lpstr>
      <vt:lpstr>Open Sans</vt:lpstr>
      <vt:lpstr>Office Theme</vt:lpstr>
      <vt:lpstr>K-Means</vt:lpstr>
      <vt:lpstr>K Means</vt:lpstr>
      <vt:lpstr>K Means</vt:lpstr>
      <vt:lpstr>K Means</vt:lpstr>
      <vt:lpstr>Common business cases where K-means is used</vt:lpstr>
      <vt:lpstr>PowerPoint Presentation</vt:lpstr>
      <vt:lpstr>Cluster Assignment Step</vt:lpstr>
      <vt:lpstr>Move centroid step</vt:lpstr>
      <vt:lpstr>K=3 Clusters</vt:lpstr>
      <vt:lpstr>PowerPoint Presentation</vt:lpstr>
      <vt:lpstr>Data with No Answers</vt:lpstr>
      <vt:lpstr>Data with No Answers</vt:lpstr>
      <vt:lpstr>Data with No Answers</vt:lpstr>
      <vt:lpstr>Data with No Answers</vt:lpstr>
      <vt:lpstr>1. Cluster assignment</vt:lpstr>
      <vt:lpstr>1. Cluster assignment</vt:lpstr>
      <vt:lpstr>2. Compute the Centroid</vt:lpstr>
      <vt:lpstr>2. Compute the centroid for A, B</vt:lpstr>
      <vt:lpstr>2. Compute the centroid</vt:lpstr>
      <vt:lpstr>3. Measure the Distances </vt:lpstr>
      <vt:lpstr>4. Reassign the data point to closest centroid.  Recreate the Clusters</vt:lpstr>
      <vt:lpstr>5. Re Compute the Centroid</vt:lpstr>
      <vt:lpstr>6. Compute the centroid for A, B</vt:lpstr>
      <vt:lpstr>7. Re Compute the Centroid</vt:lpstr>
      <vt:lpstr>Re-Compute the Centroids</vt:lpstr>
      <vt:lpstr>Repeat</vt:lpstr>
      <vt:lpstr>PowerPoint Presentation</vt:lpstr>
      <vt:lpstr>PowerPoint Presentation</vt:lpstr>
      <vt:lpstr>Implementation using python </vt:lpstr>
      <vt:lpstr> How many clusters </vt:lpstr>
      <vt:lpstr>Thanks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MK</cp:lastModifiedBy>
  <cp:revision>75</cp:revision>
  <dcterms:created xsi:type="dcterms:W3CDTF">2006-08-16T00:00:00Z</dcterms:created>
  <dcterms:modified xsi:type="dcterms:W3CDTF">2020-04-04T16:50:46Z</dcterms:modified>
</cp:coreProperties>
</file>