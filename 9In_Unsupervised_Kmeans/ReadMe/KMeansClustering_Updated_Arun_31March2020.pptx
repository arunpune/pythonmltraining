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ink/ink1.xml" ContentType="application/inkml+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ink/ink2.xml" ContentType="application/inkml+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ink/ink3.xml" ContentType="application/inkml+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ink/ink4.xml" ContentType="application/inkml+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ink/ink5.xml" ContentType="application/inkml+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ink/ink6.xml" ContentType="application/inkml+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6" r:id="rId3"/>
    <p:sldId id="306" r:id="rId4"/>
    <p:sldId id="287" r:id="rId5"/>
    <p:sldId id="295" r:id="rId6"/>
    <p:sldId id="288" r:id="rId7"/>
    <p:sldId id="289" r:id="rId8"/>
    <p:sldId id="303" r:id="rId9"/>
    <p:sldId id="260" r:id="rId10"/>
    <p:sldId id="284" r:id="rId11"/>
    <p:sldId id="279" r:id="rId12"/>
    <p:sldId id="285" r:id="rId13"/>
    <p:sldId id="290" r:id="rId14"/>
    <p:sldId id="291" r:id="rId15"/>
    <p:sldId id="292" r:id="rId16"/>
    <p:sldId id="274" r:id="rId17"/>
    <p:sldId id="298" r:id="rId18"/>
    <p:sldId id="262" r:id="rId19"/>
    <p:sldId id="297" r:id="rId20"/>
    <p:sldId id="299" r:id="rId21"/>
    <p:sldId id="300" r:id="rId22"/>
    <p:sldId id="301" r:id="rId23"/>
    <p:sldId id="264" r:id="rId24"/>
    <p:sldId id="302" r:id="rId25"/>
    <p:sldId id="304" r:id="rId26"/>
    <p:sldId id="308" r:id="rId27"/>
    <p:sldId id="310" r:id="rId28"/>
    <p:sldId id="309" r:id="rId29"/>
    <p:sldId id="305" r:id="rId30"/>
    <p:sldId id="307" r:id="rId31"/>
    <p:sldId id="27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unkumar Nair" initials="AN" lastIdx="1" clrIdx="0">
    <p:extLst>
      <p:ext uri="{19B8F6BF-5375-455C-9EA6-DF929625EA0E}">
        <p15:presenceInfo xmlns:p15="http://schemas.microsoft.com/office/powerpoint/2012/main" userId="645c9327375490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varScale="1">
        <p:scale>
          <a:sx n="80" d="100"/>
          <a:sy n="80" d="100"/>
        </p:scale>
        <p:origin x="86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670603674540681"/>
          <c:y val="0.14856481481481484"/>
          <c:w val="0.85029396325459317"/>
          <c:h val="0.62271617089530473"/>
        </c:manualLayout>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0.21053</cdr:x>
      <cdr:y>0.30737</cdr:y>
    </cdr:from>
    <cdr:to>
      <cdr:x>0.34629</cdr:x>
      <cdr:y>0.51014</cdr:y>
    </cdr:to>
    <cdr:sp macro="" textlink="">
      <cdr:nvSpPr>
        <cdr:cNvPr id="2" name="Oval 1">
          <a:extLst xmlns:a="http://schemas.openxmlformats.org/drawingml/2006/main">
            <a:ext uri="{FF2B5EF4-FFF2-40B4-BE49-F238E27FC236}">
              <a16:creationId xmlns:a16="http://schemas.microsoft.com/office/drawing/2014/main" id="{A84819CD-330C-4B23-A0F3-79812C3C64B2}"/>
            </a:ext>
          </a:extLst>
        </cdr:cNvPr>
        <cdr:cNvSpPr/>
      </cdr:nvSpPr>
      <cdr:spPr>
        <a:xfrm xmlns:a="http://schemas.openxmlformats.org/drawingml/2006/main">
          <a:off x="962533" y="843188"/>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dirty="0">
              <a:solidFill>
                <a:schemeClr val="tx1"/>
              </a:solidFill>
            </a:rPr>
            <a:t>2.33</a:t>
          </a:r>
        </a:p>
        <a:p xmlns:a="http://schemas.openxmlformats.org/drawingml/2006/main">
          <a:r>
            <a:rPr lang="en-US" sz="800" dirty="0">
              <a:solidFill>
                <a:schemeClr val="tx1"/>
              </a:solidFill>
            </a:rPr>
            <a:t>2.33</a:t>
          </a:r>
        </a:p>
      </cdr:txBody>
    </cdr:sp>
  </cdr:relSizeAnchor>
  <cdr:relSizeAnchor xmlns:cdr="http://schemas.openxmlformats.org/drawingml/2006/chartDrawing">
    <cdr:from>
      <cdr:x>0.70774</cdr:x>
      <cdr:y>0</cdr:y>
    </cdr:from>
    <cdr:to>
      <cdr:x>0.8435</cdr:x>
      <cdr:y>0.20277</cdr:y>
    </cdr:to>
    <cdr:sp macro="" textlink="">
      <cdr:nvSpPr>
        <cdr:cNvPr id="3" name="Oval 2">
          <a:extLst xmlns:a="http://schemas.openxmlformats.org/drawingml/2006/main">
            <a:ext uri="{FF2B5EF4-FFF2-40B4-BE49-F238E27FC236}">
              <a16:creationId xmlns:a16="http://schemas.microsoft.com/office/drawing/2014/main" id="{D5A27D3D-6902-4964-BC72-D4B78357C30C}"/>
            </a:ext>
          </a:extLst>
        </cdr:cNvPr>
        <cdr:cNvSpPr/>
      </cdr:nvSpPr>
      <cdr:spPr>
        <a:xfrm xmlns:a="http://schemas.openxmlformats.org/drawingml/2006/main">
          <a:off x="3235778" y="-2245581"/>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sz="800" dirty="0">
              <a:solidFill>
                <a:schemeClr val="tx1"/>
              </a:solidFill>
            </a:rPr>
            <a:t>6</a:t>
          </a:r>
        </a:p>
        <a:p xmlns:a="http://schemas.openxmlformats.org/drawingml/2006/main">
          <a:r>
            <a:rPr lang="en-US" sz="800" dirty="0">
              <a:solidFill>
                <a:schemeClr val="tx1"/>
              </a:solidFill>
            </a:rPr>
            <a:t>7</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arunkumarnair/" TargetMode="External"/><Relationship Id="rId2" Type="http://schemas.openxmlformats.org/officeDocument/2006/relationships/hyperlink" Target="mailto:arunkg99@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chart" Target="../charts/chart5.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chart" Target="../charts/chart8.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chart" Target="../charts/chart9.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K-Means</a:t>
            </a:r>
          </a:p>
        </p:txBody>
      </p:sp>
      <p:sp>
        <p:nvSpPr>
          <p:cNvPr id="3" name="Subtitle 2"/>
          <p:cNvSpPr>
            <a:spLocks noGrp="1"/>
          </p:cNvSpPr>
          <p:nvPr>
            <p:ph type="subTitle" idx="1"/>
          </p:nvPr>
        </p:nvSpPr>
        <p:spPr/>
        <p:txBody>
          <a:bodyPr>
            <a:normAutofit fontScale="77500" lnSpcReduction="20000"/>
          </a:bodyPr>
          <a:lstStyle/>
          <a:p>
            <a:r>
              <a:rPr lang="en-IN" dirty="0"/>
              <a:t>By </a:t>
            </a:r>
            <a:r>
              <a:rPr lang="en-IN" dirty="0" err="1"/>
              <a:t>Arunkumar</a:t>
            </a:r>
            <a:r>
              <a:rPr lang="en-IN" dirty="0"/>
              <a:t> Nair</a:t>
            </a:r>
          </a:p>
          <a:p>
            <a:r>
              <a:rPr lang="en-IN" dirty="0">
                <a:hlinkClick r:id="rId2"/>
              </a:rPr>
              <a:t>arunkg99@gmail.com</a:t>
            </a:r>
            <a:endParaRPr lang="en-IN" dirty="0"/>
          </a:p>
          <a:p>
            <a:r>
              <a:rPr lang="en-IN" dirty="0"/>
              <a:t>91-9890652675</a:t>
            </a:r>
          </a:p>
          <a:p>
            <a:r>
              <a:rPr lang="en-IN" dirty="0">
                <a:hlinkClick r:id="rId3"/>
              </a:rPr>
              <a:t>https://www.linkedin.com/in/arunkumarnair/</a:t>
            </a:r>
            <a:endParaRPr lang="en-IN" dirty="0"/>
          </a:p>
          <a:p>
            <a:endParaRPr lang="en-IN" dirty="0"/>
          </a:p>
        </p:txBody>
      </p:sp>
    </p:spTree>
    <p:extLst>
      <p:ext uri="{BB962C8B-B14F-4D97-AF65-F5344CB8AC3E}">
        <p14:creationId xmlns:p14="http://schemas.microsoft.com/office/powerpoint/2010/main" val="221894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47D4-6A34-4FDA-9C10-C337F57026F2}"/>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id="{36DDC28A-95A3-4E02-B771-A79C5BD0A810}"/>
              </a:ext>
            </a:extLst>
          </p:cNvPr>
          <p:cNvSpPr>
            <a:spLocks noGrp="1"/>
          </p:cNvSpPr>
          <p:nvPr>
            <p:ph idx="1"/>
          </p:nvPr>
        </p:nvSpPr>
        <p:spPr/>
        <p:txBody>
          <a:bodyPr/>
          <a:lstStyle/>
          <a:p>
            <a:r>
              <a:rPr lang="en-US" b="1" dirty="0"/>
              <a:t>k</a:t>
            </a:r>
            <a:r>
              <a:rPr lang="en-US" dirty="0"/>
              <a:t>-</a:t>
            </a:r>
            <a:r>
              <a:rPr lang="en-US" b="1" dirty="0"/>
              <a:t>means</a:t>
            </a:r>
            <a:r>
              <a:rPr lang="en-US" dirty="0"/>
              <a:t> is one of the simplest unsupervised learning algorithms that solve the clustering problems. </a:t>
            </a:r>
          </a:p>
          <a:p>
            <a:r>
              <a:rPr lang="en-US" dirty="0"/>
              <a:t>The procedure follows a </a:t>
            </a:r>
            <a:r>
              <a:rPr lang="en-US" b="1" dirty="0"/>
              <a:t>simple</a:t>
            </a:r>
            <a:r>
              <a:rPr lang="en-US" dirty="0"/>
              <a:t> and easy way to classify a given data set through a certain number of clusters (assume </a:t>
            </a:r>
            <a:r>
              <a:rPr lang="en-US" b="1" dirty="0"/>
              <a:t>k</a:t>
            </a:r>
            <a:r>
              <a:rPr lang="en-US" dirty="0"/>
              <a:t> clusters). The main idea is to define </a:t>
            </a:r>
            <a:r>
              <a:rPr lang="en-US" b="1" dirty="0"/>
              <a:t>k</a:t>
            </a:r>
            <a:r>
              <a:rPr lang="en-US" dirty="0"/>
              <a:t> centers, one for each cluster.</a:t>
            </a:r>
            <a:endParaRPr lang="en-IN" dirty="0"/>
          </a:p>
        </p:txBody>
      </p:sp>
    </p:spTree>
    <p:extLst>
      <p:ext uri="{BB962C8B-B14F-4D97-AF65-F5344CB8AC3E}">
        <p14:creationId xmlns:p14="http://schemas.microsoft.com/office/powerpoint/2010/main" val="144312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BCCE-7175-41A3-93B0-F32B66EE1145}"/>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id="{50FBD91F-CD0D-4102-A654-9253DD15BABA}"/>
              </a:ext>
            </a:extLst>
          </p:cNvPr>
          <p:cNvSpPr>
            <a:spLocks noGrp="1"/>
          </p:cNvSpPr>
          <p:nvPr>
            <p:ph idx="1"/>
          </p:nvPr>
        </p:nvSpPr>
        <p:spPr/>
        <p:txBody>
          <a:bodyPr>
            <a:normAutofit fontScale="77500" lnSpcReduction="20000"/>
          </a:bodyPr>
          <a:lstStyle/>
          <a:p>
            <a:pPr marL="285750" indent="-285750"/>
            <a:r>
              <a:rPr lang="en-US" dirty="0"/>
              <a:t>The k-means algorithm is an </a:t>
            </a:r>
            <a:r>
              <a:rPr lang="en-US" b="1" dirty="0"/>
              <a:t>unsupervised </a:t>
            </a:r>
            <a:r>
              <a:rPr lang="en-US" dirty="0"/>
              <a:t>clustering algorithm. It takes a bunch of unlabeled points and tries to group them into “K” number of clusters.</a:t>
            </a:r>
          </a:p>
          <a:p>
            <a:pPr marL="285750" indent="-285750"/>
            <a:endParaRPr lang="en-US" dirty="0"/>
          </a:p>
          <a:p>
            <a:pPr marL="285750" indent="-285750"/>
            <a:r>
              <a:rPr lang="en-US" dirty="0"/>
              <a:t>Used unlabeled data (Data without defined categories or Group)</a:t>
            </a:r>
          </a:p>
          <a:p>
            <a:pPr marL="285750" indent="-285750"/>
            <a:endParaRPr lang="en-US" dirty="0"/>
          </a:p>
          <a:p>
            <a:pPr marL="285750" indent="-285750"/>
            <a:r>
              <a:rPr lang="en-US" dirty="0"/>
              <a:t>Data points are clustered based on similarities</a:t>
            </a:r>
          </a:p>
          <a:p>
            <a:pPr marL="285750" indent="-285750"/>
            <a:endParaRPr lang="en-US" dirty="0"/>
          </a:p>
          <a:p>
            <a:pPr marL="285750" indent="-285750"/>
            <a:r>
              <a:rPr lang="en-US" dirty="0"/>
              <a:t>The goal of this algorithm is to find groups in the data, with the number of groups represented by the variable </a:t>
            </a:r>
            <a:r>
              <a:rPr lang="en-US" i="1" dirty="0"/>
              <a:t>K</a:t>
            </a:r>
            <a:r>
              <a:rPr lang="en-US" dirty="0"/>
              <a:t>.</a:t>
            </a:r>
          </a:p>
          <a:p>
            <a:endParaRPr lang="en-US" dirty="0"/>
          </a:p>
          <a:p>
            <a:endParaRPr lang="en-IN" dirty="0"/>
          </a:p>
        </p:txBody>
      </p:sp>
    </p:spTree>
    <p:extLst>
      <p:ext uri="{BB962C8B-B14F-4D97-AF65-F5344CB8AC3E}">
        <p14:creationId xmlns:p14="http://schemas.microsoft.com/office/powerpoint/2010/main" val="27333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9E52-49D5-496A-B100-8184C05A30F6}"/>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id="{A33DF889-AF48-42FE-86B4-26C27C84BE96}"/>
              </a:ext>
            </a:extLst>
          </p:cNvPr>
          <p:cNvSpPr>
            <a:spLocks noGrp="1"/>
          </p:cNvSpPr>
          <p:nvPr>
            <p:ph idx="1"/>
          </p:nvPr>
        </p:nvSpPr>
        <p:spPr/>
        <p:txBody>
          <a:bodyPr>
            <a:normAutofit fontScale="77500" lnSpcReduction="20000"/>
          </a:bodyPr>
          <a:lstStyle/>
          <a:p>
            <a:pPr marL="0" indent="0">
              <a:buNone/>
            </a:pPr>
            <a:r>
              <a:rPr lang="en-US" b="1" dirty="0"/>
              <a:t>K-Means is applied in</a:t>
            </a:r>
          </a:p>
          <a:p>
            <a:pPr marL="0" indent="0">
              <a:buNone/>
            </a:pPr>
            <a:r>
              <a:rPr lang="en-US" dirty="0"/>
              <a:t>The </a:t>
            </a:r>
            <a:r>
              <a:rPr lang="en-US" i="1" dirty="0"/>
              <a:t>K</a:t>
            </a:r>
            <a:r>
              <a:rPr lang="en-US" dirty="0"/>
              <a:t>-means clustering algorithm is used to find groups which have not been explicitly labeled in the data and to find patterns and make better decisions.. Once the algorithm has been run and the groups are defined, any new data can be easily assigned to the most relevant group.</a:t>
            </a:r>
          </a:p>
          <a:p>
            <a:r>
              <a:rPr lang="en-US" dirty="0"/>
              <a:t>Customer Profiling:</a:t>
            </a:r>
          </a:p>
          <a:p>
            <a:r>
              <a:rPr lang="en-US" dirty="0"/>
              <a:t>market segmentation,</a:t>
            </a:r>
          </a:p>
          <a:p>
            <a:r>
              <a:rPr lang="en-US" dirty="0"/>
              <a:t>computer vision</a:t>
            </a:r>
          </a:p>
          <a:p>
            <a:r>
              <a:rPr lang="en-US" dirty="0"/>
              <a:t>Geo-statistics</a:t>
            </a:r>
          </a:p>
          <a:p>
            <a:r>
              <a:rPr lang="en-US" dirty="0"/>
              <a:t>Astronomy</a:t>
            </a:r>
          </a:p>
          <a:p>
            <a:endParaRPr lang="en-IN" dirty="0"/>
          </a:p>
        </p:txBody>
      </p:sp>
    </p:spTree>
    <p:extLst>
      <p:ext uri="{BB962C8B-B14F-4D97-AF65-F5344CB8AC3E}">
        <p14:creationId xmlns:p14="http://schemas.microsoft.com/office/powerpoint/2010/main" val="246908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business cases where K-means is used</a:t>
            </a:r>
          </a:p>
        </p:txBody>
      </p:sp>
      <p:sp>
        <p:nvSpPr>
          <p:cNvPr id="3" name="Content Placeholder 2"/>
          <p:cNvSpPr>
            <a:spLocks noGrp="1"/>
          </p:cNvSpPr>
          <p:nvPr>
            <p:ph idx="1"/>
          </p:nvPr>
        </p:nvSpPr>
        <p:spPr/>
        <p:txBody>
          <a:bodyPr>
            <a:normAutofit fontScale="55000" lnSpcReduction="20000"/>
          </a:bodyPr>
          <a:lstStyle/>
          <a:p>
            <a:r>
              <a:rPr lang="en-US" dirty="0"/>
              <a:t>Behavioral segmentation:</a:t>
            </a:r>
          </a:p>
          <a:p>
            <a:pPr lvl="1"/>
            <a:r>
              <a:rPr lang="en-US" dirty="0"/>
              <a:t>Segment by purchase history</a:t>
            </a:r>
          </a:p>
          <a:p>
            <a:pPr lvl="1"/>
            <a:r>
              <a:rPr lang="en-US" dirty="0"/>
              <a:t>Segment by activities on application, website, or platform</a:t>
            </a:r>
          </a:p>
          <a:p>
            <a:pPr lvl="1"/>
            <a:r>
              <a:rPr lang="en-US" dirty="0"/>
              <a:t>Define personas based on interests</a:t>
            </a:r>
          </a:p>
          <a:p>
            <a:pPr lvl="1"/>
            <a:r>
              <a:rPr lang="en-US" dirty="0"/>
              <a:t>Create profiles based on activity monitoring</a:t>
            </a:r>
          </a:p>
          <a:p>
            <a:r>
              <a:rPr lang="en-US" dirty="0"/>
              <a:t>Inventory categorization:</a:t>
            </a:r>
          </a:p>
          <a:p>
            <a:pPr lvl="1"/>
            <a:r>
              <a:rPr lang="en-US" dirty="0"/>
              <a:t>Group inventory by sales activity</a:t>
            </a:r>
          </a:p>
          <a:p>
            <a:pPr lvl="1"/>
            <a:r>
              <a:rPr lang="en-US" dirty="0"/>
              <a:t>Group inventory by manufacturing metrics</a:t>
            </a:r>
          </a:p>
          <a:p>
            <a:r>
              <a:rPr lang="en-US" dirty="0"/>
              <a:t>Sorting sensor measurements:</a:t>
            </a:r>
          </a:p>
          <a:p>
            <a:pPr lvl="1"/>
            <a:r>
              <a:rPr lang="en-US" dirty="0"/>
              <a:t>Detect activity types in motion sensors</a:t>
            </a:r>
          </a:p>
          <a:p>
            <a:pPr lvl="1"/>
            <a:r>
              <a:rPr lang="en-US" dirty="0"/>
              <a:t>Group images</a:t>
            </a:r>
          </a:p>
          <a:p>
            <a:pPr lvl="1"/>
            <a:r>
              <a:rPr lang="en-US" dirty="0"/>
              <a:t>Separate audio</a:t>
            </a:r>
          </a:p>
          <a:p>
            <a:pPr lvl="1"/>
            <a:r>
              <a:rPr lang="en-US" dirty="0"/>
              <a:t>Identify groups in health monitoring</a:t>
            </a:r>
          </a:p>
          <a:p>
            <a:r>
              <a:rPr lang="en-US" dirty="0"/>
              <a:t>Detecting bots or anomalies:</a:t>
            </a:r>
          </a:p>
          <a:p>
            <a:pPr lvl="1"/>
            <a:r>
              <a:rPr lang="en-US" dirty="0"/>
              <a:t>Separate valid activity groups from bots</a:t>
            </a:r>
          </a:p>
          <a:p>
            <a:pPr lvl="1"/>
            <a:r>
              <a:rPr lang="en-US" dirty="0"/>
              <a:t>Group valid activity to clean up outlier detection</a:t>
            </a:r>
          </a:p>
          <a:p>
            <a:endParaRPr lang="en-US" dirty="0"/>
          </a:p>
        </p:txBody>
      </p:sp>
    </p:spTree>
    <p:extLst>
      <p:ext uri="{BB962C8B-B14F-4D97-AF65-F5344CB8AC3E}">
        <p14:creationId xmlns:p14="http://schemas.microsoft.com/office/powerpoint/2010/main" val="746102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9E52-49D5-496A-B100-8184C05A30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3DF889-AF48-42FE-86B4-26C27C84BE96}"/>
              </a:ext>
            </a:extLst>
          </p:cNvPr>
          <p:cNvSpPr>
            <a:spLocks noGrp="1"/>
          </p:cNvSpPr>
          <p:nvPr>
            <p:ph idx="1"/>
          </p:nvPr>
        </p:nvSpPr>
        <p:spPr/>
        <p:txBody>
          <a:bodyPr>
            <a:normAutofit fontScale="92500"/>
          </a:bodyPr>
          <a:lstStyle/>
          <a:p>
            <a:pPr marL="0" indent="0">
              <a:buNone/>
            </a:pPr>
            <a:r>
              <a:rPr lang="en-US" dirty="0"/>
              <a:t>K-means algorithm in data mining starts with a first group of randomly selected centroids, which are used as the beginning points for every cluster, and then performs iterative (repetitive) calculations to optimize the positions of the centroids</a:t>
            </a:r>
          </a:p>
          <a:p>
            <a:pPr marL="0" indent="0">
              <a:buNone/>
            </a:pPr>
            <a:r>
              <a:rPr lang="en-US" dirty="0"/>
              <a:t>K-means is an </a:t>
            </a:r>
            <a:r>
              <a:rPr lang="en-US" b="1" dirty="0"/>
              <a:t>iterative algorithm</a:t>
            </a:r>
            <a:r>
              <a:rPr lang="en-US" dirty="0"/>
              <a:t> and it does two main steps: </a:t>
            </a:r>
          </a:p>
          <a:p>
            <a:pPr marL="0" indent="0">
              <a:buNone/>
            </a:pPr>
            <a:r>
              <a:rPr lang="en-US" dirty="0"/>
              <a:t>1. </a:t>
            </a:r>
            <a:r>
              <a:rPr lang="en-US" b="1" dirty="0"/>
              <a:t>Cluster assignment</a:t>
            </a:r>
            <a:r>
              <a:rPr lang="en-US" dirty="0"/>
              <a:t> </a:t>
            </a:r>
          </a:p>
          <a:p>
            <a:pPr marL="0" indent="0">
              <a:buNone/>
            </a:pPr>
            <a:r>
              <a:rPr lang="en-US" dirty="0"/>
              <a:t>2.</a:t>
            </a:r>
            <a:r>
              <a:rPr lang="en-US" b="1" dirty="0"/>
              <a:t> Move centroid step</a:t>
            </a:r>
            <a:r>
              <a:rPr lang="en-US" dirty="0"/>
              <a:t>.</a:t>
            </a:r>
            <a:endParaRPr lang="en-IN" dirty="0"/>
          </a:p>
        </p:txBody>
      </p:sp>
    </p:spTree>
    <p:extLst>
      <p:ext uri="{BB962C8B-B14F-4D97-AF65-F5344CB8AC3E}">
        <p14:creationId xmlns:p14="http://schemas.microsoft.com/office/powerpoint/2010/main" val="178327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F3FA32-1A04-468E-90E6-0142B8D2A6B8}"/>
              </a:ext>
            </a:extLst>
          </p:cNvPr>
          <p:cNvSpPr>
            <a:spLocks noGrp="1"/>
          </p:cNvSpPr>
          <p:nvPr>
            <p:ph type="title"/>
          </p:nvPr>
        </p:nvSpPr>
        <p:spPr/>
        <p:txBody>
          <a:bodyPr/>
          <a:lstStyle/>
          <a:p>
            <a:r>
              <a:rPr lang="en-IN" dirty="0"/>
              <a:t>K=3 Clusters</a:t>
            </a:r>
          </a:p>
        </p:txBody>
      </p:sp>
      <p:pic>
        <p:nvPicPr>
          <p:cNvPr id="6" name="Picture 5">
            <a:extLst>
              <a:ext uri="{FF2B5EF4-FFF2-40B4-BE49-F238E27FC236}">
                <a16:creationId xmlns:a16="http://schemas.microsoft.com/office/drawing/2014/main" id="{DEDDD2DD-3EC2-4D28-8EA1-5382418C6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4137" y="1828800"/>
            <a:ext cx="3895725" cy="3676650"/>
          </a:xfrm>
          <a:prstGeom prst="rect">
            <a:avLst/>
          </a:prstGeom>
        </p:spPr>
      </p:pic>
    </p:spTree>
    <p:extLst>
      <p:ext uri="{BB962C8B-B14F-4D97-AF65-F5344CB8AC3E}">
        <p14:creationId xmlns:p14="http://schemas.microsoft.com/office/powerpoint/2010/main" val="2182300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9061CB-8A88-457D-BCD8-32B3E3684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8654"/>
            <a:ext cx="9144000" cy="6409346"/>
          </a:xfrm>
          <a:prstGeom prst="rect">
            <a:avLst/>
          </a:prstGeom>
        </p:spPr>
      </p:pic>
      <p:sp>
        <p:nvSpPr>
          <p:cNvPr id="2" name="TextBox 1">
            <a:extLst>
              <a:ext uri="{FF2B5EF4-FFF2-40B4-BE49-F238E27FC236}">
                <a16:creationId xmlns:a16="http://schemas.microsoft.com/office/drawing/2014/main" id="{B2D4974F-9A80-4F63-AF7C-136DA1B845EA}"/>
              </a:ext>
            </a:extLst>
          </p:cNvPr>
          <p:cNvSpPr txBox="1"/>
          <p:nvPr/>
        </p:nvSpPr>
        <p:spPr>
          <a:xfrm>
            <a:off x="3962400" y="79322"/>
            <a:ext cx="1331390" cy="369332"/>
          </a:xfrm>
          <a:prstGeom prst="rect">
            <a:avLst/>
          </a:prstGeom>
          <a:noFill/>
        </p:spPr>
        <p:txBody>
          <a:bodyPr wrap="none" rtlCol="0">
            <a:spAutoFit/>
          </a:bodyPr>
          <a:lstStyle/>
          <a:p>
            <a:r>
              <a:rPr lang="en-IN" dirty="0"/>
              <a:t>K=2 Clusters</a:t>
            </a:r>
          </a:p>
        </p:txBody>
      </p:sp>
    </p:spTree>
    <p:extLst>
      <p:ext uri="{BB962C8B-B14F-4D97-AF65-F5344CB8AC3E}">
        <p14:creationId xmlns:p14="http://schemas.microsoft.com/office/powerpoint/2010/main" val="2764301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6836" r="50945" b="29288"/>
          <a:stretch/>
        </p:blipFill>
        <p:spPr bwMode="auto">
          <a:xfrm>
            <a:off x="2438400" y="1981200"/>
            <a:ext cx="3956836"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A9A7A55-39C0-4911-A109-955914C5F317}"/>
              </a:ext>
            </a:extLst>
          </p:cNvPr>
          <p:cNvSpPr txBox="1"/>
          <p:nvPr/>
        </p:nvSpPr>
        <p:spPr>
          <a:xfrm>
            <a:off x="4718836" y="2209799"/>
            <a:ext cx="383438" cy="246221"/>
          </a:xfrm>
          <a:prstGeom prst="rect">
            <a:avLst/>
          </a:prstGeom>
          <a:noFill/>
          <a:ln w="3175">
            <a:solidFill>
              <a:schemeClr val="tx1"/>
            </a:solidFill>
          </a:ln>
        </p:spPr>
        <p:txBody>
          <a:bodyPr wrap="none" rtlCol="0">
            <a:spAutoFit/>
          </a:bodyPr>
          <a:lstStyle/>
          <a:p>
            <a:r>
              <a:rPr lang="en-IN" sz="1000" dirty="0"/>
              <a:t>Age</a:t>
            </a:r>
          </a:p>
        </p:txBody>
      </p:sp>
      <p:sp>
        <p:nvSpPr>
          <p:cNvPr id="9" name="TextBox 8">
            <a:extLst>
              <a:ext uri="{FF2B5EF4-FFF2-40B4-BE49-F238E27FC236}">
                <a16:creationId xmlns:a16="http://schemas.microsoft.com/office/drawing/2014/main" id="{FA118CAC-DC7B-4B5E-A793-5B0010C11F0E}"/>
              </a:ext>
            </a:extLst>
          </p:cNvPr>
          <p:cNvSpPr txBox="1"/>
          <p:nvPr/>
        </p:nvSpPr>
        <p:spPr>
          <a:xfrm>
            <a:off x="5404636" y="2209136"/>
            <a:ext cx="562975" cy="246221"/>
          </a:xfrm>
          <a:prstGeom prst="rect">
            <a:avLst/>
          </a:prstGeom>
          <a:noFill/>
          <a:ln w="3175">
            <a:solidFill>
              <a:schemeClr val="tx1"/>
            </a:solidFill>
          </a:ln>
        </p:spPr>
        <p:txBody>
          <a:bodyPr wrap="none" rtlCol="0">
            <a:spAutoFit/>
          </a:bodyPr>
          <a:lstStyle/>
          <a:p>
            <a:r>
              <a:rPr lang="en-IN" sz="1000" dirty="0"/>
              <a:t>Weight</a:t>
            </a:r>
          </a:p>
        </p:txBody>
      </p:sp>
    </p:spTree>
    <p:extLst>
      <p:ext uri="{BB962C8B-B14F-4D97-AF65-F5344CB8AC3E}">
        <p14:creationId xmlns:p14="http://schemas.microsoft.com/office/powerpoint/2010/main" val="3501919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F0B04D61-CEBC-453D-BBEB-487436B2BC78}"/>
              </a:ext>
            </a:extLst>
          </p:cNvPr>
          <p:cNvPicPr>
            <a:picLocks noChangeAspect="1"/>
          </p:cNvPicPr>
          <p:nvPr/>
        </p:nvPicPr>
        <p:blipFill>
          <a:blip r:embed="rId2"/>
          <a:stretch>
            <a:fillRect/>
          </a:stretch>
        </p:blipFill>
        <p:spPr>
          <a:xfrm>
            <a:off x="2437534" y="2133600"/>
            <a:ext cx="4268932" cy="2590800"/>
          </a:xfrm>
          <a:prstGeom prst="rect">
            <a:avLst/>
          </a:prstGeom>
        </p:spPr>
      </p:pic>
    </p:spTree>
    <p:extLst>
      <p:ext uri="{BB962C8B-B14F-4D97-AF65-F5344CB8AC3E}">
        <p14:creationId xmlns:p14="http://schemas.microsoft.com/office/powerpoint/2010/main" val="337082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43B532FB-331E-4629-A2CA-4E18C3ECB025}"/>
              </a:ext>
            </a:extLst>
          </p:cNvPr>
          <p:cNvPicPr>
            <a:picLocks noChangeAspect="1"/>
          </p:cNvPicPr>
          <p:nvPr/>
        </p:nvPicPr>
        <p:blipFill>
          <a:blip r:embed="rId2"/>
          <a:stretch>
            <a:fillRect/>
          </a:stretch>
        </p:blipFill>
        <p:spPr>
          <a:xfrm>
            <a:off x="4102211" y="2286000"/>
            <a:ext cx="4584589" cy="2755631"/>
          </a:xfrm>
          <a:prstGeom prst="rect">
            <a:avLst/>
          </a:prstGeom>
        </p:spPr>
      </p:pic>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3"/>
          <a:stretch>
            <a:fillRect/>
          </a:stretch>
        </p:blipFill>
        <p:spPr>
          <a:xfrm>
            <a:off x="152400" y="2590800"/>
            <a:ext cx="3892262" cy="2362200"/>
          </a:xfrm>
          <a:prstGeom prst="rect">
            <a:avLst/>
          </a:prstGeom>
        </p:spPr>
      </p:pic>
    </p:spTree>
    <p:extLst>
      <p:ext uri="{BB962C8B-B14F-4D97-AF65-F5344CB8AC3E}">
        <p14:creationId xmlns:p14="http://schemas.microsoft.com/office/powerpoint/2010/main" val="923018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extLst>
              <p:ext uri="{D42A27DB-BD31-4B8C-83A1-F6EECF244321}">
                <p14:modId xmlns:p14="http://schemas.microsoft.com/office/powerpoint/2010/main" val="2189560832"/>
              </p:ext>
            </p:extLst>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7444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K =2, which means let us create 2 clusters of data points. </a:t>
            </a:r>
            <a:endParaRPr lang="en-IN" dirty="0"/>
          </a:p>
        </p:txBody>
      </p:sp>
    </p:spTree>
    <p:extLst>
      <p:ext uri="{BB962C8B-B14F-4D97-AF65-F5344CB8AC3E}">
        <p14:creationId xmlns:p14="http://schemas.microsoft.com/office/powerpoint/2010/main" val="175775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First time the Algorithm creates 2 Random Clusters – A and B</a:t>
            </a:r>
            <a:endParaRPr lang="en-IN" dirty="0"/>
          </a:p>
        </p:txBody>
      </p:sp>
      <p:sp>
        <p:nvSpPr>
          <p:cNvPr id="8" name="TextBox 7">
            <a:extLst>
              <a:ext uri="{FF2B5EF4-FFF2-40B4-BE49-F238E27FC236}">
                <a16:creationId xmlns:a16="http://schemas.microsoft.com/office/drawing/2014/main" id="{C54C36AD-06FC-41D3-ADBB-EC1383FAFFA5}"/>
              </a:ext>
            </a:extLst>
          </p:cNvPr>
          <p:cNvSpPr txBox="1"/>
          <p:nvPr/>
        </p:nvSpPr>
        <p:spPr>
          <a:xfrm>
            <a:off x="759448" y="5439730"/>
            <a:ext cx="7924800" cy="923330"/>
          </a:xfrm>
          <a:prstGeom prst="rect">
            <a:avLst/>
          </a:prstGeom>
          <a:noFill/>
        </p:spPr>
        <p:txBody>
          <a:bodyPr wrap="square" rtlCol="0">
            <a:spAutoFit/>
          </a:bodyPr>
          <a:lstStyle/>
          <a:p>
            <a:r>
              <a:rPr lang="en-US" dirty="0"/>
              <a:t>Start with a </a:t>
            </a:r>
            <a:r>
              <a:rPr lang="en-US" b="1" dirty="0"/>
              <a:t>Random Cluster, let us assign </a:t>
            </a:r>
          </a:p>
          <a:p>
            <a:r>
              <a:rPr lang="en-US" b="1" dirty="0"/>
              <a:t>Row 1,2,3 to Cluster A</a:t>
            </a:r>
          </a:p>
          <a:p>
            <a:r>
              <a:rPr lang="en-US" b="1" dirty="0"/>
              <a:t>Row 4,5 to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pic>
        <p:nvPicPr>
          <p:cNvPr id="21" name="Picture 20">
            <a:extLst>
              <a:ext uri="{FF2B5EF4-FFF2-40B4-BE49-F238E27FC236}">
                <a16:creationId xmlns:a16="http://schemas.microsoft.com/office/drawing/2014/main" id="{3DAD3338-C3DF-4C0C-B1C6-1DA68EA1D56F}"/>
              </a:ext>
            </a:extLst>
          </p:cNvPr>
          <p:cNvPicPr>
            <a:picLocks noChangeAspect="1"/>
          </p:cNvPicPr>
          <p:nvPr/>
        </p:nvPicPr>
        <p:blipFill>
          <a:blip r:embed="rId5"/>
          <a:stretch>
            <a:fillRect/>
          </a:stretch>
        </p:blipFill>
        <p:spPr>
          <a:xfrm>
            <a:off x="361604" y="2816031"/>
            <a:ext cx="3739626" cy="1705114"/>
          </a:xfrm>
          <a:prstGeom prst="rect">
            <a:avLst/>
          </a:prstGeom>
        </p:spPr>
      </p:pic>
    </p:spTree>
    <p:extLst>
      <p:ext uri="{BB962C8B-B14F-4D97-AF65-F5344CB8AC3E}">
        <p14:creationId xmlns:p14="http://schemas.microsoft.com/office/powerpoint/2010/main" val="1921147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Compute the Centroid</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The algorithm goes through the clusters and will compute the Centroid for Cluster A and Cluster B</a:t>
            </a:r>
            <a:endParaRPr lang="en-IN" dirty="0"/>
          </a:p>
        </p:txBody>
      </p:sp>
      <p:sp>
        <p:nvSpPr>
          <p:cNvPr id="8" name="TextBox 7">
            <a:extLst>
              <a:ext uri="{FF2B5EF4-FFF2-40B4-BE49-F238E27FC236}">
                <a16:creationId xmlns:a16="http://schemas.microsoft.com/office/drawing/2014/main" id="{C54C36AD-06FC-41D3-ADBB-EC1383FAFFA5}"/>
              </a:ext>
            </a:extLst>
          </p:cNvPr>
          <p:cNvSpPr txBox="1"/>
          <p:nvPr/>
        </p:nvSpPr>
        <p:spPr>
          <a:xfrm>
            <a:off x="759448" y="5439730"/>
            <a:ext cx="7924800" cy="369332"/>
          </a:xfrm>
          <a:prstGeom prst="rect">
            <a:avLst/>
          </a:prstGeom>
          <a:noFill/>
        </p:spPr>
        <p:txBody>
          <a:bodyPr wrap="square" rtlCol="0">
            <a:spAutoFit/>
          </a:bodyPr>
          <a:lstStyle/>
          <a:p>
            <a:r>
              <a:rPr lang="en-US" dirty="0"/>
              <a:t>What is the centroid of Cluster A and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p:spTree>
    <p:extLst>
      <p:ext uri="{BB962C8B-B14F-4D97-AF65-F5344CB8AC3E}">
        <p14:creationId xmlns:p14="http://schemas.microsoft.com/office/powerpoint/2010/main" val="243915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5A790F43-AE98-46DA-BA54-5F6E87696E0B}"/>
              </a:ext>
            </a:extLst>
          </p:cNvPr>
          <p:cNvPicPr>
            <a:picLocks noChangeAspect="1"/>
          </p:cNvPicPr>
          <p:nvPr/>
        </p:nvPicPr>
        <p:blipFill>
          <a:blip r:embed="rId2"/>
          <a:stretch>
            <a:fillRect/>
          </a:stretch>
        </p:blipFill>
        <p:spPr>
          <a:xfrm>
            <a:off x="3801710" y="1887649"/>
            <a:ext cx="5236530" cy="1912094"/>
          </a:xfrm>
          <a:prstGeom prst="rect">
            <a:avLst/>
          </a:prstGeom>
        </p:spPr>
      </p:pic>
      <p:sp>
        <p:nvSpPr>
          <p:cNvPr id="2" name="Title 1"/>
          <p:cNvSpPr>
            <a:spLocks noGrp="1"/>
          </p:cNvSpPr>
          <p:nvPr>
            <p:ph type="title"/>
          </p:nvPr>
        </p:nvSpPr>
        <p:spPr/>
        <p:txBody>
          <a:bodyPr/>
          <a:lstStyle/>
          <a:p>
            <a:r>
              <a:rPr lang="en-IN" dirty="0"/>
              <a:t>2. Compute the centroid for A, B</a:t>
            </a:r>
          </a:p>
        </p:txBody>
      </p:sp>
      <p:sp>
        <p:nvSpPr>
          <p:cNvPr id="5" name="TextBox 4"/>
          <p:cNvSpPr txBox="1"/>
          <p:nvPr/>
        </p:nvSpPr>
        <p:spPr>
          <a:xfrm>
            <a:off x="2244436" y="4648200"/>
            <a:ext cx="651140" cy="369332"/>
          </a:xfrm>
          <a:prstGeom prst="rect">
            <a:avLst/>
          </a:prstGeom>
          <a:noFill/>
        </p:spPr>
        <p:txBody>
          <a:bodyPr wrap="none" rtlCol="0">
            <a:spAutoFit/>
          </a:bodyPr>
          <a:lstStyle/>
          <a:p>
            <a:r>
              <a:rPr lang="en-IN" dirty="0"/>
              <a:t>2.33,</a:t>
            </a:r>
          </a:p>
        </p:txBody>
      </p:sp>
      <p:sp>
        <p:nvSpPr>
          <p:cNvPr id="9" name="TextBox 8"/>
          <p:cNvSpPr txBox="1"/>
          <p:nvPr/>
        </p:nvSpPr>
        <p:spPr>
          <a:xfrm>
            <a:off x="5320196" y="4629621"/>
            <a:ext cx="359394" cy="369332"/>
          </a:xfrm>
          <a:prstGeom prst="rect">
            <a:avLst/>
          </a:prstGeom>
          <a:noFill/>
        </p:spPr>
        <p:txBody>
          <a:bodyPr wrap="none" rtlCol="0">
            <a:spAutoFit/>
          </a:bodyPr>
          <a:lstStyle/>
          <a:p>
            <a:r>
              <a:rPr lang="en-IN" dirty="0"/>
              <a:t>6,</a:t>
            </a:r>
          </a:p>
        </p:txBody>
      </p:sp>
      <p:sp>
        <p:nvSpPr>
          <p:cNvPr id="14" name="Left Brace 13"/>
          <p:cNvSpPr/>
          <p:nvPr/>
        </p:nvSpPr>
        <p:spPr>
          <a:xfrm>
            <a:off x="5565795" y="3190728"/>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p:cNvSpPr txBox="1"/>
          <p:nvPr/>
        </p:nvSpPr>
        <p:spPr>
          <a:xfrm>
            <a:off x="5087870" y="2506674"/>
            <a:ext cx="436338" cy="261610"/>
          </a:xfrm>
          <a:prstGeom prst="rect">
            <a:avLst/>
          </a:prstGeom>
          <a:noFill/>
        </p:spPr>
        <p:txBody>
          <a:bodyPr wrap="none" rtlCol="0">
            <a:spAutoFit/>
          </a:bodyPr>
          <a:lstStyle/>
          <a:p>
            <a:r>
              <a:rPr lang="en-IN" sz="1100" dirty="0"/>
              <a:t>2.33</a:t>
            </a:r>
          </a:p>
        </p:txBody>
      </p:sp>
      <p:sp>
        <p:nvSpPr>
          <p:cNvPr id="16" name="TextBox 15"/>
          <p:cNvSpPr txBox="1"/>
          <p:nvPr/>
        </p:nvSpPr>
        <p:spPr>
          <a:xfrm>
            <a:off x="5230626" y="3234634"/>
            <a:ext cx="256802" cy="261610"/>
          </a:xfrm>
          <a:prstGeom prst="rect">
            <a:avLst/>
          </a:prstGeom>
          <a:noFill/>
        </p:spPr>
        <p:txBody>
          <a:bodyPr wrap="none" rtlCol="0">
            <a:spAutoFit/>
          </a:bodyPr>
          <a:lstStyle/>
          <a:p>
            <a:r>
              <a:rPr lang="en-IN" sz="1100" dirty="0"/>
              <a:t>6</a:t>
            </a:r>
          </a:p>
        </p:txBody>
      </p:sp>
      <p:sp>
        <p:nvSpPr>
          <p:cNvPr id="24" name="TextBox 23"/>
          <p:cNvSpPr txBox="1"/>
          <p:nvPr/>
        </p:nvSpPr>
        <p:spPr>
          <a:xfrm>
            <a:off x="569615" y="4962148"/>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6" name="TextBox 25"/>
          <p:cNvSpPr txBox="1"/>
          <p:nvPr/>
        </p:nvSpPr>
        <p:spPr>
          <a:xfrm>
            <a:off x="4866999" y="4921115"/>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p:sp>
        <p:nvSpPr>
          <p:cNvPr id="20" name="TextBox 19"/>
          <p:cNvSpPr txBox="1"/>
          <p:nvPr/>
        </p:nvSpPr>
        <p:spPr>
          <a:xfrm>
            <a:off x="2808898" y="4637313"/>
            <a:ext cx="593432" cy="369332"/>
          </a:xfrm>
          <a:prstGeom prst="rect">
            <a:avLst/>
          </a:prstGeom>
          <a:noFill/>
        </p:spPr>
        <p:txBody>
          <a:bodyPr wrap="none" rtlCol="0">
            <a:spAutoFit/>
          </a:bodyPr>
          <a:lstStyle/>
          <a:p>
            <a:r>
              <a:rPr lang="en-IN" dirty="0"/>
              <a:t>2.33</a:t>
            </a:r>
          </a:p>
        </p:txBody>
      </p:sp>
      <p:sp>
        <p:nvSpPr>
          <p:cNvPr id="21" name="TextBox 20"/>
          <p:cNvSpPr txBox="1"/>
          <p:nvPr/>
        </p:nvSpPr>
        <p:spPr>
          <a:xfrm>
            <a:off x="5599440" y="4618734"/>
            <a:ext cx="301686" cy="369332"/>
          </a:xfrm>
          <a:prstGeom prst="rect">
            <a:avLst/>
          </a:prstGeom>
          <a:noFill/>
        </p:spPr>
        <p:txBody>
          <a:bodyPr wrap="none" rtlCol="0">
            <a:spAutoFit/>
          </a:bodyPr>
          <a:lstStyle/>
          <a:p>
            <a:r>
              <a:rPr lang="en-IN" dirty="0"/>
              <a:t>7</a:t>
            </a:r>
          </a:p>
        </p:txBody>
      </p:sp>
      <p:cxnSp>
        <p:nvCxnSpPr>
          <p:cNvPr id="28" name="Elbow Connector 27"/>
          <p:cNvCxnSpPr>
            <a:cxnSpLocks/>
            <a:stCxn id="16" idx="2"/>
          </p:cNvCxnSpPr>
          <p:nvPr/>
        </p:nvCxnSpPr>
        <p:spPr>
          <a:xfrm rot="16200000" flipH="1">
            <a:off x="4837831" y="4017440"/>
            <a:ext cx="1135960" cy="9356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27">
            <a:extLst>
              <a:ext uri="{FF2B5EF4-FFF2-40B4-BE49-F238E27FC236}">
                <a16:creationId xmlns:a16="http://schemas.microsoft.com/office/drawing/2014/main" id="{84272F1C-D832-4DFA-8766-9FA1ACF6A3EB}"/>
              </a:ext>
            </a:extLst>
          </p:cNvPr>
          <p:cNvCxnSpPr>
            <a:cxnSpLocks/>
            <a:stCxn id="48" idx="2"/>
            <a:endCxn id="21" idx="3"/>
          </p:cNvCxnSpPr>
          <p:nvPr/>
        </p:nvCxnSpPr>
        <p:spPr>
          <a:xfrm rot="5400000">
            <a:off x="6084675" y="3414206"/>
            <a:ext cx="1205645" cy="157274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Left Brace 44">
            <a:extLst>
              <a:ext uri="{FF2B5EF4-FFF2-40B4-BE49-F238E27FC236}">
                <a16:creationId xmlns:a16="http://schemas.microsoft.com/office/drawing/2014/main" id="{58C94CB4-3351-4D3A-B6A5-C7962DE4EEFA}"/>
              </a:ext>
            </a:extLst>
          </p:cNvPr>
          <p:cNvSpPr/>
          <p:nvPr/>
        </p:nvSpPr>
        <p:spPr>
          <a:xfrm>
            <a:off x="5516352" y="2265892"/>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6" name="Left Brace 45">
            <a:extLst>
              <a:ext uri="{FF2B5EF4-FFF2-40B4-BE49-F238E27FC236}">
                <a16:creationId xmlns:a16="http://schemas.microsoft.com/office/drawing/2014/main" id="{2369FCBC-8BB1-4ADF-BAD7-1E76BE57BD20}"/>
              </a:ext>
            </a:extLst>
          </p:cNvPr>
          <p:cNvSpPr/>
          <p:nvPr/>
        </p:nvSpPr>
        <p:spPr>
          <a:xfrm>
            <a:off x="7651712" y="3170720"/>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7" name="TextBox 46">
            <a:extLst>
              <a:ext uri="{FF2B5EF4-FFF2-40B4-BE49-F238E27FC236}">
                <a16:creationId xmlns:a16="http://schemas.microsoft.com/office/drawing/2014/main" id="{43B67A58-0145-43B4-95B3-82096DE03206}"/>
              </a:ext>
            </a:extLst>
          </p:cNvPr>
          <p:cNvSpPr txBox="1"/>
          <p:nvPr/>
        </p:nvSpPr>
        <p:spPr>
          <a:xfrm>
            <a:off x="7165931" y="2483592"/>
            <a:ext cx="436338" cy="261610"/>
          </a:xfrm>
          <a:prstGeom prst="rect">
            <a:avLst/>
          </a:prstGeom>
          <a:noFill/>
        </p:spPr>
        <p:txBody>
          <a:bodyPr wrap="none" rtlCol="0">
            <a:spAutoFit/>
          </a:bodyPr>
          <a:lstStyle/>
          <a:p>
            <a:r>
              <a:rPr lang="en-IN" sz="1100" dirty="0"/>
              <a:t>2.33</a:t>
            </a:r>
          </a:p>
        </p:txBody>
      </p:sp>
      <p:sp>
        <p:nvSpPr>
          <p:cNvPr id="48" name="TextBox 47">
            <a:extLst>
              <a:ext uri="{FF2B5EF4-FFF2-40B4-BE49-F238E27FC236}">
                <a16:creationId xmlns:a16="http://schemas.microsoft.com/office/drawing/2014/main" id="{C73E1E78-5C64-4CA1-9B7D-06E86B7AF727}"/>
              </a:ext>
            </a:extLst>
          </p:cNvPr>
          <p:cNvSpPr txBox="1"/>
          <p:nvPr/>
        </p:nvSpPr>
        <p:spPr>
          <a:xfrm>
            <a:off x="7345467" y="3336145"/>
            <a:ext cx="256802" cy="261610"/>
          </a:xfrm>
          <a:prstGeom prst="rect">
            <a:avLst/>
          </a:prstGeom>
          <a:noFill/>
        </p:spPr>
        <p:txBody>
          <a:bodyPr wrap="none" rtlCol="0">
            <a:spAutoFit/>
          </a:bodyPr>
          <a:lstStyle/>
          <a:p>
            <a:r>
              <a:rPr lang="en-IN" sz="1100" dirty="0"/>
              <a:t>7</a:t>
            </a:r>
          </a:p>
        </p:txBody>
      </p:sp>
      <p:sp>
        <p:nvSpPr>
          <p:cNvPr id="49" name="Left Brace 48">
            <a:extLst>
              <a:ext uri="{FF2B5EF4-FFF2-40B4-BE49-F238E27FC236}">
                <a16:creationId xmlns:a16="http://schemas.microsoft.com/office/drawing/2014/main" id="{67FA81EB-7170-4308-BD72-30BA4EA64CB8}"/>
              </a:ext>
            </a:extLst>
          </p:cNvPr>
          <p:cNvSpPr/>
          <p:nvPr/>
        </p:nvSpPr>
        <p:spPr>
          <a:xfrm>
            <a:off x="7602269" y="2238183"/>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2" name="Connector: Elbow 51">
            <a:extLst>
              <a:ext uri="{FF2B5EF4-FFF2-40B4-BE49-F238E27FC236}">
                <a16:creationId xmlns:a16="http://schemas.microsoft.com/office/drawing/2014/main" id="{B6D0E89F-0EDD-47A5-A144-026B9D180AEA}"/>
              </a:ext>
            </a:extLst>
          </p:cNvPr>
          <p:cNvCxnSpPr>
            <a:cxnSpLocks/>
            <a:stCxn id="12" idx="1"/>
            <a:endCxn id="5" idx="0"/>
          </p:cNvCxnSpPr>
          <p:nvPr/>
        </p:nvCxnSpPr>
        <p:spPr>
          <a:xfrm rot="10800000" flipV="1">
            <a:off x="2570006" y="2637478"/>
            <a:ext cx="2517864" cy="20107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124" name="Group 5123">
            <a:extLst>
              <a:ext uri="{FF2B5EF4-FFF2-40B4-BE49-F238E27FC236}">
                <a16:creationId xmlns:a16="http://schemas.microsoft.com/office/drawing/2014/main" id="{C4758264-8FEC-4B98-A479-2E8B55006135}"/>
              </a:ext>
            </a:extLst>
          </p:cNvPr>
          <p:cNvGrpSpPr/>
          <p:nvPr/>
        </p:nvGrpSpPr>
        <p:grpSpPr>
          <a:xfrm>
            <a:off x="3781256" y="2614397"/>
            <a:ext cx="3384675" cy="2222051"/>
            <a:chOff x="3781256" y="2614397"/>
            <a:chExt cx="3384675" cy="2222051"/>
          </a:xfrm>
        </p:grpSpPr>
        <p:cxnSp>
          <p:nvCxnSpPr>
            <p:cNvPr id="58" name="Connector: Elbow 57">
              <a:extLst>
                <a:ext uri="{FF2B5EF4-FFF2-40B4-BE49-F238E27FC236}">
                  <a16:creationId xmlns:a16="http://schemas.microsoft.com/office/drawing/2014/main" id="{F587C462-67A1-4DF4-A02F-4B1AD213211E}"/>
                </a:ext>
              </a:extLst>
            </p:cNvPr>
            <p:cNvCxnSpPr>
              <a:cxnSpLocks/>
            </p:cNvCxnSpPr>
            <p:nvPr/>
          </p:nvCxnSpPr>
          <p:spPr>
            <a:xfrm rot="10800000" flipV="1">
              <a:off x="3781256" y="2913386"/>
              <a:ext cx="2413378" cy="192306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6B8AB946-28D5-4410-9FC9-1A66B9872731}"/>
                </a:ext>
              </a:extLst>
            </p:cNvPr>
            <p:cNvCxnSpPr>
              <a:cxnSpLocks/>
              <a:endCxn id="47" idx="1"/>
            </p:cNvCxnSpPr>
            <p:nvPr/>
          </p:nvCxnSpPr>
          <p:spPr>
            <a:xfrm flipV="1">
              <a:off x="6157554" y="2614397"/>
              <a:ext cx="1008377" cy="29898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452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2.33, 2.33"/>
          <p:cNvSpPr>
            <a:spLocks noGrp="1"/>
          </p:cNvSpPr>
          <p:nvPr>
            <p:ph type="title"/>
          </p:nvPr>
        </p:nvSpPr>
        <p:spPr/>
        <p:txBody>
          <a:bodyPr>
            <a:normAutofit/>
          </a:bodyPr>
          <a:lstStyle/>
          <a:p>
            <a:r>
              <a:rPr lang="en-IN" dirty="0"/>
              <a:t>2. Compute the centroid</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Centroid values for Cluster A and Cluster B</a:t>
            </a:r>
            <a:endParaRPr lang="en-IN"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674396" y="3780199"/>
            <a:ext cx="300082" cy="646331"/>
          </a:xfrm>
          <a:prstGeom prst="rect">
            <a:avLst/>
          </a:prstGeom>
          <a:noFill/>
        </p:spPr>
        <p:txBody>
          <a:bodyPr wrap="none" rtlCol="0">
            <a:spAutoFit/>
          </a:bodyPr>
          <a:lstStyle/>
          <a:p>
            <a:r>
              <a:rPr lang="en-IN" dirty="0"/>
              <a:t>*</a:t>
            </a:r>
          </a:p>
          <a:p>
            <a:endParaRPr lang="en-IN" dirty="0"/>
          </a:p>
        </p:txBody>
      </p:sp>
      <p:sp>
        <p:nvSpPr>
          <p:cNvPr id="16" name="TextBox 15">
            <a:extLst>
              <a:ext uri="{FF2B5EF4-FFF2-40B4-BE49-F238E27FC236}">
                <a16:creationId xmlns:a16="http://schemas.microsoft.com/office/drawing/2014/main" id="{DE3B9795-7838-4488-9C58-D740D9E8E5F8}"/>
              </a:ext>
            </a:extLst>
          </p:cNvPr>
          <p:cNvSpPr txBox="1"/>
          <p:nvPr/>
        </p:nvSpPr>
        <p:spPr>
          <a:xfrm>
            <a:off x="7409688" y="2765684"/>
            <a:ext cx="300082"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p:sp>
        <p:nvSpPr>
          <p:cNvPr id="21" name="TextBox 20">
            <a:extLst>
              <a:ext uri="{FF2B5EF4-FFF2-40B4-BE49-F238E27FC236}">
                <a16:creationId xmlns:a16="http://schemas.microsoft.com/office/drawing/2014/main" id="{33C6A8E3-943D-444D-B00E-9258BBC0E918}"/>
              </a:ext>
            </a:extLst>
          </p:cNvPr>
          <p:cNvSpPr txBox="1"/>
          <p:nvPr/>
        </p:nvSpPr>
        <p:spPr>
          <a:xfrm>
            <a:off x="3844731" y="5134866"/>
            <a:ext cx="1253869" cy="369332"/>
          </a:xfrm>
          <a:prstGeom prst="rect">
            <a:avLst/>
          </a:prstGeom>
          <a:noFill/>
        </p:spPr>
        <p:txBody>
          <a:bodyPr wrap="none" rtlCol="0">
            <a:spAutoFit/>
          </a:bodyPr>
          <a:lstStyle/>
          <a:p>
            <a:r>
              <a:rPr lang="en-IN" dirty="0"/>
              <a:t>(2.33, 2.33)</a:t>
            </a:r>
          </a:p>
        </p:txBody>
      </p:sp>
      <p:sp>
        <p:nvSpPr>
          <p:cNvPr id="22" name="TextBox 21">
            <a:extLst>
              <a:ext uri="{FF2B5EF4-FFF2-40B4-BE49-F238E27FC236}">
                <a16:creationId xmlns:a16="http://schemas.microsoft.com/office/drawing/2014/main" id="{E2605B60-6320-45DA-A8E6-E4060380ABA3}"/>
              </a:ext>
            </a:extLst>
          </p:cNvPr>
          <p:cNvSpPr txBox="1"/>
          <p:nvPr/>
        </p:nvSpPr>
        <p:spPr>
          <a:xfrm>
            <a:off x="6920491" y="5116287"/>
            <a:ext cx="670376" cy="369332"/>
          </a:xfrm>
          <a:prstGeom prst="rect">
            <a:avLst/>
          </a:prstGeom>
          <a:noFill/>
        </p:spPr>
        <p:txBody>
          <a:bodyPr wrap="none" rtlCol="0">
            <a:spAutoFit/>
          </a:bodyPr>
          <a:lstStyle/>
          <a:p>
            <a:r>
              <a:rPr lang="en-IN" dirty="0"/>
              <a:t>(6, 7)</a:t>
            </a:r>
          </a:p>
        </p:txBody>
      </p:sp>
      <p:sp>
        <p:nvSpPr>
          <p:cNvPr id="23" name="TextBox 22">
            <a:extLst>
              <a:ext uri="{FF2B5EF4-FFF2-40B4-BE49-F238E27FC236}">
                <a16:creationId xmlns:a16="http://schemas.microsoft.com/office/drawing/2014/main" id="{AACC901D-E790-4E3F-A381-E842CDEAE6C3}"/>
              </a:ext>
            </a:extLst>
          </p:cNvPr>
          <p:cNvSpPr txBox="1"/>
          <p:nvPr/>
        </p:nvSpPr>
        <p:spPr>
          <a:xfrm>
            <a:off x="2169910" y="5448814"/>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4" name="TextBox 23">
            <a:extLst>
              <a:ext uri="{FF2B5EF4-FFF2-40B4-BE49-F238E27FC236}">
                <a16:creationId xmlns:a16="http://schemas.microsoft.com/office/drawing/2014/main" id="{EB64932C-DE31-4657-9AC5-64E25EBC0391}"/>
              </a:ext>
            </a:extLst>
          </p:cNvPr>
          <p:cNvSpPr txBox="1"/>
          <p:nvPr/>
        </p:nvSpPr>
        <p:spPr>
          <a:xfrm>
            <a:off x="6467294" y="5407781"/>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p:spTree>
    <p:extLst>
      <p:ext uri="{BB962C8B-B14F-4D97-AF65-F5344CB8AC3E}">
        <p14:creationId xmlns:p14="http://schemas.microsoft.com/office/powerpoint/2010/main" val="4216326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Measure the Distances </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739980"/>
            <a:ext cx="8229600" cy="4246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7070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4. Reassign the data point to closest centroid. </a:t>
            </a:r>
            <a:br>
              <a:rPr lang="en-IN" sz="3600" dirty="0"/>
            </a:br>
            <a:r>
              <a:rPr lang="en-IN" sz="3600" dirty="0"/>
              <a:t>Recreate the Clusters</a:t>
            </a:r>
            <a:endParaRPr lang="en-IN" dirty="0"/>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After calculating the Euclidean distance, the data point (3) is reassigned to the closest centroid, which is in cluster (B).</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ACB00763-E832-4E5D-B618-6AE393C06650}"/>
              </a:ext>
            </a:extLst>
          </p:cNvPr>
          <p:cNvPicPr>
            <a:picLocks noChangeAspect="1"/>
          </p:cNvPicPr>
          <p:nvPr/>
        </p:nvPicPr>
        <p:blipFill>
          <a:blip r:embed="rId5"/>
          <a:stretch>
            <a:fillRect/>
          </a:stretch>
        </p:blipFill>
        <p:spPr>
          <a:xfrm>
            <a:off x="76200" y="2682460"/>
            <a:ext cx="4131342" cy="1508540"/>
          </a:xfrm>
          <a:prstGeom prst="rect">
            <a:avLst/>
          </a:prstGeom>
        </p:spPr>
      </p:pic>
      <p:sp>
        <p:nvSpPr>
          <p:cNvPr id="23" name="TextBox 22">
            <a:extLst>
              <a:ext uri="{FF2B5EF4-FFF2-40B4-BE49-F238E27FC236}">
                <a16:creationId xmlns:a16="http://schemas.microsoft.com/office/drawing/2014/main" id="{7653E32D-6F34-4AC9-86BE-5B6884FD809D}"/>
              </a:ext>
            </a:extLst>
          </p:cNvPr>
          <p:cNvSpPr txBox="1"/>
          <p:nvPr/>
        </p:nvSpPr>
        <p:spPr>
          <a:xfrm>
            <a:off x="759448" y="5439730"/>
            <a:ext cx="7924800" cy="923330"/>
          </a:xfrm>
          <a:prstGeom prst="rect">
            <a:avLst/>
          </a:prstGeom>
          <a:noFill/>
        </p:spPr>
        <p:txBody>
          <a:bodyPr wrap="square" rtlCol="0">
            <a:spAutoFit/>
          </a:bodyPr>
          <a:lstStyle/>
          <a:p>
            <a:r>
              <a:rPr lang="en-US" dirty="0"/>
              <a:t>Recreate the </a:t>
            </a:r>
            <a:r>
              <a:rPr lang="en-US" b="1" dirty="0"/>
              <a:t>Cluster, let us assign 3 to Cluster B</a:t>
            </a:r>
          </a:p>
          <a:p>
            <a:r>
              <a:rPr lang="en-US" b="1" dirty="0"/>
              <a:t>Row 1,2 to Cluster A</a:t>
            </a:r>
          </a:p>
          <a:p>
            <a:r>
              <a:rPr lang="en-US" b="1" dirty="0"/>
              <a:t>Row </a:t>
            </a:r>
            <a:r>
              <a:rPr lang="en-US" b="1" dirty="0">
                <a:solidFill>
                  <a:srgbClr val="FF0000"/>
                </a:solidFill>
              </a:rPr>
              <a:t>3</a:t>
            </a:r>
            <a:r>
              <a:rPr lang="en-US" b="1" dirty="0"/>
              <a:t>,4,5 to Cluster B</a:t>
            </a:r>
            <a:endParaRPr lang="en-IN" b="1" dirty="0"/>
          </a:p>
        </p:txBody>
      </p:sp>
    </p:spTree>
    <p:extLst>
      <p:ext uri="{BB962C8B-B14F-4D97-AF65-F5344CB8AC3E}">
        <p14:creationId xmlns:p14="http://schemas.microsoft.com/office/powerpoint/2010/main" val="592034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5. Re Compute the Centroid</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Tree>
    <p:extLst>
      <p:ext uri="{BB962C8B-B14F-4D97-AF65-F5344CB8AC3E}">
        <p14:creationId xmlns:p14="http://schemas.microsoft.com/office/powerpoint/2010/main" val="1524340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2EC6EE-CA02-48E0-A65E-A8A3C72A2F17}"/>
              </a:ext>
            </a:extLst>
          </p:cNvPr>
          <p:cNvPicPr>
            <a:picLocks noChangeAspect="1"/>
          </p:cNvPicPr>
          <p:nvPr/>
        </p:nvPicPr>
        <p:blipFill>
          <a:blip r:embed="rId2"/>
          <a:stretch>
            <a:fillRect/>
          </a:stretch>
        </p:blipFill>
        <p:spPr>
          <a:xfrm>
            <a:off x="1676400" y="2371686"/>
            <a:ext cx="5791200" cy="2114628"/>
          </a:xfrm>
          <a:prstGeom prst="rect">
            <a:avLst/>
          </a:prstGeom>
        </p:spPr>
      </p:pic>
      <p:sp>
        <p:nvSpPr>
          <p:cNvPr id="2" name="Title 1"/>
          <p:cNvSpPr>
            <a:spLocks noGrp="1"/>
          </p:cNvSpPr>
          <p:nvPr>
            <p:ph type="title"/>
          </p:nvPr>
        </p:nvSpPr>
        <p:spPr/>
        <p:txBody>
          <a:bodyPr/>
          <a:lstStyle/>
          <a:p>
            <a:r>
              <a:rPr lang="en-IN" dirty="0"/>
              <a:t>6. Compute the centroid for A, B</a:t>
            </a:r>
          </a:p>
        </p:txBody>
      </p:sp>
      <p:sp>
        <p:nvSpPr>
          <p:cNvPr id="24" name="TextBox 23"/>
          <p:cNvSpPr txBox="1"/>
          <p:nvPr/>
        </p:nvSpPr>
        <p:spPr>
          <a:xfrm>
            <a:off x="569615" y="4962148"/>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47" name="TextBox 46">
            <a:extLst>
              <a:ext uri="{FF2B5EF4-FFF2-40B4-BE49-F238E27FC236}">
                <a16:creationId xmlns:a16="http://schemas.microsoft.com/office/drawing/2014/main" id="{43B67A58-0145-43B4-95B3-82096DE03206}"/>
              </a:ext>
            </a:extLst>
          </p:cNvPr>
          <p:cNvSpPr txBox="1"/>
          <p:nvPr/>
        </p:nvSpPr>
        <p:spPr>
          <a:xfrm>
            <a:off x="5812062" y="2938790"/>
            <a:ext cx="436338" cy="261610"/>
          </a:xfrm>
          <a:prstGeom prst="rect">
            <a:avLst/>
          </a:prstGeom>
          <a:noFill/>
        </p:spPr>
        <p:txBody>
          <a:bodyPr wrap="square" rtlCol="0">
            <a:spAutoFit/>
          </a:bodyPr>
          <a:lstStyle/>
          <a:p>
            <a:r>
              <a:rPr lang="en-IN" sz="1100" dirty="0"/>
              <a:t>1</a:t>
            </a:r>
          </a:p>
        </p:txBody>
      </p:sp>
      <p:sp>
        <p:nvSpPr>
          <p:cNvPr id="49" name="Left Brace 48">
            <a:extLst>
              <a:ext uri="{FF2B5EF4-FFF2-40B4-BE49-F238E27FC236}">
                <a16:creationId xmlns:a16="http://schemas.microsoft.com/office/drawing/2014/main" id="{67FA81EB-7170-4308-BD72-30BA4EA64CB8}"/>
              </a:ext>
            </a:extLst>
          </p:cNvPr>
          <p:cNvSpPr/>
          <p:nvPr/>
        </p:nvSpPr>
        <p:spPr>
          <a:xfrm>
            <a:off x="6030087" y="2743200"/>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7" name="TextBox 26">
            <a:extLst>
              <a:ext uri="{FF2B5EF4-FFF2-40B4-BE49-F238E27FC236}">
                <a16:creationId xmlns:a16="http://schemas.microsoft.com/office/drawing/2014/main" id="{82314DFD-7DBE-44F7-96CF-9CB0E9571CB3}"/>
              </a:ext>
            </a:extLst>
          </p:cNvPr>
          <p:cNvSpPr txBox="1"/>
          <p:nvPr/>
        </p:nvSpPr>
        <p:spPr>
          <a:xfrm>
            <a:off x="5638800" y="3853190"/>
            <a:ext cx="436338" cy="261610"/>
          </a:xfrm>
          <a:prstGeom prst="rect">
            <a:avLst/>
          </a:prstGeom>
          <a:noFill/>
        </p:spPr>
        <p:txBody>
          <a:bodyPr wrap="square" rtlCol="0">
            <a:spAutoFit/>
          </a:bodyPr>
          <a:lstStyle/>
          <a:p>
            <a:r>
              <a:rPr lang="en-IN" sz="1100" dirty="0"/>
              <a:t>6.33</a:t>
            </a:r>
          </a:p>
        </p:txBody>
      </p:sp>
      <p:sp>
        <p:nvSpPr>
          <p:cNvPr id="30" name="Left Brace 29">
            <a:extLst>
              <a:ext uri="{FF2B5EF4-FFF2-40B4-BE49-F238E27FC236}">
                <a16:creationId xmlns:a16="http://schemas.microsoft.com/office/drawing/2014/main" id="{F742D9F3-5CFD-4C56-914C-3F6C95165C0A}"/>
              </a:ext>
            </a:extLst>
          </p:cNvPr>
          <p:cNvSpPr/>
          <p:nvPr/>
        </p:nvSpPr>
        <p:spPr>
          <a:xfrm>
            <a:off x="6047907" y="3571837"/>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1" name="TextBox 30">
            <a:extLst>
              <a:ext uri="{FF2B5EF4-FFF2-40B4-BE49-F238E27FC236}">
                <a16:creationId xmlns:a16="http://schemas.microsoft.com/office/drawing/2014/main" id="{F21A98D8-FD4E-4268-B410-BAA03F22A228}"/>
              </a:ext>
            </a:extLst>
          </p:cNvPr>
          <p:cNvSpPr txBox="1"/>
          <p:nvPr/>
        </p:nvSpPr>
        <p:spPr>
          <a:xfrm>
            <a:off x="3343343" y="3002304"/>
            <a:ext cx="436338" cy="261610"/>
          </a:xfrm>
          <a:prstGeom prst="rect">
            <a:avLst/>
          </a:prstGeom>
          <a:noFill/>
        </p:spPr>
        <p:txBody>
          <a:bodyPr wrap="square" rtlCol="0">
            <a:spAutoFit/>
          </a:bodyPr>
          <a:lstStyle/>
          <a:p>
            <a:r>
              <a:rPr lang="en-IN" sz="1100" dirty="0"/>
              <a:t>1.5</a:t>
            </a:r>
          </a:p>
        </p:txBody>
      </p:sp>
      <p:sp>
        <p:nvSpPr>
          <p:cNvPr id="32" name="Left Brace 31">
            <a:extLst>
              <a:ext uri="{FF2B5EF4-FFF2-40B4-BE49-F238E27FC236}">
                <a16:creationId xmlns:a16="http://schemas.microsoft.com/office/drawing/2014/main" id="{42B5F69E-658D-424C-9A54-1178C0B6E8C3}"/>
              </a:ext>
            </a:extLst>
          </p:cNvPr>
          <p:cNvSpPr/>
          <p:nvPr/>
        </p:nvSpPr>
        <p:spPr>
          <a:xfrm>
            <a:off x="3659429" y="2799806"/>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3" name="TextBox 32">
            <a:extLst>
              <a:ext uri="{FF2B5EF4-FFF2-40B4-BE49-F238E27FC236}">
                <a16:creationId xmlns:a16="http://schemas.microsoft.com/office/drawing/2014/main" id="{DD0ED5DE-5F1D-4E6A-899C-5662353ED5C3}"/>
              </a:ext>
            </a:extLst>
          </p:cNvPr>
          <p:cNvSpPr txBox="1"/>
          <p:nvPr/>
        </p:nvSpPr>
        <p:spPr>
          <a:xfrm>
            <a:off x="3268142" y="3909796"/>
            <a:ext cx="436338" cy="261610"/>
          </a:xfrm>
          <a:prstGeom prst="rect">
            <a:avLst/>
          </a:prstGeom>
          <a:noFill/>
        </p:spPr>
        <p:txBody>
          <a:bodyPr wrap="square" rtlCol="0">
            <a:spAutoFit/>
          </a:bodyPr>
          <a:lstStyle/>
          <a:p>
            <a:r>
              <a:rPr lang="en-IN" sz="1100" dirty="0"/>
              <a:t>5.33</a:t>
            </a:r>
          </a:p>
        </p:txBody>
      </p:sp>
      <p:sp>
        <p:nvSpPr>
          <p:cNvPr id="34" name="Left Brace 33">
            <a:extLst>
              <a:ext uri="{FF2B5EF4-FFF2-40B4-BE49-F238E27FC236}">
                <a16:creationId xmlns:a16="http://schemas.microsoft.com/office/drawing/2014/main" id="{7AAACA3B-D2CD-4BF6-993D-8EF17755D4AC}"/>
              </a:ext>
            </a:extLst>
          </p:cNvPr>
          <p:cNvSpPr/>
          <p:nvPr/>
        </p:nvSpPr>
        <p:spPr>
          <a:xfrm>
            <a:off x="3677249" y="3628443"/>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TextBox 34">
            <a:extLst>
              <a:ext uri="{FF2B5EF4-FFF2-40B4-BE49-F238E27FC236}">
                <a16:creationId xmlns:a16="http://schemas.microsoft.com/office/drawing/2014/main" id="{97984302-268D-4AED-98D2-D768D7A57C15}"/>
              </a:ext>
            </a:extLst>
          </p:cNvPr>
          <p:cNvSpPr txBox="1"/>
          <p:nvPr/>
        </p:nvSpPr>
        <p:spPr>
          <a:xfrm>
            <a:off x="4953000" y="4962148"/>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p:spTree>
    <p:extLst>
      <p:ext uri="{BB962C8B-B14F-4D97-AF65-F5344CB8AC3E}">
        <p14:creationId xmlns:p14="http://schemas.microsoft.com/office/powerpoint/2010/main" val="2283993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7. Re Compute the Centroid</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4989188" y="3938096"/>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405745" y="3086100"/>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572000" y="3693584"/>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id="{D23AEF27-DD04-48AC-9F04-AD6E85969A11}"/>
              </a:ext>
            </a:extLst>
          </p:cNvPr>
          <p:cNvSpPr/>
          <p:nvPr/>
        </p:nvSpPr>
        <p:spPr>
          <a:xfrm>
            <a:off x="4835791" y="3205740"/>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id="{D23AEF27-DD04-48AC-9F04-AD6E85969A11}"/>
              </a:ext>
            </a:extLst>
          </p:cNvPr>
          <p:cNvSpPr/>
          <p:nvPr/>
        </p:nvSpPr>
        <p:spPr>
          <a:xfrm>
            <a:off x="7682246" y="3784751"/>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p:sp>
        <p:nvSpPr>
          <p:cNvPr id="23" name="TextBox 22">
            <a:extLst>
              <a:ext uri="{FF2B5EF4-FFF2-40B4-BE49-F238E27FC236}">
                <a16:creationId xmlns:a16="http://schemas.microsoft.com/office/drawing/2014/main" id="{33ECCD9E-8E39-4663-A1AD-4BC69BFC5AB8}"/>
              </a:ext>
            </a:extLst>
          </p:cNvPr>
          <p:cNvSpPr txBox="1"/>
          <p:nvPr/>
        </p:nvSpPr>
        <p:spPr>
          <a:xfrm>
            <a:off x="569615" y="5580457"/>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24" name="TextBox 23">
            <a:extLst>
              <a:ext uri="{FF2B5EF4-FFF2-40B4-BE49-F238E27FC236}">
                <a16:creationId xmlns:a16="http://schemas.microsoft.com/office/drawing/2014/main" id="{40149F9A-BCB1-4257-9179-3F22FDAAB148}"/>
              </a:ext>
            </a:extLst>
          </p:cNvPr>
          <p:cNvSpPr txBox="1"/>
          <p:nvPr/>
        </p:nvSpPr>
        <p:spPr>
          <a:xfrm>
            <a:off x="4953000" y="5580457"/>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p:sp>
        <p:nvSpPr>
          <p:cNvPr id="25" name="TextBox 24">
            <a:extLst>
              <a:ext uri="{FF2B5EF4-FFF2-40B4-BE49-F238E27FC236}">
                <a16:creationId xmlns:a16="http://schemas.microsoft.com/office/drawing/2014/main" id="{6A3E2F89-9AFD-4E5D-9634-1450EA0011A8}"/>
              </a:ext>
            </a:extLst>
          </p:cNvPr>
          <p:cNvSpPr txBox="1"/>
          <p:nvPr/>
        </p:nvSpPr>
        <p:spPr>
          <a:xfrm>
            <a:off x="1582259" y="5278733"/>
            <a:ext cx="845103" cy="369332"/>
          </a:xfrm>
          <a:prstGeom prst="rect">
            <a:avLst/>
          </a:prstGeom>
          <a:noFill/>
        </p:spPr>
        <p:txBody>
          <a:bodyPr wrap="none" rtlCol="0">
            <a:spAutoFit/>
          </a:bodyPr>
          <a:lstStyle/>
          <a:p>
            <a:r>
              <a:rPr lang="en-IN" dirty="0"/>
              <a:t>(1.5, 1)</a:t>
            </a:r>
          </a:p>
        </p:txBody>
      </p:sp>
      <p:sp>
        <p:nvSpPr>
          <p:cNvPr id="26" name="TextBox 25">
            <a:extLst>
              <a:ext uri="{FF2B5EF4-FFF2-40B4-BE49-F238E27FC236}">
                <a16:creationId xmlns:a16="http://schemas.microsoft.com/office/drawing/2014/main" id="{2E1C7BA9-D0D7-4D2A-B4C9-D49C308824D1}"/>
              </a:ext>
            </a:extLst>
          </p:cNvPr>
          <p:cNvSpPr txBox="1"/>
          <p:nvPr/>
        </p:nvSpPr>
        <p:spPr>
          <a:xfrm>
            <a:off x="6377114" y="5211125"/>
            <a:ext cx="1253869" cy="369332"/>
          </a:xfrm>
          <a:prstGeom prst="rect">
            <a:avLst/>
          </a:prstGeom>
          <a:noFill/>
        </p:spPr>
        <p:txBody>
          <a:bodyPr wrap="none" rtlCol="0">
            <a:spAutoFit/>
          </a:bodyPr>
          <a:lstStyle/>
          <a:p>
            <a:r>
              <a:rPr lang="en-IN" dirty="0"/>
              <a:t>(5.33, 6.33)</a:t>
            </a:r>
          </a:p>
        </p:txBody>
      </p:sp>
    </p:spTree>
    <p:extLst>
      <p:ext uri="{BB962C8B-B14F-4D97-AF65-F5344CB8AC3E}">
        <p14:creationId xmlns:p14="http://schemas.microsoft.com/office/powerpoint/2010/main" val="2542755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Re-Compute the Centroids</a:t>
            </a:r>
          </a:p>
        </p:txBody>
      </p:sp>
      <p:pic>
        <p:nvPicPr>
          <p:cNvPr id="819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82513"/>
            <a:ext cx="8229600" cy="4361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2034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Repeat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This process is repeated until there is no change in the clusters. K is chosen randomly or by giving specific initial starting points by the user.</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id="{D23AEF27-DD04-48AC-9F04-AD6E85969A11}"/>
              </a:ext>
            </a:extLst>
          </p:cNvPr>
          <p:cNvSpPr/>
          <p:nvPr/>
        </p:nvSpPr>
        <p:spPr>
          <a:xfrm>
            <a:off x="5289270" y="3081212"/>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id="{D23AEF27-DD04-48AC-9F04-AD6E85969A11}"/>
              </a:ext>
            </a:extLst>
          </p:cNvPr>
          <p:cNvSpPr/>
          <p:nvPr/>
        </p:nvSpPr>
        <p:spPr>
          <a:xfrm>
            <a:off x="7476385" y="3134275"/>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p:spTree>
    <p:extLst>
      <p:ext uri="{BB962C8B-B14F-4D97-AF65-F5344CB8AC3E}">
        <p14:creationId xmlns:p14="http://schemas.microsoft.com/office/powerpoint/2010/main" val="2291002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24EFA1-850C-42B1-BF57-A4A8E8A4E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75" y="709612"/>
            <a:ext cx="8096250" cy="5438775"/>
          </a:xfrm>
          <a:prstGeom prst="rect">
            <a:avLst/>
          </a:prstGeom>
        </p:spPr>
      </p:pic>
    </p:spTree>
    <p:extLst>
      <p:ext uri="{BB962C8B-B14F-4D97-AF65-F5344CB8AC3E}">
        <p14:creationId xmlns:p14="http://schemas.microsoft.com/office/powerpoint/2010/main" val="407548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23984-7D81-4686-A16D-B685114A6620}"/>
              </a:ext>
            </a:extLst>
          </p:cNvPr>
          <p:cNvSpPr>
            <a:spLocks noGrp="1"/>
          </p:cNvSpPr>
          <p:nvPr>
            <p:ph type="title"/>
          </p:nvPr>
        </p:nvSpPr>
        <p:spPr/>
        <p:txBody>
          <a:bodyPr/>
          <a:lstStyle/>
          <a:p>
            <a:r>
              <a:rPr lang="en-IN" dirty="0"/>
              <a:t>K Means Elbow </a:t>
            </a:r>
            <a:r>
              <a:rPr lang="en-IN" dirty="0" err="1"/>
              <a:t>metho</a:t>
            </a:r>
            <a:endParaRPr lang="en-IN" dirty="0"/>
          </a:p>
        </p:txBody>
      </p:sp>
      <p:sp>
        <p:nvSpPr>
          <p:cNvPr id="3" name="Text Placeholder 2">
            <a:extLst>
              <a:ext uri="{FF2B5EF4-FFF2-40B4-BE49-F238E27FC236}">
                <a16:creationId xmlns:a16="http://schemas.microsoft.com/office/drawing/2014/main" id="{4BCB592A-E5EC-460C-A1F9-ED2C127A4298}"/>
              </a:ext>
            </a:extLst>
          </p:cNvPr>
          <p:cNvSpPr>
            <a:spLocks noGrp="1"/>
          </p:cNvSpPr>
          <p:nvPr>
            <p:ph type="body" idx="1"/>
          </p:nvPr>
        </p:nvSpPr>
        <p:spPr/>
        <p:txBody>
          <a:bodyPr/>
          <a:lstStyle/>
          <a:p>
            <a:r>
              <a:rPr lang="en-IN" dirty="0"/>
              <a:t>	</a:t>
            </a:r>
          </a:p>
        </p:txBody>
      </p:sp>
    </p:spTree>
    <p:extLst>
      <p:ext uri="{BB962C8B-B14F-4D97-AF65-F5344CB8AC3E}">
        <p14:creationId xmlns:p14="http://schemas.microsoft.com/office/powerpoint/2010/main" val="3023609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lustering metrics better than the elbow-method - Towards Data Science">
            <a:extLst>
              <a:ext uri="{FF2B5EF4-FFF2-40B4-BE49-F238E27FC236}">
                <a16:creationId xmlns:a16="http://schemas.microsoft.com/office/drawing/2014/main" id="{C02ACDAC-824B-4C3A-8F0E-9DC531D69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652463"/>
            <a:ext cx="8658225" cy="555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425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6435D-B631-4E68-A30C-62DD98C4FC48}"/>
              </a:ext>
            </a:extLst>
          </p:cNvPr>
          <p:cNvSpPr>
            <a:spLocks noGrp="1"/>
          </p:cNvSpPr>
          <p:nvPr>
            <p:ph type="title"/>
          </p:nvPr>
        </p:nvSpPr>
        <p:spPr/>
        <p:txBody>
          <a:bodyPr/>
          <a:lstStyle/>
          <a:p>
            <a:r>
              <a:rPr lang="en-IN" dirty="0"/>
              <a:t>K-means Elbow</a:t>
            </a:r>
          </a:p>
        </p:txBody>
      </p:sp>
      <p:pic>
        <p:nvPicPr>
          <p:cNvPr id="1026" name="Picture 2" descr="Optimal number of cluster identification with K-Means algorithm ...">
            <a:extLst>
              <a:ext uri="{FF2B5EF4-FFF2-40B4-BE49-F238E27FC236}">
                <a16:creationId xmlns:a16="http://schemas.microsoft.com/office/drawing/2014/main" id="{473FD97B-DC23-4BCE-B2A4-1FBF4467F47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599" y="1981349"/>
            <a:ext cx="5638802" cy="376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66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753664-E8A0-454F-A96D-FEBA8F752A39}"/>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b="5717"/>
          <a:stretch/>
        </p:blipFill>
        <p:spPr>
          <a:xfrm>
            <a:off x="1206500" y="1600200"/>
            <a:ext cx="6337300" cy="4267200"/>
          </a:xfrm>
        </p:spPr>
      </p:pic>
      <p:sp>
        <p:nvSpPr>
          <p:cNvPr id="6" name="Rectangle 5">
            <a:extLst>
              <a:ext uri="{FF2B5EF4-FFF2-40B4-BE49-F238E27FC236}">
                <a16:creationId xmlns:a16="http://schemas.microsoft.com/office/drawing/2014/main" id="{8EA19508-9C07-4432-8167-82450DCA865D}"/>
              </a:ext>
            </a:extLst>
          </p:cNvPr>
          <p:cNvSpPr/>
          <p:nvPr/>
        </p:nvSpPr>
        <p:spPr>
          <a:xfrm>
            <a:off x="1082037" y="1582782"/>
            <a:ext cx="13716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17215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8"/>
            <a:ext cx="8229600" cy="1143000"/>
          </a:xfrm>
        </p:spPr>
        <p:txBody>
          <a:bodyPr/>
          <a:lstStyle/>
          <a:p>
            <a:r>
              <a:rPr lang="en-US" dirty="0"/>
              <a:t>Implementation using python </a:t>
            </a:r>
          </a:p>
        </p:txBody>
      </p:sp>
      <p:pic>
        <p:nvPicPr>
          <p:cNvPr id="4" name="Content Placeholder 3"/>
          <p:cNvPicPr>
            <a:picLocks noGrp="1" noChangeAspect="1"/>
          </p:cNvPicPr>
          <p:nvPr>
            <p:ph idx="1"/>
          </p:nvPr>
        </p:nvPicPr>
        <p:blipFill rotWithShape="1">
          <a:blip r:embed="rId2"/>
          <a:srcRect l="11640" t="21942" r="12758" b="65078"/>
          <a:stretch/>
        </p:blipFill>
        <p:spPr>
          <a:xfrm>
            <a:off x="0" y="1281661"/>
            <a:ext cx="9161238" cy="951874"/>
          </a:xfrm>
          <a:prstGeom prst="rect">
            <a:avLst/>
          </a:prstGeom>
        </p:spPr>
      </p:pic>
      <p:pic>
        <p:nvPicPr>
          <p:cNvPr id="5" name="Picture 4"/>
          <p:cNvPicPr>
            <a:picLocks noChangeAspect="1"/>
          </p:cNvPicPr>
          <p:nvPr/>
        </p:nvPicPr>
        <p:blipFill rotWithShape="1">
          <a:blip r:embed="rId3"/>
          <a:srcRect l="13248" t="24232" r="13939" b="4047"/>
          <a:stretch/>
        </p:blipFill>
        <p:spPr>
          <a:xfrm>
            <a:off x="83002" y="2286000"/>
            <a:ext cx="9060998" cy="5017958"/>
          </a:xfrm>
          <a:prstGeom prst="rect">
            <a:avLst/>
          </a:prstGeom>
        </p:spPr>
      </p:pic>
    </p:spTree>
    <p:extLst>
      <p:ext uri="{BB962C8B-B14F-4D97-AF65-F5344CB8AC3E}">
        <p14:creationId xmlns:p14="http://schemas.microsoft.com/office/powerpoint/2010/main" val="4174374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 </a:t>
            </a: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54083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5060</TotalTime>
  <Words>831</Words>
  <Application>Microsoft Office PowerPoint</Application>
  <PresentationFormat>On-screen Show (4:3)</PresentationFormat>
  <Paragraphs>163</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K-Means</vt:lpstr>
      <vt:lpstr>K Means</vt:lpstr>
      <vt:lpstr>K Means</vt:lpstr>
      <vt:lpstr>K Means</vt:lpstr>
      <vt:lpstr>Common business cases where K-means is used</vt:lpstr>
      <vt:lpstr>PowerPoint Presentation</vt:lpstr>
      <vt:lpstr>K=3 Clusters</vt:lpstr>
      <vt:lpstr>PowerPoint Presentation</vt:lpstr>
      <vt:lpstr>Data with No Answers</vt:lpstr>
      <vt:lpstr>Data with No Answers</vt:lpstr>
      <vt:lpstr>Data with No Answers</vt:lpstr>
      <vt:lpstr>Data with No Answers</vt:lpstr>
      <vt:lpstr>1. Cluster assignment</vt:lpstr>
      <vt:lpstr>1. Cluster assignment</vt:lpstr>
      <vt:lpstr>2. Compute the Centroid</vt:lpstr>
      <vt:lpstr>2. Compute the centroid for A, B</vt:lpstr>
      <vt:lpstr>2. Compute the centroid</vt:lpstr>
      <vt:lpstr>3. Measure the Distances </vt:lpstr>
      <vt:lpstr>4. Reassign the data point to closest centroid.  Recreate the Clusters</vt:lpstr>
      <vt:lpstr>5. Re Compute the Centroid</vt:lpstr>
      <vt:lpstr>6. Compute the centroid for A, B</vt:lpstr>
      <vt:lpstr>7. Re Compute the Centroid</vt:lpstr>
      <vt:lpstr>Re-Compute the Centroids</vt:lpstr>
      <vt:lpstr>Repeat</vt:lpstr>
      <vt:lpstr>PowerPoint Presentation</vt:lpstr>
      <vt:lpstr>K Means Elbow metho</vt:lpstr>
      <vt:lpstr>PowerPoint Presentation</vt:lpstr>
      <vt:lpstr>K-means Elbow</vt:lpstr>
      <vt:lpstr>PowerPoint Presentation</vt:lpstr>
      <vt:lpstr>Implementation using python </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Arunkumar Nair</cp:lastModifiedBy>
  <cp:revision>73</cp:revision>
  <dcterms:created xsi:type="dcterms:W3CDTF">2006-08-16T00:00:00Z</dcterms:created>
  <dcterms:modified xsi:type="dcterms:W3CDTF">2020-04-04T14:28:51Z</dcterms:modified>
</cp:coreProperties>
</file>