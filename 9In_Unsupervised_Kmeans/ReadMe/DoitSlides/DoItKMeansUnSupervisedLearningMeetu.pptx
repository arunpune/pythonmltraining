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6" r:id="rId9"/>
    <p:sldId id="265" r:id="rId10"/>
    <p:sldId id="267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9" r:id="rId20"/>
    <p:sldId id="278" r:id="rId21"/>
    <p:sldId id="280" r:id="rId22"/>
    <p:sldId id="277" r:id="rId23"/>
    <p:sldId id="281" r:id="rId24"/>
    <p:sldId id="282" r:id="rId25"/>
    <p:sldId id="283" r:id="rId26"/>
    <p:sldId id="284" r:id="rId27"/>
    <p:sldId id="286" r:id="rId28"/>
    <p:sldId id="285" r:id="rId29"/>
    <p:sldId id="287" r:id="rId30"/>
    <p:sldId id="288" r:id="rId31"/>
    <p:sldId id="290" r:id="rId32"/>
    <p:sldId id="291" r:id="rId33"/>
    <p:sldId id="292" r:id="rId34"/>
    <p:sldId id="289" r:id="rId35"/>
    <p:sldId id="294" r:id="rId36"/>
    <p:sldId id="293" r:id="rId37"/>
    <p:sldId id="295" r:id="rId38"/>
    <p:sldId id="296" r:id="rId39"/>
    <p:sldId id="299" r:id="rId40"/>
    <p:sldId id="300" r:id="rId41"/>
    <p:sldId id="301" r:id="rId42"/>
    <p:sldId id="298" r:id="rId43"/>
    <p:sldId id="297" r:id="rId44"/>
    <p:sldId id="303" r:id="rId45"/>
    <p:sldId id="302" r:id="rId46"/>
    <p:sldId id="305" r:id="rId47"/>
    <p:sldId id="304" r:id="rId48"/>
    <p:sldId id="308" r:id="rId49"/>
    <p:sldId id="307" r:id="rId50"/>
    <p:sldId id="306" r:id="rId51"/>
    <p:sldId id="310" r:id="rId52"/>
    <p:sldId id="309" r:id="rId53"/>
    <p:sldId id="312" r:id="rId54"/>
    <p:sldId id="311" r:id="rId55"/>
    <p:sldId id="313" r:id="rId56"/>
    <p:sldId id="315" r:id="rId57"/>
    <p:sldId id="317" r:id="rId58"/>
    <p:sldId id="316" r:id="rId59"/>
    <p:sldId id="318" r:id="rId60"/>
    <p:sldId id="319" r:id="rId61"/>
    <p:sldId id="320" r:id="rId62"/>
    <p:sldId id="322" r:id="rId63"/>
    <p:sldId id="321" r:id="rId64"/>
    <p:sldId id="323" r:id="rId65"/>
    <p:sldId id="324" r:id="rId66"/>
    <p:sldId id="325" r:id="rId67"/>
    <p:sldId id="329" r:id="rId68"/>
    <p:sldId id="326" r:id="rId69"/>
    <p:sldId id="330" r:id="rId70"/>
    <p:sldId id="327" r:id="rId71"/>
    <p:sldId id="331" r:id="rId72"/>
    <p:sldId id="259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81" d="100"/>
          <a:sy n="81" d="100"/>
        </p:scale>
        <p:origin x="-27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6CEC71-121E-4C68-84E3-8F2FDFA2F82E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53745-6CBE-4C33-859C-C77CE49A3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175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Statistics: 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that branch of mathematics which deals with gathering, interpreting, and organizing the information or data.</a:t>
            </a:r>
            <a:endParaRPr lang="en-IN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Descriptive statistics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uses the data to provide descriptions of the population, either through numerical calculations or graphs or tables.</a:t>
            </a:r>
          </a:p>
          <a:p>
            <a:r>
              <a:rPr lang="en-IN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Inferential statistics</a:t>
            </a:r>
            <a:r>
              <a:rPr lang="en-I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makes inferences and predictions about a population based on a sample of data taken from the population in question.</a:t>
            </a:r>
            <a:endParaRPr lang="en-IN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75E3F5-F62B-4C75-927E-23DBCA25E45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9428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5052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8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480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20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46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611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77A392-A198-4808-8A61-0D3A256C1897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001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NULL"/><Relationship Id="rId5" Type="http://schemas.openxmlformats.org/officeDocument/2006/relationships/image" Target="../media/image3.png"/><Relationship Id="rId4" Type="http://schemas.openxmlformats.org/officeDocument/2006/relationships/image" Target="NUL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316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15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884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1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860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65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54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71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83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060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983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=""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=""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51679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 xmlns="">
        <p15:guide id="4294967295" orient="horz" pos="2160">
          <p15:clr>
            <a:srgbClr val="FBAE40"/>
          </p15:clr>
        </p15:guide>
        <p15:guide id="4294967295" pos="3840">
          <p15:clr>
            <a:srgbClr val="FBAE40"/>
          </p15:clr>
        </p15:guide>
        <p15:guide id="4294967295" pos="7333">
          <p15:clr>
            <a:srgbClr val="FBAE40"/>
          </p15:clr>
        </p15:guide>
        <p15:guide id="4294967295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=""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=""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=""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=""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999" y="1844881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=""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0800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=""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47142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751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=""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 smtClean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=""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=""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8534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CF2352-2738-4C0B-B709-FA94D8564014}" type="datetimeFigureOut">
              <a:rPr lang="en-US" smtClean="0"/>
              <a:t>11/7/2019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F97B1-929D-4367-8112-6EAA6C4F6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154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4.png"/><Relationship Id="rId4" Type="http://schemas.openxmlformats.org/officeDocument/2006/relationships/image" Target="../media/image1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17.png"/><Relationship Id="rId16" Type="http://schemas.openxmlformats.org/officeDocument/2006/relationships/image" Target="../media/image49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58.png"/><Relationship Id="rId3" Type="http://schemas.openxmlformats.org/officeDocument/2006/relationships/image" Target="../media/image5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7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24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0" Type="http://schemas.openxmlformats.org/officeDocument/2006/relationships/image" Target="../media/image61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0" Type="http://schemas.openxmlformats.org/officeDocument/2006/relationships/image" Target="../media/image61.png"/><Relationship Id="rId4" Type="http://schemas.openxmlformats.org/officeDocument/2006/relationships/image" Target="../media/image53.png"/><Relationship Id="rId9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3.png"/><Relationship Id="rId3" Type="http://schemas.openxmlformats.org/officeDocument/2006/relationships/image" Target="../media/image62.png"/><Relationship Id="rId7" Type="http://schemas.openxmlformats.org/officeDocument/2006/relationships/image" Target="../media/image60.png"/><Relationship Id="rId12" Type="http://schemas.openxmlformats.org/officeDocument/2006/relationships/image" Target="../media/image5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4.png"/><Relationship Id="rId11" Type="http://schemas.openxmlformats.org/officeDocument/2006/relationships/image" Target="../media/image57.png"/><Relationship Id="rId5" Type="http://schemas.openxmlformats.org/officeDocument/2006/relationships/image" Target="../media/image59.png"/><Relationship Id="rId10" Type="http://schemas.openxmlformats.org/officeDocument/2006/relationships/image" Target="../media/image56.png"/><Relationship Id="rId4" Type="http://schemas.openxmlformats.org/officeDocument/2006/relationships/image" Target="../media/image26.png"/><Relationship Id="rId9" Type="http://schemas.openxmlformats.org/officeDocument/2006/relationships/image" Target="../media/image61.png"/><Relationship Id="rId1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26.png"/><Relationship Id="rId10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6.png"/><Relationship Id="rId10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Relationship Id="rId14" Type="http://schemas.openxmlformats.org/officeDocument/2006/relationships/image" Target="../media/image6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54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8.png"/><Relationship Id="rId10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28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8.png"/><Relationship Id="rId10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58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12" Type="http://schemas.openxmlformats.org/officeDocument/2006/relationships/image" Target="../media/image5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56.png"/><Relationship Id="rId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34.png"/><Relationship Id="rId3" Type="http://schemas.openxmlformats.org/officeDocument/2006/relationships/image" Target="../media/image62.png"/><Relationship Id="rId7" Type="http://schemas.openxmlformats.org/officeDocument/2006/relationships/image" Target="../media/image69.png"/><Relationship Id="rId12" Type="http://schemas.openxmlformats.org/officeDocument/2006/relationships/image" Target="../media/image3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32.png"/><Relationship Id="rId5" Type="http://schemas.openxmlformats.org/officeDocument/2006/relationships/image" Target="../media/image68.png"/><Relationship Id="rId10" Type="http://schemas.openxmlformats.org/officeDocument/2006/relationships/image" Target="../media/image61.png"/><Relationship Id="rId4" Type="http://schemas.openxmlformats.org/officeDocument/2006/relationships/image" Target="../media/image64.png"/><Relationship Id="rId9" Type="http://schemas.openxmlformats.org/officeDocument/2006/relationships/image" Target="../media/image70.png"/><Relationship Id="rId14" Type="http://schemas.openxmlformats.org/officeDocument/2006/relationships/image" Target="../media/image35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94.png"/><Relationship Id="rId3" Type="http://schemas.openxmlformats.org/officeDocument/2006/relationships/image" Target="../media/image71.png"/><Relationship Id="rId21" Type="http://schemas.openxmlformats.org/officeDocument/2006/relationships/image" Target="../media/image89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2" Type="http://schemas.openxmlformats.org/officeDocument/2006/relationships/image" Target="../media/image17.png"/><Relationship Id="rId16" Type="http://schemas.openxmlformats.org/officeDocument/2006/relationships/image" Target="../media/image84.png"/><Relationship Id="rId20" Type="http://schemas.openxmlformats.org/officeDocument/2006/relationships/image" Target="../media/image88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5" Type="http://schemas.openxmlformats.org/officeDocument/2006/relationships/image" Target="../media/image73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3" Type="http://schemas.openxmlformats.org/officeDocument/2006/relationships/image" Target="../media/image98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5" Type="http://schemas.openxmlformats.org/officeDocument/2006/relationships/image" Target="../media/image100.png"/><Relationship Id="rId10" Type="http://schemas.openxmlformats.org/officeDocument/2006/relationships/image" Target="../media/image105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34.png"/><Relationship Id="rId3" Type="http://schemas.openxmlformats.org/officeDocument/2006/relationships/image" Target="../media/image62.png"/><Relationship Id="rId7" Type="http://schemas.openxmlformats.org/officeDocument/2006/relationships/image" Target="../media/image110.png"/><Relationship Id="rId12" Type="http://schemas.openxmlformats.org/officeDocument/2006/relationships/image" Target="../media/image1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9.png"/><Relationship Id="rId11" Type="http://schemas.openxmlformats.org/officeDocument/2006/relationships/image" Target="../media/image113.png"/><Relationship Id="rId5" Type="http://schemas.openxmlformats.org/officeDocument/2006/relationships/image" Target="../media/image66.png"/><Relationship Id="rId10" Type="http://schemas.openxmlformats.org/officeDocument/2006/relationships/image" Target="../media/image112.png"/><Relationship Id="rId4" Type="http://schemas.openxmlformats.org/officeDocument/2006/relationships/image" Target="../media/image64.png"/><Relationship Id="rId9" Type="http://schemas.openxmlformats.org/officeDocument/2006/relationships/image" Target="../media/image111.png"/><Relationship Id="rId14" Type="http://schemas.openxmlformats.org/officeDocument/2006/relationships/image" Target="../media/image11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0" Type="http://schemas.openxmlformats.org/officeDocument/2006/relationships/image" Target="../media/image135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png"/><Relationship Id="rId13" Type="http://schemas.openxmlformats.org/officeDocument/2006/relationships/image" Target="../media/image149.png"/><Relationship Id="rId3" Type="http://schemas.openxmlformats.org/officeDocument/2006/relationships/image" Target="../media/image139.png"/><Relationship Id="rId7" Type="http://schemas.openxmlformats.org/officeDocument/2006/relationships/image" Target="../media/image143.png"/><Relationship Id="rId12" Type="http://schemas.openxmlformats.org/officeDocument/2006/relationships/image" Target="../media/image14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42.png"/><Relationship Id="rId11" Type="http://schemas.openxmlformats.org/officeDocument/2006/relationships/image" Target="../media/image147.png"/><Relationship Id="rId5" Type="http://schemas.openxmlformats.org/officeDocument/2006/relationships/image" Target="../media/image141.png"/><Relationship Id="rId10" Type="http://schemas.openxmlformats.org/officeDocument/2006/relationships/image" Target="../media/image146.png"/><Relationship Id="rId4" Type="http://schemas.openxmlformats.org/officeDocument/2006/relationships/image" Target="../media/image140.png"/><Relationship Id="rId9" Type="http://schemas.openxmlformats.org/officeDocument/2006/relationships/image" Target="../media/image145.png"/><Relationship Id="rId14" Type="http://schemas.openxmlformats.org/officeDocument/2006/relationships/image" Target="../media/image150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5" Type="http://schemas.openxmlformats.org/officeDocument/2006/relationships/image" Target="../media/image163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png"/><Relationship Id="rId13" Type="http://schemas.openxmlformats.org/officeDocument/2006/relationships/image" Target="../media/image161.png"/><Relationship Id="rId3" Type="http://schemas.openxmlformats.org/officeDocument/2006/relationships/image" Target="../media/image151.png"/><Relationship Id="rId7" Type="http://schemas.openxmlformats.org/officeDocument/2006/relationships/image" Target="../media/image155.png"/><Relationship Id="rId12" Type="http://schemas.openxmlformats.org/officeDocument/2006/relationships/image" Target="../media/image16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54.png"/><Relationship Id="rId11" Type="http://schemas.openxmlformats.org/officeDocument/2006/relationships/image" Target="../media/image159.png"/><Relationship Id="rId5" Type="http://schemas.openxmlformats.org/officeDocument/2006/relationships/image" Target="../media/image153.png"/><Relationship Id="rId15" Type="http://schemas.openxmlformats.org/officeDocument/2006/relationships/image" Target="../media/image164.png"/><Relationship Id="rId10" Type="http://schemas.openxmlformats.org/officeDocument/2006/relationships/image" Target="../media/image158.png"/><Relationship Id="rId4" Type="http://schemas.openxmlformats.org/officeDocument/2006/relationships/image" Target="../media/image152.png"/><Relationship Id="rId9" Type="http://schemas.openxmlformats.org/officeDocument/2006/relationships/image" Target="../media/image157.png"/><Relationship Id="rId14" Type="http://schemas.openxmlformats.org/officeDocument/2006/relationships/image" Target="../media/image16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13" Type="http://schemas.openxmlformats.org/officeDocument/2006/relationships/image" Target="../media/image175.png"/><Relationship Id="rId3" Type="http://schemas.openxmlformats.org/officeDocument/2006/relationships/image" Target="../media/image165.png"/><Relationship Id="rId7" Type="http://schemas.openxmlformats.org/officeDocument/2006/relationships/image" Target="../media/image169.png"/><Relationship Id="rId12" Type="http://schemas.openxmlformats.org/officeDocument/2006/relationships/image" Target="../media/image17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68.png"/><Relationship Id="rId11" Type="http://schemas.openxmlformats.org/officeDocument/2006/relationships/image" Target="../media/image173.png"/><Relationship Id="rId5" Type="http://schemas.openxmlformats.org/officeDocument/2006/relationships/image" Target="../media/image167.png"/><Relationship Id="rId10" Type="http://schemas.openxmlformats.org/officeDocument/2006/relationships/image" Target="../media/image172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13" Type="http://schemas.openxmlformats.org/officeDocument/2006/relationships/image" Target="../media/image186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12" Type="http://schemas.openxmlformats.org/officeDocument/2006/relationships/image" Target="../media/image18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9.png"/><Relationship Id="rId11" Type="http://schemas.openxmlformats.org/officeDocument/2006/relationships/image" Target="../media/image184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Relationship Id="rId14" Type="http://schemas.openxmlformats.org/officeDocument/2006/relationships/image" Target="../media/image187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19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1.png"/><Relationship Id="rId11" Type="http://schemas.openxmlformats.org/officeDocument/2006/relationships/image" Target="../media/image196.png"/><Relationship Id="rId5" Type="http://schemas.openxmlformats.org/officeDocument/2006/relationships/image" Target="../media/image190.png"/><Relationship Id="rId10" Type="http://schemas.openxmlformats.org/officeDocument/2006/relationships/image" Target="../media/image195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3.png"/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12" Type="http://schemas.openxmlformats.org/officeDocument/2006/relationships/image" Target="../media/image20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91.png"/><Relationship Id="rId11" Type="http://schemas.openxmlformats.org/officeDocument/2006/relationships/image" Target="../media/image199.png"/><Relationship Id="rId5" Type="http://schemas.openxmlformats.org/officeDocument/2006/relationships/image" Target="../media/image190.png"/><Relationship Id="rId10" Type="http://schemas.openxmlformats.org/officeDocument/2006/relationships/image" Target="../media/image198.png"/><Relationship Id="rId4" Type="http://schemas.openxmlformats.org/officeDocument/2006/relationships/image" Target="../media/image189.png"/><Relationship Id="rId9" Type="http://schemas.openxmlformats.org/officeDocument/2006/relationships/image" Target="../media/image19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4.png"/><Relationship Id="rId13" Type="http://schemas.openxmlformats.org/officeDocument/2006/relationships/image" Target="../media/image209.png"/><Relationship Id="rId3" Type="http://schemas.openxmlformats.org/officeDocument/2006/relationships/image" Target="../media/image188.png"/><Relationship Id="rId7" Type="http://schemas.openxmlformats.org/officeDocument/2006/relationships/image" Target="../media/image203.png"/><Relationship Id="rId12" Type="http://schemas.openxmlformats.org/officeDocument/2006/relationships/image" Target="../media/image20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02.png"/><Relationship Id="rId11" Type="http://schemas.openxmlformats.org/officeDocument/2006/relationships/image" Target="../media/image207.png"/><Relationship Id="rId5" Type="http://schemas.openxmlformats.org/officeDocument/2006/relationships/image" Target="../media/image201.png"/><Relationship Id="rId10" Type="http://schemas.openxmlformats.org/officeDocument/2006/relationships/image" Target="../media/image206.png"/><Relationship Id="rId4" Type="http://schemas.openxmlformats.org/officeDocument/2006/relationships/image" Target="../media/image189.png"/><Relationship Id="rId9" Type="http://schemas.openxmlformats.org/officeDocument/2006/relationships/image" Target="../media/image20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.png"/><Relationship Id="rId7" Type="http://schemas.openxmlformats.org/officeDocument/2006/relationships/image" Target="../media/image2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6.png"/><Relationship Id="rId3" Type="http://schemas.openxmlformats.org/officeDocument/2006/relationships/image" Target="../media/image211.png"/><Relationship Id="rId7" Type="http://schemas.openxmlformats.org/officeDocument/2006/relationships/image" Target="../media/image2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4.png"/><Relationship Id="rId5" Type="http://schemas.openxmlformats.org/officeDocument/2006/relationships/image" Target="../media/image213.png"/><Relationship Id="rId4" Type="http://schemas.openxmlformats.org/officeDocument/2006/relationships/image" Target="../media/image212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7.png"/><Relationship Id="rId7" Type="http://schemas.openxmlformats.org/officeDocument/2006/relationships/image" Target="../media/image2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3.png"/><Relationship Id="rId11" Type="http://schemas.openxmlformats.org/officeDocument/2006/relationships/image" Target="../media/image219.png"/><Relationship Id="rId5" Type="http://schemas.openxmlformats.org/officeDocument/2006/relationships/image" Target="../media/image212.png"/><Relationship Id="rId10" Type="http://schemas.openxmlformats.org/officeDocument/2006/relationships/image" Target="../media/image216.png"/><Relationship Id="rId4" Type="http://schemas.openxmlformats.org/officeDocument/2006/relationships/image" Target="../media/image211.png"/><Relationship Id="rId9" Type="http://schemas.openxmlformats.org/officeDocument/2006/relationships/image" Target="../media/image21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7.png"/><Relationship Id="rId7" Type="http://schemas.openxmlformats.org/officeDocument/2006/relationships/image" Target="../media/image21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3.png"/><Relationship Id="rId11" Type="http://schemas.openxmlformats.org/officeDocument/2006/relationships/image" Target="../media/image219.png"/><Relationship Id="rId5" Type="http://schemas.openxmlformats.org/officeDocument/2006/relationships/image" Target="../media/image212.png"/><Relationship Id="rId10" Type="http://schemas.openxmlformats.org/officeDocument/2006/relationships/image" Target="../media/image216.png"/><Relationship Id="rId4" Type="http://schemas.openxmlformats.org/officeDocument/2006/relationships/image" Target="../media/image211.png"/><Relationship Id="rId9" Type="http://schemas.openxmlformats.org/officeDocument/2006/relationships/image" Target="../media/image215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7.png"/><Relationship Id="rId7" Type="http://schemas.openxmlformats.org/officeDocument/2006/relationships/image" Target="../media/image214.png"/><Relationship Id="rId12" Type="http://schemas.openxmlformats.org/officeDocument/2006/relationships/image" Target="../media/image2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13.png"/><Relationship Id="rId11" Type="http://schemas.openxmlformats.org/officeDocument/2006/relationships/image" Target="../media/image219.png"/><Relationship Id="rId5" Type="http://schemas.openxmlformats.org/officeDocument/2006/relationships/image" Target="../media/image212.png"/><Relationship Id="rId10" Type="http://schemas.openxmlformats.org/officeDocument/2006/relationships/image" Target="../media/image216.png"/><Relationship Id="rId4" Type="http://schemas.openxmlformats.org/officeDocument/2006/relationships/image" Target="../media/image211.png"/><Relationship Id="rId9" Type="http://schemas.openxmlformats.org/officeDocument/2006/relationships/image" Target="../media/image215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8.png"/><Relationship Id="rId3" Type="http://schemas.openxmlformats.org/officeDocument/2006/relationships/image" Target="../media/image217.png"/><Relationship Id="rId7" Type="http://schemas.openxmlformats.org/officeDocument/2006/relationships/image" Target="../media/image2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222.png"/><Relationship Id="rId5" Type="http://schemas.openxmlformats.org/officeDocument/2006/relationships/image" Target="../media/image219.png"/><Relationship Id="rId10" Type="http://schemas.openxmlformats.org/officeDocument/2006/relationships/image" Target="../media/image225.png"/><Relationship Id="rId4" Type="http://schemas.openxmlformats.org/officeDocument/2006/relationships/image" Target="../media/image221.png"/><Relationship Id="rId9" Type="http://schemas.openxmlformats.org/officeDocument/2006/relationships/image" Target="../media/image22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1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mailto:arunkg99@gmail.com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6343650" y="1880751"/>
            <a:ext cx="5143500" cy="238334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5"/>
              </a:spcBef>
            </a:pPr>
            <a:r>
              <a:rPr lang="en-IN" sz="4800" dirty="0"/>
              <a:t>Machine Learning Use Cases</a:t>
            </a:r>
            <a:endParaRPr sz="3850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/>
              <a:t>Learn easy. Enjoy Easy. Expertise easy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 dirty="0"/>
          </a:p>
        </p:txBody>
      </p:sp>
      <p:pic>
        <p:nvPicPr>
          <p:cNvPr id="6" name="Picture Placeholder 10" descr="city skyline">
            <a:extLst>
              <a:ext uri="{FF2B5EF4-FFF2-40B4-BE49-F238E27FC236}">
                <a16:creationId xmlns=""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71243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220196" y="2369127"/>
            <a:ext cx="5143500" cy="1777205"/>
          </a:xfrm>
        </p:spPr>
        <p:txBody>
          <a:bodyPr/>
          <a:lstStyle/>
          <a:p>
            <a:r>
              <a:rPr lang="en-US" sz="4800" spc="25" dirty="0">
                <a:solidFill>
                  <a:srgbClr val="FFFFFF"/>
                </a:solidFill>
                <a:latin typeface="Arial"/>
                <a:cs typeface="Arial"/>
              </a:rPr>
              <a:t>Unsupervised Learning:</a:t>
            </a:r>
            <a:r>
              <a:rPr lang="en-US" sz="4800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4800" spc="1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lang="en-IN" sz="4800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89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3" y="290957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95972" y="546627"/>
            <a:ext cx="5647690" cy="331501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chemeClr val="bg1"/>
                </a:solidFill>
              </a:rPr>
              <a:t>Things you </a:t>
            </a:r>
            <a:r>
              <a:rPr sz="2100" spc="25" dirty="0">
                <a:solidFill>
                  <a:schemeClr val="bg1"/>
                </a:solidFill>
              </a:rPr>
              <a:t>will </a:t>
            </a:r>
            <a:r>
              <a:rPr sz="2100" spc="15" dirty="0">
                <a:solidFill>
                  <a:schemeClr val="bg1"/>
                </a:solidFill>
              </a:rPr>
              <a:t>learn </a:t>
            </a:r>
            <a:r>
              <a:rPr sz="2100" dirty="0">
                <a:solidFill>
                  <a:schemeClr val="bg1"/>
                </a:solidFill>
              </a:rPr>
              <a:t>after </a:t>
            </a:r>
            <a:r>
              <a:rPr sz="2100" spc="-10" dirty="0">
                <a:solidFill>
                  <a:schemeClr val="bg1"/>
                </a:solidFill>
              </a:rPr>
              <a:t>this</a:t>
            </a:r>
            <a:r>
              <a:rPr sz="2100" spc="-370" dirty="0">
                <a:solidFill>
                  <a:schemeClr val="bg1"/>
                </a:solidFill>
              </a:rPr>
              <a:t> </a:t>
            </a:r>
            <a:r>
              <a:rPr sz="2100" spc="-5" dirty="0">
                <a:solidFill>
                  <a:schemeClr val="bg1"/>
                </a:solidFill>
              </a:rPr>
              <a:t>Session</a:t>
            </a:r>
            <a:endParaRPr sz="21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7" name="object 9"/>
          <p:cNvSpPr txBox="1"/>
          <p:nvPr/>
        </p:nvSpPr>
        <p:spPr>
          <a:xfrm>
            <a:off x="4230601" y="2232050"/>
            <a:ext cx="5190489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5" dirty="0">
                <a:solidFill>
                  <a:srgbClr val="595959"/>
                </a:solidFill>
                <a:latin typeface="Arial"/>
                <a:cs typeface="Arial"/>
              </a:rPr>
              <a:t>Unsupervised </a:t>
            </a:r>
            <a:r>
              <a:rPr sz="2400" b="1" dirty="0">
                <a:solidFill>
                  <a:srgbClr val="595959"/>
                </a:solidFill>
                <a:latin typeface="Arial"/>
                <a:cs typeface="Arial"/>
              </a:rPr>
              <a:t>Learning: </a:t>
            </a:r>
            <a:r>
              <a:rPr sz="2400" b="1" spc="-10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2000" spc="10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r>
              <a:rPr sz="20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Clustering?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Use 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Case </a:t>
            </a:r>
            <a:r>
              <a:rPr sz="200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1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Types </a:t>
            </a:r>
            <a:r>
              <a:rPr sz="200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2000" spc="-25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9847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4" y="385456"/>
            <a:ext cx="868152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20" dirty="0">
                <a:solidFill>
                  <a:schemeClr val="accent1"/>
                </a:solidFill>
                <a:latin typeface="Arial"/>
                <a:cs typeface="Arial"/>
              </a:rPr>
              <a:t>What is Clustering?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08211"/>
            <a:ext cx="2687782" cy="4454039"/>
          </a:xfrm>
          <a:prstGeom prst="rect">
            <a:avLst/>
          </a:prstGeom>
        </p:spPr>
      </p:pic>
      <p:sp>
        <p:nvSpPr>
          <p:cNvPr id="12" name="object 2"/>
          <p:cNvSpPr/>
          <p:nvPr/>
        </p:nvSpPr>
        <p:spPr>
          <a:xfrm>
            <a:off x="7736413" y="2948728"/>
            <a:ext cx="4154110" cy="206009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4"/>
          <p:cNvSpPr txBox="1"/>
          <p:nvPr/>
        </p:nvSpPr>
        <p:spPr>
          <a:xfrm>
            <a:off x="3206567" y="1998767"/>
            <a:ext cx="4505960" cy="271272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231775" marR="5080" indent="-219075">
              <a:lnSpc>
                <a:spcPct val="102499"/>
              </a:lnSpc>
              <a:spcBef>
                <a:spcPts val="45"/>
              </a:spcBef>
            </a:pPr>
            <a:r>
              <a:rPr sz="2750" dirty="0">
                <a:solidFill>
                  <a:srgbClr val="595959"/>
                </a:solidFill>
                <a:latin typeface="Arial"/>
                <a:cs typeface="Arial"/>
              </a:rPr>
              <a:t>“</a:t>
            </a:r>
            <a:r>
              <a:rPr sz="1550" dirty="0">
                <a:solidFill>
                  <a:srgbClr val="5F4778"/>
                </a:solidFill>
                <a:latin typeface="Arial"/>
                <a:cs typeface="Arial"/>
              </a:rPr>
              <a:t>Clustering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process of </a:t>
            </a: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dividing </a:t>
            </a: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datasets  </a:t>
            </a: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into </a:t>
            </a:r>
            <a:r>
              <a:rPr sz="1550" dirty="0">
                <a:solidFill>
                  <a:srgbClr val="595959"/>
                </a:solidFill>
                <a:latin typeface="Arial"/>
                <a:cs typeface="Arial"/>
              </a:rPr>
              <a:t>groups,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consisting of </a:t>
            </a:r>
            <a:r>
              <a:rPr sz="1550" dirty="0">
                <a:solidFill>
                  <a:srgbClr val="595959"/>
                </a:solidFill>
                <a:latin typeface="Arial"/>
                <a:cs typeface="Arial"/>
              </a:rPr>
              <a:t>similar</a:t>
            </a:r>
            <a:r>
              <a:rPr sz="1550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data-points</a:t>
            </a:r>
            <a:r>
              <a:rPr sz="2750" spc="5" dirty="0">
                <a:solidFill>
                  <a:srgbClr val="595959"/>
                </a:solidFill>
                <a:latin typeface="Arial"/>
                <a:cs typeface="Arial"/>
              </a:rPr>
              <a:t>”</a:t>
            </a:r>
            <a:endParaRPr sz="27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467359" marR="1152525" indent="-286385">
              <a:lnSpc>
                <a:spcPct val="153500"/>
              </a:lnSpc>
              <a:buClr>
                <a:srgbClr val="5F4778"/>
              </a:buClr>
              <a:buFont typeface="Wingdings"/>
              <a:buChar char=""/>
              <a:tabLst>
                <a:tab pos="467359" algn="l"/>
                <a:tab pos="467995" algn="l"/>
              </a:tabLst>
            </a:pPr>
            <a:r>
              <a:rPr sz="1550" spc="10" dirty="0">
                <a:solidFill>
                  <a:srgbClr val="595959"/>
                </a:solidFill>
                <a:latin typeface="Arial"/>
                <a:cs typeface="Arial"/>
              </a:rPr>
              <a:t>Points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55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group </a:t>
            </a:r>
            <a:r>
              <a:rPr sz="1550" spc="15" dirty="0">
                <a:solidFill>
                  <a:srgbClr val="595959"/>
                </a:solidFill>
                <a:latin typeface="Arial"/>
                <a:cs typeface="Arial"/>
              </a:rPr>
              <a:t>are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as  </a:t>
            </a:r>
            <a:r>
              <a:rPr sz="1550" dirty="0">
                <a:solidFill>
                  <a:srgbClr val="595959"/>
                </a:solidFill>
                <a:latin typeface="Arial"/>
                <a:cs typeface="Arial"/>
              </a:rPr>
              <a:t>similar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550" spc="1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possible</a:t>
            </a:r>
            <a:endParaRPr sz="1550" dirty="0">
              <a:latin typeface="Arial"/>
              <a:cs typeface="Arial"/>
            </a:endParaRPr>
          </a:p>
          <a:p>
            <a:pPr marL="467359" indent="-287020">
              <a:lnSpc>
                <a:spcPct val="100000"/>
              </a:lnSpc>
              <a:spcBef>
                <a:spcPts val="1070"/>
              </a:spcBef>
              <a:buClr>
                <a:srgbClr val="5F4778"/>
              </a:buClr>
              <a:buFont typeface="Wingdings"/>
              <a:buChar char=""/>
              <a:tabLst>
                <a:tab pos="467359" algn="l"/>
                <a:tab pos="467995" algn="l"/>
              </a:tabLst>
            </a:pPr>
            <a:r>
              <a:rPr sz="1550" spc="10" dirty="0">
                <a:solidFill>
                  <a:srgbClr val="595959"/>
                </a:solidFill>
                <a:latin typeface="Arial"/>
                <a:cs typeface="Arial"/>
              </a:rPr>
              <a:t>Points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550" spc="-5" dirty="0">
                <a:solidFill>
                  <a:srgbClr val="595959"/>
                </a:solidFill>
                <a:latin typeface="Arial"/>
                <a:cs typeface="Arial"/>
              </a:rPr>
              <a:t>group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550" spc="-10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endParaRPr sz="1550" dirty="0">
              <a:latin typeface="Arial"/>
              <a:cs typeface="Arial"/>
            </a:endParaRPr>
          </a:p>
          <a:p>
            <a:pPr marL="467359">
              <a:lnSpc>
                <a:spcPct val="100000"/>
              </a:lnSpc>
              <a:spcBef>
                <a:spcPts val="994"/>
              </a:spcBef>
            </a:pP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dissimilar </a:t>
            </a:r>
            <a:r>
              <a:rPr sz="1550" spc="20" dirty="0">
                <a:solidFill>
                  <a:srgbClr val="595959"/>
                </a:solidFill>
                <a:latin typeface="Arial"/>
                <a:cs typeface="Arial"/>
              </a:rPr>
              <a:t>as</a:t>
            </a:r>
            <a:r>
              <a:rPr sz="1550" spc="-29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595959"/>
                </a:solidFill>
                <a:latin typeface="Arial"/>
                <a:cs typeface="Arial"/>
              </a:rPr>
              <a:t>possible</a:t>
            </a:r>
            <a:endParaRPr sz="15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13543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4" y="385456"/>
            <a:ext cx="868152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20" dirty="0" smtClean="0">
                <a:solidFill>
                  <a:schemeClr val="accent1"/>
                </a:solidFill>
                <a:latin typeface="Arial"/>
                <a:cs typeface="Arial"/>
              </a:rPr>
              <a:t>Example of Clustering</a:t>
            </a:r>
            <a:endParaRPr lang="en-US" spc="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682809" y="1348925"/>
            <a:ext cx="3374238" cy="166077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0"/>
          <p:cNvSpPr/>
          <p:nvPr/>
        </p:nvSpPr>
        <p:spPr>
          <a:xfrm>
            <a:off x="5724482" y="1352818"/>
            <a:ext cx="4083582" cy="377811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/>
          <p:nvPr/>
        </p:nvSpPr>
        <p:spPr>
          <a:xfrm>
            <a:off x="2074665" y="3670279"/>
            <a:ext cx="2466158" cy="131892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2"/>
          <p:cNvSpPr txBox="1"/>
          <p:nvPr/>
        </p:nvSpPr>
        <p:spPr>
          <a:xfrm>
            <a:off x="2097074" y="2926963"/>
            <a:ext cx="2962130" cy="560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1350" marR="5080" indent="-629285">
              <a:lnSpc>
                <a:spcPct val="146300"/>
              </a:lnSpc>
              <a:spcBef>
                <a:spcPts val="95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Example </a:t>
            </a:r>
            <a:r>
              <a:rPr sz="1200" b="1" spc="5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1200" spc="5" dirty="0">
                <a:solidFill>
                  <a:srgbClr val="595959"/>
                </a:solidFill>
                <a:latin typeface="Arial"/>
                <a:cs typeface="Arial"/>
              </a:rPr>
              <a:t>: 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Cluster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different colors 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 </a:t>
            </a:r>
            <a:r>
              <a:rPr sz="1200" spc="-25" dirty="0">
                <a:solidFill>
                  <a:srgbClr val="595959"/>
                </a:solidFill>
                <a:latin typeface="Arial"/>
                <a:cs typeface="Arial"/>
              </a:rPr>
              <a:t>FROOT</a:t>
            </a:r>
            <a:r>
              <a:rPr sz="12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LOOPS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6" name="object 13"/>
          <p:cNvSpPr txBox="1"/>
          <p:nvPr/>
        </p:nvSpPr>
        <p:spPr>
          <a:xfrm>
            <a:off x="2575343" y="4875355"/>
            <a:ext cx="1907175" cy="559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6515">
              <a:lnSpc>
                <a:spcPct val="146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595959"/>
                </a:solidFill>
                <a:latin typeface="Arial"/>
                <a:cs typeface="Arial"/>
              </a:rPr>
              <a:t>Example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2: 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Cluster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  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different colors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595959"/>
                </a:solidFill>
                <a:latin typeface="Arial"/>
                <a:cs typeface="Arial"/>
              </a:rPr>
              <a:t>Fruits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7" name="object 15"/>
          <p:cNvSpPr txBox="1"/>
          <p:nvPr/>
        </p:nvSpPr>
        <p:spPr>
          <a:xfrm>
            <a:off x="6680392" y="5245164"/>
            <a:ext cx="2120232" cy="394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200" b="1" dirty="0" smtClean="0">
                <a:solidFill>
                  <a:srgbClr val="595959"/>
                </a:solidFill>
                <a:latin typeface="Arial"/>
                <a:cs typeface="Arial"/>
              </a:rPr>
              <a:t>Example 3: </a:t>
            </a:r>
            <a:r>
              <a:rPr lang="en-US" sz="1200" spc="-20" dirty="0" smtClean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lang="en-US" sz="1200" spc="2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200" dirty="0" smtClean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endParaRPr lang="en-US" sz="1200" spc="-15" dirty="0" smtClean="0">
              <a:solidFill>
                <a:srgbClr val="595959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5" dirty="0" smtClean="0">
                <a:solidFill>
                  <a:srgbClr val="595959"/>
                </a:solidFill>
                <a:latin typeface="Arial"/>
                <a:cs typeface="Arial"/>
              </a:rPr>
              <a:t>different </a:t>
            </a:r>
            <a:r>
              <a:rPr sz="1200" spc="-20" dirty="0">
                <a:solidFill>
                  <a:srgbClr val="595959"/>
                </a:solidFill>
                <a:latin typeface="Arial"/>
                <a:cs typeface="Arial"/>
              </a:rPr>
              <a:t>types </a:t>
            </a:r>
            <a:r>
              <a:rPr sz="120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200" spc="-17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spc="-5" dirty="0">
                <a:solidFill>
                  <a:srgbClr val="595959"/>
                </a:solidFill>
                <a:latin typeface="Arial"/>
                <a:cs typeface="Arial"/>
              </a:rPr>
              <a:t>Garbage</a:t>
            </a:r>
            <a:endParaRPr sz="1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4476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4" y="385456"/>
            <a:ext cx="7379195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20" dirty="0" smtClean="0">
                <a:solidFill>
                  <a:schemeClr val="accent1"/>
                </a:solidFill>
                <a:latin typeface="Arial"/>
                <a:cs typeface="Arial"/>
              </a:rPr>
              <a:t>Use-case of Clustering</a:t>
            </a:r>
            <a:endParaRPr lang="en-US" spc="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9"/>
          <p:cNvSpPr/>
          <p:nvPr/>
        </p:nvSpPr>
        <p:spPr>
          <a:xfrm>
            <a:off x="1440865" y="1665152"/>
            <a:ext cx="5794291" cy="409727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/>
          <p:cNvSpPr/>
          <p:nvPr/>
        </p:nvSpPr>
        <p:spPr>
          <a:xfrm>
            <a:off x="7581752" y="2568989"/>
            <a:ext cx="2344074" cy="6539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2"/>
          <p:cNvSpPr/>
          <p:nvPr/>
        </p:nvSpPr>
        <p:spPr>
          <a:xfrm>
            <a:off x="7698406" y="4052463"/>
            <a:ext cx="2222779" cy="5552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2805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205" y="385455"/>
            <a:ext cx="5578104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dirty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dirty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  <a:t/>
            </a:r>
            <a:br>
              <a:rPr lang="en-US" spc="15" dirty="0" smtClean="0">
                <a:solidFill>
                  <a:schemeClr val="accent1"/>
                </a:solidFill>
                <a:latin typeface="Arial"/>
                <a:cs typeface="Arial"/>
              </a:rPr>
            </a:br>
            <a:r>
              <a:rPr lang="en-US" spc="20" dirty="0" smtClean="0">
                <a:solidFill>
                  <a:schemeClr val="accent1"/>
                </a:solidFill>
                <a:latin typeface="Arial"/>
                <a:cs typeface="Arial"/>
              </a:rPr>
              <a:t>Where it is used?</a:t>
            </a:r>
            <a:endParaRPr lang="en-US" spc="20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/>
          <p:nvPr/>
        </p:nvSpPr>
        <p:spPr>
          <a:xfrm>
            <a:off x="5353790" y="2059246"/>
            <a:ext cx="2050271" cy="62298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585505" y="2887841"/>
            <a:ext cx="2237865" cy="183078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44860" y="3637652"/>
            <a:ext cx="2229992" cy="6032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1146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715" y="385456"/>
            <a:ext cx="6879772" cy="541127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pPr marR="264795">
              <a:lnSpc>
                <a:spcPts val="4360"/>
              </a:lnSpc>
              <a:spcBef>
                <a:spcPts val="305"/>
              </a:spcBef>
            </a:pPr>
            <a:r>
              <a:rPr lang="en-US" spc="15" dirty="0">
                <a:solidFill>
                  <a:schemeClr val="accent1"/>
                </a:solidFill>
                <a:latin typeface="Arial"/>
                <a:cs typeface="Arial"/>
              </a:rPr>
              <a:t>Types of  </a:t>
            </a:r>
            <a:r>
              <a:rPr lang="en-US" spc="15" dirty="0" err="1" smtClean="0">
                <a:solidFill>
                  <a:schemeClr val="accent1"/>
                </a:solidFill>
                <a:latin typeface="Arial"/>
                <a:cs typeface="Arial"/>
              </a:rPr>
              <a:t>Clustring</a:t>
            </a:r>
            <a:endParaRPr lang="en-US" spc="15" dirty="0">
              <a:solidFill>
                <a:schemeClr val="accent1"/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5555877" y="1351212"/>
            <a:ext cx="29179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pc="10" dirty="0" smtClean="0">
                <a:solidFill>
                  <a:srgbClr val="535353"/>
                </a:solidFill>
              </a:rPr>
              <a:t>Types </a:t>
            </a:r>
            <a:r>
              <a:rPr lang="en-US" sz="2800" spc="30" dirty="0" smtClean="0">
                <a:solidFill>
                  <a:srgbClr val="535353"/>
                </a:solidFill>
              </a:rPr>
              <a:t>of</a:t>
            </a:r>
            <a:r>
              <a:rPr lang="en-US" sz="2800" spc="-330" dirty="0" smtClean="0">
                <a:solidFill>
                  <a:srgbClr val="535353"/>
                </a:solidFill>
              </a:rPr>
              <a:t> </a:t>
            </a:r>
            <a:r>
              <a:rPr lang="en-US" sz="2800" spc="10" dirty="0" smtClean="0">
                <a:solidFill>
                  <a:srgbClr val="535353"/>
                </a:solidFill>
              </a:rPr>
              <a:t>Clustering</a:t>
            </a:r>
            <a:endParaRPr lang="en-US" sz="2800" dirty="0"/>
          </a:p>
        </p:txBody>
      </p:sp>
      <p:sp>
        <p:nvSpPr>
          <p:cNvPr id="14" name="object 9"/>
          <p:cNvSpPr/>
          <p:nvPr/>
        </p:nvSpPr>
        <p:spPr>
          <a:xfrm>
            <a:off x="5509692" y="2499220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09" h="450214">
                <a:moveTo>
                  <a:pt x="2836804" y="0"/>
                </a:moveTo>
                <a:lnTo>
                  <a:pt x="74919" y="0"/>
                </a:lnTo>
                <a:lnTo>
                  <a:pt x="45751" y="5904"/>
                </a:lnTo>
                <a:lnTo>
                  <a:pt x="21937" y="21998"/>
                </a:lnTo>
                <a:lnTo>
                  <a:pt x="5885" y="45854"/>
                </a:lnTo>
                <a:lnTo>
                  <a:pt x="0" y="75041"/>
                </a:lnTo>
                <a:lnTo>
                  <a:pt x="0" y="375025"/>
                </a:lnTo>
                <a:lnTo>
                  <a:pt x="5885" y="404194"/>
                </a:lnTo>
                <a:lnTo>
                  <a:pt x="21937" y="428007"/>
                </a:lnTo>
                <a:lnTo>
                  <a:pt x="45751" y="444060"/>
                </a:lnTo>
                <a:lnTo>
                  <a:pt x="74919" y="449945"/>
                </a:lnTo>
                <a:lnTo>
                  <a:pt x="2836804" y="449945"/>
                </a:lnTo>
                <a:lnTo>
                  <a:pt x="2865972" y="444060"/>
                </a:lnTo>
                <a:lnTo>
                  <a:pt x="2889786" y="428007"/>
                </a:lnTo>
                <a:lnTo>
                  <a:pt x="2905838" y="404194"/>
                </a:lnTo>
                <a:lnTo>
                  <a:pt x="2911724" y="375025"/>
                </a:lnTo>
                <a:lnTo>
                  <a:pt x="2911724" y="75041"/>
                </a:lnTo>
                <a:lnTo>
                  <a:pt x="2905838" y="45854"/>
                </a:lnTo>
                <a:lnTo>
                  <a:pt x="2889786" y="21998"/>
                </a:lnTo>
                <a:lnTo>
                  <a:pt x="2865972" y="5904"/>
                </a:lnTo>
                <a:lnTo>
                  <a:pt x="283680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/>
        </p:nvSpPr>
        <p:spPr>
          <a:xfrm>
            <a:off x="5509692" y="2499221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09" h="450214">
                <a:moveTo>
                  <a:pt x="0" y="75041"/>
                </a:moveTo>
                <a:lnTo>
                  <a:pt x="5885" y="45854"/>
                </a:lnTo>
                <a:lnTo>
                  <a:pt x="21937" y="21998"/>
                </a:lnTo>
                <a:lnTo>
                  <a:pt x="45751" y="5904"/>
                </a:lnTo>
                <a:lnTo>
                  <a:pt x="74919" y="0"/>
                </a:lnTo>
                <a:lnTo>
                  <a:pt x="2836804" y="0"/>
                </a:lnTo>
                <a:lnTo>
                  <a:pt x="2865972" y="5904"/>
                </a:lnTo>
                <a:lnTo>
                  <a:pt x="2889785" y="21998"/>
                </a:lnTo>
                <a:lnTo>
                  <a:pt x="2905838" y="45854"/>
                </a:lnTo>
                <a:lnTo>
                  <a:pt x="2911723" y="75041"/>
                </a:lnTo>
                <a:lnTo>
                  <a:pt x="2911723" y="375025"/>
                </a:lnTo>
                <a:lnTo>
                  <a:pt x="2905838" y="404194"/>
                </a:lnTo>
                <a:lnTo>
                  <a:pt x="2889785" y="428007"/>
                </a:lnTo>
                <a:lnTo>
                  <a:pt x="2865972" y="444060"/>
                </a:lnTo>
                <a:lnTo>
                  <a:pt x="2836804" y="449945"/>
                </a:lnTo>
                <a:lnTo>
                  <a:pt x="74919" y="449945"/>
                </a:lnTo>
                <a:lnTo>
                  <a:pt x="45751" y="444060"/>
                </a:lnTo>
                <a:lnTo>
                  <a:pt x="21937" y="428007"/>
                </a:lnTo>
                <a:lnTo>
                  <a:pt x="5885" y="404194"/>
                </a:lnTo>
                <a:lnTo>
                  <a:pt x="0" y="375025"/>
                </a:lnTo>
                <a:lnTo>
                  <a:pt x="0" y="75041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 txBox="1"/>
          <p:nvPr/>
        </p:nvSpPr>
        <p:spPr>
          <a:xfrm>
            <a:off x="5834556" y="2567353"/>
            <a:ext cx="227520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Exclusive</a:t>
            </a:r>
            <a:r>
              <a:rPr sz="1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" name="object 12"/>
          <p:cNvSpPr/>
          <p:nvPr/>
        </p:nvSpPr>
        <p:spPr>
          <a:xfrm>
            <a:off x="5509692" y="3075658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09" h="450214">
                <a:moveTo>
                  <a:pt x="2836804" y="0"/>
                </a:moveTo>
                <a:lnTo>
                  <a:pt x="74919" y="0"/>
                </a:lnTo>
                <a:lnTo>
                  <a:pt x="45751" y="5909"/>
                </a:lnTo>
                <a:lnTo>
                  <a:pt x="21937" y="22014"/>
                </a:lnTo>
                <a:lnTo>
                  <a:pt x="5885" y="45880"/>
                </a:lnTo>
                <a:lnTo>
                  <a:pt x="0" y="75072"/>
                </a:lnTo>
                <a:lnTo>
                  <a:pt x="0" y="375050"/>
                </a:lnTo>
                <a:lnTo>
                  <a:pt x="5885" y="404222"/>
                </a:lnTo>
                <a:lnTo>
                  <a:pt x="21937" y="428037"/>
                </a:lnTo>
                <a:lnTo>
                  <a:pt x="45751" y="444090"/>
                </a:lnTo>
                <a:lnTo>
                  <a:pt x="74919" y="449976"/>
                </a:lnTo>
                <a:lnTo>
                  <a:pt x="2836804" y="449976"/>
                </a:lnTo>
                <a:lnTo>
                  <a:pt x="2865972" y="444090"/>
                </a:lnTo>
                <a:lnTo>
                  <a:pt x="2889786" y="428037"/>
                </a:lnTo>
                <a:lnTo>
                  <a:pt x="2905838" y="404222"/>
                </a:lnTo>
                <a:lnTo>
                  <a:pt x="2911724" y="375050"/>
                </a:lnTo>
                <a:lnTo>
                  <a:pt x="2911724" y="75072"/>
                </a:lnTo>
                <a:lnTo>
                  <a:pt x="2905838" y="45880"/>
                </a:lnTo>
                <a:lnTo>
                  <a:pt x="2889786" y="22014"/>
                </a:lnTo>
                <a:lnTo>
                  <a:pt x="2865972" y="5909"/>
                </a:lnTo>
                <a:lnTo>
                  <a:pt x="283680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5509692" y="3075658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09" h="450214">
                <a:moveTo>
                  <a:pt x="0" y="75072"/>
                </a:moveTo>
                <a:lnTo>
                  <a:pt x="5885" y="45880"/>
                </a:lnTo>
                <a:lnTo>
                  <a:pt x="21937" y="22014"/>
                </a:lnTo>
                <a:lnTo>
                  <a:pt x="45751" y="5909"/>
                </a:lnTo>
                <a:lnTo>
                  <a:pt x="74919" y="0"/>
                </a:lnTo>
                <a:lnTo>
                  <a:pt x="2836804" y="0"/>
                </a:lnTo>
                <a:lnTo>
                  <a:pt x="2865972" y="5909"/>
                </a:lnTo>
                <a:lnTo>
                  <a:pt x="2889785" y="22014"/>
                </a:lnTo>
                <a:lnTo>
                  <a:pt x="2905838" y="45880"/>
                </a:lnTo>
                <a:lnTo>
                  <a:pt x="2911723" y="75072"/>
                </a:lnTo>
                <a:lnTo>
                  <a:pt x="2911723" y="375050"/>
                </a:lnTo>
                <a:lnTo>
                  <a:pt x="2905838" y="404222"/>
                </a:lnTo>
                <a:lnTo>
                  <a:pt x="2889785" y="428037"/>
                </a:lnTo>
                <a:lnTo>
                  <a:pt x="2865972" y="444090"/>
                </a:lnTo>
                <a:lnTo>
                  <a:pt x="2836804" y="449976"/>
                </a:lnTo>
                <a:lnTo>
                  <a:pt x="74919" y="449976"/>
                </a:lnTo>
                <a:lnTo>
                  <a:pt x="45751" y="444090"/>
                </a:lnTo>
                <a:lnTo>
                  <a:pt x="21937" y="428037"/>
                </a:lnTo>
                <a:lnTo>
                  <a:pt x="5885" y="404222"/>
                </a:lnTo>
                <a:lnTo>
                  <a:pt x="0" y="375050"/>
                </a:lnTo>
                <a:lnTo>
                  <a:pt x="0" y="75072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 txBox="1"/>
          <p:nvPr/>
        </p:nvSpPr>
        <p:spPr>
          <a:xfrm>
            <a:off x="5691681" y="3144950"/>
            <a:ext cx="256159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Overlapping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15"/>
          <p:cNvSpPr/>
          <p:nvPr/>
        </p:nvSpPr>
        <p:spPr>
          <a:xfrm>
            <a:off x="5509692" y="3652126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09" h="450214">
                <a:moveTo>
                  <a:pt x="2836804" y="0"/>
                </a:moveTo>
                <a:lnTo>
                  <a:pt x="74919" y="0"/>
                </a:lnTo>
                <a:lnTo>
                  <a:pt x="45751" y="5906"/>
                </a:lnTo>
                <a:lnTo>
                  <a:pt x="21937" y="22004"/>
                </a:lnTo>
                <a:lnTo>
                  <a:pt x="5885" y="45864"/>
                </a:lnTo>
                <a:lnTo>
                  <a:pt x="0" y="75057"/>
                </a:lnTo>
                <a:lnTo>
                  <a:pt x="0" y="375035"/>
                </a:lnTo>
                <a:lnTo>
                  <a:pt x="5885" y="404207"/>
                </a:lnTo>
                <a:lnTo>
                  <a:pt x="21937" y="428022"/>
                </a:lnTo>
                <a:lnTo>
                  <a:pt x="45751" y="444075"/>
                </a:lnTo>
                <a:lnTo>
                  <a:pt x="74919" y="449961"/>
                </a:lnTo>
                <a:lnTo>
                  <a:pt x="2836804" y="449961"/>
                </a:lnTo>
                <a:lnTo>
                  <a:pt x="2865972" y="444075"/>
                </a:lnTo>
                <a:lnTo>
                  <a:pt x="2889786" y="428022"/>
                </a:lnTo>
                <a:lnTo>
                  <a:pt x="2905838" y="404207"/>
                </a:lnTo>
                <a:lnTo>
                  <a:pt x="2911724" y="375035"/>
                </a:lnTo>
                <a:lnTo>
                  <a:pt x="2911724" y="75057"/>
                </a:lnTo>
                <a:lnTo>
                  <a:pt x="2905838" y="45864"/>
                </a:lnTo>
                <a:lnTo>
                  <a:pt x="2889786" y="22004"/>
                </a:lnTo>
                <a:lnTo>
                  <a:pt x="2865972" y="5906"/>
                </a:lnTo>
                <a:lnTo>
                  <a:pt x="2836804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5509692" y="3652127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09" h="450214">
                <a:moveTo>
                  <a:pt x="0" y="75056"/>
                </a:moveTo>
                <a:lnTo>
                  <a:pt x="5885" y="45864"/>
                </a:lnTo>
                <a:lnTo>
                  <a:pt x="21937" y="22004"/>
                </a:lnTo>
                <a:lnTo>
                  <a:pt x="45751" y="5906"/>
                </a:lnTo>
                <a:lnTo>
                  <a:pt x="74919" y="0"/>
                </a:lnTo>
                <a:lnTo>
                  <a:pt x="2836804" y="0"/>
                </a:lnTo>
                <a:lnTo>
                  <a:pt x="2865972" y="5906"/>
                </a:lnTo>
                <a:lnTo>
                  <a:pt x="2889785" y="22004"/>
                </a:lnTo>
                <a:lnTo>
                  <a:pt x="2905838" y="45864"/>
                </a:lnTo>
                <a:lnTo>
                  <a:pt x="2911723" y="75056"/>
                </a:lnTo>
                <a:lnTo>
                  <a:pt x="2911723" y="375035"/>
                </a:lnTo>
                <a:lnTo>
                  <a:pt x="2905838" y="404206"/>
                </a:lnTo>
                <a:lnTo>
                  <a:pt x="2889785" y="428022"/>
                </a:lnTo>
                <a:lnTo>
                  <a:pt x="2865972" y="444075"/>
                </a:lnTo>
                <a:lnTo>
                  <a:pt x="2836804" y="449960"/>
                </a:lnTo>
                <a:lnTo>
                  <a:pt x="74919" y="449960"/>
                </a:lnTo>
                <a:lnTo>
                  <a:pt x="45751" y="444075"/>
                </a:lnTo>
                <a:lnTo>
                  <a:pt x="21937" y="428022"/>
                </a:lnTo>
                <a:lnTo>
                  <a:pt x="5885" y="404206"/>
                </a:lnTo>
                <a:lnTo>
                  <a:pt x="0" y="375035"/>
                </a:lnTo>
                <a:lnTo>
                  <a:pt x="0" y="75056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 txBox="1"/>
          <p:nvPr/>
        </p:nvSpPr>
        <p:spPr>
          <a:xfrm>
            <a:off x="5701206" y="3722546"/>
            <a:ext cx="2533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9843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/>
          <p:nvPr/>
        </p:nvSpPr>
        <p:spPr>
          <a:xfrm>
            <a:off x="8997177" y="3058158"/>
            <a:ext cx="147320" cy="478086"/>
          </a:xfrm>
          <a:custGeom>
            <a:avLst/>
            <a:gdLst/>
            <a:ahLst/>
            <a:cxnLst/>
            <a:rect l="l" t="t" r="r" b="b"/>
            <a:pathLst>
              <a:path w="147320" h="578485">
                <a:moveTo>
                  <a:pt x="0" y="578479"/>
                </a:moveTo>
                <a:lnTo>
                  <a:pt x="146821" y="578479"/>
                </a:lnTo>
                <a:lnTo>
                  <a:pt x="146821" y="0"/>
                </a:lnTo>
                <a:lnTo>
                  <a:pt x="0" y="0"/>
                </a:lnTo>
                <a:lnTo>
                  <a:pt x="0" y="57847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/>
          <p:nvPr/>
        </p:nvSpPr>
        <p:spPr>
          <a:xfrm>
            <a:off x="0" y="458731"/>
            <a:ext cx="3057509" cy="5141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457207"/>
            <a:ext cx="2957195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0" y="3188464"/>
            <a:ext cx="2957195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0" y="1754187"/>
            <a:ext cx="2957195" cy="1602655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73024" y="566474"/>
            <a:ext cx="3127375" cy="233333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>Types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of  C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</a:p>
        </p:txBody>
      </p:sp>
      <p:sp>
        <p:nvSpPr>
          <p:cNvPr id="13" name="object 8"/>
          <p:cNvSpPr txBox="1"/>
          <p:nvPr/>
        </p:nvSpPr>
        <p:spPr>
          <a:xfrm>
            <a:off x="3434336" y="945200"/>
            <a:ext cx="368960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heavy" spc="-2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Exclusive</a:t>
            </a:r>
            <a:r>
              <a:rPr sz="2400" b="1" u="heavy" spc="80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sz="2400" b="1" u="heavy" spc="-35" dirty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Clustering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3518018" y="1962157"/>
            <a:ext cx="5398733" cy="736740"/>
          </a:xfrm>
          <a:prstGeom prst="rect">
            <a:avLst/>
          </a:prstGeom>
        </p:spPr>
        <p:txBody>
          <a:bodyPr vert="horz" wrap="square" lIns="0" tIns="127635" rIns="0" bIns="0" rtlCol="0">
            <a:spAutoFit/>
          </a:bodyPr>
          <a:lstStyle/>
          <a:p>
            <a:pPr marL="231775" indent="-219710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231775" algn="l"/>
                <a:tab pos="232410" algn="l"/>
              </a:tabLst>
            </a:pP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Each </a:t>
            </a:r>
            <a:r>
              <a:rPr sz="1600" dirty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sz="1600" spc="-5" dirty="0">
                <a:solidFill>
                  <a:srgbClr val="595959"/>
                </a:solidFill>
                <a:latin typeface="Arial"/>
                <a:cs typeface="Arial"/>
              </a:rPr>
              <a:t>can 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only 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exist </a:t>
            </a:r>
            <a:r>
              <a:rPr sz="1600" spc="-2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600" spc="-35" dirty="0">
                <a:solidFill>
                  <a:srgbClr val="595959"/>
                </a:solidFill>
                <a:latin typeface="Arial"/>
                <a:cs typeface="Arial"/>
              </a:rPr>
              <a:t>one</a:t>
            </a:r>
            <a:r>
              <a:rPr sz="1600" spc="2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endParaRPr sz="1600" dirty="0">
              <a:latin typeface="Arial"/>
              <a:cs typeface="Arial"/>
            </a:endParaRPr>
          </a:p>
          <a:p>
            <a:pPr marL="231775" indent="-21971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231775" algn="l"/>
                <a:tab pos="232410" algn="l"/>
              </a:tabLst>
            </a:pPr>
            <a:r>
              <a:rPr sz="1600" spc="-10" dirty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sz="1600" spc="-30" dirty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sz="1600" spc="-15" dirty="0">
                <a:solidFill>
                  <a:srgbClr val="595959"/>
                </a:solidFill>
                <a:latin typeface="Arial"/>
                <a:cs typeface="Arial"/>
              </a:rPr>
              <a:t>K-Means</a:t>
            </a:r>
            <a:r>
              <a:rPr sz="1600" spc="-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00" spc="-25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15" name="object 10"/>
          <p:cNvSpPr/>
          <p:nvPr/>
        </p:nvSpPr>
        <p:spPr>
          <a:xfrm>
            <a:off x="4228337" y="3469140"/>
            <a:ext cx="4028971" cy="149076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16144" y="3433300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85"/>
                </a:lnTo>
                <a:lnTo>
                  <a:pt x="21964" y="21938"/>
                </a:lnTo>
                <a:lnTo>
                  <a:pt x="5893" y="45754"/>
                </a:lnTo>
                <a:lnTo>
                  <a:pt x="0" y="74925"/>
                </a:lnTo>
                <a:lnTo>
                  <a:pt x="0" y="374904"/>
                </a:lnTo>
                <a:lnTo>
                  <a:pt x="5893" y="404075"/>
                </a:lnTo>
                <a:lnTo>
                  <a:pt x="21964" y="427891"/>
                </a:lnTo>
                <a:lnTo>
                  <a:pt x="45799" y="443944"/>
                </a:lnTo>
                <a:lnTo>
                  <a:pt x="74985" y="449829"/>
                </a:lnTo>
                <a:lnTo>
                  <a:pt x="2836783" y="449829"/>
                </a:lnTo>
                <a:lnTo>
                  <a:pt x="2865975" y="443944"/>
                </a:lnTo>
                <a:lnTo>
                  <a:pt x="2889835" y="427891"/>
                </a:lnTo>
                <a:lnTo>
                  <a:pt x="2905934" y="404075"/>
                </a:lnTo>
                <a:lnTo>
                  <a:pt x="2911840" y="374904"/>
                </a:lnTo>
                <a:lnTo>
                  <a:pt x="2911840" y="74925"/>
                </a:lnTo>
                <a:lnTo>
                  <a:pt x="2905934" y="45754"/>
                </a:lnTo>
                <a:lnTo>
                  <a:pt x="2889835" y="21938"/>
                </a:lnTo>
                <a:lnTo>
                  <a:pt x="2865975" y="5885"/>
                </a:lnTo>
                <a:lnTo>
                  <a:pt x="283678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144" y="3641126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0" y="74925"/>
                </a:moveTo>
                <a:lnTo>
                  <a:pt x="5893" y="45754"/>
                </a:lnTo>
                <a:lnTo>
                  <a:pt x="21964" y="21938"/>
                </a:lnTo>
                <a:lnTo>
                  <a:pt x="45799" y="5885"/>
                </a:lnTo>
                <a:lnTo>
                  <a:pt x="74985" y="0"/>
                </a:lnTo>
                <a:lnTo>
                  <a:pt x="2836783" y="0"/>
                </a:lnTo>
                <a:lnTo>
                  <a:pt x="2865975" y="5885"/>
                </a:lnTo>
                <a:lnTo>
                  <a:pt x="2889835" y="21938"/>
                </a:lnTo>
                <a:lnTo>
                  <a:pt x="2905933" y="45754"/>
                </a:lnTo>
                <a:lnTo>
                  <a:pt x="2911840" y="74925"/>
                </a:lnTo>
                <a:lnTo>
                  <a:pt x="2911840" y="374903"/>
                </a:lnTo>
                <a:lnTo>
                  <a:pt x="2905933" y="404075"/>
                </a:lnTo>
                <a:lnTo>
                  <a:pt x="2889835" y="427891"/>
                </a:lnTo>
                <a:lnTo>
                  <a:pt x="2865975" y="443944"/>
                </a:lnTo>
                <a:lnTo>
                  <a:pt x="2836783" y="449829"/>
                </a:lnTo>
                <a:lnTo>
                  <a:pt x="74985" y="449829"/>
                </a:lnTo>
                <a:lnTo>
                  <a:pt x="45799" y="443944"/>
                </a:lnTo>
                <a:lnTo>
                  <a:pt x="21964" y="427891"/>
                </a:lnTo>
                <a:lnTo>
                  <a:pt x="5893" y="404075"/>
                </a:lnTo>
                <a:lnTo>
                  <a:pt x="0" y="374903"/>
                </a:lnTo>
                <a:lnTo>
                  <a:pt x="0" y="7492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16144" y="4009754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85"/>
                </a:lnTo>
                <a:lnTo>
                  <a:pt x="21964" y="21938"/>
                </a:lnTo>
                <a:lnTo>
                  <a:pt x="5893" y="45754"/>
                </a:lnTo>
                <a:lnTo>
                  <a:pt x="0" y="74925"/>
                </a:lnTo>
                <a:lnTo>
                  <a:pt x="0" y="374891"/>
                </a:lnTo>
                <a:lnTo>
                  <a:pt x="5893" y="404080"/>
                </a:lnTo>
                <a:lnTo>
                  <a:pt x="21964" y="427920"/>
                </a:lnTo>
                <a:lnTo>
                  <a:pt x="45799" y="443995"/>
                </a:lnTo>
                <a:lnTo>
                  <a:pt x="74985" y="449890"/>
                </a:lnTo>
                <a:lnTo>
                  <a:pt x="2836783" y="449890"/>
                </a:lnTo>
                <a:lnTo>
                  <a:pt x="2865975" y="443995"/>
                </a:lnTo>
                <a:lnTo>
                  <a:pt x="2889835" y="427920"/>
                </a:lnTo>
                <a:lnTo>
                  <a:pt x="2905934" y="404080"/>
                </a:lnTo>
                <a:lnTo>
                  <a:pt x="2911840" y="374891"/>
                </a:lnTo>
                <a:lnTo>
                  <a:pt x="2911840" y="74925"/>
                </a:lnTo>
                <a:lnTo>
                  <a:pt x="2905934" y="45754"/>
                </a:lnTo>
                <a:lnTo>
                  <a:pt x="2889835" y="21938"/>
                </a:lnTo>
                <a:lnTo>
                  <a:pt x="2865975" y="5885"/>
                </a:lnTo>
                <a:lnTo>
                  <a:pt x="283678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16144" y="4586145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93"/>
                </a:lnTo>
                <a:lnTo>
                  <a:pt x="21964" y="21964"/>
                </a:lnTo>
                <a:lnTo>
                  <a:pt x="5893" y="45800"/>
                </a:lnTo>
                <a:lnTo>
                  <a:pt x="0" y="74986"/>
                </a:lnTo>
                <a:lnTo>
                  <a:pt x="0" y="374952"/>
                </a:lnTo>
                <a:lnTo>
                  <a:pt x="5893" y="404141"/>
                </a:lnTo>
                <a:lnTo>
                  <a:pt x="21964" y="427981"/>
                </a:lnTo>
                <a:lnTo>
                  <a:pt x="45799" y="444056"/>
                </a:lnTo>
                <a:lnTo>
                  <a:pt x="74985" y="449951"/>
                </a:lnTo>
                <a:lnTo>
                  <a:pt x="2836783" y="449951"/>
                </a:lnTo>
                <a:lnTo>
                  <a:pt x="2865975" y="444056"/>
                </a:lnTo>
                <a:lnTo>
                  <a:pt x="2889835" y="427981"/>
                </a:lnTo>
                <a:lnTo>
                  <a:pt x="2905934" y="404141"/>
                </a:lnTo>
                <a:lnTo>
                  <a:pt x="2911840" y="374952"/>
                </a:lnTo>
                <a:lnTo>
                  <a:pt x="2911840" y="74986"/>
                </a:lnTo>
                <a:lnTo>
                  <a:pt x="2905934" y="45800"/>
                </a:lnTo>
                <a:lnTo>
                  <a:pt x="2889835" y="21964"/>
                </a:lnTo>
                <a:lnTo>
                  <a:pt x="2865975" y="5893"/>
                </a:lnTo>
                <a:lnTo>
                  <a:pt x="283678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 txBox="1"/>
          <p:nvPr/>
        </p:nvSpPr>
        <p:spPr>
          <a:xfrm>
            <a:off x="193361" y="3504482"/>
            <a:ext cx="2553335" cy="145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Exclusive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 dirty="0">
              <a:latin typeface="Arial"/>
              <a:cs typeface="Arial"/>
            </a:endParaRPr>
          </a:p>
          <a:p>
            <a:pPr marL="12700" marR="5080" algn="ctr">
              <a:lnSpc>
                <a:spcPct val="2105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Overlapping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  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90460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/>
          <p:nvPr/>
        </p:nvSpPr>
        <p:spPr>
          <a:xfrm>
            <a:off x="0" y="458731"/>
            <a:ext cx="3057509" cy="5141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457207"/>
            <a:ext cx="2957195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0" y="3188464"/>
            <a:ext cx="2957195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0" y="1754187"/>
            <a:ext cx="2957195" cy="1602655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73024" y="566474"/>
            <a:ext cx="3127375" cy="233333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>Types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of  C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</a:p>
        </p:txBody>
      </p:sp>
      <p:sp>
        <p:nvSpPr>
          <p:cNvPr id="16" name="object 11"/>
          <p:cNvSpPr/>
          <p:nvPr/>
        </p:nvSpPr>
        <p:spPr>
          <a:xfrm>
            <a:off x="16144" y="3433300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85"/>
                </a:lnTo>
                <a:lnTo>
                  <a:pt x="21964" y="21938"/>
                </a:lnTo>
                <a:lnTo>
                  <a:pt x="5893" y="45754"/>
                </a:lnTo>
                <a:lnTo>
                  <a:pt x="0" y="74925"/>
                </a:lnTo>
                <a:lnTo>
                  <a:pt x="0" y="374904"/>
                </a:lnTo>
                <a:lnTo>
                  <a:pt x="5893" y="404075"/>
                </a:lnTo>
                <a:lnTo>
                  <a:pt x="21964" y="427891"/>
                </a:lnTo>
                <a:lnTo>
                  <a:pt x="45799" y="443944"/>
                </a:lnTo>
                <a:lnTo>
                  <a:pt x="74985" y="449829"/>
                </a:lnTo>
                <a:lnTo>
                  <a:pt x="2836783" y="449829"/>
                </a:lnTo>
                <a:lnTo>
                  <a:pt x="2865975" y="443944"/>
                </a:lnTo>
                <a:lnTo>
                  <a:pt x="2889835" y="427891"/>
                </a:lnTo>
                <a:lnTo>
                  <a:pt x="2905934" y="404075"/>
                </a:lnTo>
                <a:lnTo>
                  <a:pt x="2911840" y="374904"/>
                </a:lnTo>
                <a:lnTo>
                  <a:pt x="2911840" y="74925"/>
                </a:lnTo>
                <a:lnTo>
                  <a:pt x="2905934" y="45754"/>
                </a:lnTo>
                <a:lnTo>
                  <a:pt x="2889835" y="21938"/>
                </a:lnTo>
                <a:lnTo>
                  <a:pt x="2865975" y="5885"/>
                </a:lnTo>
                <a:lnTo>
                  <a:pt x="283678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144" y="3641126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0" y="74925"/>
                </a:moveTo>
                <a:lnTo>
                  <a:pt x="5893" y="45754"/>
                </a:lnTo>
                <a:lnTo>
                  <a:pt x="21964" y="21938"/>
                </a:lnTo>
                <a:lnTo>
                  <a:pt x="45799" y="5885"/>
                </a:lnTo>
                <a:lnTo>
                  <a:pt x="74985" y="0"/>
                </a:lnTo>
                <a:lnTo>
                  <a:pt x="2836783" y="0"/>
                </a:lnTo>
                <a:lnTo>
                  <a:pt x="2865975" y="5885"/>
                </a:lnTo>
                <a:lnTo>
                  <a:pt x="2889835" y="21938"/>
                </a:lnTo>
                <a:lnTo>
                  <a:pt x="2905933" y="45754"/>
                </a:lnTo>
                <a:lnTo>
                  <a:pt x="2911840" y="74925"/>
                </a:lnTo>
                <a:lnTo>
                  <a:pt x="2911840" y="374903"/>
                </a:lnTo>
                <a:lnTo>
                  <a:pt x="2905933" y="404075"/>
                </a:lnTo>
                <a:lnTo>
                  <a:pt x="2889835" y="427891"/>
                </a:lnTo>
                <a:lnTo>
                  <a:pt x="2865975" y="443944"/>
                </a:lnTo>
                <a:lnTo>
                  <a:pt x="2836783" y="449829"/>
                </a:lnTo>
                <a:lnTo>
                  <a:pt x="74985" y="449829"/>
                </a:lnTo>
                <a:lnTo>
                  <a:pt x="45799" y="443944"/>
                </a:lnTo>
                <a:lnTo>
                  <a:pt x="21964" y="427891"/>
                </a:lnTo>
                <a:lnTo>
                  <a:pt x="5893" y="404075"/>
                </a:lnTo>
                <a:lnTo>
                  <a:pt x="0" y="374903"/>
                </a:lnTo>
                <a:lnTo>
                  <a:pt x="0" y="7492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16144" y="4009754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85"/>
                </a:lnTo>
                <a:lnTo>
                  <a:pt x="21964" y="21938"/>
                </a:lnTo>
                <a:lnTo>
                  <a:pt x="5893" y="45754"/>
                </a:lnTo>
                <a:lnTo>
                  <a:pt x="0" y="74925"/>
                </a:lnTo>
                <a:lnTo>
                  <a:pt x="0" y="374891"/>
                </a:lnTo>
                <a:lnTo>
                  <a:pt x="5893" y="404080"/>
                </a:lnTo>
                <a:lnTo>
                  <a:pt x="21964" y="427920"/>
                </a:lnTo>
                <a:lnTo>
                  <a:pt x="45799" y="443995"/>
                </a:lnTo>
                <a:lnTo>
                  <a:pt x="74985" y="449890"/>
                </a:lnTo>
                <a:lnTo>
                  <a:pt x="2836783" y="449890"/>
                </a:lnTo>
                <a:lnTo>
                  <a:pt x="2865975" y="443995"/>
                </a:lnTo>
                <a:lnTo>
                  <a:pt x="2889835" y="427920"/>
                </a:lnTo>
                <a:lnTo>
                  <a:pt x="2905934" y="404080"/>
                </a:lnTo>
                <a:lnTo>
                  <a:pt x="2911840" y="374891"/>
                </a:lnTo>
                <a:lnTo>
                  <a:pt x="2911840" y="74925"/>
                </a:lnTo>
                <a:lnTo>
                  <a:pt x="2905934" y="45754"/>
                </a:lnTo>
                <a:lnTo>
                  <a:pt x="2889835" y="21938"/>
                </a:lnTo>
                <a:lnTo>
                  <a:pt x="2865975" y="5885"/>
                </a:lnTo>
                <a:lnTo>
                  <a:pt x="283678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16144" y="4586145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93"/>
                </a:lnTo>
                <a:lnTo>
                  <a:pt x="21964" y="21964"/>
                </a:lnTo>
                <a:lnTo>
                  <a:pt x="5893" y="45800"/>
                </a:lnTo>
                <a:lnTo>
                  <a:pt x="0" y="74986"/>
                </a:lnTo>
                <a:lnTo>
                  <a:pt x="0" y="374952"/>
                </a:lnTo>
                <a:lnTo>
                  <a:pt x="5893" y="404141"/>
                </a:lnTo>
                <a:lnTo>
                  <a:pt x="21964" y="427981"/>
                </a:lnTo>
                <a:lnTo>
                  <a:pt x="45799" y="444056"/>
                </a:lnTo>
                <a:lnTo>
                  <a:pt x="74985" y="449951"/>
                </a:lnTo>
                <a:lnTo>
                  <a:pt x="2836783" y="449951"/>
                </a:lnTo>
                <a:lnTo>
                  <a:pt x="2865975" y="444056"/>
                </a:lnTo>
                <a:lnTo>
                  <a:pt x="2889835" y="427981"/>
                </a:lnTo>
                <a:lnTo>
                  <a:pt x="2905934" y="404141"/>
                </a:lnTo>
                <a:lnTo>
                  <a:pt x="2911840" y="374952"/>
                </a:lnTo>
                <a:lnTo>
                  <a:pt x="2911840" y="74986"/>
                </a:lnTo>
                <a:lnTo>
                  <a:pt x="2905934" y="45800"/>
                </a:lnTo>
                <a:lnTo>
                  <a:pt x="2889835" y="21964"/>
                </a:lnTo>
                <a:lnTo>
                  <a:pt x="2865975" y="5893"/>
                </a:lnTo>
                <a:lnTo>
                  <a:pt x="283678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 txBox="1"/>
          <p:nvPr/>
        </p:nvSpPr>
        <p:spPr>
          <a:xfrm>
            <a:off x="193361" y="3504482"/>
            <a:ext cx="2553335" cy="145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Exclusive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 dirty="0">
              <a:latin typeface="Arial"/>
              <a:cs typeface="Arial"/>
            </a:endParaRPr>
          </a:p>
          <a:p>
            <a:pPr marL="12700" marR="5080" algn="ctr">
              <a:lnSpc>
                <a:spcPct val="2105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Overlapping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  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34087" y="1025016"/>
            <a:ext cx="35448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u="heavy" spc="-30" dirty="0" smtClean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Overlapping</a:t>
            </a:r>
            <a:r>
              <a:rPr lang="en-US" sz="2400" b="1" u="heavy" spc="270" dirty="0" smtClean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lang="en-US" sz="2400" b="1" u="heavy" spc="-35" dirty="0" smtClean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Clustering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60618" y="2020752"/>
            <a:ext cx="6096000" cy="1069524"/>
          </a:xfrm>
          <a:prstGeom prst="rect">
            <a:avLst/>
          </a:prstGeom>
        </p:spPr>
        <p:txBody>
          <a:bodyPr>
            <a:spAutoFit/>
          </a:bodyPr>
          <a:lstStyle/>
          <a:p>
            <a:pPr marL="231775" indent="-219710">
              <a:lnSpc>
                <a:spcPct val="100000"/>
              </a:lnSpc>
              <a:spcBef>
                <a:spcPts val="1005"/>
              </a:spcBef>
              <a:buFont typeface="Wingdings"/>
              <a:buChar char=""/>
              <a:tabLst>
                <a:tab pos="231775" algn="l"/>
                <a:tab pos="232410" algn="l"/>
              </a:tabLst>
            </a:pPr>
            <a:r>
              <a:rPr lang="en-US" sz="1600" spc="-10" dirty="0" smtClean="0">
                <a:solidFill>
                  <a:srgbClr val="595959"/>
                </a:solidFill>
                <a:latin typeface="Arial"/>
                <a:cs typeface="Arial"/>
              </a:rPr>
              <a:t>Allows </a:t>
            </a:r>
            <a:r>
              <a:rPr lang="en-US" sz="1600" dirty="0" smtClean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lang="en-US" sz="1600" spc="-5" dirty="0" smtClean="0">
                <a:solidFill>
                  <a:srgbClr val="595959"/>
                </a:solidFill>
                <a:latin typeface="Arial"/>
                <a:cs typeface="Arial"/>
              </a:rPr>
              <a:t>objects </a:t>
            </a:r>
            <a:r>
              <a:rPr lang="en-US" sz="1600" spc="15" dirty="0" smtClean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z="1600" spc="-5" dirty="0" smtClean="0">
                <a:solidFill>
                  <a:srgbClr val="595959"/>
                </a:solidFill>
                <a:latin typeface="Arial"/>
                <a:cs typeface="Arial"/>
              </a:rPr>
              <a:t>be </a:t>
            </a:r>
            <a:r>
              <a:rPr lang="en-US" sz="1600" spc="-15" dirty="0" smtClean="0">
                <a:solidFill>
                  <a:srgbClr val="595959"/>
                </a:solidFill>
                <a:latin typeface="Arial"/>
                <a:cs typeface="Arial"/>
              </a:rPr>
              <a:t>grouped </a:t>
            </a:r>
            <a:r>
              <a:rPr lang="en-US" sz="1600" spc="-20" dirty="0" smtClean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z="1600" dirty="0" smtClean="0">
                <a:solidFill>
                  <a:srgbClr val="595959"/>
                </a:solidFill>
                <a:latin typeface="Arial"/>
                <a:cs typeface="Arial"/>
              </a:rPr>
              <a:t>2 </a:t>
            </a:r>
            <a:r>
              <a:rPr lang="en-US" sz="1600" spc="-5" dirty="0" smtClean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lang="en-US" sz="1600" spc="-10" dirty="0" smtClean="0">
                <a:solidFill>
                  <a:srgbClr val="595959"/>
                </a:solidFill>
                <a:latin typeface="Arial"/>
                <a:cs typeface="Arial"/>
              </a:rPr>
              <a:t>more</a:t>
            </a:r>
            <a:r>
              <a:rPr lang="en-US" sz="1600" spc="23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600" spc="-10" dirty="0" smtClean="0">
                <a:solidFill>
                  <a:srgbClr val="595959"/>
                </a:solidFill>
                <a:latin typeface="Arial"/>
                <a:cs typeface="Arial"/>
              </a:rPr>
              <a:t>clusters</a:t>
            </a:r>
            <a:endParaRPr lang="en-US" sz="1600" dirty="0" smtClean="0">
              <a:latin typeface="Arial"/>
              <a:cs typeface="Arial"/>
            </a:endParaRPr>
          </a:p>
          <a:p>
            <a:pPr marL="231775" indent="-219710">
              <a:lnSpc>
                <a:spcPct val="100000"/>
              </a:lnSpc>
              <a:spcBef>
                <a:spcPts val="905"/>
              </a:spcBef>
              <a:buFont typeface="Wingdings"/>
              <a:buChar char=""/>
              <a:tabLst>
                <a:tab pos="231775" algn="l"/>
                <a:tab pos="232410" algn="l"/>
              </a:tabLst>
            </a:pPr>
            <a:r>
              <a:rPr lang="en-US" sz="1600" spc="-10" dirty="0" smtClean="0">
                <a:solidFill>
                  <a:srgbClr val="595959"/>
                </a:solidFill>
                <a:latin typeface="Arial"/>
                <a:cs typeface="Arial"/>
              </a:rPr>
              <a:t>For </a:t>
            </a:r>
            <a:r>
              <a:rPr lang="en-US" sz="1600" spc="-30" dirty="0" smtClean="0">
                <a:solidFill>
                  <a:srgbClr val="595959"/>
                </a:solidFill>
                <a:latin typeface="Arial"/>
                <a:cs typeface="Arial"/>
              </a:rPr>
              <a:t>Example: </a:t>
            </a:r>
            <a:r>
              <a:rPr lang="en-US" sz="1600" spc="-45" dirty="0" smtClean="0">
                <a:solidFill>
                  <a:srgbClr val="595959"/>
                </a:solidFill>
                <a:latin typeface="Arial"/>
                <a:cs typeface="Arial"/>
              </a:rPr>
              <a:t>Fuzzy/ </a:t>
            </a:r>
            <a:r>
              <a:rPr lang="en-US" sz="1600" spc="-20" dirty="0" smtClean="0">
                <a:solidFill>
                  <a:srgbClr val="595959"/>
                </a:solidFill>
                <a:latin typeface="Arial"/>
                <a:cs typeface="Arial"/>
              </a:rPr>
              <a:t>C-Means</a:t>
            </a:r>
            <a:r>
              <a:rPr lang="en-US" sz="1600" spc="-7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600" spc="-25" dirty="0" smtClean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lang="en-US" sz="1600" dirty="0" smtClean="0">
              <a:latin typeface="Arial"/>
              <a:cs typeface="Arial"/>
            </a:endParaRPr>
          </a:p>
          <a:p>
            <a:pPr marL="231775" marR="99060" indent="-219710">
              <a:lnSpc>
                <a:spcPct val="150300"/>
              </a:lnSpc>
              <a:buFont typeface="Wingdings"/>
              <a:buChar char=""/>
              <a:tabLst>
                <a:tab pos="231775" algn="l"/>
                <a:tab pos="232410" algn="l"/>
              </a:tabLst>
            </a:pPr>
            <a:r>
              <a:rPr lang="en-US" sz="1600" spc="15" dirty="0" smtClean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lang="en-US" sz="1600" spc="-50" dirty="0" smtClean="0">
                <a:solidFill>
                  <a:srgbClr val="595959"/>
                </a:solidFill>
                <a:latin typeface="Arial"/>
                <a:cs typeface="Arial"/>
              </a:rPr>
              <a:t>Fuzzy </a:t>
            </a:r>
            <a:r>
              <a:rPr lang="en-US" sz="1600" spc="-20" dirty="0" smtClean="0">
                <a:solidFill>
                  <a:srgbClr val="595959"/>
                </a:solidFill>
                <a:latin typeface="Arial"/>
                <a:cs typeface="Arial"/>
              </a:rPr>
              <a:t>clustering </a:t>
            </a:r>
            <a:r>
              <a:rPr lang="en-US" sz="1600" spc="-15" dirty="0" smtClean="0">
                <a:solidFill>
                  <a:srgbClr val="595959"/>
                </a:solidFill>
                <a:latin typeface="Arial"/>
                <a:cs typeface="Arial"/>
              </a:rPr>
              <a:t>every </a:t>
            </a:r>
            <a:r>
              <a:rPr lang="en-US" sz="1600" dirty="0" smtClean="0">
                <a:solidFill>
                  <a:srgbClr val="595959"/>
                </a:solidFill>
                <a:latin typeface="Arial"/>
                <a:cs typeface="Arial"/>
              </a:rPr>
              <a:t>data </a:t>
            </a:r>
            <a:r>
              <a:rPr lang="en-US" sz="1600" spc="-10" dirty="0" smtClean="0">
                <a:solidFill>
                  <a:srgbClr val="595959"/>
                </a:solidFill>
                <a:latin typeface="Arial"/>
                <a:cs typeface="Arial"/>
              </a:rPr>
              <a:t>object </a:t>
            </a:r>
            <a:r>
              <a:rPr lang="en-US" sz="1600" spc="-25" dirty="0" smtClean="0">
                <a:solidFill>
                  <a:srgbClr val="595959"/>
                </a:solidFill>
                <a:latin typeface="Arial"/>
                <a:cs typeface="Arial"/>
              </a:rPr>
              <a:t>belongs </a:t>
            </a:r>
            <a:r>
              <a:rPr lang="en-US" sz="1600" spc="15" dirty="0" smtClean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z="1600" spc="-15" dirty="0" smtClean="0">
                <a:solidFill>
                  <a:srgbClr val="595959"/>
                </a:solidFill>
                <a:latin typeface="Arial"/>
                <a:cs typeface="Arial"/>
              </a:rPr>
              <a:t>every  cluster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21" name="object 8"/>
          <p:cNvSpPr/>
          <p:nvPr/>
        </p:nvSpPr>
        <p:spPr>
          <a:xfrm>
            <a:off x="5988313" y="3504481"/>
            <a:ext cx="2435251" cy="17463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199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sp>
        <p:nvSpPr>
          <p:cNvPr id="6" name="object 4"/>
          <p:cNvSpPr/>
          <p:nvPr/>
        </p:nvSpPr>
        <p:spPr>
          <a:xfrm>
            <a:off x="10963603" y="205339"/>
            <a:ext cx="765444" cy="4506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"/>
          <p:cNvSpPr/>
          <p:nvPr/>
        </p:nvSpPr>
        <p:spPr>
          <a:xfrm>
            <a:off x="0" y="458731"/>
            <a:ext cx="3057509" cy="51419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0" y="457207"/>
            <a:ext cx="2957195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0" y="3188464"/>
            <a:ext cx="2957195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0" y="1754187"/>
            <a:ext cx="2957195" cy="1602655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73024" y="566474"/>
            <a:ext cx="3127375" cy="233333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2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sz="2800" b="1" spc="-75" dirty="0" smtClean="0">
                <a:solidFill>
                  <a:srgbClr val="FFFFFF"/>
                </a:solidFill>
                <a:latin typeface="Arial"/>
                <a:cs typeface="Arial"/>
              </a:rPr>
              <a:t>Types </a:t>
            </a:r>
            <a:r>
              <a:rPr sz="2800" b="1" spc="-5" dirty="0">
                <a:solidFill>
                  <a:srgbClr val="FFFFFF"/>
                </a:solidFill>
                <a:latin typeface="Arial"/>
                <a:cs typeface="Arial"/>
              </a:rPr>
              <a:t>of  C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l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2800" b="1" spc="30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2800" b="1" spc="15" dirty="0">
                <a:solidFill>
                  <a:srgbClr val="FFFFFF"/>
                </a:solidFill>
                <a:latin typeface="Arial"/>
                <a:cs typeface="Arial"/>
              </a:rPr>
              <a:t>g</a:t>
            </a:r>
          </a:p>
        </p:txBody>
      </p:sp>
      <p:sp>
        <p:nvSpPr>
          <p:cNvPr id="16" name="object 11"/>
          <p:cNvSpPr/>
          <p:nvPr/>
        </p:nvSpPr>
        <p:spPr>
          <a:xfrm>
            <a:off x="16144" y="3433300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85"/>
                </a:lnTo>
                <a:lnTo>
                  <a:pt x="21964" y="21938"/>
                </a:lnTo>
                <a:lnTo>
                  <a:pt x="5893" y="45754"/>
                </a:lnTo>
                <a:lnTo>
                  <a:pt x="0" y="74925"/>
                </a:lnTo>
                <a:lnTo>
                  <a:pt x="0" y="374904"/>
                </a:lnTo>
                <a:lnTo>
                  <a:pt x="5893" y="404075"/>
                </a:lnTo>
                <a:lnTo>
                  <a:pt x="21964" y="427891"/>
                </a:lnTo>
                <a:lnTo>
                  <a:pt x="45799" y="443944"/>
                </a:lnTo>
                <a:lnTo>
                  <a:pt x="74985" y="449829"/>
                </a:lnTo>
                <a:lnTo>
                  <a:pt x="2836783" y="449829"/>
                </a:lnTo>
                <a:lnTo>
                  <a:pt x="2865975" y="443944"/>
                </a:lnTo>
                <a:lnTo>
                  <a:pt x="2889835" y="427891"/>
                </a:lnTo>
                <a:lnTo>
                  <a:pt x="2905934" y="404075"/>
                </a:lnTo>
                <a:lnTo>
                  <a:pt x="2911840" y="374904"/>
                </a:lnTo>
                <a:lnTo>
                  <a:pt x="2911840" y="74925"/>
                </a:lnTo>
                <a:lnTo>
                  <a:pt x="2905934" y="45754"/>
                </a:lnTo>
                <a:lnTo>
                  <a:pt x="2889835" y="21938"/>
                </a:lnTo>
                <a:lnTo>
                  <a:pt x="2865975" y="5885"/>
                </a:lnTo>
                <a:lnTo>
                  <a:pt x="2836783" y="0"/>
                </a:lnTo>
                <a:close/>
              </a:path>
            </a:pathLst>
          </a:custGeom>
          <a:solidFill>
            <a:srgbClr val="F07F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16144" y="3641126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0" y="74925"/>
                </a:moveTo>
                <a:lnTo>
                  <a:pt x="5893" y="45754"/>
                </a:lnTo>
                <a:lnTo>
                  <a:pt x="21964" y="21938"/>
                </a:lnTo>
                <a:lnTo>
                  <a:pt x="45799" y="5885"/>
                </a:lnTo>
                <a:lnTo>
                  <a:pt x="74985" y="0"/>
                </a:lnTo>
                <a:lnTo>
                  <a:pt x="2836783" y="0"/>
                </a:lnTo>
                <a:lnTo>
                  <a:pt x="2865975" y="5885"/>
                </a:lnTo>
                <a:lnTo>
                  <a:pt x="2889835" y="21938"/>
                </a:lnTo>
                <a:lnTo>
                  <a:pt x="2905933" y="45754"/>
                </a:lnTo>
                <a:lnTo>
                  <a:pt x="2911840" y="74925"/>
                </a:lnTo>
                <a:lnTo>
                  <a:pt x="2911840" y="374903"/>
                </a:lnTo>
                <a:lnTo>
                  <a:pt x="2905933" y="404075"/>
                </a:lnTo>
                <a:lnTo>
                  <a:pt x="2889835" y="427891"/>
                </a:lnTo>
                <a:lnTo>
                  <a:pt x="2865975" y="443944"/>
                </a:lnTo>
                <a:lnTo>
                  <a:pt x="2836783" y="449829"/>
                </a:lnTo>
                <a:lnTo>
                  <a:pt x="74985" y="449829"/>
                </a:lnTo>
                <a:lnTo>
                  <a:pt x="45799" y="443944"/>
                </a:lnTo>
                <a:lnTo>
                  <a:pt x="21964" y="427891"/>
                </a:lnTo>
                <a:lnTo>
                  <a:pt x="5893" y="404075"/>
                </a:lnTo>
                <a:lnTo>
                  <a:pt x="0" y="374903"/>
                </a:lnTo>
                <a:lnTo>
                  <a:pt x="0" y="74925"/>
                </a:lnTo>
                <a:close/>
              </a:path>
            </a:pathLst>
          </a:custGeom>
          <a:ln w="12700">
            <a:solidFill>
              <a:srgbClr val="AF5C0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16144" y="4009754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85"/>
                </a:lnTo>
                <a:lnTo>
                  <a:pt x="21964" y="21938"/>
                </a:lnTo>
                <a:lnTo>
                  <a:pt x="5893" y="45754"/>
                </a:lnTo>
                <a:lnTo>
                  <a:pt x="0" y="74925"/>
                </a:lnTo>
                <a:lnTo>
                  <a:pt x="0" y="374891"/>
                </a:lnTo>
                <a:lnTo>
                  <a:pt x="5893" y="404080"/>
                </a:lnTo>
                <a:lnTo>
                  <a:pt x="21964" y="427920"/>
                </a:lnTo>
                <a:lnTo>
                  <a:pt x="45799" y="443995"/>
                </a:lnTo>
                <a:lnTo>
                  <a:pt x="74985" y="449890"/>
                </a:lnTo>
                <a:lnTo>
                  <a:pt x="2836783" y="449890"/>
                </a:lnTo>
                <a:lnTo>
                  <a:pt x="2865975" y="443995"/>
                </a:lnTo>
                <a:lnTo>
                  <a:pt x="2889835" y="427920"/>
                </a:lnTo>
                <a:lnTo>
                  <a:pt x="2905934" y="404080"/>
                </a:lnTo>
                <a:lnTo>
                  <a:pt x="2911840" y="374891"/>
                </a:lnTo>
                <a:lnTo>
                  <a:pt x="2911840" y="74925"/>
                </a:lnTo>
                <a:lnTo>
                  <a:pt x="2905934" y="45754"/>
                </a:lnTo>
                <a:lnTo>
                  <a:pt x="2889835" y="21938"/>
                </a:lnTo>
                <a:lnTo>
                  <a:pt x="2865975" y="5885"/>
                </a:lnTo>
                <a:lnTo>
                  <a:pt x="283678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16144" y="4586145"/>
            <a:ext cx="2912110" cy="450215"/>
          </a:xfrm>
          <a:custGeom>
            <a:avLst/>
            <a:gdLst/>
            <a:ahLst/>
            <a:cxnLst/>
            <a:rect l="l" t="t" r="r" b="b"/>
            <a:pathLst>
              <a:path w="2912110" h="450214">
                <a:moveTo>
                  <a:pt x="2836783" y="0"/>
                </a:moveTo>
                <a:lnTo>
                  <a:pt x="74985" y="0"/>
                </a:lnTo>
                <a:lnTo>
                  <a:pt x="45799" y="5893"/>
                </a:lnTo>
                <a:lnTo>
                  <a:pt x="21964" y="21964"/>
                </a:lnTo>
                <a:lnTo>
                  <a:pt x="5893" y="45800"/>
                </a:lnTo>
                <a:lnTo>
                  <a:pt x="0" y="74986"/>
                </a:lnTo>
                <a:lnTo>
                  <a:pt x="0" y="374952"/>
                </a:lnTo>
                <a:lnTo>
                  <a:pt x="5893" y="404141"/>
                </a:lnTo>
                <a:lnTo>
                  <a:pt x="21964" y="427981"/>
                </a:lnTo>
                <a:lnTo>
                  <a:pt x="45799" y="444056"/>
                </a:lnTo>
                <a:lnTo>
                  <a:pt x="74985" y="449951"/>
                </a:lnTo>
                <a:lnTo>
                  <a:pt x="2836783" y="449951"/>
                </a:lnTo>
                <a:lnTo>
                  <a:pt x="2865975" y="444056"/>
                </a:lnTo>
                <a:lnTo>
                  <a:pt x="2889835" y="427981"/>
                </a:lnTo>
                <a:lnTo>
                  <a:pt x="2905934" y="404141"/>
                </a:lnTo>
                <a:lnTo>
                  <a:pt x="2911840" y="374952"/>
                </a:lnTo>
                <a:lnTo>
                  <a:pt x="2911840" y="74986"/>
                </a:lnTo>
                <a:lnTo>
                  <a:pt x="2905934" y="45800"/>
                </a:lnTo>
                <a:lnTo>
                  <a:pt x="2889835" y="21964"/>
                </a:lnTo>
                <a:lnTo>
                  <a:pt x="2865975" y="5893"/>
                </a:lnTo>
                <a:lnTo>
                  <a:pt x="2836783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 txBox="1"/>
          <p:nvPr/>
        </p:nvSpPr>
        <p:spPr>
          <a:xfrm>
            <a:off x="193361" y="3504482"/>
            <a:ext cx="2553335" cy="145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Exclusive</a:t>
            </a:r>
            <a:r>
              <a:rPr sz="180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 dirty="0">
              <a:latin typeface="Arial"/>
              <a:cs typeface="Arial"/>
            </a:endParaRPr>
          </a:p>
          <a:p>
            <a:pPr marL="12700" marR="5080" algn="ctr">
              <a:lnSpc>
                <a:spcPct val="210500"/>
              </a:lnSpc>
            </a:pPr>
            <a:r>
              <a:rPr sz="1800" b="1" spc="-10" dirty="0">
                <a:solidFill>
                  <a:srgbClr val="FFFFFF"/>
                </a:solidFill>
                <a:latin typeface="Arial"/>
                <a:cs typeface="Arial"/>
              </a:rPr>
              <a:t>Overlapping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  </a:t>
            </a:r>
            <a:r>
              <a:rPr sz="1800" b="1" spc="-15" dirty="0">
                <a:solidFill>
                  <a:srgbClr val="FFFFFF"/>
                </a:solidFill>
                <a:latin typeface="Arial"/>
                <a:cs typeface="Arial"/>
              </a:rPr>
              <a:t>Hierarchical</a:t>
            </a:r>
            <a:r>
              <a:rPr sz="180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75247" y="1025016"/>
            <a:ext cx="3506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u="heavy" spc="-30" dirty="0" smtClean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Hierarchical</a:t>
            </a:r>
            <a:r>
              <a:rPr lang="en-US" sz="2400" b="1" u="heavy" spc="240" dirty="0" smtClean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 </a:t>
            </a:r>
            <a:r>
              <a:rPr lang="en-US" sz="2400" b="1" u="heavy" spc="-35" dirty="0" smtClean="0">
                <a:solidFill>
                  <a:srgbClr val="595959"/>
                </a:solidFill>
                <a:uFill>
                  <a:solidFill>
                    <a:srgbClr val="595959"/>
                  </a:solidFill>
                </a:uFill>
                <a:latin typeface="Arial"/>
                <a:cs typeface="Arial"/>
              </a:rPr>
              <a:t>Clustering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5" name="object 8"/>
          <p:cNvSpPr/>
          <p:nvPr/>
        </p:nvSpPr>
        <p:spPr>
          <a:xfrm>
            <a:off x="4011631" y="1962156"/>
            <a:ext cx="7182842" cy="30742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7750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3491346" y="2997108"/>
            <a:ext cx="8166810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Understanding </a:t>
            </a:r>
            <a:r>
              <a:rPr lang="en-US" sz="2800" spc="20" dirty="0">
                <a:solidFill>
                  <a:srgbClr val="FFFFFF"/>
                </a:solidFill>
                <a:latin typeface="Arial"/>
                <a:cs typeface="Arial"/>
              </a:rPr>
              <a:t>K </a:t>
            </a:r>
            <a:r>
              <a:rPr lang="en-US" sz="2800" spc="15" dirty="0">
                <a:solidFill>
                  <a:srgbClr val="FFFFFF"/>
                </a:solidFill>
                <a:latin typeface="Arial"/>
                <a:cs typeface="Arial"/>
              </a:rPr>
              <a:t>– </a:t>
            </a:r>
            <a:r>
              <a:rPr lang="en-US" sz="2800" spc="30" dirty="0">
                <a:solidFill>
                  <a:srgbClr val="FFFFFF"/>
                </a:solidFill>
                <a:latin typeface="Arial"/>
                <a:cs typeface="Arial"/>
              </a:rPr>
              <a:t>Means</a:t>
            </a:r>
            <a:r>
              <a:rPr lang="en-US" sz="28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15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772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3" y="290957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95972" y="546627"/>
            <a:ext cx="5647690" cy="331501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chemeClr val="bg1"/>
                </a:solidFill>
              </a:rPr>
              <a:t>Things you </a:t>
            </a:r>
            <a:r>
              <a:rPr sz="2100" spc="25" dirty="0">
                <a:solidFill>
                  <a:schemeClr val="bg1"/>
                </a:solidFill>
              </a:rPr>
              <a:t>will </a:t>
            </a:r>
            <a:r>
              <a:rPr sz="2100" spc="15" dirty="0">
                <a:solidFill>
                  <a:schemeClr val="bg1"/>
                </a:solidFill>
              </a:rPr>
              <a:t>learn </a:t>
            </a:r>
            <a:r>
              <a:rPr sz="2100" dirty="0">
                <a:solidFill>
                  <a:schemeClr val="bg1"/>
                </a:solidFill>
              </a:rPr>
              <a:t>after </a:t>
            </a:r>
            <a:r>
              <a:rPr sz="2100" spc="-10" dirty="0">
                <a:solidFill>
                  <a:schemeClr val="bg1"/>
                </a:solidFill>
              </a:rPr>
              <a:t>this</a:t>
            </a:r>
            <a:r>
              <a:rPr sz="2100" spc="-370" dirty="0">
                <a:solidFill>
                  <a:schemeClr val="bg1"/>
                </a:solidFill>
              </a:rPr>
              <a:t> </a:t>
            </a:r>
            <a:r>
              <a:rPr sz="2100" spc="-5" dirty="0">
                <a:solidFill>
                  <a:schemeClr val="bg1"/>
                </a:solidFill>
              </a:rPr>
              <a:t>Session</a:t>
            </a:r>
            <a:endParaRPr sz="21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  <p:sp>
        <p:nvSpPr>
          <p:cNvPr id="8" name="object 9"/>
          <p:cNvSpPr txBox="1"/>
          <p:nvPr/>
        </p:nvSpPr>
        <p:spPr>
          <a:xfrm>
            <a:off x="3814965" y="2190487"/>
            <a:ext cx="5117465" cy="169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595959"/>
                </a:solidFill>
                <a:latin typeface="Arial"/>
                <a:cs typeface="Arial"/>
              </a:rPr>
              <a:t>Understanding </a:t>
            </a:r>
            <a:r>
              <a:rPr sz="2100" b="1" dirty="0">
                <a:solidFill>
                  <a:srgbClr val="595959"/>
                </a:solidFill>
                <a:latin typeface="Arial"/>
                <a:cs typeface="Arial"/>
              </a:rPr>
              <a:t>K – </a:t>
            </a:r>
            <a:r>
              <a:rPr sz="2100" b="1" spc="30" dirty="0">
                <a:solidFill>
                  <a:srgbClr val="595959"/>
                </a:solidFill>
                <a:latin typeface="Arial"/>
                <a:cs typeface="Arial"/>
              </a:rPr>
              <a:t>Means</a:t>
            </a:r>
            <a:r>
              <a:rPr sz="2100" b="1" spc="-10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-10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endParaRPr sz="2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10" dirty="0">
                <a:solidFill>
                  <a:srgbClr val="595959"/>
                </a:solidFill>
                <a:latin typeface="Arial"/>
                <a:cs typeface="Arial"/>
              </a:rPr>
              <a:t>What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is 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K –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Means</a:t>
            </a:r>
            <a:r>
              <a:rPr sz="1400" spc="-1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Clustering?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sz="14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Where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can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it?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595959"/>
              </a:buClr>
              <a:buFont typeface="Wingdings"/>
              <a:buChar char=""/>
            </a:pPr>
            <a:endParaRPr sz="145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595959"/>
                </a:solidFill>
                <a:latin typeface="Arial"/>
                <a:cs typeface="Arial"/>
              </a:rPr>
              <a:t>by</a:t>
            </a:r>
            <a:r>
              <a:rPr sz="14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step</a:t>
            </a:r>
            <a:r>
              <a:rPr sz="1400" spc="-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calculation</a:t>
            </a:r>
            <a:r>
              <a:rPr sz="1400" spc="-6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400" spc="-114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K-Means</a:t>
            </a: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Clustering</a:t>
            </a:r>
            <a:r>
              <a:rPr sz="1400" spc="-1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86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1863052"/>
            <a:ext cx="3667093" cy="233333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Clustering?</a:t>
            </a:r>
            <a:endParaRPr sz="3800" b="1" spc="15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1" name="object 9"/>
          <p:cNvSpPr txBox="1"/>
          <p:nvPr/>
        </p:nvSpPr>
        <p:spPr>
          <a:xfrm>
            <a:off x="4665265" y="598197"/>
            <a:ext cx="5088890" cy="1400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8890" algn="ctr">
              <a:lnSpc>
                <a:spcPct val="150300"/>
              </a:lnSpc>
              <a:spcBef>
                <a:spcPts val="95"/>
              </a:spcBef>
            </a:pPr>
            <a:r>
              <a:rPr sz="2000" spc="5" dirty="0">
                <a:latin typeface="Arial"/>
                <a:cs typeface="Arial"/>
              </a:rPr>
              <a:t>“</a:t>
            </a:r>
            <a:r>
              <a:rPr sz="2000" b="1" spc="5" dirty="0">
                <a:solidFill>
                  <a:srgbClr val="095A81"/>
                </a:solidFill>
                <a:latin typeface="Arial"/>
                <a:cs typeface="Arial"/>
              </a:rPr>
              <a:t>K-Means </a:t>
            </a:r>
            <a:r>
              <a:rPr sz="2000" spc="5" dirty="0">
                <a:latin typeface="Arial"/>
                <a:cs typeface="Arial"/>
              </a:rPr>
              <a:t>is </a:t>
            </a:r>
            <a:r>
              <a:rPr sz="2000" spc="15" dirty="0">
                <a:latin typeface="Arial"/>
                <a:cs typeface="Arial"/>
              </a:rPr>
              <a:t>a clustering </a:t>
            </a:r>
            <a:r>
              <a:rPr sz="2000" spc="10" dirty="0">
                <a:latin typeface="Arial"/>
                <a:cs typeface="Arial"/>
              </a:rPr>
              <a:t>algorithm which  </a:t>
            </a:r>
            <a:r>
              <a:rPr sz="2000" spc="15" dirty="0">
                <a:latin typeface="Arial"/>
                <a:cs typeface="Arial"/>
              </a:rPr>
              <a:t>focuses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10" dirty="0">
                <a:latin typeface="Arial"/>
                <a:cs typeface="Arial"/>
              </a:rPr>
              <a:t>on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grouping</a:t>
            </a:r>
            <a:r>
              <a:rPr sz="2000" spc="-11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similar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elements</a:t>
            </a:r>
            <a:r>
              <a:rPr sz="2000" spc="-145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or</a:t>
            </a:r>
            <a:r>
              <a:rPr sz="2000" spc="-30" dirty="0">
                <a:latin typeface="Arial"/>
                <a:cs typeface="Arial"/>
              </a:rPr>
              <a:t> </a:t>
            </a:r>
            <a:r>
              <a:rPr sz="2000" spc="15" dirty="0">
                <a:latin typeface="Arial"/>
                <a:cs typeface="Arial"/>
              </a:rPr>
              <a:t>data  </a:t>
            </a:r>
            <a:r>
              <a:rPr sz="2000" spc="10" dirty="0">
                <a:latin typeface="Arial"/>
                <a:cs typeface="Arial"/>
              </a:rPr>
              <a:t>points </a:t>
            </a:r>
            <a:r>
              <a:rPr sz="2000" spc="15" dirty="0">
                <a:latin typeface="Arial"/>
                <a:cs typeface="Arial"/>
              </a:rPr>
              <a:t>into a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spc="5" dirty="0">
                <a:latin typeface="Arial"/>
                <a:cs typeface="Arial"/>
              </a:rPr>
              <a:t>cluster.”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2" name="object 10"/>
          <p:cNvSpPr txBox="1"/>
          <p:nvPr/>
        </p:nvSpPr>
        <p:spPr>
          <a:xfrm>
            <a:off x="4971154" y="2775082"/>
            <a:ext cx="468376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5" dirty="0">
                <a:latin typeface="Arial"/>
                <a:cs typeface="Arial"/>
              </a:rPr>
              <a:t>NOTE: </a:t>
            </a:r>
            <a:r>
              <a:rPr sz="1500" spc="-25" dirty="0">
                <a:latin typeface="Arial"/>
                <a:cs typeface="Arial"/>
              </a:rPr>
              <a:t>‘K’ </a:t>
            </a:r>
            <a:r>
              <a:rPr sz="1500" spc="-20" dirty="0">
                <a:latin typeface="Arial"/>
                <a:cs typeface="Arial"/>
              </a:rPr>
              <a:t>in </a:t>
            </a:r>
            <a:r>
              <a:rPr sz="1500" spc="-15" dirty="0">
                <a:solidFill>
                  <a:srgbClr val="5F4778"/>
                </a:solidFill>
                <a:latin typeface="Arial"/>
                <a:cs typeface="Arial"/>
              </a:rPr>
              <a:t>K-Means </a:t>
            </a:r>
            <a:r>
              <a:rPr sz="1500" spc="-15" dirty="0">
                <a:latin typeface="Arial"/>
                <a:cs typeface="Arial"/>
              </a:rPr>
              <a:t>represent </a:t>
            </a:r>
            <a:r>
              <a:rPr sz="1500" spc="-20" dirty="0">
                <a:latin typeface="Arial"/>
                <a:cs typeface="Arial"/>
              </a:rPr>
              <a:t>the </a:t>
            </a:r>
            <a:r>
              <a:rPr sz="1500" spc="-45" dirty="0">
                <a:latin typeface="Arial"/>
                <a:cs typeface="Arial"/>
              </a:rPr>
              <a:t>number </a:t>
            </a:r>
            <a:r>
              <a:rPr sz="1500" spc="-10" dirty="0">
                <a:latin typeface="Arial"/>
                <a:cs typeface="Arial"/>
              </a:rPr>
              <a:t>of</a:t>
            </a:r>
            <a:r>
              <a:rPr sz="1500" spc="-145" dirty="0">
                <a:latin typeface="Arial"/>
                <a:cs typeface="Arial"/>
              </a:rPr>
              <a:t> </a:t>
            </a:r>
            <a:r>
              <a:rPr sz="1500" spc="-15" dirty="0">
                <a:latin typeface="Arial"/>
                <a:cs typeface="Arial"/>
              </a:rPr>
              <a:t>clusters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23" name="object 11"/>
          <p:cNvSpPr/>
          <p:nvPr/>
        </p:nvSpPr>
        <p:spPr>
          <a:xfrm>
            <a:off x="6389197" y="3433157"/>
            <a:ext cx="3364957" cy="25797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47859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15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1863052"/>
            <a:ext cx="3667093" cy="2333331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360"/>
              </a:lnSpc>
              <a:spcBef>
                <a:spcPts val="595"/>
              </a:spcBef>
            </a:pP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What is </a:t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Clustering?</a:t>
            </a:r>
            <a:endParaRPr sz="3800" b="1" spc="15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object 2"/>
          <p:cNvSpPr/>
          <p:nvPr/>
        </p:nvSpPr>
        <p:spPr>
          <a:xfrm>
            <a:off x="4132662" y="731242"/>
            <a:ext cx="7131083" cy="48188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1"/>
          <p:cNvSpPr txBox="1"/>
          <p:nvPr/>
        </p:nvSpPr>
        <p:spPr>
          <a:xfrm>
            <a:off x="7148946" y="5746133"/>
            <a:ext cx="2507673" cy="26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b="1" spc="-40" dirty="0">
                <a:solidFill>
                  <a:srgbClr val="595959"/>
                </a:solidFill>
                <a:latin typeface="Arial"/>
                <a:cs typeface="Arial"/>
              </a:rPr>
              <a:t>Pile </a:t>
            </a:r>
            <a:r>
              <a:rPr sz="1650" b="1" spc="-20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650" b="1" spc="-2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650" b="1" spc="-30" dirty="0">
                <a:solidFill>
                  <a:srgbClr val="595959"/>
                </a:solidFill>
                <a:latin typeface="Arial"/>
                <a:cs typeface="Arial"/>
              </a:rPr>
              <a:t>Laundry</a:t>
            </a:r>
            <a:endParaRPr sz="165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2634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16</a:t>
            </a:fld>
            <a:endParaRPr lang="en-IN"/>
          </a:p>
        </p:txBody>
      </p:sp>
      <p:sp>
        <p:nvSpPr>
          <p:cNvPr id="6" name="object 3"/>
          <p:cNvSpPr/>
          <p:nvPr/>
        </p:nvSpPr>
        <p:spPr>
          <a:xfrm>
            <a:off x="1510152" y="261896"/>
            <a:ext cx="9365666" cy="557900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5"/>
          <p:cNvSpPr txBox="1">
            <a:spLocks noGrp="1"/>
          </p:cNvSpPr>
          <p:nvPr>
            <p:ph type="title"/>
          </p:nvPr>
        </p:nvSpPr>
        <p:spPr>
          <a:xfrm>
            <a:off x="2814957" y="321234"/>
            <a:ext cx="7312715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30" dirty="0">
                <a:solidFill>
                  <a:srgbClr val="FFFFFF"/>
                </a:solidFill>
                <a:latin typeface="Arial"/>
                <a:cs typeface="Arial"/>
              </a:rPr>
              <a:t>Business </a:t>
            </a:r>
            <a:r>
              <a:rPr lang="en-US" sz="2800" spc="15" dirty="0">
                <a:solidFill>
                  <a:srgbClr val="FFFFFF"/>
                </a:solidFill>
                <a:latin typeface="Arial"/>
                <a:cs typeface="Arial"/>
              </a:rPr>
              <a:t>Application </a:t>
            </a: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lang="en-US" sz="28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35" dirty="0">
                <a:solidFill>
                  <a:srgbClr val="FFFFFF"/>
                </a:solidFill>
                <a:latin typeface="Arial"/>
                <a:cs typeface="Arial"/>
              </a:rPr>
              <a:t>K-Means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21" name="object 8"/>
          <p:cNvSpPr txBox="1"/>
          <p:nvPr/>
        </p:nvSpPr>
        <p:spPr>
          <a:xfrm>
            <a:off x="1598612" y="1380169"/>
            <a:ext cx="3319752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15" dirty="0">
                <a:solidFill>
                  <a:srgbClr val="595959"/>
                </a:solidFill>
                <a:latin typeface="Arial"/>
                <a:cs typeface="Arial"/>
              </a:rPr>
              <a:t>Behavioural</a:t>
            </a:r>
            <a:r>
              <a:rPr sz="20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Segmentation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298450" indent="-286385">
              <a:lnSpc>
                <a:spcPct val="100000"/>
              </a:lnSpc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Inventory</a:t>
            </a:r>
            <a:r>
              <a:rPr sz="2000" spc="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Categorization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2" name="object 9"/>
          <p:cNvSpPr txBox="1"/>
          <p:nvPr/>
        </p:nvSpPr>
        <p:spPr>
          <a:xfrm>
            <a:off x="7113873" y="1374883"/>
            <a:ext cx="376194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Sorting </a:t>
            </a: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sensor</a:t>
            </a:r>
            <a:r>
              <a:rPr sz="2000" spc="-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595959"/>
                </a:solidFill>
                <a:latin typeface="Arial"/>
                <a:cs typeface="Arial"/>
              </a:rPr>
              <a:t>measurements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sz="2000" dirty="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Font typeface="Wingdings"/>
              <a:buChar char=""/>
              <a:tabLst>
                <a:tab pos="297815" algn="l"/>
                <a:tab pos="298450" algn="l"/>
              </a:tabLst>
            </a:pPr>
            <a:r>
              <a:rPr sz="2000" spc="-5" dirty="0">
                <a:solidFill>
                  <a:srgbClr val="595959"/>
                </a:solidFill>
                <a:latin typeface="Arial"/>
                <a:cs typeface="Arial"/>
              </a:rPr>
              <a:t>Detecting </a:t>
            </a:r>
            <a:r>
              <a:rPr sz="2000" spc="5" dirty="0">
                <a:solidFill>
                  <a:srgbClr val="595959"/>
                </a:solidFill>
                <a:latin typeface="Arial"/>
                <a:cs typeface="Arial"/>
              </a:rPr>
              <a:t>bots </a:t>
            </a:r>
            <a:r>
              <a:rPr sz="2000" spc="-15" dirty="0">
                <a:solidFill>
                  <a:srgbClr val="595959"/>
                </a:solidFill>
                <a:latin typeface="Arial"/>
                <a:cs typeface="Arial"/>
              </a:rPr>
              <a:t>or</a:t>
            </a:r>
            <a:r>
              <a:rPr sz="2000" spc="-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595959"/>
                </a:solidFill>
                <a:latin typeface="Arial"/>
                <a:cs typeface="Arial"/>
              </a:rPr>
              <a:t>anomalies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3" name="object 7"/>
          <p:cNvSpPr/>
          <p:nvPr/>
        </p:nvSpPr>
        <p:spPr>
          <a:xfrm>
            <a:off x="1094509" y="3037466"/>
            <a:ext cx="10563647" cy="25459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3830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17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5" name="object 9"/>
          <p:cNvSpPr/>
          <p:nvPr/>
        </p:nvSpPr>
        <p:spPr>
          <a:xfrm>
            <a:off x="4979589" y="2617478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0"/>
          <p:cNvSpPr/>
          <p:nvPr/>
        </p:nvSpPr>
        <p:spPr>
          <a:xfrm>
            <a:off x="5275367" y="4185674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/>
          <p:cNvSpPr/>
          <p:nvPr/>
        </p:nvSpPr>
        <p:spPr>
          <a:xfrm>
            <a:off x="5275367" y="4185674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250"/>
                </a:moveTo>
                <a:lnTo>
                  <a:pt x="8113" y="63063"/>
                </a:lnTo>
                <a:lnTo>
                  <a:pt x="30232" y="30243"/>
                </a:lnTo>
                <a:lnTo>
                  <a:pt x="63020" y="8114"/>
                </a:lnTo>
                <a:lnTo>
                  <a:pt x="103144" y="0"/>
                </a:lnTo>
                <a:lnTo>
                  <a:pt x="143333" y="8114"/>
                </a:lnTo>
                <a:lnTo>
                  <a:pt x="176147" y="30243"/>
                </a:lnTo>
                <a:lnTo>
                  <a:pt x="198269" y="63063"/>
                </a:lnTo>
                <a:lnTo>
                  <a:pt x="206380" y="103250"/>
                </a:lnTo>
                <a:lnTo>
                  <a:pt x="198269" y="143418"/>
                </a:lnTo>
                <a:lnTo>
                  <a:pt x="176147" y="176193"/>
                </a:lnTo>
                <a:lnTo>
                  <a:pt x="143333" y="198276"/>
                </a:lnTo>
                <a:lnTo>
                  <a:pt x="103144" y="206370"/>
                </a:lnTo>
                <a:lnTo>
                  <a:pt x="63020" y="198276"/>
                </a:lnTo>
                <a:lnTo>
                  <a:pt x="30232" y="176193"/>
                </a:lnTo>
                <a:lnTo>
                  <a:pt x="8113" y="143418"/>
                </a:lnTo>
                <a:lnTo>
                  <a:pt x="0" y="10325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2"/>
          <p:cNvSpPr/>
          <p:nvPr/>
        </p:nvSpPr>
        <p:spPr>
          <a:xfrm>
            <a:off x="5564440" y="4082553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/>
          <p:cNvSpPr/>
          <p:nvPr/>
        </p:nvSpPr>
        <p:spPr>
          <a:xfrm>
            <a:off x="5564440" y="4082554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9"/>
                </a:moveTo>
                <a:lnTo>
                  <a:pt x="8111" y="63002"/>
                </a:lnTo>
                <a:lnTo>
                  <a:pt x="30232" y="30222"/>
                </a:lnTo>
                <a:lnTo>
                  <a:pt x="63046" y="8110"/>
                </a:lnTo>
                <a:lnTo>
                  <a:pt x="103235" y="0"/>
                </a:lnTo>
                <a:lnTo>
                  <a:pt x="143359" y="8110"/>
                </a:lnTo>
                <a:lnTo>
                  <a:pt x="176147" y="30222"/>
                </a:lnTo>
                <a:lnTo>
                  <a:pt x="198266" y="63002"/>
                </a:lnTo>
                <a:lnTo>
                  <a:pt x="206380" y="103119"/>
                </a:lnTo>
                <a:lnTo>
                  <a:pt x="198266" y="143307"/>
                </a:lnTo>
                <a:lnTo>
                  <a:pt x="176147" y="176127"/>
                </a:lnTo>
                <a:lnTo>
                  <a:pt x="143359" y="198256"/>
                </a:lnTo>
                <a:lnTo>
                  <a:pt x="103235" y="206370"/>
                </a:lnTo>
                <a:lnTo>
                  <a:pt x="63046" y="198256"/>
                </a:lnTo>
                <a:lnTo>
                  <a:pt x="30232" y="176127"/>
                </a:lnTo>
                <a:lnTo>
                  <a:pt x="8111" y="143307"/>
                </a:lnTo>
                <a:lnTo>
                  <a:pt x="0" y="103119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/>
          <p:cNvSpPr/>
          <p:nvPr/>
        </p:nvSpPr>
        <p:spPr>
          <a:xfrm>
            <a:off x="5956473" y="3956824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/>
          <p:cNvSpPr/>
          <p:nvPr/>
        </p:nvSpPr>
        <p:spPr>
          <a:xfrm>
            <a:off x="5956473" y="3956824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9"/>
                </a:moveTo>
                <a:lnTo>
                  <a:pt x="8113" y="62952"/>
                </a:lnTo>
                <a:lnTo>
                  <a:pt x="30232" y="30177"/>
                </a:lnTo>
                <a:lnTo>
                  <a:pt x="63020" y="8094"/>
                </a:lnTo>
                <a:lnTo>
                  <a:pt x="103144" y="0"/>
                </a:lnTo>
                <a:lnTo>
                  <a:pt x="143320" y="8094"/>
                </a:lnTo>
                <a:lnTo>
                  <a:pt x="176136" y="30177"/>
                </a:lnTo>
                <a:lnTo>
                  <a:pt x="198264" y="62952"/>
                </a:lnTo>
                <a:lnTo>
                  <a:pt x="206380" y="103119"/>
                </a:lnTo>
                <a:lnTo>
                  <a:pt x="198264" y="143307"/>
                </a:lnTo>
                <a:lnTo>
                  <a:pt x="176136" y="176127"/>
                </a:lnTo>
                <a:lnTo>
                  <a:pt x="143320" y="198256"/>
                </a:lnTo>
                <a:lnTo>
                  <a:pt x="103144" y="206370"/>
                </a:lnTo>
                <a:lnTo>
                  <a:pt x="63020" y="198256"/>
                </a:lnTo>
                <a:lnTo>
                  <a:pt x="30232" y="176127"/>
                </a:lnTo>
                <a:lnTo>
                  <a:pt x="8113" y="143307"/>
                </a:lnTo>
                <a:lnTo>
                  <a:pt x="0" y="103119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6"/>
          <p:cNvSpPr/>
          <p:nvPr/>
        </p:nvSpPr>
        <p:spPr>
          <a:xfrm>
            <a:off x="6266120" y="3869312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/>
          <p:cNvSpPr/>
          <p:nvPr/>
        </p:nvSpPr>
        <p:spPr>
          <a:xfrm>
            <a:off x="6266120" y="3869312"/>
            <a:ext cx="206375" cy="207010"/>
          </a:xfrm>
          <a:custGeom>
            <a:avLst/>
            <a:gdLst/>
            <a:ahLst/>
            <a:cxnLst/>
            <a:rect l="l" t="t" r="r" b="b"/>
            <a:pathLst>
              <a:path w="206375" h="207010">
                <a:moveTo>
                  <a:pt x="0" y="103132"/>
                </a:moveTo>
                <a:lnTo>
                  <a:pt x="8091" y="63013"/>
                </a:lnTo>
                <a:lnTo>
                  <a:pt x="30171" y="30228"/>
                </a:lnTo>
                <a:lnTo>
                  <a:pt x="62943" y="8112"/>
                </a:lnTo>
                <a:lnTo>
                  <a:pt x="103113" y="0"/>
                </a:lnTo>
                <a:lnTo>
                  <a:pt x="143303" y="8112"/>
                </a:lnTo>
                <a:lnTo>
                  <a:pt x="176117" y="30228"/>
                </a:lnTo>
                <a:lnTo>
                  <a:pt x="198238" y="63013"/>
                </a:lnTo>
                <a:lnTo>
                  <a:pt x="206349" y="103132"/>
                </a:lnTo>
                <a:lnTo>
                  <a:pt x="198238" y="143319"/>
                </a:lnTo>
                <a:lnTo>
                  <a:pt x="176117" y="176139"/>
                </a:lnTo>
                <a:lnTo>
                  <a:pt x="143303" y="198268"/>
                </a:lnTo>
                <a:lnTo>
                  <a:pt x="103113" y="206383"/>
                </a:lnTo>
                <a:lnTo>
                  <a:pt x="62943" y="198268"/>
                </a:lnTo>
                <a:lnTo>
                  <a:pt x="30171" y="176139"/>
                </a:lnTo>
                <a:lnTo>
                  <a:pt x="8091" y="143319"/>
                </a:lnTo>
                <a:lnTo>
                  <a:pt x="0" y="103132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/>
          <p:cNvSpPr/>
          <p:nvPr/>
        </p:nvSpPr>
        <p:spPr>
          <a:xfrm>
            <a:off x="6854993" y="3652142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/>
          <p:nvPr/>
        </p:nvSpPr>
        <p:spPr>
          <a:xfrm>
            <a:off x="6854993" y="3652143"/>
            <a:ext cx="206375" cy="207010"/>
          </a:xfrm>
          <a:custGeom>
            <a:avLst/>
            <a:gdLst/>
            <a:ahLst/>
            <a:cxnLst/>
            <a:rect l="l" t="t" r="r" b="b"/>
            <a:pathLst>
              <a:path w="206375" h="207010">
                <a:moveTo>
                  <a:pt x="0" y="103250"/>
                </a:moveTo>
                <a:lnTo>
                  <a:pt x="8115" y="63063"/>
                </a:lnTo>
                <a:lnTo>
                  <a:pt x="30247" y="30243"/>
                </a:lnTo>
                <a:lnTo>
                  <a:pt x="63072" y="8114"/>
                </a:lnTo>
                <a:lnTo>
                  <a:pt x="103266" y="0"/>
                </a:lnTo>
                <a:lnTo>
                  <a:pt x="143385" y="8114"/>
                </a:lnTo>
                <a:lnTo>
                  <a:pt x="176162" y="30243"/>
                </a:lnTo>
                <a:lnTo>
                  <a:pt x="198270" y="63063"/>
                </a:lnTo>
                <a:lnTo>
                  <a:pt x="206380" y="103250"/>
                </a:lnTo>
                <a:lnTo>
                  <a:pt x="198270" y="143370"/>
                </a:lnTo>
                <a:lnTo>
                  <a:pt x="176162" y="176154"/>
                </a:lnTo>
                <a:lnTo>
                  <a:pt x="143385" y="198270"/>
                </a:lnTo>
                <a:lnTo>
                  <a:pt x="103266" y="206383"/>
                </a:lnTo>
                <a:lnTo>
                  <a:pt x="63072" y="198270"/>
                </a:lnTo>
                <a:lnTo>
                  <a:pt x="30247" y="176154"/>
                </a:lnTo>
                <a:lnTo>
                  <a:pt x="8115" y="143370"/>
                </a:lnTo>
                <a:lnTo>
                  <a:pt x="0" y="10325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0"/>
          <p:cNvSpPr/>
          <p:nvPr/>
        </p:nvSpPr>
        <p:spPr>
          <a:xfrm>
            <a:off x="7144188" y="3549022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1"/>
          <p:cNvSpPr/>
          <p:nvPr/>
        </p:nvSpPr>
        <p:spPr>
          <a:xfrm>
            <a:off x="7144187" y="3549023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9"/>
                </a:moveTo>
                <a:lnTo>
                  <a:pt x="8091" y="62952"/>
                </a:lnTo>
                <a:lnTo>
                  <a:pt x="30171" y="30177"/>
                </a:lnTo>
                <a:lnTo>
                  <a:pt x="62943" y="8094"/>
                </a:lnTo>
                <a:lnTo>
                  <a:pt x="103113" y="0"/>
                </a:lnTo>
                <a:lnTo>
                  <a:pt x="143288" y="8094"/>
                </a:lnTo>
                <a:lnTo>
                  <a:pt x="176071" y="30177"/>
                </a:lnTo>
                <a:lnTo>
                  <a:pt x="198161" y="62952"/>
                </a:lnTo>
                <a:lnTo>
                  <a:pt x="206258" y="103119"/>
                </a:lnTo>
                <a:lnTo>
                  <a:pt x="198161" y="143312"/>
                </a:lnTo>
                <a:lnTo>
                  <a:pt x="176071" y="176132"/>
                </a:lnTo>
                <a:lnTo>
                  <a:pt x="143288" y="198257"/>
                </a:lnTo>
                <a:lnTo>
                  <a:pt x="103113" y="206370"/>
                </a:lnTo>
                <a:lnTo>
                  <a:pt x="62943" y="198257"/>
                </a:lnTo>
                <a:lnTo>
                  <a:pt x="30171" y="176132"/>
                </a:lnTo>
                <a:lnTo>
                  <a:pt x="8091" y="143312"/>
                </a:lnTo>
                <a:lnTo>
                  <a:pt x="0" y="103119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2"/>
          <p:cNvSpPr/>
          <p:nvPr/>
        </p:nvSpPr>
        <p:spPr>
          <a:xfrm>
            <a:off x="7490258" y="3429138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/>
          <p:cNvSpPr/>
          <p:nvPr/>
        </p:nvSpPr>
        <p:spPr>
          <a:xfrm>
            <a:off x="7490257" y="3429139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9"/>
                </a:moveTo>
                <a:lnTo>
                  <a:pt x="8113" y="62952"/>
                </a:lnTo>
                <a:lnTo>
                  <a:pt x="30228" y="30177"/>
                </a:lnTo>
                <a:lnTo>
                  <a:pt x="63007" y="8094"/>
                </a:lnTo>
                <a:lnTo>
                  <a:pt x="103113" y="0"/>
                </a:lnTo>
                <a:lnTo>
                  <a:pt x="143307" y="8094"/>
                </a:lnTo>
                <a:lnTo>
                  <a:pt x="176132" y="30177"/>
                </a:lnTo>
                <a:lnTo>
                  <a:pt x="198264" y="62952"/>
                </a:lnTo>
                <a:lnTo>
                  <a:pt x="206380" y="103119"/>
                </a:lnTo>
                <a:lnTo>
                  <a:pt x="198264" y="143307"/>
                </a:lnTo>
                <a:lnTo>
                  <a:pt x="176132" y="176127"/>
                </a:lnTo>
                <a:lnTo>
                  <a:pt x="143307" y="198256"/>
                </a:lnTo>
                <a:lnTo>
                  <a:pt x="103113" y="206370"/>
                </a:lnTo>
                <a:lnTo>
                  <a:pt x="63007" y="198256"/>
                </a:lnTo>
                <a:lnTo>
                  <a:pt x="30228" y="176127"/>
                </a:lnTo>
                <a:lnTo>
                  <a:pt x="8113" y="143307"/>
                </a:lnTo>
                <a:lnTo>
                  <a:pt x="0" y="103119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4"/>
          <p:cNvSpPr/>
          <p:nvPr/>
        </p:nvSpPr>
        <p:spPr>
          <a:xfrm>
            <a:off x="7885218" y="3291466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5"/>
          <p:cNvSpPr/>
          <p:nvPr/>
        </p:nvSpPr>
        <p:spPr>
          <a:xfrm>
            <a:off x="7885217" y="3291466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250"/>
                </a:moveTo>
                <a:lnTo>
                  <a:pt x="8096" y="63063"/>
                </a:lnTo>
                <a:lnTo>
                  <a:pt x="30186" y="30243"/>
                </a:lnTo>
                <a:lnTo>
                  <a:pt x="62969" y="8114"/>
                </a:lnTo>
                <a:lnTo>
                  <a:pt x="103144" y="0"/>
                </a:lnTo>
                <a:lnTo>
                  <a:pt x="143314" y="8114"/>
                </a:lnTo>
                <a:lnTo>
                  <a:pt x="176086" y="30243"/>
                </a:lnTo>
                <a:lnTo>
                  <a:pt x="198166" y="63063"/>
                </a:lnTo>
                <a:lnTo>
                  <a:pt x="206258" y="103250"/>
                </a:lnTo>
                <a:lnTo>
                  <a:pt x="198166" y="143418"/>
                </a:lnTo>
                <a:lnTo>
                  <a:pt x="176086" y="176193"/>
                </a:lnTo>
                <a:lnTo>
                  <a:pt x="143314" y="198276"/>
                </a:lnTo>
                <a:lnTo>
                  <a:pt x="103144" y="206370"/>
                </a:lnTo>
                <a:lnTo>
                  <a:pt x="62969" y="198276"/>
                </a:lnTo>
                <a:lnTo>
                  <a:pt x="30186" y="176193"/>
                </a:lnTo>
                <a:lnTo>
                  <a:pt x="8096" y="143418"/>
                </a:lnTo>
                <a:lnTo>
                  <a:pt x="0" y="103250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6"/>
          <p:cNvSpPr/>
          <p:nvPr/>
        </p:nvSpPr>
        <p:spPr>
          <a:xfrm>
            <a:off x="8577266" y="3051817"/>
            <a:ext cx="206349" cy="20625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7"/>
          <p:cNvSpPr/>
          <p:nvPr/>
        </p:nvSpPr>
        <p:spPr>
          <a:xfrm>
            <a:off x="8577265" y="3051818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3"/>
                </a:moveTo>
                <a:lnTo>
                  <a:pt x="8111" y="62943"/>
                </a:lnTo>
                <a:lnTo>
                  <a:pt x="30232" y="30171"/>
                </a:lnTo>
                <a:lnTo>
                  <a:pt x="63046" y="8091"/>
                </a:lnTo>
                <a:lnTo>
                  <a:pt x="103235" y="0"/>
                </a:lnTo>
                <a:lnTo>
                  <a:pt x="143354" y="8091"/>
                </a:lnTo>
                <a:lnTo>
                  <a:pt x="176132" y="30171"/>
                </a:lnTo>
                <a:lnTo>
                  <a:pt x="198240" y="62943"/>
                </a:lnTo>
                <a:lnTo>
                  <a:pt x="206349" y="103113"/>
                </a:lnTo>
                <a:lnTo>
                  <a:pt x="198240" y="143291"/>
                </a:lnTo>
                <a:lnTo>
                  <a:pt x="176132" y="176071"/>
                </a:lnTo>
                <a:lnTo>
                  <a:pt x="143354" y="198157"/>
                </a:lnTo>
                <a:lnTo>
                  <a:pt x="103235" y="206252"/>
                </a:lnTo>
                <a:lnTo>
                  <a:pt x="63046" y="198157"/>
                </a:lnTo>
                <a:lnTo>
                  <a:pt x="30232" y="176071"/>
                </a:lnTo>
                <a:lnTo>
                  <a:pt x="8111" y="143291"/>
                </a:lnTo>
                <a:lnTo>
                  <a:pt x="0" y="103113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/>
          <p:nvPr/>
        </p:nvSpPr>
        <p:spPr>
          <a:xfrm>
            <a:off x="8879902" y="2933829"/>
            <a:ext cx="206380" cy="2063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9"/>
          <p:cNvSpPr/>
          <p:nvPr/>
        </p:nvSpPr>
        <p:spPr>
          <a:xfrm>
            <a:off x="8879901" y="2933830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3"/>
                </a:moveTo>
                <a:lnTo>
                  <a:pt x="8111" y="63007"/>
                </a:lnTo>
                <a:lnTo>
                  <a:pt x="30232" y="30228"/>
                </a:lnTo>
                <a:lnTo>
                  <a:pt x="63046" y="8113"/>
                </a:lnTo>
                <a:lnTo>
                  <a:pt x="103235" y="0"/>
                </a:lnTo>
                <a:lnTo>
                  <a:pt x="143359" y="8113"/>
                </a:lnTo>
                <a:lnTo>
                  <a:pt x="176147" y="30228"/>
                </a:lnTo>
                <a:lnTo>
                  <a:pt x="198266" y="63007"/>
                </a:lnTo>
                <a:lnTo>
                  <a:pt x="206380" y="103113"/>
                </a:lnTo>
                <a:lnTo>
                  <a:pt x="198266" y="143307"/>
                </a:lnTo>
                <a:lnTo>
                  <a:pt x="176147" y="176132"/>
                </a:lnTo>
                <a:lnTo>
                  <a:pt x="143359" y="198264"/>
                </a:lnTo>
                <a:lnTo>
                  <a:pt x="103235" y="206380"/>
                </a:lnTo>
                <a:lnTo>
                  <a:pt x="63046" y="198264"/>
                </a:lnTo>
                <a:lnTo>
                  <a:pt x="30232" y="176132"/>
                </a:lnTo>
                <a:lnTo>
                  <a:pt x="8111" y="143307"/>
                </a:lnTo>
                <a:lnTo>
                  <a:pt x="0" y="103113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/>
          <p:nvPr/>
        </p:nvSpPr>
        <p:spPr>
          <a:xfrm>
            <a:off x="9121578" y="2845437"/>
            <a:ext cx="206258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1"/>
          <p:cNvSpPr/>
          <p:nvPr/>
        </p:nvSpPr>
        <p:spPr>
          <a:xfrm>
            <a:off x="9121577" y="2845438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113"/>
                </a:moveTo>
                <a:lnTo>
                  <a:pt x="8091" y="62956"/>
                </a:lnTo>
                <a:lnTo>
                  <a:pt x="30171" y="30182"/>
                </a:lnTo>
                <a:lnTo>
                  <a:pt x="62943" y="8096"/>
                </a:lnTo>
                <a:lnTo>
                  <a:pt x="103113" y="0"/>
                </a:lnTo>
                <a:lnTo>
                  <a:pt x="143288" y="8096"/>
                </a:lnTo>
                <a:lnTo>
                  <a:pt x="176071" y="30182"/>
                </a:lnTo>
                <a:lnTo>
                  <a:pt x="198161" y="62956"/>
                </a:lnTo>
                <a:lnTo>
                  <a:pt x="206258" y="103113"/>
                </a:lnTo>
                <a:lnTo>
                  <a:pt x="198161" y="143307"/>
                </a:lnTo>
                <a:lnTo>
                  <a:pt x="176071" y="176132"/>
                </a:lnTo>
                <a:lnTo>
                  <a:pt x="143288" y="198264"/>
                </a:lnTo>
                <a:lnTo>
                  <a:pt x="103113" y="206380"/>
                </a:lnTo>
                <a:lnTo>
                  <a:pt x="62943" y="198264"/>
                </a:lnTo>
                <a:lnTo>
                  <a:pt x="30171" y="176132"/>
                </a:lnTo>
                <a:lnTo>
                  <a:pt x="8091" y="143307"/>
                </a:lnTo>
                <a:lnTo>
                  <a:pt x="0" y="103113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/>
          <p:nvPr/>
        </p:nvSpPr>
        <p:spPr>
          <a:xfrm>
            <a:off x="9478834" y="2727449"/>
            <a:ext cx="206380" cy="2063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3"/>
          <p:cNvSpPr/>
          <p:nvPr/>
        </p:nvSpPr>
        <p:spPr>
          <a:xfrm>
            <a:off x="9478834" y="2727449"/>
            <a:ext cx="206375" cy="206375"/>
          </a:xfrm>
          <a:custGeom>
            <a:avLst/>
            <a:gdLst/>
            <a:ahLst/>
            <a:cxnLst/>
            <a:rect l="l" t="t" r="r" b="b"/>
            <a:pathLst>
              <a:path w="206375" h="206375">
                <a:moveTo>
                  <a:pt x="0" y="103266"/>
                </a:moveTo>
                <a:lnTo>
                  <a:pt x="8111" y="63072"/>
                </a:lnTo>
                <a:lnTo>
                  <a:pt x="30232" y="30247"/>
                </a:lnTo>
                <a:lnTo>
                  <a:pt x="63046" y="8115"/>
                </a:lnTo>
                <a:lnTo>
                  <a:pt x="103235" y="0"/>
                </a:lnTo>
                <a:lnTo>
                  <a:pt x="143410" y="8115"/>
                </a:lnTo>
                <a:lnTo>
                  <a:pt x="176193" y="30247"/>
                </a:lnTo>
                <a:lnTo>
                  <a:pt x="198283" y="63072"/>
                </a:lnTo>
                <a:lnTo>
                  <a:pt x="206380" y="103266"/>
                </a:lnTo>
                <a:lnTo>
                  <a:pt x="198283" y="143372"/>
                </a:lnTo>
                <a:lnTo>
                  <a:pt x="176193" y="176151"/>
                </a:lnTo>
                <a:lnTo>
                  <a:pt x="143410" y="198266"/>
                </a:lnTo>
                <a:lnTo>
                  <a:pt x="103235" y="206380"/>
                </a:lnTo>
                <a:lnTo>
                  <a:pt x="63046" y="198266"/>
                </a:lnTo>
                <a:lnTo>
                  <a:pt x="30232" y="176151"/>
                </a:lnTo>
                <a:lnTo>
                  <a:pt x="8111" y="143372"/>
                </a:lnTo>
                <a:lnTo>
                  <a:pt x="0" y="103266"/>
                </a:lnTo>
                <a:close/>
              </a:path>
            </a:pathLst>
          </a:custGeom>
          <a:ln w="761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 txBox="1"/>
          <p:nvPr/>
        </p:nvSpPr>
        <p:spPr>
          <a:xfrm>
            <a:off x="6755647" y="4852409"/>
            <a:ext cx="2069698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5" dirty="0">
                <a:solidFill>
                  <a:srgbClr val="595959"/>
                </a:solidFill>
                <a:latin typeface="Arial"/>
                <a:cs typeface="Arial"/>
              </a:rPr>
              <a:t>Number of </a:t>
            </a:r>
            <a:r>
              <a:rPr sz="1400" b="1" spc="-5" dirty="0">
                <a:solidFill>
                  <a:srgbClr val="595959"/>
                </a:solidFill>
                <a:latin typeface="Arial"/>
                <a:cs typeface="Arial"/>
              </a:rPr>
              <a:t>Clusters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sz="1400" b="1" spc="-1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0179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18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47073" y="1025016"/>
            <a:ext cx="30001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5" dirty="0" smtClean="0">
                <a:solidFill>
                  <a:srgbClr val="595959"/>
                </a:solidFill>
                <a:latin typeface="Arial"/>
                <a:cs typeface="Arial"/>
              </a:rPr>
              <a:t>Number of </a:t>
            </a:r>
            <a:r>
              <a:rPr lang="en-US" b="1" spc="-5" dirty="0" smtClean="0">
                <a:solidFill>
                  <a:srgbClr val="595959"/>
                </a:solidFill>
                <a:latin typeface="Arial"/>
                <a:cs typeface="Arial"/>
              </a:rPr>
              <a:t>Clusters, </a:t>
            </a:r>
            <a:r>
              <a:rPr lang="en-US" b="1" dirty="0" smtClean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lang="en-US" b="1" spc="-19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42" name="object 25"/>
          <p:cNvSpPr/>
          <p:nvPr/>
        </p:nvSpPr>
        <p:spPr>
          <a:xfrm>
            <a:off x="10231591" y="3032978"/>
            <a:ext cx="1805846" cy="31080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4"/>
          <p:cNvSpPr/>
          <p:nvPr/>
        </p:nvSpPr>
        <p:spPr>
          <a:xfrm>
            <a:off x="7509383" y="4196383"/>
            <a:ext cx="3033630" cy="167679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9"/>
          <p:cNvSpPr/>
          <p:nvPr/>
        </p:nvSpPr>
        <p:spPr>
          <a:xfrm>
            <a:off x="5455069" y="2006689"/>
            <a:ext cx="5248910" cy="1802764"/>
          </a:xfrm>
          <a:custGeom>
            <a:avLst/>
            <a:gdLst/>
            <a:ahLst/>
            <a:cxnLst/>
            <a:rect l="l" t="t" r="r" b="b"/>
            <a:pathLst>
              <a:path w="5248909" h="1802764">
                <a:moveTo>
                  <a:pt x="0" y="1802145"/>
                </a:moveTo>
                <a:lnTo>
                  <a:pt x="5248655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0"/>
          <p:cNvSpPr/>
          <p:nvPr/>
        </p:nvSpPr>
        <p:spPr>
          <a:xfrm>
            <a:off x="5750847" y="3575032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1"/>
          <p:cNvSpPr/>
          <p:nvPr/>
        </p:nvSpPr>
        <p:spPr>
          <a:xfrm>
            <a:off x="6040011" y="3471781"/>
            <a:ext cx="206380" cy="2063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2"/>
          <p:cNvSpPr/>
          <p:nvPr/>
        </p:nvSpPr>
        <p:spPr>
          <a:xfrm>
            <a:off x="6431953" y="3346050"/>
            <a:ext cx="206349" cy="2063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3"/>
          <p:cNvSpPr/>
          <p:nvPr/>
        </p:nvSpPr>
        <p:spPr>
          <a:xfrm>
            <a:off x="6741569" y="3258539"/>
            <a:ext cx="206380" cy="2063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4"/>
          <p:cNvSpPr/>
          <p:nvPr/>
        </p:nvSpPr>
        <p:spPr>
          <a:xfrm>
            <a:off x="7330595" y="3041369"/>
            <a:ext cx="206380" cy="2063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5"/>
          <p:cNvSpPr/>
          <p:nvPr/>
        </p:nvSpPr>
        <p:spPr>
          <a:xfrm>
            <a:off x="7619637" y="2938249"/>
            <a:ext cx="206380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6"/>
          <p:cNvSpPr/>
          <p:nvPr/>
        </p:nvSpPr>
        <p:spPr>
          <a:xfrm>
            <a:off x="7965859" y="2818372"/>
            <a:ext cx="206227" cy="20636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7"/>
          <p:cNvSpPr/>
          <p:nvPr/>
        </p:nvSpPr>
        <p:spPr>
          <a:xfrm>
            <a:off x="8360697" y="2680815"/>
            <a:ext cx="206380" cy="2063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8"/>
          <p:cNvSpPr/>
          <p:nvPr/>
        </p:nvSpPr>
        <p:spPr>
          <a:xfrm>
            <a:off x="9052837" y="2441029"/>
            <a:ext cx="206380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9"/>
          <p:cNvSpPr/>
          <p:nvPr/>
        </p:nvSpPr>
        <p:spPr>
          <a:xfrm>
            <a:off x="9355472" y="2323072"/>
            <a:ext cx="206380" cy="206349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0"/>
          <p:cNvSpPr/>
          <p:nvPr/>
        </p:nvSpPr>
        <p:spPr>
          <a:xfrm>
            <a:off x="9597027" y="2234680"/>
            <a:ext cx="206380" cy="20634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1"/>
          <p:cNvSpPr/>
          <p:nvPr/>
        </p:nvSpPr>
        <p:spPr>
          <a:xfrm>
            <a:off x="9954405" y="2116691"/>
            <a:ext cx="206380" cy="20638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2"/>
          <p:cNvSpPr/>
          <p:nvPr/>
        </p:nvSpPr>
        <p:spPr>
          <a:xfrm>
            <a:off x="10719176" y="3945623"/>
            <a:ext cx="108584" cy="10845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3"/>
          <p:cNvSpPr/>
          <p:nvPr/>
        </p:nvSpPr>
        <p:spPr>
          <a:xfrm>
            <a:off x="10456286" y="4069067"/>
            <a:ext cx="188594" cy="18846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37965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19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3996900" y="656140"/>
            <a:ext cx="5354918" cy="182011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9550" marR="248920" indent="-172085">
              <a:lnSpc>
                <a:spcPct val="150700"/>
              </a:lnSpc>
              <a:spcBef>
                <a:spcPts val="135"/>
              </a:spcBef>
              <a:buFont typeface="Wingdings"/>
              <a:buChar char=""/>
              <a:tabLst>
                <a:tab pos="210185" algn="l"/>
              </a:tabLst>
            </a:pPr>
            <a:r>
              <a:rPr sz="1600" b="1" spc="15" dirty="0">
                <a:solidFill>
                  <a:srgbClr val="5F4778"/>
                </a:solidFill>
                <a:latin typeface="Arial"/>
                <a:cs typeface="Arial"/>
              </a:rPr>
              <a:t>Step </a:t>
            </a:r>
            <a:r>
              <a:rPr sz="1600" b="1" spc="-5" dirty="0">
                <a:solidFill>
                  <a:srgbClr val="5F4778"/>
                </a:solidFill>
                <a:latin typeface="Arial"/>
                <a:cs typeface="Arial"/>
              </a:rPr>
              <a:t>1: </a:t>
            </a:r>
            <a:r>
              <a:rPr sz="1600" dirty="0">
                <a:latin typeface="Arial"/>
                <a:cs typeface="Arial"/>
              </a:rPr>
              <a:t>Select the </a:t>
            </a:r>
            <a:r>
              <a:rPr sz="1600" spc="-15" dirty="0">
                <a:latin typeface="Arial"/>
                <a:cs typeface="Arial"/>
              </a:rPr>
              <a:t>number </a:t>
            </a:r>
            <a:r>
              <a:rPr sz="1600" spc="-5" dirty="0">
                <a:latin typeface="Arial"/>
                <a:cs typeface="Arial"/>
              </a:rPr>
              <a:t>of </a:t>
            </a:r>
            <a:r>
              <a:rPr sz="1600" dirty="0">
                <a:latin typeface="Arial"/>
                <a:cs typeface="Arial"/>
              </a:rPr>
              <a:t>clusters to </a:t>
            </a:r>
            <a:r>
              <a:rPr sz="1600" spc="-5" dirty="0">
                <a:latin typeface="Arial"/>
                <a:cs typeface="Arial"/>
              </a:rPr>
              <a:t>be  identified, i.e </a:t>
            </a:r>
            <a:r>
              <a:rPr sz="1600" dirty="0">
                <a:latin typeface="Arial"/>
                <a:cs typeface="Arial"/>
              </a:rPr>
              <a:t>select a value for K </a:t>
            </a:r>
            <a:r>
              <a:rPr sz="1600" spc="15" dirty="0">
                <a:latin typeface="Arial"/>
                <a:cs typeface="Arial"/>
              </a:rPr>
              <a:t>=3 </a:t>
            </a:r>
            <a:r>
              <a:rPr sz="1600" spc="-5" dirty="0">
                <a:latin typeface="Arial"/>
                <a:cs typeface="Arial"/>
              </a:rPr>
              <a:t>in </a:t>
            </a:r>
            <a:r>
              <a:rPr sz="1600" dirty="0">
                <a:latin typeface="Arial"/>
                <a:cs typeface="Arial"/>
              </a:rPr>
              <a:t>this  case</a:t>
            </a:r>
          </a:p>
          <a:p>
            <a:pPr marL="209550" indent="-172085">
              <a:lnSpc>
                <a:spcPct val="100000"/>
              </a:lnSpc>
              <a:spcBef>
                <a:spcPts val="865"/>
              </a:spcBef>
              <a:buFont typeface="Wingdings"/>
              <a:buChar char=""/>
              <a:tabLst>
                <a:tab pos="210185" algn="l"/>
              </a:tabLst>
            </a:pPr>
            <a:r>
              <a:rPr sz="1600" b="1" spc="15" dirty="0">
                <a:solidFill>
                  <a:srgbClr val="5F4778"/>
                </a:solidFill>
                <a:latin typeface="Arial"/>
                <a:cs typeface="Arial"/>
              </a:rPr>
              <a:t>Step </a:t>
            </a:r>
            <a:r>
              <a:rPr sz="1600" b="1" spc="-5" dirty="0">
                <a:solidFill>
                  <a:srgbClr val="5F4778"/>
                </a:solidFill>
                <a:latin typeface="Arial"/>
                <a:cs typeface="Arial"/>
              </a:rPr>
              <a:t>2: </a:t>
            </a:r>
            <a:r>
              <a:rPr sz="1600" spc="-15" dirty="0">
                <a:latin typeface="Arial"/>
                <a:cs typeface="Arial"/>
              </a:rPr>
              <a:t>Randomly </a:t>
            </a:r>
            <a:r>
              <a:rPr sz="1600" dirty="0">
                <a:latin typeface="Arial"/>
                <a:cs typeface="Arial"/>
              </a:rPr>
              <a:t>select 3 </a:t>
            </a:r>
            <a:r>
              <a:rPr sz="1600" spc="-5" dirty="0">
                <a:latin typeface="Arial"/>
                <a:cs typeface="Arial"/>
              </a:rPr>
              <a:t>distinct data</a:t>
            </a:r>
            <a:r>
              <a:rPr sz="1600" spc="-25" dirty="0">
                <a:latin typeface="Arial"/>
                <a:cs typeface="Arial"/>
              </a:rPr>
              <a:t> </a:t>
            </a:r>
            <a:r>
              <a:rPr sz="1600" spc="-5" dirty="0">
                <a:latin typeface="Arial"/>
                <a:cs typeface="Arial"/>
              </a:rPr>
              <a:t>point</a:t>
            </a:r>
            <a:endParaRPr sz="1600" dirty="0">
              <a:latin typeface="Arial"/>
              <a:cs typeface="Arial"/>
            </a:endParaRPr>
          </a:p>
          <a:p>
            <a:pPr marL="209550" indent="-172085">
              <a:lnSpc>
                <a:spcPct val="100000"/>
              </a:lnSpc>
              <a:spcBef>
                <a:spcPts val="780"/>
              </a:spcBef>
              <a:buFont typeface="Wingdings"/>
              <a:buChar char=""/>
              <a:tabLst>
                <a:tab pos="210185" algn="l"/>
              </a:tabLst>
            </a:pPr>
            <a:r>
              <a:rPr sz="1600" b="1" spc="15" dirty="0">
                <a:solidFill>
                  <a:srgbClr val="5F4778"/>
                </a:solidFill>
                <a:latin typeface="Arial"/>
                <a:cs typeface="Arial"/>
              </a:rPr>
              <a:t>Step </a:t>
            </a:r>
            <a:r>
              <a:rPr sz="1600" b="1" spc="-5" dirty="0">
                <a:solidFill>
                  <a:srgbClr val="5F4778"/>
                </a:solidFill>
                <a:latin typeface="Arial"/>
                <a:cs typeface="Arial"/>
              </a:rPr>
              <a:t>3: </a:t>
            </a:r>
            <a:r>
              <a:rPr sz="1600" spc="-5" dirty="0">
                <a:latin typeface="Arial"/>
                <a:cs typeface="Arial"/>
              </a:rPr>
              <a:t>Measure </a:t>
            </a:r>
            <a:r>
              <a:rPr sz="1600" dirty="0">
                <a:latin typeface="Arial"/>
                <a:cs typeface="Arial"/>
              </a:rPr>
              <a:t>the </a:t>
            </a:r>
            <a:r>
              <a:rPr sz="1600" spc="-5" dirty="0">
                <a:latin typeface="Arial"/>
                <a:cs typeface="Arial"/>
              </a:rPr>
              <a:t>distance between </a:t>
            </a:r>
            <a:r>
              <a:rPr sz="1600" dirty="0">
                <a:latin typeface="Arial"/>
                <a:cs typeface="Arial"/>
              </a:rPr>
              <a:t>the</a:t>
            </a:r>
            <a:r>
              <a:rPr sz="1600" spc="-85" dirty="0">
                <a:latin typeface="Arial"/>
                <a:cs typeface="Arial"/>
              </a:rPr>
              <a:t> </a:t>
            </a:r>
            <a:r>
              <a:rPr sz="1600" spc="40" dirty="0">
                <a:latin typeface="Arial"/>
                <a:cs typeface="Arial"/>
              </a:rPr>
              <a:t>1</a:t>
            </a:r>
            <a:r>
              <a:rPr sz="1600" spc="60" baseline="21604" dirty="0">
                <a:latin typeface="Arial"/>
                <a:cs typeface="Arial"/>
              </a:rPr>
              <a:t>st</a:t>
            </a:r>
            <a:endParaRPr sz="1600" baseline="21604" dirty="0">
              <a:latin typeface="Arial"/>
              <a:cs typeface="Arial"/>
            </a:endParaRPr>
          </a:p>
          <a:p>
            <a:pPr marL="209550">
              <a:lnSpc>
                <a:spcPct val="100000"/>
              </a:lnSpc>
              <a:spcBef>
                <a:spcPts val="785"/>
              </a:spcBef>
            </a:pPr>
            <a:r>
              <a:rPr sz="1600" spc="-5" dirty="0">
                <a:latin typeface="Arial"/>
                <a:cs typeface="Arial"/>
              </a:rPr>
              <a:t>point and </a:t>
            </a:r>
            <a:r>
              <a:rPr sz="1600" dirty="0">
                <a:latin typeface="Arial"/>
                <a:cs typeface="Arial"/>
              </a:rPr>
              <a:t>selected 3</a:t>
            </a:r>
            <a:r>
              <a:rPr sz="1600" spc="-10" dirty="0">
                <a:latin typeface="Arial"/>
                <a:cs typeface="Arial"/>
              </a:rPr>
              <a:t> </a:t>
            </a:r>
            <a:r>
              <a:rPr sz="1600" dirty="0">
                <a:latin typeface="Arial"/>
                <a:cs typeface="Arial"/>
              </a:rPr>
              <a:t>clusters</a:t>
            </a:r>
          </a:p>
        </p:txBody>
      </p:sp>
      <p:sp>
        <p:nvSpPr>
          <p:cNvPr id="14" name="object 7"/>
          <p:cNvSpPr/>
          <p:nvPr/>
        </p:nvSpPr>
        <p:spPr>
          <a:xfrm>
            <a:off x="4993440" y="2965738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36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/>
          <p:cNvSpPr/>
          <p:nvPr/>
        </p:nvSpPr>
        <p:spPr>
          <a:xfrm>
            <a:off x="5274931" y="4531595"/>
            <a:ext cx="234955" cy="23494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/>
          <p:nvPr/>
        </p:nvSpPr>
        <p:spPr>
          <a:xfrm>
            <a:off x="5564003" y="4428475"/>
            <a:ext cx="234955" cy="234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/>
          <p:cNvSpPr/>
          <p:nvPr/>
        </p:nvSpPr>
        <p:spPr>
          <a:xfrm>
            <a:off x="5970324" y="4317033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1"/>
          <p:cNvSpPr/>
          <p:nvPr/>
        </p:nvSpPr>
        <p:spPr>
          <a:xfrm>
            <a:off x="6279971" y="4229521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/>
          <p:cNvSpPr/>
          <p:nvPr/>
        </p:nvSpPr>
        <p:spPr>
          <a:xfrm>
            <a:off x="6854557" y="3998064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/>
          <p:cNvSpPr/>
          <p:nvPr/>
        </p:nvSpPr>
        <p:spPr>
          <a:xfrm>
            <a:off x="7158039" y="3909231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/>
          <p:cNvSpPr/>
          <p:nvPr/>
        </p:nvSpPr>
        <p:spPr>
          <a:xfrm>
            <a:off x="7489821" y="3775060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7899069" y="3651675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/>
          <p:cNvSpPr/>
          <p:nvPr/>
        </p:nvSpPr>
        <p:spPr>
          <a:xfrm>
            <a:off x="8576829" y="3397739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/>
          <p:cNvSpPr/>
          <p:nvPr/>
        </p:nvSpPr>
        <p:spPr>
          <a:xfrm>
            <a:off x="8879465" y="3191359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8"/>
          <p:cNvSpPr/>
          <p:nvPr/>
        </p:nvSpPr>
        <p:spPr>
          <a:xfrm>
            <a:off x="9478397" y="3073371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5454207" y="4454062"/>
            <a:ext cx="980440" cy="401955"/>
          </a:xfrm>
          <a:custGeom>
            <a:avLst/>
            <a:gdLst/>
            <a:ahLst/>
            <a:cxnLst/>
            <a:rect l="l" t="t" r="r" b="b"/>
            <a:pathLst>
              <a:path w="980439" h="401954">
                <a:moveTo>
                  <a:pt x="973439" y="0"/>
                </a:moveTo>
                <a:lnTo>
                  <a:pt x="979850" y="34669"/>
                </a:lnTo>
                <a:lnTo>
                  <a:pt x="975573" y="66292"/>
                </a:lnTo>
                <a:lnTo>
                  <a:pt x="961695" y="91439"/>
                </a:lnTo>
                <a:lnTo>
                  <a:pt x="939302" y="106679"/>
                </a:lnTo>
                <a:lnTo>
                  <a:pt x="550804" y="241304"/>
                </a:lnTo>
                <a:lnTo>
                  <a:pt x="528410" y="256470"/>
                </a:lnTo>
                <a:lnTo>
                  <a:pt x="514529" y="281593"/>
                </a:lnTo>
                <a:lnTo>
                  <a:pt x="510243" y="313241"/>
                </a:lnTo>
                <a:lnTo>
                  <a:pt x="516635" y="347984"/>
                </a:lnTo>
                <a:lnTo>
                  <a:pt x="500275" y="316713"/>
                </a:lnTo>
                <a:lnTo>
                  <a:pt x="477373" y="294514"/>
                </a:lnTo>
                <a:lnTo>
                  <a:pt x="450923" y="283363"/>
                </a:lnTo>
                <a:lnTo>
                  <a:pt x="423915" y="285237"/>
                </a:lnTo>
                <a:lnTo>
                  <a:pt x="92720" y="400049"/>
                </a:lnTo>
                <a:lnTo>
                  <a:pt x="65712" y="401907"/>
                </a:lnTo>
                <a:lnTo>
                  <a:pt x="39262" y="390730"/>
                </a:lnTo>
                <a:lnTo>
                  <a:pt x="16360" y="368529"/>
                </a:lnTo>
                <a:lnTo>
                  <a:pt x="0" y="337316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0"/>
          <p:cNvSpPr/>
          <p:nvPr/>
        </p:nvSpPr>
        <p:spPr>
          <a:xfrm>
            <a:off x="5465758" y="4284267"/>
            <a:ext cx="1964689" cy="768985"/>
          </a:xfrm>
          <a:custGeom>
            <a:avLst/>
            <a:gdLst/>
            <a:ahLst/>
            <a:cxnLst/>
            <a:rect l="l" t="t" r="r" b="b"/>
            <a:pathLst>
              <a:path w="1964689" h="768985">
                <a:moveTo>
                  <a:pt x="1955413" y="0"/>
                </a:moveTo>
                <a:lnTo>
                  <a:pt x="1964554" y="48979"/>
                </a:lnTo>
                <a:lnTo>
                  <a:pt x="1958541" y="93639"/>
                </a:lnTo>
                <a:lnTo>
                  <a:pt x="1938933" y="129133"/>
                </a:lnTo>
                <a:lnTo>
                  <a:pt x="1907285" y="150613"/>
                </a:lnTo>
                <a:lnTo>
                  <a:pt x="1051194" y="447293"/>
                </a:lnTo>
                <a:lnTo>
                  <a:pt x="1019559" y="468774"/>
                </a:lnTo>
                <a:lnTo>
                  <a:pt x="999968" y="504268"/>
                </a:lnTo>
                <a:lnTo>
                  <a:pt x="993951" y="548928"/>
                </a:lnTo>
                <a:lnTo>
                  <a:pt x="1003035" y="597907"/>
                </a:lnTo>
                <a:lnTo>
                  <a:pt x="979878" y="553809"/>
                </a:lnTo>
                <a:lnTo>
                  <a:pt x="947505" y="522461"/>
                </a:lnTo>
                <a:lnTo>
                  <a:pt x="910131" y="506708"/>
                </a:lnTo>
                <a:lnTo>
                  <a:pt x="871971" y="509396"/>
                </a:lnTo>
                <a:lnTo>
                  <a:pt x="131063" y="766190"/>
                </a:lnTo>
                <a:lnTo>
                  <a:pt x="92904" y="768879"/>
                </a:lnTo>
                <a:lnTo>
                  <a:pt x="55530" y="753125"/>
                </a:lnTo>
                <a:lnTo>
                  <a:pt x="23157" y="721773"/>
                </a:lnTo>
                <a:lnTo>
                  <a:pt x="0" y="677667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1"/>
          <p:cNvSpPr/>
          <p:nvPr/>
        </p:nvSpPr>
        <p:spPr>
          <a:xfrm>
            <a:off x="5547414" y="4291375"/>
            <a:ext cx="2557780" cy="971550"/>
          </a:xfrm>
          <a:custGeom>
            <a:avLst/>
            <a:gdLst/>
            <a:ahLst/>
            <a:cxnLst/>
            <a:rect l="l" t="t" r="r" b="b"/>
            <a:pathLst>
              <a:path w="2557779" h="971550">
                <a:moveTo>
                  <a:pt x="2548768" y="0"/>
                </a:moveTo>
                <a:lnTo>
                  <a:pt x="2557593" y="47389"/>
                </a:lnTo>
                <a:lnTo>
                  <a:pt x="2551755" y="90612"/>
                </a:lnTo>
                <a:lnTo>
                  <a:pt x="2532771" y="124977"/>
                </a:lnTo>
                <a:lnTo>
                  <a:pt x="2502164" y="145791"/>
                </a:lnTo>
                <a:lnTo>
                  <a:pt x="1326154" y="553343"/>
                </a:lnTo>
                <a:lnTo>
                  <a:pt x="1295559" y="574083"/>
                </a:lnTo>
                <a:lnTo>
                  <a:pt x="1276593" y="608424"/>
                </a:lnTo>
                <a:lnTo>
                  <a:pt x="1270750" y="651672"/>
                </a:lnTo>
                <a:lnTo>
                  <a:pt x="1279519" y="699134"/>
                </a:lnTo>
                <a:lnTo>
                  <a:pt x="1257109" y="656398"/>
                </a:lnTo>
                <a:lnTo>
                  <a:pt x="1225760" y="626032"/>
                </a:lnTo>
                <a:lnTo>
                  <a:pt x="1189577" y="610786"/>
                </a:lnTo>
                <a:lnTo>
                  <a:pt x="1152662" y="613409"/>
                </a:lnTo>
                <a:lnTo>
                  <a:pt x="126888" y="968882"/>
                </a:lnTo>
                <a:lnTo>
                  <a:pt x="89916" y="971508"/>
                </a:lnTo>
                <a:lnTo>
                  <a:pt x="53728" y="956277"/>
                </a:lnTo>
                <a:lnTo>
                  <a:pt x="22398" y="925950"/>
                </a:lnTo>
                <a:lnTo>
                  <a:pt x="0" y="883289"/>
                </a:lnTo>
              </a:path>
            </a:pathLst>
          </a:custGeom>
          <a:ln w="380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/>
          <p:cNvSpPr/>
          <p:nvPr/>
        </p:nvSpPr>
        <p:spPr>
          <a:xfrm>
            <a:off x="5953195" y="4794925"/>
            <a:ext cx="276860" cy="629920"/>
          </a:xfrm>
          <a:custGeom>
            <a:avLst/>
            <a:gdLst/>
            <a:ahLst/>
            <a:cxnLst/>
            <a:rect l="l" t="t" r="r" b="b"/>
            <a:pathLst>
              <a:path w="276860" h="629920">
                <a:moveTo>
                  <a:pt x="206033" y="530304"/>
                </a:moveTo>
                <a:lnTo>
                  <a:pt x="170688" y="544412"/>
                </a:lnTo>
                <a:lnTo>
                  <a:pt x="266181" y="629363"/>
                </a:lnTo>
                <a:lnTo>
                  <a:pt x="273001" y="547972"/>
                </a:lnTo>
                <a:lnTo>
                  <a:pt x="213085" y="547972"/>
                </a:lnTo>
                <a:lnTo>
                  <a:pt x="206033" y="530304"/>
                </a:lnTo>
                <a:close/>
              </a:path>
              <a:path w="276860" h="629920">
                <a:moveTo>
                  <a:pt x="241471" y="516159"/>
                </a:moveTo>
                <a:lnTo>
                  <a:pt x="206033" y="530304"/>
                </a:lnTo>
                <a:lnTo>
                  <a:pt x="213085" y="547972"/>
                </a:lnTo>
                <a:lnTo>
                  <a:pt x="248533" y="533851"/>
                </a:lnTo>
                <a:lnTo>
                  <a:pt x="241471" y="516159"/>
                </a:lnTo>
                <a:close/>
              </a:path>
              <a:path w="276860" h="629920">
                <a:moveTo>
                  <a:pt x="276849" y="502039"/>
                </a:moveTo>
                <a:lnTo>
                  <a:pt x="241471" y="516159"/>
                </a:lnTo>
                <a:lnTo>
                  <a:pt x="248533" y="533851"/>
                </a:lnTo>
                <a:lnTo>
                  <a:pt x="213085" y="547972"/>
                </a:lnTo>
                <a:lnTo>
                  <a:pt x="273001" y="547972"/>
                </a:lnTo>
                <a:lnTo>
                  <a:pt x="276849" y="502039"/>
                </a:lnTo>
                <a:close/>
              </a:path>
              <a:path w="276860" h="629920">
                <a:moveTo>
                  <a:pt x="35417" y="0"/>
                </a:moveTo>
                <a:lnTo>
                  <a:pt x="0" y="14097"/>
                </a:lnTo>
                <a:lnTo>
                  <a:pt x="206033" y="530304"/>
                </a:lnTo>
                <a:lnTo>
                  <a:pt x="241471" y="516159"/>
                </a:lnTo>
                <a:lnTo>
                  <a:pt x="3541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5"/>
          <p:cNvSpPr/>
          <p:nvPr/>
        </p:nvSpPr>
        <p:spPr>
          <a:xfrm>
            <a:off x="6451269" y="4874555"/>
            <a:ext cx="273050" cy="576580"/>
          </a:xfrm>
          <a:custGeom>
            <a:avLst/>
            <a:gdLst/>
            <a:ahLst/>
            <a:cxnLst/>
            <a:rect l="l" t="t" r="r" b="b"/>
            <a:pathLst>
              <a:path w="273050" h="576579">
                <a:moveTo>
                  <a:pt x="202829" y="479147"/>
                </a:moveTo>
                <a:lnTo>
                  <a:pt x="167914" y="494419"/>
                </a:lnTo>
                <a:lnTo>
                  <a:pt x="265938" y="576264"/>
                </a:lnTo>
                <a:lnTo>
                  <a:pt x="270066" y="496610"/>
                </a:lnTo>
                <a:lnTo>
                  <a:pt x="210464" y="496610"/>
                </a:lnTo>
                <a:lnTo>
                  <a:pt x="202829" y="479147"/>
                </a:lnTo>
                <a:close/>
              </a:path>
              <a:path w="273050" h="576579">
                <a:moveTo>
                  <a:pt x="237626" y="463927"/>
                </a:moveTo>
                <a:lnTo>
                  <a:pt x="202829" y="479147"/>
                </a:lnTo>
                <a:lnTo>
                  <a:pt x="210464" y="496610"/>
                </a:lnTo>
                <a:lnTo>
                  <a:pt x="245242" y="481358"/>
                </a:lnTo>
                <a:lnTo>
                  <a:pt x="237626" y="463927"/>
                </a:lnTo>
                <a:close/>
              </a:path>
              <a:path w="273050" h="576579">
                <a:moveTo>
                  <a:pt x="272552" y="448650"/>
                </a:moveTo>
                <a:lnTo>
                  <a:pt x="237626" y="463927"/>
                </a:lnTo>
                <a:lnTo>
                  <a:pt x="245242" y="481358"/>
                </a:lnTo>
                <a:lnTo>
                  <a:pt x="210464" y="496610"/>
                </a:lnTo>
                <a:lnTo>
                  <a:pt x="270066" y="496610"/>
                </a:lnTo>
                <a:lnTo>
                  <a:pt x="272552" y="448650"/>
                </a:lnTo>
                <a:close/>
              </a:path>
              <a:path w="273050" h="576579">
                <a:moveTo>
                  <a:pt x="34930" y="0"/>
                </a:moveTo>
                <a:lnTo>
                  <a:pt x="0" y="15240"/>
                </a:lnTo>
                <a:lnTo>
                  <a:pt x="202829" y="479147"/>
                </a:lnTo>
                <a:lnTo>
                  <a:pt x="237626" y="463927"/>
                </a:lnTo>
                <a:lnTo>
                  <a:pt x="34930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4382447" y="5307344"/>
            <a:ext cx="6096000" cy="52206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661920" marR="5080">
              <a:lnSpc>
                <a:spcPct val="102499"/>
              </a:lnSpc>
              <a:spcBef>
                <a:spcPts val="95"/>
              </a:spcBef>
            </a:pPr>
            <a:r>
              <a:rPr lang="en-US" sz="1300" spc="5" dirty="0" smtClean="0">
                <a:latin typeface="Arial"/>
                <a:cs typeface="Arial"/>
              </a:rPr>
              <a:t>Distance </a:t>
            </a:r>
            <a:r>
              <a:rPr lang="en-US" sz="1300" dirty="0" smtClean="0">
                <a:latin typeface="Arial"/>
                <a:cs typeface="Arial"/>
              </a:rPr>
              <a:t>from </a:t>
            </a:r>
            <a:r>
              <a:rPr lang="en-US" sz="1300" spc="-15" dirty="0" smtClean="0">
                <a:latin typeface="Arial"/>
                <a:cs typeface="Arial"/>
              </a:rPr>
              <a:t>point </a:t>
            </a:r>
            <a:r>
              <a:rPr lang="en-US" sz="1300" spc="15" dirty="0" smtClean="0">
                <a:latin typeface="Arial"/>
                <a:cs typeface="Arial"/>
              </a:rPr>
              <a:t>1 </a:t>
            </a:r>
            <a:r>
              <a:rPr lang="en-US" sz="1300" dirty="0" smtClean="0">
                <a:latin typeface="Arial"/>
                <a:cs typeface="Arial"/>
              </a:rPr>
              <a:t>to </a:t>
            </a:r>
            <a:r>
              <a:rPr lang="en-US" sz="1300" spc="-5" dirty="0" smtClean="0">
                <a:latin typeface="Arial"/>
                <a:cs typeface="Arial"/>
              </a:rPr>
              <a:t>the</a:t>
            </a:r>
            <a:r>
              <a:rPr lang="en-US" sz="1300" spc="-135" dirty="0" smtClean="0">
                <a:latin typeface="Arial"/>
                <a:cs typeface="Arial"/>
              </a:rPr>
              <a:t> </a:t>
            </a:r>
            <a:r>
              <a:rPr lang="en-US" sz="1300" spc="-10" dirty="0" smtClean="0">
                <a:solidFill>
                  <a:srgbClr val="1B577B"/>
                </a:solidFill>
                <a:latin typeface="Arial"/>
                <a:cs typeface="Arial"/>
              </a:rPr>
              <a:t>blue  </a:t>
            </a:r>
            <a:r>
              <a:rPr lang="en-US" sz="1300" spc="5" dirty="0" smtClean="0">
                <a:latin typeface="Arial"/>
                <a:cs typeface="Arial"/>
              </a:rPr>
              <a:t>cluster</a:t>
            </a:r>
            <a:endParaRPr lang="en-US" sz="1300" dirty="0" smtClean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lang="en-US" sz="1300" spc="5" dirty="0" smtClean="0">
                <a:latin typeface="Arial"/>
                <a:cs typeface="Arial"/>
              </a:rPr>
              <a:t>Distance </a:t>
            </a:r>
            <a:r>
              <a:rPr lang="en-US" sz="1300" dirty="0" smtClean="0">
                <a:latin typeface="Arial"/>
                <a:cs typeface="Arial"/>
              </a:rPr>
              <a:t>from </a:t>
            </a:r>
            <a:r>
              <a:rPr lang="en-US" sz="1300" spc="-15" dirty="0" smtClean="0">
                <a:latin typeface="Arial"/>
                <a:cs typeface="Arial"/>
              </a:rPr>
              <a:t>point </a:t>
            </a:r>
            <a:r>
              <a:rPr lang="en-US" sz="1300" spc="15" dirty="0" smtClean="0">
                <a:latin typeface="Arial"/>
                <a:cs typeface="Arial"/>
              </a:rPr>
              <a:t>1 </a:t>
            </a:r>
            <a:r>
              <a:rPr lang="en-US" sz="1300" dirty="0" smtClean="0">
                <a:latin typeface="Arial"/>
                <a:cs typeface="Arial"/>
              </a:rPr>
              <a:t>to </a:t>
            </a:r>
            <a:r>
              <a:rPr lang="en-US" sz="1300" spc="-5" dirty="0" smtClean="0">
                <a:latin typeface="Arial"/>
                <a:cs typeface="Arial"/>
              </a:rPr>
              <a:t>the</a:t>
            </a:r>
            <a:r>
              <a:rPr lang="en-US" sz="1300" spc="-125" dirty="0" smtClean="0">
                <a:latin typeface="Arial"/>
                <a:cs typeface="Arial"/>
              </a:rPr>
              <a:t> </a:t>
            </a:r>
            <a:r>
              <a:rPr lang="en-US" sz="1300" dirty="0" smtClean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endParaRPr lang="en-US" sz="1300" dirty="0">
              <a:latin typeface="Arial"/>
              <a:cs typeface="Arial"/>
            </a:endParaRPr>
          </a:p>
        </p:txBody>
      </p:sp>
      <p:sp>
        <p:nvSpPr>
          <p:cNvPr id="31" name="object 27"/>
          <p:cNvSpPr/>
          <p:nvPr/>
        </p:nvSpPr>
        <p:spPr>
          <a:xfrm>
            <a:off x="6797822" y="4943976"/>
            <a:ext cx="273050" cy="576580"/>
          </a:xfrm>
          <a:custGeom>
            <a:avLst/>
            <a:gdLst/>
            <a:ahLst/>
            <a:cxnLst/>
            <a:rect l="l" t="t" r="r" b="b"/>
            <a:pathLst>
              <a:path w="273050" h="576579">
                <a:moveTo>
                  <a:pt x="202691" y="479199"/>
                </a:moveTo>
                <a:lnTo>
                  <a:pt x="167761" y="494455"/>
                </a:lnTo>
                <a:lnTo>
                  <a:pt x="265938" y="576309"/>
                </a:lnTo>
                <a:lnTo>
                  <a:pt x="270066" y="496644"/>
                </a:lnTo>
                <a:lnTo>
                  <a:pt x="210312" y="496644"/>
                </a:lnTo>
                <a:lnTo>
                  <a:pt x="202691" y="479199"/>
                </a:lnTo>
                <a:close/>
              </a:path>
              <a:path w="273050" h="576579">
                <a:moveTo>
                  <a:pt x="237618" y="463944"/>
                </a:moveTo>
                <a:lnTo>
                  <a:pt x="202691" y="479199"/>
                </a:lnTo>
                <a:lnTo>
                  <a:pt x="210312" y="496644"/>
                </a:lnTo>
                <a:lnTo>
                  <a:pt x="245242" y="481395"/>
                </a:lnTo>
                <a:lnTo>
                  <a:pt x="237618" y="463944"/>
                </a:lnTo>
                <a:close/>
              </a:path>
              <a:path w="273050" h="576579">
                <a:moveTo>
                  <a:pt x="272552" y="448686"/>
                </a:moveTo>
                <a:lnTo>
                  <a:pt x="237618" y="463944"/>
                </a:lnTo>
                <a:lnTo>
                  <a:pt x="245242" y="481395"/>
                </a:lnTo>
                <a:lnTo>
                  <a:pt x="210312" y="496644"/>
                </a:lnTo>
                <a:lnTo>
                  <a:pt x="270066" y="496644"/>
                </a:lnTo>
                <a:lnTo>
                  <a:pt x="272552" y="448686"/>
                </a:lnTo>
                <a:close/>
              </a:path>
              <a:path w="273050" h="576579">
                <a:moveTo>
                  <a:pt x="34930" y="0"/>
                </a:moveTo>
                <a:lnTo>
                  <a:pt x="0" y="15240"/>
                </a:lnTo>
                <a:lnTo>
                  <a:pt x="202691" y="479199"/>
                </a:lnTo>
                <a:lnTo>
                  <a:pt x="237618" y="463944"/>
                </a:lnTo>
                <a:lnTo>
                  <a:pt x="34930" y="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2365" y="5801899"/>
            <a:ext cx="3313408" cy="2833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lang="en-US" sz="1300" spc="5" dirty="0" smtClean="0">
                <a:latin typeface="Arial"/>
                <a:cs typeface="Arial"/>
              </a:rPr>
              <a:t>Distance </a:t>
            </a:r>
            <a:r>
              <a:rPr lang="en-US" sz="1300" dirty="0" smtClean="0">
                <a:latin typeface="Arial"/>
                <a:cs typeface="Arial"/>
              </a:rPr>
              <a:t>from </a:t>
            </a:r>
            <a:r>
              <a:rPr lang="en-US" sz="1300" spc="-15" dirty="0" smtClean="0">
                <a:latin typeface="Arial"/>
                <a:cs typeface="Arial"/>
              </a:rPr>
              <a:t>point </a:t>
            </a:r>
            <a:r>
              <a:rPr lang="en-US" sz="1300" spc="15" dirty="0" smtClean="0">
                <a:latin typeface="Arial"/>
                <a:cs typeface="Arial"/>
              </a:rPr>
              <a:t>1 </a:t>
            </a:r>
            <a:r>
              <a:rPr lang="en-US" sz="1300" dirty="0" smtClean="0">
                <a:latin typeface="Arial"/>
                <a:cs typeface="Arial"/>
              </a:rPr>
              <a:t>to</a:t>
            </a:r>
            <a:r>
              <a:rPr lang="en-US" sz="1300" spc="-200" dirty="0" smtClean="0">
                <a:latin typeface="Arial"/>
                <a:cs typeface="Arial"/>
              </a:rPr>
              <a:t> </a:t>
            </a:r>
            <a:r>
              <a:rPr lang="en-US" sz="1300" spc="-5" dirty="0" smtClean="0">
                <a:latin typeface="Arial"/>
                <a:cs typeface="Arial"/>
              </a:rPr>
              <a:t>the  </a:t>
            </a:r>
            <a:r>
              <a:rPr lang="en-US" sz="1300" spc="-10" dirty="0" smtClean="0">
                <a:solidFill>
                  <a:srgbClr val="5F4778"/>
                </a:solidFill>
                <a:latin typeface="Arial"/>
                <a:cs typeface="Arial"/>
              </a:rPr>
              <a:t>purple</a:t>
            </a:r>
            <a:r>
              <a:rPr lang="en-US" sz="1300" spc="3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sz="1300" spc="5" dirty="0" smtClean="0">
                <a:latin typeface="Arial"/>
                <a:cs typeface="Arial"/>
              </a:rPr>
              <a:t>cluster</a:t>
            </a:r>
            <a:endParaRPr lang="en-US" sz="13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92700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20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4882602" y="1641660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178380" y="3209856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453165" y="3092448"/>
            <a:ext cx="234955" cy="234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5859486" y="2981006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169133" y="2893494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6743719" y="2662037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047201" y="2573204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7378983" y="2439033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7788231" y="2315648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465991" y="2061712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8768627" y="1855332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367559" y="1737344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 txBox="1"/>
          <p:nvPr/>
        </p:nvSpPr>
        <p:spPr>
          <a:xfrm>
            <a:off x="5119085" y="4226109"/>
            <a:ext cx="2076450" cy="57150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 marR="30480">
              <a:lnSpc>
                <a:spcPts val="1430"/>
              </a:lnSpc>
              <a:spcBef>
                <a:spcPts val="155"/>
              </a:spcBef>
            </a:pPr>
            <a:r>
              <a:rPr sz="1200" b="1" spc="-5" dirty="0">
                <a:latin typeface="Arial"/>
                <a:cs typeface="Arial"/>
              </a:rPr>
              <a:t>Step </a:t>
            </a:r>
            <a:r>
              <a:rPr sz="1200" b="1" dirty="0">
                <a:latin typeface="Arial"/>
                <a:cs typeface="Arial"/>
              </a:rPr>
              <a:t>4: </a:t>
            </a:r>
            <a:r>
              <a:rPr sz="1200" spc="5" dirty="0">
                <a:latin typeface="Arial"/>
                <a:cs typeface="Arial"/>
              </a:rPr>
              <a:t>Assign </a:t>
            </a:r>
            <a:r>
              <a:rPr sz="1200" spc="-35" dirty="0">
                <a:latin typeface="Arial"/>
                <a:cs typeface="Arial"/>
              </a:rPr>
              <a:t>the </a:t>
            </a:r>
            <a:r>
              <a:rPr sz="1200" spc="25" dirty="0">
                <a:latin typeface="Arial"/>
                <a:cs typeface="Arial"/>
              </a:rPr>
              <a:t>1</a:t>
            </a:r>
            <a:r>
              <a:rPr sz="1200" spc="37" baseline="24305" dirty="0">
                <a:latin typeface="Arial"/>
                <a:cs typeface="Arial"/>
              </a:rPr>
              <a:t>st </a:t>
            </a:r>
            <a:r>
              <a:rPr sz="1200" spc="-10" dirty="0">
                <a:latin typeface="Arial"/>
                <a:cs typeface="Arial"/>
              </a:rPr>
              <a:t>point </a:t>
            </a:r>
            <a:r>
              <a:rPr sz="1200" spc="-20" dirty="0">
                <a:latin typeface="Arial"/>
                <a:cs typeface="Arial"/>
              </a:rPr>
              <a:t>to  </a:t>
            </a:r>
            <a:r>
              <a:rPr sz="1200" spc="-15" dirty="0">
                <a:latin typeface="Arial"/>
                <a:cs typeface="Arial"/>
              </a:rPr>
              <a:t>nearest </a:t>
            </a:r>
            <a:r>
              <a:rPr sz="1200" spc="-25" dirty="0">
                <a:latin typeface="Arial"/>
                <a:cs typeface="Arial"/>
              </a:rPr>
              <a:t>cluster </a:t>
            </a:r>
            <a:r>
              <a:rPr sz="1200" spc="-10" dirty="0">
                <a:latin typeface="Arial"/>
                <a:cs typeface="Arial"/>
              </a:rPr>
              <a:t>(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red </a:t>
            </a:r>
            <a:r>
              <a:rPr sz="1200" spc="15" dirty="0">
                <a:latin typeface="Arial"/>
                <a:cs typeface="Arial"/>
              </a:rPr>
              <a:t>in </a:t>
            </a:r>
            <a:r>
              <a:rPr sz="1200" spc="-20" dirty="0">
                <a:latin typeface="Arial"/>
                <a:cs typeface="Arial"/>
              </a:rPr>
              <a:t>this  </a:t>
            </a:r>
            <a:r>
              <a:rPr sz="1200" spc="-5" dirty="0">
                <a:latin typeface="Arial"/>
                <a:cs typeface="Arial"/>
              </a:rPr>
              <a:t>case).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2"/>
          <p:cNvSpPr/>
          <p:nvPr/>
        </p:nvSpPr>
        <p:spPr>
          <a:xfrm>
            <a:off x="5340321" y="3373436"/>
            <a:ext cx="725805" cy="812165"/>
          </a:xfrm>
          <a:custGeom>
            <a:avLst/>
            <a:gdLst/>
            <a:ahLst/>
            <a:cxnLst/>
            <a:rect l="l" t="t" r="r" b="b"/>
            <a:pathLst>
              <a:path w="725804" h="812164">
                <a:moveTo>
                  <a:pt x="635284" y="739387"/>
                </a:moveTo>
                <a:lnTo>
                  <a:pt x="606795" y="764715"/>
                </a:lnTo>
                <a:lnTo>
                  <a:pt x="725545" y="812112"/>
                </a:lnTo>
                <a:lnTo>
                  <a:pt x="709766" y="753618"/>
                </a:lnTo>
                <a:lnTo>
                  <a:pt x="647943" y="753618"/>
                </a:lnTo>
                <a:lnTo>
                  <a:pt x="635284" y="739387"/>
                </a:lnTo>
                <a:close/>
              </a:path>
              <a:path w="725804" h="812164">
                <a:moveTo>
                  <a:pt x="663758" y="714070"/>
                </a:moveTo>
                <a:lnTo>
                  <a:pt x="635284" y="739387"/>
                </a:lnTo>
                <a:lnTo>
                  <a:pt x="647943" y="753618"/>
                </a:lnTo>
                <a:lnTo>
                  <a:pt x="676412" y="728292"/>
                </a:lnTo>
                <a:lnTo>
                  <a:pt x="663758" y="714070"/>
                </a:lnTo>
                <a:close/>
              </a:path>
              <a:path w="725804" h="812164">
                <a:moveTo>
                  <a:pt x="692261" y="688729"/>
                </a:moveTo>
                <a:lnTo>
                  <a:pt x="663758" y="714070"/>
                </a:lnTo>
                <a:lnTo>
                  <a:pt x="676412" y="728292"/>
                </a:lnTo>
                <a:lnTo>
                  <a:pt x="647943" y="753618"/>
                </a:lnTo>
                <a:lnTo>
                  <a:pt x="709766" y="753618"/>
                </a:lnTo>
                <a:lnTo>
                  <a:pt x="692261" y="688729"/>
                </a:lnTo>
                <a:close/>
              </a:path>
              <a:path w="725804" h="812164">
                <a:moveTo>
                  <a:pt x="28437" y="0"/>
                </a:moveTo>
                <a:lnTo>
                  <a:pt x="0" y="25264"/>
                </a:lnTo>
                <a:lnTo>
                  <a:pt x="635284" y="739387"/>
                </a:lnTo>
                <a:lnTo>
                  <a:pt x="663758" y="714070"/>
                </a:lnTo>
                <a:lnTo>
                  <a:pt x="2843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955223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21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8" name="object 9"/>
          <p:cNvSpPr/>
          <p:nvPr/>
        </p:nvSpPr>
        <p:spPr>
          <a:xfrm>
            <a:off x="5131983" y="1800052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0"/>
          <p:cNvSpPr/>
          <p:nvPr/>
        </p:nvSpPr>
        <p:spPr>
          <a:xfrm>
            <a:off x="5427761" y="3368248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1"/>
          <p:cNvSpPr/>
          <p:nvPr/>
        </p:nvSpPr>
        <p:spPr>
          <a:xfrm>
            <a:off x="5702546" y="3250840"/>
            <a:ext cx="234955" cy="2349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12"/>
          <p:cNvSpPr/>
          <p:nvPr/>
        </p:nvSpPr>
        <p:spPr>
          <a:xfrm>
            <a:off x="6108867" y="3139398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3"/>
          <p:cNvSpPr/>
          <p:nvPr/>
        </p:nvSpPr>
        <p:spPr>
          <a:xfrm>
            <a:off x="6418514" y="3051886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4"/>
          <p:cNvSpPr/>
          <p:nvPr/>
        </p:nvSpPr>
        <p:spPr>
          <a:xfrm>
            <a:off x="6993100" y="2820429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5"/>
          <p:cNvSpPr/>
          <p:nvPr/>
        </p:nvSpPr>
        <p:spPr>
          <a:xfrm>
            <a:off x="7296582" y="2731596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6"/>
          <p:cNvSpPr/>
          <p:nvPr/>
        </p:nvSpPr>
        <p:spPr>
          <a:xfrm>
            <a:off x="7628364" y="2597425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7"/>
          <p:cNvSpPr/>
          <p:nvPr/>
        </p:nvSpPr>
        <p:spPr>
          <a:xfrm>
            <a:off x="8037612" y="2474040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8"/>
          <p:cNvSpPr/>
          <p:nvPr/>
        </p:nvSpPr>
        <p:spPr>
          <a:xfrm>
            <a:off x="8715372" y="2220104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9"/>
          <p:cNvSpPr/>
          <p:nvPr/>
        </p:nvSpPr>
        <p:spPr>
          <a:xfrm>
            <a:off x="9018008" y="2013724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20"/>
          <p:cNvSpPr/>
          <p:nvPr/>
        </p:nvSpPr>
        <p:spPr>
          <a:xfrm>
            <a:off x="9616940" y="1895736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21"/>
          <p:cNvSpPr/>
          <p:nvPr/>
        </p:nvSpPr>
        <p:spPr>
          <a:xfrm>
            <a:off x="5912668" y="2901142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3809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22"/>
          <p:cNvSpPr txBox="1"/>
          <p:nvPr/>
        </p:nvSpPr>
        <p:spPr>
          <a:xfrm>
            <a:off x="6044106" y="4137799"/>
            <a:ext cx="1885314" cy="5715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55575" marR="5080" indent="-142875">
              <a:lnSpc>
                <a:spcPct val="99200"/>
              </a:lnSpc>
              <a:spcBef>
                <a:spcPts val="110"/>
              </a:spcBef>
            </a:pPr>
            <a:r>
              <a:rPr sz="1200" b="1" dirty="0">
                <a:latin typeface="Arial"/>
                <a:cs typeface="Arial"/>
              </a:rPr>
              <a:t>Step 5: </a:t>
            </a:r>
            <a:r>
              <a:rPr sz="1200" spc="-20" dirty="0">
                <a:latin typeface="Arial"/>
                <a:cs typeface="Arial"/>
              </a:rPr>
              <a:t>Calculate </a:t>
            </a:r>
            <a:r>
              <a:rPr sz="1200" spc="-35" dirty="0">
                <a:latin typeface="Arial"/>
                <a:cs typeface="Arial"/>
              </a:rPr>
              <a:t>the </a:t>
            </a:r>
            <a:r>
              <a:rPr sz="1200" spc="-5" dirty="0">
                <a:latin typeface="Arial"/>
                <a:cs typeface="Arial"/>
              </a:rPr>
              <a:t>mean  </a:t>
            </a:r>
            <a:r>
              <a:rPr sz="1200" spc="-40" dirty="0">
                <a:latin typeface="Arial"/>
                <a:cs typeface="Arial"/>
              </a:rPr>
              <a:t>value </a:t>
            </a:r>
            <a:r>
              <a:rPr sz="1200" spc="-20" dirty="0">
                <a:latin typeface="Arial"/>
                <a:cs typeface="Arial"/>
              </a:rPr>
              <a:t>including </a:t>
            </a:r>
            <a:r>
              <a:rPr sz="1200" spc="-35" dirty="0">
                <a:latin typeface="Arial"/>
                <a:cs typeface="Arial"/>
              </a:rPr>
              <a:t>the </a:t>
            </a:r>
            <a:r>
              <a:rPr sz="1200" spc="-20" dirty="0">
                <a:latin typeface="Arial"/>
                <a:cs typeface="Arial"/>
              </a:rPr>
              <a:t>new  </a:t>
            </a:r>
            <a:r>
              <a:rPr sz="1200" spc="-5" dirty="0">
                <a:latin typeface="Arial"/>
                <a:cs typeface="Arial"/>
              </a:rPr>
              <a:t>point </a:t>
            </a:r>
            <a:r>
              <a:rPr sz="1200" spc="-10" dirty="0">
                <a:latin typeface="Arial"/>
                <a:cs typeface="Arial"/>
              </a:rPr>
              <a:t>for </a:t>
            </a:r>
            <a:r>
              <a:rPr sz="1200" spc="-35" dirty="0">
                <a:latin typeface="Arial"/>
                <a:cs typeface="Arial"/>
              </a:rPr>
              <a:t>the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1200" spc="-18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cluster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42" name="object 23"/>
          <p:cNvSpPr/>
          <p:nvPr/>
        </p:nvSpPr>
        <p:spPr>
          <a:xfrm>
            <a:off x="6120816" y="3663141"/>
            <a:ext cx="564515" cy="434340"/>
          </a:xfrm>
          <a:custGeom>
            <a:avLst/>
            <a:gdLst/>
            <a:ahLst/>
            <a:cxnLst/>
            <a:rect l="l" t="t" r="r" b="b"/>
            <a:pathLst>
              <a:path w="564514" h="434339">
                <a:moveTo>
                  <a:pt x="461475" y="380432"/>
                </a:moveTo>
                <a:lnTo>
                  <a:pt x="438393" y="410849"/>
                </a:lnTo>
                <a:lnTo>
                  <a:pt x="564001" y="434340"/>
                </a:lnTo>
                <a:lnTo>
                  <a:pt x="543074" y="391917"/>
                </a:lnTo>
                <a:lnTo>
                  <a:pt x="476615" y="391917"/>
                </a:lnTo>
                <a:lnTo>
                  <a:pt x="461475" y="380432"/>
                </a:lnTo>
                <a:close/>
              </a:path>
              <a:path w="564514" h="434339">
                <a:moveTo>
                  <a:pt x="484499" y="350089"/>
                </a:moveTo>
                <a:lnTo>
                  <a:pt x="461475" y="380432"/>
                </a:lnTo>
                <a:lnTo>
                  <a:pt x="476615" y="391917"/>
                </a:lnTo>
                <a:lnTo>
                  <a:pt x="499628" y="361569"/>
                </a:lnTo>
                <a:lnTo>
                  <a:pt x="484499" y="350089"/>
                </a:lnTo>
                <a:close/>
              </a:path>
              <a:path w="564514" h="434339">
                <a:moveTo>
                  <a:pt x="507492" y="319790"/>
                </a:moveTo>
                <a:lnTo>
                  <a:pt x="484499" y="350089"/>
                </a:lnTo>
                <a:lnTo>
                  <a:pt x="499628" y="361569"/>
                </a:lnTo>
                <a:lnTo>
                  <a:pt x="476615" y="391917"/>
                </a:lnTo>
                <a:lnTo>
                  <a:pt x="543074" y="391917"/>
                </a:lnTo>
                <a:lnTo>
                  <a:pt x="507492" y="319790"/>
                </a:lnTo>
                <a:close/>
              </a:path>
              <a:path w="564514" h="434339">
                <a:moveTo>
                  <a:pt x="23103" y="0"/>
                </a:moveTo>
                <a:lnTo>
                  <a:pt x="0" y="30348"/>
                </a:lnTo>
                <a:lnTo>
                  <a:pt x="461475" y="380432"/>
                </a:lnTo>
                <a:lnTo>
                  <a:pt x="484499" y="350089"/>
                </a:lnTo>
                <a:lnTo>
                  <a:pt x="231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0641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22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5104275" y="2093663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/>
        </p:nvSpPr>
        <p:spPr>
          <a:xfrm>
            <a:off x="5400053" y="3661859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/>
        </p:nvSpPr>
        <p:spPr>
          <a:xfrm>
            <a:off x="6081159" y="3433009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6390806" y="3345497"/>
            <a:ext cx="206349" cy="2063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6965392" y="3114040"/>
            <a:ext cx="234955" cy="23495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7268874" y="3025207"/>
            <a:ext cx="206258" cy="2063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7600656" y="2891036"/>
            <a:ext cx="234955" cy="23494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8009904" y="2767651"/>
            <a:ext cx="206258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8687664" y="2513715"/>
            <a:ext cx="234924" cy="23482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8990300" y="2307335"/>
            <a:ext cx="476509" cy="32334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9589232" y="2189347"/>
            <a:ext cx="234955" cy="23495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6020840" y="4078803"/>
            <a:ext cx="245110" cy="671195"/>
          </a:xfrm>
          <a:custGeom>
            <a:avLst/>
            <a:gdLst/>
            <a:ahLst/>
            <a:cxnLst/>
            <a:rect l="l" t="t" r="r" b="b"/>
            <a:pathLst>
              <a:path w="245110" h="671195">
                <a:moveTo>
                  <a:pt x="172156" y="567099"/>
                </a:moveTo>
                <a:lnTo>
                  <a:pt x="135757" y="578370"/>
                </a:lnTo>
                <a:lnTo>
                  <a:pt x="224149" y="670630"/>
                </a:lnTo>
                <a:lnTo>
                  <a:pt x="238261" y="585286"/>
                </a:lnTo>
                <a:lnTo>
                  <a:pt x="177789" y="585286"/>
                </a:lnTo>
                <a:lnTo>
                  <a:pt x="172156" y="567099"/>
                </a:lnTo>
                <a:close/>
              </a:path>
              <a:path w="245110" h="671195">
                <a:moveTo>
                  <a:pt x="208603" y="555813"/>
                </a:moveTo>
                <a:lnTo>
                  <a:pt x="172156" y="567099"/>
                </a:lnTo>
                <a:lnTo>
                  <a:pt x="177789" y="585286"/>
                </a:lnTo>
                <a:lnTo>
                  <a:pt x="214243" y="574011"/>
                </a:lnTo>
                <a:lnTo>
                  <a:pt x="208603" y="555813"/>
                </a:lnTo>
                <a:close/>
              </a:path>
              <a:path w="245110" h="671195">
                <a:moveTo>
                  <a:pt x="244998" y="544543"/>
                </a:moveTo>
                <a:lnTo>
                  <a:pt x="208603" y="555813"/>
                </a:lnTo>
                <a:lnTo>
                  <a:pt x="214243" y="574011"/>
                </a:lnTo>
                <a:lnTo>
                  <a:pt x="177789" y="585286"/>
                </a:lnTo>
                <a:lnTo>
                  <a:pt x="238261" y="585286"/>
                </a:lnTo>
                <a:lnTo>
                  <a:pt x="244998" y="544543"/>
                </a:lnTo>
                <a:close/>
              </a:path>
              <a:path w="245110" h="671195">
                <a:moveTo>
                  <a:pt x="36332" y="0"/>
                </a:moveTo>
                <a:lnTo>
                  <a:pt x="0" y="11298"/>
                </a:lnTo>
                <a:lnTo>
                  <a:pt x="172156" y="567099"/>
                </a:lnTo>
                <a:lnTo>
                  <a:pt x="208603" y="555813"/>
                </a:lnTo>
                <a:lnTo>
                  <a:pt x="363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 txBox="1"/>
          <p:nvPr/>
        </p:nvSpPr>
        <p:spPr>
          <a:xfrm>
            <a:off x="6873014" y="5127061"/>
            <a:ext cx="1861185" cy="390525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 marR="30480">
              <a:lnSpc>
                <a:spcPts val="1430"/>
              </a:lnSpc>
              <a:spcBef>
                <a:spcPts val="155"/>
              </a:spcBef>
            </a:pPr>
            <a:r>
              <a:rPr sz="1200" spc="-5" dirty="0">
                <a:latin typeface="Arial"/>
                <a:cs typeface="Arial"/>
              </a:rPr>
              <a:t>Distance </a:t>
            </a:r>
            <a:r>
              <a:rPr sz="1200" dirty="0">
                <a:latin typeface="Arial"/>
                <a:cs typeface="Arial"/>
              </a:rPr>
              <a:t>of 2</a:t>
            </a:r>
            <a:r>
              <a:rPr sz="1200" baseline="27777" dirty="0">
                <a:latin typeface="Arial"/>
                <a:cs typeface="Arial"/>
              </a:rPr>
              <a:t>nd </a:t>
            </a:r>
            <a:r>
              <a:rPr sz="1200" spc="-5" dirty="0">
                <a:latin typeface="Arial"/>
                <a:cs typeface="Arial"/>
              </a:rPr>
              <a:t>point </a:t>
            </a:r>
            <a:r>
              <a:rPr sz="1200" spc="-20" dirty="0">
                <a:latin typeface="Arial"/>
                <a:cs typeface="Arial"/>
              </a:rPr>
              <a:t>to </a:t>
            </a:r>
            <a:r>
              <a:rPr sz="1200" spc="-35" dirty="0">
                <a:latin typeface="Arial"/>
                <a:cs typeface="Arial"/>
              </a:rPr>
              <a:t>the  </a:t>
            </a:r>
            <a:r>
              <a:rPr sz="1200" spc="-20" dirty="0">
                <a:solidFill>
                  <a:srgbClr val="5F4778"/>
                </a:solidFill>
                <a:latin typeface="Arial"/>
                <a:cs typeface="Arial"/>
              </a:rPr>
              <a:t>purple</a:t>
            </a:r>
            <a:r>
              <a:rPr sz="1200" spc="11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cluster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6" name="object 21"/>
          <p:cNvSpPr/>
          <p:nvPr/>
        </p:nvSpPr>
        <p:spPr>
          <a:xfrm>
            <a:off x="6788052" y="4078041"/>
            <a:ext cx="303530" cy="764540"/>
          </a:xfrm>
          <a:custGeom>
            <a:avLst/>
            <a:gdLst/>
            <a:ahLst/>
            <a:cxnLst/>
            <a:rect l="l" t="t" r="r" b="b"/>
            <a:pathLst>
              <a:path w="303529" h="764539">
                <a:moveTo>
                  <a:pt x="231857" y="662831"/>
                </a:moveTo>
                <a:lnTo>
                  <a:pt x="195955" y="675644"/>
                </a:lnTo>
                <a:lnTo>
                  <a:pt x="288157" y="764106"/>
                </a:lnTo>
                <a:lnTo>
                  <a:pt x="298248" y="680786"/>
                </a:lnTo>
                <a:lnTo>
                  <a:pt x="238262" y="680786"/>
                </a:lnTo>
                <a:lnTo>
                  <a:pt x="231857" y="662831"/>
                </a:lnTo>
                <a:close/>
              </a:path>
              <a:path w="303529" h="764539">
                <a:moveTo>
                  <a:pt x="267677" y="650048"/>
                </a:moveTo>
                <a:lnTo>
                  <a:pt x="231857" y="662831"/>
                </a:lnTo>
                <a:lnTo>
                  <a:pt x="238262" y="680786"/>
                </a:lnTo>
                <a:lnTo>
                  <a:pt x="274076" y="667987"/>
                </a:lnTo>
                <a:lnTo>
                  <a:pt x="267677" y="650048"/>
                </a:lnTo>
                <a:close/>
              </a:path>
              <a:path w="303529" h="764539">
                <a:moveTo>
                  <a:pt x="303519" y="637257"/>
                </a:moveTo>
                <a:lnTo>
                  <a:pt x="267677" y="650048"/>
                </a:lnTo>
                <a:lnTo>
                  <a:pt x="274076" y="667987"/>
                </a:lnTo>
                <a:lnTo>
                  <a:pt x="238262" y="680786"/>
                </a:lnTo>
                <a:lnTo>
                  <a:pt x="298248" y="680786"/>
                </a:lnTo>
                <a:lnTo>
                  <a:pt x="303519" y="637257"/>
                </a:lnTo>
                <a:close/>
              </a:path>
              <a:path w="303529" h="764539">
                <a:moveTo>
                  <a:pt x="35814" y="0"/>
                </a:moveTo>
                <a:lnTo>
                  <a:pt x="0" y="12822"/>
                </a:lnTo>
                <a:lnTo>
                  <a:pt x="231857" y="662831"/>
                </a:lnTo>
                <a:lnTo>
                  <a:pt x="267677" y="650048"/>
                </a:lnTo>
                <a:lnTo>
                  <a:pt x="358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 txBox="1"/>
          <p:nvPr/>
        </p:nvSpPr>
        <p:spPr>
          <a:xfrm>
            <a:off x="7646191" y="4431414"/>
            <a:ext cx="2192020" cy="389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435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Distance </a:t>
            </a:r>
            <a:r>
              <a:rPr sz="1200" dirty="0">
                <a:latin typeface="Arial"/>
                <a:cs typeface="Arial"/>
              </a:rPr>
              <a:t>of </a:t>
            </a:r>
            <a:r>
              <a:rPr sz="1200" spc="10" dirty="0">
                <a:latin typeface="Arial"/>
                <a:cs typeface="Arial"/>
              </a:rPr>
              <a:t>2</a:t>
            </a:r>
            <a:r>
              <a:rPr sz="1200" spc="15" baseline="24305" dirty="0">
                <a:latin typeface="Arial"/>
                <a:cs typeface="Arial"/>
              </a:rPr>
              <a:t>nd </a:t>
            </a:r>
            <a:r>
              <a:rPr sz="1200" spc="-10" dirty="0">
                <a:latin typeface="Arial"/>
                <a:cs typeface="Arial"/>
              </a:rPr>
              <a:t>point </a:t>
            </a:r>
            <a:r>
              <a:rPr sz="1200" spc="-20" dirty="0">
                <a:latin typeface="Arial"/>
                <a:cs typeface="Arial"/>
              </a:rPr>
              <a:t>to </a:t>
            </a:r>
            <a:r>
              <a:rPr sz="1200" spc="-35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1B577B"/>
                </a:solidFill>
                <a:latin typeface="Arial"/>
                <a:cs typeface="Arial"/>
              </a:rPr>
              <a:t>blue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ts val="1435"/>
              </a:lnSpc>
            </a:pPr>
            <a:r>
              <a:rPr sz="1200" spc="-25" dirty="0">
                <a:latin typeface="Arial"/>
                <a:cs typeface="Arial"/>
              </a:rPr>
              <a:t>cluster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3"/>
          <p:cNvSpPr/>
          <p:nvPr/>
        </p:nvSpPr>
        <p:spPr>
          <a:xfrm>
            <a:off x="7277378" y="4240085"/>
            <a:ext cx="224154" cy="525780"/>
          </a:xfrm>
          <a:custGeom>
            <a:avLst/>
            <a:gdLst/>
            <a:ahLst/>
            <a:cxnLst/>
            <a:rect l="l" t="t" r="r" b="b"/>
            <a:pathLst>
              <a:path w="224154" h="525779">
                <a:moveTo>
                  <a:pt x="152525" y="425209"/>
                </a:moveTo>
                <a:lnTo>
                  <a:pt x="116829" y="438424"/>
                </a:lnTo>
                <a:lnTo>
                  <a:pt x="210068" y="525767"/>
                </a:lnTo>
                <a:lnTo>
                  <a:pt x="219156" y="443066"/>
                </a:lnTo>
                <a:lnTo>
                  <a:pt x="159136" y="443066"/>
                </a:lnTo>
                <a:lnTo>
                  <a:pt x="152525" y="425209"/>
                </a:lnTo>
                <a:close/>
              </a:path>
              <a:path w="224154" h="525779">
                <a:moveTo>
                  <a:pt x="188329" y="411955"/>
                </a:moveTo>
                <a:lnTo>
                  <a:pt x="152525" y="425209"/>
                </a:lnTo>
                <a:lnTo>
                  <a:pt x="159136" y="443066"/>
                </a:lnTo>
                <a:lnTo>
                  <a:pt x="194950" y="429838"/>
                </a:lnTo>
                <a:lnTo>
                  <a:pt x="188329" y="411955"/>
                </a:lnTo>
                <a:close/>
              </a:path>
              <a:path w="224154" h="525779">
                <a:moveTo>
                  <a:pt x="224028" y="398739"/>
                </a:moveTo>
                <a:lnTo>
                  <a:pt x="188329" y="411955"/>
                </a:lnTo>
                <a:lnTo>
                  <a:pt x="194950" y="429838"/>
                </a:lnTo>
                <a:lnTo>
                  <a:pt x="159136" y="443066"/>
                </a:lnTo>
                <a:lnTo>
                  <a:pt x="219156" y="443066"/>
                </a:lnTo>
                <a:lnTo>
                  <a:pt x="224028" y="398739"/>
                </a:lnTo>
                <a:close/>
              </a:path>
              <a:path w="224154" h="525779">
                <a:moveTo>
                  <a:pt x="35814" y="0"/>
                </a:moveTo>
                <a:lnTo>
                  <a:pt x="0" y="13216"/>
                </a:lnTo>
                <a:lnTo>
                  <a:pt x="152525" y="425209"/>
                </a:lnTo>
                <a:lnTo>
                  <a:pt x="188329" y="411955"/>
                </a:lnTo>
                <a:lnTo>
                  <a:pt x="3581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4"/>
          <p:cNvSpPr/>
          <p:nvPr/>
        </p:nvSpPr>
        <p:spPr>
          <a:xfrm>
            <a:off x="5884960" y="3194753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38099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5"/>
          <p:cNvSpPr/>
          <p:nvPr/>
        </p:nvSpPr>
        <p:spPr>
          <a:xfrm>
            <a:off x="5935252" y="3998413"/>
            <a:ext cx="207507" cy="9536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/>
          <p:cNvSpPr/>
          <p:nvPr/>
        </p:nvSpPr>
        <p:spPr>
          <a:xfrm>
            <a:off x="6017030" y="3806126"/>
            <a:ext cx="1569720" cy="617855"/>
          </a:xfrm>
          <a:custGeom>
            <a:avLst/>
            <a:gdLst/>
            <a:ahLst/>
            <a:cxnLst/>
            <a:rect l="l" t="t" r="r" b="b"/>
            <a:pathLst>
              <a:path w="1569720" h="617854">
                <a:moveTo>
                  <a:pt x="86868" y="510421"/>
                </a:moveTo>
                <a:lnTo>
                  <a:pt x="0" y="604266"/>
                </a:lnTo>
                <a:lnTo>
                  <a:pt x="127132" y="617412"/>
                </a:lnTo>
                <a:lnTo>
                  <a:pt x="116261" y="588526"/>
                </a:lnTo>
                <a:lnTo>
                  <a:pt x="95890" y="588526"/>
                </a:lnTo>
                <a:lnTo>
                  <a:pt x="82417" y="552831"/>
                </a:lnTo>
                <a:lnTo>
                  <a:pt x="100295" y="546102"/>
                </a:lnTo>
                <a:lnTo>
                  <a:pt x="86868" y="510421"/>
                </a:lnTo>
                <a:close/>
              </a:path>
              <a:path w="1569720" h="617854">
                <a:moveTo>
                  <a:pt x="100295" y="546102"/>
                </a:moveTo>
                <a:lnTo>
                  <a:pt x="82417" y="552831"/>
                </a:lnTo>
                <a:lnTo>
                  <a:pt x="95890" y="588526"/>
                </a:lnTo>
                <a:lnTo>
                  <a:pt x="113726" y="581789"/>
                </a:lnTo>
                <a:lnTo>
                  <a:pt x="100295" y="546102"/>
                </a:lnTo>
                <a:close/>
              </a:path>
              <a:path w="1569720" h="617854">
                <a:moveTo>
                  <a:pt x="113726" y="581789"/>
                </a:moveTo>
                <a:lnTo>
                  <a:pt x="95890" y="588526"/>
                </a:lnTo>
                <a:lnTo>
                  <a:pt x="116261" y="588526"/>
                </a:lnTo>
                <a:lnTo>
                  <a:pt x="113726" y="581789"/>
                </a:lnTo>
                <a:close/>
              </a:path>
              <a:path w="1569720" h="617854">
                <a:moveTo>
                  <a:pt x="189372" y="512576"/>
                </a:moveTo>
                <a:lnTo>
                  <a:pt x="100295" y="546102"/>
                </a:lnTo>
                <a:lnTo>
                  <a:pt x="113726" y="581789"/>
                </a:lnTo>
                <a:lnTo>
                  <a:pt x="202813" y="548140"/>
                </a:lnTo>
                <a:lnTo>
                  <a:pt x="189372" y="512576"/>
                </a:lnTo>
                <a:close/>
              </a:path>
              <a:path w="1569720" h="617854">
                <a:moveTo>
                  <a:pt x="331988" y="458855"/>
                </a:moveTo>
                <a:lnTo>
                  <a:pt x="225033" y="499110"/>
                </a:lnTo>
                <a:lnTo>
                  <a:pt x="238506" y="534805"/>
                </a:lnTo>
                <a:lnTo>
                  <a:pt x="345429" y="494419"/>
                </a:lnTo>
                <a:lnTo>
                  <a:pt x="331988" y="458855"/>
                </a:lnTo>
                <a:close/>
              </a:path>
              <a:path w="1569720" h="617854">
                <a:moveTo>
                  <a:pt x="474604" y="405134"/>
                </a:moveTo>
                <a:lnTo>
                  <a:pt x="367680" y="445389"/>
                </a:lnTo>
                <a:lnTo>
                  <a:pt x="381121" y="481084"/>
                </a:lnTo>
                <a:lnTo>
                  <a:pt x="488076" y="440698"/>
                </a:lnTo>
                <a:lnTo>
                  <a:pt x="474604" y="405134"/>
                </a:lnTo>
                <a:close/>
              </a:path>
              <a:path w="1569720" h="617854">
                <a:moveTo>
                  <a:pt x="617220" y="351413"/>
                </a:moveTo>
                <a:lnTo>
                  <a:pt x="510296" y="391668"/>
                </a:lnTo>
                <a:lnTo>
                  <a:pt x="523737" y="427363"/>
                </a:lnTo>
                <a:lnTo>
                  <a:pt x="630692" y="387096"/>
                </a:lnTo>
                <a:lnTo>
                  <a:pt x="617220" y="351413"/>
                </a:lnTo>
                <a:close/>
              </a:path>
              <a:path w="1569720" h="617854">
                <a:moveTo>
                  <a:pt x="759835" y="297692"/>
                </a:moveTo>
                <a:lnTo>
                  <a:pt x="652912" y="337947"/>
                </a:lnTo>
                <a:lnTo>
                  <a:pt x="666384" y="373642"/>
                </a:lnTo>
                <a:lnTo>
                  <a:pt x="773308" y="333375"/>
                </a:lnTo>
                <a:lnTo>
                  <a:pt x="759835" y="297692"/>
                </a:lnTo>
                <a:close/>
              </a:path>
              <a:path w="1569720" h="617854">
                <a:moveTo>
                  <a:pt x="902451" y="243971"/>
                </a:moveTo>
                <a:lnTo>
                  <a:pt x="795528" y="284226"/>
                </a:lnTo>
                <a:lnTo>
                  <a:pt x="809000" y="319921"/>
                </a:lnTo>
                <a:lnTo>
                  <a:pt x="915924" y="279654"/>
                </a:lnTo>
                <a:lnTo>
                  <a:pt x="902451" y="243971"/>
                </a:lnTo>
                <a:close/>
              </a:path>
              <a:path w="1569720" h="617854">
                <a:moveTo>
                  <a:pt x="1045098" y="190250"/>
                </a:moveTo>
                <a:lnTo>
                  <a:pt x="938143" y="230505"/>
                </a:lnTo>
                <a:lnTo>
                  <a:pt x="951616" y="266200"/>
                </a:lnTo>
                <a:lnTo>
                  <a:pt x="1058539" y="225933"/>
                </a:lnTo>
                <a:lnTo>
                  <a:pt x="1045098" y="190250"/>
                </a:lnTo>
                <a:close/>
              </a:path>
              <a:path w="1569720" h="617854">
                <a:moveTo>
                  <a:pt x="1187714" y="136529"/>
                </a:moveTo>
                <a:lnTo>
                  <a:pt x="1080759" y="176784"/>
                </a:lnTo>
                <a:lnTo>
                  <a:pt x="1094232" y="212479"/>
                </a:lnTo>
                <a:lnTo>
                  <a:pt x="1201155" y="172212"/>
                </a:lnTo>
                <a:lnTo>
                  <a:pt x="1187714" y="136529"/>
                </a:lnTo>
                <a:close/>
              </a:path>
              <a:path w="1569720" h="617854">
                <a:moveTo>
                  <a:pt x="1330330" y="82808"/>
                </a:moveTo>
                <a:lnTo>
                  <a:pt x="1223406" y="123063"/>
                </a:lnTo>
                <a:lnTo>
                  <a:pt x="1236847" y="158758"/>
                </a:lnTo>
                <a:lnTo>
                  <a:pt x="1343802" y="118491"/>
                </a:lnTo>
                <a:lnTo>
                  <a:pt x="1330330" y="82808"/>
                </a:lnTo>
                <a:close/>
              </a:path>
              <a:path w="1569720" h="617854">
                <a:moveTo>
                  <a:pt x="1554492" y="29087"/>
                </a:moveTo>
                <a:lnTo>
                  <a:pt x="1472946" y="29087"/>
                </a:lnTo>
                <a:lnTo>
                  <a:pt x="1486418" y="64770"/>
                </a:lnTo>
                <a:lnTo>
                  <a:pt x="1468943" y="71349"/>
                </a:lnTo>
                <a:lnTo>
                  <a:pt x="1482333" y="106942"/>
                </a:lnTo>
                <a:lnTo>
                  <a:pt x="1554492" y="29087"/>
                </a:lnTo>
                <a:close/>
              </a:path>
              <a:path w="1569720" h="617854">
                <a:moveTo>
                  <a:pt x="1455512" y="35650"/>
                </a:moveTo>
                <a:lnTo>
                  <a:pt x="1366022" y="69342"/>
                </a:lnTo>
                <a:lnTo>
                  <a:pt x="1379463" y="105037"/>
                </a:lnTo>
                <a:lnTo>
                  <a:pt x="1468943" y="71349"/>
                </a:lnTo>
                <a:lnTo>
                  <a:pt x="1455512" y="35650"/>
                </a:lnTo>
                <a:close/>
              </a:path>
              <a:path w="1569720" h="617854">
                <a:moveTo>
                  <a:pt x="1472946" y="29087"/>
                </a:moveTo>
                <a:lnTo>
                  <a:pt x="1455512" y="35650"/>
                </a:lnTo>
                <a:lnTo>
                  <a:pt x="1468943" y="71349"/>
                </a:lnTo>
                <a:lnTo>
                  <a:pt x="1486418" y="64770"/>
                </a:lnTo>
                <a:lnTo>
                  <a:pt x="1472946" y="29087"/>
                </a:lnTo>
                <a:close/>
              </a:path>
              <a:path w="1569720" h="617854">
                <a:moveTo>
                  <a:pt x="1442100" y="0"/>
                </a:moveTo>
                <a:lnTo>
                  <a:pt x="1455512" y="35650"/>
                </a:lnTo>
                <a:lnTo>
                  <a:pt x="1472946" y="29087"/>
                </a:lnTo>
                <a:lnTo>
                  <a:pt x="1554492" y="29087"/>
                </a:lnTo>
                <a:lnTo>
                  <a:pt x="1569201" y="13216"/>
                </a:lnTo>
                <a:lnTo>
                  <a:pt x="1442100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7"/>
          <p:cNvSpPr/>
          <p:nvPr/>
        </p:nvSpPr>
        <p:spPr>
          <a:xfrm>
            <a:off x="6084329" y="3796483"/>
            <a:ext cx="2305050" cy="883285"/>
          </a:xfrm>
          <a:custGeom>
            <a:avLst/>
            <a:gdLst/>
            <a:ahLst/>
            <a:cxnLst/>
            <a:rect l="l" t="t" r="r" b="b"/>
            <a:pathLst>
              <a:path w="2305050" h="883285">
                <a:moveTo>
                  <a:pt x="87264" y="775978"/>
                </a:moveTo>
                <a:lnTo>
                  <a:pt x="0" y="869335"/>
                </a:lnTo>
                <a:lnTo>
                  <a:pt x="127010" y="883145"/>
                </a:lnTo>
                <a:lnTo>
                  <a:pt x="116217" y="854046"/>
                </a:lnTo>
                <a:lnTo>
                  <a:pt x="95890" y="854046"/>
                </a:lnTo>
                <a:lnTo>
                  <a:pt x="82692" y="818327"/>
                </a:lnTo>
                <a:lnTo>
                  <a:pt x="100518" y="811714"/>
                </a:lnTo>
                <a:lnTo>
                  <a:pt x="87264" y="775978"/>
                </a:lnTo>
                <a:close/>
              </a:path>
              <a:path w="2305050" h="883285">
                <a:moveTo>
                  <a:pt x="100518" y="811714"/>
                </a:moveTo>
                <a:lnTo>
                  <a:pt x="82692" y="818327"/>
                </a:lnTo>
                <a:lnTo>
                  <a:pt x="95890" y="854046"/>
                </a:lnTo>
                <a:lnTo>
                  <a:pt x="113759" y="847417"/>
                </a:lnTo>
                <a:lnTo>
                  <a:pt x="100518" y="811714"/>
                </a:lnTo>
                <a:close/>
              </a:path>
              <a:path w="2305050" h="883285">
                <a:moveTo>
                  <a:pt x="113759" y="847417"/>
                </a:moveTo>
                <a:lnTo>
                  <a:pt x="95890" y="854046"/>
                </a:lnTo>
                <a:lnTo>
                  <a:pt x="116217" y="854046"/>
                </a:lnTo>
                <a:lnTo>
                  <a:pt x="113759" y="847417"/>
                </a:lnTo>
                <a:close/>
              </a:path>
              <a:path w="2305050" h="883285">
                <a:moveTo>
                  <a:pt x="189890" y="778562"/>
                </a:moveTo>
                <a:lnTo>
                  <a:pt x="100518" y="811714"/>
                </a:lnTo>
                <a:lnTo>
                  <a:pt x="113759" y="847417"/>
                </a:lnTo>
                <a:lnTo>
                  <a:pt x="203088" y="814279"/>
                </a:lnTo>
                <a:lnTo>
                  <a:pt x="189890" y="778562"/>
                </a:lnTo>
                <a:close/>
              </a:path>
              <a:path w="2305050" h="883285">
                <a:moveTo>
                  <a:pt x="332750" y="725518"/>
                </a:moveTo>
                <a:lnTo>
                  <a:pt x="225552" y="765297"/>
                </a:lnTo>
                <a:lnTo>
                  <a:pt x="238780" y="801029"/>
                </a:lnTo>
                <a:lnTo>
                  <a:pt x="345948" y="761250"/>
                </a:lnTo>
                <a:lnTo>
                  <a:pt x="332750" y="725518"/>
                </a:lnTo>
                <a:close/>
              </a:path>
              <a:path w="2305050" h="883285">
                <a:moveTo>
                  <a:pt x="475640" y="672489"/>
                </a:moveTo>
                <a:lnTo>
                  <a:pt x="368442" y="712268"/>
                </a:lnTo>
                <a:lnTo>
                  <a:pt x="381640" y="747985"/>
                </a:lnTo>
                <a:lnTo>
                  <a:pt x="488838" y="708208"/>
                </a:lnTo>
                <a:lnTo>
                  <a:pt x="475640" y="672489"/>
                </a:lnTo>
                <a:close/>
              </a:path>
              <a:path w="2305050" h="883285">
                <a:moveTo>
                  <a:pt x="618500" y="619506"/>
                </a:moveTo>
                <a:lnTo>
                  <a:pt x="511302" y="659224"/>
                </a:lnTo>
                <a:lnTo>
                  <a:pt x="524530" y="694956"/>
                </a:lnTo>
                <a:lnTo>
                  <a:pt x="631698" y="655176"/>
                </a:lnTo>
                <a:lnTo>
                  <a:pt x="618500" y="619506"/>
                </a:lnTo>
                <a:close/>
              </a:path>
              <a:path w="2305050" h="883285">
                <a:moveTo>
                  <a:pt x="761390" y="566415"/>
                </a:moveTo>
                <a:lnTo>
                  <a:pt x="654192" y="606171"/>
                </a:lnTo>
                <a:lnTo>
                  <a:pt x="667390" y="641914"/>
                </a:lnTo>
                <a:lnTo>
                  <a:pt x="774588" y="602098"/>
                </a:lnTo>
                <a:lnTo>
                  <a:pt x="761390" y="566415"/>
                </a:lnTo>
                <a:close/>
              </a:path>
              <a:path w="2305050" h="883285">
                <a:moveTo>
                  <a:pt x="904250" y="513325"/>
                </a:moveTo>
                <a:lnTo>
                  <a:pt x="797052" y="553212"/>
                </a:lnTo>
                <a:lnTo>
                  <a:pt x="810280" y="588894"/>
                </a:lnTo>
                <a:lnTo>
                  <a:pt x="917448" y="549139"/>
                </a:lnTo>
                <a:lnTo>
                  <a:pt x="904250" y="513325"/>
                </a:lnTo>
                <a:close/>
              </a:path>
              <a:path w="2305050" h="883285">
                <a:moveTo>
                  <a:pt x="1047140" y="460366"/>
                </a:moveTo>
                <a:lnTo>
                  <a:pt x="939942" y="500121"/>
                </a:lnTo>
                <a:lnTo>
                  <a:pt x="953140" y="535804"/>
                </a:lnTo>
                <a:lnTo>
                  <a:pt x="1060338" y="496062"/>
                </a:lnTo>
                <a:lnTo>
                  <a:pt x="1047140" y="460366"/>
                </a:lnTo>
                <a:close/>
              </a:path>
              <a:path w="2305050" h="883285">
                <a:moveTo>
                  <a:pt x="1190000" y="407289"/>
                </a:moveTo>
                <a:lnTo>
                  <a:pt x="1082802" y="447162"/>
                </a:lnTo>
                <a:lnTo>
                  <a:pt x="1096030" y="482845"/>
                </a:lnTo>
                <a:lnTo>
                  <a:pt x="1203198" y="443103"/>
                </a:lnTo>
                <a:lnTo>
                  <a:pt x="1190000" y="407289"/>
                </a:lnTo>
                <a:close/>
              </a:path>
              <a:path w="2305050" h="883285">
                <a:moveTo>
                  <a:pt x="1332890" y="354330"/>
                </a:moveTo>
                <a:lnTo>
                  <a:pt x="1225692" y="394072"/>
                </a:lnTo>
                <a:lnTo>
                  <a:pt x="1238890" y="429768"/>
                </a:lnTo>
                <a:lnTo>
                  <a:pt x="1346088" y="390012"/>
                </a:lnTo>
                <a:lnTo>
                  <a:pt x="1332890" y="354330"/>
                </a:lnTo>
                <a:close/>
              </a:path>
              <a:path w="2305050" h="883285">
                <a:moveTo>
                  <a:pt x="1475750" y="301239"/>
                </a:moveTo>
                <a:lnTo>
                  <a:pt x="1368552" y="340995"/>
                </a:lnTo>
                <a:lnTo>
                  <a:pt x="1381780" y="376809"/>
                </a:lnTo>
                <a:lnTo>
                  <a:pt x="1488948" y="336922"/>
                </a:lnTo>
                <a:lnTo>
                  <a:pt x="1475750" y="301239"/>
                </a:lnTo>
                <a:close/>
              </a:path>
              <a:path w="2305050" h="883285">
                <a:moveTo>
                  <a:pt x="1618640" y="248280"/>
                </a:moveTo>
                <a:lnTo>
                  <a:pt x="1511442" y="288036"/>
                </a:lnTo>
                <a:lnTo>
                  <a:pt x="1524640" y="323718"/>
                </a:lnTo>
                <a:lnTo>
                  <a:pt x="1631838" y="283963"/>
                </a:lnTo>
                <a:lnTo>
                  <a:pt x="1618640" y="248280"/>
                </a:lnTo>
                <a:close/>
              </a:path>
              <a:path w="2305050" h="883285">
                <a:moveTo>
                  <a:pt x="1761500" y="195190"/>
                </a:moveTo>
                <a:lnTo>
                  <a:pt x="1654302" y="234945"/>
                </a:lnTo>
                <a:lnTo>
                  <a:pt x="1667530" y="270628"/>
                </a:lnTo>
                <a:lnTo>
                  <a:pt x="1774698" y="230886"/>
                </a:lnTo>
                <a:lnTo>
                  <a:pt x="1761500" y="195190"/>
                </a:lnTo>
                <a:close/>
              </a:path>
              <a:path w="2305050" h="883285">
                <a:moveTo>
                  <a:pt x="1904390" y="142113"/>
                </a:moveTo>
                <a:lnTo>
                  <a:pt x="1797192" y="181986"/>
                </a:lnTo>
                <a:lnTo>
                  <a:pt x="1810390" y="217669"/>
                </a:lnTo>
                <a:lnTo>
                  <a:pt x="1917588" y="177927"/>
                </a:lnTo>
                <a:lnTo>
                  <a:pt x="1904390" y="142113"/>
                </a:lnTo>
                <a:close/>
              </a:path>
              <a:path w="2305050" h="883285">
                <a:moveTo>
                  <a:pt x="2047250" y="89154"/>
                </a:moveTo>
                <a:lnTo>
                  <a:pt x="1940052" y="128896"/>
                </a:lnTo>
                <a:lnTo>
                  <a:pt x="1953280" y="164592"/>
                </a:lnTo>
                <a:lnTo>
                  <a:pt x="2060448" y="124836"/>
                </a:lnTo>
                <a:lnTo>
                  <a:pt x="2047250" y="89154"/>
                </a:lnTo>
                <a:close/>
              </a:path>
              <a:path w="2305050" h="883285">
                <a:moveTo>
                  <a:pt x="2190140" y="36063"/>
                </a:moveTo>
                <a:lnTo>
                  <a:pt x="2082942" y="75819"/>
                </a:lnTo>
                <a:lnTo>
                  <a:pt x="2096140" y="111633"/>
                </a:lnTo>
                <a:lnTo>
                  <a:pt x="2203338" y="71877"/>
                </a:lnTo>
                <a:lnTo>
                  <a:pt x="2190140" y="36063"/>
                </a:lnTo>
                <a:close/>
              </a:path>
              <a:path w="2305050" h="883285">
                <a:moveTo>
                  <a:pt x="2178070" y="0"/>
                </a:moveTo>
                <a:lnTo>
                  <a:pt x="2217816" y="107061"/>
                </a:lnTo>
                <a:lnTo>
                  <a:pt x="2305050" y="13716"/>
                </a:lnTo>
                <a:lnTo>
                  <a:pt x="2178070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8"/>
          <p:cNvSpPr/>
          <p:nvPr/>
        </p:nvSpPr>
        <p:spPr>
          <a:xfrm>
            <a:off x="5811533" y="3739582"/>
            <a:ext cx="299720" cy="1064260"/>
          </a:xfrm>
          <a:custGeom>
            <a:avLst/>
            <a:gdLst/>
            <a:ahLst/>
            <a:cxnLst/>
            <a:rect l="l" t="t" r="r" b="b"/>
            <a:pathLst>
              <a:path w="299720" h="1064260">
                <a:moveTo>
                  <a:pt x="0" y="0"/>
                </a:moveTo>
                <a:lnTo>
                  <a:pt x="299465" y="1064264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9"/>
          <p:cNvSpPr txBox="1">
            <a:spLocks/>
          </p:cNvSpPr>
          <p:nvPr/>
        </p:nvSpPr>
        <p:spPr>
          <a:xfrm>
            <a:off x="5020463" y="1099558"/>
            <a:ext cx="3863975" cy="713105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50300"/>
              </a:lnSpc>
              <a:spcBef>
                <a:spcPts val="100"/>
              </a:spcBef>
            </a:pPr>
            <a:r>
              <a:rPr lang="en-US" sz="1500" spc="-20" smtClean="0">
                <a:solidFill>
                  <a:srgbClr val="000000"/>
                </a:solidFill>
                <a:latin typeface="Arial"/>
                <a:cs typeface="Arial"/>
              </a:rPr>
              <a:t>Find </a:t>
            </a:r>
            <a:r>
              <a:rPr lang="en-US" sz="1500" spc="10" smtClean="0">
                <a:solidFill>
                  <a:srgbClr val="000000"/>
                </a:solidFill>
                <a:latin typeface="Arial"/>
                <a:cs typeface="Arial"/>
              </a:rPr>
              <a:t>to </a:t>
            </a:r>
            <a:r>
              <a:rPr lang="en-US" sz="1500" spc="-25" smtClean="0">
                <a:solidFill>
                  <a:srgbClr val="000000"/>
                </a:solidFill>
                <a:latin typeface="Arial"/>
                <a:cs typeface="Arial"/>
              </a:rPr>
              <a:t>which </a:t>
            </a:r>
            <a:r>
              <a:rPr lang="en-US" sz="1500" spc="-15" smtClean="0">
                <a:solidFill>
                  <a:srgbClr val="000000"/>
                </a:solidFill>
                <a:latin typeface="Arial"/>
                <a:cs typeface="Arial"/>
              </a:rPr>
              <a:t>cluster does </a:t>
            </a:r>
            <a:r>
              <a:rPr lang="en-US" sz="1500" spc="-20" smtClean="0">
                <a:solidFill>
                  <a:srgbClr val="000000"/>
                </a:solidFill>
                <a:latin typeface="Arial"/>
                <a:cs typeface="Arial"/>
              </a:rPr>
              <a:t>point </a:t>
            </a:r>
            <a:r>
              <a:rPr lang="en-US" sz="1500" smtClean="0">
                <a:solidFill>
                  <a:srgbClr val="000000"/>
                </a:solidFill>
                <a:latin typeface="Arial"/>
                <a:cs typeface="Arial"/>
              </a:rPr>
              <a:t>2 </a:t>
            </a:r>
            <a:r>
              <a:rPr lang="en-US" sz="1500" spc="-20" smtClean="0">
                <a:solidFill>
                  <a:srgbClr val="000000"/>
                </a:solidFill>
                <a:latin typeface="Arial"/>
                <a:cs typeface="Arial"/>
              </a:rPr>
              <a:t>belongs  </a:t>
            </a:r>
            <a:r>
              <a:rPr lang="en-US" sz="1500" smtClean="0">
                <a:solidFill>
                  <a:srgbClr val="000000"/>
                </a:solidFill>
                <a:latin typeface="Arial"/>
                <a:cs typeface="Arial"/>
              </a:rPr>
              <a:t>to,</a:t>
            </a:r>
            <a:r>
              <a:rPr lang="en-US" sz="1500" spc="-15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en-US" sz="1500" spc="-20" smtClean="0">
                <a:solidFill>
                  <a:srgbClr val="000000"/>
                </a:solidFill>
                <a:latin typeface="Arial"/>
                <a:cs typeface="Arial"/>
              </a:rPr>
              <a:t>how?</a:t>
            </a:r>
            <a:endParaRPr lang="en-US" sz="1500">
              <a:latin typeface="Arial"/>
              <a:cs typeface="Arial"/>
            </a:endParaRPr>
          </a:p>
        </p:txBody>
      </p:sp>
      <p:sp>
        <p:nvSpPr>
          <p:cNvPr id="35" name="object 30"/>
          <p:cNvSpPr txBox="1"/>
          <p:nvPr/>
        </p:nvSpPr>
        <p:spPr>
          <a:xfrm>
            <a:off x="5020463" y="1786906"/>
            <a:ext cx="4034790" cy="712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5080" indent="-219075">
              <a:lnSpc>
                <a:spcPct val="150200"/>
              </a:lnSpc>
              <a:spcBef>
                <a:spcPts val="100"/>
              </a:spcBef>
              <a:buFont typeface="Wingdings"/>
              <a:buChar char=""/>
              <a:tabLst>
                <a:tab pos="231140" algn="l"/>
                <a:tab pos="231775" algn="l"/>
              </a:tabLst>
            </a:pPr>
            <a:r>
              <a:rPr sz="1500" spc="-15" dirty="0">
                <a:latin typeface="Arial"/>
                <a:cs typeface="Arial"/>
              </a:rPr>
              <a:t>Repeat </a:t>
            </a:r>
            <a:r>
              <a:rPr sz="1500" spc="-20" dirty="0">
                <a:latin typeface="Arial"/>
                <a:cs typeface="Arial"/>
              </a:rPr>
              <a:t>the same </a:t>
            </a:r>
            <a:r>
              <a:rPr sz="1500" spc="-15" dirty="0">
                <a:latin typeface="Arial"/>
                <a:cs typeface="Arial"/>
              </a:rPr>
              <a:t>procedure </a:t>
            </a:r>
            <a:r>
              <a:rPr sz="1500" spc="-35" dirty="0">
                <a:latin typeface="Arial"/>
                <a:cs typeface="Arial"/>
              </a:rPr>
              <a:t>but </a:t>
            </a:r>
            <a:r>
              <a:rPr sz="1500" spc="-25" dirty="0">
                <a:latin typeface="Arial"/>
                <a:cs typeface="Arial"/>
              </a:rPr>
              <a:t>measure </a:t>
            </a:r>
            <a:r>
              <a:rPr sz="1500" spc="-20" dirty="0">
                <a:latin typeface="Arial"/>
                <a:cs typeface="Arial"/>
              </a:rPr>
              <a:t>the  </a:t>
            </a:r>
            <a:r>
              <a:rPr sz="1500" spc="-15" dirty="0">
                <a:latin typeface="Arial"/>
                <a:cs typeface="Arial"/>
              </a:rPr>
              <a:t>distance </a:t>
            </a:r>
            <a:r>
              <a:rPr sz="1500" spc="15" dirty="0">
                <a:latin typeface="Arial"/>
                <a:cs typeface="Arial"/>
              </a:rPr>
              <a:t>to </a:t>
            </a:r>
            <a:r>
              <a:rPr sz="1500" spc="-20" dirty="0">
                <a:latin typeface="Arial"/>
                <a:cs typeface="Arial"/>
              </a:rPr>
              <a:t>the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1500" spc="-2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mean</a:t>
            </a:r>
            <a:endParaRPr sz="1500">
              <a:latin typeface="Arial"/>
              <a:cs typeface="Arial"/>
            </a:endParaRPr>
          </a:p>
        </p:txBody>
      </p:sp>
      <p:sp>
        <p:nvSpPr>
          <p:cNvPr id="36" name="object 31"/>
          <p:cNvSpPr txBox="1"/>
          <p:nvPr/>
        </p:nvSpPr>
        <p:spPr>
          <a:xfrm>
            <a:off x="4545991" y="4530474"/>
            <a:ext cx="2327275" cy="81026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38100" marR="975360">
              <a:lnSpc>
                <a:spcPts val="1430"/>
              </a:lnSpc>
              <a:spcBef>
                <a:spcPts val="155"/>
              </a:spcBef>
            </a:pPr>
            <a:r>
              <a:rPr sz="1200" spc="5" dirty="0">
                <a:latin typeface="Arial"/>
                <a:cs typeface="Arial"/>
              </a:rPr>
              <a:t>Add </a:t>
            </a:r>
            <a:r>
              <a:rPr sz="1200" spc="-35" dirty="0">
                <a:latin typeface="Arial"/>
                <a:cs typeface="Arial"/>
              </a:rPr>
              <a:t>the </a:t>
            </a:r>
            <a:r>
              <a:rPr sz="1200" spc="-5" dirty="0">
                <a:latin typeface="Arial"/>
                <a:cs typeface="Arial"/>
              </a:rPr>
              <a:t>point </a:t>
            </a:r>
            <a:r>
              <a:rPr sz="1200" spc="-20" dirty="0">
                <a:latin typeface="Arial"/>
                <a:cs typeface="Arial"/>
              </a:rPr>
              <a:t>to </a:t>
            </a:r>
            <a:r>
              <a:rPr sz="1200" spc="-35" dirty="0">
                <a:latin typeface="Arial"/>
                <a:cs typeface="Arial"/>
              </a:rPr>
              <a:t>the  </a:t>
            </a:r>
            <a:r>
              <a:rPr sz="1200" spc="-15" dirty="0">
                <a:latin typeface="Arial"/>
                <a:cs typeface="Arial"/>
              </a:rPr>
              <a:t>nearest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cluster</a:t>
            </a:r>
            <a:endParaRPr sz="1200">
              <a:latin typeface="Arial"/>
              <a:cs typeface="Arial"/>
            </a:endParaRPr>
          </a:p>
          <a:p>
            <a:pPr marL="911225" marR="30480">
              <a:lnSpc>
                <a:spcPts val="1430"/>
              </a:lnSpc>
              <a:spcBef>
                <a:spcPts val="450"/>
              </a:spcBef>
            </a:pPr>
            <a:r>
              <a:rPr sz="1200" spc="-5" dirty="0">
                <a:latin typeface="Arial"/>
                <a:cs typeface="Arial"/>
              </a:rPr>
              <a:t>Distance </a:t>
            </a:r>
            <a:r>
              <a:rPr sz="1200" dirty="0">
                <a:latin typeface="Arial"/>
                <a:cs typeface="Arial"/>
              </a:rPr>
              <a:t>of </a:t>
            </a:r>
            <a:r>
              <a:rPr sz="1200" spc="5" dirty="0">
                <a:latin typeface="Arial"/>
                <a:cs typeface="Arial"/>
              </a:rPr>
              <a:t>2</a:t>
            </a:r>
            <a:r>
              <a:rPr sz="1200" spc="7" baseline="27777" dirty="0">
                <a:latin typeface="Arial"/>
                <a:cs typeface="Arial"/>
              </a:rPr>
              <a:t>nd </a:t>
            </a:r>
            <a:r>
              <a:rPr sz="1200" spc="-5" dirty="0">
                <a:latin typeface="Arial"/>
                <a:cs typeface="Arial"/>
              </a:rPr>
              <a:t>point  </a:t>
            </a:r>
            <a:r>
              <a:rPr sz="1200" spc="-20" dirty="0">
                <a:latin typeface="Arial"/>
                <a:cs typeface="Arial"/>
              </a:rPr>
              <a:t>to </a:t>
            </a:r>
            <a:r>
              <a:rPr sz="1200" spc="-35" dirty="0">
                <a:latin typeface="Arial"/>
                <a:cs typeface="Arial"/>
              </a:rPr>
              <a:t>the </a:t>
            </a:r>
            <a:r>
              <a:rPr sz="1200" spc="-1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1200" spc="18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cluster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2"/>
          <p:cNvSpPr/>
          <p:nvPr/>
        </p:nvSpPr>
        <p:spPr>
          <a:xfrm>
            <a:off x="5674838" y="3544451"/>
            <a:ext cx="234955" cy="23494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5710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23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5090419" y="2090997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386197" y="3659193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675270" y="3556072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067303" y="3430343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376950" y="3342831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6951536" y="3111374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255018" y="3022541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7586800" y="2888370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7996048" y="2764985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673808" y="2511049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8976444" y="2304669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575376" y="2186681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5871104" y="3192087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19049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5871104" y="3192087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 txBox="1"/>
          <p:nvPr/>
        </p:nvSpPr>
        <p:spPr>
          <a:xfrm>
            <a:off x="5108208" y="2269365"/>
            <a:ext cx="1901825" cy="783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sz="1650" spc="-30" dirty="0">
                <a:latin typeface="Arial"/>
                <a:cs typeface="Arial"/>
              </a:rPr>
              <a:t>Calculate </a:t>
            </a:r>
            <a:r>
              <a:rPr sz="1650" spc="-35" dirty="0">
                <a:latin typeface="Arial"/>
                <a:cs typeface="Arial"/>
              </a:rPr>
              <a:t>the </a:t>
            </a:r>
            <a:r>
              <a:rPr sz="1650" spc="-30" dirty="0">
                <a:latin typeface="Arial"/>
                <a:cs typeface="Arial"/>
              </a:rPr>
              <a:t>cluster  </a:t>
            </a:r>
            <a:r>
              <a:rPr sz="1650" spc="-15" dirty="0">
                <a:latin typeface="Arial"/>
                <a:cs typeface="Arial"/>
              </a:rPr>
              <a:t>mean </a:t>
            </a:r>
            <a:r>
              <a:rPr sz="1650" spc="-40" dirty="0">
                <a:latin typeface="Arial"/>
                <a:cs typeface="Arial"/>
              </a:rPr>
              <a:t>including </a:t>
            </a:r>
            <a:r>
              <a:rPr sz="1650" spc="-35" dirty="0">
                <a:latin typeface="Arial"/>
                <a:cs typeface="Arial"/>
              </a:rPr>
              <a:t>the  </a:t>
            </a:r>
            <a:r>
              <a:rPr sz="1650" spc="-40" dirty="0">
                <a:latin typeface="Arial"/>
                <a:cs typeface="Arial"/>
              </a:rPr>
              <a:t>new</a:t>
            </a:r>
            <a:r>
              <a:rPr sz="1650" spc="6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point</a:t>
            </a:r>
            <a:endParaRPr sz="1650">
              <a:latin typeface="Arial"/>
              <a:cs typeface="Arial"/>
            </a:endParaRPr>
          </a:p>
        </p:txBody>
      </p:sp>
      <p:sp>
        <p:nvSpPr>
          <p:cNvPr id="28" name="object 24"/>
          <p:cNvSpPr/>
          <p:nvPr/>
        </p:nvSpPr>
        <p:spPr>
          <a:xfrm>
            <a:off x="5764789" y="3230568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577" y="796158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5980954" y="4026988"/>
            <a:ext cx="144780" cy="59055"/>
          </a:xfrm>
          <a:custGeom>
            <a:avLst/>
            <a:gdLst/>
            <a:ahLst/>
            <a:cxnLst/>
            <a:rect l="l" t="t" r="r" b="b"/>
            <a:pathLst>
              <a:path w="144779" h="59054">
                <a:moveTo>
                  <a:pt x="42428" y="9774"/>
                </a:moveTo>
                <a:lnTo>
                  <a:pt x="0" y="47493"/>
                </a:lnTo>
                <a:lnTo>
                  <a:pt x="55626" y="58792"/>
                </a:lnTo>
                <a:lnTo>
                  <a:pt x="52413" y="46863"/>
                </a:lnTo>
                <a:lnTo>
                  <a:pt x="39227" y="46863"/>
                </a:lnTo>
                <a:lnTo>
                  <a:pt x="34290" y="28443"/>
                </a:lnTo>
                <a:lnTo>
                  <a:pt x="46561" y="25128"/>
                </a:lnTo>
                <a:lnTo>
                  <a:pt x="42428" y="9774"/>
                </a:lnTo>
                <a:close/>
              </a:path>
              <a:path w="144779" h="59054">
                <a:moveTo>
                  <a:pt x="46561" y="25128"/>
                </a:moveTo>
                <a:lnTo>
                  <a:pt x="34290" y="28443"/>
                </a:lnTo>
                <a:lnTo>
                  <a:pt x="39227" y="46863"/>
                </a:lnTo>
                <a:lnTo>
                  <a:pt x="51520" y="43545"/>
                </a:lnTo>
                <a:lnTo>
                  <a:pt x="46561" y="25128"/>
                </a:lnTo>
                <a:close/>
              </a:path>
              <a:path w="144779" h="59054">
                <a:moveTo>
                  <a:pt x="51520" y="43545"/>
                </a:moveTo>
                <a:lnTo>
                  <a:pt x="39227" y="46863"/>
                </a:lnTo>
                <a:lnTo>
                  <a:pt x="52413" y="46863"/>
                </a:lnTo>
                <a:lnTo>
                  <a:pt x="51520" y="43545"/>
                </a:lnTo>
                <a:close/>
              </a:path>
              <a:path w="144779" h="59054">
                <a:moveTo>
                  <a:pt x="139567" y="0"/>
                </a:moveTo>
                <a:lnTo>
                  <a:pt x="46561" y="25128"/>
                </a:lnTo>
                <a:lnTo>
                  <a:pt x="51520" y="43545"/>
                </a:lnTo>
                <a:lnTo>
                  <a:pt x="144658" y="18406"/>
                </a:lnTo>
                <a:lnTo>
                  <a:pt x="139567" y="0"/>
                </a:lnTo>
                <a:close/>
              </a:path>
            </a:pathLst>
          </a:custGeom>
          <a:solidFill>
            <a:srgbClr val="000000">
              <a:alpha val="9803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7956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24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5215111" y="2700597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/>
        </p:nvSpPr>
        <p:spPr>
          <a:xfrm>
            <a:off x="5510889" y="4268793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/>
        </p:nvSpPr>
        <p:spPr>
          <a:xfrm>
            <a:off x="5799962" y="4165672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6191995" y="4039943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6501642" y="3952431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7076228" y="3720974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7379710" y="3632141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7711492" y="3497970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8120740" y="3374585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8798500" y="3120649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9101136" y="2914269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9700068" y="2796281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5889481" y="3840168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577" y="796158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 txBox="1">
            <a:spLocks/>
          </p:cNvSpPr>
          <p:nvPr/>
        </p:nvSpPr>
        <p:spPr>
          <a:xfrm>
            <a:off x="5131299" y="1821054"/>
            <a:ext cx="4702810" cy="254635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500" spc="-20" smtClean="0">
                <a:solidFill>
                  <a:srgbClr val="595959"/>
                </a:solidFill>
                <a:latin typeface="Arial"/>
                <a:cs typeface="Arial"/>
              </a:rPr>
              <a:t>Find </a:t>
            </a:r>
            <a:r>
              <a:rPr lang="en-US" sz="1500" spc="10" smtClean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lang="en-US" sz="1500" spc="-25" smtClean="0">
                <a:solidFill>
                  <a:srgbClr val="595959"/>
                </a:solidFill>
                <a:latin typeface="Arial"/>
                <a:cs typeface="Arial"/>
              </a:rPr>
              <a:t>which </a:t>
            </a:r>
            <a:r>
              <a:rPr lang="en-US" sz="1500" spc="-15" smtClean="0">
                <a:solidFill>
                  <a:srgbClr val="595959"/>
                </a:solidFill>
                <a:latin typeface="Arial"/>
                <a:cs typeface="Arial"/>
              </a:rPr>
              <a:t>cluster does </a:t>
            </a:r>
            <a:r>
              <a:rPr lang="en-US" sz="1500" spc="-20" smtClean="0">
                <a:solidFill>
                  <a:srgbClr val="595959"/>
                </a:solidFill>
                <a:latin typeface="Arial"/>
                <a:cs typeface="Arial"/>
              </a:rPr>
              <a:t>point </a:t>
            </a:r>
            <a:r>
              <a:rPr lang="en-US" sz="1500" smtClean="0">
                <a:solidFill>
                  <a:srgbClr val="595959"/>
                </a:solidFill>
                <a:latin typeface="Arial"/>
                <a:cs typeface="Arial"/>
              </a:rPr>
              <a:t>3 </a:t>
            </a:r>
            <a:r>
              <a:rPr lang="en-US" sz="1500" spc="-20" smtClean="0">
                <a:solidFill>
                  <a:srgbClr val="595959"/>
                </a:solidFill>
                <a:latin typeface="Arial"/>
                <a:cs typeface="Arial"/>
              </a:rPr>
              <a:t>belongs </a:t>
            </a:r>
            <a:r>
              <a:rPr lang="en-US" sz="1500" smtClean="0">
                <a:solidFill>
                  <a:srgbClr val="595959"/>
                </a:solidFill>
                <a:latin typeface="Arial"/>
                <a:cs typeface="Arial"/>
              </a:rPr>
              <a:t>to,</a:t>
            </a:r>
            <a:r>
              <a:rPr lang="en-US" sz="1500" spc="395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z="1500" spc="-20" smtClean="0">
                <a:solidFill>
                  <a:srgbClr val="595959"/>
                </a:solidFill>
                <a:latin typeface="Arial"/>
                <a:cs typeface="Arial"/>
              </a:rPr>
              <a:t>how?</a:t>
            </a:r>
            <a:endParaRPr lang="en-US" sz="1500">
              <a:latin typeface="Arial"/>
              <a:cs typeface="Arial"/>
            </a:endParaRPr>
          </a:p>
        </p:txBody>
      </p:sp>
      <p:sp>
        <p:nvSpPr>
          <p:cNvPr id="27" name="object 22"/>
          <p:cNvSpPr txBox="1"/>
          <p:nvPr/>
        </p:nvSpPr>
        <p:spPr>
          <a:xfrm>
            <a:off x="5131299" y="2049916"/>
            <a:ext cx="403479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775" marR="5080" indent="-219075">
              <a:lnSpc>
                <a:spcPct val="150300"/>
              </a:lnSpc>
              <a:spcBef>
                <a:spcPts val="100"/>
              </a:spcBef>
              <a:buFont typeface="Wingdings"/>
              <a:buChar char=""/>
              <a:tabLst>
                <a:tab pos="231140" algn="l"/>
                <a:tab pos="231775" algn="l"/>
              </a:tabLst>
            </a:pPr>
            <a:r>
              <a:rPr sz="1500" spc="-15" dirty="0">
                <a:solidFill>
                  <a:srgbClr val="595959"/>
                </a:solidFill>
                <a:latin typeface="Arial"/>
                <a:cs typeface="Arial"/>
              </a:rPr>
              <a:t>Repeat </a:t>
            </a:r>
            <a:r>
              <a:rPr sz="1500" spc="-20" dirty="0">
                <a:solidFill>
                  <a:srgbClr val="595959"/>
                </a:solidFill>
                <a:latin typeface="Arial"/>
                <a:cs typeface="Arial"/>
              </a:rPr>
              <a:t>the same </a:t>
            </a:r>
            <a:r>
              <a:rPr sz="1500" spc="-15" dirty="0">
                <a:solidFill>
                  <a:srgbClr val="595959"/>
                </a:solidFill>
                <a:latin typeface="Arial"/>
                <a:cs typeface="Arial"/>
              </a:rPr>
              <a:t>procedure </a:t>
            </a:r>
            <a:r>
              <a:rPr sz="1500" spc="-35" dirty="0">
                <a:solidFill>
                  <a:srgbClr val="595959"/>
                </a:solidFill>
                <a:latin typeface="Arial"/>
                <a:cs typeface="Arial"/>
              </a:rPr>
              <a:t>but </a:t>
            </a:r>
            <a:r>
              <a:rPr sz="1500" spc="-25" dirty="0">
                <a:solidFill>
                  <a:srgbClr val="595959"/>
                </a:solidFill>
                <a:latin typeface="Arial"/>
                <a:cs typeface="Arial"/>
              </a:rPr>
              <a:t>measure </a:t>
            </a:r>
            <a:r>
              <a:rPr sz="1500" spc="-20" dirty="0">
                <a:solidFill>
                  <a:srgbClr val="595959"/>
                </a:solidFill>
                <a:latin typeface="Arial"/>
                <a:cs typeface="Arial"/>
              </a:rPr>
              <a:t>the  </a:t>
            </a:r>
            <a:r>
              <a:rPr sz="1500" spc="-15" dirty="0">
                <a:solidFill>
                  <a:srgbClr val="595959"/>
                </a:solidFill>
                <a:latin typeface="Arial"/>
                <a:cs typeface="Arial"/>
              </a:rPr>
              <a:t>distance </a:t>
            </a:r>
            <a:r>
              <a:rPr sz="1500" spc="10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00" spc="-2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500" spc="-35" dirty="0">
                <a:solidFill>
                  <a:srgbClr val="595959"/>
                </a:solidFill>
                <a:latin typeface="Arial"/>
                <a:cs typeface="Arial"/>
              </a:rPr>
              <a:t>new </a:t>
            </a:r>
            <a:r>
              <a:rPr sz="1500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1500" spc="-1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500" spc="-20" dirty="0">
                <a:solidFill>
                  <a:srgbClr val="595959"/>
                </a:solidFill>
                <a:latin typeface="Arial"/>
                <a:cs typeface="Arial"/>
              </a:rPr>
              <a:t>mean</a:t>
            </a:r>
            <a:endParaRPr sz="1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55451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25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4979583" y="1641660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275361" y="3209856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564434" y="3106735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5956467" y="2981006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266114" y="2893494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6840700" y="2662037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144182" y="2573204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7475964" y="2439033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7885212" y="2315648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562972" y="2061712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8865608" y="1855332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464540" y="1737344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5888924" y="3458898"/>
            <a:ext cx="356870" cy="160655"/>
          </a:xfrm>
          <a:custGeom>
            <a:avLst/>
            <a:gdLst/>
            <a:ahLst/>
            <a:cxnLst/>
            <a:rect l="l" t="t" r="r" b="b"/>
            <a:pathLst>
              <a:path w="356870" h="160654">
                <a:moveTo>
                  <a:pt x="86989" y="53340"/>
                </a:moveTo>
                <a:lnTo>
                  <a:pt x="0" y="146947"/>
                </a:lnTo>
                <a:lnTo>
                  <a:pt x="127101" y="160401"/>
                </a:lnTo>
                <a:lnTo>
                  <a:pt x="116208" y="131326"/>
                </a:lnTo>
                <a:lnTo>
                  <a:pt x="95859" y="131326"/>
                </a:lnTo>
                <a:lnTo>
                  <a:pt x="82539" y="95762"/>
                </a:lnTo>
                <a:lnTo>
                  <a:pt x="100378" y="89073"/>
                </a:lnTo>
                <a:lnTo>
                  <a:pt x="86989" y="53340"/>
                </a:lnTo>
                <a:close/>
              </a:path>
              <a:path w="356870" h="160654">
                <a:moveTo>
                  <a:pt x="100378" y="89073"/>
                </a:moveTo>
                <a:lnTo>
                  <a:pt x="82539" y="95762"/>
                </a:lnTo>
                <a:lnTo>
                  <a:pt x="95859" y="131326"/>
                </a:lnTo>
                <a:lnTo>
                  <a:pt x="113709" y="124657"/>
                </a:lnTo>
                <a:lnTo>
                  <a:pt x="100378" y="89073"/>
                </a:lnTo>
                <a:close/>
              </a:path>
              <a:path w="356870" h="160654">
                <a:moveTo>
                  <a:pt x="113709" y="124657"/>
                </a:moveTo>
                <a:lnTo>
                  <a:pt x="95859" y="131326"/>
                </a:lnTo>
                <a:lnTo>
                  <a:pt x="116208" y="131326"/>
                </a:lnTo>
                <a:lnTo>
                  <a:pt x="113709" y="124657"/>
                </a:lnTo>
                <a:close/>
              </a:path>
              <a:path w="356870" h="160654">
                <a:moveTo>
                  <a:pt x="189585" y="55626"/>
                </a:moveTo>
                <a:lnTo>
                  <a:pt x="100378" y="89073"/>
                </a:lnTo>
                <a:lnTo>
                  <a:pt x="113709" y="124657"/>
                </a:lnTo>
                <a:lnTo>
                  <a:pt x="202935" y="91321"/>
                </a:lnTo>
                <a:lnTo>
                  <a:pt x="189585" y="55626"/>
                </a:lnTo>
                <a:close/>
              </a:path>
              <a:path w="356870" h="160654">
                <a:moveTo>
                  <a:pt x="341965" y="28956"/>
                </a:moveTo>
                <a:lnTo>
                  <a:pt x="260604" y="28956"/>
                </a:lnTo>
                <a:lnTo>
                  <a:pt x="273923" y="64651"/>
                </a:lnTo>
                <a:lnTo>
                  <a:pt x="256084" y="71324"/>
                </a:lnTo>
                <a:lnTo>
                  <a:pt x="269473" y="107061"/>
                </a:lnTo>
                <a:lnTo>
                  <a:pt x="341965" y="28956"/>
                </a:lnTo>
                <a:close/>
              </a:path>
              <a:path w="356870" h="160654">
                <a:moveTo>
                  <a:pt x="242717" y="35647"/>
                </a:moveTo>
                <a:lnTo>
                  <a:pt x="225277" y="42172"/>
                </a:lnTo>
                <a:lnTo>
                  <a:pt x="238627" y="77855"/>
                </a:lnTo>
                <a:lnTo>
                  <a:pt x="256084" y="71324"/>
                </a:lnTo>
                <a:lnTo>
                  <a:pt x="242717" y="35647"/>
                </a:lnTo>
                <a:close/>
              </a:path>
              <a:path w="356870" h="160654">
                <a:moveTo>
                  <a:pt x="260604" y="28956"/>
                </a:moveTo>
                <a:lnTo>
                  <a:pt x="242717" y="35647"/>
                </a:lnTo>
                <a:lnTo>
                  <a:pt x="256084" y="71324"/>
                </a:lnTo>
                <a:lnTo>
                  <a:pt x="273923" y="64651"/>
                </a:lnTo>
                <a:lnTo>
                  <a:pt x="260604" y="28956"/>
                </a:lnTo>
                <a:close/>
              </a:path>
              <a:path w="356870" h="160654">
                <a:moveTo>
                  <a:pt x="229362" y="0"/>
                </a:moveTo>
                <a:lnTo>
                  <a:pt x="242717" y="35647"/>
                </a:lnTo>
                <a:lnTo>
                  <a:pt x="260604" y="28956"/>
                </a:lnTo>
                <a:lnTo>
                  <a:pt x="341965" y="28956"/>
                </a:lnTo>
                <a:lnTo>
                  <a:pt x="356463" y="13335"/>
                </a:lnTo>
                <a:lnTo>
                  <a:pt x="22936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5956864" y="3257612"/>
            <a:ext cx="1444625" cy="585470"/>
          </a:xfrm>
          <a:custGeom>
            <a:avLst/>
            <a:gdLst/>
            <a:ahLst/>
            <a:cxnLst/>
            <a:rect l="l" t="t" r="r" b="b"/>
            <a:pathLst>
              <a:path w="1444625" h="585470">
                <a:moveTo>
                  <a:pt x="85831" y="478785"/>
                </a:moveTo>
                <a:lnTo>
                  <a:pt x="0" y="573523"/>
                </a:lnTo>
                <a:lnTo>
                  <a:pt x="127254" y="585334"/>
                </a:lnTo>
                <a:lnTo>
                  <a:pt x="116145" y="556759"/>
                </a:lnTo>
                <a:lnTo>
                  <a:pt x="95737" y="556759"/>
                </a:lnTo>
                <a:lnTo>
                  <a:pt x="81899" y="521208"/>
                </a:lnTo>
                <a:lnTo>
                  <a:pt x="99643" y="514312"/>
                </a:lnTo>
                <a:lnTo>
                  <a:pt x="85831" y="478785"/>
                </a:lnTo>
                <a:close/>
              </a:path>
              <a:path w="1444625" h="585470">
                <a:moveTo>
                  <a:pt x="99643" y="514312"/>
                </a:moveTo>
                <a:lnTo>
                  <a:pt x="81899" y="521208"/>
                </a:lnTo>
                <a:lnTo>
                  <a:pt x="95737" y="556759"/>
                </a:lnTo>
                <a:lnTo>
                  <a:pt x="113464" y="549865"/>
                </a:lnTo>
                <a:lnTo>
                  <a:pt x="99643" y="514312"/>
                </a:lnTo>
                <a:close/>
              </a:path>
              <a:path w="1444625" h="585470">
                <a:moveTo>
                  <a:pt x="113464" y="549865"/>
                </a:moveTo>
                <a:lnTo>
                  <a:pt x="95737" y="556759"/>
                </a:lnTo>
                <a:lnTo>
                  <a:pt x="116145" y="556759"/>
                </a:lnTo>
                <a:lnTo>
                  <a:pt x="113464" y="549865"/>
                </a:lnTo>
                <a:close/>
              </a:path>
              <a:path w="1444625" h="585470">
                <a:moveTo>
                  <a:pt x="188457" y="479797"/>
                </a:moveTo>
                <a:lnTo>
                  <a:pt x="99643" y="514312"/>
                </a:lnTo>
                <a:lnTo>
                  <a:pt x="113464" y="549865"/>
                </a:lnTo>
                <a:lnTo>
                  <a:pt x="202173" y="515361"/>
                </a:lnTo>
                <a:lnTo>
                  <a:pt x="188457" y="479797"/>
                </a:lnTo>
                <a:close/>
              </a:path>
              <a:path w="1444625" h="585470">
                <a:moveTo>
                  <a:pt x="330433" y="424552"/>
                </a:moveTo>
                <a:lnTo>
                  <a:pt x="223906" y="465963"/>
                </a:lnTo>
                <a:lnTo>
                  <a:pt x="237744" y="501514"/>
                </a:lnTo>
                <a:lnTo>
                  <a:pt x="344302" y="460116"/>
                </a:lnTo>
                <a:lnTo>
                  <a:pt x="330433" y="424552"/>
                </a:lnTo>
                <a:close/>
              </a:path>
              <a:path w="1444625" h="585470">
                <a:moveTo>
                  <a:pt x="472440" y="369307"/>
                </a:moveTo>
                <a:lnTo>
                  <a:pt x="366003" y="410718"/>
                </a:lnTo>
                <a:lnTo>
                  <a:pt x="379719" y="446269"/>
                </a:lnTo>
                <a:lnTo>
                  <a:pt x="486277" y="404871"/>
                </a:lnTo>
                <a:lnTo>
                  <a:pt x="472440" y="369307"/>
                </a:lnTo>
                <a:close/>
              </a:path>
              <a:path w="1444625" h="585470">
                <a:moveTo>
                  <a:pt x="614537" y="314062"/>
                </a:moveTo>
                <a:lnTo>
                  <a:pt x="507979" y="355473"/>
                </a:lnTo>
                <a:lnTo>
                  <a:pt x="521848" y="391024"/>
                </a:lnTo>
                <a:lnTo>
                  <a:pt x="628375" y="349626"/>
                </a:lnTo>
                <a:lnTo>
                  <a:pt x="614537" y="314062"/>
                </a:lnTo>
                <a:close/>
              </a:path>
              <a:path w="1444625" h="585470">
                <a:moveTo>
                  <a:pt x="756544" y="258817"/>
                </a:moveTo>
                <a:lnTo>
                  <a:pt x="649986" y="300228"/>
                </a:lnTo>
                <a:lnTo>
                  <a:pt x="663823" y="335779"/>
                </a:lnTo>
                <a:lnTo>
                  <a:pt x="770382" y="294381"/>
                </a:lnTo>
                <a:lnTo>
                  <a:pt x="756544" y="258817"/>
                </a:lnTo>
                <a:close/>
              </a:path>
              <a:path w="1444625" h="585470">
                <a:moveTo>
                  <a:pt x="898641" y="203572"/>
                </a:moveTo>
                <a:lnTo>
                  <a:pt x="792083" y="244983"/>
                </a:lnTo>
                <a:lnTo>
                  <a:pt x="805921" y="280534"/>
                </a:lnTo>
                <a:lnTo>
                  <a:pt x="912357" y="239136"/>
                </a:lnTo>
                <a:lnTo>
                  <a:pt x="898641" y="203572"/>
                </a:lnTo>
                <a:close/>
              </a:path>
              <a:path w="1444625" h="585470">
                <a:moveTo>
                  <a:pt x="1040617" y="148327"/>
                </a:moveTo>
                <a:lnTo>
                  <a:pt x="934090" y="189856"/>
                </a:lnTo>
                <a:lnTo>
                  <a:pt x="947928" y="225289"/>
                </a:lnTo>
                <a:lnTo>
                  <a:pt x="1054486" y="183891"/>
                </a:lnTo>
                <a:lnTo>
                  <a:pt x="1040617" y="148327"/>
                </a:lnTo>
                <a:close/>
              </a:path>
              <a:path w="1444625" h="585470">
                <a:moveTo>
                  <a:pt x="1182624" y="93082"/>
                </a:moveTo>
                <a:lnTo>
                  <a:pt x="1076187" y="134611"/>
                </a:lnTo>
                <a:lnTo>
                  <a:pt x="1089903" y="170044"/>
                </a:lnTo>
                <a:lnTo>
                  <a:pt x="1196461" y="128646"/>
                </a:lnTo>
                <a:lnTo>
                  <a:pt x="1182624" y="93082"/>
                </a:lnTo>
                <a:close/>
              </a:path>
              <a:path w="1444625" h="585470">
                <a:moveTo>
                  <a:pt x="1324721" y="37837"/>
                </a:moveTo>
                <a:lnTo>
                  <a:pt x="1218163" y="79366"/>
                </a:lnTo>
                <a:lnTo>
                  <a:pt x="1232032" y="114799"/>
                </a:lnTo>
                <a:lnTo>
                  <a:pt x="1338559" y="73401"/>
                </a:lnTo>
                <a:lnTo>
                  <a:pt x="1324721" y="37837"/>
                </a:lnTo>
                <a:close/>
              </a:path>
              <a:path w="1444625" h="585470">
                <a:moveTo>
                  <a:pt x="1316979" y="0"/>
                </a:moveTo>
                <a:lnTo>
                  <a:pt x="1358371" y="106548"/>
                </a:lnTo>
                <a:lnTo>
                  <a:pt x="1444233" y="11811"/>
                </a:lnTo>
                <a:lnTo>
                  <a:pt x="1316979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/>
          <p:nvPr/>
        </p:nvSpPr>
        <p:spPr>
          <a:xfrm>
            <a:off x="6024164" y="3233990"/>
            <a:ext cx="2209800" cy="865505"/>
          </a:xfrm>
          <a:custGeom>
            <a:avLst/>
            <a:gdLst/>
            <a:ahLst/>
            <a:cxnLst/>
            <a:rect l="l" t="t" r="r" b="b"/>
            <a:pathLst>
              <a:path w="2209800" h="865504">
                <a:moveTo>
                  <a:pt x="86624" y="758595"/>
                </a:moveTo>
                <a:lnTo>
                  <a:pt x="0" y="852617"/>
                </a:lnTo>
                <a:lnTo>
                  <a:pt x="127132" y="865440"/>
                </a:lnTo>
                <a:lnTo>
                  <a:pt x="116195" y="836593"/>
                </a:lnTo>
                <a:lnTo>
                  <a:pt x="95890" y="836593"/>
                </a:lnTo>
                <a:lnTo>
                  <a:pt x="82296" y="800968"/>
                </a:lnTo>
                <a:lnTo>
                  <a:pt x="100120" y="794193"/>
                </a:lnTo>
                <a:lnTo>
                  <a:pt x="86624" y="758595"/>
                </a:lnTo>
                <a:close/>
              </a:path>
              <a:path w="2209800" h="865504">
                <a:moveTo>
                  <a:pt x="100120" y="794193"/>
                </a:moveTo>
                <a:lnTo>
                  <a:pt x="82296" y="800968"/>
                </a:lnTo>
                <a:lnTo>
                  <a:pt x="95890" y="836593"/>
                </a:lnTo>
                <a:lnTo>
                  <a:pt x="113637" y="829846"/>
                </a:lnTo>
                <a:lnTo>
                  <a:pt x="100120" y="794193"/>
                </a:lnTo>
                <a:close/>
              </a:path>
              <a:path w="2209800" h="865504">
                <a:moveTo>
                  <a:pt x="113637" y="829846"/>
                </a:moveTo>
                <a:lnTo>
                  <a:pt x="95890" y="836593"/>
                </a:lnTo>
                <a:lnTo>
                  <a:pt x="116195" y="836593"/>
                </a:lnTo>
                <a:lnTo>
                  <a:pt x="113637" y="829846"/>
                </a:lnTo>
                <a:close/>
              </a:path>
              <a:path w="2209800" h="865504">
                <a:moveTo>
                  <a:pt x="189097" y="760369"/>
                </a:moveTo>
                <a:lnTo>
                  <a:pt x="100120" y="794193"/>
                </a:lnTo>
                <a:lnTo>
                  <a:pt x="113637" y="829846"/>
                </a:lnTo>
                <a:lnTo>
                  <a:pt x="202692" y="795991"/>
                </a:lnTo>
                <a:lnTo>
                  <a:pt x="189097" y="760369"/>
                </a:lnTo>
                <a:close/>
              </a:path>
              <a:path w="2209800" h="865504">
                <a:moveTo>
                  <a:pt x="331591" y="706242"/>
                </a:moveTo>
                <a:lnTo>
                  <a:pt x="224790" y="746842"/>
                </a:lnTo>
                <a:lnTo>
                  <a:pt x="238262" y="782455"/>
                </a:lnTo>
                <a:lnTo>
                  <a:pt x="345186" y="741855"/>
                </a:lnTo>
                <a:lnTo>
                  <a:pt x="331591" y="706242"/>
                </a:lnTo>
                <a:close/>
              </a:path>
              <a:path w="2209800" h="865504">
                <a:moveTo>
                  <a:pt x="474085" y="652140"/>
                </a:moveTo>
                <a:lnTo>
                  <a:pt x="367162" y="692658"/>
                </a:lnTo>
                <a:lnTo>
                  <a:pt x="380756" y="728340"/>
                </a:lnTo>
                <a:lnTo>
                  <a:pt x="487558" y="687705"/>
                </a:lnTo>
                <a:lnTo>
                  <a:pt x="474085" y="652140"/>
                </a:lnTo>
                <a:close/>
              </a:path>
              <a:path w="2209800" h="865504">
                <a:moveTo>
                  <a:pt x="616458" y="597907"/>
                </a:moveTo>
                <a:lnTo>
                  <a:pt x="509656" y="638556"/>
                </a:lnTo>
                <a:lnTo>
                  <a:pt x="523250" y="674238"/>
                </a:lnTo>
                <a:lnTo>
                  <a:pt x="630052" y="633603"/>
                </a:lnTo>
                <a:lnTo>
                  <a:pt x="616458" y="597907"/>
                </a:lnTo>
                <a:close/>
              </a:path>
              <a:path w="2209800" h="865504">
                <a:moveTo>
                  <a:pt x="758952" y="543805"/>
                </a:moveTo>
                <a:lnTo>
                  <a:pt x="652150" y="584454"/>
                </a:lnTo>
                <a:lnTo>
                  <a:pt x="665622" y="620005"/>
                </a:lnTo>
                <a:lnTo>
                  <a:pt x="772546" y="579501"/>
                </a:lnTo>
                <a:lnTo>
                  <a:pt x="758952" y="543805"/>
                </a:lnTo>
                <a:close/>
              </a:path>
              <a:path w="2209800" h="865504">
                <a:moveTo>
                  <a:pt x="901446" y="489703"/>
                </a:moveTo>
                <a:lnTo>
                  <a:pt x="794644" y="530352"/>
                </a:lnTo>
                <a:lnTo>
                  <a:pt x="808116" y="565903"/>
                </a:lnTo>
                <a:lnTo>
                  <a:pt x="915040" y="525267"/>
                </a:lnTo>
                <a:lnTo>
                  <a:pt x="901446" y="489703"/>
                </a:lnTo>
                <a:close/>
              </a:path>
              <a:path w="2209800" h="865504">
                <a:moveTo>
                  <a:pt x="1043940" y="435601"/>
                </a:moveTo>
                <a:lnTo>
                  <a:pt x="937016" y="476118"/>
                </a:lnTo>
                <a:lnTo>
                  <a:pt x="950610" y="511801"/>
                </a:lnTo>
                <a:lnTo>
                  <a:pt x="1057412" y="471165"/>
                </a:lnTo>
                <a:lnTo>
                  <a:pt x="1043940" y="435601"/>
                </a:lnTo>
                <a:close/>
              </a:path>
              <a:path w="2209800" h="865504">
                <a:moveTo>
                  <a:pt x="1186312" y="381381"/>
                </a:moveTo>
                <a:lnTo>
                  <a:pt x="1079510" y="422016"/>
                </a:lnTo>
                <a:lnTo>
                  <a:pt x="1093104" y="457581"/>
                </a:lnTo>
                <a:lnTo>
                  <a:pt x="1199906" y="417063"/>
                </a:lnTo>
                <a:lnTo>
                  <a:pt x="1186312" y="381381"/>
                </a:lnTo>
                <a:close/>
              </a:path>
              <a:path w="2209800" h="865504">
                <a:moveTo>
                  <a:pt x="1328806" y="327279"/>
                </a:moveTo>
                <a:lnTo>
                  <a:pt x="1222004" y="367914"/>
                </a:lnTo>
                <a:lnTo>
                  <a:pt x="1235445" y="403479"/>
                </a:lnTo>
                <a:lnTo>
                  <a:pt x="1342400" y="362830"/>
                </a:lnTo>
                <a:lnTo>
                  <a:pt x="1328806" y="327279"/>
                </a:lnTo>
                <a:close/>
              </a:path>
              <a:path w="2209800" h="865504">
                <a:moveTo>
                  <a:pt x="1471300" y="273177"/>
                </a:moveTo>
                <a:lnTo>
                  <a:pt x="1364498" y="313681"/>
                </a:lnTo>
                <a:lnTo>
                  <a:pt x="1377939" y="349377"/>
                </a:lnTo>
                <a:lnTo>
                  <a:pt x="1484772" y="308728"/>
                </a:lnTo>
                <a:lnTo>
                  <a:pt x="1471300" y="273177"/>
                </a:lnTo>
                <a:close/>
              </a:path>
              <a:path w="2209800" h="865504">
                <a:moveTo>
                  <a:pt x="1613794" y="218943"/>
                </a:moveTo>
                <a:lnTo>
                  <a:pt x="1506870" y="259579"/>
                </a:lnTo>
                <a:lnTo>
                  <a:pt x="1520433" y="295275"/>
                </a:lnTo>
                <a:lnTo>
                  <a:pt x="1627266" y="254626"/>
                </a:lnTo>
                <a:lnTo>
                  <a:pt x="1613794" y="218943"/>
                </a:lnTo>
                <a:close/>
              </a:path>
              <a:path w="2209800" h="865504">
                <a:moveTo>
                  <a:pt x="1756166" y="164841"/>
                </a:moveTo>
                <a:lnTo>
                  <a:pt x="1649364" y="205477"/>
                </a:lnTo>
                <a:lnTo>
                  <a:pt x="1662927" y="241041"/>
                </a:lnTo>
                <a:lnTo>
                  <a:pt x="1769760" y="200524"/>
                </a:lnTo>
                <a:lnTo>
                  <a:pt x="1756166" y="164841"/>
                </a:lnTo>
                <a:close/>
              </a:path>
              <a:path w="2209800" h="865504">
                <a:moveTo>
                  <a:pt x="1898660" y="110739"/>
                </a:moveTo>
                <a:lnTo>
                  <a:pt x="1791858" y="151375"/>
                </a:lnTo>
                <a:lnTo>
                  <a:pt x="1805299" y="186939"/>
                </a:lnTo>
                <a:lnTo>
                  <a:pt x="1912254" y="146304"/>
                </a:lnTo>
                <a:lnTo>
                  <a:pt x="1898660" y="110739"/>
                </a:lnTo>
                <a:close/>
              </a:path>
              <a:path w="2209800" h="865504">
                <a:moveTo>
                  <a:pt x="2041154" y="56637"/>
                </a:moveTo>
                <a:lnTo>
                  <a:pt x="1934352" y="97155"/>
                </a:lnTo>
                <a:lnTo>
                  <a:pt x="1947793" y="132837"/>
                </a:lnTo>
                <a:lnTo>
                  <a:pt x="2054595" y="92202"/>
                </a:lnTo>
                <a:lnTo>
                  <a:pt x="2041154" y="56637"/>
                </a:lnTo>
                <a:close/>
              </a:path>
              <a:path w="2209800" h="865504">
                <a:moveTo>
                  <a:pt x="2194975" y="28956"/>
                </a:moveTo>
                <a:lnTo>
                  <a:pt x="2114031" y="28956"/>
                </a:lnTo>
                <a:lnTo>
                  <a:pt x="2127504" y="64507"/>
                </a:lnTo>
                <a:lnTo>
                  <a:pt x="2109753" y="71231"/>
                </a:lnTo>
                <a:lnTo>
                  <a:pt x="2123328" y="106929"/>
                </a:lnTo>
                <a:lnTo>
                  <a:pt x="2194975" y="28956"/>
                </a:lnTo>
                <a:close/>
              </a:path>
              <a:path w="2209800" h="865504">
                <a:moveTo>
                  <a:pt x="2096233" y="35675"/>
                </a:moveTo>
                <a:lnTo>
                  <a:pt x="2076693" y="43053"/>
                </a:lnTo>
                <a:lnTo>
                  <a:pt x="2090287" y="78604"/>
                </a:lnTo>
                <a:lnTo>
                  <a:pt x="2109753" y="71231"/>
                </a:lnTo>
                <a:lnTo>
                  <a:pt x="2096233" y="35675"/>
                </a:lnTo>
                <a:close/>
              </a:path>
              <a:path w="2209800" h="865504">
                <a:moveTo>
                  <a:pt x="2114031" y="28956"/>
                </a:moveTo>
                <a:lnTo>
                  <a:pt x="2096233" y="35675"/>
                </a:lnTo>
                <a:lnTo>
                  <a:pt x="2109753" y="71231"/>
                </a:lnTo>
                <a:lnTo>
                  <a:pt x="2127504" y="64507"/>
                </a:lnTo>
                <a:lnTo>
                  <a:pt x="2114031" y="28956"/>
                </a:lnTo>
                <a:close/>
              </a:path>
              <a:path w="2209800" h="865504">
                <a:moveTo>
                  <a:pt x="2082667" y="0"/>
                </a:moveTo>
                <a:lnTo>
                  <a:pt x="2096233" y="35675"/>
                </a:lnTo>
                <a:lnTo>
                  <a:pt x="2114031" y="28956"/>
                </a:lnTo>
                <a:lnTo>
                  <a:pt x="2194975" y="28956"/>
                </a:lnTo>
                <a:lnTo>
                  <a:pt x="2209800" y="12822"/>
                </a:lnTo>
                <a:lnTo>
                  <a:pt x="2082667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5763681" y="3173030"/>
            <a:ext cx="305435" cy="1040130"/>
          </a:xfrm>
          <a:custGeom>
            <a:avLst/>
            <a:gdLst/>
            <a:ahLst/>
            <a:cxnLst/>
            <a:rect l="l" t="t" r="r" b="b"/>
            <a:pathLst>
              <a:path w="305435" h="1040129">
                <a:moveTo>
                  <a:pt x="0" y="0"/>
                </a:moveTo>
                <a:lnTo>
                  <a:pt x="304921" y="1039724"/>
                </a:lnTo>
              </a:path>
            </a:pathLst>
          </a:custGeom>
          <a:ln w="28574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 txBox="1"/>
          <p:nvPr/>
        </p:nvSpPr>
        <p:spPr>
          <a:xfrm>
            <a:off x="5120816" y="4243885"/>
            <a:ext cx="2893695" cy="7835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 algn="just">
              <a:lnSpc>
                <a:spcPct val="100600"/>
              </a:lnSpc>
              <a:spcBef>
                <a:spcPts val="90"/>
              </a:spcBef>
            </a:pPr>
            <a:r>
              <a:rPr sz="1650" spc="-15" dirty="0">
                <a:latin typeface="Arial"/>
                <a:cs typeface="Arial"/>
              </a:rPr>
              <a:t>Measure </a:t>
            </a:r>
            <a:r>
              <a:rPr sz="1650" spc="-35" dirty="0">
                <a:latin typeface="Arial"/>
                <a:cs typeface="Arial"/>
              </a:rPr>
              <a:t>the </a:t>
            </a:r>
            <a:r>
              <a:rPr sz="1650" spc="-20" dirty="0">
                <a:latin typeface="Arial"/>
                <a:cs typeface="Arial"/>
              </a:rPr>
              <a:t>distance </a:t>
            </a:r>
            <a:r>
              <a:rPr sz="1650" spc="-40" dirty="0">
                <a:latin typeface="Arial"/>
                <a:cs typeface="Arial"/>
              </a:rPr>
              <a:t>and </a:t>
            </a:r>
            <a:r>
              <a:rPr sz="1650" spc="-15" dirty="0">
                <a:latin typeface="Arial"/>
                <a:cs typeface="Arial"/>
              </a:rPr>
              <a:t>add  </a:t>
            </a:r>
            <a:r>
              <a:rPr sz="1650" spc="-35" dirty="0">
                <a:latin typeface="Arial"/>
                <a:cs typeface="Arial"/>
              </a:rPr>
              <a:t>the </a:t>
            </a:r>
            <a:r>
              <a:rPr sz="1650" dirty="0">
                <a:latin typeface="Arial"/>
                <a:cs typeface="Arial"/>
              </a:rPr>
              <a:t>3</a:t>
            </a:r>
            <a:r>
              <a:rPr sz="1650" baseline="27777" dirty="0">
                <a:latin typeface="Arial"/>
                <a:cs typeface="Arial"/>
              </a:rPr>
              <a:t>rd </a:t>
            </a:r>
            <a:r>
              <a:rPr sz="1650" spc="-10" dirty="0">
                <a:latin typeface="Arial"/>
                <a:cs typeface="Arial"/>
              </a:rPr>
              <a:t>point </a:t>
            </a:r>
            <a:r>
              <a:rPr sz="1650" spc="-5" dirty="0">
                <a:latin typeface="Arial"/>
                <a:cs typeface="Arial"/>
              </a:rPr>
              <a:t>to </a:t>
            </a:r>
            <a:r>
              <a:rPr sz="1650" spc="-35" dirty="0">
                <a:latin typeface="Arial"/>
                <a:cs typeface="Arial"/>
              </a:rPr>
              <a:t>the </a:t>
            </a:r>
            <a:r>
              <a:rPr sz="1650" spc="-25" dirty="0">
                <a:latin typeface="Arial"/>
                <a:cs typeface="Arial"/>
              </a:rPr>
              <a:t>cluster(</a:t>
            </a:r>
            <a:r>
              <a:rPr sz="1650" spc="-25" dirty="0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sz="1650" spc="-25" dirty="0">
                <a:latin typeface="Arial"/>
                <a:cs typeface="Arial"/>
              </a:rPr>
              <a:t>)  </a:t>
            </a:r>
            <a:r>
              <a:rPr sz="1650" spc="-35" dirty="0">
                <a:latin typeface="Arial"/>
                <a:cs typeface="Arial"/>
              </a:rPr>
              <a:t>having the minimum</a:t>
            </a:r>
            <a:r>
              <a:rPr sz="1650" spc="60" dirty="0">
                <a:latin typeface="Arial"/>
                <a:cs typeface="Arial"/>
              </a:rPr>
              <a:t> </a:t>
            </a:r>
            <a:r>
              <a:rPr sz="1650" spc="-20" dirty="0">
                <a:latin typeface="Arial"/>
                <a:cs typeface="Arial"/>
              </a:rPr>
              <a:t>distance</a:t>
            </a:r>
            <a:endParaRPr sz="1650">
              <a:latin typeface="Arial"/>
              <a:cs typeface="Arial"/>
            </a:endParaRPr>
          </a:p>
        </p:txBody>
      </p:sp>
      <p:sp>
        <p:nvSpPr>
          <p:cNvPr id="30" name="object 26"/>
          <p:cNvSpPr/>
          <p:nvPr/>
        </p:nvSpPr>
        <p:spPr>
          <a:xfrm>
            <a:off x="5653953" y="2781231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577" y="796158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77208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26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4688638" y="2260522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/>
        </p:nvSpPr>
        <p:spPr>
          <a:xfrm>
            <a:off x="4984416" y="3828718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/>
        </p:nvSpPr>
        <p:spPr>
          <a:xfrm>
            <a:off x="5273489" y="3725597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5665522" y="3599868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5975169" y="3512356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6549755" y="3280899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6853237" y="3192066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7185019" y="3057895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7594267" y="2934510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8272027" y="2680574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8574663" y="2474194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9173595" y="2356206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5469323" y="3361612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/>
          <p:nvPr/>
        </p:nvSpPr>
        <p:spPr>
          <a:xfrm>
            <a:off x="5363008" y="3400093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577" y="796158"/>
                </a:lnTo>
              </a:path>
            </a:pathLst>
          </a:custGeom>
          <a:ln w="28574">
            <a:solidFill>
              <a:srgbClr val="FF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/>
          <p:nvPr/>
        </p:nvSpPr>
        <p:spPr>
          <a:xfrm>
            <a:off x="5329359" y="3290746"/>
            <a:ext cx="150510" cy="8102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/>
          <p:cNvSpPr txBox="1">
            <a:spLocks/>
          </p:cNvSpPr>
          <p:nvPr/>
        </p:nvSpPr>
        <p:spPr>
          <a:xfrm>
            <a:off x="4938710" y="1664951"/>
            <a:ext cx="1761489" cy="782955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lnSpc>
                <a:spcPct val="100600"/>
              </a:lnSpc>
              <a:spcBef>
                <a:spcPts val="90"/>
              </a:spcBef>
            </a:pPr>
            <a:r>
              <a:rPr lang="en-US" sz="1650" spc="-35" smtClean="0">
                <a:solidFill>
                  <a:srgbClr val="000000"/>
                </a:solidFill>
              </a:rPr>
              <a:t>Calculate the </a:t>
            </a:r>
            <a:r>
              <a:rPr lang="en-US" sz="1650" spc="-40" smtClean="0">
                <a:solidFill>
                  <a:srgbClr val="000000"/>
                </a:solidFill>
              </a:rPr>
              <a:t>new  </a:t>
            </a:r>
            <a:r>
              <a:rPr lang="en-US" sz="1650" spc="-30" smtClean="0">
                <a:solidFill>
                  <a:srgbClr val="000000"/>
                </a:solidFill>
              </a:rPr>
              <a:t>cluster </a:t>
            </a:r>
            <a:r>
              <a:rPr lang="en-US" sz="1650" spc="-20" smtClean="0">
                <a:solidFill>
                  <a:srgbClr val="000000"/>
                </a:solidFill>
              </a:rPr>
              <a:t>mean </a:t>
            </a:r>
            <a:r>
              <a:rPr lang="en-US" sz="1650" spc="-40" smtClean="0">
                <a:solidFill>
                  <a:srgbClr val="000000"/>
                </a:solidFill>
              </a:rPr>
              <a:t>using  </a:t>
            </a:r>
            <a:r>
              <a:rPr lang="en-US" sz="1650" spc="-35" smtClean="0">
                <a:solidFill>
                  <a:srgbClr val="000000"/>
                </a:solidFill>
              </a:rPr>
              <a:t>the </a:t>
            </a:r>
            <a:r>
              <a:rPr lang="en-US" sz="1650" spc="-40" smtClean="0">
                <a:solidFill>
                  <a:srgbClr val="000000"/>
                </a:solidFill>
              </a:rPr>
              <a:t>new</a:t>
            </a:r>
            <a:r>
              <a:rPr lang="en-US" sz="1650" spc="-215" smtClean="0">
                <a:solidFill>
                  <a:srgbClr val="000000"/>
                </a:solidFill>
              </a:rPr>
              <a:t> </a:t>
            </a:r>
            <a:r>
              <a:rPr lang="en-US" sz="1650" spc="-15" smtClean="0">
                <a:solidFill>
                  <a:srgbClr val="000000"/>
                </a:solidFill>
              </a:rPr>
              <a:t>point</a:t>
            </a:r>
            <a:endParaRPr lang="en-US" sz="1650"/>
          </a:p>
        </p:txBody>
      </p:sp>
      <p:sp>
        <p:nvSpPr>
          <p:cNvPr id="29" name="object 24"/>
          <p:cNvSpPr/>
          <p:nvPr/>
        </p:nvSpPr>
        <p:spPr>
          <a:xfrm>
            <a:off x="5527357" y="2481258"/>
            <a:ext cx="330835" cy="646430"/>
          </a:xfrm>
          <a:custGeom>
            <a:avLst/>
            <a:gdLst/>
            <a:ahLst/>
            <a:cxnLst/>
            <a:rect l="l" t="t" r="r" b="b"/>
            <a:pathLst>
              <a:path w="330835" h="646430">
                <a:moveTo>
                  <a:pt x="0" y="454645"/>
                </a:moveTo>
                <a:lnTo>
                  <a:pt x="3810" y="646288"/>
                </a:lnTo>
                <a:lnTo>
                  <a:pt x="153179" y="529452"/>
                </a:lnTo>
                <a:lnTo>
                  <a:pt x="90921" y="529452"/>
                </a:lnTo>
                <a:lnTo>
                  <a:pt x="39380" y="504937"/>
                </a:lnTo>
                <a:lnTo>
                  <a:pt x="51618" y="479164"/>
                </a:lnTo>
                <a:lnTo>
                  <a:pt x="0" y="454645"/>
                </a:lnTo>
                <a:close/>
              </a:path>
              <a:path w="330835" h="646430">
                <a:moveTo>
                  <a:pt x="51618" y="479164"/>
                </a:moveTo>
                <a:lnTo>
                  <a:pt x="39380" y="504937"/>
                </a:lnTo>
                <a:lnTo>
                  <a:pt x="90921" y="529452"/>
                </a:lnTo>
                <a:lnTo>
                  <a:pt x="103178" y="503655"/>
                </a:lnTo>
                <a:lnTo>
                  <a:pt x="51618" y="479164"/>
                </a:lnTo>
                <a:close/>
              </a:path>
              <a:path w="330835" h="646430">
                <a:moveTo>
                  <a:pt x="103178" y="503655"/>
                </a:moveTo>
                <a:lnTo>
                  <a:pt x="90921" y="529452"/>
                </a:lnTo>
                <a:lnTo>
                  <a:pt x="153179" y="529452"/>
                </a:lnTo>
                <a:lnTo>
                  <a:pt x="154807" y="528178"/>
                </a:lnTo>
                <a:lnTo>
                  <a:pt x="103178" y="503655"/>
                </a:lnTo>
                <a:close/>
              </a:path>
              <a:path w="330835" h="646430">
                <a:moveTo>
                  <a:pt x="279135" y="0"/>
                </a:moveTo>
                <a:lnTo>
                  <a:pt x="51618" y="479164"/>
                </a:lnTo>
                <a:lnTo>
                  <a:pt x="103178" y="503655"/>
                </a:lnTo>
                <a:lnTo>
                  <a:pt x="330829" y="24505"/>
                </a:lnTo>
                <a:lnTo>
                  <a:pt x="27913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2541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27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20"/>
          <p:cNvSpPr txBox="1"/>
          <p:nvPr/>
        </p:nvSpPr>
        <p:spPr>
          <a:xfrm>
            <a:off x="3960439" y="249563"/>
            <a:ext cx="3750310" cy="960119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Measure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the</a:t>
            </a:r>
            <a:r>
              <a:rPr sz="1350" b="1" spc="-10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distance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1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the nearest</a:t>
            </a:r>
            <a:r>
              <a:rPr sz="13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Calculate the cluster </a:t>
            </a:r>
            <a:r>
              <a:rPr sz="1350" spc="-25" dirty="0">
                <a:solidFill>
                  <a:srgbClr val="595959"/>
                </a:solidFill>
                <a:latin typeface="Arial"/>
                <a:cs typeface="Arial"/>
              </a:rPr>
              <a:t>mean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using the new</a:t>
            </a:r>
            <a:r>
              <a:rPr sz="13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4" name="object 6"/>
          <p:cNvSpPr/>
          <p:nvPr/>
        </p:nvSpPr>
        <p:spPr>
          <a:xfrm>
            <a:off x="4688638" y="2394253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/>
          <p:nvPr/>
        </p:nvSpPr>
        <p:spPr>
          <a:xfrm>
            <a:off x="4984416" y="3962449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/>
          <p:cNvSpPr/>
          <p:nvPr/>
        </p:nvSpPr>
        <p:spPr>
          <a:xfrm>
            <a:off x="5273489" y="3859328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/>
          <p:cNvSpPr/>
          <p:nvPr/>
        </p:nvSpPr>
        <p:spPr>
          <a:xfrm>
            <a:off x="5651235" y="3719311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/>
          <p:cNvSpPr/>
          <p:nvPr/>
        </p:nvSpPr>
        <p:spPr>
          <a:xfrm>
            <a:off x="5975169" y="3646087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1"/>
          <p:cNvSpPr/>
          <p:nvPr/>
        </p:nvSpPr>
        <p:spPr>
          <a:xfrm>
            <a:off x="6549755" y="3414630"/>
            <a:ext cx="234955" cy="2349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2"/>
          <p:cNvSpPr/>
          <p:nvPr/>
        </p:nvSpPr>
        <p:spPr>
          <a:xfrm>
            <a:off x="6853237" y="3325797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3"/>
          <p:cNvSpPr/>
          <p:nvPr/>
        </p:nvSpPr>
        <p:spPr>
          <a:xfrm>
            <a:off x="7185019" y="3191626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4"/>
          <p:cNvSpPr/>
          <p:nvPr/>
        </p:nvSpPr>
        <p:spPr>
          <a:xfrm>
            <a:off x="7594267" y="3068241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/>
          <p:nvPr/>
        </p:nvSpPr>
        <p:spPr>
          <a:xfrm>
            <a:off x="8272027" y="2814305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/>
          <p:cNvSpPr/>
          <p:nvPr/>
        </p:nvSpPr>
        <p:spPr>
          <a:xfrm>
            <a:off x="8574663" y="2607925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/>
          <p:cNvSpPr/>
          <p:nvPr/>
        </p:nvSpPr>
        <p:spPr>
          <a:xfrm>
            <a:off x="9173595" y="2489937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8"/>
          <p:cNvSpPr/>
          <p:nvPr/>
        </p:nvSpPr>
        <p:spPr>
          <a:xfrm>
            <a:off x="5469323" y="3495343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/>
          <p:nvPr/>
        </p:nvSpPr>
        <p:spPr>
          <a:xfrm>
            <a:off x="6693979" y="3614083"/>
            <a:ext cx="172720" cy="459740"/>
          </a:xfrm>
          <a:custGeom>
            <a:avLst/>
            <a:gdLst/>
            <a:ahLst/>
            <a:cxnLst/>
            <a:rect l="l" t="t" r="r" b="b"/>
            <a:pathLst>
              <a:path w="172720" h="459739">
                <a:moveTo>
                  <a:pt x="117726" y="382053"/>
                </a:moveTo>
                <a:lnTo>
                  <a:pt x="90434" y="390656"/>
                </a:lnTo>
                <a:lnTo>
                  <a:pt x="157093" y="459486"/>
                </a:lnTo>
                <a:lnTo>
                  <a:pt x="167280" y="395740"/>
                </a:lnTo>
                <a:lnTo>
                  <a:pt x="122041" y="395740"/>
                </a:lnTo>
                <a:lnTo>
                  <a:pt x="117726" y="382053"/>
                </a:lnTo>
                <a:close/>
              </a:path>
              <a:path w="172720" h="459739">
                <a:moveTo>
                  <a:pt x="144940" y="373475"/>
                </a:moveTo>
                <a:lnTo>
                  <a:pt x="117726" y="382053"/>
                </a:lnTo>
                <a:lnTo>
                  <a:pt x="122041" y="395740"/>
                </a:lnTo>
                <a:lnTo>
                  <a:pt x="149230" y="387096"/>
                </a:lnTo>
                <a:lnTo>
                  <a:pt x="144940" y="373475"/>
                </a:lnTo>
                <a:close/>
              </a:path>
              <a:path w="172720" h="459739">
                <a:moveTo>
                  <a:pt x="172212" y="364879"/>
                </a:moveTo>
                <a:lnTo>
                  <a:pt x="144940" y="373475"/>
                </a:lnTo>
                <a:lnTo>
                  <a:pt x="149230" y="387096"/>
                </a:lnTo>
                <a:lnTo>
                  <a:pt x="122041" y="395740"/>
                </a:lnTo>
                <a:lnTo>
                  <a:pt x="167280" y="395740"/>
                </a:lnTo>
                <a:lnTo>
                  <a:pt x="172212" y="364879"/>
                </a:lnTo>
                <a:close/>
              </a:path>
              <a:path w="172720" h="459739">
                <a:moveTo>
                  <a:pt x="27310" y="0"/>
                </a:moveTo>
                <a:lnTo>
                  <a:pt x="0" y="8644"/>
                </a:lnTo>
                <a:lnTo>
                  <a:pt x="117726" y="382053"/>
                </a:lnTo>
                <a:lnTo>
                  <a:pt x="144940" y="373475"/>
                </a:lnTo>
                <a:lnTo>
                  <a:pt x="273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1"/>
          <p:cNvSpPr/>
          <p:nvPr/>
        </p:nvSpPr>
        <p:spPr>
          <a:xfrm>
            <a:off x="5519702" y="2943655"/>
            <a:ext cx="1018540" cy="437515"/>
          </a:xfrm>
          <a:custGeom>
            <a:avLst/>
            <a:gdLst/>
            <a:ahLst/>
            <a:cxnLst/>
            <a:rect l="l" t="t" r="r" b="b"/>
            <a:pathLst>
              <a:path w="1018539" h="437514">
                <a:moveTo>
                  <a:pt x="13354" y="437519"/>
                </a:moveTo>
                <a:lnTo>
                  <a:pt x="4223" y="407627"/>
                </a:lnTo>
                <a:lnTo>
                  <a:pt x="0" y="382032"/>
                </a:lnTo>
                <a:lnTo>
                  <a:pt x="868" y="363417"/>
                </a:lnTo>
                <a:lnTo>
                  <a:pt x="7014" y="354461"/>
                </a:lnTo>
                <a:lnTo>
                  <a:pt x="466744" y="185165"/>
                </a:lnTo>
                <a:lnTo>
                  <a:pt x="472904" y="176154"/>
                </a:lnTo>
                <a:lnTo>
                  <a:pt x="473784" y="157545"/>
                </a:lnTo>
                <a:lnTo>
                  <a:pt x="469590" y="131981"/>
                </a:lnTo>
                <a:lnTo>
                  <a:pt x="460526" y="102107"/>
                </a:lnTo>
                <a:lnTo>
                  <a:pt x="472957" y="130750"/>
                </a:lnTo>
                <a:lnTo>
                  <a:pt x="486342" y="152940"/>
                </a:lnTo>
                <a:lnTo>
                  <a:pt x="499110" y="166510"/>
                </a:lnTo>
                <a:lnTo>
                  <a:pt x="509690" y="169295"/>
                </a:lnTo>
                <a:lnTo>
                  <a:pt x="969298" y="0"/>
                </a:lnTo>
                <a:lnTo>
                  <a:pt x="979791" y="2851"/>
                </a:lnTo>
                <a:lnTo>
                  <a:pt x="992527" y="16443"/>
                </a:lnTo>
                <a:lnTo>
                  <a:pt x="1005932" y="38611"/>
                </a:lnTo>
                <a:lnTo>
                  <a:pt x="1018432" y="67187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2"/>
          <p:cNvSpPr/>
          <p:nvPr/>
        </p:nvSpPr>
        <p:spPr>
          <a:xfrm>
            <a:off x="6456033" y="2734745"/>
            <a:ext cx="242570" cy="118110"/>
          </a:xfrm>
          <a:custGeom>
            <a:avLst/>
            <a:gdLst/>
            <a:ahLst/>
            <a:cxnLst/>
            <a:rect l="l" t="t" r="r" b="b"/>
            <a:pathLst>
              <a:path w="242570" h="118110">
                <a:moveTo>
                  <a:pt x="6297" y="117591"/>
                </a:moveTo>
                <a:lnTo>
                  <a:pt x="2130" y="104198"/>
                </a:lnTo>
                <a:lnTo>
                  <a:pt x="0" y="92788"/>
                </a:lnTo>
                <a:lnTo>
                  <a:pt x="35" y="84544"/>
                </a:lnTo>
                <a:lnTo>
                  <a:pt x="2366" y="80650"/>
                </a:lnTo>
                <a:lnTo>
                  <a:pt x="107400" y="41909"/>
                </a:lnTo>
                <a:lnTo>
                  <a:pt x="109725" y="38085"/>
                </a:lnTo>
                <a:lnTo>
                  <a:pt x="109750" y="29874"/>
                </a:lnTo>
                <a:lnTo>
                  <a:pt x="107610" y="18468"/>
                </a:lnTo>
                <a:lnTo>
                  <a:pt x="103437" y="5059"/>
                </a:lnTo>
                <a:lnTo>
                  <a:pt x="108945" y="17977"/>
                </a:lnTo>
                <a:lnTo>
                  <a:pt x="114719" y="28045"/>
                </a:lnTo>
                <a:lnTo>
                  <a:pt x="120064" y="34279"/>
                </a:lnTo>
                <a:lnTo>
                  <a:pt x="124286" y="35692"/>
                </a:lnTo>
                <a:lnTo>
                  <a:pt x="221425" y="0"/>
                </a:lnTo>
                <a:lnTo>
                  <a:pt x="225718" y="1395"/>
                </a:lnTo>
                <a:lnTo>
                  <a:pt x="231099" y="7619"/>
                </a:lnTo>
                <a:lnTo>
                  <a:pt x="236886" y="17685"/>
                </a:lnTo>
                <a:lnTo>
                  <a:pt x="242396" y="30601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3"/>
          <p:cNvSpPr/>
          <p:nvPr/>
        </p:nvSpPr>
        <p:spPr>
          <a:xfrm>
            <a:off x="6402087" y="2288335"/>
            <a:ext cx="998219" cy="405765"/>
          </a:xfrm>
          <a:custGeom>
            <a:avLst/>
            <a:gdLst/>
            <a:ahLst/>
            <a:cxnLst/>
            <a:rect l="l" t="t" r="r" b="b"/>
            <a:pathLst>
              <a:path w="998220" h="405764">
                <a:moveTo>
                  <a:pt x="8427" y="405262"/>
                </a:moveTo>
                <a:lnTo>
                  <a:pt x="2862" y="387394"/>
                </a:lnTo>
                <a:lnTo>
                  <a:pt x="0" y="372183"/>
                </a:lnTo>
                <a:lnTo>
                  <a:pt x="18" y="361190"/>
                </a:lnTo>
                <a:lnTo>
                  <a:pt x="3093" y="355975"/>
                </a:lnTo>
                <a:lnTo>
                  <a:pt x="491779" y="176021"/>
                </a:lnTo>
                <a:lnTo>
                  <a:pt x="494855" y="170877"/>
                </a:lnTo>
                <a:lnTo>
                  <a:pt x="494873" y="159920"/>
                </a:lnTo>
                <a:lnTo>
                  <a:pt x="492011" y="144723"/>
                </a:lnTo>
                <a:lnTo>
                  <a:pt x="486445" y="126857"/>
                </a:lnTo>
                <a:lnTo>
                  <a:pt x="493795" y="144076"/>
                </a:lnTo>
                <a:lnTo>
                  <a:pt x="501517" y="157505"/>
                </a:lnTo>
                <a:lnTo>
                  <a:pt x="508691" y="165836"/>
                </a:lnTo>
                <a:lnTo>
                  <a:pt x="514395" y="167761"/>
                </a:lnTo>
                <a:lnTo>
                  <a:pt x="969827" y="0"/>
                </a:lnTo>
                <a:lnTo>
                  <a:pt x="975508" y="1922"/>
                </a:lnTo>
                <a:lnTo>
                  <a:pt x="982629" y="10237"/>
                </a:lnTo>
                <a:lnTo>
                  <a:pt x="990298" y="23621"/>
                </a:lnTo>
                <a:lnTo>
                  <a:pt x="997625" y="40751"/>
                </a:lnTo>
              </a:path>
            </a:pathLst>
          </a:custGeom>
          <a:ln w="28574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4"/>
          <p:cNvSpPr txBox="1"/>
          <p:nvPr/>
        </p:nvSpPr>
        <p:spPr>
          <a:xfrm>
            <a:off x="5373177" y="4198604"/>
            <a:ext cx="3282315" cy="1099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14400" marR="541020">
              <a:lnSpc>
                <a:spcPct val="100000"/>
              </a:lnSpc>
              <a:spcBef>
                <a:spcPts val="100"/>
              </a:spcBef>
            </a:pPr>
            <a:r>
              <a:rPr sz="1500" spc="-85" dirty="0">
                <a:latin typeface="Arial"/>
                <a:cs typeface="Arial"/>
              </a:rPr>
              <a:t>To </a:t>
            </a:r>
            <a:r>
              <a:rPr sz="1500" spc="-20" dirty="0">
                <a:latin typeface="Arial"/>
                <a:cs typeface="Arial"/>
              </a:rPr>
              <a:t>which </a:t>
            </a:r>
            <a:r>
              <a:rPr sz="1500" spc="-15" dirty="0">
                <a:latin typeface="Arial"/>
                <a:cs typeface="Arial"/>
              </a:rPr>
              <a:t>cluster </a:t>
            </a:r>
            <a:r>
              <a:rPr sz="1500" spc="-10" dirty="0">
                <a:latin typeface="Arial"/>
                <a:cs typeface="Arial"/>
              </a:rPr>
              <a:t>does  </a:t>
            </a:r>
            <a:r>
              <a:rPr sz="1500" spc="-25" dirty="0">
                <a:latin typeface="Arial"/>
                <a:cs typeface="Arial"/>
              </a:rPr>
              <a:t>this </a:t>
            </a:r>
            <a:r>
              <a:rPr sz="1500" spc="-30" dirty="0">
                <a:latin typeface="Arial"/>
                <a:cs typeface="Arial"/>
              </a:rPr>
              <a:t>point belongs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5" dirty="0">
                <a:latin typeface="Arial"/>
                <a:cs typeface="Arial"/>
              </a:rPr>
              <a:t>to?</a:t>
            </a:r>
            <a:endParaRPr sz="15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REPEAT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 STEPS</a:t>
            </a:r>
            <a:r>
              <a:rPr sz="1800" b="1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595959"/>
                </a:solidFill>
                <a:latin typeface="Arial"/>
                <a:cs typeface="Arial"/>
              </a:rPr>
              <a:t>AGAIN…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205396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28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22"/>
          <p:cNvSpPr txBox="1"/>
          <p:nvPr/>
        </p:nvSpPr>
        <p:spPr>
          <a:xfrm>
            <a:off x="4209821" y="457207"/>
            <a:ext cx="3750310" cy="960119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Measure the</a:t>
            </a:r>
            <a:r>
              <a:rPr sz="135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distance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Assign the point to the </a:t>
            </a:r>
            <a:r>
              <a:rPr sz="1350" b="1" spc="15" dirty="0">
                <a:solidFill>
                  <a:srgbClr val="5F4778"/>
                </a:solidFill>
                <a:latin typeface="Arial"/>
                <a:cs typeface="Arial"/>
              </a:rPr>
              <a:t>nearest</a:t>
            </a:r>
            <a:r>
              <a:rPr sz="1350" b="1" spc="-14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Calculate the cluster </a:t>
            </a:r>
            <a:r>
              <a:rPr sz="1350" spc="-25" dirty="0">
                <a:solidFill>
                  <a:srgbClr val="595959"/>
                </a:solidFill>
                <a:latin typeface="Arial"/>
                <a:cs typeface="Arial"/>
              </a:rPr>
              <a:t>mean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using the new</a:t>
            </a:r>
            <a:r>
              <a:rPr sz="13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4" name="object 6"/>
          <p:cNvSpPr/>
          <p:nvPr/>
        </p:nvSpPr>
        <p:spPr>
          <a:xfrm>
            <a:off x="4938019" y="2394253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/>
          <p:nvPr/>
        </p:nvSpPr>
        <p:spPr>
          <a:xfrm>
            <a:off x="5233797" y="3962449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/>
          <p:cNvSpPr/>
          <p:nvPr/>
        </p:nvSpPr>
        <p:spPr>
          <a:xfrm>
            <a:off x="5522870" y="3859328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/>
          <p:cNvSpPr/>
          <p:nvPr/>
        </p:nvSpPr>
        <p:spPr>
          <a:xfrm>
            <a:off x="5900616" y="3719311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/>
          <p:cNvSpPr/>
          <p:nvPr/>
        </p:nvSpPr>
        <p:spPr>
          <a:xfrm>
            <a:off x="6224550" y="3646087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1"/>
          <p:cNvSpPr/>
          <p:nvPr/>
        </p:nvSpPr>
        <p:spPr>
          <a:xfrm>
            <a:off x="6813423" y="3428917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2"/>
          <p:cNvSpPr/>
          <p:nvPr/>
        </p:nvSpPr>
        <p:spPr>
          <a:xfrm>
            <a:off x="7102618" y="3325797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3"/>
          <p:cNvSpPr/>
          <p:nvPr/>
        </p:nvSpPr>
        <p:spPr>
          <a:xfrm>
            <a:off x="7434400" y="3191626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4"/>
          <p:cNvSpPr/>
          <p:nvPr/>
        </p:nvSpPr>
        <p:spPr>
          <a:xfrm>
            <a:off x="7843648" y="3068241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/>
          <p:nvPr/>
        </p:nvSpPr>
        <p:spPr>
          <a:xfrm>
            <a:off x="8521408" y="2814305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/>
          <p:cNvSpPr/>
          <p:nvPr/>
        </p:nvSpPr>
        <p:spPr>
          <a:xfrm>
            <a:off x="8824044" y="2607925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/>
          <p:cNvSpPr/>
          <p:nvPr/>
        </p:nvSpPr>
        <p:spPr>
          <a:xfrm>
            <a:off x="9422976" y="2489937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8"/>
          <p:cNvSpPr/>
          <p:nvPr/>
        </p:nvSpPr>
        <p:spPr>
          <a:xfrm>
            <a:off x="5718704" y="3495343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/>
          <p:nvPr/>
        </p:nvSpPr>
        <p:spPr>
          <a:xfrm>
            <a:off x="5769083" y="2943655"/>
            <a:ext cx="1018540" cy="437515"/>
          </a:xfrm>
          <a:custGeom>
            <a:avLst/>
            <a:gdLst/>
            <a:ahLst/>
            <a:cxnLst/>
            <a:rect l="l" t="t" r="r" b="b"/>
            <a:pathLst>
              <a:path w="1018539" h="437514">
                <a:moveTo>
                  <a:pt x="13354" y="437519"/>
                </a:moveTo>
                <a:lnTo>
                  <a:pt x="4223" y="407627"/>
                </a:lnTo>
                <a:lnTo>
                  <a:pt x="0" y="382032"/>
                </a:lnTo>
                <a:lnTo>
                  <a:pt x="868" y="363417"/>
                </a:lnTo>
                <a:lnTo>
                  <a:pt x="7014" y="354461"/>
                </a:lnTo>
                <a:lnTo>
                  <a:pt x="466744" y="185165"/>
                </a:lnTo>
                <a:lnTo>
                  <a:pt x="472904" y="176154"/>
                </a:lnTo>
                <a:lnTo>
                  <a:pt x="473784" y="157545"/>
                </a:lnTo>
                <a:lnTo>
                  <a:pt x="469590" y="131981"/>
                </a:lnTo>
                <a:lnTo>
                  <a:pt x="460526" y="102107"/>
                </a:lnTo>
                <a:lnTo>
                  <a:pt x="472957" y="130750"/>
                </a:lnTo>
                <a:lnTo>
                  <a:pt x="486342" y="152940"/>
                </a:lnTo>
                <a:lnTo>
                  <a:pt x="499110" y="166510"/>
                </a:lnTo>
                <a:lnTo>
                  <a:pt x="509690" y="169295"/>
                </a:lnTo>
                <a:lnTo>
                  <a:pt x="969298" y="0"/>
                </a:lnTo>
                <a:lnTo>
                  <a:pt x="979791" y="2851"/>
                </a:lnTo>
                <a:lnTo>
                  <a:pt x="992527" y="16443"/>
                </a:lnTo>
                <a:lnTo>
                  <a:pt x="1005932" y="38611"/>
                </a:lnTo>
                <a:lnTo>
                  <a:pt x="1018432" y="67187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0"/>
          <p:cNvSpPr/>
          <p:nvPr/>
        </p:nvSpPr>
        <p:spPr>
          <a:xfrm>
            <a:off x="6705414" y="2734745"/>
            <a:ext cx="242570" cy="118110"/>
          </a:xfrm>
          <a:custGeom>
            <a:avLst/>
            <a:gdLst/>
            <a:ahLst/>
            <a:cxnLst/>
            <a:rect l="l" t="t" r="r" b="b"/>
            <a:pathLst>
              <a:path w="242570" h="118110">
                <a:moveTo>
                  <a:pt x="6297" y="117591"/>
                </a:moveTo>
                <a:lnTo>
                  <a:pt x="2130" y="104198"/>
                </a:lnTo>
                <a:lnTo>
                  <a:pt x="0" y="92788"/>
                </a:lnTo>
                <a:lnTo>
                  <a:pt x="35" y="84544"/>
                </a:lnTo>
                <a:lnTo>
                  <a:pt x="2366" y="80650"/>
                </a:lnTo>
                <a:lnTo>
                  <a:pt x="107400" y="41909"/>
                </a:lnTo>
                <a:lnTo>
                  <a:pt x="109725" y="38085"/>
                </a:lnTo>
                <a:lnTo>
                  <a:pt x="109750" y="29874"/>
                </a:lnTo>
                <a:lnTo>
                  <a:pt x="107610" y="18468"/>
                </a:lnTo>
                <a:lnTo>
                  <a:pt x="103437" y="5059"/>
                </a:lnTo>
                <a:lnTo>
                  <a:pt x="108945" y="17977"/>
                </a:lnTo>
                <a:lnTo>
                  <a:pt x="114719" y="28045"/>
                </a:lnTo>
                <a:lnTo>
                  <a:pt x="120064" y="34279"/>
                </a:lnTo>
                <a:lnTo>
                  <a:pt x="124286" y="35692"/>
                </a:lnTo>
                <a:lnTo>
                  <a:pt x="221425" y="0"/>
                </a:lnTo>
                <a:lnTo>
                  <a:pt x="225718" y="1395"/>
                </a:lnTo>
                <a:lnTo>
                  <a:pt x="231099" y="7619"/>
                </a:lnTo>
                <a:lnTo>
                  <a:pt x="236886" y="17685"/>
                </a:lnTo>
                <a:lnTo>
                  <a:pt x="242396" y="30601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1"/>
          <p:cNvSpPr/>
          <p:nvPr/>
        </p:nvSpPr>
        <p:spPr>
          <a:xfrm>
            <a:off x="6651468" y="2288335"/>
            <a:ext cx="998219" cy="405765"/>
          </a:xfrm>
          <a:custGeom>
            <a:avLst/>
            <a:gdLst/>
            <a:ahLst/>
            <a:cxnLst/>
            <a:rect l="l" t="t" r="r" b="b"/>
            <a:pathLst>
              <a:path w="998220" h="405764">
                <a:moveTo>
                  <a:pt x="8427" y="405262"/>
                </a:moveTo>
                <a:lnTo>
                  <a:pt x="2862" y="387394"/>
                </a:lnTo>
                <a:lnTo>
                  <a:pt x="0" y="372183"/>
                </a:lnTo>
                <a:lnTo>
                  <a:pt x="18" y="361190"/>
                </a:lnTo>
                <a:lnTo>
                  <a:pt x="3093" y="355975"/>
                </a:lnTo>
                <a:lnTo>
                  <a:pt x="491779" y="176021"/>
                </a:lnTo>
                <a:lnTo>
                  <a:pt x="494855" y="170877"/>
                </a:lnTo>
                <a:lnTo>
                  <a:pt x="494873" y="159920"/>
                </a:lnTo>
                <a:lnTo>
                  <a:pt x="492011" y="144723"/>
                </a:lnTo>
                <a:lnTo>
                  <a:pt x="486445" y="126857"/>
                </a:lnTo>
                <a:lnTo>
                  <a:pt x="493795" y="144076"/>
                </a:lnTo>
                <a:lnTo>
                  <a:pt x="501517" y="157505"/>
                </a:lnTo>
                <a:lnTo>
                  <a:pt x="508691" y="165836"/>
                </a:lnTo>
                <a:lnTo>
                  <a:pt x="514395" y="167761"/>
                </a:lnTo>
                <a:lnTo>
                  <a:pt x="969827" y="0"/>
                </a:lnTo>
                <a:lnTo>
                  <a:pt x="975508" y="1922"/>
                </a:lnTo>
                <a:lnTo>
                  <a:pt x="982629" y="10237"/>
                </a:lnTo>
                <a:lnTo>
                  <a:pt x="990298" y="23621"/>
                </a:lnTo>
                <a:lnTo>
                  <a:pt x="997625" y="40751"/>
                </a:lnTo>
              </a:path>
            </a:pathLst>
          </a:custGeom>
          <a:ln w="28574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16362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29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3960439" y="558189"/>
            <a:ext cx="4024629" cy="960119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95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Measure the</a:t>
            </a:r>
            <a:r>
              <a:rPr sz="1350" spc="-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distance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1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the nearest</a:t>
            </a:r>
            <a:r>
              <a:rPr sz="13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Calculate</a:t>
            </a:r>
            <a:r>
              <a:rPr sz="1350" b="1" spc="-1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r>
              <a:rPr sz="1350" b="1" spc="-8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35" dirty="0">
                <a:solidFill>
                  <a:srgbClr val="5F4778"/>
                </a:solidFill>
                <a:latin typeface="Arial"/>
                <a:cs typeface="Arial"/>
              </a:rPr>
              <a:t>mean</a:t>
            </a:r>
            <a:r>
              <a:rPr sz="1350" b="1" spc="-15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using</a:t>
            </a:r>
            <a:r>
              <a:rPr sz="1350" b="1" spc="-1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sz="1350" b="1" spc="20" dirty="0">
                <a:solidFill>
                  <a:srgbClr val="5F4778"/>
                </a:solidFill>
                <a:latin typeface="Arial"/>
                <a:cs typeface="Arial"/>
              </a:rPr>
              <a:t>new</a:t>
            </a:r>
            <a:r>
              <a:rPr sz="1350" b="1" spc="-8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point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4" name="object 7"/>
          <p:cNvSpPr/>
          <p:nvPr/>
        </p:nvSpPr>
        <p:spPr>
          <a:xfrm>
            <a:off x="5561474" y="2559479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/>
          <p:cNvSpPr/>
          <p:nvPr/>
        </p:nvSpPr>
        <p:spPr>
          <a:xfrm>
            <a:off x="5857252" y="4127675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/>
          <p:nvPr/>
        </p:nvSpPr>
        <p:spPr>
          <a:xfrm>
            <a:off x="6146325" y="4024554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/>
          <p:cNvSpPr/>
          <p:nvPr/>
        </p:nvSpPr>
        <p:spPr>
          <a:xfrm>
            <a:off x="6524071" y="3884537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1"/>
          <p:cNvSpPr/>
          <p:nvPr/>
        </p:nvSpPr>
        <p:spPr>
          <a:xfrm>
            <a:off x="6848005" y="3811313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/>
          <p:cNvSpPr/>
          <p:nvPr/>
        </p:nvSpPr>
        <p:spPr>
          <a:xfrm>
            <a:off x="7436878" y="3594143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/>
          <p:cNvSpPr/>
          <p:nvPr/>
        </p:nvSpPr>
        <p:spPr>
          <a:xfrm>
            <a:off x="7726073" y="3491023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/>
          <p:cNvSpPr/>
          <p:nvPr/>
        </p:nvSpPr>
        <p:spPr>
          <a:xfrm>
            <a:off x="8057855" y="3356852"/>
            <a:ext cx="234955" cy="23494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8467103" y="3233467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/>
          <p:cNvSpPr/>
          <p:nvPr/>
        </p:nvSpPr>
        <p:spPr>
          <a:xfrm>
            <a:off x="9144863" y="2979531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/>
          <p:cNvSpPr/>
          <p:nvPr/>
        </p:nvSpPr>
        <p:spPr>
          <a:xfrm>
            <a:off x="9447499" y="2773151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8"/>
          <p:cNvSpPr/>
          <p:nvPr/>
        </p:nvSpPr>
        <p:spPr>
          <a:xfrm>
            <a:off x="10046431" y="2655163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6342159" y="3660569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0"/>
          <p:cNvSpPr/>
          <p:nvPr/>
        </p:nvSpPr>
        <p:spPr>
          <a:xfrm>
            <a:off x="7571509" y="3299250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171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69093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30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4154403" y="457207"/>
            <a:ext cx="3796665" cy="1275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5080" indent="-171450">
              <a:lnSpc>
                <a:spcPct val="153000"/>
              </a:lnSpc>
              <a:spcBef>
                <a:spcPts val="9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Measure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distance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from the </a:t>
            </a: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r>
              <a:rPr sz="1350" b="1" spc="-19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30" dirty="0">
                <a:solidFill>
                  <a:srgbClr val="5F4778"/>
                </a:solidFill>
                <a:latin typeface="Arial"/>
                <a:cs typeface="Arial"/>
              </a:rPr>
              <a:t>mean  </a:t>
            </a: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(centroids</a:t>
            </a:r>
            <a:r>
              <a:rPr sz="1350" b="1" spc="5" dirty="0">
                <a:solidFill>
                  <a:srgbClr val="595959"/>
                </a:solidFill>
                <a:latin typeface="Arial"/>
                <a:cs typeface="Arial"/>
              </a:rPr>
              <a:t>)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1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the nearest</a:t>
            </a:r>
            <a:r>
              <a:rPr sz="13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Calculate the cluster </a:t>
            </a:r>
            <a:r>
              <a:rPr sz="1350" spc="-25" dirty="0">
                <a:solidFill>
                  <a:srgbClr val="595959"/>
                </a:solidFill>
                <a:latin typeface="Arial"/>
                <a:cs typeface="Arial"/>
              </a:rPr>
              <a:t>mean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using the new</a:t>
            </a:r>
            <a:r>
              <a:rPr sz="1350" spc="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14" name="object 7"/>
          <p:cNvSpPr/>
          <p:nvPr/>
        </p:nvSpPr>
        <p:spPr>
          <a:xfrm>
            <a:off x="5173547" y="2097905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/>
          <p:cNvSpPr/>
          <p:nvPr/>
        </p:nvSpPr>
        <p:spPr>
          <a:xfrm>
            <a:off x="5469325" y="3666101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/>
          <p:nvPr/>
        </p:nvSpPr>
        <p:spPr>
          <a:xfrm>
            <a:off x="5758398" y="3562980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/>
          <p:cNvSpPr/>
          <p:nvPr/>
        </p:nvSpPr>
        <p:spPr>
          <a:xfrm>
            <a:off x="6136144" y="3422963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1"/>
          <p:cNvSpPr/>
          <p:nvPr/>
        </p:nvSpPr>
        <p:spPr>
          <a:xfrm>
            <a:off x="6460078" y="3349739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/>
          <p:cNvSpPr/>
          <p:nvPr/>
        </p:nvSpPr>
        <p:spPr>
          <a:xfrm>
            <a:off x="7048951" y="3132569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/>
          <p:cNvSpPr/>
          <p:nvPr/>
        </p:nvSpPr>
        <p:spPr>
          <a:xfrm>
            <a:off x="7338146" y="3029449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/>
          <p:cNvSpPr/>
          <p:nvPr/>
        </p:nvSpPr>
        <p:spPr>
          <a:xfrm>
            <a:off x="7684216" y="2909565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8079176" y="2771893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/>
          <p:cNvSpPr/>
          <p:nvPr/>
        </p:nvSpPr>
        <p:spPr>
          <a:xfrm>
            <a:off x="8756936" y="2517957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/>
          <p:cNvSpPr/>
          <p:nvPr/>
        </p:nvSpPr>
        <p:spPr>
          <a:xfrm>
            <a:off x="9059572" y="2311577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8"/>
          <p:cNvSpPr/>
          <p:nvPr/>
        </p:nvSpPr>
        <p:spPr>
          <a:xfrm>
            <a:off x="9658504" y="2193589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5954232" y="3198995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0"/>
          <p:cNvSpPr/>
          <p:nvPr/>
        </p:nvSpPr>
        <p:spPr>
          <a:xfrm>
            <a:off x="7820492" y="3114662"/>
            <a:ext cx="172720" cy="459740"/>
          </a:xfrm>
          <a:custGeom>
            <a:avLst/>
            <a:gdLst/>
            <a:ahLst/>
            <a:cxnLst/>
            <a:rect l="l" t="t" r="r" b="b"/>
            <a:pathLst>
              <a:path w="172720" h="459739">
                <a:moveTo>
                  <a:pt x="117619" y="382086"/>
                </a:moveTo>
                <a:lnTo>
                  <a:pt x="90434" y="390656"/>
                </a:lnTo>
                <a:lnTo>
                  <a:pt x="157093" y="459486"/>
                </a:lnTo>
                <a:lnTo>
                  <a:pt x="167280" y="395740"/>
                </a:lnTo>
                <a:lnTo>
                  <a:pt x="121920" y="395740"/>
                </a:lnTo>
                <a:lnTo>
                  <a:pt x="117619" y="382086"/>
                </a:lnTo>
                <a:close/>
              </a:path>
              <a:path w="172720" h="459739">
                <a:moveTo>
                  <a:pt x="144936" y="373476"/>
                </a:moveTo>
                <a:lnTo>
                  <a:pt x="117619" y="382086"/>
                </a:lnTo>
                <a:lnTo>
                  <a:pt x="121920" y="395740"/>
                </a:lnTo>
                <a:lnTo>
                  <a:pt x="149230" y="387096"/>
                </a:lnTo>
                <a:lnTo>
                  <a:pt x="144936" y="373476"/>
                </a:lnTo>
                <a:close/>
              </a:path>
              <a:path w="172720" h="459739">
                <a:moveTo>
                  <a:pt x="172212" y="364879"/>
                </a:moveTo>
                <a:lnTo>
                  <a:pt x="144936" y="373476"/>
                </a:lnTo>
                <a:lnTo>
                  <a:pt x="149230" y="387096"/>
                </a:lnTo>
                <a:lnTo>
                  <a:pt x="121920" y="395740"/>
                </a:lnTo>
                <a:lnTo>
                  <a:pt x="167280" y="395740"/>
                </a:lnTo>
                <a:lnTo>
                  <a:pt x="172212" y="364879"/>
                </a:lnTo>
                <a:close/>
              </a:path>
              <a:path w="172720" h="459739">
                <a:moveTo>
                  <a:pt x="27188" y="0"/>
                </a:moveTo>
                <a:lnTo>
                  <a:pt x="0" y="8644"/>
                </a:lnTo>
                <a:lnTo>
                  <a:pt x="117619" y="382086"/>
                </a:lnTo>
                <a:lnTo>
                  <a:pt x="144936" y="373476"/>
                </a:lnTo>
                <a:lnTo>
                  <a:pt x="271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2"/>
          <p:cNvSpPr/>
          <p:nvPr/>
        </p:nvSpPr>
        <p:spPr>
          <a:xfrm>
            <a:off x="5923950" y="2433185"/>
            <a:ext cx="1705610" cy="666750"/>
          </a:xfrm>
          <a:custGeom>
            <a:avLst/>
            <a:gdLst/>
            <a:ahLst/>
            <a:cxnLst/>
            <a:rect l="l" t="t" r="r" b="b"/>
            <a:pathLst>
              <a:path w="1705610" h="666750">
                <a:moveTo>
                  <a:pt x="24307" y="666749"/>
                </a:moveTo>
                <a:lnTo>
                  <a:pt x="10409" y="619123"/>
                </a:lnTo>
                <a:lnTo>
                  <a:pt x="2098" y="579215"/>
                </a:lnTo>
                <a:lnTo>
                  <a:pt x="0" y="551165"/>
                </a:lnTo>
                <a:lnTo>
                  <a:pt x="4739" y="539114"/>
                </a:lnTo>
                <a:lnTo>
                  <a:pt x="804961" y="276093"/>
                </a:lnTo>
                <a:lnTo>
                  <a:pt x="809643" y="264067"/>
                </a:lnTo>
                <a:lnTo>
                  <a:pt x="807509" y="236048"/>
                </a:lnTo>
                <a:lnTo>
                  <a:pt x="799187" y="196145"/>
                </a:lnTo>
                <a:lnTo>
                  <a:pt x="785301" y="148468"/>
                </a:lnTo>
                <a:lnTo>
                  <a:pt x="802371" y="195099"/>
                </a:lnTo>
                <a:lnTo>
                  <a:pt x="819355" y="232156"/>
                </a:lnTo>
                <a:lnTo>
                  <a:pt x="834293" y="255975"/>
                </a:lnTo>
                <a:lnTo>
                  <a:pt x="845225" y="262889"/>
                </a:lnTo>
                <a:lnTo>
                  <a:pt x="1645447" y="0"/>
                </a:lnTo>
                <a:lnTo>
                  <a:pt x="1656443" y="6909"/>
                </a:lnTo>
                <a:lnTo>
                  <a:pt x="1671377" y="30727"/>
                </a:lnTo>
                <a:lnTo>
                  <a:pt x="1688335" y="67787"/>
                </a:lnTo>
                <a:lnTo>
                  <a:pt x="1705401" y="114421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/>
          <p:cNvSpPr/>
          <p:nvPr/>
        </p:nvSpPr>
        <p:spPr>
          <a:xfrm>
            <a:off x="7008158" y="2253231"/>
            <a:ext cx="594995" cy="256540"/>
          </a:xfrm>
          <a:custGeom>
            <a:avLst/>
            <a:gdLst/>
            <a:ahLst/>
            <a:cxnLst/>
            <a:rect l="l" t="t" r="r" b="b"/>
            <a:pathLst>
              <a:path w="594995" h="256539">
                <a:moveTo>
                  <a:pt x="13878" y="256153"/>
                </a:moveTo>
                <a:lnTo>
                  <a:pt x="5941" y="228905"/>
                </a:lnTo>
                <a:lnTo>
                  <a:pt x="1199" y="206071"/>
                </a:lnTo>
                <a:lnTo>
                  <a:pt x="0" y="190021"/>
                </a:lnTo>
                <a:lnTo>
                  <a:pt x="2692" y="183123"/>
                </a:lnTo>
                <a:lnTo>
                  <a:pt x="269910" y="95371"/>
                </a:lnTo>
                <a:lnTo>
                  <a:pt x="272607" y="88421"/>
                </a:lnTo>
                <a:lnTo>
                  <a:pt x="271415" y="72363"/>
                </a:lnTo>
                <a:lnTo>
                  <a:pt x="266674" y="49521"/>
                </a:lnTo>
                <a:lnTo>
                  <a:pt x="258724" y="22219"/>
                </a:lnTo>
                <a:lnTo>
                  <a:pt x="268501" y="48922"/>
                </a:lnTo>
                <a:lnTo>
                  <a:pt x="278212" y="70130"/>
                </a:lnTo>
                <a:lnTo>
                  <a:pt x="286752" y="83766"/>
                </a:lnTo>
                <a:lnTo>
                  <a:pt x="293014" y="87751"/>
                </a:lnTo>
                <a:lnTo>
                  <a:pt x="560232" y="0"/>
                </a:lnTo>
                <a:lnTo>
                  <a:pt x="566499" y="3928"/>
                </a:lnTo>
                <a:lnTo>
                  <a:pt x="575046" y="17548"/>
                </a:lnTo>
                <a:lnTo>
                  <a:pt x="584758" y="38747"/>
                </a:lnTo>
                <a:lnTo>
                  <a:pt x="594522" y="65410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4"/>
          <p:cNvSpPr/>
          <p:nvPr/>
        </p:nvSpPr>
        <p:spPr>
          <a:xfrm>
            <a:off x="7528326" y="1978911"/>
            <a:ext cx="341630" cy="183515"/>
          </a:xfrm>
          <a:custGeom>
            <a:avLst/>
            <a:gdLst/>
            <a:ahLst/>
            <a:cxnLst/>
            <a:rect l="l" t="t" r="r" b="b"/>
            <a:pathLst>
              <a:path w="341629" h="183515">
                <a:moveTo>
                  <a:pt x="13030" y="183367"/>
                </a:moveTo>
                <a:lnTo>
                  <a:pt x="5570" y="157934"/>
                </a:lnTo>
                <a:lnTo>
                  <a:pt x="1127" y="136611"/>
                </a:lnTo>
                <a:lnTo>
                  <a:pt x="0" y="121619"/>
                </a:lnTo>
                <a:lnTo>
                  <a:pt x="2484" y="115183"/>
                </a:lnTo>
                <a:lnTo>
                  <a:pt x="145100" y="68305"/>
                </a:lnTo>
                <a:lnTo>
                  <a:pt x="147637" y="61872"/>
                </a:lnTo>
                <a:lnTo>
                  <a:pt x="146517" y="46874"/>
                </a:lnTo>
                <a:lnTo>
                  <a:pt x="142082" y="25516"/>
                </a:lnTo>
                <a:lnTo>
                  <a:pt x="134675" y="0"/>
                </a:lnTo>
                <a:lnTo>
                  <a:pt x="143774" y="24959"/>
                </a:lnTo>
                <a:lnTo>
                  <a:pt x="152826" y="44797"/>
                </a:lnTo>
                <a:lnTo>
                  <a:pt x="160804" y="57538"/>
                </a:lnTo>
                <a:lnTo>
                  <a:pt x="166679" y="61203"/>
                </a:lnTo>
                <a:lnTo>
                  <a:pt x="309173" y="14356"/>
                </a:lnTo>
                <a:lnTo>
                  <a:pt x="315055" y="18089"/>
                </a:lnTo>
                <a:lnTo>
                  <a:pt x="323053" y="30853"/>
                </a:lnTo>
                <a:lnTo>
                  <a:pt x="332143" y="50669"/>
                </a:lnTo>
                <a:lnTo>
                  <a:pt x="341299" y="75559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5"/>
          <p:cNvSpPr/>
          <p:nvPr/>
        </p:nvSpPr>
        <p:spPr>
          <a:xfrm>
            <a:off x="7183582" y="2837676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171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1"/>
          <p:cNvSpPr txBox="1"/>
          <p:nvPr/>
        </p:nvSpPr>
        <p:spPr>
          <a:xfrm>
            <a:off x="7553746" y="3723436"/>
            <a:ext cx="1369060" cy="713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-85" dirty="0">
                <a:latin typeface="Arial"/>
                <a:cs typeface="Arial"/>
              </a:rPr>
              <a:t>To </a:t>
            </a:r>
            <a:r>
              <a:rPr sz="1500" spc="-15" dirty="0">
                <a:latin typeface="Arial"/>
                <a:cs typeface="Arial"/>
              </a:rPr>
              <a:t>which cluster  </a:t>
            </a:r>
            <a:r>
              <a:rPr sz="1500" spc="-5" dirty="0">
                <a:latin typeface="Arial"/>
                <a:cs typeface="Arial"/>
              </a:rPr>
              <a:t>does </a:t>
            </a:r>
            <a:r>
              <a:rPr sz="1500" spc="-25" dirty="0">
                <a:latin typeface="Arial"/>
                <a:cs typeface="Arial"/>
              </a:rPr>
              <a:t>this </a:t>
            </a:r>
            <a:r>
              <a:rPr sz="1500" spc="-30" dirty="0">
                <a:latin typeface="Arial"/>
                <a:cs typeface="Arial"/>
              </a:rPr>
              <a:t>point  </a:t>
            </a:r>
            <a:r>
              <a:rPr sz="1500" spc="-25" dirty="0">
                <a:latin typeface="Arial"/>
                <a:cs typeface="Arial"/>
              </a:rPr>
              <a:t>belongs</a:t>
            </a:r>
            <a:r>
              <a:rPr sz="1500" spc="170" dirty="0">
                <a:latin typeface="Arial"/>
                <a:cs typeface="Arial"/>
              </a:rPr>
              <a:t> </a:t>
            </a:r>
            <a:r>
              <a:rPr sz="1500" spc="5" dirty="0">
                <a:latin typeface="Arial"/>
                <a:cs typeface="Arial"/>
              </a:rPr>
              <a:t>to?</a:t>
            </a:r>
            <a:endParaRPr sz="1500" dirty="0">
              <a:latin typeface="Arial"/>
              <a:cs typeface="Arial"/>
            </a:endParaRPr>
          </a:p>
        </p:txBody>
      </p:sp>
      <p:sp>
        <p:nvSpPr>
          <p:cNvPr id="33" name="object 26"/>
          <p:cNvSpPr txBox="1"/>
          <p:nvPr/>
        </p:nvSpPr>
        <p:spPr>
          <a:xfrm>
            <a:off x="5082941" y="4843123"/>
            <a:ext cx="4890770" cy="86614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0"/>
              </a:spcBef>
            </a:pP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REPEAT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b="1" spc="10" dirty="0">
                <a:solidFill>
                  <a:srgbClr val="595959"/>
                </a:solidFill>
                <a:latin typeface="Arial"/>
                <a:cs typeface="Arial"/>
              </a:rPr>
              <a:t>SAME </a:t>
            </a:r>
            <a:r>
              <a:rPr sz="1800" b="1" spc="5" dirty="0">
                <a:solidFill>
                  <a:srgbClr val="595959"/>
                </a:solidFill>
                <a:latin typeface="Arial"/>
                <a:cs typeface="Arial"/>
              </a:rPr>
              <a:t>STEPS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UNTILL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ALL</a:t>
            </a:r>
            <a:r>
              <a:rPr sz="1800" b="1" spc="-1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endParaRPr sz="1800" dirty="0">
              <a:latin typeface="Arial"/>
              <a:cs typeface="Arial"/>
            </a:endParaRPr>
          </a:p>
          <a:p>
            <a:pPr marL="8890" algn="ctr">
              <a:lnSpc>
                <a:spcPct val="100000"/>
              </a:lnSpc>
              <a:spcBef>
                <a:spcPts val="1145"/>
              </a:spcBef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CLUSTERS </a:t>
            </a:r>
            <a:r>
              <a:rPr sz="1800" b="1" spc="-15" dirty="0">
                <a:solidFill>
                  <a:srgbClr val="595959"/>
                </a:solidFill>
                <a:latin typeface="Arial"/>
                <a:cs typeface="Arial"/>
              </a:rPr>
              <a:t>ARE</a:t>
            </a:r>
            <a:r>
              <a:rPr sz="1800" b="1" spc="-3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ASSIGNED…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8496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31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4168258" y="457207"/>
            <a:ext cx="3750310" cy="1275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222885" indent="-171450">
              <a:lnSpc>
                <a:spcPct val="153000"/>
              </a:lnSpc>
              <a:spcBef>
                <a:spcPts val="9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Measure 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distance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from 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cluster </a:t>
            </a:r>
            <a:r>
              <a:rPr sz="1350" spc="-25" dirty="0">
                <a:solidFill>
                  <a:srgbClr val="595959"/>
                </a:solidFill>
                <a:latin typeface="Arial"/>
                <a:cs typeface="Arial"/>
              </a:rPr>
              <a:t>mean 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(centroids)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Assign the point to the </a:t>
            </a:r>
            <a:r>
              <a:rPr sz="1350" b="1" spc="15" dirty="0">
                <a:solidFill>
                  <a:srgbClr val="5F4778"/>
                </a:solidFill>
                <a:latin typeface="Arial"/>
                <a:cs typeface="Arial"/>
              </a:rPr>
              <a:t>nearest</a:t>
            </a:r>
            <a:r>
              <a:rPr sz="1350" b="1" spc="-14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endParaRPr sz="1350" dirty="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Calculate the cluster </a:t>
            </a:r>
            <a:r>
              <a:rPr sz="1350" spc="-25" dirty="0">
                <a:solidFill>
                  <a:srgbClr val="595959"/>
                </a:solidFill>
                <a:latin typeface="Arial"/>
                <a:cs typeface="Arial"/>
              </a:rPr>
              <a:t>mean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using the new</a:t>
            </a:r>
            <a:r>
              <a:rPr sz="1350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</a:t>
            </a:r>
            <a:endParaRPr sz="1350" dirty="0">
              <a:latin typeface="Arial"/>
              <a:cs typeface="Arial"/>
            </a:endParaRPr>
          </a:p>
        </p:txBody>
      </p:sp>
      <p:sp>
        <p:nvSpPr>
          <p:cNvPr id="33" name="object 7"/>
          <p:cNvSpPr/>
          <p:nvPr/>
        </p:nvSpPr>
        <p:spPr>
          <a:xfrm>
            <a:off x="4785619" y="2664618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8"/>
          <p:cNvSpPr/>
          <p:nvPr/>
        </p:nvSpPr>
        <p:spPr>
          <a:xfrm>
            <a:off x="5081397" y="4232814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9"/>
          <p:cNvSpPr/>
          <p:nvPr/>
        </p:nvSpPr>
        <p:spPr>
          <a:xfrm>
            <a:off x="5370470" y="4129693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0"/>
          <p:cNvSpPr/>
          <p:nvPr/>
        </p:nvSpPr>
        <p:spPr>
          <a:xfrm>
            <a:off x="5748216" y="3989676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1"/>
          <p:cNvSpPr/>
          <p:nvPr/>
        </p:nvSpPr>
        <p:spPr>
          <a:xfrm>
            <a:off x="6072150" y="3916452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2"/>
          <p:cNvSpPr/>
          <p:nvPr/>
        </p:nvSpPr>
        <p:spPr>
          <a:xfrm>
            <a:off x="6661023" y="3699282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3"/>
          <p:cNvSpPr/>
          <p:nvPr/>
        </p:nvSpPr>
        <p:spPr>
          <a:xfrm>
            <a:off x="6950218" y="3596162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4"/>
          <p:cNvSpPr/>
          <p:nvPr/>
        </p:nvSpPr>
        <p:spPr>
          <a:xfrm>
            <a:off x="7296288" y="3476278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5"/>
          <p:cNvSpPr/>
          <p:nvPr/>
        </p:nvSpPr>
        <p:spPr>
          <a:xfrm>
            <a:off x="7691248" y="3338606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6"/>
          <p:cNvSpPr/>
          <p:nvPr/>
        </p:nvSpPr>
        <p:spPr>
          <a:xfrm>
            <a:off x="8369008" y="3084670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17"/>
          <p:cNvSpPr/>
          <p:nvPr/>
        </p:nvSpPr>
        <p:spPr>
          <a:xfrm>
            <a:off x="8671644" y="2878290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18"/>
          <p:cNvSpPr/>
          <p:nvPr/>
        </p:nvSpPr>
        <p:spPr>
          <a:xfrm>
            <a:off x="9270576" y="2760302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19"/>
          <p:cNvSpPr/>
          <p:nvPr/>
        </p:nvSpPr>
        <p:spPr>
          <a:xfrm>
            <a:off x="5566304" y="3765708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0"/>
          <p:cNvSpPr/>
          <p:nvPr/>
        </p:nvSpPr>
        <p:spPr>
          <a:xfrm>
            <a:off x="5536022" y="2999898"/>
            <a:ext cx="1705610" cy="666750"/>
          </a:xfrm>
          <a:custGeom>
            <a:avLst/>
            <a:gdLst/>
            <a:ahLst/>
            <a:cxnLst/>
            <a:rect l="l" t="t" r="r" b="b"/>
            <a:pathLst>
              <a:path w="1705610" h="666750">
                <a:moveTo>
                  <a:pt x="24307" y="666749"/>
                </a:moveTo>
                <a:lnTo>
                  <a:pt x="10409" y="619123"/>
                </a:lnTo>
                <a:lnTo>
                  <a:pt x="2098" y="579215"/>
                </a:lnTo>
                <a:lnTo>
                  <a:pt x="0" y="551165"/>
                </a:lnTo>
                <a:lnTo>
                  <a:pt x="4739" y="539114"/>
                </a:lnTo>
                <a:lnTo>
                  <a:pt x="804961" y="276093"/>
                </a:lnTo>
                <a:lnTo>
                  <a:pt x="809643" y="264067"/>
                </a:lnTo>
                <a:lnTo>
                  <a:pt x="807509" y="236048"/>
                </a:lnTo>
                <a:lnTo>
                  <a:pt x="799187" y="196145"/>
                </a:lnTo>
                <a:lnTo>
                  <a:pt x="785301" y="148468"/>
                </a:lnTo>
                <a:lnTo>
                  <a:pt x="802371" y="195099"/>
                </a:lnTo>
                <a:lnTo>
                  <a:pt x="819355" y="232156"/>
                </a:lnTo>
                <a:lnTo>
                  <a:pt x="834293" y="255975"/>
                </a:lnTo>
                <a:lnTo>
                  <a:pt x="845225" y="262889"/>
                </a:lnTo>
                <a:lnTo>
                  <a:pt x="1645447" y="0"/>
                </a:lnTo>
                <a:lnTo>
                  <a:pt x="1656443" y="6909"/>
                </a:lnTo>
                <a:lnTo>
                  <a:pt x="1671377" y="30727"/>
                </a:lnTo>
                <a:lnTo>
                  <a:pt x="1688335" y="67787"/>
                </a:lnTo>
                <a:lnTo>
                  <a:pt x="1705401" y="114421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1"/>
          <p:cNvSpPr/>
          <p:nvPr/>
        </p:nvSpPr>
        <p:spPr>
          <a:xfrm>
            <a:off x="6620230" y="2819944"/>
            <a:ext cx="594995" cy="256540"/>
          </a:xfrm>
          <a:custGeom>
            <a:avLst/>
            <a:gdLst/>
            <a:ahLst/>
            <a:cxnLst/>
            <a:rect l="l" t="t" r="r" b="b"/>
            <a:pathLst>
              <a:path w="594995" h="256539">
                <a:moveTo>
                  <a:pt x="13878" y="256153"/>
                </a:moveTo>
                <a:lnTo>
                  <a:pt x="5941" y="228905"/>
                </a:lnTo>
                <a:lnTo>
                  <a:pt x="1199" y="206071"/>
                </a:lnTo>
                <a:lnTo>
                  <a:pt x="0" y="190021"/>
                </a:lnTo>
                <a:lnTo>
                  <a:pt x="2692" y="183123"/>
                </a:lnTo>
                <a:lnTo>
                  <a:pt x="269910" y="95371"/>
                </a:lnTo>
                <a:lnTo>
                  <a:pt x="272607" y="88421"/>
                </a:lnTo>
                <a:lnTo>
                  <a:pt x="271415" y="72363"/>
                </a:lnTo>
                <a:lnTo>
                  <a:pt x="266674" y="49521"/>
                </a:lnTo>
                <a:lnTo>
                  <a:pt x="258724" y="22219"/>
                </a:lnTo>
                <a:lnTo>
                  <a:pt x="268501" y="48922"/>
                </a:lnTo>
                <a:lnTo>
                  <a:pt x="278212" y="70130"/>
                </a:lnTo>
                <a:lnTo>
                  <a:pt x="286752" y="83766"/>
                </a:lnTo>
                <a:lnTo>
                  <a:pt x="293014" y="87751"/>
                </a:lnTo>
                <a:lnTo>
                  <a:pt x="560232" y="0"/>
                </a:lnTo>
                <a:lnTo>
                  <a:pt x="566499" y="3928"/>
                </a:lnTo>
                <a:lnTo>
                  <a:pt x="575046" y="17548"/>
                </a:lnTo>
                <a:lnTo>
                  <a:pt x="584758" y="38747"/>
                </a:lnTo>
                <a:lnTo>
                  <a:pt x="594522" y="65410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22"/>
          <p:cNvSpPr txBox="1"/>
          <p:nvPr/>
        </p:nvSpPr>
        <p:spPr>
          <a:xfrm>
            <a:off x="7532513" y="4242908"/>
            <a:ext cx="2341245" cy="5353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400"/>
              </a:lnSpc>
              <a:spcBef>
                <a:spcPts val="55"/>
              </a:spcBef>
            </a:pPr>
            <a:r>
              <a:rPr sz="1650" spc="-15" dirty="0">
                <a:latin typeface="Arial"/>
                <a:cs typeface="Arial"/>
              </a:rPr>
              <a:t>Since </a:t>
            </a:r>
            <a:r>
              <a:rPr sz="1650" spc="-35" dirty="0">
                <a:latin typeface="Arial"/>
                <a:cs typeface="Arial"/>
              </a:rPr>
              <a:t>the </a:t>
            </a:r>
            <a:r>
              <a:rPr sz="1650" spc="-15" dirty="0">
                <a:latin typeface="Arial"/>
                <a:cs typeface="Arial"/>
              </a:rPr>
              <a:t>point </a:t>
            </a:r>
            <a:r>
              <a:rPr sz="1650" dirty="0">
                <a:latin typeface="Arial"/>
                <a:cs typeface="Arial"/>
              </a:rPr>
              <a:t>is </a:t>
            </a:r>
            <a:r>
              <a:rPr sz="1650" spc="-10" dirty="0">
                <a:latin typeface="Arial"/>
                <a:cs typeface="Arial"/>
              </a:rPr>
              <a:t>located  closet </a:t>
            </a:r>
            <a:r>
              <a:rPr sz="1650" spc="-5" dirty="0">
                <a:latin typeface="Arial"/>
                <a:cs typeface="Arial"/>
              </a:rPr>
              <a:t>to </a:t>
            </a:r>
            <a:r>
              <a:rPr sz="1650" b="1" spc="-40" dirty="0">
                <a:solidFill>
                  <a:srgbClr val="00AFF0"/>
                </a:solidFill>
                <a:latin typeface="Arial"/>
                <a:cs typeface="Arial"/>
              </a:rPr>
              <a:t>blue</a:t>
            </a:r>
            <a:r>
              <a:rPr sz="1650" b="1" spc="155" dirty="0">
                <a:solidFill>
                  <a:srgbClr val="00AFF0"/>
                </a:solidFill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cluster</a:t>
            </a:r>
            <a:endParaRPr sz="1650">
              <a:latin typeface="Arial"/>
              <a:cs typeface="Arial"/>
            </a:endParaRPr>
          </a:p>
        </p:txBody>
      </p:sp>
      <p:sp>
        <p:nvSpPr>
          <p:cNvPr id="49" name="object 23"/>
          <p:cNvSpPr/>
          <p:nvPr/>
        </p:nvSpPr>
        <p:spPr>
          <a:xfrm>
            <a:off x="7465848" y="3615974"/>
            <a:ext cx="815975" cy="603250"/>
          </a:xfrm>
          <a:custGeom>
            <a:avLst/>
            <a:gdLst/>
            <a:ahLst/>
            <a:cxnLst/>
            <a:rect l="l" t="t" r="r" b="b"/>
            <a:pathLst>
              <a:path w="815975" h="603250">
                <a:moveTo>
                  <a:pt x="738127" y="563944"/>
                </a:moveTo>
                <a:lnTo>
                  <a:pt x="721217" y="586989"/>
                </a:lnTo>
                <a:lnTo>
                  <a:pt x="815705" y="603123"/>
                </a:lnTo>
                <a:lnTo>
                  <a:pt x="799910" y="572393"/>
                </a:lnTo>
                <a:lnTo>
                  <a:pt x="749655" y="572393"/>
                </a:lnTo>
                <a:lnTo>
                  <a:pt x="738127" y="563944"/>
                </a:lnTo>
                <a:close/>
              </a:path>
              <a:path w="815975" h="603250">
                <a:moveTo>
                  <a:pt x="755013" y="540931"/>
                </a:moveTo>
                <a:lnTo>
                  <a:pt x="738127" y="563944"/>
                </a:lnTo>
                <a:lnTo>
                  <a:pt x="749655" y="572393"/>
                </a:lnTo>
                <a:lnTo>
                  <a:pt x="766572" y="549402"/>
                </a:lnTo>
                <a:lnTo>
                  <a:pt x="755013" y="540931"/>
                </a:lnTo>
                <a:close/>
              </a:path>
              <a:path w="815975" h="603250">
                <a:moveTo>
                  <a:pt x="771906" y="517910"/>
                </a:moveTo>
                <a:lnTo>
                  <a:pt x="755013" y="540931"/>
                </a:lnTo>
                <a:lnTo>
                  <a:pt x="766572" y="549402"/>
                </a:lnTo>
                <a:lnTo>
                  <a:pt x="749655" y="572393"/>
                </a:lnTo>
                <a:lnTo>
                  <a:pt x="799910" y="572393"/>
                </a:lnTo>
                <a:lnTo>
                  <a:pt x="771906" y="517910"/>
                </a:lnTo>
                <a:close/>
              </a:path>
              <a:path w="815975" h="603250">
                <a:moveTo>
                  <a:pt x="16885" y="0"/>
                </a:moveTo>
                <a:lnTo>
                  <a:pt x="0" y="22991"/>
                </a:lnTo>
                <a:lnTo>
                  <a:pt x="738127" y="563944"/>
                </a:lnTo>
                <a:lnTo>
                  <a:pt x="755013" y="540931"/>
                </a:lnTo>
                <a:lnTo>
                  <a:pt x="168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4"/>
          <p:cNvSpPr/>
          <p:nvPr/>
        </p:nvSpPr>
        <p:spPr>
          <a:xfrm>
            <a:off x="6795654" y="3404389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171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5"/>
          <p:cNvSpPr/>
          <p:nvPr/>
        </p:nvSpPr>
        <p:spPr>
          <a:xfrm>
            <a:off x="7140398" y="2545624"/>
            <a:ext cx="341630" cy="183515"/>
          </a:xfrm>
          <a:custGeom>
            <a:avLst/>
            <a:gdLst/>
            <a:ahLst/>
            <a:cxnLst/>
            <a:rect l="l" t="t" r="r" b="b"/>
            <a:pathLst>
              <a:path w="341629" h="183515">
                <a:moveTo>
                  <a:pt x="13030" y="183367"/>
                </a:moveTo>
                <a:lnTo>
                  <a:pt x="5570" y="157934"/>
                </a:lnTo>
                <a:lnTo>
                  <a:pt x="1127" y="136611"/>
                </a:lnTo>
                <a:lnTo>
                  <a:pt x="0" y="121619"/>
                </a:lnTo>
                <a:lnTo>
                  <a:pt x="2484" y="115183"/>
                </a:lnTo>
                <a:lnTo>
                  <a:pt x="145100" y="68305"/>
                </a:lnTo>
                <a:lnTo>
                  <a:pt x="147637" y="61872"/>
                </a:lnTo>
                <a:lnTo>
                  <a:pt x="146517" y="46874"/>
                </a:lnTo>
                <a:lnTo>
                  <a:pt x="142082" y="25516"/>
                </a:lnTo>
                <a:lnTo>
                  <a:pt x="134675" y="0"/>
                </a:lnTo>
                <a:lnTo>
                  <a:pt x="143774" y="24959"/>
                </a:lnTo>
                <a:lnTo>
                  <a:pt x="152826" y="44797"/>
                </a:lnTo>
                <a:lnTo>
                  <a:pt x="160804" y="57538"/>
                </a:lnTo>
                <a:lnTo>
                  <a:pt x="166679" y="61203"/>
                </a:lnTo>
                <a:lnTo>
                  <a:pt x="309173" y="14356"/>
                </a:lnTo>
                <a:lnTo>
                  <a:pt x="315055" y="18089"/>
                </a:lnTo>
                <a:lnTo>
                  <a:pt x="323053" y="30853"/>
                </a:lnTo>
                <a:lnTo>
                  <a:pt x="332143" y="50669"/>
                </a:lnTo>
                <a:lnTo>
                  <a:pt x="341299" y="75559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7135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32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3988148" y="457207"/>
            <a:ext cx="4024629" cy="1275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150" marR="497205" indent="-171450">
              <a:lnSpc>
                <a:spcPct val="153000"/>
              </a:lnSpc>
              <a:spcBef>
                <a:spcPts val="9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Measure 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distance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from 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cluster </a:t>
            </a:r>
            <a:r>
              <a:rPr sz="1350" spc="-25" dirty="0">
                <a:solidFill>
                  <a:srgbClr val="595959"/>
                </a:solidFill>
                <a:latin typeface="Arial"/>
                <a:cs typeface="Arial"/>
              </a:rPr>
              <a:t>mean 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(centroids)</a:t>
            </a:r>
            <a:endParaRPr sz="135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785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spc="-15" dirty="0">
                <a:solidFill>
                  <a:srgbClr val="595959"/>
                </a:solidFill>
                <a:latin typeface="Arial"/>
                <a:cs typeface="Arial"/>
              </a:rPr>
              <a:t>Assign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point </a:t>
            </a:r>
            <a:r>
              <a:rPr sz="1350" dirty="0">
                <a:solidFill>
                  <a:srgbClr val="595959"/>
                </a:solidFill>
                <a:latin typeface="Arial"/>
                <a:cs typeface="Arial"/>
              </a:rPr>
              <a:t>to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the nearest</a:t>
            </a:r>
            <a:r>
              <a:rPr sz="135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350" spc="-5" dirty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endParaRPr sz="1350">
              <a:latin typeface="Arial"/>
              <a:cs typeface="Arial"/>
            </a:endParaRPr>
          </a:p>
          <a:p>
            <a:pPr marL="184150" indent="-171450">
              <a:lnSpc>
                <a:spcPct val="100000"/>
              </a:lnSpc>
              <a:spcBef>
                <a:spcPts val="860"/>
              </a:spcBef>
              <a:buFont typeface="Wingdings"/>
              <a:buChar char=""/>
              <a:tabLst>
                <a:tab pos="184150" algn="l"/>
              </a:tabLst>
            </a:pP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Calculate</a:t>
            </a:r>
            <a:r>
              <a:rPr sz="1350" b="1" spc="-1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r>
              <a:rPr sz="1350" b="1" spc="-8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35" dirty="0">
                <a:solidFill>
                  <a:srgbClr val="5F4778"/>
                </a:solidFill>
                <a:latin typeface="Arial"/>
                <a:cs typeface="Arial"/>
              </a:rPr>
              <a:t>mean</a:t>
            </a:r>
            <a:r>
              <a:rPr sz="1350" b="1" spc="-15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using</a:t>
            </a:r>
            <a:r>
              <a:rPr sz="1350" b="1" spc="-1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sz="1350" b="1" spc="20" dirty="0">
                <a:solidFill>
                  <a:srgbClr val="5F4778"/>
                </a:solidFill>
                <a:latin typeface="Arial"/>
                <a:cs typeface="Arial"/>
              </a:rPr>
              <a:t>new</a:t>
            </a:r>
            <a:r>
              <a:rPr sz="1350" b="1" spc="-8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point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7"/>
          <p:cNvSpPr/>
          <p:nvPr/>
        </p:nvSpPr>
        <p:spPr>
          <a:xfrm>
            <a:off x="4896455" y="2343466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8"/>
          <p:cNvSpPr/>
          <p:nvPr/>
        </p:nvSpPr>
        <p:spPr>
          <a:xfrm>
            <a:off x="5192233" y="3911662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/>
          <p:nvPr/>
        </p:nvSpPr>
        <p:spPr>
          <a:xfrm>
            <a:off x="5481306" y="3808541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/>
          <p:cNvSpPr/>
          <p:nvPr/>
        </p:nvSpPr>
        <p:spPr>
          <a:xfrm>
            <a:off x="5859052" y="3668524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1"/>
          <p:cNvSpPr/>
          <p:nvPr/>
        </p:nvSpPr>
        <p:spPr>
          <a:xfrm>
            <a:off x="6182986" y="3595300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/>
          <p:cNvSpPr/>
          <p:nvPr/>
        </p:nvSpPr>
        <p:spPr>
          <a:xfrm>
            <a:off x="6771859" y="3378130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/>
          <p:cNvSpPr/>
          <p:nvPr/>
        </p:nvSpPr>
        <p:spPr>
          <a:xfrm>
            <a:off x="7061054" y="3275010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/>
          <p:cNvSpPr/>
          <p:nvPr/>
        </p:nvSpPr>
        <p:spPr>
          <a:xfrm>
            <a:off x="7407124" y="3155126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7802084" y="3017454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/>
          <p:cNvSpPr/>
          <p:nvPr/>
        </p:nvSpPr>
        <p:spPr>
          <a:xfrm>
            <a:off x="8479844" y="2763518"/>
            <a:ext cx="234924" cy="23482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/>
          <p:cNvSpPr/>
          <p:nvPr/>
        </p:nvSpPr>
        <p:spPr>
          <a:xfrm>
            <a:off x="8782480" y="2557138"/>
            <a:ext cx="476509" cy="3233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8"/>
          <p:cNvSpPr/>
          <p:nvPr/>
        </p:nvSpPr>
        <p:spPr>
          <a:xfrm>
            <a:off x="9381412" y="2439150"/>
            <a:ext cx="234955" cy="23495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5677140" y="3444556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0"/>
          <p:cNvSpPr/>
          <p:nvPr/>
        </p:nvSpPr>
        <p:spPr>
          <a:xfrm>
            <a:off x="5646858" y="2678746"/>
            <a:ext cx="1705610" cy="666750"/>
          </a:xfrm>
          <a:custGeom>
            <a:avLst/>
            <a:gdLst/>
            <a:ahLst/>
            <a:cxnLst/>
            <a:rect l="l" t="t" r="r" b="b"/>
            <a:pathLst>
              <a:path w="1705610" h="666750">
                <a:moveTo>
                  <a:pt x="24307" y="666749"/>
                </a:moveTo>
                <a:lnTo>
                  <a:pt x="10409" y="619123"/>
                </a:lnTo>
                <a:lnTo>
                  <a:pt x="2098" y="579215"/>
                </a:lnTo>
                <a:lnTo>
                  <a:pt x="0" y="551165"/>
                </a:lnTo>
                <a:lnTo>
                  <a:pt x="4739" y="539114"/>
                </a:lnTo>
                <a:lnTo>
                  <a:pt x="804961" y="276093"/>
                </a:lnTo>
                <a:lnTo>
                  <a:pt x="809643" y="264067"/>
                </a:lnTo>
                <a:lnTo>
                  <a:pt x="807509" y="236048"/>
                </a:lnTo>
                <a:lnTo>
                  <a:pt x="799187" y="196145"/>
                </a:lnTo>
                <a:lnTo>
                  <a:pt x="785301" y="148468"/>
                </a:lnTo>
                <a:lnTo>
                  <a:pt x="802371" y="195099"/>
                </a:lnTo>
                <a:lnTo>
                  <a:pt x="819355" y="232156"/>
                </a:lnTo>
                <a:lnTo>
                  <a:pt x="834293" y="255975"/>
                </a:lnTo>
                <a:lnTo>
                  <a:pt x="845225" y="262889"/>
                </a:lnTo>
                <a:lnTo>
                  <a:pt x="1645447" y="0"/>
                </a:lnTo>
                <a:lnTo>
                  <a:pt x="1656443" y="6909"/>
                </a:lnTo>
                <a:lnTo>
                  <a:pt x="1671377" y="30727"/>
                </a:lnTo>
                <a:lnTo>
                  <a:pt x="1688335" y="67787"/>
                </a:lnTo>
                <a:lnTo>
                  <a:pt x="1705401" y="114421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1"/>
          <p:cNvSpPr/>
          <p:nvPr/>
        </p:nvSpPr>
        <p:spPr>
          <a:xfrm>
            <a:off x="6731066" y="2498792"/>
            <a:ext cx="594995" cy="256540"/>
          </a:xfrm>
          <a:custGeom>
            <a:avLst/>
            <a:gdLst/>
            <a:ahLst/>
            <a:cxnLst/>
            <a:rect l="l" t="t" r="r" b="b"/>
            <a:pathLst>
              <a:path w="594995" h="256539">
                <a:moveTo>
                  <a:pt x="13878" y="256153"/>
                </a:moveTo>
                <a:lnTo>
                  <a:pt x="5941" y="228905"/>
                </a:lnTo>
                <a:lnTo>
                  <a:pt x="1199" y="206071"/>
                </a:lnTo>
                <a:lnTo>
                  <a:pt x="0" y="190021"/>
                </a:lnTo>
                <a:lnTo>
                  <a:pt x="2692" y="183123"/>
                </a:lnTo>
                <a:lnTo>
                  <a:pt x="269910" y="95371"/>
                </a:lnTo>
                <a:lnTo>
                  <a:pt x="272607" y="88421"/>
                </a:lnTo>
                <a:lnTo>
                  <a:pt x="271415" y="72363"/>
                </a:lnTo>
                <a:lnTo>
                  <a:pt x="266674" y="49521"/>
                </a:lnTo>
                <a:lnTo>
                  <a:pt x="258724" y="22219"/>
                </a:lnTo>
                <a:lnTo>
                  <a:pt x="268501" y="48922"/>
                </a:lnTo>
                <a:lnTo>
                  <a:pt x="278212" y="70130"/>
                </a:lnTo>
                <a:lnTo>
                  <a:pt x="286752" y="83766"/>
                </a:lnTo>
                <a:lnTo>
                  <a:pt x="293014" y="87751"/>
                </a:lnTo>
                <a:lnTo>
                  <a:pt x="560232" y="0"/>
                </a:lnTo>
                <a:lnTo>
                  <a:pt x="566499" y="3928"/>
                </a:lnTo>
                <a:lnTo>
                  <a:pt x="575046" y="17548"/>
                </a:lnTo>
                <a:lnTo>
                  <a:pt x="584758" y="38747"/>
                </a:lnTo>
                <a:lnTo>
                  <a:pt x="594522" y="65410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2"/>
          <p:cNvSpPr/>
          <p:nvPr/>
        </p:nvSpPr>
        <p:spPr>
          <a:xfrm>
            <a:off x="7639289" y="2873056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09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380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3"/>
          <p:cNvSpPr/>
          <p:nvPr/>
        </p:nvSpPr>
        <p:spPr>
          <a:xfrm>
            <a:off x="6906490" y="3083237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171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4"/>
          <p:cNvSpPr/>
          <p:nvPr/>
        </p:nvSpPr>
        <p:spPr>
          <a:xfrm>
            <a:off x="7251234" y="2224472"/>
            <a:ext cx="341630" cy="183515"/>
          </a:xfrm>
          <a:custGeom>
            <a:avLst/>
            <a:gdLst/>
            <a:ahLst/>
            <a:cxnLst/>
            <a:rect l="l" t="t" r="r" b="b"/>
            <a:pathLst>
              <a:path w="341629" h="183515">
                <a:moveTo>
                  <a:pt x="13030" y="183367"/>
                </a:moveTo>
                <a:lnTo>
                  <a:pt x="5570" y="157934"/>
                </a:lnTo>
                <a:lnTo>
                  <a:pt x="1127" y="136611"/>
                </a:lnTo>
                <a:lnTo>
                  <a:pt x="0" y="121619"/>
                </a:lnTo>
                <a:lnTo>
                  <a:pt x="2484" y="115183"/>
                </a:lnTo>
                <a:lnTo>
                  <a:pt x="145100" y="68305"/>
                </a:lnTo>
                <a:lnTo>
                  <a:pt x="147637" y="61872"/>
                </a:lnTo>
                <a:lnTo>
                  <a:pt x="146517" y="46874"/>
                </a:lnTo>
                <a:lnTo>
                  <a:pt x="142082" y="25516"/>
                </a:lnTo>
                <a:lnTo>
                  <a:pt x="134675" y="0"/>
                </a:lnTo>
                <a:lnTo>
                  <a:pt x="143774" y="24959"/>
                </a:lnTo>
                <a:lnTo>
                  <a:pt x="152826" y="44797"/>
                </a:lnTo>
                <a:lnTo>
                  <a:pt x="160804" y="57538"/>
                </a:lnTo>
                <a:lnTo>
                  <a:pt x="166679" y="61203"/>
                </a:lnTo>
                <a:lnTo>
                  <a:pt x="309173" y="14356"/>
                </a:lnTo>
                <a:lnTo>
                  <a:pt x="315055" y="18089"/>
                </a:lnTo>
                <a:lnTo>
                  <a:pt x="323053" y="30853"/>
                </a:lnTo>
                <a:lnTo>
                  <a:pt x="332143" y="50669"/>
                </a:lnTo>
                <a:lnTo>
                  <a:pt x="341299" y="75559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6475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33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4993438" y="1934713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289216" y="3502909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578289" y="3399788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5956035" y="3259771"/>
            <a:ext cx="234955" cy="23494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279969" y="3186547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6868842" y="2969377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158037" y="2866257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7504107" y="2746373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7899067" y="2608701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591115" y="2369052"/>
            <a:ext cx="206349" cy="20625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8893751" y="2251064"/>
            <a:ext cx="206380" cy="2063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135427" y="2162672"/>
            <a:ext cx="206258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9492683" y="2044684"/>
            <a:ext cx="206380" cy="2063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5774123" y="3035803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/>
          <p:nvPr/>
        </p:nvSpPr>
        <p:spPr>
          <a:xfrm>
            <a:off x="7736272" y="2464303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09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 txBox="1"/>
          <p:nvPr/>
        </p:nvSpPr>
        <p:spPr>
          <a:xfrm>
            <a:off x="7735633" y="3773100"/>
            <a:ext cx="2486025" cy="104076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01200"/>
              </a:lnSpc>
              <a:spcBef>
                <a:spcPts val="75"/>
              </a:spcBef>
            </a:pPr>
            <a:r>
              <a:rPr sz="1650" spc="-15" dirty="0">
                <a:latin typeface="Arial"/>
                <a:cs typeface="Arial"/>
              </a:rPr>
              <a:t>Since </a:t>
            </a:r>
            <a:r>
              <a:rPr sz="1650" spc="-30" dirty="0">
                <a:latin typeface="Arial"/>
                <a:cs typeface="Arial"/>
              </a:rPr>
              <a:t>all </a:t>
            </a:r>
            <a:r>
              <a:rPr sz="1650" spc="25" dirty="0">
                <a:latin typeface="Arial"/>
                <a:cs typeface="Arial"/>
              </a:rPr>
              <a:t>of </a:t>
            </a:r>
            <a:r>
              <a:rPr sz="1650" spc="-25" dirty="0">
                <a:latin typeface="Arial"/>
                <a:cs typeface="Arial"/>
              </a:rPr>
              <a:t>these </a:t>
            </a:r>
            <a:r>
              <a:rPr sz="1650" spc="-15" dirty="0">
                <a:latin typeface="Arial"/>
                <a:cs typeface="Arial"/>
              </a:rPr>
              <a:t>points  </a:t>
            </a:r>
            <a:r>
              <a:rPr sz="1650" spc="-20" dirty="0">
                <a:latin typeface="Arial"/>
                <a:cs typeface="Arial"/>
              </a:rPr>
              <a:t>are </a:t>
            </a:r>
            <a:r>
              <a:rPr sz="1650" spc="-10" dirty="0">
                <a:latin typeface="Arial"/>
                <a:cs typeface="Arial"/>
              </a:rPr>
              <a:t>located closet </a:t>
            </a:r>
            <a:r>
              <a:rPr sz="1650" spc="-5" dirty="0">
                <a:latin typeface="Arial"/>
                <a:cs typeface="Arial"/>
              </a:rPr>
              <a:t>to </a:t>
            </a:r>
            <a:r>
              <a:rPr sz="1650" b="1" spc="-40" dirty="0">
                <a:solidFill>
                  <a:srgbClr val="00AFF0"/>
                </a:solidFill>
                <a:latin typeface="Arial"/>
                <a:cs typeface="Arial"/>
              </a:rPr>
              <a:t>blue  </a:t>
            </a:r>
            <a:r>
              <a:rPr sz="1650" spc="-30" dirty="0">
                <a:latin typeface="Arial"/>
                <a:cs typeface="Arial"/>
              </a:rPr>
              <a:t>cluster </a:t>
            </a:r>
            <a:r>
              <a:rPr sz="1650" dirty="0">
                <a:latin typeface="Arial"/>
                <a:cs typeface="Arial"/>
              </a:rPr>
              <a:t>so </a:t>
            </a:r>
            <a:r>
              <a:rPr sz="1650" spc="-30" dirty="0">
                <a:latin typeface="Arial"/>
                <a:cs typeface="Arial"/>
              </a:rPr>
              <a:t>all </a:t>
            </a:r>
            <a:r>
              <a:rPr sz="1650" spc="25" dirty="0">
                <a:latin typeface="Arial"/>
                <a:cs typeface="Arial"/>
              </a:rPr>
              <a:t>of </a:t>
            </a:r>
            <a:r>
              <a:rPr sz="1650" spc="-30" dirty="0">
                <a:latin typeface="Arial"/>
                <a:cs typeface="Arial"/>
              </a:rPr>
              <a:t>them </a:t>
            </a:r>
            <a:r>
              <a:rPr sz="1650" spc="-35" dirty="0">
                <a:latin typeface="Arial"/>
                <a:cs typeface="Arial"/>
              </a:rPr>
              <a:t>will  </a:t>
            </a:r>
            <a:r>
              <a:rPr sz="1650" spc="-10" dirty="0">
                <a:latin typeface="Arial"/>
                <a:cs typeface="Arial"/>
              </a:rPr>
              <a:t>be </a:t>
            </a:r>
            <a:r>
              <a:rPr sz="1650" spc="-20" dirty="0">
                <a:latin typeface="Arial"/>
                <a:cs typeface="Arial"/>
              </a:rPr>
              <a:t>assigned </a:t>
            </a:r>
            <a:r>
              <a:rPr sz="1650" spc="-5" dirty="0">
                <a:latin typeface="Arial"/>
                <a:cs typeface="Arial"/>
              </a:rPr>
              <a:t>to </a:t>
            </a:r>
            <a:r>
              <a:rPr sz="1650" spc="-50" dirty="0">
                <a:latin typeface="Arial"/>
                <a:cs typeface="Arial"/>
              </a:rPr>
              <a:t>blue</a:t>
            </a:r>
            <a:r>
              <a:rPr sz="1650" spc="245" dirty="0">
                <a:latin typeface="Arial"/>
                <a:cs typeface="Arial"/>
              </a:rPr>
              <a:t> </a:t>
            </a:r>
            <a:r>
              <a:rPr sz="1650" spc="-30" dirty="0">
                <a:latin typeface="Arial"/>
                <a:cs typeface="Arial"/>
              </a:rPr>
              <a:t>cluster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5"/>
          <p:cNvSpPr/>
          <p:nvPr/>
        </p:nvSpPr>
        <p:spPr>
          <a:xfrm>
            <a:off x="8733609" y="2265786"/>
            <a:ext cx="951865" cy="403860"/>
          </a:xfrm>
          <a:custGeom>
            <a:avLst/>
            <a:gdLst/>
            <a:ahLst/>
            <a:cxnLst/>
            <a:rect l="l" t="t" r="r" b="b"/>
            <a:pathLst>
              <a:path w="951865" h="403860">
                <a:moveTo>
                  <a:pt x="932169" y="0"/>
                </a:moveTo>
                <a:lnTo>
                  <a:pt x="942987" y="35666"/>
                </a:lnTo>
                <a:lnTo>
                  <a:pt x="949585" y="65554"/>
                </a:lnTo>
                <a:lnTo>
                  <a:pt x="951445" y="86607"/>
                </a:lnTo>
                <a:lnTo>
                  <a:pt x="948049" y="95768"/>
                </a:lnTo>
                <a:lnTo>
                  <a:pt x="512063" y="244617"/>
                </a:lnTo>
                <a:lnTo>
                  <a:pt x="508646" y="253723"/>
                </a:lnTo>
                <a:lnTo>
                  <a:pt x="510467" y="274781"/>
                </a:lnTo>
                <a:lnTo>
                  <a:pt x="517048" y="304698"/>
                </a:lnTo>
                <a:lnTo>
                  <a:pt x="527913" y="340379"/>
                </a:lnTo>
                <a:lnTo>
                  <a:pt x="514666" y="305518"/>
                </a:lnTo>
                <a:lnTo>
                  <a:pt x="501605" y="277826"/>
                </a:lnTo>
                <a:lnTo>
                  <a:pt x="490207" y="260042"/>
                </a:lnTo>
                <a:lnTo>
                  <a:pt x="481949" y="254904"/>
                </a:lnTo>
                <a:lnTo>
                  <a:pt x="45963" y="403744"/>
                </a:lnTo>
                <a:lnTo>
                  <a:pt x="37688" y="398682"/>
                </a:lnTo>
                <a:lnTo>
                  <a:pt x="26262" y="380936"/>
                </a:lnTo>
                <a:lnTo>
                  <a:pt x="13195" y="353258"/>
                </a:lnTo>
                <a:lnTo>
                  <a:pt x="0" y="31840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8974645" y="2602855"/>
            <a:ext cx="300990" cy="1140460"/>
          </a:xfrm>
          <a:custGeom>
            <a:avLst/>
            <a:gdLst/>
            <a:ahLst/>
            <a:cxnLst/>
            <a:rect l="l" t="t" r="r" b="b"/>
            <a:pathLst>
              <a:path w="300990" h="1140460">
                <a:moveTo>
                  <a:pt x="0" y="1047250"/>
                </a:moveTo>
                <a:lnTo>
                  <a:pt x="22341" y="1140464"/>
                </a:lnTo>
                <a:lnTo>
                  <a:pt x="77332" y="1074039"/>
                </a:lnTo>
                <a:lnTo>
                  <a:pt x="52456" y="1074039"/>
                </a:lnTo>
                <a:lnTo>
                  <a:pt x="24627" y="1067562"/>
                </a:lnTo>
                <a:lnTo>
                  <a:pt x="27843" y="1053735"/>
                </a:lnTo>
                <a:lnTo>
                  <a:pt x="0" y="1047250"/>
                </a:lnTo>
                <a:close/>
              </a:path>
              <a:path w="300990" h="1140460">
                <a:moveTo>
                  <a:pt x="27843" y="1053735"/>
                </a:moveTo>
                <a:lnTo>
                  <a:pt x="24627" y="1067562"/>
                </a:lnTo>
                <a:lnTo>
                  <a:pt x="52456" y="1074039"/>
                </a:lnTo>
                <a:lnTo>
                  <a:pt x="55672" y="1060217"/>
                </a:lnTo>
                <a:lnTo>
                  <a:pt x="27843" y="1053735"/>
                </a:lnTo>
                <a:close/>
              </a:path>
              <a:path w="300990" h="1140460">
                <a:moveTo>
                  <a:pt x="55672" y="1060217"/>
                </a:moveTo>
                <a:lnTo>
                  <a:pt x="52456" y="1074039"/>
                </a:lnTo>
                <a:lnTo>
                  <a:pt x="77332" y="1074039"/>
                </a:lnTo>
                <a:lnTo>
                  <a:pt x="83423" y="1066681"/>
                </a:lnTo>
                <a:lnTo>
                  <a:pt x="55672" y="1060217"/>
                </a:lnTo>
                <a:close/>
              </a:path>
              <a:path w="300990" h="1140460">
                <a:moveTo>
                  <a:pt x="272917" y="0"/>
                </a:moveTo>
                <a:lnTo>
                  <a:pt x="27843" y="1053735"/>
                </a:lnTo>
                <a:lnTo>
                  <a:pt x="55672" y="1060217"/>
                </a:lnTo>
                <a:lnTo>
                  <a:pt x="300868" y="6477"/>
                </a:lnTo>
                <a:lnTo>
                  <a:pt x="2729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7003473" y="2674484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171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97672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34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5169995" y="1917885"/>
            <a:ext cx="5549265" cy="33655"/>
          </a:xfrm>
          <a:custGeom>
            <a:avLst/>
            <a:gdLst/>
            <a:ahLst/>
            <a:cxnLst/>
            <a:rect l="l" t="t" r="r" b="b"/>
            <a:pathLst>
              <a:path w="5549265" h="33655">
                <a:moveTo>
                  <a:pt x="0" y="33649"/>
                </a:moveTo>
                <a:lnTo>
                  <a:pt x="5549249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486932" y="1852036"/>
            <a:ext cx="205820" cy="20583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793825" y="1846475"/>
            <a:ext cx="205840" cy="2057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191210" y="1838027"/>
            <a:ext cx="234395" cy="23437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526817" y="1868181"/>
            <a:ext cx="205816" cy="2058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7154322" y="1850268"/>
            <a:ext cx="205807" cy="2058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461156" y="1844694"/>
            <a:ext cx="205835" cy="20582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7827429" y="1841490"/>
            <a:ext cx="205887" cy="20583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8245645" y="1837074"/>
            <a:ext cx="205807" cy="20582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978049" y="1830646"/>
            <a:ext cx="205820" cy="20583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9302540" y="1815460"/>
            <a:ext cx="205790" cy="20583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559704" y="1808722"/>
            <a:ext cx="205833" cy="20584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9936006" y="1810905"/>
            <a:ext cx="205838" cy="20584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5170116" y="3665141"/>
            <a:ext cx="5549265" cy="59690"/>
          </a:xfrm>
          <a:custGeom>
            <a:avLst/>
            <a:gdLst/>
            <a:ahLst/>
            <a:cxnLst/>
            <a:rect l="l" t="t" r="r" b="b"/>
            <a:pathLst>
              <a:path w="5549265" h="59689">
                <a:moveTo>
                  <a:pt x="0" y="59435"/>
                </a:moveTo>
                <a:lnTo>
                  <a:pt x="5549005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/>
          <p:nvPr/>
        </p:nvSpPr>
        <p:spPr>
          <a:xfrm>
            <a:off x="5487059" y="3623142"/>
            <a:ext cx="205750" cy="20574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5793972" y="3616153"/>
            <a:ext cx="205750" cy="20581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6205625" y="3620094"/>
            <a:ext cx="205750" cy="20579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6527016" y="3634441"/>
            <a:ext cx="205802" cy="20581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7154386" y="3613617"/>
            <a:ext cx="205820" cy="205799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7461331" y="3606628"/>
            <a:ext cx="205699" cy="20581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>
            <a:off x="7827544" y="3601786"/>
            <a:ext cx="205750" cy="20570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/>
          <p:nvPr/>
        </p:nvSpPr>
        <p:spPr>
          <a:xfrm>
            <a:off x="8245709" y="3595446"/>
            <a:ext cx="205750" cy="20570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/>
          <p:cNvSpPr/>
          <p:nvPr/>
        </p:nvSpPr>
        <p:spPr>
          <a:xfrm>
            <a:off x="8978111" y="3585542"/>
            <a:ext cx="205701" cy="20581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/>
          <p:cNvSpPr/>
          <p:nvPr/>
        </p:nvSpPr>
        <p:spPr>
          <a:xfrm>
            <a:off x="9302464" y="3568889"/>
            <a:ext cx="205820" cy="20570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/>
          <p:cNvSpPr/>
          <p:nvPr/>
        </p:nvSpPr>
        <p:spPr>
          <a:xfrm>
            <a:off x="9559641" y="3560908"/>
            <a:ext cx="205763" cy="20581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/>
          <p:cNvSpPr/>
          <p:nvPr/>
        </p:nvSpPr>
        <p:spPr>
          <a:xfrm>
            <a:off x="9935948" y="3561420"/>
            <a:ext cx="205750" cy="20579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/>
          <p:cNvSpPr txBox="1"/>
          <p:nvPr/>
        </p:nvSpPr>
        <p:spPr>
          <a:xfrm>
            <a:off x="6872297" y="4110276"/>
            <a:ext cx="232283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595959"/>
                </a:solidFill>
                <a:latin typeface="Arial"/>
                <a:cs typeface="Arial"/>
              </a:rPr>
              <a:t>Original/Expected</a:t>
            </a:r>
            <a:r>
              <a:rPr sz="1500" b="1" spc="7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500" b="1" spc="-20" dirty="0">
                <a:solidFill>
                  <a:srgbClr val="595959"/>
                </a:solidFill>
                <a:latin typeface="Arial"/>
                <a:cs typeface="Arial"/>
              </a:rPr>
              <a:t>Result</a:t>
            </a:r>
            <a:endParaRPr sz="1500">
              <a:latin typeface="Arial"/>
              <a:cs typeface="Arial"/>
            </a:endParaRPr>
          </a:p>
        </p:txBody>
      </p:sp>
      <p:sp>
        <p:nvSpPr>
          <p:cNvPr id="40" name="object 36"/>
          <p:cNvSpPr txBox="1"/>
          <p:nvPr/>
        </p:nvSpPr>
        <p:spPr>
          <a:xfrm>
            <a:off x="7261806" y="2362818"/>
            <a:ext cx="1383665" cy="48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0" marR="30480" indent="-267335">
              <a:lnSpc>
                <a:spcPct val="100000"/>
              </a:lnSpc>
              <a:spcBef>
                <a:spcPts val="100"/>
              </a:spcBef>
            </a:pPr>
            <a:r>
              <a:rPr sz="1500" b="1" spc="-25" dirty="0">
                <a:solidFill>
                  <a:srgbClr val="595959"/>
                </a:solidFill>
                <a:latin typeface="Arial"/>
                <a:cs typeface="Arial"/>
              </a:rPr>
              <a:t>Result </a:t>
            </a:r>
            <a:r>
              <a:rPr sz="1500" b="1" dirty="0">
                <a:solidFill>
                  <a:srgbClr val="595959"/>
                </a:solidFill>
                <a:latin typeface="Arial"/>
                <a:cs typeface="Arial"/>
              </a:rPr>
              <a:t>from </a:t>
            </a:r>
            <a:r>
              <a:rPr sz="1500" b="1" spc="-60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1425" b="1" spc="-89" baseline="26315" dirty="0">
                <a:solidFill>
                  <a:srgbClr val="595959"/>
                </a:solidFill>
                <a:latin typeface="Arial"/>
                <a:cs typeface="Arial"/>
              </a:rPr>
              <a:t>st  </a:t>
            </a:r>
            <a:r>
              <a:rPr sz="1500" b="1" spc="-10" dirty="0">
                <a:solidFill>
                  <a:srgbClr val="595959"/>
                </a:solidFill>
                <a:latin typeface="Arial"/>
                <a:cs typeface="Arial"/>
              </a:rPr>
              <a:t>iteration</a:t>
            </a:r>
            <a:endParaRPr sz="1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8139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35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29"/>
          <p:cNvSpPr/>
          <p:nvPr/>
        </p:nvSpPr>
        <p:spPr>
          <a:xfrm>
            <a:off x="4789635" y="694252"/>
            <a:ext cx="5961491" cy="31578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27"/>
          <p:cNvSpPr txBox="1"/>
          <p:nvPr/>
        </p:nvSpPr>
        <p:spPr>
          <a:xfrm>
            <a:off x="5171007" y="3852107"/>
            <a:ext cx="5198745" cy="17934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083310" marR="2096770">
              <a:lnSpc>
                <a:spcPts val="1580"/>
              </a:lnSpc>
              <a:spcBef>
                <a:spcPts val="185"/>
              </a:spcBef>
            </a:pPr>
            <a:r>
              <a:rPr sz="1350" b="1" spc="-15" dirty="0">
                <a:latin typeface="Arial"/>
                <a:cs typeface="Arial"/>
              </a:rPr>
              <a:t>Total </a:t>
            </a:r>
            <a:r>
              <a:rPr sz="1350" b="1" dirty="0">
                <a:latin typeface="Arial"/>
                <a:cs typeface="Arial"/>
              </a:rPr>
              <a:t>variation </a:t>
            </a:r>
            <a:r>
              <a:rPr sz="1350" b="1" spc="10" dirty="0">
                <a:latin typeface="Arial"/>
                <a:cs typeface="Arial"/>
              </a:rPr>
              <a:t>within</a:t>
            </a:r>
            <a:r>
              <a:rPr sz="1350" b="1" spc="-19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  </a:t>
            </a:r>
            <a:r>
              <a:rPr lang="en-US" sz="1350" b="1" dirty="0" smtClean="0">
                <a:latin typeface="Arial"/>
                <a:cs typeface="Arial"/>
              </a:rPr>
              <a:t>C</a:t>
            </a:r>
            <a:r>
              <a:rPr sz="1350" b="1" spc="5" dirty="0" smtClean="0">
                <a:latin typeface="Arial"/>
                <a:cs typeface="Arial"/>
              </a:rPr>
              <a:t>luster</a:t>
            </a:r>
            <a:endParaRPr lang="en-US" sz="1350" b="1" spc="5" dirty="0" smtClean="0">
              <a:latin typeface="Arial"/>
              <a:cs typeface="Arial"/>
            </a:endParaRPr>
          </a:p>
          <a:p>
            <a:pPr marL="1083310" marR="2096770">
              <a:lnSpc>
                <a:spcPts val="1580"/>
              </a:lnSpc>
              <a:spcBef>
                <a:spcPts val="185"/>
              </a:spcBef>
            </a:pPr>
            <a:endParaRPr sz="1350" dirty="0">
              <a:latin typeface="Arial"/>
              <a:cs typeface="Arial"/>
            </a:endParaRPr>
          </a:p>
          <a:p>
            <a:pPr marL="12700" marR="5080">
              <a:lnSpc>
                <a:spcPct val="150300"/>
              </a:lnSpc>
              <a:spcBef>
                <a:spcPts val="740"/>
              </a:spcBef>
            </a:pPr>
            <a:r>
              <a:rPr sz="1500" spc="-20" dirty="0">
                <a:latin typeface="Arial"/>
                <a:cs typeface="Arial"/>
              </a:rPr>
              <a:t>According </a:t>
            </a:r>
            <a:r>
              <a:rPr sz="1500" spc="15" dirty="0">
                <a:latin typeface="Arial"/>
                <a:cs typeface="Arial"/>
              </a:rPr>
              <a:t>to </a:t>
            </a:r>
            <a:r>
              <a:rPr sz="1500" spc="-20" dirty="0">
                <a:latin typeface="Arial"/>
                <a:cs typeface="Arial"/>
              </a:rPr>
              <a:t>the </a:t>
            </a:r>
            <a:r>
              <a:rPr sz="1500" spc="-15" dirty="0">
                <a:latin typeface="Arial"/>
                <a:cs typeface="Arial"/>
              </a:rPr>
              <a:t>K-Means </a:t>
            </a:r>
            <a:r>
              <a:rPr sz="1500" spc="-20" dirty="0">
                <a:latin typeface="Arial"/>
                <a:cs typeface="Arial"/>
              </a:rPr>
              <a:t>Algorithm it </a:t>
            </a:r>
            <a:r>
              <a:rPr sz="1500" dirty="0">
                <a:latin typeface="Arial"/>
                <a:cs typeface="Arial"/>
              </a:rPr>
              <a:t>iterates </a:t>
            </a:r>
            <a:r>
              <a:rPr sz="1500" spc="-30" dirty="0">
                <a:latin typeface="Arial"/>
                <a:cs typeface="Arial"/>
              </a:rPr>
              <a:t>over </a:t>
            </a:r>
            <a:r>
              <a:rPr sz="1500" spc="-15" dirty="0">
                <a:latin typeface="Arial"/>
                <a:cs typeface="Arial"/>
              </a:rPr>
              <a:t>again </a:t>
            </a:r>
            <a:r>
              <a:rPr sz="1500" spc="-35" dirty="0">
                <a:latin typeface="Arial"/>
                <a:cs typeface="Arial"/>
              </a:rPr>
              <a:t>and  </a:t>
            </a:r>
            <a:r>
              <a:rPr sz="1500" spc="-15" dirty="0">
                <a:latin typeface="Arial"/>
                <a:cs typeface="Arial"/>
              </a:rPr>
              <a:t>again </a:t>
            </a:r>
            <a:r>
              <a:rPr sz="1500" spc="-40" dirty="0">
                <a:latin typeface="Arial"/>
                <a:cs typeface="Arial"/>
              </a:rPr>
              <a:t>unless </a:t>
            </a:r>
            <a:r>
              <a:rPr sz="1500" spc="-35" dirty="0">
                <a:latin typeface="Arial"/>
                <a:cs typeface="Arial"/>
              </a:rPr>
              <a:t>and </a:t>
            </a:r>
            <a:r>
              <a:rPr sz="1500" spc="-40" dirty="0">
                <a:latin typeface="Arial"/>
                <a:cs typeface="Arial"/>
              </a:rPr>
              <a:t>until </a:t>
            </a:r>
            <a:r>
              <a:rPr sz="1500" spc="-20" dirty="0">
                <a:latin typeface="Arial"/>
                <a:cs typeface="Arial"/>
              </a:rPr>
              <a:t>the </a:t>
            </a:r>
            <a:r>
              <a:rPr sz="1500" dirty="0">
                <a:latin typeface="Arial"/>
                <a:cs typeface="Arial"/>
              </a:rPr>
              <a:t>data </a:t>
            </a:r>
            <a:r>
              <a:rPr sz="1500" spc="-20" dirty="0">
                <a:latin typeface="Arial"/>
                <a:cs typeface="Arial"/>
              </a:rPr>
              <a:t>points </a:t>
            </a:r>
            <a:r>
              <a:rPr sz="1500" spc="-15" dirty="0">
                <a:latin typeface="Arial"/>
                <a:cs typeface="Arial"/>
              </a:rPr>
              <a:t>within </a:t>
            </a:r>
            <a:r>
              <a:rPr sz="1500" spc="-10" dirty="0">
                <a:latin typeface="Arial"/>
                <a:cs typeface="Arial"/>
              </a:rPr>
              <a:t>each </a:t>
            </a:r>
            <a:r>
              <a:rPr sz="1500" spc="-15" dirty="0">
                <a:latin typeface="Arial"/>
                <a:cs typeface="Arial"/>
              </a:rPr>
              <a:t>cluster  </a:t>
            </a:r>
            <a:r>
              <a:rPr sz="1500" dirty="0">
                <a:latin typeface="Arial"/>
                <a:cs typeface="Arial"/>
              </a:rPr>
              <a:t>stops</a:t>
            </a:r>
            <a:r>
              <a:rPr sz="1500" spc="-50" dirty="0">
                <a:latin typeface="Arial"/>
                <a:cs typeface="Arial"/>
              </a:rPr>
              <a:t> </a:t>
            </a:r>
            <a:r>
              <a:rPr sz="1500" spc="-45" dirty="0">
                <a:latin typeface="Arial"/>
                <a:cs typeface="Arial"/>
              </a:rPr>
              <a:t>changing</a:t>
            </a:r>
            <a:endParaRPr sz="15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2180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36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131" y="161214"/>
            <a:ext cx="8412033" cy="616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078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37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0474" y="260668"/>
            <a:ext cx="8531526" cy="608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692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38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03964" y="729375"/>
            <a:ext cx="6331527" cy="1205338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pc="5" smtClean="0">
                <a:solidFill>
                  <a:srgbClr val="595959"/>
                </a:solidFill>
              </a:rPr>
              <a:t>Algorithm </a:t>
            </a:r>
            <a:r>
              <a:rPr lang="en-US" spc="10" smtClean="0">
                <a:solidFill>
                  <a:srgbClr val="595959"/>
                </a:solidFill>
              </a:rPr>
              <a:t>picks </a:t>
            </a:r>
            <a:r>
              <a:rPr lang="en-US" spc="15" smtClean="0">
                <a:solidFill>
                  <a:srgbClr val="595959"/>
                </a:solidFill>
              </a:rPr>
              <a:t>3 </a:t>
            </a:r>
            <a:r>
              <a:rPr lang="en-US" spc="-20" smtClean="0">
                <a:solidFill>
                  <a:srgbClr val="595959"/>
                </a:solidFill>
              </a:rPr>
              <a:t>initial </a:t>
            </a:r>
            <a:r>
              <a:rPr lang="en-US" spc="5" smtClean="0">
                <a:solidFill>
                  <a:srgbClr val="595959"/>
                </a:solidFill>
              </a:rPr>
              <a:t>clusters </a:t>
            </a:r>
            <a:r>
              <a:rPr lang="en-US" spc="-15" smtClean="0">
                <a:solidFill>
                  <a:srgbClr val="595959"/>
                </a:solidFill>
              </a:rPr>
              <a:t>and </a:t>
            </a:r>
            <a:r>
              <a:rPr lang="en-US" spc="15" smtClean="0">
                <a:solidFill>
                  <a:srgbClr val="595959"/>
                </a:solidFill>
              </a:rPr>
              <a:t>adds </a:t>
            </a:r>
            <a:r>
              <a:rPr lang="en-US" spc="-15" smtClean="0">
                <a:solidFill>
                  <a:srgbClr val="595959"/>
                </a:solidFill>
              </a:rPr>
              <a:t>the </a:t>
            </a:r>
            <a:r>
              <a:rPr lang="en-US" spc="-5" smtClean="0">
                <a:solidFill>
                  <a:srgbClr val="595959"/>
                </a:solidFill>
              </a:rPr>
              <a:t>remaining</a:t>
            </a:r>
            <a:r>
              <a:rPr lang="en-US" spc="-285" smtClean="0">
                <a:solidFill>
                  <a:srgbClr val="595959"/>
                </a:solidFill>
              </a:rPr>
              <a:t> </a:t>
            </a:r>
            <a:r>
              <a:rPr lang="en-US" spc="5" smtClean="0">
                <a:solidFill>
                  <a:srgbClr val="595959"/>
                </a:solidFill>
              </a:rPr>
              <a:t>points  </a:t>
            </a:r>
            <a:r>
              <a:rPr lang="en-US" spc="-5" smtClean="0">
                <a:solidFill>
                  <a:srgbClr val="595959"/>
                </a:solidFill>
              </a:rPr>
              <a:t>to </a:t>
            </a:r>
            <a:r>
              <a:rPr lang="en-US" spc="-15" smtClean="0">
                <a:solidFill>
                  <a:srgbClr val="595959"/>
                </a:solidFill>
              </a:rPr>
              <a:t>the </a:t>
            </a:r>
            <a:r>
              <a:rPr lang="en-US" spc="10" smtClean="0">
                <a:solidFill>
                  <a:srgbClr val="595959"/>
                </a:solidFill>
              </a:rPr>
              <a:t>cluster </a:t>
            </a:r>
            <a:r>
              <a:rPr lang="en-US" spc="-15" smtClean="0">
                <a:solidFill>
                  <a:srgbClr val="595959"/>
                </a:solidFill>
              </a:rPr>
              <a:t>with the </a:t>
            </a:r>
            <a:r>
              <a:rPr lang="en-US" spc="5" smtClean="0">
                <a:solidFill>
                  <a:srgbClr val="595959"/>
                </a:solidFill>
              </a:rPr>
              <a:t>nearest mean, </a:t>
            </a:r>
            <a:r>
              <a:rPr lang="en-US" spc="-15" smtClean="0">
                <a:solidFill>
                  <a:srgbClr val="595959"/>
                </a:solidFill>
              </a:rPr>
              <a:t>and </a:t>
            </a:r>
            <a:r>
              <a:rPr lang="en-US" spc="-5" smtClean="0">
                <a:solidFill>
                  <a:srgbClr val="595959"/>
                </a:solidFill>
              </a:rPr>
              <a:t>again recalculating  </a:t>
            </a:r>
            <a:r>
              <a:rPr lang="en-US" spc="-15" smtClean="0">
                <a:solidFill>
                  <a:srgbClr val="595959"/>
                </a:solidFill>
              </a:rPr>
              <a:t>the</a:t>
            </a:r>
            <a:r>
              <a:rPr lang="en-US" spc="15" smtClean="0">
                <a:solidFill>
                  <a:srgbClr val="595959"/>
                </a:solidFill>
              </a:rPr>
              <a:t> mean</a:t>
            </a:r>
            <a:r>
              <a:rPr lang="en-US" spc="-60" smtClean="0">
                <a:solidFill>
                  <a:srgbClr val="595959"/>
                </a:solidFill>
              </a:rPr>
              <a:t> </a:t>
            </a:r>
            <a:r>
              <a:rPr lang="en-US" spc="15" smtClean="0">
                <a:solidFill>
                  <a:srgbClr val="595959"/>
                </a:solidFill>
              </a:rPr>
              <a:t>each</a:t>
            </a:r>
            <a:r>
              <a:rPr lang="en-US" spc="-130" smtClean="0">
                <a:solidFill>
                  <a:srgbClr val="595959"/>
                </a:solidFill>
              </a:rPr>
              <a:t> </a:t>
            </a:r>
            <a:r>
              <a:rPr lang="en-US" smtClean="0">
                <a:solidFill>
                  <a:srgbClr val="595959"/>
                </a:solidFill>
              </a:rPr>
              <a:t>time</a:t>
            </a:r>
            <a:r>
              <a:rPr lang="en-US" spc="-60" smtClean="0">
                <a:solidFill>
                  <a:srgbClr val="595959"/>
                </a:solidFill>
              </a:rPr>
              <a:t> </a:t>
            </a:r>
            <a:r>
              <a:rPr lang="en-US" spc="15" smtClean="0">
                <a:solidFill>
                  <a:srgbClr val="595959"/>
                </a:solidFill>
              </a:rPr>
              <a:t>a </a:t>
            </a:r>
            <a:r>
              <a:rPr lang="en-US" spc="10" smtClean="0">
                <a:solidFill>
                  <a:srgbClr val="595959"/>
                </a:solidFill>
              </a:rPr>
              <a:t>new</a:t>
            </a:r>
            <a:r>
              <a:rPr lang="en-US" spc="-70" smtClean="0">
                <a:solidFill>
                  <a:srgbClr val="595959"/>
                </a:solidFill>
              </a:rPr>
              <a:t> </a:t>
            </a:r>
            <a:r>
              <a:rPr lang="en-US" spc="10" smtClean="0">
                <a:solidFill>
                  <a:srgbClr val="595959"/>
                </a:solidFill>
              </a:rPr>
              <a:t>point</a:t>
            </a:r>
            <a:r>
              <a:rPr lang="en-US" spc="-35" smtClean="0">
                <a:solidFill>
                  <a:srgbClr val="595959"/>
                </a:solidFill>
              </a:rPr>
              <a:t> </a:t>
            </a:r>
            <a:r>
              <a:rPr lang="en-US" spc="-5" smtClean="0">
                <a:solidFill>
                  <a:srgbClr val="595959"/>
                </a:solidFill>
              </a:rPr>
              <a:t>is</a:t>
            </a:r>
            <a:r>
              <a:rPr lang="en-US" spc="-60" smtClean="0">
                <a:solidFill>
                  <a:srgbClr val="595959"/>
                </a:solidFill>
              </a:rPr>
              <a:t> </a:t>
            </a:r>
            <a:r>
              <a:rPr lang="en-US" spc="20" smtClean="0">
                <a:solidFill>
                  <a:srgbClr val="595959"/>
                </a:solidFill>
              </a:rPr>
              <a:t>added</a:t>
            </a:r>
            <a:r>
              <a:rPr lang="en-US" spc="-130" smtClean="0">
                <a:solidFill>
                  <a:srgbClr val="595959"/>
                </a:solidFill>
              </a:rPr>
              <a:t> </a:t>
            </a:r>
            <a:r>
              <a:rPr lang="en-US" spc="-5" smtClean="0">
                <a:solidFill>
                  <a:srgbClr val="595959"/>
                </a:solidFill>
              </a:rPr>
              <a:t>to</a:t>
            </a:r>
            <a:r>
              <a:rPr lang="en-US" spc="15" smtClean="0">
                <a:solidFill>
                  <a:srgbClr val="595959"/>
                </a:solidFill>
              </a:rPr>
              <a:t> </a:t>
            </a:r>
            <a:r>
              <a:rPr lang="en-US" spc="-15" smtClean="0">
                <a:solidFill>
                  <a:srgbClr val="595959"/>
                </a:solidFill>
              </a:rPr>
              <a:t>the</a:t>
            </a:r>
            <a:r>
              <a:rPr lang="en-US" spc="20" smtClean="0">
                <a:solidFill>
                  <a:srgbClr val="595959"/>
                </a:solidFill>
              </a:rPr>
              <a:t> </a:t>
            </a:r>
            <a:r>
              <a:rPr lang="en-US" spc="10" smtClean="0">
                <a:solidFill>
                  <a:srgbClr val="595959"/>
                </a:solidFill>
              </a:rPr>
              <a:t>cluster</a:t>
            </a:r>
            <a:endParaRPr lang="en-US"/>
          </a:p>
        </p:txBody>
      </p:sp>
      <p:sp>
        <p:nvSpPr>
          <p:cNvPr id="15" name="object 9"/>
          <p:cNvSpPr/>
          <p:nvPr/>
        </p:nvSpPr>
        <p:spPr>
          <a:xfrm>
            <a:off x="5271169" y="2587188"/>
            <a:ext cx="5248910" cy="1802764"/>
          </a:xfrm>
          <a:custGeom>
            <a:avLst/>
            <a:gdLst/>
            <a:ahLst/>
            <a:cxnLst/>
            <a:rect l="l" t="t" r="r" b="b"/>
            <a:pathLst>
              <a:path w="5248909" h="1802764">
                <a:moveTo>
                  <a:pt x="0" y="1802267"/>
                </a:moveTo>
                <a:lnTo>
                  <a:pt x="5248655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0"/>
          <p:cNvSpPr/>
          <p:nvPr/>
        </p:nvSpPr>
        <p:spPr>
          <a:xfrm>
            <a:off x="5566948" y="4155521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1"/>
          <p:cNvSpPr/>
          <p:nvPr/>
        </p:nvSpPr>
        <p:spPr>
          <a:xfrm>
            <a:off x="5856142" y="4052402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2"/>
          <p:cNvSpPr/>
          <p:nvPr/>
        </p:nvSpPr>
        <p:spPr>
          <a:xfrm>
            <a:off x="6248054" y="3926540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3"/>
          <p:cNvSpPr/>
          <p:nvPr/>
        </p:nvSpPr>
        <p:spPr>
          <a:xfrm>
            <a:off x="6557670" y="3839160"/>
            <a:ext cx="206380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4"/>
          <p:cNvSpPr/>
          <p:nvPr/>
        </p:nvSpPr>
        <p:spPr>
          <a:xfrm>
            <a:off x="7146696" y="3621990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5"/>
          <p:cNvSpPr/>
          <p:nvPr/>
        </p:nvSpPr>
        <p:spPr>
          <a:xfrm>
            <a:off x="7435768" y="3518739"/>
            <a:ext cx="206380" cy="2063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6"/>
          <p:cNvSpPr/>
          <p:nvPr/>
        </p:nvSpPr>
        <p:spPr>
          <a:xfrm>
            <a:off x="7781960" y="3398855"/>
            <a:ext cx="206258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7"/>
          <p:cNvSpPr/>
          <p:nvPr/>
        </p:nvSpPr>
        <p:spPr>
          <a:xfrm>
            <a:off x="8176798" y="3261314"/>
            <a:ext cx="206380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8"/>
          <p:cNvSpPr/>
          <p:nvPr/>
        </p:nvSpPr>
        <p:spPr>
          <a:xfrm>
            <a:off x="8868968" y="3021528"/>
            <a:ext cx="206349" cy="20638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9"/>
          <p:cNvSpPr/>
          <p:nvPr/>
        </p:nvSpPr>
        <p:spPr>
          <a:xfrm>
            <a:off x="9171604" y="2903693"/>
            <a:ext cx="206380" cy="2063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0"/>
          <p:cNvSpPr/>
          <p:nvPr/>
        </p:nvSpPr>
        <p:spPr>
          <a:xfrm>
            <a:off x="9413158" y="2815148"/>
            <a:ext cx="206380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1"/>
          <p:cNvSpPr/>
          <p:nvPr/>
        </p:nvSpPr>
        <p:spPr>
          <a:xfrm>
            <a:off x="9770536" y="2697313"/>
            <a:ext cx="206380" cy="2063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2"/>
          <p:cNvSpPr/>
          <p:nvPr/>
        </p:nvSpPr>
        <p:spPr>
          <a:xfrm>
            <a:off x="6351319" y="3605227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28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3"/>
          <p:cNvSpPr/>
          <p:nvPr/>
        </p:nvSpPr>
        <p:spPr>
          <a:xfrm>
            <a:off x="7615081" y="3227918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577" y="796289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4"/>
          <p:cNvSpPr/>
          <p:nvPr/>
        </p:nvSpPr>
        <p:spPr>
          <a:xfrm>
            <a:off x="9377984" y="2623399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09" h="796289">
                <a:moveTo>
                  <a:pt x="0" y="0"/>
                </a:moveTo>
                <a:lnTo>
                  <a:pt x="219577" y="796280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3865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39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03964" y="729375"/>
            <a:ext cx="6331527" cy="1205338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pc="5" dirty="0" smtClean="0">
                <a:solidFill>
                  <a:srgbClr val="595959"/>
                </a:solidFill>
              </a:rPr>
              <a:t>Algorithm </a:t>
            </a:r>
            <a:r>
              <a:rPr lang="en-US" spc="10" dirty="0" smtClean="0">
                <a:solidFill>
                  <a:srgbClr val="595959"/>
                </a:solidFill>
              </a:rPr>
              <a:t>picks </a:t>
            </a:r>
            <a:r>
              <a:rPr lang="en-US" spc="15" dirty="0" smtClean="0">
                <a:solidFill>
                  <a:srgbClr val="595959"/>
                </a:solidFill>
              </a:rPr>
              <a:t>3 </a:t>
            </a:r>
            <a:r>
              <a:rPr lang="en-US" spc="-20" dirty="0" smtClean="0">
                <a:solidFill>
                  <a:srgbClr val="595959"/>
                </a:solidFill>
              </a:rPr>
              <a:t>initial </a:t>
            </a:r>
            <a:r>
              <a:rPr lang="en-US" spc="5" dirty="0" smtClean="0">
                <a:solidFill>
                  <a:srgbClr val="595959"/>
                </a:solidFill>
              </a:rPr>
              <a:t>clusters </a:t>
            </a:r>
            <a:r>
              <a:rPr lang="en-US" spc="-15" dirty="0" smtClean="0">
                <a:solidFill>
                  <a:srgbClr val="595959"/>
                </a:solidFill>
              </a:rPr>
              <a:t>and </a:t>
            </a:r>
            <a:r>
              <a:rPr lang="en-US" spc="15" dirty="0" smtClean="0">
                <a:solidFill>
                  <a:srgbClr val="595959"/>
                </a:solidFill>
              </a:rPr>
              <a:t>adds </a:t>
            </a:r>
            <a:r>
              <a:rPr lang="en-US" spc="-15" dirty="0" smtClean="0">
                <a:solidFill>
                  <a:srgbClr val="595959"/>
                </a:solidFill>
              </a:rPr>
              <a:t>the </a:t>
            </a:r>
            <a:r>
              <a:rPr lang="en-US" spc="-5" dirty="0" smtClean="0">
                <a:solidFill>
                  <a:srgbClr val="595959"/>
                </a:solidFill>
              </a:rPr>
              <a:t>remaining</a:t>
            </a:r>
            <a:r>
              <a:rPr lang="en-US" spc="-285" dirty="0" smtClean="0">
                <a:solidFill>
                  <a:srgbClr val="595959"/>
                </a:solidFill>
              </a:rPr>
              <a:t> </a:t>
            </a:r>
            <a:r>
              <a:rPr lang="en-US" spc="5" dirty="0" smtClean="0">
                <a:solidFill>
                  <a:srgbClr val="595959"/>
                </a:solidFill>
              </a:rPr>
              <a:t>points  </a:t>
            </a:r>
            <a:r>
              <a:rPr lang="en-US" spc="-5" dirty="0" smtClean="0">
                <a:solidFill>
                  <a:srgbClr val="595959"/>
                </a:solidFill>
              </a:rPr>
              <a:t>to </a:t>
            </a:r>
            <a:r>
              <a:rPr lang="en-US" spc="-15" dirty="0" smtClean="0">
                <a:solidFill>
                  <a:srgbClr val="595959"/>
                </a:solidFill>
              </a:rPr>
              <a:t>the </a:t>
            </a:r>
            <a:r>
              <a:rPr lang="en-US" spc="10" dirty="0" smtClean="0">
                <a:solidFill>
                  <a:srgbClr val="595959"/>
                </a:solidFill>
              </a:rPr>
              <a:t>cluster </a:t>
            </a:r>
            <a:r>
              <a:rPr lang="en-US" spc="-15" dirty="0" smtClean="0">
                <a:solidFill>
                  <a:srgbClr val="595959"/>
                </a:solidFill>
              </a:rPr>
              <a:t>with the </a:t>
            </a:r>
            <a:r>
              <a:rPr lang="en-US" spc="5" dirty="0" smtClean="0">
                <a:solidFill>
                  <a:srgbClr val="595959"/>
                </a:solidFill>
              </a:rPr>
              <a:t>nearest mean, </a:t>
            </a:r>
            <a:r>
              <a:rPr lang="en-US" spc="-15" dirty="0" smtClean="0">
                <a:solidFill>
                  <a:srgbClr val="595959"/>
                </a:solidFill>
              </a:rPr>
              <a:t>and </a:t>
            </a:r>
            <a:r>
              <a:rPr lang="en-US" spc="-5" dirty="0" smtClean="0">
                <a:solidFill>
                  <a:srgbClr val="595959"/>
                </a:solidFill>
              </a:rPr>
              <a:t>again recalculating  </a:t>
            </a:r>
            <a:r>
              <a:rPr lang="en-US" spc="-15" dirty="0" smtClean="0">
                <a:solidFill>
                  <a:srgbClr val="595959"/>
                </a:solidFill>
              </a:rPr>
              <a:t>the</a:t>
            </a:r>
            <a:r>
              <a:rPr lang="en-US" spc="15" dirty="0" smtClean="0">
                <a:solidFill>
                  <a:srgbClr val="595959"/>
                </a:solidFill>
              </a:rPr>
              <a:t> mean</a:t>
            </a:r>
            <a:r>
              <a:rPr lang="en-US" spc="-60" dirty="0" smtClean="0">
                <a:solidFill>
                  <a:srgbClr val="595959"/>
                </a:solidFill>
              </a:rPr>
              <a:t> </a:t>
            </a:r>
            <a:r>
              <a:rPr lang="en-US" spc="15" dirty="0" smtClean="0">
                <a:solidFill>
                  <a:srgbClr val="595959"/>
                </a:solidFill>
              </a:rPr>
              <a:t>each</a:t>
            </a:r>
            <a:r>
              <a:rPr lang="en-US" spc="-130" dirty="0" smtClean="0">
                <a:solidFill>
                  <a:srgbClr val="595959"/>
                </a:solidFill>
              </a:rPr>
              <a:t> </a:t>
            </a:r>
            <a:r>
              <a:rPr lang="en-US" dirty="0" smtClean="0">
                <a:solidFill>
                  <a:srgbClr val="595959"/>
                </a:solidFill>
              </a:rPr>
              <a:t>time</a:t>
            </a:r>
            <a:r>
              <a:rPr lang="en-US" spc="-60" dirty="0" smtClean="0">
                <a:solidFill>
                  <a:srgbClr val="595959"/>
                </a:solidFill>
              </a:rPr>
              <a:t> </a:t>
            </a:r>
            <a:r>
              <a:rPr lang="en-US" spc="15" dirty="0" smtClean="0">
                <a:solidFill>
                  <a:srgbClr val="595959"/>
                </a:solidFill>
              </a:rPr>
              <a:t>a </a:t>
            </a:r>
            <a:r>
              <a:rPr lang="en-US" spc="10" dirty="0" smtClean="0">
                <a:solidFill>
                  <a:srgbClr val="595959"/>
                </a:solidFill>
              </a:rPr>
              <a:t>new</a:t>
            </a:r>
            <a:r>
              <a:rPr lang="en-US" spc="-70" dirty="0" smtClean="0">
                <a:solidFill>
                  <a:srgbClr val="595959"/>
                </a:solidFill>
              </a:rPr>
              <a:t> </a:t>
            </a:r>
            <a:r>
              <a:rPr lang="en-US" spc="10" dirty="0" smtClean="0">
                <a:solidFill>
                  <a:srgbClr val="595959"/>
                </a:solidFill>
              </a:rPr>
              <a:t>point</a:t>
            </a:r>
            <a:r>
              <a:rPr lang="en-US" spc="-35" dirty="0" smtClean="0">
                <a:solidFill>
                  <a:srgbClr val="595959"/>
                </a:solidFill>
              </a:rPr>
              <a:t> </a:t>
            </a:r>
            <a:r>
              <a:rPr lang="en-US" spc="-5" dirty="0" smtClean="0">
                <a:solidFill>
                  <a:srgbClr val="595959"/>
                </a:solidFill>
              </a:rPr>
              <a:t>is</a:t>
            </a:r>
            <a:r>
              <a:rPr lang="en-US" spc="-60" dirty="0" smtClean="0">
                <a:solidFill>
                  <a:srgbClr val="595959"/>
                </a:solidFill>
              </a:rPr>
              <a:t> </a:t>
            </a:r>
            <a:r>
              <a:rPr lang="en-US" spc="20" dirty="0" smtClean="0">
                <a:solidFill>
                  <a:srgbClr val="595959"/>
                </a:solidFill>
              </a:rPr>
              <a:t>added</a:t>
            </a:r>
            <a:r>
              <a:rPr lang="en-US" spc="-130" dirty="0" smtClean="0">
                <a:solidFill>
                  <a:srgbClr val="595959"/>
                </a:solidFill>
              </a:rPr>
              <a:t> </a:t>
            </a:r>
            <a:r>
              <a:rPr lang="en-US" spc="-5" dirty="0" smtClean="0">
                <a:solidFill>
                  <a:srgbClr val="595959"/>
                </a:solidFill>
              </a:rPr>
              <a:t>to</a:t>
            </a:r>
            <a:r>
              <a:rPr lang="en-US" spc="15" dirty="0" smtClean="0">
                <a:solidFill>
                  <a:srgbClr val="595959"/>
                </a:solidFill>
              </a:rPr>
              <a:t> </a:t>
            </a:r>
            <a:r>
              <a:rPr lang="en-US" spc="-15" dirty="0" smtClean="0">
                <a:solidFill>
                  <a:srgbClr val="595959"/>
                </a:solidFill>
              </a:rPr>
              <a:t>the</a:t>
            </a:r>
            <a:r>
              <a:rPr lang="en-US" spc="20" dirty="0" smtClean="0">
                <a:solidFill>
                  <a:srgbClr val="595959"/>
                </a:solidFill>
              </a:rPr>
              <a:t> </a:t>
            </a:r>
            <a:r>
              <a:rPr lang="en-US" spc="10" dirty="0" smtClean="0">
                <a:solidFill>
                  <a:srgbClr val="595959"/>
                </a:solidFill>
              </a:rPr>
              <a:t>cluster</a:t>
            </a:r>
            <a:endParaRPr lang="en-US" dirty="0"/>
          </a:p>
        </p:txBody>
      </p:sp>
      <p:sp>
        <p:nvSpPr>
          <p:cNvPr id="31" name="object 9"/>
          <p:cNvSpPr/>
          <p:nvPr/>
        </p:nvSpPr>
        <p:spPr>
          <a:xfrm>
            <a:off x="5086581" y="3019252"/>
            <a:ext cx="5248910" cy="1802130"/>
          </a:xfrm>
          <a:custGeom>
            <a:avLst/>
            <a:gdLst/>
            <a:ahLst/>
            <a:cxnLst/>
            <a:rect l="l" t="t" r="r" b="b"/>
            <a:pathLst>
              <a:path w="5248909" h="1802129">
                <a:moveTo>
                  <a:pt x="0" y="1802129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5382359" y="4587448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/>
          <p:nvPr/>
        </p:nvSpPr>
        <p:spPr>
          <a:xfrm>
            <a:off x="5671432" y="4484327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2"/>
          <p:cNvSpPr/>
          <p:nvPr/>
        </p:nvSpPr>
        <p:spPr>
          <a:xfrm>
            <a:off x="6063465" y="4358598"/>
            <a:ext cx="206380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3"/>
          <p:cNvSpPr/>
          <p:nvPr/>
        </p:nvSpPr>
        <p:spPr>
          <a:xfrm>
            <a:off x="6373112" y="4271086"/>
            <a:ext cx="206349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/>
          <p:nvPr/>
        </p:nvSpPr>
        <p:spPr>
          <a:xfrm>
            <a:off x="6961985" y="4053916"/>
            <a:ext cx="206380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5"/>
          <p:cNvSpPr/>
          <p:nvPr/>
        </p:nvSpPr>
        <p:spPr>
          <a:xfrm>
            <a:off x="7251180" y="3950796"/>
            <a:ext cx="206258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7597250" y="3830912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/>
          <p:nvPr/>
        </p:nvSpPr>
        <p:spPr>
          <a:xfrm>
            <a:off x="7992210" y="3693240"/>
            <a:ext cx="206258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8"/>
          <p:cNvSpPr/>
          <p:nvPr/>
        </p:nvSpPr>
        <p:spPr>
          <a:xfrm>
            <a:off x="8684258" y="3453591"/>
            <a:ext cx="206349" cy="20625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/>
          <p:nvPr/>
        </p:nvSpPr>
        <p:spPr>
          <a:xfrm>
            <a:off x="8986894" y="3335603"/>
            <a:ext cx="206380" cy="2063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20"/>
          <p:cNvSpPr/>
          <p:nvPr/>
        </p:nvSpPr>
        <p:spPr>
          <a:xfrm>
            <a:off x="9228570" y="3247211"/>
            <a:ext cx="206258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/>
          <p:nvPr/>
        </p:nvSpPr>
        <p:spPr>
          <a:xfrm>
            <a:off x="9585826" y="3129223"/>
            <a:ext cx="206380" cy="2063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/>
          <p:nvPr/>
        </p:nvSpPr>
        <p:spPr>
          <a:xfrm>
            <a:off x="6166609" y="4037284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699" y="796158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/>
          <p:cNvSpPr/>
          <p:nvPr/>
        </p:nvSpPr>
        <p:spPr>
          <a:xfrm>
            <a:off x="7577559" y="3552652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10" h="796289">
                <a:moveTo>
                  <a:pt x="0" y="0"/>
                </a:moveTo>
                <a:lnTo>
                  <a:pt x="219577" y="796158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24"/>
          <p:cNvSpPr/>
          <p:nvPr/>
        </p:nvSpPr>
        <p:spPr>
          <a:xfrm>
            <a:off x="9093573" y="3073232"/>
            <a:ext cx="219710" cy="796290"/>
          </a:xfrm>
          <a:custGeom>
            <a:avLst/>
            <a:gdLst/>
            <a:ahLst/>
            <a:cxnLst/>
            <a:rect l="l" t="t" r="r" b="b"/>
            <a:pathLst>
              <a:path w="219709" h="796289">
                <a:moveTo>
                  <a:pt x="0" y="0"/>
                </a:moveTo>
                <a:lnTo>
                  <a:pt x="219699" y="796161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123839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40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02601" y="585328"/>
            <a:ext cx="6331527" cy="1205338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pc="5" smtClean="0">
                <a:solidFill>
                  <a:srgbClr val="595959"/>
                </a:solidFill>
              </a:rPr>
              <a:t>Algorithm </a:t>
            </a:r>
            <a:r>
              <a:rPr lang="en-US" spc="10" smtClean="0">
                <a:solidFill>
                  <a:srgbClr val="595959"/>
                </a:solidFill>
              </a:rPr>
              <a:t>picks </a:t>
            </a:r>
            <a:r>
              <a:rPr lang="en-US" spc="15" smtClean="0">
                <a:solidFill>
                  <a:srgbClr val="595959"/>
                </a:solidFill>
              </a:rPr>
              <a:t>3 </a:t>
            </a:r>
            <a:r>
              <a:rPr lang="en-US" spc="-20" smtClean="0">
                <a:solidFill>
                  <a:srgbClr val="595959"/>
                </a:solidFill>
              </a:rPr>
              <a:t>initial </a:t>
            </a:r>
            <a:r>
              <a:rPr lang="en-US" spc="5" smtClean="0">
                <a:solidFill>
                  <a:srgbClr val="595959"/>
                </a:solidFill>
              </a:rPr>
              <a:t>clusters </a:t>
            </a:r>
            <a:r>
              <a:rPr lang="en-US" spc="-15" smtClean="0">
                <a:solidFill>
                  <a:srgbClr val="595959"/>
                </a:solidFill>
              </a:rPr>
              <a:t>and </a:t>
            </a:r>
            <a:r>
              <a:rPr lang="en-US" spc="15" smtClean="0">
                <a:solidFill>
                  <a:srgbClr val="595959"/>
                </a:solidFill>
              </a:rPr>
              <a:t>adds </a:t>
            </a:r>
            <a:r>
              <a:rPr lang="en-US" spc="-15" smtClean="0">
                <a:solidFill>
                  <a:srgbClr val="595959"/>
                </a:solidFill>
              </a:rPr>
              <a:t>the </a:t>
            </a:r>
            <a:r>
              <a:rPr lang="en-US" spc="-5" smtClean="0">
                <a:solidFill>
                  <a:srgbClr val="595959"/>
                </a:solidFill>
              </a:rPr>
              <a:t>remaining</a:t>
            </a:r>
            <a:r>
              <a:rPr lang="en-US" spc="-285" smtClean="0">
                <a:solidFill>
                  <a:srgbClr val="595959"/>
                </a:solidFill>
              </a:rPr>
              <a:t> </a:t>
            </a:r>
            <a:r>
              <a:rPr lang="en-US" spc="5" smtClean="0">
                <a:solidFill>
                  <a:srgbClr val="595959"/>
                </a:solidFill>
              </a:rPr>
              <a:t>points  </a:t>
            </a:r>
            <a:r>
              <a:rPr lang="en-US" spc="-5" smtClean="0">
                <a:solidFill>
                  <a:srgbClr val="595959"/>
                </a:solidFill>
              </a:rPr>
              <a:t>to </a:t>
            </a:r>
            <a:r>
              <a:rPr lang="en-US" spc="-15" smtClean="0">
                <a:solidFill>
                  <a:srgbClr val="595959"/>
                </a:solidFill>
              </a:rPr>
              <a:t>the </a:t>
            </a:r>
            <a:r>
              <a:rPr lang="en-US" spc="10" smtClean="0">
                <a:solidFill>
                  <a:srgbClr val="595959"/>
                </a:solidFill>
              </a:rPr>
              <a:t>cluster </a:t>
            </a:r>
            <a:r>
              <a:rPr lang="en-US" spc="-15" smtClean="0">
                <a:solidFill>
                  <a:srgbClr val="595959"/>
                </a:solidFill>
              </a:rPr>
              <a:t>with the </a:t>
            </a:r>
            <a:r>
              <a:rPr lang="en-US" spc="5" smtClean="0">
                <a:solidFill>
                  <a:srgbClr val="595959"/>
                </a:solidFill>
              </a:rPr>
              <a:t>nearest mean, </a:t>
            </a:r>
            <a:r>
              <a:rPr lang="en-US" spc="-15" smtClean="0">
                <a:solidFill>
                  <a:srgbClr val="595959"/>
                </a:solidFill>
              </a:rPr>
              <a:t>and </a:t>
            </a:r>
            <a:r>
              <a:rPr lang="en-US" spc="-5" smtClean="0">
                <a:solidFill>
                  <a:srgbClr val="595959"/>
                </a:solidFill>
              </a:rPr>
              <a:t>again recalculating  </a:t>
            </a:r>
            <a:r>
              <a:rPr lang="en-US" spc="-15" smtClean="0">
                <a:solidFill>
                  <a:srgbClr val="595959"/>
                </a:solidFill>
              </a:rPr>
              <a:t>the</a:t>
            </a:r>
            <a:r>
              <a:rPr lang="en-US" spc="15" smtClean="0">
                <a:solidFill>
                  <a:srgbClr val="595959"/>
                </a:solidFill>
              </a:rPr>
              <a:t> mean</a:t>
            </a:r>
            <a:r>
              <a:rPr lang="en-US" spc="-60" smtClean="0">
                <a:solidFill>
                  <a:srgbClr val="595959"/>
                </a:solidFill>
              </a:rPr>
              <a:t> </a:t>
            </a:r>
            <a:r>
              <a:rPr lang="en-US" spc="15" smtClean="0">
                <a:solidFill>
                  <a:srgbClr val="595959"/>
                </a:solidFill>
              </a:rPr>
              <a:t>each</a:t>
            </a:r>
            <a:r>
              <a:rPr lang="en-US" spc="-130" smtClean="0">
                <a:solidFill>
                  <a:srgbClr val="595959"/>
                </a:solidFill>
              </a:rPr>
              <a:t> </a:t>
            </a:r>
            <a:r>
              <a:rPr lang="en-US" smtClean="0">
                <a:solidFill>
                  <a:srgbClr val="595959"/>
                </a:solidFill>
              </a:rPr>
              <a:t>time</a:t>
            </a:r>
            <a:r>
              <a:rPr lang="en-US" spc="-60" smtClean="0">
                <a:solidFill>
                  <a:srgbClr val="595959"/>
                </a:solidFill>
              </a:rPr>
              <a:t> </a:t>
            </a:r>
            <a:r>
              <a:rPr lang="en-US" spc="15" smtClean="0">
                <a:solidFill>
                  <a:srgbClr val="595959"/>
                </a:solidFill>
              </a:rPr>
              <a:t>a </a:t>
            </a:r>
            <a:r>
              <a:rPr lang="en-US" spc="10" smtClean="0">
                <a:solidFill>
                  <a:srgbClr val="595959"/>
                </a:solidFill>
              </a:rPr>
              <a:t>new</a:t>
            </a:r>
            <a:r>
              <a:rPr lang="en-US" spc="-70" smtClean="0">
                <a:solidFill>
                  <a:srgbClr val="595959"/>
                </a:solidFill>
              </a:rPr>
              <a:t> </a:t>
            </a:r>
            <a:r>
              <a:rPr lang="en-US" spc="10" smtClean="0">
                <a:solidFill>
                  <a:srgbClr val="595959"/>
                </a:solidFill>
              </a:rPr>
              <a:t>point</a:t>
            </a:r>
            <a:r>
              <a:rPr lang="en-US" spc="-35" smtClean="0">
                <a:solidFill>
                  <a:srgbClr val="595959"/>
                </a:solidFill>
              </a:rPr>
              <a:t> </a:t>
            </a:r>
            <a:r>
              <a:rPr lang="en-US" spc="-5" smtClean="0">
                <a:solidFill>
                  <a:srgbClr val="595959"/>
                </a:solidFill>
              </a:rPr>
              <a:t>is</a:t>
            </a:r>
            <a:r>
              <a:rPr lang="en-US" spc="-60" smtClean="0">
                <a:solidFill>
                  <a:srgbClr val="595959"/>
                </a:solidFill>
              </a:rPr>
              <a:t> </a:t>
            </a:r>
            <a:r>
              <a:rPr lang="en-US" spc="20" smtClean="0">
                <a:solidFill>
                  <a:srgbClr val="595959"/>
                </a:solidFill>
              </a:rPr>
              <a:t>added</a:t>
            </a:r>
            <a:r>
              <a:rPr lang="en-US" spc="-130" smtClean="0">
                <a:solidFill>
                  <a:srgbClr val="595959"/>
                </a:solidFill>
              </a:rPr>
              <a:t> </a:t>
            </a:r>
            <a:r>
              <a:rPr lang="en-US" spc="-5" smtClean="0">
                <a:solidFill>
                  <a:srgbClr val="595959"/>
                </a:solidFill>
              </a:rPr>
              <a:t>to</a:t>
            </a:r>
            <a:r>
              <a:rPr lang="en-US" spc="15" smtClean="0">
                <a:solidFill>
                  <a:srgbClr val="595959"/>
                </a:solidFill>
              </a:rPr>
              <a:t> </a:t>
            </a:r>
            <a:r>
              <a:rPr lang="en-US" spc="-15" smtClean="0">
                <a:solidFill>
                  <a:srgbClr val="595959"/>
                </a:solidFill>
              </a:rPr>
              <a:t>the</a:t>
            </a:r>
            <a:r>
              <a:rPr lang="en-US" spc="20" smtClean="0">
                <a:solidFill>
                  <a:srgbClr val="595959"/>
                </a:solidFill>
              </a:rPr>
              <a:t> </a:t>
            </a:r>
            <a:r>
              <a:rPr lang="en-US" spc="10" smtClean="0">
                <a:solidFill>
                  <a:srgbClr val="595959"/>
                </a:solidFill>
              </a:rPr>
              <a:t>cluster</a:t>
            </a:r>
            <a:endParaRPr lang="en-US" dirty="0"/>
          </a:p>
        </p:txBody>
      </p:sp>
      <p:sp>
        <p:nvSpPr>
          <p:cNvPr id="27" name="object 9"/>
          <p:cNvSpPr/>
          <p:nvPr/>
        </p:nvSpPr>
        <p:spPr>
          <a:xfrm>
            <a:off x="4785498" y="3350256"/>
            <a:ext cx="5548630" cy="97155"/>
          </a:xfrm>
          <a:custGeom>
            <a:avLst/>
            <a:gdLst/>
            <a:ahLst/>
            <a:cxnLst/>
            <a:rect l="l" t="t" r="r" b="b"/>
            <a:pathLst>
              <a:path w="5548630" h="97155">
                <a:moveTo>
                  <a:pt x="0" y="96642"/>
                </a:moveTo>
                <a:lnTo>
                  <a:pt x="5548518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10"/>
          <p:cNvSpPr/>
          <p:nvPr/>
        </p:nvSpPr>
        <p:spPr>
          <a:xfrm>
            <a:off x="5102472" y="3342697"/>
            <a:ext cx="205654" cy="2056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11"/>
          <p:cNvSpPr/>
          <p:nvPr/>
        </p:nvSpPr>
        <p:spPr>
          <a:xfrm>
            <a:off x="5409314" y="3333672"/>
            <a:ext cx="205654" cy="205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12"/>
          <p:cNvSpPr/>
          <p:nvPr/>
        </p:nvSpPr>
        <p:spPr>
          <a:xfrm>
            <a:off x="5820986" y="3334815"/>
            <a:ext cx="205637" cy="20563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13"/>
          <p:cNvSpPr/>
          <p:nvPr/>
        </p:nvSpPr>
        <p:spPr>
          <a:xfrm>
            <a:off x="6142479" y="3347062"/>
            <a:ext cx="205654" cy="2056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14"/>
          <p:cNvSpPr/>
          <p:nvPr/>
        </p:nvSpPr>
        <p:spPr>
          <a:xfrm>
            <a:off x="6769676" y="3321992"/>
            <a:ext cx="205705" cy="2056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5"/>
          <p:cNvSpPr/>
          <p:nvPr/>
        </p:nvSpPr>
        <p:spPr>
          <a:xfrm>
            <a:off x="7076518" y="3312979"/>
            <a:ext cx="205705" cy="20561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16"/>
          <p:cNvSpPr/>
          <p:nvPr/>
        </p:nvSpPr>
        <p:spPr>
          <a:xfrm>
            <a:off x="7442797" y="3305609"/>
            <a:ext cx="205604" cy="20562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17"/>
          <p:cNvSpPr/>
          <p:nvPr/>
        </p:nvSpPr>
        <p:spPr>
          <a:xfrm>
            <a:off x="7860860" y="3296465"/>
            <a:ext cx="205635" cy="20562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8"/>
          <p:cNvSpPr/>
          <p:nvPr/>
        </p:nvSpPr>
        <p:spPr>
          <a:xfrm>
            <a:off x="8593142" y="3281717"/>
            <a:ext cx="205637" cy="20563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9"/>
          <p:cNvSpPr/>
          <p:nvPr/>
        </p:nvSpPr>
        <p:spPr>
          <a:xfrm>
            <a:off x="8917440" y="3262806"/>
            <a:ext cx="205640" cy="20562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0"/>
          <p:cNvSpPr/>
          <p:nvPr/>
        </p:nvSpPr>
        <p:spPr>
          <a:xfrm>
            <a:off x="9174546" y="3253160"/>
            <a:ext cx="205637" cy="20561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1"/>
          <p:cNvSpPr/>
          <p:nvPr/>
        </p:nvSpPr>
        <p:spPr>
          <a:xfrm>
            <a:off x="9550852" y="3251126"/>
            <a:ext cx="205637" cy="20562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22"/>
          <p:cNvSpPr/>
          <p:nvPr/>
        </p:nvSpPr>
        <p:spPr>
          <a:xfrm>
            <a:off x="6018170" y="3018923"/>
            <a:ext cx="0" cy="840105"/>
          </a:xfrm>
          <a:custGeom>
            <a:avLst/>
            <a:gdLst/>
            <a:ahLst/>
            <a:cxnLst/>
            <a:rect l="l" t="t" r="r" b="b"/>
            <a:pathLst>
              <a:path h="840105">
                <a:moveTo>
                  <a:pt x="0" y="0"/>
                </a:moveTo>
                <a:lnTo>
                  <a:pt x="0" y="840098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23"/>
          <p:cNvSpPr/>
          <p:nvPr/>
        </p:nvSpPr>
        <p:spPr>
          <a:xfrm>
            <a:off x="7545583" y="2980426"/>
            <a:ext cx="0" cy="871219"/>
          </a:xfrm>
          <a:custGeom>
            <a:avLst/>
            <a:gdLst/>
            <a:ahLst/>
            <a:cxnLst/>
            <a:rect l="l" t="t" r="r" b="b"/>
            <a:pathLst>
              <a:path h="871219">
                <a:moveTo>
                  <a:pt x="0" y="0"/>
                </a:moveTo>
                <a:lnTo>
                  <a:pt x="0" y="870712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24"/>
          <p:cNvSpPr/>
          <p:nvPr/>
        </p:nvSpPr>
        <p:spPr>
          <a:xfrm>
            <a:off x="9099819" y="3018923"/>
            <a:ext cx="0" cy="825500"/>
          </a:xfrm>
          <a:custGeom>
            <a:avLst/>
            <a:gdLst/>
            <a:ahLst/>
            <a:cxnLst/>
            <a:rect l="l" t="t" r="r" b="b"/>
            <a:pathLst>
              <a:path h="825500">
                <a:moveTo>
                  <a:pt x="0" y="0"/>
                </a:moveTo>
                <a:lnTo>
                  <a:pt x="0" y="825108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25"/>
          <p:cNvSpPr/>
          <p:nvPr/>
        </p:nvSpPr>
        <p:spPr>
          <a:xfrm>
            <a:off x="5244099" y="3701787"/>
            <a:ext cx="1619250" cy="0"/>
          </a:xfrm>
          <a:custGeom>
            <a:avLst/>
            <a:gdLst/>
            <a:ahLst/>
            <a:cxnLst/>
            <a:rect l="l" t="t" r="r" b="b"/>
            <a:pathLst>
              <a:path w="1619250">
                <a:moveTo>
                  <a:pt x="1619249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26"/>
          <p:cNvSpPr/>
          <p:nvPr/>
        </p:nvSpPr>
        <p:spPr>
          <a:xfrm>
            <a:off x="7182505" y="3701787"/>
            <a:ext cx="850265" cy="0"/>
          </a:xfrm>
          <a:custGeom>
            <a:avLst/>
            <a:gdLst/>
            <a:ahLst/>
            <a:cxnLst/>
            <a:rect l="l" t="t" r="r" b="b"/>
            <a:pathLst>
              <a:path w="850265">
                <a:moveTo>
                  <a:pt x="850270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27"/>
          <p:cNvSpPr/>
          <p:nvPr/>
        </p:nvSpPr>
        <p:spPr>
          <a:xfrm>
            <a:off x="8695960" y="3680583"/>
            <a:ext cx="1026794" cy="0"/>
          </a:xfrm>
          <a:custGeom>
            <a:avLst/>
            <a:gdLst/>
            <a:ahLst/>
            <a:cxnLst/>
            <a:rect l="l" t="t" r="r" b="b"/>
            <a:pathLst>
              <a:path w="1026795">
                <a:moveTo>
                  <a:pt x="1026292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8"/>
          <p:cNvSpPr txBox="1"/>
          <p:nvPr/>
        </p:nvSpPr>
        <p:spPr>
          <a:xfrm>
            <a:off x="6842955" y="4978405"/>
            <a:ext cx="2035810" cy="432434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580"/>
              </a:lnSpc>
              <a:spcBef>
                <a:spcPts val="185"/>
              </a:spcBef>
            </a:pPr>
            <a:r>
              <a:rPr sz="1350" b="1" spc="-15" dirty="0">
                <a:latin typeface="Arial"/>
                <a:cs typeface="Arial"/>
              </a:rPr>
              <a:t>Total </a:t>
            </a:r>
            <a:r>
              <a:rPr sz="1350" b="1" dirty="0">
                <a:latin typeface="Arial"/>
                <a:cs typeface="Arial"/>
              </a:rPr>
              <a:t>variation </a:t>
            </a:r>
            <a:r>
              <a:rPr sz="1350" b="1" spc="10" dirty="0">
                <a:latin typeface="Arial"/>
                <a:cs typeface="Arial"/>
              </a:rPr>
              <a:t>within</a:t>
            </a:r>
            <a:r>
              <a:rPr sz="1350" b="1" spc="-19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  </a:t>
            </a:r>
            <a:r>
              <a:rPr sz="1350" b="1" spc="5" dirty="0">
                <a:latin typeface="Arial"/>
                <a:cs typeface="Arial"/>
              </a:rPr>
              <a:t>cluster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864525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41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002601" y="585328"/>
            <a:ext cx="6331527" cy="1205338"/>
          </a:xfrm>
          <a:prstGeom prst="roundRect">
            <a:avLst/>
          </a:prstGeom>
        </p:spPr>
        <p:style>
          <a:lnRef idx="2">
            <a:schemeClr val="accent6"/>
          </a:lnRef>
          <a:fillRef idx="100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spc="10" dirty="0" smtClean="0">
                <a:solidFill>
                  <a:srgbClr val="595959"/>
                </a:solidFill>
                <a:latin typeface="Arial"/>
                <a:cs typeface="Arial"/>
              </a:rPr>
              <a:t>Iteration</a:t>
            </a:r>
            <a:r>
              <a:rPr lang="en-US" b="1" spc="-14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20" dirty="0" smtClean="0">
                <a:solidFill>
                  <a:srgbClr val="595959"/>
                </a:solidFill>
                <a:latin typeface="Arial"/>
                <a:cs typeface="Arial"/>
              </a:rPr>
              <a:t>3:</a:t>
            </a:r>
            <a:r>
              <a:rPr lang="en-US" b="1" spc="-9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0" dirty="0" smtClean="0">
                <a:solidFill>
                  <a:srgbClr val="595959"/>
                </a:solidFill>
              </a:rPr>
              <a:t>Again</a:t>
            </a:r>
            <a:r>
              <a:rPr lang="en-US" spc="-55" dirty="0" smtClean="0">
                <a:solidFill>
                  <a:srgbClr val="595959"/>
                </a:solidFill>
              </a:rPr>
              <a:t> </a:t>
            </a:r>
            <a:r>
              <a:rPr lang="en-US" spc="-15" dirty="0" smtClean="0">
                <a:solidFill>
                  <a:srgbClr val="595959"/>
                </a:solidFill>
              </a:rPr>
              <a:t>we</a:t>
            </a:r>
            <a:r>
              <a:rPr lang="en-US" spc="20" dirty="0" smtClean="0">
                <a:solidFill>
                  <a:srgbClr val="595959"/>
                </a:solidFill>
              </a:rPr>
              <a:t> </a:t>
            </a:r>
            <a:r>
              <a:rPr lang="en-US" spc="-20" dirty="0" smtClean="0">
                <a:solidFill>
                  <a:srgbClr val="595959"/>
                </a:solidFill>
              </a:rPr>
              <a:t>will</a:t>
            </a:r>
            <a:r>
              <a:rPr lang="en-US" spc="45" dirty="0" smtClean="0">
                <a:solidFill>
                  <a:srgbClr val="595959"/>
                </a:solidFill>
              </a:rPr>
              <a:t> </a:t>
            </a:r>
            <a:r>
              <a:rPr lang="en-US" spc="-5" dirty="0" smtClean="0">
                <a:solidFill>
                  <a:srgbClr val="595959"/>
                </a:solidFill>
              </a:rPr>
              <a:t>start</a:t>
            </a:r>
            <a:r>
              <a:rPr lang="en-US" spc="-30" dirty="0" smtClean="0">
                <a:solidFill>
                  <a:srgbClr val="595959"/>
                </a:solidFill>
              </a:rPr>
              <a:t> </a:t>
            </a:r>
            <a:r>
              <a:rPr lang="en-US" spc="25" dirty="0" smtClean="0">
                <a:solidFill>
                  <a:srgbClr val="595959"/>
                </a:solidFill>
              </a:rPr>
              <a:t>from</a:t>
            </a:r>
            <a:r>
              <a:rPr lang="en-US" spc="-85" dirty="0" smtClean="0">
                <a:solidFill>
                  <a:srgbClr val="595959"/>
                </a:solidFill>
              </a:rPr>
              <a:t> </a:t>
            </a:r>
            <a:r>
              <a:rPr lang="en-US" spc="-15" dirty="0" smtClean="0">
                <a:solidFill>
                  <a:srgbClr val="595959"/>
                </a:solidFill>
              </a:rPr>
              <a:t>the</a:t>
            </a:r>
            <a:r>
              <a:rPr lang="en-US" spc="25" dirty="0" smtClean="0">
                <a:solidFill>
                  <a:srgbClr val="595959"/>
                </a:solidFill>
              </a:rPr>
              <a:t> </a:t>
            </a:r>
            <a:r>
              <a:rPr lang="en-US" spc="10" dirty="0" smtClean="0">
                <a:solidFill>
                  <a:srgbClr val="595959"/>
                </a:solidFill>
              </a:rPr>
              <a:t>scratch</a:t>
            </a:r>
            <a:r>
              <a:rPr lang="en-US" spc="-135" dirty="0" smtClean="0">
                <a:solidFill>
                  <a:srgbClr val="595959"/>
                </a:solidFill>
              </a:rPr>
              <a:t> </a:t>
            </a:r>
            <a:r>
              <a:rPr lang="en-US" spc="-15" dirty="0" smtClean="0">
                <a:solidFill>
                  <a:srgbClr val="595959"/>
                </a:solidFill>
              </a:rPr>
              <a:t>and</a:t>
            </a:r>
            <a:r>
              <a:rPr lang="en-US" spc="25" dirty="0" smtClean="0">
                <a:solidFill>
                  <a:srgbClr val="595959"/>
                </a:solidFill>
              </a:rPr>
              <a:t> select</a:t>
            </a:r>
            <a:r>
              <a:rPr lang="en-US" spc="-190" dirty="0" smtClean="0">
                <a:solidFill>
                  <a:srgbClr val="595959"/>
                </a:solidFill>
              </a:rPr>
              <a:t> </a:t>
            </a:r>
            <a:r>
              <a:rPr lang="en-US" spc="10" dirty="0" smtClean="0">
                <a:solidFill>
                  <a:srgbClr val="595959"/>
                </a:solidFill>
              </a:rPr>
              <a:t>different</a:t>
            </a:r>
            <a:r>
              <a:rPr lang="en-US" spc="-185" dirty="0" smtClean="0">
                <a:solidFill>
                  <a:srgbClr val="595959"/>
                </a:solidFill>
              </a:rPr>
              <a:t> </a:t>
            </a:r>
            <a:r>
              <a:rPr lang="en-US" spc="-20" dirty="0" smtClean="0">
                <a:solidFill>
                  <a:srgbClr val="595959"/>
                </a:solidFill>
              </a:rPr>
              <a:t>initial  </a:t>
            </a:r>
            <a:r>
              <a:rPr lang="en-US" dirty="0" smtClean="0">
                <a:solidFill>
                  <a:srgbClr val="595959"/>
                </a:solidFill>
              </a:rPr>
              <a:t>random </a:t>
            </a:r>
            <a:r>
              <a:rPr lang="en-US" spc="5" dirty="0" smtClean="0">
                <a:solidFill>
                  <a:srgbClr val="595959"/>
                </a:solidFill>
              </a:rPr>
              <a:t>point </a:t>
            </a:r>
            <a:r>
              <a:rPr lang="en-US" spc="-15" dirty="0" smtClean="0">
                <a:solidFill>
                  <a:srgbClr val="595959"/>
                </a:solidFill>
              </a:rPr>
              <a:t>(as </a:t>
            </a:r>
            <a:r>
              <a:rPr lang="en-US" spc="15" dirty="0" smtClean="0">
                <a:solidFill>
                  <a:srgbClr val="595959"/>
                </a:solidFill>
              </a:rPr>
              <a:t>compared </a:t>
            </a:r>
            <a:r>
              <a:rPr lang="en-US" spc="-5" dirty="0" smtClean="0">
                <a:solidFill>
                  <a:srgbClr val="595959"/>
                </a:solidFill>
              </a:rPr>
              <a:t>to </a:t>
            </a:r>
            <a:r>
              <a:rPr lang="en-US" spc="50" dirty="0" smtClean="0">
                <a:solidFill>
                  <a:srgbClr val="595959"/>
                </a:solidFill>
              </a:rPr>
              <a:t>1</a:t>
            </a:r>
            <a:r>
              <a:rPr lang="en-US" spc="75" baseline="27777" dirty="0" smtClean="0">
                <a:solidFill>
                  <a:srgbClr val="595959"/>
                </a:solidFill>
              </a:rPr>
              <a:t>st </a:t>
            </a:r>
            <a:r>
              <a:rPr lang="en-US" spc="-15" dirty="0" smtClean="0">
                <a:solidFill>
                  <a:srgbClr val="595959"/>
                </a:solidFill>
              </a:rPr>
              <a:t>and </a:t>
            </a:r>
            <a:r>
              <a:rPr lang="en-US" spc="20" dirty="0" smtClean="0">
                <a:solidFill>
                  <a:srgbClr val="595959"/>
                </a:solidFill>
              </a:rPr>
              <a:t>2</a:t>
            </a:r>
            <a:r>
              <a:rPr lang="en-US" spc="30" baseline="27777" dirty="0" smtClean="0">
                <a:solidFill>
                  <a:srgbClr val="595959"/>
                </a:solidFill>
              </a:rPr>
              <a:t>nd </a:t>
            </a:r>
            <a:r>
              <a:rPr lang="en-US" spc="-10" dirty="0" smtClean="0">
                <a:solidFill>
                  <a:srgbClr val="595959"/>
                </a:solidFill>
              </a:rPr>
              <a:t>iteration)</a:t>
            </a:r>
          </a:p>
        </p:txBody>
      </p:sp>
      <p:sp>
        <p:nvSpPr>
          <p:cNvPr id="31" name="object 8"/>
          <p:cNvSpPr/>
          <p:nvPr/>
        </p:nvSpPr>
        <p:spPr>
          <a:xfrm>
            <a:off x="5085218" y="2542725"/>
            <a:ext cx="5248910" cy="1802764"/>
          </a:xfrm>
          <a:custGeom>
            <a:avLst/>
            <a:gdLst/>
            <a:ahLst/>
            <a:cxnLst/>
            <a:rect l="l" t="t" r="r" b="b"/>
            <a:pathLst>
              <a:path w="5248909" h="1802764">
                <a:moveTo>
                  <a:pt x="0" y="1802242"/>
                </a:moveTo>
                <a:lnTo>
                  <a:pt x="524853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9"/>
          <p:cNvSpPr/>
          <p:nvPr/>
        </p:nvSpPr>
        <p:spPr>
          <a:xfrm>
            <a:off x="5380996" y="4111033"/>
            <a:ext cx="206380" cy="2063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0"/>
          <p:cNvSpPr/>
          <p:nvPr/>
        </p:nvSpPr>
        <p:spPr>
          <a:xfrm>
            <a:off x="5670069" y="4007913"/>
            <a:ext cx="206349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11"/>
          <p:cNvSpPr/>
          <p:nvPr/>
        </p:nvSpPr>
        <p:spPr>
          <a:xfrm>
            <a:off x="6062102" y="3882052"/>
            <a:ext cx="206380" cy="2063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2"/>
          <p:cNvSpPr/>
          <p:nvPr/>
        </p:nvSpPr>
        <p:spPr>
          <a:xfrm>
            <a:off x="6371718" y="3794684"/>
            <a:ext cx="206380" cy="20637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3"/>
          <p:cNvSpPr/>
          <p:nvPr/>
        </p:nvSpPr>
        <p:spPr>
          <a:xfrm>
            <a:off x="6960622" y="3577515"/>
            <a:ext cx="206380" cy="20637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14"/>
          <p:cNvSpPr/>
          <p:nvPr/>
        </p:nvSpPr>
        <p:spPr>
          <a:xfrm>
            <a:off x="7249817" y="3474263"/>
            <a:ext cx="206227" cy="2063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5"/>
          <p:cNvSpPr/>
          <p:nvPr/>
        </p:nvSpPr>
        <p:spPr>
          <a:xfrm>
            <a:off x="7595887" y="3354367"/>
            <a:ext cx="206380" cy="2063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6"/>
          <p:cNvSpPr/>
          <p:nvPr/>
        </p:nvSpPr>
        <p:spPr>
          <a:xfrm>
            <a:off x="7990725" y="3216826"/>
            <a:ext cx="206380" cy="20638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17"/>
          <p:cNvSpPr/>
          <p:nvPr/>
        </p:nvSpPr>
        <p:spPr>
          <a:xfrm>
            <a:off x="8682865" y="2977065"/>
            <a:ext cx="206380" cy="20636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8"/>
          <p:cNvSpPr/>
          <p:nvPr/>
        </p:nvSpPr>
        <p:spPr>
          <a:xfrm>
            <a:off x="8985531" y="2859198"/>
            <a:ext cx="206349" cy="2063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19"/>
          <p:cNvSpPr/>
          <p:nvPr/>
        </p:nvSpPr>
        <p:spPr>
          <a:xfrm>
            <a:off x="9227207" y="2770685"/>
            <a:ext cx="206227" cy="2063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0"/>
          <p:cNvSpPr/>
          <p:nvPr/>
        </p:nvSpPr>
        <p:spPr>
          <a:xfrm>
            <a:off x="9584463" y="2652818"/>
            <a:ext cx="206349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2"/>
          <p:cNvSpPr txBox="1"/>
          <p:nvPr/>
        </p:nvSpPr>
        <p:spPr>
          <a:xfrm>
            <a:off x="6785118" y="4669646"/>
            <a:ext cx="173037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Pick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3 initial</a:t>
            </a:r>
            <a:r>
              <a:rPr sz="1350" b="1" spc="-5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clusters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574977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42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5414337" y="1962157"/>
            <a:ext cx="5248910" cy="1802764"/>
          </a:xfrm>
          <a:custGeom>
            <a:avLst/>
            <a:gdLst/>
            <a:ahLst/>
            <a:cxnLst/>
            <a:rect l="l" t="t" r="r" b="b"/>
            <a:pathLst>
              <a:path w="5248909" h="1802764">
                <a:moveTo>
                  <a:pt x="0" y="1802251"/>
                </a:moveTo>
                <a:lnTo>
                  <a:pt x="5248503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/>
          <p:nvPr/>
        </p:nvSpPr>
        <p:spPr>
          <a:xfrm>
            <a:off x="5710115" y="3530475"/>
            <a:ext cx="206380" cy="206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/>
          <p:nvPr/>
        </p:nvSpPr>
        <p:spPr>
          <a:xfrm>
            <a:off x="5999157" y="3427354"/>
            <a:ext cx="206380" cy="2063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/>
          <p:cNvSpPr/>
          <p:nvPr/>
        </p:nvSpPr>
        <p:spPr>
          <a:xfrm>
            <a:off x="6391221" y="3301493"/>
            <a:ext cx="206349" cy="2063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/>
          <p:cNvSpPr/>
          <p:nvPr/>
        </p:nvSpPr>
        <p:spPr>
          <a:xfrm>
            <a:off x="6700837" y="3214113"/>
            <a:ext cx="206380" cy="20638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/>
          <p:cNvSpPr/>
          <p:nvPr/>
        </p:nvSpPr>
        <p:spPr>
          <a:xfrm>
            <a:off x="7289863" y="2996943"/>
            <a:ext cx="206258" cy="2063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1"/>
          <p:cNvSpPr/>
          <p:nvPr/>
        </p:nvSpPr>
        <p:spPr>
          <a:xfrm>
            <a:off x="7578904" y="2893692"/>
            <a:ext cx="206380" cy="2063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2"/>
          <p:cNvSpPr/>
          <p:nvPr/>
        </p:nvSpPr>
        <p:spPr>
          <a:xfrm>
            <a:off x="7924974" y="2773809"/>
            <a:ext cx="206380" cy="2063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3"/>
          <p:cNvSpPr/>
          <p:nvPr/>
        </p:nvSpPr>
        <p:spPr>
          <a:xfrm>
            <a:off x="8319965" y="2636267"/>
            <a:ext cx="206380" cy="2063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4"/>
          <p:cNvSpPr/>
          <p:nvPr/>
        </p:nvSpPr>
        <p:spPr>
          <a:xfrm>
            <a:off x="9011982" y="2396496"/>
            <a:ext cx="206380" cy="20637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/>
          <p:nvPr/>
        </p:nvSpPr>
        <p:spPr>
          <a:xfrm>
            <a:off x="9314741" y="2278630"/>
            <a:ext cx="206258" cy="2063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/>
          <p:cNvSpPr/>
          <p:nvPr/>
        </p:nvSpPr>
        <p:spPr>
          <a:xfrm>
            <a:off x="9556295" y="2190116"/>
            <a:ext cx="206380" cy="20638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/>
          <p:cNvSpPr/>
          <p:nvPr/>
        </p:nvSpPr>
        <p:spPr>
          <a:xfrm>
            <a:off x="9913672" y="2072250"/>
            <a:ext cx="206380" cy="20638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13218" y="4196383"/>
            <a:ext cx="269926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spc="-10" dirty="0" smtClean="0">
                <a:solidFill>
                  <a:srgbClr val="595959"/>
                </a:solidFill>
              </a:rPr>
              <a:t>Cluster remaining points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64791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43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78873" y="769683"/>
            <a:ext cx="9033163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79545">
              <a:lnSpc>
                <a:spcPts val="1495"/>
              </a:lnSpc>
            </a:pP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Finally sum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the variation </a:t>
            </a:r>
            <a:r>
              <a:rPr lang="en-US" b="1" spc="10" dirty="0" smtClean="0">
                <a:solidFill>
                  <a:srgbClr val="5F4778"/>
                </a:solidFill>
                <a:latin typeface="Arial"/>
                <a:cs typeface="Arial"/>
              </a:rPr>
              <a:t>within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each</a:t>
            </a:r>
            <a:r>
              <a:rPr lang="en-US" b="1" spc="-26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5"/>
          <p:cNvSpPr/>
          <p:nvPr/>
        </p:nvSpPr>
        <p:spPr>
          <a:xfrm>
            <a:off x="4761148" y="2636193"/>
            <a:ext cx="5548630" cy="97155"/>
          </a:xfrm>
          <a:custGeom>
            <a:avLst/>
            <a:gdLst/>
            <a:ahLst/>
            <a:cxnLst/>
            <a:rect l="l" t="t" r="r" b="b"/>
            <a:pathLst>
              <a:path w="5548630" h="97155">
                <a:moveTo>
                  <a:pt x="0" y="96642"/>
                </a:moveTo>
                <a:lnTo>
                  <a:pt x="5548487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6"/>
          <p:cNvSpPr/>
          <p:nvPr/>
        </p:nvSpPr>
        <p:spPr>
          <a:xfrm>
            <a:off x="5078070" y="2628622"/>
            <a:ext cx="205692" cy="205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/>
          <p:cNvSpPr/>
          <p:nvPr/>
        </p:nvSpPr>
        <p:spPr>
          <a:xfrm>
            <a:off x="5384882" y="2619609"/>
            <a:ext cx="205653" cy="205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8"/>
          <p:cNvSpPr/>
          <p:nvPr/>
        </p:nvSpPr>
        <p:spPr>
          <a:xfrm>
            <a:off x="5796636" y="2620752"/>
            <a:ext cx="205604" cy="2056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9"/>
          <p:cNvSpPr/>
          <p:nvPr/>
        </p:nvSpPr>
        <p:spPr>
          <a:xfrm>
            <a:off x="6118078" y="2632999"/>
            <a:ext cx="205675" cy="2056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0"/>
          <p:cNvSpPr/>
          <p:nvPr/>
        </p:nvSpPr>
        <p:spPr>
          <a:xfrm>
            <a:off x="6745326" y="2607929"/>
            <a:ext cx="205606" cy="2056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1"/>
          <p:cNvSpPr/>
          <p:nvPr/>
        </p:nvSpPr>
        <p:spPr>
          <a:xfrm>
            <a:off x="7052138" y="2598904"/>
            <a:ext cx="205636" cy="2056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2"/>
          <p:cNvSpPr/>
          <p:nvPr/>
        </p:nvSpPr>
        <p:spPr>
          <a:xfrm>
            <a:off x="7418397" y="2591546"/>
            <a:ext cx="205654" cy="2056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3"/>
          <p:cNvSpPr/>
          <p:nvPr/>
        </p:nvSpPr>
        <p:spPr>
          <a:xfrm>
            <a:off x="7836508" y="2582402"/>
            <a:ext cx="205606" cy="20561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4"/>
          <p:cNvSpPr/>
          <p:nvPr/>
        </p:nvSpPr>
        <p:spPr>
          <a:xfrm>
            <a:off x="8568793" y="2567660"/>
            <a:ext cx="205604" cy="2056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5"/>
          <p:cNvSpPr/>
          <p:nvPr/>
        </p:nvSpPr>
        <p:spPr>
          <a:xfrm>
            <a:off x="8893008" y="2548743"/>
            <a:ext cx="205654" cy="20563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6"/>
          <p:cNvSpPr/>
          <p:nvPr/>
        </p:nvSpPr>
        <p:spPr>
          <a:xfrm>
            <a:off x="9150180" y="2539087"/>
            <a:ext cx="205623" cy="20562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7"/>
          <p:cNvSpPr/>
          <p:nvPr/>
        </p:nvSpPr>
        <p:spPr>
          <a:xfrm>
            <a:off x="9526481" y="2537063"/>
            <a:ext cx="205628" cy="2056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8"/>
          <p:cNvSpPr/>
          <p:nvPr/>
        </p:nvSpPr>
        <p:spPr>
          <a:xfrm>
            <a:off x="5993789" y="2304835"/>
            <a:ext cx="0" cy="840105"/>
          </a:xfrm>
          <a:custGeom>
            <a:avLst/>
            <a:gdLst/>
            <a:ahLst/>
            <a:cxnLst/>
            <a:rect l="l" t="t" r="r" b="b"/>
            <a:pathLst>
              <a:path h="840105">
                <a:moveTo>
                  <a:pt x="0" y="0"/>
                </a:moveTo>
                <a:lnTo>
                  <a:pt x="0" y="840111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19"/>
          <p:cNvSpPr/>
          <p:nvPr/>
        </p:nvSpPr>
        <p:spPr>
          <a:xfrm>
            <a:off x="7521233" y="2266370"/>
            <a:ext cx="0" cy="871219"/>
          </a:xfrm>
          <a:custGeom>
            <a:avLst/>
            <a:gdLst/>
            <a:ahLst/>
            <a:cxnLst/>
            <a:rect l="l" t="t" r="r" b="b"/>
            <a:pathLst>
              <a:path h="871219">
                <a:moveTo>
                  <a:pt x="0" y="0"/>
                </a:moveTo>
                <a:lnTo>
                  <a:pt x="0" y="870706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0"/>
          <p:cNvSpPr/>
          <p:nvPr/>
        </p:nvSpPr>
        <p:spPr>
          <a:xfrm>
            <a:off x="9075469" y="2304835"/>
            <a:ext cx="0" cy="825500"/>
          </a:xfrm>
          <a:custGeom>
            <a:avLst/>
            <a:gdLst/>
            <a:ahLst/>
            <a:cxnLst/>
            <a:rect l="l" t="t" r="r" b="b"/>
            <a:pathLst>
              <a:path h="825500">
                <a:moveTo>
                  <a:pt x="0" y="0"/>
                </a:moveTo>
                <a:lnTo>
                  <a:pt x="0" y="825252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1"/>
          <p:cNvSpPr/>
          <p:nvPr/>
        </p:nvSpPr>
        <p:spPr>
          <a:xfrm>
            <a:off x="5219750" y="2987725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1032753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2"/>
          <p:cNvSpPr/>
          <p:nvPr/>
        </p:nvSpPr>
        <p:spPr>
          <a:xfrm>
            <a:off x="6881153" y="2987725"/>
            <a:ext cx="1085850" cy="0"/>
          </a:xfrm>
          <a:custGeom>
            <a:avLst/>
            <a:gdLst/>
            <a:ahLst/>
            <a:cxnLst/>
            <a:rect l="l" t="t" r="r" b="b"/>
            <a:pathLst>
              <a:path w="1085850">
                <a:moveTo>
                  <a:pt x="1085849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3"/>
          <p:cNvSpPr/>
          <p:nvPr/>
        </p:nvSpPr>
        <p:spPr>
          <a:xfrm>
            <a:off x="8671610" y="2966520"/>
            <a:ext cx="1026794" cy="0"/>
          </a:xfrm>
          <a:custGeom>
            <a:avLst/>
            <a:gdLst/>
            <a:ahLst/>
            <a:cxnLst/>
            <a:rect l="l" t="t" r="r" b="b"/>
            <a:pathLst>
              <a:path w="1026795">
                <a:moveTo>
                  <a:pt x="1026261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778" y="3954293"/>
            <a:ext cx="6295238" cy="19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5190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44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8873" y="769683"/>
            <a:ext cx="9033163" cy="284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979545">
              <a:lnSpc>
                <a:spcPts val="1495"/>
              </a:lnSpc>
            </a:pP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Finally sum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the variation </a:t>
            </a:r>
            <a:r>
              <a:rPr lang="en-US" b="1" spc="10" dirty="0" smtClean="0">
                <a:solidFill>
                  <a:srgbClr val="5F4778"/>
                </a:solidFill>
                <a:latin typeface="Arial"/>
                <a:cs typeface="Arial"/>
              </a:rPr>
              <a:t>within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each</a:t>
            </a:r>
            <a:r>
              <a:rPr lang="en-US" b="1" spc="-26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object 8"/>
          <p:cNvSpPr/>
          <p:nvPr/>
        </p:nvSpPr>
        <p:spPr>
          <a:xfrm>
            <a:off x="4195828" y="2582468"/>
            <a:ext cx="6636981" cy="97155"/>
          </a:xfrm>
          <a:custGeom>
            <a:avLst/>
            <a:gdLst/>
            <a:ahLst/>
            <a:cxnLst/>
            <a:rect l="l" t="t" r="r" b="b"/>
            <a:pathLst>
              <a:path w="5548630" h="97155">
                <a:moveTo>
                  <a:pt x="0" y="96642"/>
                </a:moveTo>
                <a:lnTo>
                  <a:pt x="5548487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9"/>
          <p:cNvSpPr/>
          <p:nvPr/>
        </p:nvSpPr>
        <p:spPr>
          <a:xfrm>
            <a:off x="5036753" y="2574897"/>
            <a:ext cx="246036" cy="2056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0"/>
          <p:cNvSpPr/>
          <p:nvPr/>
        </p:nvSpPr>
        <p:spPr>
          <a:xfrm>
            <a:off x="5343567" y="2565884"/>
            <a:ext cx="245992" cy="20562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1"/>
          <p:cNvSpPr/>
          <p:nvPr/>
        </p:nvSpPr>
        <p:spPr>
          <a:xfrm>
            <a:off x="5755327" y="2567027"/>
            <a:ext cx="245933" cy="2056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2"/>
          <p:cNvSpPr/>
          <p:nvPr/>
        </p:nvSpPr>
        <p:spPr>
          <a:xfrm>
            <a:off x="6076761" y="2579274"/>
            <a:ext cx="246018" cy="2056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3"/>
          <p:cNvSpPr/>
          <p:nvPr/>
        </p:nvSpPr>
        <p:spPr>
          <a:xfrm>
            <a:off x="6704017" y="2554204"/>
            <a:ext cx="245935" cy="2056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4"/>
          <p:cNvSpPr/>
          <p:nvPr/>
        </p:nvSpPr>
        <p:spPr>
          <a:xfrm>
            <a:off x="7010826" y="2545179"/>
            <a:ext cx="245971" cy="20563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5"/>
          <p:cNvSpPr/>
          <p:nvPr/>
        </p:nvSpPr>
        <p:spPr>
          <a:xfrm>
            <a:off x="7377083" y="2537821"/>
            <a:ext cx="245993" cy="20561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6"/>
          <p:cNvSpPr/>
          <p:nvPr/>
        </p:nvSpPr>
        <p:spPr>
          <a:xfrm>
            <a:off x="7795199" y="2528677"/>
            <a:ext cx="245935" cy="20561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7"/>
          <p:cNvSpPr/>
          <p:nvPr/>
        </p:nvSpPr>
        <p:spPr>
          <a:xfrm>
            <a:off x="8527484" y="2513935"/>
            <a:ext cx="245933" cy="20563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18"/>
          <p:cNvSpPr/>
          <p:nvPr/>
        </p:nvSpPr>
        <p:spPr>
          <a:xfrm>
            <a:off x="8851694" y="2495018"/>
            <a:ext cx="245993" cy="20563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19"/>
          <p:cNvSpPr/>
          <p:nvPr/>
        </p:nvSpPr>
        <p:spPr>
          <a:xfrm>
            <a:off x="9108868" y="2485362"/>
            <a:ext cx="245957" cy="20562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0"/>
          <p:cNvSpPr/>
          <p:nvPr/>
        </p:nvSpPr>
        <p:spPr>
          <a:xfrm>
            <a:off x="9485169" y="2483338"/>
            <a:ext cx="245962" cy="20561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1"/>
          <p:cNvSpPr/>
          <p:nvPr/>
        </p:nvSpPr>
        <p:spPr>
          <a:xfrm>
            <a:off x="5972644" y="2251110"/>
            <a:ext cx="0" cy="840105"/>
          </a:xfrm>
          <a:custGeom>
            <a:avLst/>
            <a:gdLst/>
            <a:ahLst/>
            <a:cxnLst/>
            <a:rect l="l" t="t" r="r" b="b"/>
            <a:pathLst>
              <a:path h="840105">
                <a:moveTo>
                  <a:pt x="0" y="0"/>
                </a:moveTo>
                <a:lnTo>
                  <a:pt x="0" y="840111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2"/>
          <p:cNvSpPr/>
          <p:nvPr/>
        </p:nvSpPr>
        <p:spPr>
          <a:xfrm>
            <a:off x="7500088" y="2212645"/>
            <a:ext cx="0" cy="871219"/>
          </a:xfrm>
          <a:custGeom>
            <a:avLst/>
            <a:gdLst/>
            <a:ahLst/>
            <a:cxnLst/>
            <a:rect l="l" t="t" r="r" b="b"/>
            <a:pathLst>
              <a:path h="871219">
                <a:moveTo>
                  <a:pt x="0" y="0"/>
                </a:moveTo>
                <a:lnTo>
                  <a:pt x="0" y="870706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3"/>
          <p:cNvSpPr/>
          <p:nvPr/>
        </p:nvSpPr>
        <p:spPr>
          <a:xfrm>
            <a:off x="9054324" y="2251110"/>
            <a:ext cx="0" cy="825500"/>
          </a:xfrm>
          <a:custGeom>
            <a:avLst/>
            <a:gdLst/>
            <a:ahLst/>
            <a:cxnLst/>
            <a:rect l="l" t="t" r="r" b="b"/>
            <a:pathLst>
              <a:path h="825500">
                <a:moveTo>
                  <a:pt x="0" y="0"/>
                </a:moveTo>
                <a:lnTo>
                  <a:pt x="0" y="825252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4"/>
          <p:cNvSpPr/>
          <p:nvPr/>
        </p:nvSpPr>
        <p:spPr>
          <a:xfrm>
            <a:off x="5097282" y="2934000"/>
            <a:ext cx="1235790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1032753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5"/>
          <p:cNvSpPr/>
          <p:nvPr/>
        </p:nvSpPr>
        <p:spPr>
          <a:xfrm>
            <a:off x="6753514" y="2934000"/>
            <a:ext cx="1298839" cy="0"/>
          </a:xfrm>
          <a:custGeom>
            <a:avLst/>
            <a:gdLst/>
            <a:ahLst/>
            <a:cxnLst/>
            <a:rect l="l" t="t" r="r" b="b"/>
            <a:pathLst>
              <a:path w="1085850">
                <a:moveTo>
                  <a:pt x="1085849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6"/>
          <p:cNvSpPr/>
          <p:nvPr/>
        </p:nvSpPr>
        <p:spPr>
          <a:xfrm>
            <a:off x="8549763" y="2912795"/>
            <a:ext cx="1228199" cy="0"/>
          </a:xfrm>
          <a:custGeom>
            <a:avLst/>
            <a:gdLst/>
            <a:ahLst/>
            <a:cxnLst/>
            <a:rect l="l" t="t" r="r" b="b"/>
            <a:pathLst>
              <a:path w="1026795">
                <a:moveTo>
                  <a:pt x="1026261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8"/>
          <p:cNvSpPr/>
          <p:nvPr/>
        </p:nvSpPr>
        <p:spPr>
          <a:xfrm>
            <a:off x="6114400" y="4367702"/>
            <a:ext cx="1235790" cy="152400"/>
          </a:xfrm>
          <a:custGeom>
            <a:avLst/>
            <a:gdLst/>
            <a:ahLst/>
            <a:cxnLst/>
            <a:rect l="l" t="t" r="r" b="b"/>
            <a:pathLst>
              <a:path w="1033145" h="152400">
                <a:moveTo>
                  <a:pt x="0" y="152400"/>
                </a:moveTo>
                <a:lnTo>
                  <a:pt x="1032784" y="152400"/>
                </a:lnTo>
                <a:lnTo>
                  <a:pt x="1032784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29"/>
          <p:cNvSpPr/>
          <p:nvPr/>
        </p:nvSpPr>
        <p:spPr>
          <a:xfrm>
            <a:off x="7142013" y="4367702"/>
            <a:ext cx="1298839" cy="152400"/>
          </a:xfrm>
          <a:custGeom>
            <a:avLst/>
            <a:gdLst/>
            <a:ahLst/>
            <a:cxnLst/>
            <a:rect l="l" t="t" r="r" b="b"/>
            <a:pathLst>
              <a:path w="1085850" h="152400">
                <a:moveTo>
                  <a:pt x="0" y="152400"/>
                </a:moveTo>
                <a:lnTo>
                  <a:pt x="1085849" y="152400"/>
                </a:lnTo>
                <a:lnTo>
                  <a:pt x="108584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0"/>
          <p:cNvSpPr/>
          <p:nvPr/>
        </p:nvSpPr>
        <p:spPr>
          <a:xfrm>
            <a:off x="8233655" y="4367702"/>
            <a:ext cx="1228199" cy="152400"/>
          </a:xfrm>
          <a:custGeom>
            <a:avLst/>
            <a:gdLst/>
            <a:ahLst/>
            <a:cxnLst/>
            <a:rect l="l" t="t" r="r" b="b"/>
            <a:pathLst>
              <a:path w="1026795" h="152400">
                <a:moveTo>
                  <a:pt x="0" y="152400"/>
                </a:moveTo>
                <a:lnTo>
                  <a:pt x="1026291" y="152400"/>
                </a:lnTo>
                <a:lnTo>
                  <a:pt x="102629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1"/>
          <p:cNvSpPr/>
          <p:nvPr/>
        </p:nvSpPr>
        <p:spPr>
          <a:xfrm>
            <a:off x="6056917" y="4043721"/>
            <a:ext cx="1936863" cy="152400"/>
          </a:xfrm>
          <a:custGeom>
            <a:avLst/>
            <a:gdLst/>
            <a:ahLst/>
            <a:cxnLst/>
            <a:rect l="l" t="t" r="r" b="b"/>
            <a:pathLst>
              <a:path w="1619250" h="152400">
                <a:moveTo>
                  <a:pt x="0" y="152400"/>
                </a:moveTo>
                <a:lnTo>
                  <a:pt x="1619249" y="152400"/>
                </a:lnTo>
                <a:lnTo>
                  <a:pt x="161924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2"/>
          <p:cNvSpPr/>
          <p:nvPr/>
        </p:nvSpPr>
        <p:spPr>
          <a:xfrm>
            <a:off x="7751584" y="4043721"/>
            <a:ext cx="1017043" cy="152400"/>
          </a:xfrm>
          <a:custGeom>
            <a:avLst/>
            <a:gdLst/>
            <a:ahLst/>
            <a:cxnLst/>
            <a:rect l="l" t="t" r="r" b="b"/>
            <a:pathLst>
              <a:path w="850265" h="152400">
                <a:moveTo>
                  <a:pt x="0" y="152400"/>
                </a:moveTo>
                <a:lnTo>
                  <a:pt x="850269" y="152400"/>
                </a:lnTo>
                <a:lnTo>
                  <a:pt x="85026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3"/>
          <p:cNvSpPr/>
          <p:nvPr/>
        </p:nvSpPr>
        <p:spPr>
          <a:xfrm>
            <a:off x="8584540" y="4043983"/>
            <a:ext cx="1228199" cy="152400"/>
          </a:xfrm>
          <a:custGeom>
            <a:avLst/>
            <a:gdLst/>
            <a:ahLst/>
            <a:cxnLst/>
            <a:rect l="l" t="t" r="r" b="b"/>
            <a:pathLst>
              <a:path w="1026795" h="152400">
                <a:moveTo>
                  <a:pt x="0" y="152400"/>
                </a:moveTo>
                <a:lnTo>
                  <a:pt x="1026291" y="152400"/>
                </a:lnTo>
                <a:lnTo>
                  <a:pt x="102629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4"/>
          <p:cNvSpPr/>
          <p:nvPr/>
        </p:nvSpPr>
        <p:spPr>
          <a:xfrm>
            <a:off x="7404440" y="3720002"/>
            <a:ext cx="2515642" cy="152400"/>
          </a:xfrm>
          <a:custGeom>
            <a:avLst/>
            <a:gdLst/>
            <a:ahLst/>
            <a:cxnLst/>
            <a:rect l="l" t="t" r="r" b="b"/>
            <a:pathLst>
              <a:path w="2103120" h="152400">
                <a:moveTo>
                  <a:pt x="0" y="152400"/>
                </a:moveTo>
                <a:lnTo>
                  <a:pt x="2102601" y="152400"/>
                </a:lnTo>
                <a:lnTo>
                  <a:pt x="2102601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00AF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5"/>
          <p:cNvSpPr/>
          <p:nvPr/>
        </p:nvSpPr>
        <p:spPr>
          <a:xfrm>
            <a:off x="6112966" y="3720002"/>
            <a:ext cx="1253264" cy="152400"/>
          </a:xfrm>
          <a:custGeom>
            <a:avLst/>
            <a:gdLst/>
            <a:ahLst/>
            <a:cxnLst/>
            <a:rect l="l" t="t" r="r" b="b"/>
            <a:pathLst>
              <a:path w="1047750" h="152400">
                <a:moveTo>
                  <a:pt x="0" y="152400"/>
                </a:moveTo>
                <a:lnTo>
                  <a:pt x="1047749" y="152400"/>
                </a:lnTo>
                <a:lnTo>
                  <a:pt x="1047749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6"/>
          <p:cNvSpPr/>
          <p:nvPr/>
        </p:nvSpPr>
        <p:spPr>
          <a:xfrm>
            <a:off x="7229407" y="3720002"/>
            <a:ext cx="415476" cy="152400"/>
          </a:xfrm>
          <a:custGeom>
            <a:avLst/>
            <a:gdLst/>
            <a:ahLst/>
            <a:cxnLst/>
            <a:rect l="l" t="t" r="r" b="b"/>
            <a:pathLst>
              <a:path w="347345" h="152400">
                <a:moveTo>
                  <a:pt x="0" y="152400"/>
                </a:moveTo>
                <a:lnTo>
                  <a:pt x="347228" y="152400"/>
                </a:lnTo>
                <a:lnTo>
                  <a:pt x="347228" y="0"/>
                </a:lnTo>
                <a:lnTo>
                  <a:pt x="0" y="0"/>
                </a:lnTo>
                <a:lnTo>
                  <a:pt x="0" y="15240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7"/>
          <p:cNvSpPr txBox="1"/>
          <p:nvPr/>
        </p:nvSpPr>
        <p:spPr>
          <a:xfrm>
            <a:off x="5052722" y="3714096"/>
            <a:ext cx="109755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050" b="1" spc="10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r>
              <a:rPr sz="975" b="1" spc="15" baseline="25641" dirty="0">
                <a:solidFill>
                  <a:srgbClr val="595959"/>
                </a:solidFill>
                <a:latin typeface="Arial"/>
                <a:cs typeface="Arial"/>
              </a:rPr>
              <a:t>st</a:t>
            </a:r>
            <a:r>
              <a:rPr sz="975" b="1" spc="135" baseline="2564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50" b="1" spc="25" dirty="0">
                <a:solidFill>
                  <a:srgbClr val="595959"/>
                </a:solidFill>
                <a:latin typeface="Arial"/>
                <a:cs typeface="Arial"/>
              </a:rPr>
              <a:t>Iteration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sz="1050" b="1" spc="25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r>
              <a:rPr sz="975" b="1" spc="37" baseline="25641" dirty="0">
                <a:solidFill>
                  <a:srgbClr val="595959"/>
                </a:solidFill>
                <a:latin typeface="Arial"/>
                <a:cs typeface="Arial"/>
              </a:rPr>
              <a:t>nd</a:t>
            </a:r>
            <a:r>
              <a:rPr sz="975" b="1" spc="-30" baseline="2564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50" b="1" spc="25" dirty="0">
                <a:solidFill>
                  <a:srgbClr val="595959"/>
                </a:solidFill>
                <a:latin typeface="Arial"/>
                <a:cs typeface="Arial"/>
              </a:rPr>
              <a:t>Iteration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 marL="76835">
              <a:lnSpc>
                <a:spcPct val="100000"/>
              </a:lnSpc>
            </a:pPr>
            <a:r>
              <a:rPr sz="1050" b="1" spc="25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r>
              <a:rPr sz="975" b="1" spc="37" baseline="25641" dirty="0">
                <a:solidFill>
                  <a:srgbClr val="595959"/>
                </a:solidFill>
                <a:latin typeface="Arial"/>
                <a:cs typeface="Arial"/>
              </a:rPr>
              <a:t>rd</a:t>
            </a:r>
            <a:r>
              <a:rPr sz="975" b="1" spc="-22" baseline="25641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050" b="1" spc="25" dirty="0">
                <a:solidFill>
                  <a:srgbClr val="595959"/>
                </a:solidFill>
                <a:latin typeface="Arial"/>
                <a:cs typeface="Arial"/>
              </a:rPr>
              <a:t>Iteration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44" name="object 38"/>
          <p:cNvSpPr/>
          <p:nvPr/>
        </p:nvSpPr>
        <p:spPr>
          <a:xfrm>
            <a:off x="4443657" y="4139749"/>
            <a:ext cx="970132" cy="6082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317035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45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6"/>
          <p:cNvSpPr txBox="1"/>
          <p:nvPr/>
        </p:nvSpPr>
        <p:spPr>
          <a:xfrm>
            <a:off x="5357613" y="1589068"/>
            <a:ext cx="4097020" cy="30505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algn="ctr">
              <a:lnSpc>
                <a:spcPct val="150100"/>
              </a:lnSpc>
              <a:spcBef>
                <a:spcPts val="130"/>
              </a:spcBef>
            </a:pPr>
            <a:r>
              <a:rPr sz="4400" b="1" spc="25" dirty="0">
                <a:solidFill>
                  <a:srgbClr val="5F4778"/>
                </a:solidFill>
                <a:latin typeface="Arial"/>
                <a:cs typeface="Arial"/>
              </a:rPr>
              <a:t>But </a:t>
            </a:r>
            <a:r>
              <a:rPr sz="4400" b="1" spc="20" dirty="0">
                <a:solidFill>
                  <a:srgbClr val="5F4778"/>
                </a:solidFill>
                <a:latin typeface="Arial"/>
                <a:cs typeface="Arial"/>
              </a:rPr>
              <a:t>how </a:t>
            </a:r>
            <a:r>
              <a:rPr sz="4400" b="1" spc="25" dirty="0">
                <a:solidFill>
                  <a:srgbClr val="5F4778"/>
                </a:solidFill>
                <a:latin typeface="Arial"/>
                <a:cs typeface="Arial"/>
              </a:rPr>
              <a:t>to</a:t>
            </a:r>
            <a:r>
              <a:rPr sz="4400" b="1" spc="-350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4400" b="1" spc="10" dirty="0">
                <a:solidFill>
                  <a:srgbClr val="5F4778"/>
                </a:solidFill>
                <a:latin typeface="Arial"/>
                <a:cs typeface="Arial"/>
              </a:rPr>
              <a:t>find  </a:t>
            </a:r>
            <a:r>
              <a:rPr sz="4400" b="1" spc="20" dirty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sz="4400" b="1" spc="-20" dirty="0">
                <a:solidFill>
                  <a:srgbClr val="5F4778"/>
                </a:solidFill>
                <a:latin typeface="Arial"/>
                <a:cs typeface="Arial"/>
              </a:rPr>
              <a:t>value </a:t>
            </a:r>
            <a:r>
              <a:rPr sz="4400" b="1" spc="15" dirty="0">
                <a:solidFill>
                  <a:srgbClr val="5F4778"/>
                </a:solidFill>
                <a:latin typeface="Arial"/>
                <a:cs typeface="Arial"/>
              </a:rPr>
              <a:t>of  </a:t>
            </a:r>
            <a:r>
              <a:rPr sz="4400" b="1" dirty="0">
                <a:solidFill>
                  <a:srgbClr val="5F4778"/>
                </a:solidFill>
                <a:latin typeface="Arial"/>
                <a:cs typeface="Arial"/>
              </a:rPr>
              <a:t>‘K’?</a:t>
            </a:r>
            <a:endParaRPr sz="4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10754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46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8"/>
          <p:cNvSpPr txBox="1">
            <a:spLocks/>
          </p:cNvSpPr>
          <p:nvPr/>
        </p:nvSpPr>
        <p:spPr>
          <a:xfrm>
            <a:off x="6097942" y="1597246"/>
            <a:ext cx="3100070" cy="300355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smtClean="0">
                <a:solidFill>
                  <a:srgbClr val="5F4778"/>
                </a:solidFill>
                <a:latin typeface="Arial"/>
                <a:cs typeface="Arial"/>
              </a:rPr>
              <a:t>How to </a:t>
            </a:r>
            <a:r>
              <a:rPr lang="en-US" sz="1800" spc="10" smtClean="0">
                <a:solidFill>
                  <a:srgbClr val="5F4778"/>
                </a:solidFill>
                <a:latin typeface="Arial"/>
                <a:cs typeface="Arial"/>
              </a:rPr>
              <a:t>find </a:t>
            </a:r>
            <a:r>
              <a:rPr lang="en-US" sz="1800" spc="5" smtClean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lang="en-US" sz="1800" spc="-5" smtClean="0">
                <a:solidFill>
                  <a:srgbClr val="5F4778"/>
                </a:solidFill>
                <a:latin typeface="Arial"/>
                <a:cs typeface="Arial"/>
              </a:rPr>
              <a:t>value </a:t>
            </a:r>
            <a:r>
              <a:rPr lang="en-US" sz="1800" spc="10" smtClean="0">
                <a:solidFill>
                  <a:srgbClr val="5F4778"/>
                </a:solidFill>
                <a:latin typeface="Arial"/>
                <a:cs typeface="Arial"/>
              </a:rPr>
              <a:t>of</a:t>
            </a:r>
            <a:r>
              <a:rPr lang="en-US" sz="1800" spc="-185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sz="1800" smtClean="0">
                <a:solidFill>
                  <a:srgbClr val="5F4778"/>
                </a:solidFill>
                <a:latin typeface="Arial"/>
                <a:cs typeface="Arial"/>
              </a:rPr>
              <a:t>‘K’?</a:t>
            </a:r>
            <a:endParaRPr lang="en-US" sz="1800">
              <a:latin typeface="Arial"/>
              <a:cs typeface="Arial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5011456" y="2026257"/>
            <a:ext cx="5390515" cy="866140"/>
          </a:xfrm>
          <a:prstGeom prst="rect">
            <a:avLst/>
          </a:prstGeom>
        </p:spPr>
        <p:txBody>
          <a:bodyPr vert="horz" wrap="square" lIns="0" tIns="158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In 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spc="-10" dirty="0">
                <a:solidFill>
                  <a:srgbClr val="595959"/>
                </a:solidFill>
                <a:latin typeface="Arial"/>
                <a:cs typeface="Arial"/>
              </a:rPr>
              <a:t>previous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scenario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 = 3 </a:t>
            </a:r>
            <a:r>
              <a:rPr sz="1800" spc="-20" dirty="0">
                <a:solidFill>
                  <a:srgbClr val="595959"/>
                </a:solidFill>
                <a:latin typeface="Arial"/>
                <a:cs typeface="Arial"/>
              </a:rPr>
              <a:t>was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known, </a:t>
            </a:r>
            <a:r>
              <a:rPr sz="1800" spc="30" dirty="0">
                <a:solidFill>
                  <a:srgbClr val="595959"/>
                </a:solidFill>
                <a:latin typeface="Arial"/>
                <a:cs typeface="Arial"/>
              </a:rPr>
              <a:t>but</a:t>
            </a:r>
            <a:r>
              <a:rPr sz="1800" spc="-8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what-if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we </a:t>
            </a:r>
            <a:r>
              <a:rPr sz="1800" spc="5" dirty="0">
                <a:solidFill>
                  <a:srgbClr val="595959"/>
                </a:solidFill>
                <a:latin typeface="Arial"/>
                <a:cs typeface="Arial"/>
              </a:rPr>
              <a:t>don’t know </a:t>
            </a:r>
            <a:r>
              <a:rPr sz="1800" spc="20" dirty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sz="1800" spc="-30" dirty="0">
                <a:solidFill>
                  <a:srgbClr val="595959"/>
                </a:solidFill>
                <a:latin typeface="Arial"/>
                <a:cs typeface="Arial"/>
              </a:rPr>
              <a:t>exact </a:t>
            </a:r>
            <a:r>
              <a:rPr sz="1800" spc="-5" dirty="0">
                <a:solidFill>
                  <a:srgbClr val="595959"/>
                </a:solidFill>
                <a:latin typeface="Arial"/>
                <a:cs typeface="Arial"/>
              </a:rPr>
              <a:t>value </a:t>
            </a:r>
            <a:r>
              <a:rPr sz="1800" spc="-15" dirty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sz="1800" spc="-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"/>
                <a:cs typeface="Arial"/>
              </a:rPr>
              <a:t>k?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0"/>
          <p:cNvSpPr/>
          <p:nvPr/>
        </p:nvSpPr>
        <p:spPr>
          <a:xfrm>
            <a:off x="4929030" y="4416968"/>
            <a:ext cx="5549265" cy="59690"/>
          </a:xfrm>
          <a:custGeom>
            <a:avLst/>
            <a:gdLst/>
            <a:ahLst/>
            <a:cxnLst/>
            <a:rect l="l" t="t" r="r" b="b"/>
            <a:pathLst>
              <a:path w="5549265" h="59689">
                <a:moveTo>
                  <a:pt x="0" y="59304"/>
                </a:moveTo>
                <a:lnTo>
                  <a:pt x="5549005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5245922" y="4374887"/>
            <a:ext cx="205755" cy="205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5552815" y="4367903"/>
            <a:ext cx="205750" cy="2057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5964488" y="4371839"/>
            <a:ext cx="205755" cy="2057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6285911" y="4386265"/>
            <a:ext cx="205701" cy="2057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6913293" y="4365429"/>
            <a:ext cx="205706" cy="20570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7220142" y="4358452"/>
            <a:ext cx="205802" cy="20570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7586407" y="4353501"/>
            <a:ext cx="205763" cy="20579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8004553" y="4347143"/>
            <a:ext cx="205750" cy="2058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8736905" y="4337348"/>
            <a:ext cx="205802" cy="20570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9061320" y="4320604"/>
            <a:ext cx="205755" cy="2058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/>
          <p:nvPr/>
        </p:nvSpPr>
        <p:spPr>
          <a:xfrm>
            <a:off x="9318433" y="4312714"/>
            <a:ext cx="205815" cy="20570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/>
          <p:nvPr/>
        </p:nvSpPr>
        <p:spPr>
          <a:xfrm>
            <a:off x="9694790" y="4313216"/>
            <a:ext cx="205750" cy="2056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569085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47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84072" y="88651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spc="30" dirty="0" smtClean="0">
                <a:solidFill>
                  <a:srgbClr val="595959"/>
                </a:solidFill>
                <a:latin typeface="Arial"/>
                <a:cs typeface="Arial"/>
              </a:rPr>
              <a:t>For</a:t>
            </a:r>
            <a:r>
              <a:rPr lang="en-US" b="1" spc="-1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0" dirty="0" smtClean="0">
                <a:solidFill>
                  <a:srgbClr val="595959"/>
                </a:solidFill>
                <a:latin typeface="Arial"/>
                <a:cs typeface="Arial"/>
              </a:rPr>
              <a:t>finding</a:t>
            </a:r>
            <a:r>
              <a:rPr lang="en-US" b="1" spc="-1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0" dirty="0" smtClean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b="1" spc="-5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25" dirty="0" smtClean="0">
                <a:solidFill>
                  <a:srgbClr val="595959"/>
                </a:solidFill>
                <a:latin typeface="Arial"/>
                <a:cs typeface="Arial"/>
              </a:rPr>
              <a:t>value</a:t>
            </a:r>
            <a:r>
              <a:rPr lang="en-US" b="1" spc="-1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25" dirty="0" smtClean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lang="en-US" b="1" spc="-114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25" dirty="0" smtClean="0">
                <a:solidFill>
                  <a:srgbClr val="595959"/>
                </a:solidFill>
                <a:latin typeface="Arial"/>
                <a:cs typeface="Arial"/>
              </a:rPr>
              <a:t>k,</a:t>
            </a:r>
            <a:r>
              <a:rPr lang="en-US" b="1" spc="-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30" dirty="0" smtClean="0">
                <a:solidFill>
                  <a:srgbClr val="595959"/>
                </a:solidFill>
                <a:latin typeface="Arial"/>
                <a:cs typeface="Arial"/>
              </a:rPr>
              <a:t>you</a:t>
            </a:r>
            <a:r>
              <a:rPr lang="en-US" b="1" spc="-1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lang="en-US" b="1" spc="-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30" dirty="0" smtClean="0">
                <a:solidFill>
                  <a:srgbClr val="595959"/>
                </a:solidFill>
                <a:latin typeface="Arial"/>
                <a:cs typeface="Arial"/>
              </a:rPr>
              <a:t>use</a:t>
            </a:r>
            <a:r>
              <a:rPr lang="en-US" b="1" spc="-5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0" dirty="0" smtClean="0">
                <a:solidFill>
                  <a:srgbClr val="595959"/>
                </a:solidFill>
                <a:latin typeface="Arial"/>
                <a:cs typeface="Arial"/>
              </a:rPr>
              <a:t>hit</a:t>
            </a:r>
            <a:r>
              <a:rPr lang="en-US" b="1" spc="-11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30" dirty="0" smtClean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lang="en-US" b="1" spc="-5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95959"/>
                </a:solidFill>
                <a:latin typeface="Arial"/>
                <a:cs typeface="Arial"/>
              </a:rPr>
              <a:t>trail  </a:t>
            </a:r>
            <a:r>
              <a:rPr lang="en-US" b="1" spc="25" dirty="0" smtClean="0">
                <a:solidFill>
                  <a:srgbClr val="595959"/>
                </a:solidFill>
                <a:latin typeface="Arial"/>
                <a:cs typeface="Arial"/>
              </a:rPr>
              <a:t>method,</a:t>
            </a:r>
            <a:r>
              <a:rPr lang="en-US" b="1" spc="-19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20" dirty="0" smtClean="0">
                <a:solidFill>
                  <a:srgbClr val="595959"/>
                </a:solidFill>
                <a:latin typeface="Arial"/>
                <a:cs typeface="Arial"/>
              </a:rPr>
              <a:t>starting</a:t>
            </a:r>
            <a:r>
              <a:rPr lang="en-US" b="1" spc="-13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25" dirty="0" smtClean="0">
                <a:solidFill>
                  <a:srgbClr val="595959"/>
                </a:solidFill>
                <a:latin typeface="Arial"/>
                <a:cs typeface="Arial"/>
              </a:rPr>
              <a:t>from</a:t>
            </a:r>
            <a:r>
              <a:rPr lang="en-US" b="1" spc="-16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95959"/>
                </a:solidFill>
                <a:latin typeface="Arial"/>
                <a:cs typeface="Arial"/>
              </a:rPr>
              <a:t>K</a:t>
            </a:r>
            <a:r>
              <a:rPr lang="en-US" b="1" spc="-7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lang="en-US" b="1" spc="-2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endParaRPr lang="en-US" dirty="0"/>
          </a:p>
        </p:txBody>
      </p:sp>
      <p:sp>
        <p:nvSpPr>
          <p:cNvPr id="14" name="object 9"/>
          <p:cNvSpPr/>
          <p:nvPr/>
        </p:nvSpPr>
        <p:spPr>
          <a:xfrm>
            <a:off x="4554852" y="3126208"/>
            <a:ext cx="5549265" cy="59690"/>
          </a:xfrm>
          <a:custGeom>
            <a:avLst/>
            <a:gdLst/>
            <a:ahLst/>
            <a:cxnLst/>
            <a:rect l="l" t="t" r="r" b="b"/>
            <a:pathLst>
              <a:path w="5549265" h="59689">
                <a:moveTo>
                  <a:pt x="0" y="59435"/>
                </a:moveTo>
                <a:lnTo>
                  <a:pt x="5549005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/>
          <p:nvPr/>
        </p:nvSpPr>
        <p:spPr>
          <a:xfrm>
            <a:off x="4884441" y="3084197"/>
            <a:ext cx="205750" cy="20581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1"/>
          <p:cNvSpPr/>
          <p:nvPr/>
        </p:nvSpPr>
        <p:spPr>
          <a:xfrm>
            <a:off x="5191266" y="3077220"/>
            <a:ext cx="205820" cy="2057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5603007" y="3081149"/>
            <a:ext cx="205750" cy="20581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5924425" y="3095558"/>
            <a:ext cx="205704" cy="2057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6551800" y="3074727"/>
            <a:ext cx="205701" cy="2057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6858661" y="3067745"/>
            <a:ext cx="205750" cy="20574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7224922" y="3062861"/>
            <a:ext cx="205750" cy="2057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7643055" y="3056515"/>
            <a:ext cx="205763" cy="2057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8375420" y="3046609"/>
            <a:ext cx="205802" cy="2058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8699827" y="3029974"/>
            <a:ext cx="205750" cy="20570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8956948" y="3021975"/>
            <a:ext cx="205802" cy="2057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/>
          <p:nvPr/>
        </p:nvSpPr>
        <p:spPr>
          <a:xfrm>
            <a:off x="9333306" y="3022475"/>
            <a:ext cx="205750" cy="20581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 txBox="1"/>
          <p:nvPr/>
        </p:nvSpPr>
        <p:spPr>
          <a:xfrm>
            <a:off x="5092818" y="3732494"/>
            <a:ext cx="4356735" cy="675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1560" marR="5080" indent="-1039494">
              <a:lnSpc>
                <a:spcPct val="152100"/>
              </a:lnSpc>
              <a:spcBef>
                <a:spcPts val="95"/>
              </a:spcBef>
            </a:pPr>
            <a:r>
              <a:rPr sz="1400" spc="15" dirty="0">
                <a:latin typeface="Arial"/>
                <a:cs typeface="Arial"/>
              </a:rPr>
              <a:t>K=1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is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5" dirty="0">
                <a:latin typeface="Arial"/>
                <a:cs typeface="Arial"/>
              </a:rPr>
              <a:t>the</a:t>
            </a:r>
            <a:r>
              <a:rPr sz="1400" spc="2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worst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15" dirty="0">
                <a:latin typeface="Arial"/>
                <a:cs typeface="Arial"/>
              </a:rPr>
              <a:t>case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scenario,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15" dirty="0">
                <a:latin typeface="Arial"/>
                <a:cs typeface="Arial"/>
              </a:rPr>
              <a:t>even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you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15" dirty="0">
                <a:latin typeface="Arial"/>
                <a:cs typeface="Arial"/>
              </a:rPr>
              <a:t>cross-verify</a:t>
            </a:r>
            <a:r>
              <a:rPr sz="1400" spc="-204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it  </a:t>
            </a:r>
            <a:r>
              <a:rPr sz="1400" spc="-15" dirty="0">
                <a:latin typeface="Arial"/>
                <a:cs typeface="Arial"/>
              </a:rPr>
              <a:t>with </a:t>
            </a:r>
            <a:r>
              <a:rPr sz="1400" spc="-10" dirty="0">
                <a:latin typeface="Arial"/>
                <a:cs typeface="Arial"/>
              </a:rPr>
              <a:t>its </a:t>
            </a:r>
            <a:r>
              <a:rPr sz="1400" spc="-5" dirty="0">
                <a:latin typeface="Arial"/>
                <a:cs typeface="Arial"/>
              </a:rPr>
              <a:t>total </a:t>
            </a:r>
            <a:r>
              <a:rPr sz="1400" spc="-15" dirty="0">
                <a:latin typeface="Arial"/>
                <a:cs typeface="Arial"/>
              </a:rPr>
              <a:t>variation(all</a:t>
            </a:r>
            <a:r>
              <a:rPr sz="1400" spc="204" dirty="0">
                <a:latin typeface="Arial"/>
                <a:cs typeface="Arial"/>
              </a:rPr>
              <a:t> </a:t>
            </a:r>
            <a:r>
              <a:rPr sz="1400" spc="15" dirty="0">
                <a:latin typeface="Arial"/>
                <a:cs typeface="Arial"/>
              </a:rPr>
              <a:t>red)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23"/>
          <p:cNvSpPr/>
          <p:nvPr/>
        </p:nvSpPr>
        <p:spPr>
          <a:xfrm>
            <a:off x="4987272" y="3551405"/>
            <a:ext cx="4449445" cy="0"/>
          </a:xfrm>
          <a:custGeom>
            <a:avLst/>
            <a:gdLst/>
            <a:ahLst/>
            <a:cxnLst/>
            <a:rect l="l" t="t" r="r" b="b"/>
            <a:pathLst>
              <a:path w="4449445">
                <a:moveTo>
                  <a:pt x="0" y="0"/>
                </a:moveTo>
                <a:lnTo>
                  <a:pt x="4448952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4"/>
          <p:cNvSpPr/>
          <p:nvPr/>
        </p:nvSpPr>
        <p:spPr>
          <a:xfrm>
            <a:off x="7197347" y="2737839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28574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553893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48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06426" y="1360115"/>
            <a:ext cx="2162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5" dirty="0">
                <a:solidFill>
                  <a:srgbClr val="595959"/>
                </a:solidFill>
                <a:latin typeface="Arial"/>
                <a:cs typeface="Arial"/>
              </a:rPr>
              <a:t>Now </a:t>
            </a:r>
            <a:r>
              <a:rPr lang="en-US" b="1" spc="-10" dirty="0">
                <a:solidFill>
                  <a:srgbClr val="595959"/>
                </a:solidFill>
                <a:latin typeface="Arial"/>
                <a:cs typeface="Arial"/>
              </a:rPr>
              <a:t>try </a:t>
            </a:r>
            <a:r>
              <a:rPr lang="en-US" b="1" spc="10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lang="en-US" b="1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13" name="object 9"/>
          <p:cNvSpPr/>
          <p:nvPr/>
        </p:nvSpPr>
        <p:spPr>
          <a:xfrm>
            <a:off x="5539775" y="3689430"/>
            <a:ext cx="5549265" cy="59690"/>
          </a:xfrm>
          <a:custGeom>
            <a:avLst/>
            <a:gdLst/>
            <a:ahLst/>
            <a:cxnLst/>
            <a:rect l="l" t="t" r="r" b="b"/>
            <a:pathLst>
              <a:path w="5549265" h="59689">
                <a:moveTo>
                  <a:pt x="0" y="59435"/>
                </a:moveTo>
                <a:lnTo>
                  <a:pt x="5549036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856684" y="3660122"/>
            <a:ext cx="205750" cy="205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6163509" y="3653133"/>
            <a:ext cx="205820" cy="205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575250" y="3657074"/>
            <a:ext cx="205750" cy="205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896669" y="3671477"/>
            <a:ext cx="205706" cy="2057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7524043" y="3650647"/>
            <a:ext cx="205701" cy="2057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830904" y="3643664"/>
            <a:ext cx="205802" cy="20575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8197165" y="3638784"/>
            <a:ext cx="205750" cy="20570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8615298" y="3632428"/>
            <a:ext cx="205763" cy="2057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9347663" y="3622522"/>
            <a:ext cx="205802" cy="2058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9672070" y="3605887"/>
            <a:ext cx="205750" cy="2057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929191" y="3597888"/>
            <a:ext cx="205802" cy="20581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10305548" y="3598400"/>
            <a:ext cx="205750" cy="20579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 txBox="1"/>
          <p:nvPr/>
        </p:nvSpPr>
        <p:spPr>
          <a:xfrm>
            <a:off x="6017436" y="4348495"/>
            <a:ext cx="4447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K=2 </a:t>
            </a:r>
            <a:r>
              <a:rPr sz="1800" spc="-15" dirty="0">
                <a:latin typeface="Arial"/>
                <a:cs typeface="Arial"/>
              </a:rPr>
              <a:t>is </a:t>
            </a:r>
            <a:r>
              <a:rPr sz="1800" spc="5" dirty="0">
                <a:latin typeface="Arial"/>
                <a:cs typeface="Arial"/>
              </a:rPr>
              <a:t>still better </a:t>
            </a:r>
            <a:r>
              <a:rPr sz="1800" spc="10" dirty="0">
                <a:latin typeface="Arial"/>
                <a:cs typeface="Arial"/>
              </a:rPr>
              <a:t>then </a:t>
            </a:r>
            <a:r>
              <a:rPr sz="1800" dirty="0">
                <a:latin typeface="Arial"/>
                <a:cs typeface="Arial"/>
              </a:rPr>
              <a:t>K = 1 </a:t>
            </a:r>
            <a:r>
              <a:rPr sz="1800" spc="-55" dirty="0">
                <a:latin typeface="Arial"/>
                <a:cs typeface="Arial"/>
              </a:rPr>
              <a:t>(Total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Variation)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3"/>
          <p:cNvSpPr/>
          <p:nvPr/>
        </p:nvSpPr>
        <p:spPr>
          <a:xfrm>
            <a:off x="6451280" y="3354912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7647467" y="4108267"/>
            <a:ext cx="2785745" cy="0"/>
          </a:xfrm>
          <a:custGeom>
            <a:avLst/>
            <a:gdLst/>
            <a:ahLst/>
            <a:cxnLst/>
            <a:rect l="l" t="t" r="r" b="b"/>
            <a:pathLst>
              <a:path w="2785745">
                <a:moveTo>
                  <a:pt x="0" y="0"/>
                </a:moveTo>
                <a:lnTo>
                  <a:pt x="2785262" y="0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9023030" y="3379546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5952779" y="4108267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214" y="0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6452286" y="5132764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183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6441099" y="4889317"/>
            <a:ext cx="4449445" cy="0"/>
          </a:xfrm>
          <a:custGeom>
            <a:avLst/>
            <a:gdLst/>
            <a:ahLst/>
            <a:cxnLst/>
            <a:rect l="l" t="t" r="r" b="b"/>
            <a:pathLst>
              <a:path w="4449445">
                <a:moveTo>
                  <a:pt x="0" y="0"/>
                </a:moveTo>
                <a:lnTo>
                  <a:pt x="4448830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>
            <a:off x="7496469" y="5132764"/>
            <a:ext cx="2785745" cy="0"/>
          </a:xfrm>
          <a:custGeom>
            <a:avLst/>
            <a:gdLst/>
            <a:ahLst/>
            <a:cxnLst/>
            <a:rect l="l" t="t" r="r" b="b"/>
            <a:pathLst>
              <a:path w="2785745">
                <a:moveTo>
                  <a:pt x="0" y="0"/>
                </a:moveTo>
                <a:lnTo>
                  <a:pt x="2785231" y="0"/>
                </a:lnTo>
              </a:path>
            </a:pathLst>
          </a:custGeom>
          <a:ln w="761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 txBox="1"/>
          <p:nvPr/>
        </p:nvSpPr>
        <p:spPr>
          <a:xfrm>
            <a:off x="5897170" y="4734960"/>
            <a:ext cx="410209" cy="51054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57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8532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49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137154" y="1025016"/>
            <a:ext cx="2162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5" dirty="0">
                <a:solidFill>
                  <a:srgbClr val="595959"/>
                </a:solidFill>
                <a:latin typeface="Arial"/>
                <a:cs typeface="Arial"/>
              </a:rPr>
              <a:t>Now </a:t>
            </a:r>
            <a:r>
              <a:rPr lang="en-US" b="1" spc="-10" dirty="0">
                <a:solidFill>
                  <a:srgbClr val="595959"/>
                </a:solidFill>
                <a:latin typeface="Arial"/>
                <a:cs typeface="Arial"/>
              </a:rPr>
              <a:t>try </a:t>
            </a:r>
            <a:r>
              <a:rPr lang="en-US" b="1" spc="10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lang="en-US" b="1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lang="en-US" dirty="0"/>
          </a:p>
        </p:txBody>
      </p:sp>
      <p:sp>
        <p:nvSpPr>
          <p:cNvPr id="13" name="object 9"/>
          <p:cNvSpPr/>
          <p:nvPr/>
        </p:nvSpPr>
        <p:spPr>
          <a:xfrm>
            <a:off x="5363994" y="3016917"/>
            <a:ext cx="6099036" cy="63054"/>
          </a:xfrm>
          <a:custGeom>
            <a:avLst/>
            <a:gdLst/>
            <a:ahLst/>
            <a:cxnLst/>
            <a:rect l="l" t="t" r="r" b="b"/>
            <a:pathLst>
              <a:path w="5549265" h="59689">
                <a:moveTo>
                  <a:pt x="0" y="59435"/>
                </a:moveTo>
                <a:lnTo>
                  <a:pt x="5549036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680903" y="2979377"/>
            <a:ext cx="226134" cy="217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987727" y="2972386"/>
            <a:ext cx="226211" cy="2174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399469" y="2976329"/>
            <a:ext cx="226134" cy="2173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720887" y="2990733"/>
            <a:ext cx="226085" cy="2173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7348262" y="2969904"/>
            <a:ext cx="226080" cy="2173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655122" y="2962920"/>
            <a:ext cx="226191" cy="2173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8021384" y="2958043"/>
            <a:ext cx="226134" cy="21729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8439517" y="2951684"/>
            <a:ext cx="226148" cy="2173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9171881" y="2941775"/>
            <a:ext cx="226191" cy="2174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9496289" y="2925146"/>
            <a:ext cx="226134" cy="2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753409" y="2917141"/>
            <a:ext cx="226191" cy="2174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10129767" y="2917655"/>
            <a:ext cx="226134" cy="2173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 txBox="1"/>
          <p:nvPr/>
        </p:nvSpPr>
        <p:spPr>
          <a:xfrm>
            <a:off x="5770038" y="4398096"/>
            <a:ext cx="4447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K=3 </a:t>
            </a:r>
            <a:r>
              <a:rPr sz="1800" spc="-15" dirty="0">
                <a:latin typeface="Arial"/>
                <a:cs typeface="Arial"/>
              </a:rPr>
              <a:t>is </a:t>
            </a:r>
            <a:r>
              <a:rPr sz="1800" spc="5" dirty="0">
                <a:latin typeface="Arial"/>
                <a:cs typeface="Arial"/>
              </a:rPr>
              <a:t>still better </a:t>
            </a:r>
            <a:r>
              <a:rPr sz="1800" spc="10" dirty="0">
                <a:latin typeface="Arial"/>
                <a:cs typeface="Arial"/>
              </a:rPr>
              <a:t>then </a:t>
            </a:r>
            <a:r>
              <a:rPr sz="1800" dirty="0">
                <a:latin typeface="Arial"/>
                <a:cs typeface="Arial"/>
              </a:rPr>
              <a:t>K = 2 </a:t>
            </a:r>
            <a:r>
              <a:rPr sz="1800" spc="-55" dirty="0">
                <a:latin typeface="Arial"/>
                <a:cs typeface="Arial"/>
              </a:rPr>
              <a:t>(Total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Variation)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3"/>
          <p:cNvSpPr/>
          <p:nvPr/>
        </p:nvSpPr>
        <p:spPr>
          <a:xfrm>
            <a:off x="6287604" y="5196465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183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6275499" y="2685763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 flipV="1">
            <a:off x="7471686" y="3439117"/>
            <a:ext cx="1203895" cy="45719"/>
          </a:xfrm>
          <a:custGeom>
            <a:avLst/>
            <a:gdLst/>
            <a:ahLst/>
            <a:cxnLst/>
            <a:rect l="l" t="t" r="r" b="b"/>
            <a:pathLst>
              <a:path w="1095375">
                <a:moveTo>
                  <a:pt x="0" y="0"/>
                </a:moveTo>
                <a:lnTo>
                  <a:pt x="1094750" y="0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9729644" y="2611250"/>
            <a:ext cx="45719" cy="1006176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6276417" y="4953018"/>
            <a:ext cx="4449445" cy="0"/>
          </a:xfrm>
          <a:custGeom>
            <a:avLst/>
            <a:gdLst/>
            <a:ahLst/>
            <a:cxnLst/>
            <a:rect l="l" t="t" r="r" b="b"/>
            <a:pathLst>
              <a:path w="4449445">
                <a:moveTo>
                  <a:pt x="0" y="0"/>
                </a:moveTo>
                <a:lnTo>
                  <a:pt x="4448830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7324167" y="5196465"/>
            <a:ext cx="2785745" cy="0"/>
          </a:xfrm>
          <a:custGeom>
            <a:avLst/>
            <a:gdLst/>
            <a:ahLst/>
            <a:cxnLst/>
            <a:rect l="l" t="t" r="r" b="b"/>
            <a:pathLst>
              <a:path w="2785745">
                <a:moveTo>
                  <a:pt x="0" y="0"/>
                </a:moveTo>
                <a:lnTo>
                  <a:pt x="2785231" y="0"/>
                </a:lnTo>
              </a:path>
            </a:pathLst>
          </a:custGeom>
          <a:ln w="761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 flipV="1">
            <a:off x="5776998" y="3439117"/>
            <a:ext cx="1148062" cy="45719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214" y="0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/>
          <p:nvPr/>
        </p:nvSpPr>
        <p:spPr>
          <a:xfrm>
            <a:off x="7993808" y="2611250"/>
            <a:ext cx="45719" cy="1006176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/>
          <p:cNvSpPr/>
          <p:nvPr/>
        </p:nvSpPr>
        <p:spPr>
          <a:xfrm flipV="1">
            <a:off x="9268360" y="3439117"/>
            <a:ext cx="1099208" cy="45719"/>
          </a:xfrm>
          <a:custGeom>
            <a:avLst/>
            <a:gdLst/>
            <a:ahLst/>
            <a:cxnLst/>
            <a:rect l="l" t="t" r="r" b="b"/>
            <a:pathLst>
              <a:path w="1000125">
                <a:moveTo>
                  <a:pt x="0" y="0"/>
                </a:moveTo>
                <a:lnTo>
                  <a:pt x="999865" y="0"/>
                </a:lnTo>
              </a:path>
            </a:pathLst>
          </a:custGeom>
          <a:ln w="380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/>
          <p:cNvSpPr/>
          <p:nvPr/>
        </p:nvSpPr>
        <p:spPr>
          <a:xfrm>
            <a:off x="7320632" y="5453415"/>
            <a:ext cx="1013460" cy="0"/>
          </a:xfrm>
          <a:custGeom>
            <a:avLst/>
            <a:gdLst/>
            <a:ahLst/>
            <a:cxnLst/>
            <a:rect l="l" t="t" r="r" b="b"/>
            <a:pathLst>
              <a:path w="1013460">
                <a:moveTo>
                  <a:pt x="0" y="0"/>
                </a:moveTo>
                <a:lnTo>
                  <a:pt x="1013185" y="0"/>
                </a:lnTo>
              </a:path>
            </a:pathLst>
          </a:custGeom>
          <a:ln w="761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/>
          <p:cNvSpPr/>
          <p:nvPr/>
        </p:nvSpPr>
        <p:spPr>
          <a:xfrm>
            <a:off x="6276417" y="5454116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214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/>
          <p:cNvSpPr/>
          <p:nvPr/>
        </p:nvSpPr>
        <p:spPr>
          <a:xfrm>
            <a:off x="8333817" y="5453415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0" y="0"/>
                </a:moveTo>
                <a:lnTo>
                  <a:pt x="1032631" y="0"/>
                </a:lnTo>
              </a:path>
            </a:pathLst>
          </a:custGeom>
          <a:ln w="761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/>
          <p:cNvSpPr txBox="1"/>
          <p:nvPr/>
        </p:nvSpPr>
        <p:spPr>
          <a:xfrm>
            <a:off x="5732484" y="4798661"/>
            <a:ext cx="410209" cy="75438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57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2066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50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303407" y="457207"/>
            <a:ext cx="21621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pc="-5" dirty="0">
                <a:solidFill>
                  <a:srgbClr val="595959"/>
                </a:solidFill>
                <a:latin typeface="Arial"/>
                <a:cs typeface="Arial"/>
              </a:rPr>
              <a:t>Now </a:t>
            </a:r>
            <a:r>
              <a:rPr lang="en-US" b="1" spc="-10" dirty="0">
                <a:solidFill>
                  <a:srgbClr val="595959"/>
                </a:solidFill>
                <a:latin typeface="Arial"/>
                <a:cs typeface="Arial"/>
              </a:rPr>
              <a:t>try </a:t>
            </a:r>
            <a:r>
              <a:rPr lang="en-US" b="1" spc="10" dirty="0">
                <a:solidFill>
                  <a:srgbClr val="595959"/>
                </a:solidFill>
                <a:latin typeface="Arial"/>
                <a:cs typeface="Arial"/>
              </a:rPr>
              <a:t>with 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lang="en-US" b="1" spc="-12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4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30435" y="1209682"/>
            <a:ext cx="68302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lang="en-US" spc="10" dirty="0" smtClean="0">
                <a:solidFill>
                  <a:srgbClr val="595959"/>
                </a:solidFill>
                <a:latin typeface="Arial"/>
                <a:cs typeface="Arial"/>
              </a:rPr>
              <a:t>Every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time </a:t>
            </a:r>
            <a:r>
              <a:rPr lang="en-US" spc="10" dirty="0" smtClean="0">
                <a:solidFill>
                  <a:srgbClr val="595959"/>
                </a:solidFill>
                <a:latin typeface="Arial"/>
                <a:cs typeface="Arial"/>
              </a:rPr>
              <a:t>you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increase </a:t>
            </a:r>
            <a:r>
              <a:rPr lang="en-US" spc="-10" dirty="0" smtClean="0">
                <a:solidFill>
                  <a:srgbClr val="595959"/>
                </a:solidFill>
                <a:latin typeface="Arial"/>
                <a:cs typeface="Arial"/>
              </a:rPr>
              <a:t>the </a:t>
            </a:r>
            <a:r>
              <a:rPr lang="en-US" spc="10" dirty="0" smtClean="0">
                <a:solidFill>
                  <a:srgbClr val="595959"/>
                </a:solidFill>
                <a:latin typeface="Arial"/>
                <a:cs typeface="Arial"/>
              </a:rPr>
              <a:t>cluster</a:t>
            </a:r>
            <a:r>
              <a:rPr lang="en-US" spc="-254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 smtClean="0">
                <a:solidFill>
                  <a:srgbClr val="595959"/>
                </a:solidFill>
                <a:latin typeface="Arial"/>
                <a:cs typeface="Arial"/>
              </a:rPr>
              <a:t>the variation </a:t>
            </a:r>
            <a:r>
              <a:rPr lang="en-US" spc="25" dirty="0" smtClean="0">
                <a:solidFill>
                  <a:srgbClr val="595959"/>
                </a:solidFill>
                <a:latin typeface="Arial"/>
                <a:cs typeface="Arial"/>
              </a:rPr>
              <a:t>decreases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30436" y="1750047"/>
            <a:ext cx="76615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98450" indent="-286385">
              <a:lnSpc>
                <a:spcPct val="100000"/>
              </a:lnSpc>
              <a:spcBef>
                <a:spcPts val="125"/>
              </a:spcBef>
              <a:buFont typeface="Wingdings"/>
              <a:buChar char=""/>
              <a:tabLst>
                <a:tab pos="298450" algn="l"/>
                <a:tab pos="299085" algn="l"/>
              </a:tabLst>
            </a:pPr>
            <a:r>
              <a:rPr lang="en-US" spc="30" dirty="0" smtClean="0">
                <a:solidFill>
                  <a:srgbClr val="595959"/>
                </a:solidFill>
                <a:latin typeface="Arial"/>
                <a:cs typeface="Arial"/>
              </a:rPr>
              <a:t>If</a:t>
            </a:r>
            <a:r>
              <a:rPr lang="en-US" spc="-11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no.</a:t>
            </a:r>
            <a:r>
              <a:rPr lang="en-US" spc="-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25" dirty="0" smtClean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lang="en-US" spc="-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0" dirty="0" smtClean="0">
                <a:solidFill>
                  <a:srgbClr val="595959"/>
                </a:solidFill>
                <a:latin typeface="Arial"/>
                <a:cs typeface="Arial"/>
              </a:rPr>
              <a:t>clusters</a:t>
            </a:r>
            <a:r>
              <a:rPr lang="en-US" spc="-1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5" dirty="0" smtClean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lang="en-US" spc="-1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no.</a:t>
            </a:r>
            <a:r>
              <a:rPr lang="en-US" spc="-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25" dirty="0" smtClean="0">
                <a:solidFill>
                  <a:srgbClr val="595959"/>
                </a:solidFill>
                <a:latin typeface="Arial"/>
                <a:cs typeface="Arial"/>
              </a:rPr>
              <a:t>of</a:t>
            </a:r>
            <a:r>
              <a:rPr lang="en-US" spc="-3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lang="en-US" spc="-5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5" dirty="0" smtClean="0">
                <a:solidFill>
                  <a:srgbClr val="595959"/>
                </a:solidFill>
                <a:latin typeface="Arial"/>
                <a:cs typeface="Arial"/>
              </a:rPr>
              <a:t>points</a:t>
            </a:r>
            <a:r>
              <a:rPr lang="en-US" spc="-5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595959"/>
                </a:solidFill>
                <a:latin typeface="Arial"/>
                <a:cs typeface="Arial"/>
              </a:rPr>
              <a:t>then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dirty="0" smtClean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lang="en-US" spc="-5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20" dirty="0" smtClean="0">
                <a:solidFill>
                  <a:srgbClr val="595959"/>
                </a:solidFill>
                <a:latin typeface="Arial"/>
                <a:cs typeface="Arial"/>
              </a:rPr>
              <a:t>that</a:t>
            </a:r>
            <a:r>
              <a:rPr lang="en-US" spc="4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case</a:t>
            </a:r>
            <a:r>
              <a:rPr lang="en-US" spc="-5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 smtClean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-10" dirty="0" smtClean="0">
                <a:solidFill>
                  <a:srgbClr val="595959"/>
                </a:solidFill>
                <a:latin typeface="Arial"/>
                <a:cs typeface="Arial"/>
              </a:rPr>
              <a:t>variation</a:t>
            </a:r>
            <a:r>
              <a:rPr lang="en-US" spc="20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5" dirty="0" smtClean="0">
                <a:solidFill>
                  <a:srgbClr val="595959"/>
                </a:solidFill>
                <a:latin typeface="Arial"/>
                <a:cs typeface="Arial"/>
              </a:rPr>
              <a:t>=</a:t>
            </a:r>
            <a:r>
              <a:rPr lang="en-US" spc="-15" dirty="0" smtClean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spc="15" dirty="0" smtClean="0">
                <a:solidFill>
                  <a:srgbClr val="595959"/>
                </a:solidFill>
                <a:latin typeface="Arial"/>
                <a:cs typeface="Arial"/>
              </a:rPr>
              <a:t>0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9"/>
          <p:cNvSpPr/>
          <p:nvPr/>
        </p:nvSpPr>
        <p:spPr>
          <a:xfrm>
            <a:off x="5137994" y="3094077"/>
            <a:ext cx="5549265" cy="59690"/>
          </a:xfrm>
          <a:custGeom>
            <a:avLst/>
            <a:gdLst/>
            <a:ahLst/>
            <a:cxnLst/>
            <a:rect l="l" t="t" r="r" b="b"/>
            <a:pathLst>
              <a:path w="5549265" h="59689">
                <a:moveTo>
                  <a:pt x="0" y="59435"/>
                </a:moveTo>
                <a:lnTo>
                  <a:pt x="5549036" y="0"/>
                </a:lnTo>
              </a:path>
            </a:pathLst>
          </a:custGeom>
          <a:ln w="76199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454903" y="3064769"/>
            <a:ext cx="205750" cy="2057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761728" y="3057780"/>
            <a:ext cx="205820" cy="2058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173469" y="3061721"/>
            <a:ext cx="205750" cy="205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494888" y="3076124"/>
            <a:ext cx="205706" cy="2057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7122262" y="3055294"/>
            <a:ext cx="205701" cy="2057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7429123" y="3048311"/>
            <a:ext cx="205802" cy="20575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7795384" y="3043431"/>
            <a:ext cx="205750" cy="20570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8213517" y="3037075"/>
            <a:ext cx="205763" cy="2057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945882" y="3027169"/>
            <a:ext cx="205802" cy="2058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9270289" y="3010534"/>
            <a:ext cx="205750" cy="20570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527410" y="3002535"/>
            <a:ext cx="205802" cy="2058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9903767" y="3003047"/>
            <a:ext cx="205750" cy="20579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 txBox="1"/>
          <p:nvPr/>
        </p:nvSpPr>
        <p:spPr>
          <a:xfrm>
            <a:off x="5622911" y="4167933"/>
            <a:ext cx="44475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"/>
                <a:cs typeface="Arial"/>
              </a:rPr>
              <a:t>K=4 </a:t>
            </a:r>
            <a:r>
              <a:rPr sz="1800" spc="-15" dirty="0">
                <a:latin typeface="Arial"/>
                <a:cs typeface="Arial"/>
              </a:rPr>
              <a:t>is </a:t>
            </a:r>
            <a:r>
              <a:rPr sz="1800" spc="5" dirty="0">
                <a:latin typeface="Arial"/>
                <a:cs typeface="Arial"/>
              </a:rPr>
              <a:t>still better </a:t>
            </a:r>
            <a:r>
              <a:rPr sz="1800" spc="10" dirty="0">
                <a:latin typeface="Arial"/>
                <a:cs typeface="Arial"/>
              </a:rPr>
              <a:t>then </a:t>
            </a:r>
            <a:r>
              <a:rPr sz="1800" dirty="0">
                <a:latin typeface="Arial"/>
                <a:cs typeface="Arial"/>
              </a:rPr>
              <a:t>K = 3 </a:t>
            </a:r>
            <a:r>
              <a:rPr sz="1800" spc="-55" dirty="0">
                <a:latin typeface="Arial"/>
                <a:cs typeface="Arial"/>
              </a:rPr>
              <a:t>(Total</a:t>
            </a:r>
            <a:r>
              <a:rPr sz="1800" spc="-100" dirty="0">
                <a:latin typeface="Arial"/>
                <a:cs typeface="Arial"/>
              </a:rPr>
              <a:t> </a:t>
            </a:r>
            <a:r>
              <a:rPr sz="1800" spc="-35" dirty="0">
                <a:latin typeface="Arial"/>
                <a:cs typeface="Arial"/>
              </a:rPr>
              <a:t>Variation)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3"/>
          <p:cNvSpPr/>
          <p:nvPr/>
        </p:nvSpPr>
        <p:spPr>
          <a:xfrm>
            <a:off x="6057761" y="4952202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183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6432267" y="2716243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7245686" y="3512914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>
                <a:moveTo>
                  <a:pt x="0" y="0"/>
                </a:moveTo>
                <a:lnTo>
                  <a:pt x="1094750" y="0"/>
                </a:lnTo>
              </a:path>
            </a:pathLst>
          </a:custGeom>
          <a:ln w="380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9503645" y="2738722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6B9E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6046574" y="4708755"/>
            <a:ext cx="4449445" cy="0"/>
          </a:xfrm>
          <a:custGeom>
            <a:avLst/>
            <a:gdLst/>
            <a:ahLst/>
            <a:cxnLst/>
            <a:rect l="l" t="t" r="r" b="b"/>
            <a:pathLst>
              <a:path w="4449445">
                <a:moveTo>
                  <a:pt x="0" y="0"/>
                </a:moveTo>
                <a:lnTo>
                  <a:pt x="4448830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7101944" y="4952202"/>
            <a:ext cx="2785745" cy="0"/>
          </a:xfrm>
          <a:custGeom>
            <a:avLst/>
            <a:gdLst/>
            <a:ahLst/>
            <a:cxnLst/>
            <a:rect l="l" t="t" r="r" b="b"/>
            <a:pathLst>
              <a:path w="2785745">
                <a:moveTo>
                  <a:pt x="0" y="0"/>
                </a:moveTo>
                <a:lnTo>
                  <a:pt x="2785231" y="0"/>
                </a:lnTo>
              </a:path>
            </a:pathLst>
          </a:custGeom>
          <a:ln w="761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>
            <a:off x="5550998" y="3512914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0" y="0"/>
                </a:moveTo>
                <a:lnTo>
                  <a:pt x="331988" y="0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/>
          <p:nvPr/>
        </p:nvSpPr>
        <p:spPr>
          <a:xfrm>
            <a:off x="7767809" y="2738722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/>
          <p:cNvSpPr/>
          <p:nvPr/>
        </p:nvSpPr>
        <p:spPr>
          <a:xfrm>
            <a:off x="9042360" y="3512914"/>
            <a:ext cx="1000125" cy="0"/>
          </a:xfrm>
          <a:custGeom>
            <a:avLst/>
            <a:gdLst/>
            <a:ahLst/>
            <a:cxnLst/>
            <a:rect l="l" t="t" r="r" b="b"/>
            <a:pathLst>
              <a:path w="1000125">
                <a:moveTo>
                  <a:pt x="0" y="0"/>
                </a:moveTo>
                <a:lnTo>
                  <a:pt x="999865" y="0"/>
                </a:lnTo>
              </a:path>
            </a:pathLst>
          </a:custGeom>
          <a:ln w="38099">
            <a:solidFill>
              <a:srgbClr val="6B9E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/>
          <p:cNvSpPr/>
          <p:nvPr/>
        </p:nvSpPr>
        <p:spPr>
          <a:xfrm>
            <a:off x="7090789" y="5209152"/>
            <a:ext cx="1013460" cy="0"/>
          </a:xfrm>
          <a:custGeom>
            <a:avLst/>
            <a:gdLst/>
            <a:ahLst/>
            <a:cxnLst/>
            <a:rect l="l" t="t" r="r" b="b"/>
            <a:pathLst>
              <a:path w="1013460">
                <a:moveTo>
                  <a:pt x="0" y="0"/>
                </a:moveTo>
                <a:lnTo>
                  <a:pt x="1013185" y="0"/>
                </a:lnTo>
              </a:path>
            </a:pathLst>
          </a:custGeom>
          <a:ln w="761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/>
          <p:cNvSpPr/>
          <p:nvPr/>
        </p:nvSpPr>
        <p:spPr>
          <a:xfrm>
            <a:off x="6046574" y="5209853"/>
            <a:ext cx="1044575" cy="0"/>
          </a:xfrm>
          <a:custGeom>
            <a:avLst/>
            <a:gdLst/>
            <a:ahLst/>
            <a:cxnLst/>
            <a:rect l="l" t="t" r="r" b="b"/>
            <a:pathLst>
              <a:path w="1044575">
                <a:moveTo>
                  <a:pt x="0" y="0"/>
                </a:moveTo>
                <a:lnTo>
                  <a:pt x="1044214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/>
          <p:cNvSpPr/>
          <p:nvPr/>
        </p:nvSpPr>
        <p:spPr>
          <a:xfrm>
            <a:off x="8103974" y="5209152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0" y="0"/>
                </a:moveTo>
                <a:lnTo>
                  <a:pt x="1032631" y="0"/>
                </a:lnTo>
              </a:path>
            </a:pathLst>
          </a:custGeom>
          <a:ln w="761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/>
          <p:cNvSpPr/>
          <p:nvPr/>
        </p:nvSpPr>
        <p:spPr>
          <a:xfrm>
            <a:off x="6080377" y="5415642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4">
                <a:moveTo>
                  <a:pt x="0" y="0"/>
                </a:moveTo>
                <a:lnTo>
                  <a:pt x="281177" y="0"/>
                </a:lnTo>
              </a:path>
            </a:pathLst>
          </a:custGeom>
          <a:ln w="761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6"/>
          <p:cNvSpPr/>
          <p:nvPr/>
        </p:nvSpPr>
        <p:spPr>
          <a:xfrm>
            <a:off x="6361555" y="5415642"/>
            <a:ext cx="285750" cy="0"/>
          </a:xfrm>
          <a:custGeom>
            <a:avLst/>
            <a:gdLst/>
            <a:ahLst/>
            <a:cxnLst/>
            <a:rect l="l" t="t" r="r" b="b"/>
            <a:pathLst>
              <a:path w="285750">
                <a:moveTo>
                  <a:pt x="0" y="0"/>
                </a:moveTo>
                <a:lnTo>
                  <a:pt x="285749" y="0"/>
                </a:lnTo>
              </a:path>
            </a:pathLst>
          </a:custGeom>
          <a:ln w="761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7"/>
          <p:cNvSpPr/>
          <p:nvPr/>
        </p:nvSpPr>
        <p:spPr>
          <a:xfrm>
            <a:off x="6647305" y="5416284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0" y="0"/>
                </a:moveTo>
                <a:lnTo>
                  <a:pt x="1032631" y="0"/>
                </a:lnTo>
              </a:path>
            </a:pathLst>
          </a:custGeom>
          <a:ln w="76199">
            <a:solidFill>
              <a:srgbClr val="00AFF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8"/>
          <p:cNvSpPr/>
          <p:nvPr/>
        </p:nvSpPr>
        <p:spPr>
          <a:xfrm>
            <a:off x="7680820" y="5415642"/>
            <a:ext cx="1033144" cy="0"/>
          </a:xfrm>
          <a:custGeom>
            <a:avLst/>
            <a:gdLst/>
            <a:ahLst/>
            <a:cxnLst/>
            <a:rect l="l" t="t" r="r" b="b"/>
            <a:pathLst>
              <a:path w="1033145">
                <a:moveTo>
                  <a:pt x="0" y="0"/>
                </a:moveTo>
                <a:lnTo>
                  <a:pt x="1032631" y="0"/>
                </a:lnTo>
              </a:path>
            </a:pathLst>
          </a:custGeom>
          <a:ln w="76199">
            <a:solidFill>
              <a:srgbClr val="6B9E2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9"/>
          <p:cNvSpPr txBox="1"/>
          <p:nvPr/>
        </p:nvSpPr>
        <p:spPr>
          <a:xfrm>
            <a:off x="5502641" y="4554398"/>
            <a:ext cx="410209" cy="965835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57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K =</a:t>
            </a:r>
            <a:r>
              <a:rPr sz="1200" b="1" spc="-9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595959"/>
                </a:solidFill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44" name="object 42"/>
          <p:cNvSpPr/>
          <p:nvPr/>
        </p:nvSpPr>
        <p:spPr>
          <a:xfrm>
            <a:off x="5719796" y="2738722"/>
            <a:ext cx="0" cy="952500"/>
          </a:xfrm>
          <a:custGeom>
            <a:avLst/>
            <a:gdLst/>
            <a:ahLst/>
            <a:cxnLst/>
            <a:rect l="l" t="t" r="r" b="b"/>
            <a:pathLst>
              <a:path h="952500">
                <a:moveTo>
                  <a:pt x="0" y="0"/>
                </a:moveTo>
                <a:lnTo>
                  <a:pt x="0" y="952499"/>
                </a:lnTo>
              </a:path>
            </a:pathLst>
          </a:custGeom>
          <a:ln w="38099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3"/>
          <p:cNvSpPr/>
          <p:nvPr/>
        </p:nvSpPr>
        <p:spPr>
          <a:xfrm>
            <a:off x="6266272" y="3512914"/>
            <a:ext cx="332105" cy="0"/>
          </a:xfrm>
          <a:custGeom>
            <a:avLst/>
            <a:gdLst/>
            <a:ahLst/>
            <a:cxnLst/>
            <a:rect l="l" t="t" r="r" b="b"/>
            <a:pathLst>
              <a:path w="332104">
                <a:moveTo>
                  <a:pt x="0" y="0"/>
                </a:moveTo>
                <a:lnTo>
                  <a:pt x="331988" y="0"/>
                </a:lnTo>
              </a:path>
            </a:pathLst>
          </a:custGeom>
          <a:ln w="38099">
            <a:solidFill>
              <a:srgbClr val="5F477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80623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51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7109719" y="457207"/>
            <a:ext cx="9374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20" dirty="0">
                <a:solidFill>
                  <a:srgbClr val="595959"/>
                </a:solidFill>
                <a:latin typeface="Arial"/>
                <a:cs typeface="Arial"/>
              </a:rPr>
              <a:t>Fin</a:t>
            </a:r>
            <a:r>
              <a:rPr lang="en-US" b="1" spc="-3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lang="en-US" b="1" spc="20" dirty="0">
                <a:solidFill>
                  <a:srgbClr val="595959"/>
                </a:solidFill>
                <a:latin typeface="Arial"/>
                <a:cs typeface="Arial"/>
              </a:rPr>
              <a:t>ll</a:t>
            </a:r>
            <a:r>
              <a:rPr lang="en-US" b="1" dirty="0">
                <a:solidFill>
                  <a:srgbClr val="595959"/>
                </a:solidFill>
                <a:latin typeface="Arial"/>
                <a:cs typeface="Arial"/>
              </a:rPr>
              <a:t>y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6"/>
          <p:cNvSpPr/>
          <p:nvPr/>
        </p:nvSpPr>
        <p:spPr>
          <a:xfrm>
            <a:off x="5169661" y="2037521"/>
            <a:ext cx="4861030" cy="29639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542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52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70218" y="54225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Now</a:t>
            </a:r>
            <a:r>
              <a:rPr lang="en-US" b="1" spc="-1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what</a:t>
            </a:r>
            <a:r>
              <a:rPr lang="en-US" b="1" spc="-8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if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30" dirty="0" smtClean="0">
                <a:solidFill>
                  <a:srgbClr val="5F4778"/>
                </a:solidFill>
                <a:latin typeface="Arial"/>
                <a:cs typeface="Arial"/>
              </a:rPr>
              <a:t>we</a:t>
            </a:r>
            <a:r>
              <a:rPr lang="en-US" b="1" spc="-8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have</a:t>
            </a:r>
            <a:r>
              <a:rPr lang="en-US" b="1" spc="-8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our</a:t>
            </a:r>
            <a:r>
              <a:rPr lang="en-US" b="1" spc="-1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data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plotted</a:t>
            </a:r>
            <a:r>
              <a:rPr lang="en-US" b="1" spc="-7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on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 the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X 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and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Y</a:t>
            </a:r>
            <a:r>
              <a:rPr lang="en-US" b="1" spc="-9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axis</a:t>
            </a:r>
            <a:endParaRPr lang="en-US" dirty="0"/>
          </a:p>
        </p:txBody>
      </p:sp>
      <p:sp>
        <p:nvSpPr>
          <p:cNvPr id="13" name="object 9"/>
          <p:cNvSpPr/>
          <p:nvPr/>
        </p:nvSpPr>
        <p:spPr>
          <a:xfrm>
            <a:off x="5588402" y="1991090"/>
            <a:ext cx="114300" cy="3397250"/>
          </a:xfrm>
          <a:custGeom>
            <a:avLst/>
            <a:gdLst/>
            <a:ahLst/>
            <a:cxnLst/>
            <a:rect l="l" t="t" r="r" b="b"/>
            <a:pathLst>
              <a:path w="114300" h="3397250">
                <a:moveTo>
                  <a:pt x="85709" y="85725"/>
                </a:moveTo>
                <a:lnTo>
                  <a:pt x="28559" y="85725"/>
                </a:lnTo>
                <a:lnTo>
                  <a:pt x="28559" y="3397163"/>
                </a:lnTo>
                <a:lnTo>
                  <a:pt x="85709" y="3397163"/>
                </a:lnTo>
                <a:lnTo>
                  <a:pt x="85709" y="85725"/>
                </a:lnTo>
                <a:close/>
              </a:path>
              <a:path w="114300" h="3397250">
                <a:moveTo>
                  <a:pt x="57150" y="0"/>
                </a:moveTo>
                <a:lnTo>
                  <a:pt x="0" y="114300"/>
                </a:lnTo>
                <a:lnTo>
                  <a:pt x="28559" y="114300"/>
                </a:lnTo>
                <a:lnTo>
                  <a:pt x="28559" y="85725"/>
                </a:lnTo>
                <a:lnTo>
                  <a:pt x="100012" y="85725"/>
                </a:lnTo>
                <a:lnTo>
                  <a:pt x="57150" y="0"/>
                </a:lnTo>
                <a:close/>
              </a:path>
              <a:path w="114300" h="3397250">
                <a:moveTo>
                  <a:pt x="100012" y="85725"/>
                </a:moveTo>
                <a:lnTo>
                  <a:pt x="85709" y="85725"/>
                </a:lnTo>
                <a:lnTo>
                  <a:pt x="85709" y="114300"/>
                </a:lnTo>
                <a:lnTo>
                  <a:pt x="114300" y="114300"/>
                </a:lnTo>
                <a:lnTo>
                  <a:pt x="100012" y="857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5621412" y="5331104"/>
            <a:ext cx="4486275" cy="114300"/>
          </a:xfrm>
          <a:custGeom>
            <a:avLst/>
            <a:gdLst/>
            <a:ahLst/>
            <a:cxnLst/>
            <a:rect l="l" t="t" r="r" b="b"/>
            <a:pathLst>
              <a:path w="4486275" h="114300">
                <a:moveTo>
                  <a:pt x="4371472" y="0"/>
                </a:moveTo>
                <a:lnTo>
                  <a:pt x="4371472" y="114300"/>
                </a:lnTo>
                <a:lnTo>
                  <a:pt x="4428622" y="85725"/>
                </a:lnTo>
                <a:lnTo>
                  <a:pt x="4400031" y="85725"/>
                </a:lnTo>
                <a:lnTo>
                  <a:pt x="4400031" y="28575"/>
                </a:lnTo>
                <a:lnTo>
                  <a:pt x="4428622" y="28575"/>
                </a:lnTo>
                <a:lnTo>
                  <a:pt x="4371472" y="0"/>
                </a:lnTo>
                <a:close/>
              </a:path>
              <a:path w="4486275" h="114300">
                <a:moveTo>
                  <a:pt x="4371472" y="28575"/>
                </a:moveTo>
                <a:lnTo>
                  <a:pt x="0" y="28575"/>
                </a:lnTo>
                <a:lnTo>
                  <a:pt x="0" y="85725"/>
                </a:lnTo>
                <a:lnTo>
                  <a:pt x="4371472" y="85725"/>
                </a:lnTo>
                <a:lnTo>
                  <a:pt x="4371472" y="28575"/>
                </a:lnTo>
                <a:close/>
              </a:path>
              <a:path w="4486275" h="114300">
                <a:moveTo>
                  <a:pt x="4428622" y="28575"/>
                </a:moveTo>
                <a:lnTo>
                  <a:pt x="4400031" y="28575"/>
                </a:lnTo>
                <a:lnTo>
                  <a:pt x="4400031" y="85725"/>
                </a:lnTo>
                <a:lnTo>
                  <a:pt x="4428622" y="85725"/>
                </a:lnTo>
                <a:lnTo>
                  <a:pt x="4485772" y="57150"/>
                </a:lnTo>
                <a:lnTo>
                  <a:pt x="4428622" y="285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6040755" y="2606542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040755" y="260654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23" y="219613"/>
                </a:lnTo>
                <a:lnTo>
                  <a:pt x="33489" y="195110"/>
                </a:lnTo>
                <a:lnTo>
                  <a:pt x="8986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5825110" y="2210028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5825109" y="22100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6719972" y="2652384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6719972" y="26523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8491104" y="2019803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8491104" y="201980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8177282" y="2324328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8177282" y="23243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8624698" y="2552928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8624697" y="255292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/>
          <p:nvPr/>
        </p:nvSpPr>
        <p:spPr>
          <a:xfrm>
            <a:off x="8262504" y="2880984"/>
            <a:ext cx="228600" cy="228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8262504" y="288098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0"/>
                </a:moveTo>
                <a:lnTo>
                  <a:pt x="8982" y="69806"/>
                </a:lnTo>
                <a:lnTo>
                  <a:pt x="33478" y="33477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7"/>
                </a:lnTo>
                <a:lnTo>
                  <a:pt x="219617" y="69806"/>
                </a:lnTo>
                <a:lnTo>
                  <a:pt x="228599" y="114290"/>
                </a:lnTo>
                <a:lnTo>
                  <a:pt x="219617" y="158781"/>
                </a:lnTo>
                <a:lnTo>
                  <a:pt x="195121" y="195113"/>
                </a:lnTo>
                <a:lnTo>
                  <a:pt x="158789" y="219608"/>
                </a:lnTo>
                <a:lnTo>
                  <a:pt x="114299" y="228590"/>
                </a:lnTo>
                <a:lnTo>
                  <a:pt x="69810" y="219608"/>
                </a:lnTo>
                <a:lnTo>
                  <a:pt x="33478" y="195113"/>
                </a:lnTo>
                <a:lnTo>
                  <a:pt x="8982" y="158781"/>
                </a:lnTo>
                <a:lnTo>
                  <a:pt x="0" y="11429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9124722" y="2457191"/>
            <a:ext cx="228600" cy="228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9124721" y="245719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841" y="8982"/>
                </a:lnTo>
                <a:lnTo>
                  <a:pt x="195167" y="33478"/>
                </a:lnTo>
                <a:lnTo>
                  <a:pt x="219634" y="69810"/>
                </a:lnTo>
                <a:lnTo>
                  <a:pt x="228599" y="114299"/>
                </a:lnTo>
                <a:lnTo>
                  <a:pt x="219634" y="158776"/>
                </a:lnTo>
                <a:lnTo>
                  <a:pt x="195167" y="195110"/>
                </a:lnTo>
                <a:lnTo>
                  <a:pt x="158841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8879480" y="3046329"/>
            <a:ext cx="2286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8879480" y="30463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91"/>
                </a:lnTo>
                <a:lnTo>
                  <a:pt x="195121" y="195122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2"/>
                </a:lnTo>
                <a:lnTo>
                  <a:pt x="8982" y="158791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>
            <a:off x="7348104" y="4217274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/>
          <p:nvPr/>
        </p:nvSpPr>
        <p:spPr>
          <a:xfrm>
            <a:off x="7348104" y="421727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10" y="219616"/>
                </a:lnTo>
                <a:lnTo>
                  <a:pt x="33478" y="195118"/>
                </a:lnTo>
                <a:lnTo>
                  <a:pt x="8982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/>
          <p:cNvSpPr/>
          <p:nvPr/>
        </p:nvSpPr>
        <p:spPr>
          <a:xfrm>
            <a:off x="7212468" y="4634087"/>
            <a:ext cx="228600" cy="2285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/>
          <p:cNvSpPr/>
          <p:nvPr/>
        </p:nvSpPr>
        <p:spPr>
          <a:xfrm>
            <a:off x="7212467" y="46340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51"/>
                </a:moveTo>
                <a:lnTo>
                  <a:pt x="8982" y="69793"/>
                </a:lnTo>
                <a:lnTo>
                  <a:pt x="33478" y="33475"/>
                </a:lnTo>
                <a:lnTo>
                  <a:pt x="69810" y="8983"/>
                </a:lnTo>
                <a:lnTo>
                  <a:pt x="114299" y="0"/>
                </a:lnTo>
                <a:lnTo>
                  <a:pt x="158841" y="8983"/>
                </a:lnTo>
                <a:lnTo>
                  <a:pt x="195167" y="33475"/>
                </a:lnTo>
                <a:lnTo>
                  <a:pt x="219634" y="69793"/>
                </a:lnTo>
                <a:lnTo>
                  <a:pt x="228599" y="114251"/>
                </a:lnTo>
                <a:lnTo>
                  <a:pt x="219634" y="158742"/>
                </a:lnTo>
                <a:lnTo>
                  <a:pt x="195167" y="195073"/>
                </a:lnTo>
                <a:lnTo>
                  <a:pt x="158841" y="219569"/>
                </a:lnTo>
                <a:lnTo>
                  <a:pt x="114299" y="228551"/>
                </a:lnTo>
                <a:lnTo>
                  <a:pt x="69810" y="219569"/>
                </a:lnTo>
                <a:lnTo>
                  <a:pt x="33478" y="195073"/>
                </a:lnTo>
                <a:lnTo>
                  <a:pt x="8982" y="158742"/>
                </a:lnTo>
                <a:lnTo>
                  <a:pt x="0" y="11425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/>
          <p:cNvSpPr/>
          <p:nvPr/>
        </p:nvSpPr>
        <p:spPr>
          <a:xfrm>
            <a:off x="7821184" y="4152123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/>
          <p:cNvSpPr/>
          <p:nvPr/>
        </p:nvSpPr>
        <p:spPr>
          <a:xfrm>
            <a:off x="7821184" y="41521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10" y="219616"/>
                </a:lnTo>
                <a:lnTo>
                  <a:pt x="33478" y="195118"/>
                </a:lnTo>
                <a:lnTo>
                  <a:pt x="8982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/>
          <p:cNvSpPr/>
          <p:nvPr/>
        </p:nvSpPr>
        <p:spPr>
          <a:xfrm>
            <a:off x="7756170" y="4634087"/>
            <a:ext cx="228600" cy="2285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6"/>
          <p:cNvSpPr/>
          <p:nvPr/>
        </p:nvSpPr>
        <p:spPr>
          <a:xfrm>
            <a:off x="7756170" y="46340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51"/>
                </a:moveTo>
                <a:lnTo>
                  <a:pt x="8965" y="69793"/>
                </a:lnTo>
                <a:lnTo>
                  <a:pt x="33432" y="33475"/>
                </a:lnTo>
                <a:lnTo>
                  <a:pt x="69758" y="8983"/>
                </a:lnTo>
                <a:lnTo>
                  <a:pt x="114299" y="0"/>
                </a:lnTo>
                <a:lnTo>
                  <a:pt x="158776" y="8983"/>
                </a:lnTo>
                <a:lnTo>
                  <a:pt x="195110" y="33475"/>
                </a:lnTo>
                <a:lnTo>
                  <a:pt x="219613" y="69793"/>
                </a:lnTo>
                <a:lnTo>
                  <a:pt x="228599" y="114251"/>
                </a:lnTo>
                <a:lnTo>
                  <a:pt x="219613" y="158742"/>
                </a:lnTo>
                <a:lnTo>
                  <a:pt x="195110" y="195073"/>
                </a:lnTo>
                <a:lnTo>
                  <a:pt x="158776" y="219569"/>
                </a:lnTo>
                <a:lnTo>
                  <a:pt x="114299" y="228551"/>
                </a:lnTo>
                <a:lnTo>
                  <a:pt x="69758" y="219569"/>
                </a:lnTo>
                <a:lnTo>
                  <a:pt x="33432" y="195073"/>
                </a:lnTo>
                <a:lnTo>
                  <a:pt x="8965" y="158742"/>
                </a:lnTo>
                <a:lnTo>
                  <a:pt x="0" y="11425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7"/>
          <p:cNvSpPr/>
          <p:nvPr/>
        </p:nvSpPr>
        <p:spPr>
          <a:xfrm>
            <a:off x="8137017" y="4415774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8"/>
          <p:cNvSpPr/>
          <p:nvPr/>
        </p:nvSpPr>
        <p:spPr>
          <a:xfrm>
            <a:off x="8137017" y="4415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4"/>
                </a:lnTo>
                <a:lnTo>
                  <a:pt x="33489" y="33481"/>
                </a:lnTo>
                <a:lnTo>
                  <a:pt x="69823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23" y="219616"/>
                </a:lnTo>
                <a:lnTo>
                  <a:pt x="33489" y="195118"/>
                </a:lnTo>
                <a:lnTo>
                  <a:pt x="8986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9"/>
          <p:cNvSpPr/>
          <p:nvPr/>
        </p:nvSpPr>
        <p:spPr>
          <a:xfrm>
            <a:off x="6285358" y="2037694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0"/>
          <p:cNvSpPr txBox="1"/>
          <p:nvPr/>
        </p:nvSpPr>
        <p:spPr>
          <a:xfrm>
            <a:off x="4973841" y="3179745"/>
            <a:ext cx="5695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Y-A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5" name="object 42"/>
          <p:cNvSpPr txBox="1"/>
          <p:nvPr/>
        </p:nvSpPr>
        <p:spPr>
          <a:xfrm>
            <a:off x="7414783" y="5536370"/>
            <a:ext cx="569595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X-A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22728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53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13" name="object 9"/>
          <p:cNvSpPr txBox="1"/>
          <p:nvPr/>
        </p:nvSpPr>
        <p:spPr>
          <a:xfrm>
            <a:off x="4746662" y="612799"/>
            <a:ext cx="3140710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5" dirty="0">
                <a:solidFill>
                  <a:srgbClr val="5F4778"/>
                </a:solidFill>
                <a:latin typeface="Arial"/>
                <a:cs typeface="Arial"/>
              </a:rPr>
              <a:t>Similarly,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pick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initial </a:t>
            </a:r>
            <a:r>
              <a:rPr sz="1350" b="1" dirty="0">
                <a:solidFill>
                  <a:srgbClr val="5F4778"/>
                </a:solidFill>
                <a:latin typeface="Arial"/>
                <a:cs typeface="Arial"/>
              </a:rPr>
              <a:t>3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random</a:t>
            </a:r>
            <a:r>
              <a:rPr sz="1350" b="1" spc="-175" dirty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sz="1350" b="1" spc="-5" dirty="0">
                <a:solidFill>
                  <a:srgbClr val="5F4778"/>
                </a:solidFill>
                <a:latin typeface="Arial"/>
                <a:cs typeface="Arial"/>
              </a:rPr>
              <a:t>points..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0"/>
          <p:cNvSpPr/>
          <p:nvPr/>
        </p:nvSpPr>
        <p:spPr>
          <a:xfrm>
            <a:off x="5622576" y="1934713"/>
            <a:ext cx="114300" cy="3397250"/>
          </a:xfrm>
          <a:custGeom>
            <a:avLst/>
            <a:gdLst/>
            <a:ahLst/>
            <a:cxnLst/>
            <a:rect l="l" t="t" r="r" b="b"/>
            <a:pathLst>
              <a:path w="114300" h="3397250">
                <a:moveTo>
                  <a:pt x="85709" y="85725"/>
                </a:moveTo>
                <a:lnTo>
                  <a:pt x="28559" y="85725"/>
                </a:lnTo>
                <a:lnTo>
                  <a:pt x="28559" y="3397163"/>
                </a:lnTo>
                <a:lnTo>
                  <a:pt x="85709" y="3397163"/>
                </a:lnTo>
                <a:lnTo>
                  <a:pt x="85709" y="85725"/>
                </a:lnTo>
                <a:close/>
              </a:path>
              <a:path w="114300" h="3397250">
                <a:moveTo>
                  <a:pt x="57150" y="0"/>
                </a:moveTo>
                <a:lnTo>
                  <a:pt x="0" y="114300"/>
                </a:lnTo>
                <a:lnTo>
                  <a:pt x="28559" y="114300"/>
                </a:lnTo>
                <a:lnTo>
                  <a:pt x="28559" y="85725"/>
                </a:lnTo>
                <a:lnTo>
                  <a:pt x="100012" y="85725"/>
                </a:lnTo>
                <a:lnTo>
                  <a:pt x="57150" y="0"/>
                </a:lnTo>
                <a:close/>
              </a:path>
              <a:path w="114300" h="3397250">
                <a:moveTo>
                  <a:pt x="100012" y="85725"/>
                </a:moveTo>
                <a:lnTo>
                  <a:pt x="85709" y="85725"/>
                </a:lnTo>
                <a:lnTo>
                  <a:pt x="85709" y="114300"/>
                </a:lnTo>
                <a:lnTo>
                  <a:pt x="114300" y="114300"/>
                </a:lnTo>
                <a:lnTo>
                  <a:pt x="100012" y="857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/>
          <p:nvPr/>
        </p:nvSpPr>
        <p:spPr>
          <a:xfrm>
            <a:off x="5644552" y="5274727"/>
            <a:ext cx="4485640" cy="114300"/>
          </a:xfrm>
          <a:custGeom>
            <a:avLst/>
            <a:gdLst/>
            <a:ahLst/>
            <a:cxnLst/>
            <a:rect l="l" t="t" r="r" b="b"/>
            <a:pathLst>
              <a:path w="4485640" h="114300">
                <a:moveTo>
                  <a:pt x="4371319" y="0"/>
                </a:moveTo>
                <a:lnTo>
                  <a:pt x="4371319" y="114300"/>
                </a:lnTo>
                <a:lnTo>
                  <a:pt x="4428469" y="85725"/>
                </a:lnTo>
                <a:lnTo>
                  <a:pt x="4399910" y="85725"/>
                </a:lnTo>
                <a:lnTo>
                  <a:pt x="4399910" y="28575"/>
                </a:lnTo>
                <a:lnTo>
                  <a:pt x="4428469" y="28575"/>
                </a:lnTo>
                <a:lnTo>
                  <a:pt x="4371319" y="0"/>
                </a:lnTo>
                <a:close/>
              </a:path>
              <a:path w="4485640" h="114300">
                <a:moveTo>
                  <a:pt x="4371319" y="28575"/>
                </a:moveTo>
                <a:lnTo>
                  <a:pt x="0" y="28575"/>
                </a:lnTo>
                <a:lnTo>
                  <a:pt x="0" y="85725"/>
                </a:lnTo>
                <a:lnTo>
                  <a:pt x="4371319" y="85725"/>
                </a:lnTo>
                <a:lnTo>
                  <a:pt x="4371319" y="28575"/>
                </a:lnTo>
                <a:close/>
              </a:path>
              <a:path w="4485640" h="114300">
                <a:moveTo>
                  <a:pt x="4428469" y="28575"/>
                </a:moveTo>
                <a:lnTo>
                  <a:pt x="4399910" y="28575"/>
                </a:lnTo>
                <a:lnTo>
                  <a:pt x="4399910" y="85725"/>
                </a:lnTo>
                <a:lnTo>
                  <a:pt x="4428469" y="85725"/>
                </a:lnTo>
                <a:lnTo>
                  <a:pt x="4485619" y="57150"/>
                </a:lnTo>
                <a:lnTo>
                  <a:pt x="4428469" y="285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2"/>
          <p:cNvSpPr/>
          <p:nvPr/>
        </p:nvSpPr>
        <p:spPr>
          <a:xfrm>
            <a:off x="6319532" y="1981317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074929" y="2550165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6074929" y="255016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23" y="219613"/>
                </a:lnTo>
                <a:lnTo>
                  <a:pt x="33489" y="195110"/>
                </a:lnTo>
                <a:lnTo>
                  <a:pt x="8986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5859284" y="2153651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5859283" y="21536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6754146" y="2596007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6754146" y="259600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8525278" y="1963426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8525278" y="196342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8211456" y="2267951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8211456" y="22679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/>
          <p:nvPr/>
        </p:nvSpPr>
        <p:spPr>
          <a:xfrm>
            <a:off x="8658872" y="2496551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8658871" y="249655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8296678" y="2824607"/>
            <a:ext cx="228600" cy="228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8296678" y="282460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0"/>
                </a:moveTo>
                <a:lnTo>
                  <a:pt x="8982" y="69806"/>
                </a:lnTo>
                <a:lnTo>
                  <a:pt x="33478" y="33477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7"/>
                </a:lnTo>
                <a:lnTo>
                  <a:pt x="219617" y="69806"/>
                </a:lnTo>
                <a:lnTo>
                  <a:pt x="228599" y="114290"/>
                </a:lnTo>
                <a:lnTo>
                  <a:pt x="219617" y="158781"/>
                </a:lnTo>
                <a:lnTo>
                  <a:pt x="195121" y="195113"/>
                </a:lnTo>
                <a:lnTo>
                  <a:pt x="158789" y="219608"/>
                </a:lnTo>
                <a:lnTo>
                  <a:pt x="114299" y="228590"/>
                </a:lnTo>
                <a:lnTo>
                  <a:pt x="69810" y="219608"/>
                </a:lnTo>
                <a:lnTo>
                  <a:pt x="33478" y="195113"/>
                </a:lnTo>
                <a:lnTo>
                  <a:pt x="8982" y="158781"/>
                </a:lnTo>
                <a:lnTo>
                  <a:pt x="0" y="11429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9158896" y="2400814"/>
            <a:ext cx="228600" cy="228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9158895" y="240081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841" y="8982"/>
                </a:lnTo>
                <a:lnTo>
                  <a:pt x="195167" y="33478"/>
                </a:lnTo>
                <a:lnTo>
                  <a:pt x="219634" y="69810"/>
                </a:lnTo>
                <a:lnTo>
                  <a:pt x="228599" y="114299"/>
                </a:lnTo>
                <a:lnTo>
                  <a:pt x="219634" y="158776"/>
                </a:lnTo>
                <a:lnTo>
                  <a:pt x="195167" y="195110"/>
                </a:lnTo>
                <a:lnTo>
                  <a:pt x="158841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>
            <a:off x="8913654" y="2989952"/>
            <a:ext cx="2286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/>
          <p:nvPr/>
        </p:nvSpPr>
        <p:spPr>
          <a:xfrm>
            <a:off x="8913654" y="29899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91"/>
                </a:lnTo>
                <a:lnTo>
                  <a:pt x="195121" y="195122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2"/>
                </a:lnTo>
                <a:lnTo>
                  <a:pt x="8982" y="158791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/>
          <p:cNvSpPr/>
          <p:nvPr/>
        </p:nvSpPr>
        <p:spPr>
          <a:xfrm>
            <a:off x="7382278" y="4160897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/>
          <p:cNvSpPr/>
          <p:nvPr/>
        </p:nvSpPr>
        <p:spPr>
          <a:xfrm>
            <a:off x="7246642" y="4577710"/>
            <a:ext cx="228600" cy="22855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/>
          <p:cNvSpPr/>
          <p:nvPr/>
        </p:nvSpPr>
        <p:spPr>
          <a:xfrm>
            <a:off x="7246641" y="457771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51"/>
                </a:moveTo>
                <a:lnTo>
                  <a:pt x="8982" y="69793"/>
                </a:lnTo>
                <a:lnTo>
                  <a:pt x="33478" y="33475"/>
                </a:lnTo>
                <a:lnTo>
                  <a:pt x="69810" y="8983"/>
                </a:lnTo>
                <a:lnTo>
                  <a:pt x="114299" y="0"/>
                </a:lnTo>
                <a:lnTo>
                  <a:pt x="158841" y="8983"/>
                </a:lnTo>
                <a:lnTo>
                  <a:pt x="195167" y="33475"/>
                </a:lnTo>
                <a:lnTo>
                  <a:pt x="219634" y="69793"/>
                </a:lnTo>
                <a:lnTo>
                  <a:pt x="228599" y="114251"/>
                </a:lnTo>
                <a:lnTo>
                  <a:pt x="219634" y="158742"/>
                </a:lnTo>
                <a:lnTo>
                  <a:pt x="195167" y="195073"/>
                </a:lnTo>
                <a:lnTo>
                  <a:pt x="158841" y="219569"/>
                </a:lnTo>
                <a:lnTo>
                  <a:pt x="114299" y="228551"/>
                </a:lnTo>
                <a:lnTo>
                  <a:pt x="69810" y="219569"/>
                </a:lnTo>
                <a:lnTo>
                  <a:pt x="33478" y="195073"/>
                </a:lnTo>
                <a:lnTo>
                  <a:pt x="8982" y="158742"/>
                </a:lnTo>
                <a:lnTo>
                  <a:pt x="0" y="11425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/>
          <p:cNvSpPr/>
          <p:nvPr/>
        </p:nvSpPr>
        <p:spPr>
          <a:xfrm>
            <a:off x="7855358" y="4095746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/>
          <p:cNvSpPr/>
          <p:nvPr/>
        </p:nvSpPr>
        <p:spPr>
          <a:xfrm>
            <a:off x="7855358" y="409574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10" y="219616"/>
                </a:lnTo>
                <a:lnTo>
                  <a:pt x="33478" y="195118"/>
                </a:lnTo>
                <a:lnTo>
                  <a:pt x="8982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6"/>
          <p:cNvSpPr/>
          <p:nvPr/>
        </p:nvSpPr>
        <p:spPr>
          <a:xfrm>
            <a:off x="7790344" y="4577710"/>
            <a:ext cx="228600" cy="22855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7"/>
          <p:cNvSpPr/>
          <p:nvPr/>
        </p:nvSpPr>
        <p:spPr>
          <a:xfrm>
            <a:off x="8171191" y="4359397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8"/>
          <p:cNvSpPr txBox="1"/>
          <p:nvPr/>
        </p:nvSpPr>
        <p:spPr>
          <a:xfrm>
            <a:off x="5008015" y="3123368"/>
            <a:ext cx="5695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Y-A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43" name="object 40"/>
          <p:cNvSpPr txBox="1"/>
          <p:nvPr/>
        </p:nvSpPr>
        <p:spPr>
          <a:xfrm>
            <a:off x="7448957" y="5479993"/>
            <a:ext cx="569595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X-A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53575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54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22618" y="457207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We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will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be using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Euclidean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distance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(in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2D</a:t>
            </a:r>
            <a:r>
              <a:rPr lang="en-US" b="1" spc="-21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its 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same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as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that of a </a:t>
            </a:r>
            <a:r>
              <a:rPr lang="en-US" b="1" spc="10" dirty="0" smtClean="0">
                <a:solidFill>
                  <a:srgbClr val="5F4778"/>
                </a:solidFill>
                <a:latin typeface="Arial"/>
                <a:cs typeface="Arial"/>
              </a:rPr>
              <a:t>Pythagorean</a:t>
            </a:r>
            <a:r>
              <a:rPr lang="en-US" b="1" spc="-30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25" dirty="0" smtClean="0">
                <a:solidFill>
                  <a:srgbClr val="5F4778"/>
                </a:solidFill>
                <a:latin typeface="Arial"/>
                <a:cs typeface="Arial"/>
              </a:rPr>
              <a:t>Theorem)</a:t>
            </a:r>
            <a:endParaRPr lang="en-US" dirty="0"/>
          </a:p>
        </p:txBody>
      </p:sp>
      <p:sp>
        <p:nvSpPr>
          <p:cNvPr id="13" name="object 9"/>
          <p:cNvSpPr/>
          <p:nvPr/>
        </p:nvSpPr>
        <p:spPr>
          <a:xfrm>
            <a:off x="6184148" y="1852435"/>
            <a:ext cx="114300" cy="3397250"/>
          </a:xfrm>
          <a:custGeom>
            <a:avLst/>
            <a:gdLst/>
            <a:ahLst/>
            <a:cxnLst/>
            <a:rect l="l" t="t" r="r" b="b"/>
            <a:pathLst>
              <a:path w="114300" h="3397250">
                <a:moveTo>
                  <a:pt x="85709" y="85725"/>
                </a:moveTo>
                <a:lnTo>
                  <a:pt x="28559" y="85725"/>
                </a:lnTo>
                <a:lnTo>
                  <a:pt x="28559" y="3397163"/>
                </a:lnTo>
                <a:lnTo>
                  <a:pt x="85709" y="3397163"/>
                </a:lnTo>
                <a:lnTo>
                  <a:pt x="85709" y="85725"/>
                </a:lnTo>
                <a:close/>
              </a:path>
              <a:path w="114300" h="3397250">
                <a:moveTo>
                  <a:pt x="57150" y="0"/>
                </a:moveTo>
                <a:lnTo>
                  <a:pt x="0" y="114300"/>
                </a:lnTo>
                <a:lnTo>
                  <a:pt x="28559" y="114300"/>
                </a:lnTo>
                <a:lnTo>
                  <a:pt x="28559" y="85725"/>
                </a:lnTo>
                <a:lnTo>
                  <a:pt x="100012" y="85725"/>
                </a:lnTo>
                <a:lnTo>
                  <a:pt x="57150" y="0"/>
                </a:lnTo>
                <a:close/>
              </a:path>
              <a:path w="114300" h="3397250">
                <a:moveTo>
                  <a:pt x="100012" y="85725"/>
                </a:moveTo>
                <a:lnTo>
                  <a:pt x="85709" y="85725"/>
                </a:lnTo>
                <a:lnTo>
                  <a:pt x="85709" y="114300"/>
                </a:lnTo>
                <a:lnTo>
                  <a:pt x="114300" y="114300"/>
                </a:lnTo>
                <a:lnTo>
                  <a:pt x="100012" y="857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0"/>
          <p:cNvSpPr/>
          <p:nvPr/>
        </p:nvSpPr>
        <p:spPr>
          <a:xfrm>
            <a:off x="6206124" y="5192449"/>
            <a:ext cx="4485640" cy="114300"/>
          </a:xfrm>
          <a:custGeom>
            <a:avLst/>
            <a:gdLst/>
            <a:ahLst/>
            <a:cxnLst/>
            <a:rect l="l" t="t" r="r" b="b"/>
            <a:pathLst>
              <a:path w="4485640" h="114300">
                <a:moveTo>
                  <a:pt x="4371319" y="0"/>
                </a:moveTo>
                <a:lnTo>
                  <a:pt x="4371319" y="114300"/>
                </a:lnTo>
                <a:lnTo>
                  <a:pt x="4428469" y="85725"/>
                </a:lnTo>
                <a:lnTo>
                  <a:pt x="4399910" y="85725"/>
                </a:lnTo>
                <a:lnTo>
                  <a:pt x="4399910" y="28575"/>
                </a:lnTo>
                <a:lnTo>
                  <a:pt x="4428469" y="28575"/>
                </a:lnTo>
                <a:lnTo>
                  <a:pt x="4371319" y="0"/>
                </a:lnTo>
                <a:close/>
              </a:path>
              <a:path w="4485640" h="114300">
                <a:moveTo>
                  <a:pt x="4371319" y="28575"/>
                </a:moveTo>
                <a:lnTo>
                  <a:pt x="0" y="28575"/>
                </a:lnTo>
                <a:lnTo>
                  <a:pt x="0" y="85725"/>
                </a:lnTo>
                <a:lnTo>
                  <a:pt x="4371319" y="85725"/>
                </a:lnTo>
                <a:lnTo>
                  <a:pt x="4371319" y="28575"/>
                </a:lnTo>
                <a:close/>
              </a:path>
              <a:path w="4485640" h="114300">
                <a:moveTo>
                  <a:pt x="4428469" y="28575"/>
                </a:moveTo>
                <a:lnTo>
                  <a:pt x="4399910" y="28575"/>
                </a:lnTo>
                <a:lnTo>
                  <a:pt x="4399910" y="85725"/>
                </a:lnTo>
                <a:lnTo>
                  <a:pt x="4428469" y="85725"/>
                </a:lnTo>
                <a:lnTo>
                  <a:pt x="4485619" y="57150"/>
                </a:lnTo>
                <a:lnTo>
                  <a:pt x="4428469" y="285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1"/>
          <p:cNvSpPr txBox="1"/>
          <p:nvPr/>
        </p:nvSpPr>
        <p:spPr>
          <a:xfrm>
            <a:off x="5569575" y="3041086"/>
            <a:ext cx="5695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latin typeface="Arial"/>
                <a:cs typeface="Arial"/>
              </a:rPr>
              <a:t>Y-A</a:t>
            </a:r>
            <a:r>
              <a:rPr sz="1350" b="1" spc="75" dirty="0">
                <a:latin typeface="Arial"/>
                <a:cs typeface="Arial"/>
              </a:rPr>
              <a:t>x</a:t>
            </a:r>
            <a:r>
              <a:rPr sz="1350" b="1" dirty="0"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2"/>
          <p:cNvSpPr/>
          <p:nvPr/>
        </p:nvSpPr>
        <p:spPr>
          <a:xfrm>
            <a:off x="6881104" y="1899039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3"/>
          <p:cNvSpPr/>
          <p:nvPr/>
        </p:nvSpPr>
        <p:spPr>
          <a:xfrm>
            <a:off x="6636501" y="2467887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4"/>
          <p:cNvSpPr/>
          <p:nvPr/>
        </p:nvSpPr>
        <p:spPr>
          <a:xfrm>
            <a:off x="6636501" y="24678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23" y="219613"/>
                </a:lnTo>
                <a:lnTo>
                  <a:pt x="33489" y="195110"/>
                </a:lnTo>
                <a:lnTo>
                  <a:pt x="8986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/>
          <p:cNvSpPr/>
          <p:nvPr/>
        </p:nvSpPr>
        <p:spPr>
          <a:xfrm>
            <a:off x="6420856" y="2071373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6"/>
          <p:cNvSpPr/>
          <p:nvPr/>
        </p:nvSpPr>
        <p:spPr>
          <a:xfrm>
            <a:off x="6420855" y="2071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7"/>
          <p:cNvSpPr/>
          <p:nvPr/>
        </p:nvSpPr>
        <p:spPr>
          <a:xfrm>
            <a:off x="7315718" y="2513729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8"/>
          <p:cNvSpPr/>
          <p:nvPr/>
        </p:nvSpPr>
        <p:spPr>
          <a:xfrm>
            <a:off x="7315718" y="25137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9"/>
          <p:cNvSpPr/>
          <p:nvPr/>
        </p:nvSpPr>
        <p:spPr>
          <a:xfrm>
            <a:off x="9086850" y="1881148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0"/>
          <p:cNvSpPr/>
          <p:nvPr/>
        </p:nvSpPr>
        <p:spPr>
          <a:xfrm>
            <a:off x="9086850" y="18811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1"/>
          <p:cNvSpPr/>
          <p:nvPr/>
        </p:nvSpPr>
        <p:spPr>
          <a:xfrm>
            <a:off x="8773028" y="2185673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2"/>
          <p:cNvSpPr/>
          <p:nvPr/>
        </p:nvSpPr>
        <p:spPr>
          <a:xfrm>
            <a:off x="8773028" y="21856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3"/>
          <p:cNvSpPr/>
          <p:nvPr/>
        </p:nvSpPr>
        <p:spPr>
          <a:xfrm>
            <a:off x="9220444" y="2414273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4"/>
          <p:cNvSpPr/>
          <p:nvPr/>
        </p:nvSpPr>
        <p:spPr>
          <a:xfrm>
            <a:off x="9220443" y="24142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5"/>
          <p:cNvSpPr/>
          <p:nvPr/>
        </p:nvSpPr>
        <p:spPr>
          <a:xfrm>
            <a:off x="8858250" y="2742329"/>
            <a:ext cx="228600" cy="228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6"/>
          <p:cNvSpPr/>
          <p:nvPr/>
        </p:nvSpPr>
        <p:spPr>
          <a:xfrm>
            <a:off x="8858250" y="27423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0"/>
                </a:moveTo>
                <a:lnTo>
                  <a:pt x="8982" y="69806"/>
                </a:lnTo>
                <a:lnTo>
                  <a:pt x="33478" y="33477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7"/>
                </a:lnTo>
                <a:lnTo>
                  <a:pt x="219617" y="69806"/>
                </a:lnTo>
                <a:lnTo>
                  <a:pt x="228599" y="114290"/>
                </a:lnTo>
                <a:lnTo>
                  <a:pt x="219617" y="158781"/>
                </a:lnTo>
                <a:lnTo>
                  <a:pt x="195121" y="195113"/>
                </a:lnTo>
                <a:lnTo>
                  <a:pt x="158789" y="219608"/>
                </a:lnTo>
                <a:lnTo>
                  <a:pt x="114299" y="228590"/>
                </a:lnTo>
                <a:lnTo>
                  <a:pt x="69810" y="219608"/>
                </a:lnTo>
                <a:lnTo>
                  <a:pt x="33478" y="195113"/>
                </a:lnTo>
                <a:lnTo>
                  <a:pt x="8982" y="158781"/>
                </a:lnTo>
                <a:lnTo>
                  <a:pt x="0" y="11429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7"/>
          <p:cNvSpPr/>
          <p:nvPr/>
        </p:nvSpPr>
        <p:spPr>
          <a:xfrm>
            <a:off x="9720468" y="2318536"/>
            <a:ext cx="2286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8"/>
          <p:cNvSpPr/>
          <p:nvPr/>
        </p:nvSpPr>
        <p:spPr>
          <a:xfrm>
            <a:off x="9720467" y="23185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841" y="8982"/>
                </a:lnTo>
                <a:lnTo>
                  <a:pt x="195167" y="33478"/>
                </a:lnTo>
                <a:lnTo>
                  <a:pt x="219634" y="69810"/>
                </a:lnTo>
                <a:lnTo>
                  <a:pt x="228599" y="114299"/>
                </a:lnTo>
                <a:lnTo>
                  <a:pt x="219634" y="158776"/>
                </a:lnTo>
                <a:lnTo>
                  <a:pt x="195167" y="195110"/>
                </a:lnTo>
                <a:lnTo>
                  <a:pt x="158841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9"/>
          <p:cNvSpPr/>
          <p:nvPr/>
        </p:nvSpPr>
        <p:spPr>
          <a:xfrm>
            <a:off x="9475226" y="2907674"/>
            <a:ext cx="228600" cy="228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0"/>
          <p:cNvSpPr/>
          <p:nvPr/>
        </p:nvSpPr>
        <p:spPr>
          <a:xfrm>
            <a:off x="9475226" y="2907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91"/>
                </a:lnTo>
                <a:lnTo>
                  <a:pt x="195121" y="195122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2"/>
                </a:lnTo>
                <a:lnTo>
                  <a:pt x="8982" y="158791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1"/>
          <p:cNvSpPr/>
          <p:nvPr/>
        </p:nvSpPr>
        <p:spPr>
          <a:xfrm>
            <a:off x="7943850" y="4078619"/>
            <a:ext cx="228600" cy="228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2"/>
          <p:cNvSpPr/>
          <p:nvPr/>
        </p:nvSpPr>
        <p:spPr>
          <a:xfrm>
            <a:off x="7808214" y="4495432"/>
            <a:ext cx="228600" cy="228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3"/>
          <p:cNvSpPr/>
          <p:nvPr/>
        </p:nvSpPr>
        <p:spPr>
          <a:xfrm>
            <a:off x="7808213" y="44954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51"/>
                </a:moveTo>
                <a:lnTo>
                  <a:pt x="8982" y="69793"/>
                </a:lnTo>
                <a:lnTo>
                  <a:pt x="33478" y="33475"/>
                </a:lnTo>
                <a:lnTo>
                  <a:pt x="69810" y="8983"/>
                </a:lnTo>
                <a:lnTo>
                  <a:pt x="114299" y="0"/>
                </a:lnTo>
                <a:lnTo>
                  <a:pt x="158841" y="8983"/>
                </a:lnTo>
                <a:lnTo>
                  <a:pt x="195167" y="33475"/>
                </a:lnTo>
                <a:lnTo>
                  <a:pt x="219634" y="69793"/>
                </a:lnTo>
                <a:lnTo>
                  <a:pt x="228599" y="114251"/>
                </a:lnTo>
                <a:lnTo>
                  <a:pt x="219634" y="158742"/>
                </a:lnTo>
                <a:lnTo>
                  <a:pt x="195167" y="195073"/>
                </a:lnTo>
                <a:lnTo>
                  <a:pt x="158841" y="219569"/>
                </a:lnTo>
                <a:lnTo>
                  <a:pt x="114299" y="228551"/>
                </a:lnTo>
                <a:lnTo>
                  <a:pt x="69810" y="219569"/>
                </a:lnTo>
                <a:lnTo>
                  <a:pt x="33478" y="195073"/>
                </a:lnTo>
                <a:lnTo>
                  <a:pt x="8982" y="158742"/>
                </a:lnTo>
                <a:lnTo>
                  <a:pt x="0" y="11425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4"/>
          <p:cNvSpPr/>
          <p:nvPr/>
        </p:nvSpPr>
        <p:spPr>
          <a:xfrm>
            <a:off x="8416930" y="4013468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5"/>
          <p:cNvSpPr/>
          <p:nvPr/>
        </p:nvSpPr>
        <p:spPr>
          <a:xfrm>
            <a:off x="8416930" y="40134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10" y="219616"/>
                </a:lnTo>
                <a:lnTo>
                  <a:pt x="33478" y="195118"/>
                </a:lnTo>
                <a:lnTo>
                  <a:pt x="8982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6"/>
          <p:cNvSpPr/>
          <p:nvPr/>
        </p:nvSpPr>
        <p:spPr>
          <a:xfrm>
            <a:off x="8351916" y="4495432"/>
            <a:ext cx="228600" cy="2285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7"/>
          <p:cNvSpPr/>
          <p:nvPr/>
        </p:nvSpPr>
        <p:spPr>
          <a:xfrm>
            <a:off x="8732763" y="4277119"/>
            <a:ext cx="228600" cy="228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38"/>
          <p:cNvSpPr/>
          <p:nvPr/>
        </p:nvSpPr>
        <p:spPr>
          <a:xfrm>
            <a:off x="6991350" y="2119136"/>
            <a:ext cx="0" cy="523875"/>
          </a:xfrm>
          <a:custGeom>
            <a:avLst/>
            <a:gdLst/>
            <a:ahLst/>
            <a:cxnLst/>
            <a:rect l="l" t="t" r="r" b="b"/>
            <a:pathLst>
              <a:path h="523875">
                <a:moveTo>
                  <a:pt x="0" y="0"/>
                </a:moveTo>
                <a:lnTo>
                  <a:pt x="0" y="523737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39"/>
          <p:cNvSpPr/>
          <p:nvPr/>
        </p:nvSpPr>
        <p:spPr>
          <a:xfrm>
            <a:off x="6977115" y="2642873"/>
            <a:ext cx="324485" cy="0"/>
          </a:xfrm>
          <a:custGeom>
            <a:avLst/>
            <a:gdLst/>
            <a:ahLst/>
            <a:cxnLst/>
            <a:rect l="l" t="t" r="r" b="b"/>
            <a:pathLst>
              <a:path w="324485">
                <a:moveTo>
                  <a:pt x="324246" y="0"/>
                </a:moveTo>
                <a:lnTo>
                  <a:pt x="0" y="0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0"/>
          <p:cNvSpPr/>
          <p:nvPr/>
        </p:nvSpPr>
        <p:spPr>
          <a:xfrm>
            <a:off x="7076328" y="2094112"/>
            <a:ext cx="273050" cy="453390"/>
          </a:xfrm>
          <a:custGeom>
            <a:avLst/>
            <a:gdLst/>
            <a:ahLst/>
            <a:cxnLst/>
            <a:rect l="l" t="t" r="r" b="b"/>
            <a:pathLst>
              <a:path w="273050" h="453389">
                <a:moveTo>
                  <a:pt x="0" y="0"/>
                </a:moveTo>
                <a:lnTo>
                  <a:pt x="272795" y="453146"/>
                </a:lnTo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1"/>
          <p:cNvSpPr txBox="1"/>
          <p:nvPr/>
        </p:nvSpPr>
        <p:spPr>
          <a:xfrm>
            <a:off x="7282819" y="2230956"/>
            <a:ext cx="81280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950" spc="50" dirty="0">
                <a:latin typeface="Cambria Math"/>
                <a:cs typeface="Cambria Math"/>
              </a:rPr>
              <a:t>ℎ</a:t>
            </a:r>
            <a:r>
              <a:rPr sz="975" spc="75" baseline="34188" dirty="0">
                <a:latin typeface="Cambria Math"/>
                <a:cs typeface="Cambria Math"/>
              </a:rPr>
              <a:t>2 </a:t>
            </a:r>
            <a:r>
              <a:rPr sz="950" spc="20" dirty="0">
                <a:latin typeface="Cambria Math"/>
                <a:cs typeface="Cambria Math"/>
              </a:rPr>
              <a:t>= </a:t>
            </a:r>
            <a:r>
              <a:rPr sz="950" spc="45" dirty="0">
                <a:latin typeface="Cambria Math"/>
                <a:cs typeface="Cambria Math"/>
              </a:rPr>
              <a:t>𝑝</a:t>
            </a:r>
            <a:r>
              <a:rPr sz="975" spc="67" baseline="34188" dirty="0">
                <a:latin typeface="Cambria Math"/>
                <a:cs typeface="Cambria Math"/>
              </a:rPr>
              <a:t>2 </a:t>
            </a:r>
            <a:r>
              <a:rPr sz="950" spc="20" dirty="0">
                <a:latin typeface="Cambria Math"/>
                <a:cs typeface="Cambria Math"/>
              </a:rPr>
              <a:t>+</a:t>
            </a:r>
            <a:r>
              <a:rPr sz="950" spc="235" dirty="0">
                <a:latin typeface="Cambria Math"/>
                <a:cs typeface="Cambria Math"/>
              </a:rPr>
              <a:t> </a:t>
            </a:r>
            <a:r>
              <a:rPr sz="950" spc="55" dirty="0">
                <a:latin typeface="Cambria Math"/>
                <a:cs typeface="Cambria Math"/>
              </a:rPr>
              <a:t>𝑏</a:t>
            </a:r>
            <a:r>
              <a:rPr sz="975" spc="82" baseline="34188" dirty="0">
                <a:latin typeface="Cambria Math"/>
                <a:cs typeface="Cambria Math"/>
              </a:rPr>
              <a:t>2</a:t>
            </a:r>
            <a:endParaRPr sz="975" baseline="34188">
              <a:latin typeface="Cambria Math"/>
              <a:cs typeface="Cambria Math"/>
            </a:endParaRPr>
          </a:p>
        </p:txBody>
      </p:sp>
      <p:sp>
        <p:nvSpPr>
          <p:cNvPr id="46" name="object 42"/>
          <p:cNvSpPr txBox="1"/>
          <p:nvPr/>
        </p:nvSpPr>
        <p:spPr>
          <a:xfrm>
            <a:off x="6878070" y="2294964"/>
            <a:ext cx="94615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5" dirty="0">
                <a:latin typeface="Arial"/>
                <a:cs typeface="Arial"/>
              </a:rPr>
              <a:t>p</a:t>
            </a:r>
            <a:endParaRPr sz="950">
              <a:latin typeface="Arial"/>
              <a:cs typeface="Arial"/>
            </a:endParaRPr>
          </a:p>
        </p:txBody>
      </p:sp>
      <p:sp>
        <p:nvSpPr>
          <p:cNvPr id="47" name="object 43"/>
          <p:cNvSpPr txBox="1"/>
          <p:nvPr/>
        </p:nvSpPr>
        <p:spPr>
          <a:xfrm>
            <a:off x="7114921" y="2655969"/>
            <a:ext cx="94615" cy="1739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spc="10" dirty="0">
                <a:latin typeface="Arial"/>
                <a:cs typeface="Arial"/>
              </a:rPr>
              <a:t>b</a:t>
            </a:r>
            <a:endParaRPr sz="950">
              <a:latin typeface="Arial"/>
              <a:cs typeface="Arial"/>
            </a:endParaRPr>
          </a:p>
        </p:txBody>
      </p:sp>
      <p:sp>
        <p:nvSpPr>
          <p:cNvPr id="48" name="object 45"/>
          <p:cNvSpPr txBox="1"/>
          <p:nvPr/>
        </p:nvSpPr>
        <p:spPr>
          <a:xfrm>
            <a:off x="8010529" y="5397715"/>
            <a:ext cx="569595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X-A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6916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55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692527" y="457207"/>
            <a:ext cx="50513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Again assign the point to the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nearest</a:t>
            </a:r>
            <a:r>
              <a:rPr lang="en-US" b="1" spc="-14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51" name="object 9"/>
          <p:cNvSpPr/>
          <p:nvPr/>
        </p:nvSpPr>
        <p:spPr>
          <a:xfrm>
            <a:off x="5616111" y="1852435"/>
            <a:ext cx="114300" cy="3397250"/>
          </a:xfrm>
          <a:custGeom>
            <a:avLst/>
            <a:gdLst/>
            <a:ahLst/>
            <a:cxnLst/>
            <a:rect l="l" t="t" r="r" b="b"/>
            <a:pathLst>
              <a:path w="114300" h="3397250">
                <a:moveTo>
                  <a:pt x="85709" y="85725"/>
                </a:moveTo>
                <a:lnTo>
                  <a:pt x="28559" y="85725"/>
                </a:lnTo>
                <a:lnTo>
                  <a:pt x="28559" y="3397163"/>
                </a:lnTo>
                <a:lnTo>
                  <a:pt x="85709" y="3397163"/>
                </a:lnTo>
                <a:lnTo>
                  <a:pt x="85709" y="85725"/>
                </a:lnTo>
                <a:close/>
              </a:path>
              <a:path w="114300" h="3397250">
                <a:moveTo>
                  <a:pt x="57150" y="0"/>
                </a:moveTo>
                <a:lnTo>
                  <a:pt x="0" y="114300"/>
                </a:lnTo>
                <a:lnTo>
                  <a:pt x="28559" y="114300"/>
                </a:lnTo>
                <a:lnTo>
                  <a:pt x="28559" y="85725"/>
                </a:lnTo>
                <a:lnTo>
                  <a:pt x="100012" y="85725"/>
                </a:lnTo>
                <a:lnTo>
                  <a:pt x="57150" y="0"/>
                </a:lnTo>
                <a:close/>
              </a:path>
              <a:path w="114300" h="3397250">
                <a:moveTo>
                  <a:pt x="100012" y="85725"/>
                </a:moveTo>
                <a:lnTo>
                  <a:pt x="85709" y="85725"/>
                </a:lnTo>
                <a:lnTo>
                  <a:pt x="85709" y="114300"/>
                </a:lnTo>
                <a:lnTo>
                  <a:pt x="114300" y="114300"/>
                </a:lnTo>
                <a:lnTo>
                  <a:pt x="100012" y="857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10"/>
          <p:cNvSpPr/>
          <p:nvPr/>
        </p:nvSpPr>
        <p:spPr>
          <a:xfrm>
            <a:off x="5638087" y="5192449"/>
            <a:ext cx="4485640" cy="114300"/>
          </a:xfrm>
          <a:custGeom>
            <a:avLst/>
            <a:gdLst/>
            <a:ahLst/>
            <a:cxnLst/>
            <a:rect l="l" t="t" r="r" b="b"/>
            <a:pathLst>
              <a:path w="4485640" h="114300">
                <a:moveTo>
                  <a:pt x="4371319" y="0"/>
                </a:moveTo>
                <a:lnTo>
                  <a:pt x="4371319" y="114300"/>
                </a:lnTo>
                <a:lnTo>
                  <a:pt x="4428469" y="85725"/>
                </a:lnTo>
                <a:lnTo>
                  <a:pt x="4399910" y="85725"/>
                </a:lnTo>
                <a:lnTo>
                  <a:pt x="4399910" y="28575"/>
                </a:lnTo>
                <a:lnTo>
                  <a:pt x="4428469" y="28575"/>
                </a:lnTo>
                <a:lnTo>
                  <a:pt x="4371319" y="0"/>
                </a:lnTo>
                <a:close/>
              </a:path>
              <a:path w="4485640" h="114300">
                <a:moveTo>
                  <a:pt x="4371319" y="28575"/>
                </a:moveTo>
                <a:lnTo>
                  <a:pt x="0" y="28575"/>
                </a:lnTo>
                <a:lnTo>
                  <a:pt x="0" y="85725"/>
                </a:lnTo>
                <a:lnTo>
                  <a:pt x="4371319" y="85725"/>
                </a:lnTo>
                <a:lnTo>
                  <a:pt x="4371319" y="28575"/>
                </a:lnTo>
                <a:close/>
              </a:path>
              <a:path w="4485640" h="114300">
                <a:moveTo>
                  <a:pt x="4428469" y="28575"/>
                </a:moveTo>
                <a:lnTo>
                  <a:pt x="4399910" y="28575"/>
                </a:lnTo>
                <a:lnTo>
                  <a:pt x="4399910" y="85725"/>
                </a:lnTo>
                <a:lnTo>
                  <a:pt x="4428469" y="85725"/>
                </a:lnTo>
                <a:lnTo>
                  <a:pt x="4485619" y="57150"/>
                </a:lnTo>
                <a:lnTo>
                  <a:pt x="4428469" y="285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1"/>
          <p:cNvSpPr txBox="1"/>
          <p:nvPr/>
        </p:nvSpPr>
        <p:spPr>
          <a:xfrm>
            <a:off x="5001538" y="3041086"/>
            <a:ext cx="5695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latin typeface="Arial"/>
                <a:cs typeface="Arial"/>
              </a:rPr>
              <a:t>Y-A</a:t>
            </a:r>
            <a:r>
              <a:rPr sz="1350" b="1" spc="75" dirty="0">
                <a:latin typeface="Arial"/>
                <a:cs typeface="Arial"/>
              </a:rPr>
              <a:t>x</a:t>
            </a:r>
            <a:r>
              <a:rPr sz="1350" b="1" dirty="0"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54" name="object 12"/>
          <p:cNvSpPr/>
          <p:nvPr/>
        </p:nvSpPr>
        <p:spPr>
          <a:xfrm>
            <a:off x="6313067" y="1899039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13"/>
          <p:cNvSpPr/>
          <p:nvPr/>
        </p:nvSpPr>
        <p:spPr>
          <a:xfrm>
            <a:off x="6068464" y="2467887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4"/>
          <p:cNvSpPr/>
          <p:nvPr/>
        </p:nvSpPr>
        <p:spPr>
          <a:xfrm>
            <a:off x="6068464" y="246788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23" y="219613"/>
                </a:lnTo>
                <a:lnTo>
                  <a:pt x="33489" y="195110"/>
                </a:lnTo>
                <a:lnTo>
                  <a:pt x="8986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5"/>
          <p:cNvSpPr/>
          <p:nvPr/>
        </p:nvSpPr>
        <p:spPr>
          <a:xfrm>
            <a:off x="5852819" y="2071373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6"/>
          <p:cNvSpPr/>
          <p:nvPr/>
        </p:nvSpPr>
        <p:spPr>
          <a:xfrm>
            <a:off x="5852818" y="20713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7"/>
          <p:cNvSpPr/>
          <p:nvPr/>
        </p:nvSpPr>
        <p:spPr>
          <a:xfrm>
            <a:off x="6747681" y="2513729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8"/>
          <p:cNvSpPr/>
          <p:nvPr/>
        </p:nvSpPr>
        <p:spPr>
          <a:xfrm>
            <a:off x="8518813" y="1881148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19"/>
          <p:cNvSpPr/>
          <p:nvPr/>
        </p:nvSpPr>
        <p:spPr>
          <a:xfrm>
            <a:off x="8518813" y="188114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20"/>
          <p:cNvSpPr/>
          <p:nvPr/>
        </p:nvSpPr>
        <p:spPr>
          <a:xfrm>
            <a:off x="8204991" y="2185673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21"/>
          <p:cNvSpPr/>
          <p:nvPr/>
        </p:nvSpPr>
        <p:spPr>
          <a:xfrm>
            <a:off x="8204991" y="21856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2"/>
          <p:cNvSpPr/>
          <p:nvPr/>
        </p:nvSpPr>
        <p:spPr>
          <a:xfrm>
            <a:off x="8652407" y="2414273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23"/>
          <p:cNvSpPr/>
          <p:nvPr/>
        </p:nvSpPr>
        <p:spPr>
          <a:xfrm>
            <a:off x="8652406" y="24142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4"/>
          <p:cNvSpPr/>
          <p:nvPr/>
        </p:nvSpPr>
        <p:spPr>
          <a:xfrm>
            <a:off x="8290213" y="2742329"/>
            <a:ext cx="228600" cy="228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25"/>
          <p:cNvSpPr/>
          <p:nvPr/>
        </p:nvSpPr>
        <p:spPr>
          <a:xfrm>
            <a:off x="8290213" y="27423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0"/>
                </a:moveTo>
                <a:lnTo>
                  <a:pt x="8982" y="69806"/>
                </a:lnTo>
                <a:lnTo>
                  <a:pt x="33478" y="33477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7"/>
                </a:lnTo>
                <a:lnTo>
                  <a:pt x="219617" y="69806"/>
                </a:lnTo>
                <a:lnTo>
                  <a:pt x="228599" y="114290"/>
                </a:lnTo>
                <a:lnTo>
                  <a:pt x="219617" y="158781"/>
                </a:lnTo>
                <a:lnTo>
                  <a:pt x="195121" y="195113"/>
                </a:lnTo>
                <a:lnTo>
                  <a:pt x="158789" y="219608"/>
                </a:lnTo>
                <a:lnTo>
                  <a:pt x="114299" y="228590"/>
                </a:lnTo>
                <a:lnTo>
                  <a:pt x="69810" y="219608"/>
                </a:lnTo>
                <a:lnTo>
                  <a:pt x="33478" y="195113"/>
                </a:lnTo>
                <a:lnTo>
                  <a:pt x="8982" y="158781"/>
                </a:lnTo>
                <a:lnTo>
                  <a:pt x="0" y="11429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26"/>
          <p:cNvSpPr/>
          <p:nvPr/>
        </p:nvSpPr>
        <p:spPr>
          <a:xfrm>
            <a:off x="9152431" y="2318536"/>
            <a:ext cx="2286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27"/>
          <p:cNvSpPr/>
          <p:nvPr/>
        </p:nvSpPr>
        <p:spPr>
          <a:xfrm>
            <a:off x="9152430" y="23185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841" y="8982"/>
                </a:lnTo>
                <a:lnTo>
                  <a:pt x="195167" y="33478"/>
                </a:lnTo>
                <a:lnTo>
                  <a:pt x="219634" y="69810"/>
                </a:lnTo>
                <a:lnTo>
                  <a:pt x="228599" y="114299"/>
                </a:lnTo>
                <a:lnTo>
                  <a:pt x="219634" y="158776"/>
                </a:lnTo>
                <a:lnTo>
                  <a:pt x="195167" y="195110"/>
                </a:lnTo>
                <a:lnTo>
                  <a:pt x="158841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8"/>
          <p:cNvSpPr/>
          <p:nvPr/>
        </p:nvSpPr>
        <p:spPr>
          <a:xfrm>
            <a:off x="8907189" y="2907674"/>
            <a:ext cx="228600" cy="228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9"/>
          <p:cNvSpPr/>
          <p:nvPr/>
        </p:nvSpPr>
        <p:spPr>
          <a:xfrm>
            <a:off x="8907189" y="2907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91"/>
                </a:lnTo>
                <a:lnTo>
                  <a:pt x="195121" y="195122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2"/>
                </a:lnTo>
                <a:lnTo>
                  <a:pt x="8982" y="158791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30"/>
          <p:cNvSpPr/>
          <p:nvPr/>
        </p:nvSpPr>
        <p:spPr>
          <a:xfrm>
            <a:off x="7375813" y="4078619"/>
            <a:ext cx="228600" cy="228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31"/>
          <p:cNvSpPr/>
          <p:nvPr/>
        </p:nvSpPr>
        <p:spPr>
          <a:xfrm>
            <a:off x="7240177" y="4495432"/>
            <a:ext cx="228600" cy="228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32"/>
          <p:cNvSpPr/>
          <p:nvPr/>
        </p:nvSpPr>
        <p:spPr>
          <a:xfrm>
            <a:off x="7240176" y="449543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51"/>
                </a:moveTo>
                <a:lnTo>
                  <a:pt x="8982" y="69793"/>
                </a:lnTo>
                <a:lnTo>
                  <a:pt x="33478" y="33475"/>
                </a:lnTo>
                <a:lnTo>
                  <a:pt x="69810" y="8983"/>
                </a:lnTo>
                <a:lnTo>
                  <a:pt x="114299" y="0"/>
                </a:lnTo>
                <a:lnTo>
                  <a:pt x="158841" y="8983"/>
                </a:lnTo>
                <a:lnTo>
                  <a:pt x="195167" y="33475"/>
                </a:lnTo>
                <a:lnTo>
                  <a:pt x="219634" y="69793"/>
                </a:lnTo>
                <a:lnTo>
                  <a:pt x="228599" y="114251"/>
                </a:lnTo>
                <a:lnTo>
                  <a:pt x="219634" y="158742"/>
                </a:lnTo>
                <a:lnTo>
                  <a:pt x="195167" y="195073"/>
                </a:lnTo>
                <a:lnTo>
                  <a:pt x="158841" y="219569"/>
                </a:lnTo>
                <a:lnTo>
                  <a:pt x="114299" y="228551"/>
                </a:lnTo>
                <a:lnTo>
                  <a:pt x="69810" y="219569"/>
                </a:lnTo>
                <a:lnTo>
                  <a:pt x="33478" y="195073"/>
                </a:lnTo>
                <a:lnTo>
                  <a:pt x="8982" y="158742"/>
                </a:lnTo>
                <a:lnTo>
                  <a:pt x="0" y="11425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33"/>
          <p:cNvSpPr/>
          <p:nvPr/>
        </p:nvSpPr>
        <p:spPr>
          <a:xfrm>
            <a:off x="7848893" y="4013468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34"/>
          <p:cNvSpPr/>
          <p:nvPr/>
        </p:nvSpPr>
        <p:spPr>
          <a:xfrm>
            <a:off x="7848893" y="40134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10" y="219616"/>
                </a:lnTo>
                <a:lnTo>
                  <a:pt x="33478" y="195118"/>
                </a:lnTo>
                <a:lnTo>
                  <a:pt x="8982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35"/>
          <p:cNvSpPr/>
          <p:nvPr/>
        </p:nvSpPr>
        <p:spPr>
          <a:xfrm>
            <a:off x="7783879" y="4495432"/>
            <a:ext cx="228600" cy="2285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36"/>
          <p:cNvSpPr/>
          <p:nvPr/>
        </p:nvSpPr>
        <p:spPr>
          <a:xfrm>
            <a:off x="8164726" y="4277119"/>
            <a:ext cx="228600" cy="228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39"/>
          <p:cNvSpPr txBox="1"/>
          <p:nvPr/>
        </p:nvSpPr>
        <p:spPr>
          <a:xfrm>
            <a:off x="7442492" y="5397715"/>
            <a:ext cx="569595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X-A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609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56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886749" y="457207"/>
            <a:ext cx="78874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Finally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calculate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centroid </a:t>
            </a:r>
            <a:r>
              <a:rPr lang="en-US" b="1" spc="25" dirty="0" smtClean="0">
                <a:solidFill>
                  <a:srgbClr val="5F4778"/>
                </a:solidFill>
                <a:latin typeface="Arial"/>
                <a:cs typeface="Arial"/>
              </a:rPr>
              <a:t>(mean</a:t>
            </a:r>
            <a:r>
              <a:rPr lang="en-US" b="1" spc="-30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of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cluster)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including the </a:t>
            </a:r>
            <a:r>
              <a:rPr lang="en-US" b="1" spc="25" dirty="0" smtClean="0">
                <a:solidFill>
                  <a:srgbClr val="5F4778"/>
                </a:solidFill>
                <a:latin typeface="Arial"/>
                <a:cs typeface="Arial"/>
              </a:rPr>
              <a:t>new</a:t>
            </a:r>
            <a:r>
              <a:rPr lang="en-US" b="1" spc="-18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point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8"/>
          <p:cNvSpPr/>
          <p:nvPr/>
        </p:nvSpPr>
        <p:spPr>
          <a:xfrm>
            <a:off x="6004039" y="1843683"/>
            <a:ext cx="114300" cy="3397250"/>
          </a:xfrm>
          <a:custGeom>
            <a:avLst/>
            <a:gdLst/>
            <a:ahLst/>
            <a:cxnLst/>
            <a:rect l="l" t="t" r="r" b="b"/>
            <a:pathLst>
              <a:path w="114300" h="3397250">
                <a:moveTo>
                  <a:pt x="85709" y="85725"/>
                </a:moveTo>
                <a:lnTo>
                  <a:pt x="28559" y="85725"/>
                </a:lnTo>
                <a:lnTo>
                  <a:pt x="28559" y="3397163"/>
                </a:lnTo>
                <a:lnTo>
                  <a:pt x="85709" y="3397163"/>
                </a:lnTo>
                <a:lnTo>
                  <a:pt x="85709" y="85725"/>
                </a:lnTo>
                <a:close/>
              </a:path>
              <a:path w="114300" h="3397250">
                <a:moveTo>
                  <a:pt x="57150" y="0"/>
                </a:moveTo>
                <a:lnTo>
                  <a:pt x="0" y="114300"/>
                </a:lnTo>
                <a:lnTo>
                  <a:pt x="28559" y="114300"/>
                </a:lnTo>
                <a:lnTo>
                  <a:pt x="28559" y="85725"/>
                </a:lnTo>
                <a:lnTo>
                  <a:pt x="100012" y="85725"/>
                </a:lnTo>
                <a:lnTo>
                  <a:pt x="57150" y="0"/>
                </a:lnTo>
                <a:close/>
              </a:path>
              <a:path w="114300" h="3397250">
                <a:moveTo>
                  <a:pt x="100012" y="85725"/>
                </a:moveTo>
                <a:lnTo>
                  <a:pt x="85709" y="85725"/>
                </a:lnTo>
                <a:lnTo>
                  <a:pt x="85709" y="114300"/>
                </a:lnTo>
                <a:lnTo>
                  <a:pt x="114300" y="114300"/>
                </a:lnTo>
                <a:lnTo>
                  <a:pt x="100012" y="857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/>
        </p:nvSpPr>
        <p:spPr>
          <a:xfrm>
            <a:off x="6026015" y="5183697"/>
            <a:ext cx="4485640" cy="114300"/>
          </a:xfrm>
          <a:custGeom>
            <a:avLst/>
            <a:gdLst/>
            <a:ahLst/>
            <a:cxnLst/>
            <a:rect l="l" t="t" r="r" b="b"/>
            <a:pathLst>
              <a:path w="4485640" h="114300">
                <a:moveTo>
                  <a:pt x="4371319" y="0"/>
                </a:moveTo>
                <a:lnTo>
                  <a:pt x="4371319" y="114300"/>
                </a:lnTo>
                <a:lnTo>
                  <a:pt x="4428469" y="85725"/>
                </a:lnTo>
                <a:lnTo>
                  <a:pt x="4399910" y="85725"/>
                </a:lnTo>
                <a:lnTo>
                  <a:pt x="4399910" y="28575"/>
                </a:lnTo>
                <a:lnTo>
                  <a:pt x="4428469" y="28575"/>
                </a:lnTo>
                <a:lnTo>
                  <a:pt x="4371319" y="0"/>
                </a:lnTo>
                <a:close/>
              </a:path>
              <a:path w="4485640" h="114300">
                <a:moveTo>
                  <a:pt x="4371319" y="28575"/>
                </a:moveTo>
                <a:lnTo>
                  <a:pt x="0" y="28575"/>
                </a:lnTo>
                <a:lnTo>
                  <a:pt x="0" y="85725"/>
                </a:lnTo>
                <a:lnTo>
                  <a:pt x="4371319" y="85725"/>
                </a:lnTo>
                <a:lnTo>
                  <a:pt x="4371319" y="28575"/>
                </a:lnTo>
                <a:close/>
              </a:path>
              <a:path w="4485640" h="114300">
                <a:moveTo>
                  <a:pt x="4428469" y="28575"/>
                </a:moveTo>
                <a:lnTo>
                  <a:pt x="4399910" y="28575"/>
                </a:lnTo>
                <a:lnTo>
                  <a:pt x="4399910" y="85725"/>
                </a:lnTo>
                <a:lnTo>
                  <a:pt x="4428469" y="85725"/>
                </a:lnTo>
                <a:lnTo>
                  <a:pt x="4485619" y="57150"/>
                </a:lnTo>
                <a:lnTo>
                  <a:pt x="4428469" y="285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 txBox="1"/>
          <p:nvPr/>
        </p:nvSpPr>
        <p:spPr>
          <a:xfrm>
            <a:off x="5389466" y="3032334"/>
            <a:ext cx="5695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latin typeface="Arial"/>
                <a:cs typeface="Arial"/>
              </a:rPr>
              <a:t>Y-A</a:t>
            </a:r>
            <a:r>
              <a:rPr sz="1350" b="1" spc="75" dirty="0">
                <a:latin typeface="Arial"/>
                <a:cs typeface="Arial"/>
              </a:rPr>
              <a:t>x</a:t>
            </a:r>
            <a:r>
              <a:rPr sz="1350" b="1" dirty="0"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1"/>
          <p:cNvSpPr/>
          <p:nvPr/>
        </p:nvSpPr>
        <p:spPr>
          <a:xfrm>
            <a:off x="6700995" y="1890287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6456392" y="2459135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6456392" y="245913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23" y="219613"/>
                </a:lnTo>
                <a:lnTo>
                  <a:pt x="33489" y="195110"/>
                </a:lnTo>
                <a:lnTo>
                  <a:pt x="8986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6240747" y="2062621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6240746" y="20626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7135609" y="2504977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8906741" y="1872396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8906741" y="187239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76"/>
                </a:lnTo>
                <a:lnTo>
                  <a:pt x="195121" y="195110"/>
                </a:lnTo>
                <a:lnTo>
                  <a:pt x="158789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8592919" y="2176921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8592919" y="21769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1"/>
                </a:lnTo>
                <a:lnTo>
                  <a:pt x="8982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/>
          <p:nvPr/>
        </p:nvSpPr>
        <p:spPr>
          <a:xfrm>
            <a:off x="9040335" y="2405521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/>
          <p:nvPr/>
        </p:nvSpPr>
        <p:spPr>
          <a:xfrm>
            <a:off x="9040334" y="240552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6" y="69810"/>
                </a:lnTo>
                <a:lnTo>
                  <a:pt x="33489" y="33478"/>
                </a:lnTo>
                <a:lnTo>
                  <a:pt x="69823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8"/>
                </a:lnTo>
                <a:lnTo>
                  <a:pt x="219617" y="69810"/>
                </a:lnTo>
                <a:lnTo>
                  <a:pt x="228599" y="114299"/>
                </a:lnTo>
                <a:lnTo>
                  <a:pt x="219617" y="158789"/>
                </a:lnTo>
                <a:lnTo>
                  <a:pt x="195121" y="195121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23" y="219617"/>
                </a:lnTo>
                <a:lnTo>
                  <a:pt x="33489" y="195121"/>
                </a:lnTo>
                <a:lnTo>
                  <a:pt x="8986" y="158789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/>
          <p:cNvSpPr/>
          <p:nvPr/>
        </p:nvSpPr>
        <p:spPr>
          <a:xfrm>
            <a:off x="8678141" y="2733577"/>
            <a:ext cx="228600" cy="22859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4"/>
          <p:cNvSpPr/>
          <p:nvPr/>
        </p:nvSpPr>
        <p:spPr>
          <a:xfrm>
            <a:off x="8678141" y="273357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0"/>
                </a:moveTo>
                <a:lnTo>
                  <a:pt x="8982" y="69806"/>
                </a:lnTo>
                <a:lnTo>
                  <a:pt x="33478" y="33477"/>
                </a:lnTo>
                <a:lnTo>
                  <a:pt x="69810" y="8982"/>
                </a:lnTo>
                <a:lnTo>
                  <a:pt x="114299" y="0"/>
                </a:lnTo>
                <a:lnTo>
                  <a:pt x="158789" y="8982"/>
                </a:lnTo>
                <a:lnTo>
                  <a:pt x="195121" y="33477"/>
                </a:lnTo>
                <a:lnTo>
                  <a:pt x="219617" y="69806"/>
                </a:lnTo>
                <a:lnTo>
                  <a:pt x="228599" y="114290"/>
                </a:lnTo>
                <a:lnTo>
                  <a:pt x="219617" y="158781"/>
                </a:lnTo>
                <a:lnTo>
                  <a:pt x="195121" y="195113"/>
                </a:lnTo>
                <a:lnTo>
                  <a:pt x="158789" y="219608"/>
                </a:lnTo>
                <a:lnTo>
                  <a:pt x="114299" y="228590"/>
                </a:lnTo>
                <a:lnTo>
                  <a:pt x="69810" y="219608"/>
                </a:lnTo>
                <a:lnTo>
                  <a:pt x="33478" y="195113"/>
                </a:lnTo>
                <a:lnTo>
                  <a:pt x="8982" y="158781"/>
                </a:lnTo>
                <a:lnTo>
                  <a:pt x="0" y="114290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5"/>
          <p:cNvSpPr/>
          <p:nvPr/>
        </p:nvSpPr>
        <p:spPr>
          <a:xfrm>
            <a:off x="9540359" y="2309784"/>
            <a:ext cx="2286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6"/>
          <p:cNvSpPr/>
          <p:nvPr/>
        </p:nvSpPr>
        <p:spPr>
          <a:xfrm>
            <a:off x="9540358" y="2309784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0"/>
                </a:lnTo>
                <a:lnTo>
                  <a:pt x="33478" y="33478"/>
                </a:lnTo>
                <a:lnTo>
                  <a:pt x="69810" y="8982"/>
                </a:lnTo>
                <a:lnTo>
                  <a:pt x="114299" y="0"/>
                </a:lnTo>
                <a:lnTo>
                  <a:pt x="158841" y="8982"/>
                </a:lnTo>
                <a:lnTo>
                  <a:pt x="195167" y="33478"/>
                </a:lnTo>
                <a:lnTo>
                  <a:pt x="219634" y="69810"/>
                </a:lnTo>
                <a:lnTo>
                  <a:pt x="228599" y="114299"/>
                </a:lnTo>
                <a:lnTo>
                  <a:pt x="219634" y="158776"/>
                </a:lnTo>
                <a:lnTo>
                  <a:pt x="195167" y="195110"/>
                </a:lnTo>
                <a:lnTo>
                  <a:pt x="158841" y="219613"/>
                </a:lnTo>
                <a:lnTo>
                  <a:pt x="114299" y="228599"/>
                </a:lnTo>
                <a:lnTo>
                  <a:pt x="69810" y="219613"/>
                </a:lnTo>
                <a:lnTo>
                  <a:pt x="33478" y="195110"/>
                </a:lnTo>
                <a:lnTo>
                  <a:pt x="8982" y="158776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27"/>
          <p:cNvSpPr/>
          <p:nvPr/>
        </p:nvSpPr>
        <p:spPr>
          <a:xfrm>
            <a:off x="9295117" y="2898922"/>
            <a:ext cx="228600" cy="228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28"/>
          <p:cNvSpPr/>
          <p:nvPr/>
        </p:nvSpPr>
        <p:spPr>
          <a:xfrm>
            <a:off x="9295117" y="28989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91"/>
                </a:lnTo>
                <a:lnTo>
                  <a:pt x="195121" y="195122"/>
                </a:lnTo>
                <a:lnTo>
                  <a:pt x="158789" y="219617"/>
                </a:lnTo>
                <a:lnTo>
                  <a:pt x="114299" y="228599"/>
                </a:lnTo>
                <a:lnTo>
                  <a:pt x="69810" y="219617"/>
                </a:lnTo>
                <a:lnTo>
                  <a:pt x="33478" y="195122"/>
                </a:lnTo>
                <a:lnTo>
                  <a:pt x="8982" y="158791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29"/>
          <p:cNvSpPr/>
          <p:nvPr/>
        </p:nvSpPr>
        <p:spPr>
          <a:xfrm>
            <a:off x="7763741" y="4069867"/>
            <a:ext cx="228600" cy="228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0"/>
          <p:cNvSpPr/>
          <p:nvPr/>
        </p:nvSpPr>
        <p:spPr>
          <a:xfrm>
            <a:off x="7628105" y="4486680"/>
            <a:ext cx="228600" cy="228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1"/>
          <p:cNvSpPr/>
          <p:nvPr/>
        </p:nvSpPr>
        <p:spPr>
          <a:xfrm>
            <a:off x="7628104" y="44866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51"/>
                </a:moveTo>
                <a:lnTo>
                  <a:pt x="8982" y="69793"/>
                </a:lnTo>
                <a:lnTo>
                  <a:pt x="33478" y="33475"/>
                </a:lnTo>
                <a:lnTo>
                  <a:pt x="69810" y="8983"/>
                </a:lnTo>
                <a:lnTo>
                  <a:pt x="114299" y="0"/>
                </a:lnTo>
                <a:lnTo>
                  <a:pt x="158841" y="8983"/>
                </a:lnTo>
                <a:lnTo>
                  <a:pt x="195167" y="33475"/>
                </a:lnTo>
                <a:lnTo>
                  <a:pt x="219634" y="69793"/>
                </a:lnTo>
                <a:lnTo>
                  <a:pt x="228599" y="114251"/>
                </a:lnTo>
                <a:lnTo>
                  <a:pt x="219634" y="158742"/>
                </a:lnTo>
                <a:lnTo>
                  <a:pt x="195167" y="195073"/>
                </a:lnTo>
                <a:lnTo>
                  <a:pt x="158841" y="219569"/>
                </a:lnTo>
                <a:lnTo>
                  <a:pt x="114299" y="228551"/>
                </a:lnTo>
                <a:lnTo>
                  <a:pt x="69810" y="219569"/>
                </a:lnTo>
                <a:lnTo>
                  <a:pt x="33478" y="195073"/>
                </a:lnTo>
                <a:lnTo>
                  <a:pt x="8982" y="158742"/>
                </a:lnTo>
                <a:lnTo>
                  <a:pt x="0" y="114251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2"/>
          <p:cNvSpPr/>
          <p:nvPr/>
        </p:nvSpPr>
        <p:spPr>
          <a:xfrm>
            <a:off x="8236821" y="4004716"/>
            <a:ext cx="228600" cy="228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3"/>
          <p:cNvSpPr/>
          <p:nvPr/>
        </p:nvSpPr>
        <p:spPr>
          <a:xfrm>
            <a:off x="8236821" y="4004716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299"/>
                </a:moveTo>
                <a:lnTo>
                  <a:pt x="8982" y="69814"/>
                </a:lnTo>
                <a:lnTo>
                  <a:pt x="33478" y="33481"/>
                </a:lnTo>
                <a:lnTo>
                  <a:pt x="69810" y="8983"/>
                </a:lnTo>
                <a:lnTo>
                  <a:pt x="114299" y="0"/>
                </a:lnTo>
                <a:lnTo>
                  <a:pt x="158789" y="8983"/>
                </a:lnTo>
                <a:lnTo>
                  <a:pt x="195121" y="33481"/>
                </a:lnTo>
                <a:lnTo>
                  <a:pt x="219617" y="69814"/>
                </a:lnTo>
                <a:lnTo>
                  <a:pt x="228599" y="114299"/>
                </a:lnTo>
                <a:lnTo>
                  <a:pt x="219617" y="158785"/>
                </a:lnTo>
                <a:lnTo>
                  <a:pt x="195121" y="195118"/>
                </a:lnTo>
                <a:lnTo>
                  <a:pt x="158789" y="219616"/>
                </a:lnTo>
                <a:lnTo>
                  <a:pt x="114299" y="228599"/>
                </a:lnTo>
                <a:lnTo>
                  <a:pt x="69810" y="219616"/>
                </a:lnTo>
                <a:lnTo>
                  <a:pt x="33478" y="195118"/>
                </a:lnTo>
                <a:lnTo>
                  <a:pt x="8982" y="158785"/>
                </a:lnTo>
                <a:lnTo>
                  <a:pt x="0" y="114299"/>
                </a:lnTo>
                <a:close/>
              </a:path>
            </a:pathLst>
          </a:custGeom>
          <a:ln w="285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4"/>
          <p:cNvSpPr/>
          <p:nvPr/>
        </p:nvSpPr>
        <p:spPr>
          <a:xfrm>
            <a:off x="8171807" y="4486680"/>
            <a:ext cx="228600" cy="2285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35"/>
          <p:cNvSpPr/>
          <p:nvPr/>
        </p:nvSpPr>
        <p:spPr>
          <a:xfrm>
            <a:off x="8552654" y="4268367"/>
            <a:ext cx="228600" cy="228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36"/>
          <p:cNvSpPr/>
          <p:nvPr/>
        </p:nvSpPr>
        <p:spPr>
          <a:xfrm>
            <a:off x="7007715" y="2213375"/>
            <a:ext cx="153405" cy="15304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0"/>
          <p:cNvSpPr txBox="1"/>
          <p:nvPr/>
        </p:nvSpPr>
        <p:spPr>
          <a:xfrm>
            <a:off x="7830420" y="5388963"/>
            <a:ext cx="569595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X-A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77126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57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114800" y="457207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Finally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in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first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iteration </a:t>
            </a:r>
            <a:r>
              <a:rPr lang="en-US" b="1" spc="20" dirty="0" smtClean="0">
                <a:solidFill>
                  <a:srgbClr val="5F4778"/>
                </a:solidFill>
                <a:latin typeface="Arial"/>
                <a:cs typeface="Arial"/>
              </a:rPr>
              <a:t>you get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something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like 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this…again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20" dirty="0" smtClean="0">
                <a:solidFill>
                  <a:srgbClr val="5F4778"/>
                </a:solidFill>
                <a:latin typeface="Arial"/>
                <a:cs typeface="Arial"/>
              </a:rPr>
              <a:t>you</a:t>
            </a:r>
            <a:r>
              <a:rPr lang="en-US" b="1" spc="-7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15" dirty="0" smtClean="0">
                <a:solidFill>
                  <a:srgbClr val="5F4778"/>
                </a:solidFill>
                <a:latin typeface="Arial"/>
                <a:cs typeface="Arial"/>
              </a:rPr>
              <a:t>have</a:t>
            </a:r>
            <a:r>
              <a:rPr lang="en-US" b="1" spc="-7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to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iterate</a:t>
            </a:r>
            <a:r>
              <a:rPr lang="en-US" b="1" spc="-8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this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process</a:t>
            </a:r>
            <a:r>
              <a:rPr lang="en-US" b="1" spc="-80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to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20" dirty="0" smtClean="0">
                <a:solidFill>
                  <a:srgbClr val="5F4778"/>
                </a:solidFill>
                <a:latin typeface="Arial"/>
                <a:cs typeface="Arial"/>
              </a:rPr>
              <a:t>get  </a:t>
            </a:r>
            <a:r>
              <a:rPr lang="en-US" b="1" dirty="0" smtClean="0">
                <a:solidFill>
                  <a:srgbClr val="5F4778"/>
                </a:solidFill>
                <a:latin typeface="Arial"/>
                <a:cs typeface="Arial"/>
              </a:rPr>
              <a:t>the </a:t>
            </a:r>
            <a:r>
              <a:rPr lang="en-US" b="1" spc="-5" dirty="0" smtClean="0">
                <a:solidFill>
                  <a:srgbClr val="5F4778"/>
                </a:solidFill>
                <a:latin typeface="Arial"/>
                <a:cs typeface="Arial"/>
              </a:rPr>
              <a:t>final</a:t>
            </a:r>
            <a:r>
              <a:rPr lang="en-US" b="1" spc="-15" dirty="0" smtClean="0">
                <a:solidFill>
                  <a:srgbClr val="5F4778"/>
                </a:solidFill>
                <a:latin typeface="Arial"/>
                <a:cs typeface="Arial"/>
              </a:rPr>
              <a:t> </a:t>
            </a:r>
            <a:r>
              <a:rPr lang="en-US" b="1" spc="5" dirty="0" smtClean="0">
                <a:solidFill>
                  <a:srgbClr val="5F4778"/>
                </a:solidFill>
                <a:latin typeface="Arial"/>
                <a:cs typeface="Arial"/>
              </a:rPr>
              <a:t>cluster</a:t>
            </a:r>
            <a:endParaRPr lang="en-US" dirty="0"/>
          </a:p>
        </p:txBody>
      </p:sp>
      <p:sp>
        <p:nvSpPr>
          <p:cNvPr id="13" name="object 8"/>
          <p:cNvSpPr/>
          <p:nvPr/>
        </p:nvSpPr>
        <p:spPr>
          <a:xfrm>
            <a:off x="5228184" y="2146392"/>
            <a:ext cx="114300" cy="3397250"/>
          </a:xfrm>
          <a:custGeom>
            <a:avLst/>
            <a:gdLst/>
            <a:ahLst/>
            <a:cxnLst/>
            <a:rect l="l" t="t" r="r" b="b"/>
            <a:pathLst>
              <a:path w="114300" h="3397250">
                <a:moveTo>
                  <a:pt x="85709" y="85725"/>
                </a:moveTo>
                <a:lnTo>
                  <a:pt x="28559" y="85725"/>
                </a:lnTo>
                <a:lnTo>
                  <a:pt x="28559" y="3397163"/>
                </a:lnTo>
                <a:lnTo>
                  <a:pt x="85709" y="3397163"/>
                </a:lnTo>
                <a:lnTo>
                  <a:pt x="85709" y="85725"/>
                </a:lnTo>
                <a:close/>
              </a:path>
              <a:path w="114300" h="3397250">
                <a:moveTo>
                  <a:pt x="57150" y="0"/>
                </a:moveTo>
                <a:lnTo>
                  <a:pt x="0" y="114300"/>
                </a:lnTo>
                <a:lnTo>
                  <a:pt x="28559" y="114300"/>
                </a:lnTo>
                <a:lnTo>
                  <a:pt x="28559" y="85725"/>
                </a:lnTo>
                <a:lnTo>
                  <a:pt x="100012" y="85725"/>
                </a:lnTo>
                <a:lnTo>
                  <a:pt x="57150" y="0"/>
                </a:lnTo>
                <a:close/>
              </a:path>
              <a:path w="114300" h="3397250">
                <a:moveTo>
                  <a:pt x="100012" y="85725"/>
                </a:moveTo>
                <a:lnTo>
                  <a:pt x="85709" y="85725"/>
                </a:lnTo>
                <a:lnTo>
                  <a:pt x="85709" y="114300"/>
                </a:lnTo>
                <a:lnTo>
                  <a:pt x="114300" y="114300"/>
                </a:lnTo>
                <a:lnTo>
                  <a:pt x="100012" y="8572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9"/>
          <p:cNvSpPr/>
          <p:nvPr/>
        </p:nvSpPr>
        <p:spPr>
          <a:xfrm>
            <a:off x="5250160" y="5486406"/>
            <a:ext cx="4485640" cy="114300"/>
          </a:xfrm>
          <a:custGeom>
            <a:avLst/>
            <a:gdLst/>
            <a:ahLst/>
            <a:cxnLst/>
            <a:rect l="l" t="t" r="r" b="b"/>
            <a:pathLst>
              <a:path w="4485640" h="114300">
                <a:moveTo>
                  <a:pt x="4371319" y="0"/>
                </a:moveTo>
                <a:lnTo>
                  <a:pt x="4371319" y="114300"/>
                </a:lnTo>
                <a:lnTo>
                  <a:pt x="4428469" y="85725"/>
                </a:lnTo>
                <a:lnTo>
                  <a:pt x="4399910" y="85725"/>
                </a:lnTo>
                <a:lnTo>
                  <a:pt x="4399910" y="28575"/>
                </a:lnTo>
                <a:lnTo>
                  <a:pt x="4428469" y="28575"/>
                </a:lnTo>
                <a:lnTo>
                  <a:pt x="4371319" y="0"/>
                </a:lnTo>
                <a:close/>
              </a:path>
              <a:path w="4485640" h="114300">
                <a:moveTo>
                  <a:pt x="4371319" y="28575"/>
                </a:moveTo>
                <a:lnTo>
                  <a:pt x="0" y="28575"/>
                </a:lnTo>
                <a:lnTo>
                  <a:pt x="0" y="85725"/>
                </a:lnTo>
                <a:lnTo>
                  <a:pt x="4371319" y="85725"/>
                </a:lnTo>
                <a:lnTo>
                  <a:pt x="4371319" y="28575"/>
                </a:lnTo>
                <a:close/>
              </a:path>
              <a:path w="4485640" h="114300">
                <a:moveTo>
                  <a:pt x="4428469" y="28575"/>
                </a:moveTo>
                <a:lnTo>
                  <a:pt x="4399910" y="28575"/>
                </a:lnTo>
                <a:lnTo>
                  <a:pt x="4399910" y="85725"/>
                </a:lnTo>
                <a:lnTo>
                  <a:pt x="4428469" y="85725"/>
                </a:lnTo>
                <a:lnTo>
                  <a:pt x="4485619" y="57150"/>
                </a:lnTo>
                <a:lnTo>
                  <a:pt x="4428469" y="28575"/>
                </a:lnTo>
                <a:close/>
              </a:path>
            </a:pathLst>
          </a:custGeom>
          <a:solidFill>
            <a:srgbClr val="595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0"/>
          <p:cNvSpPr txBox="1"/>
          <p:nvPr/>
        </p:nvSpPr>
        <p:spPr>
          <a:xfrm>
            <a:off x="4613611" y="3335043"/>
            <a:ext cx="569595" cy="23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latin typeface="Arial"/>
                <a:cs typeface="Arial"/>
              </a:rPr>
              <a:t>Y-A</a:t>
            </a:r>
            <a:r>
              <a:rPr sz="1350" b="1" spc="75" dirty="0">
                <a:latin typeface="Arial"/>
                <a:cs typeface="Arial"/>
              </a:rPr>
              <a:t>x</a:t>
            </a:r>
            <a:r>
              <a:rPr sz="1350" b="1" dirty="0"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1"/>
          <p:cNvSpPr/>
          <p:nvPr/>
        </p:nvSpPr>
        <p:spPr>
          <a:xfrm>
            <a:off x="5925140" y="2192996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2"/>
          <p:cNvSpPr/>
          <p:nvPr/>
        </p:nvSpPr>
        <p:spPr>
          <a:xfrm>
            <a:off x="5680537" y="2761844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3"/>
          <p:cNvSpPr/>
          <p:nvPr/>
        </p:nvSpPr>
        <p:spPr>
          <a:xfrm>
            <a:off x="5464892" y="2365330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4"/>
          <p:cNvSpPr/>
          <p:nvPr/>
        </p:nvSpPr>
        <p:spPr>
          <a:xfrm>
            <a:off x="8130886" y="2175105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15"/>
          <p:cNvSpPr/>
          <p:nvPr/>
        </p:nvSpPr>
        <p:spPr>
          <a:xfrm>
            <a:off x="6359754" y="2807686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16"/>
          <p:cNvSpPr/>
          <p:nvPr/>
        </p:nvSpPr>
        <p:spPr>
          <a:xfrm>
            <a:off x="7817064" y="2479630"/>
            <a:ext cx="228600" cy="228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17"/>
          <p:cNvSpPr/>
          <p:nvPr/>
        </p:nvSpPr>
        <p:spPr>
          <a:xfrm>
            <a:off x="7902286" y="3036286"/>
            <a:ext cx="228600" cy="2285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18"/>
          <p:cNvSpPr/>
          <p:nvPr/>
        </p:nvSpPr>
        <p:spPr>
          <a:xfrm>
            <a:off x="8264480" y="2708230"/>
            <a:ext cx="228600" cy="228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19"/>
          <p:cNvSpPr/>
          <p:nvPr/>
        </p:nvSpPr>
        <p:spPr>
          <a:xfrm>
            <a:off x="8764504" y="2612493"/>
            <a:ext cx="228600" cy="2286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/>
          <p:cNvSpPr/>
          <p:nvPr/>
        </p:nvSpPr>
        <p:spPr>
          <a:xfrm>
            <a:off x="8519262" y="3201631"/>
            <a:ext cx="228600" cy="228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1"/>
          <p:cNvSpPr/>
          <p:nvPr/>
        </p:nvSpPr>
        <p:spPr>
          <a:xfrm>
            <a:off x="6987886" y="4372576"/>
            <a:ext cx="228600" cy="2286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2"/>
          <p:cNvSpPr/>
          <p:nvPr/>
        </p:nvSpPr>
        <p:spPr>
          <a:xfrm>
            <a:off x="6852250" y="4789389"/>
            <a:ext cx="228600" cy="2285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3"/>
          <p:cNvSpPr/>
          <p:nvPr/>
        </p:nvSpPr>
        <p:spPr>
          <a:xfrm>
            <a:off x="7460966" y="4307425"/>
            <a:ext cx="228600" cy="228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4"/>
          <p:cNvSpPr/>
          <p:nvPr/>
        </p:nvSpPr>
        <p:spPr>
          <a:xfrm>
            <a:off x="7395952" y="4789389"/>
            <a:ext cx="228600" cy="22855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25"/>
          <p:cNvSpPr/>
          <p:nvPr/>
        </p:nvSpPr>
        <p:spPr>
          <a:xfrm>
            <a:off x="7776799" y="4571076"/>
            <a:ext cx="228600" cy="228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28"/>
          <p:cNvSpPr txBox="1"/>
          <p:nvPr/>
        </p:nvSpPr>
        <p:spPr>
          <a:xfrm>
            <a:off x="7054565" y="5691672"/>
            <a:ext cx="569595" cy="217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95"/>
              </a:lnSpc>
            </a:pPr>
            <a:r>
              <a:rPr sz="1350" b="1" spc="-5" dirty="0">
                <a:solidFill>
                  <a:srgbClr val="595959"/>
                </a:solidFill>
                <a:latin typeface="Arial"/>
                <a:cs typeface="Arial"/>
              </a:rPr>
              <a:t>X-A</a:t>
            </a:r>
            <a:r>
              <a:rPr sz="1350" b="1" spc="75" dirty="0">
                <a:solidFill>
                  <a:srgbClr val="595959"/>
                </a:solidFill>
                <a:latin typeface="Arial"/>
                <a:cs typeface="Arial"/>
              </a:rPr>
              <a:t>x</a:t>
            </a:r>
            <a:r>
              <a:rPr sz="1350" b="1" dirty="0">
                <a:solidFill>
                  <a:srgbClr val="595959"/>
                </a:solidFill>
                <a:latin typeface="Arial"/>
                <a:cs typeface="Arial"/>
              </a:rPr>
              <a:t>is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1205469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1601526" y="6455739"/>
            <a:ext cx="345279" cy="187367"/>
          </a:xfrm>
        </p:spPr>
        <p:txBody>
          <a:bodyPr/>
          <a:lstStyle/>
          <a:p>
            <a:fld id="{B6F15528-21DE-4FAA-801E-634DDDAF4B2B}" type="slidenum">
              <a:rPr lang="en-IN" smtClean="0"/>
              <a:t>58</a:t>
            </a:fld>
            <a:endParaRPr lang="en-IN"/>
          </a:p>
        </p:txBody>
      </p:sp>
      <p:sp>
        <p:nvSpPr>
          <p:cNvPr id="8" name="object 2"/>
          <p:cNvSpPr/>
          <p:nvPr/>
        </p:nvSpPr>
        <p:spPr>
          <a:xfrm>
            <a:off x="-593" y="458731"/>
            <a:ext cx="3585172" cy="51419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3"/>
          <p:cNvSpPr/>
          <p:nvPr/>
        </p:nvSpPr>
        <p:spPr>
          <a:xfrm>
            <a:off x="8065" y="457207"/>
            <a:ext cx="3467542" cy="1504950"/>
          </a:xfrm>
          <a:custGeom>
            <a:avLst/>
            <a:gdLst/>
            <a:ahLst/>
            <a:cxnLst/>
            <a:rect l="l" t="t" r="r" b="b"/>
            <a:pathLst>
              <a:path w="2957195" h="1504950">
                <a:moveTo>
                  <a:pt x="0" y="1504806"/>
                </a:moveTo>
                <a:lnTo>
                  <a:pt x="2956941" y="1504806"/>
                </a:lnTo>
                <a:lnTo>
                  <a:pt x="2956941" y="0"/>
                </a:lnTo>
                <a:lnTo>
                  <a:pt x="0" y="0"/>
                </a:lnTo>
                <a:lnTo>
                  <a:pt x="0" y="1504806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4"/>
          <p:cNvSpPr/>
          <p:nvPr/>
        </p:nvSpPr>
        <p:spPr>
          <a:xfrm>
            <a:off x="8065" y="3188464"/>
            <a:ext cx="3467542" cy="2824409"/>
          </a:xfrm>
          <a:custGeom>
            <a:avLst/>
            <a:gdLst/>
            <a:ahLst/>
            <a:cxnLst/>
            <a:rect l="l" t="t" r="r" b="b"/>
            <a:pathLst>
              <a:path w="2957195" h="2412365">
                <a:moveTo>
                  <a:pt x="0" y="2412242"/>
                </a:moveTo>
                <a:lnTo>
                  <a:pt x="2956941" y="2412242"/>
                </a:lnTo>
                <a:lnTo>
                  <a:pt x="2956941" y="0"/>
                </a:lnTo>
                <a:lnTo>
                  <a:pt x="0" y="0"/>
                </a:lnTo>
                <a:lnTo>
                  <a:pt x="0" y="241224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5"/>
          <p:cNvSpPr/>
          <p:nvPr/>
        </p:nvSpPr>
        <p:spPr>
          <a:xfrm>
            <a:off x="8064" y="1934713"/>
            <a:ext cx="3467542" cy="2359251"/>
          </a:xfrm>
          <a:custGeom>
            <a:avLst/>
            <a:gdLst/>
            <a:ahLst/>
            <a:cxnLst/>
            <a:rect l="l" t="t" r="r" b="b"/>
            <a:pathLst>
              <a:path w="2957195" h="1226820">
                <a:moveTo>
                  <a:pt x="0" y="1226451"/>
                </a:moveTo>
                <a:lnTo>
                  <a:pt x="2956941" y="1226451"/>
                </a:lnTo>
                <a:lnTo>
                  <a:pt x="2956941" y="0"/>
                </a:lnTo>
                <a:lnTo>
                  <a:pt x="0" y="0"/>
                </a:lnTo>
                <a:lnTo>
                  <a:pt x="0" y="1226451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6"/>
          <p:cNvSpPr txBox="1">
            <a:spLocks noGrp="1"/>
          </p:cNvSpPr>
          <p:nvPr>
            <p:ph type="title"/>
          </p:nvPr>
        </p:nvSpPr>
        <p:spPr>
          <a:xfrm>
            <a:off x="-6620" y="2542725"/>
            <a:ext cx="3667093" cy="1653658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 marR="5080">
              <a:lnSpc>
                <a:spcPts val="4130"/>
              </a:lnSpc>
              <a:spcBef>
                <a:spcPts val="625"/>
              </a:spcBef>
            </a:pP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U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s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spc="-7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/>
            </a:r>
            <a:b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3800" b="1" spc="-75" dirty="0" smtClean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3800" spc="-1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lang="en-US" sz="3800" dirty="0">
                <a:solidFill>
                  <a:srgbClr val="FFFFFF"/>
                </a:solidFill>
                <a:latin typeface="Arial"/>
                <a:cs typeface="Arial"/>
              </a:rPr>
              <a:t>lgo</a:t>
            </a:r>
            <a:r>
              <a:rPr lang="en-US" sz="3800" spc="1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lang="en-US" sz="3800" spc="-10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lang="en-US" sz="3800" spc="1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lang="en-US" sz="3800" spc="-70" dirty="0">
                <a:solidFill>
                  <a:srgbClr val="FFFFFF"/>
                </a:solidFill>
                <a:latin typeface="Arial"/>
                <a:cs typeface="Arial"/>
              </a:rPr>
              <a:t>h</a:t>
            </a:r>
            <a:r>
              <a:rPr lang="en-US" sz="3800" spc="25" dirty="0">
                <a:solidFill>
                  <a:srgbClr val="FFFFFF"/>
                </a:solidFill>
                <a:latin typeface="Arial"/>
                <a:cs typeface="Arial"/>
              </a:rPr>
              <a:t>m</a:t>
            </a:r>
            <a:endParaRPr lang="en-US" sz="3800" dirty="0">
              <a:latin typeface="Arial"/>
              <a:cs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056581" y="457207"/>
            <a:ext cx="42124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b="1" spc="-5" dirty="0">
                <a:solidFill>
                  <a:srgbClr val="595959"/>
                </a:solidFill>
                <a:latin typeface="Arial"/>
                <a:cs typeface="Arial"/>
              </a:rPr>
              <a:t>Summarizing </a:t>
            </a:r>
            <a:r>
              <a:rPr lang="en-US" b="1" spc="5" dirty="0">
                <a:solidFill>
                  <a:srgbClr val="595959"/>
                </a:solidFill>
                <a:latin typeface="Arial"/>
                <a:cs typeface="Arial"/>
              </a:rPr>
              <a:t>the K-Means</a:t>
            </a:r>
            <a:r>
              <a:rPr lang="en-US" b="1" spc="-16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lang="en-US" b="1" spc="5" dirty="0">
                <a:solidFill>
                  <a:srgbClr val="595959"/>
                </a:solidFill>
                <a:latin typeface="Arial"/>
                <a:cs typeface="Arial"/>
              </a:rPr>
              <a:t>Algorithm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3" name="object 7"/>
          <p:cNvSpPr/>
          <p:nvPr/>
        </p:nvSpPr>
        <p:spPr>
          <a:xfrm>
            <a:off x="4881839" y="2105221"/>
            <a:ext cx="5800016" cy="209116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45681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59</a:t>
            </a:fld>
            <a:endParaRPr lang="en-IN"/>
          </a:p>
        </p:txBody>
      </p:sp>
      <p:sp>
        <p:nvSpPr>
          <p:cNvPr id="7" name="object 3"/>
          <p:cNvSpPr/>
          <p:nvPr/>
        </p:nvSpPr>
        <p:spPr>
          <a:xfrm>
            <a:off x="3208325" y="2830958"/>
            <a:ext cx="8591789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5"/>
          <p:cNvSpPr txBox="1">
            <a:spLocks noGrp="1"/>
          </p:cNvSpPr>
          <p:nvPr>
            <p:ph type="title"/>
          </p:nvPr>
        </p:nvSpPr>
        <p:spPr>
          <a:xfrm>
            <a:off x="4189021" y="2997108"/>
            <a:ext cx="6636327" cy="439223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K-Means </a:t>
            </a:r>
            <a:r>
              <a:rPr lang="en-US" sz="2800" spc="15" dirty="0">
                <a:solidFill>
                  <a:srgbClr val="FFFFFF"/>
                </a:solidFill>
                <a:latin typeface="Arial"/>
                <a:cs typeface="Arial"/>
              </a:rPr>
              <a:t>Clustering:</a:t>
            </a:r>
            <a:r>
              <a:rPr lang="en-US" sz="2800" spc="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2800" spc="25" dirty="0">
                <a:solidFill>
                  <a:srgbClr val="FFFFFF"/>
                </a:solidFill>
                <a:latin typeface="Arial"/>
                <a:cs typeface="Arial"/>
              </a:rPr>
              <a:t>Demo</a:t>
            </a:r>
            <a:endParaRPr sz="2800" dirty="0">
              <a:solidFill>
                <a:schemeClr val="bg1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474" y="1351212"/>
            <a:ext cx="2687782" cy="445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4824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60</a:t>
            </a:fld>
            <a:endParaRPr lang="en-IN"/>
          </a:p>
        </p:txBody>
      </p:sp>
      <p:sp>
        <p:nvSpPr>
          <p:cNvPr id="16" name="object 3"/>
          <p:cNvSpPr/>
          <p:nvPr/>
        </p:nvSpPr>
        <p:spPr>
          <a:xfrm>
            <a:off x="1510153" y="290957"/>
            <a:ext cx="9144000" cy="771525"/>
          </a:xfrm>
          <a:custGeom>
            <a:avLst/>
            <a:gdLst/>
            <a:ahLst/>
            <a:cxnLst/>
            <a:rect l="l" t="t" r="r" b="b"/>
            <a:pathLst>
              <a:path w="9144000" h="771525">
                <a:moveTo>
                  <a:pt x="0" y="771262"/>
                </a:moveTo>
                <a:lnTo>
                  <a:pt x="9144000" y="771262"/>
                </a:lnTo>
                <a:lnTo>
                  <a:pt x="9144000" y="0"/>
                </a:lnTo>
                <a:lnTo>
                  <a:pt x="0" y="0"/>
                </a:lnTo>
                <a:lnTo>
                  <a:pt x="0" y="771262"/>
                </a:lnTo>
                <a:close/>
              </a:path>
            </a:pathLst>
          </a:custGeom>
          <a:solidFill>
            <a:srgbClr val="2F233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5"/>
          <p:cNvSpPr txBox="1">
            <a:spLocks noGrp="1"/>
          </p:cNvSpPr>
          <p:nvPr>
            <p:ph type="title"/>
          </p:nvPr>
        </p:nvSpPr>
        <p:spPr>
          <a:xfrm>
            <a:off x="3395972" y="546627"/>
            <a:ext cx="5647690" cy="331501"/>
          </a:xfrm>
          <a:prstGeom prst="rect">
            <a:avLst/>
          </a:prstGeom>
          <a:solidFill>
            <a:srgbClr val="5F4778"/>
          </a:solidFill>
        </p:spPr>
        <p:txBody>
          <a:bodyPr vert="horz" wrap="square" lIns="0" tIns="825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65"/>
              </a:spcBef>
            </a:pPr>
            <a:r>
              <a:rPr sz="2100" spc="5" dirty="0">
                <a:solidFill>
                  <a:schemeClr val="bg1"/>
                </a:solidFill>
              </a:rPr>
              <a:t>Things you </a:t>
            </a:r>
            <a:r>
              <a:rPr sz="2100" spc="25" dirty="0">
                <a:solidFill>
                  <a:schemeClr val="bg1"/>
                </a:solidFill>
              </a:rPr>
              <a:t>will </a:t>
            </a:r>
            <a:r>
              <a:rPr sz="2100" spc="15" dirty="0">
                <a:solidFill>
                  <a:schemeClr val="bg1"/>
                </a:solidFill>
              </a:rPr>
              <a:t>learn </a:t>
            </a:r>
            <a:r>
              <a:rPr sz="2100" dirty="0">
                <a:solidFill>
                  <a:schemeClr val="bg1"/>
                </a:solidFill>
              </a:rPr>
              <a:t>after </a:t>
            </a:r>
            <a:r>
              <a:rPr sz="2100" spc="-10" dirty="0">
                <a:solidFill>
                  <a:schemeClr val="bg1"/>
                </a:solidFill>
              </a:rPr>
              <a:t>this</a:t>
            </a:r>
            <a:r>
              <a:rPr sz="2100" spc="-370" dirty="0">
                <a:solidFill>
                  <a:schemeClr val="bg1"/>
                </a:solidFill>
              </a:rPr>
              <a:t> </a:t>
            </a:r>
            <a:r>
              <a:rPr sz="2100" spc="-5" dirty="0">
                <a:solidFill>
                  <a:schemeClr val="bg1"/>
                </a:solidFill>
              </a:rPr>
              <a:t>Session</a:t>
            </a:r>
            <a:endParaRPr sz="21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62" y="1462048"/>
            <a:ext cx="2687782" cy="4454039"/>
          </a:xfrm>
          <a:prstGeom prst="rect">
            <a:avLst/>
          </a:prstGeom>
        </p:spPr>
      </p:pic>
      <p:sp>
        <p:nvSpPr>
          <p:cNvPr id="7" name="object 9"/>
          <p:cNvSpPr txBox="1"/>
          <p:nvPr/>
        </p:nvSpPr>
        <p:spPr>
          <a:xfrm>
            <a:off x="4050493" y="2158609"/>
            <a:ext cx="3442335" cy="14770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spc="15" dirty="0">
                <a:solidFill>
                  <a:srgbClr val="595959"/>
                </a:solidFill>
                <a:latin typeface="Arial"/>
                <a:cs typeface="Arial"/>
              </a:rPr>
              <a:t>K-Means </a:t>
            </a:r>
            <a:r>
              <a:rPr sz="2100" b="1" spc="-10" dirty="0">
                <a:solidFill>
                  <a:srgbClr val="595959"/>
                </a:solidFill>
                <a:latin typeface="Arial"/>
                <a:cs typeface="Arial"/>
              </a:rPr>
              <a:t>Clustering:</a:t>
            </a:r>
            <a:r>
              <a:rPr sz="2100" b="1" spc="-18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2100" b="1" spc="20" dirty="0">
                <a:solidFill>
                  <a:srgbClr val="595959"/>
                </a:solidFill>
                <a:latin typeface="Arial"/>
                <a:cs typeface="Arial"/>
              </a:rPr>
              <a:t>Demo</a:t>
            </a:r>
            <a:endParaRPr sz="21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4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K –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Clustering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1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endParaRPr sz="1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595959"/>
              </a:buClr>
              <a:buFont typeface="Wingdings"/>
              <a:buChar char=""/>
            </a:pPr>
            <a:endParaRPr sz="1400" dirty="0">
              <a:latin typeface="Times New Roman"/>
              <a:cs typeface="Times New Roman"/>
            </a:endParaRPr>
          </a:p>
          <a:p>
            <a:pPr marL="628650" indent="-219710">
              <a:lnSpc>
                <a:spcPct val="100000"/>
              </a:lnSpc>
              <a:buFont typeface="Wingdings"/>
              <a:buChar char=""/>
              <a:tabLst>
                <a:tab pos="628015" algn="l"/>
                <a:tab pos="628650" algn="l"/>
              </a:tabLst>
            </a:pPr>
            <a:r>
              <a:rPr sz="1400" spc="15" dirty="0">
                <a:solidFill>
                  <a:srgbClr val="595959"/>
                </a:solidFill>
                <a:latin typeface="Arial"/>
                <a:cs typeface="Arial"/>
              </a:rPr>
              <a:t>K – </a:t>
            </a:r>
            <a:r>
              <a:rPr sz="1400" spc="-10" dirty="0">
                <a:solidFill>
                  <a:srgbClr val="595959"/>
                </a:solidFill>
                <a:latin typeface="Arial"/>
                <a:cs typeface="Arial"/>
              </a:rPr>
              <a:t>Means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Clustering </a:t>
            </a:r>
            <a:r>
              <a:rPr sz="1400" spc="-5" dirty="0">
                <a:solidFill>
                  <a:srgbClr val="595959"/>
                </a:solidFill>
                <a:latin typeface="Arial"/>
                <a:cs typeface="Arial"/>
              </a:rPr>
              <a:t>using</a:t>
            </a:r>
            <a:r>
              <a:rPr sz="1400" spc="-14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595959"/>
                </a:solidFill>
                <a:latin typeface="Arial"/>
                <a:cs typeface="Arial"/>
              </a:rPr>
              <a:t>sklearn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7388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949851" y="2800988"/>
            <a:ext cx="1720023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000" spc="5" dirty="0">
                <a:solidFill>
                  <a:srgbClr val="7F7F7F"/>
                </a:solidFill>
                <a:latin typeface="Arial"/>
                <a:cs typeface="Arial"/>
              </a:rPr>
              <a:t>Q</a:t>
            </a:r>
            <a:r>
              <a:rPr lang="en-US" sz="5000" spc="-5" dirty="0">
                <a:solidFill>
                  <a:srgbClr val="7F7F7F"/>
                </a:solidFill>
                <a:latin typeface="Arial"/>
                <a:cs typeface="Arial"/>
              </a:rPr>
              <a:t>U</a:t>
            </a:r>
            <a:r>
              <a:rPr lang="en-US" sz="5000" spc="20" dirty="0">
                <a:solidFill>
                  <a:srgbClr val="7F7F7F"/>
                </a:solidFill>
                <a:latin typeface="Arial"/>
                <a:cs typeface="Arial"/>
              </a:rPr>
              <a:t>I</a:t>
            </a:r>
            <a:r>
              <a:rPr lang="en-US" sz="5000" spc="15" dirty="0">
                <a:solidFill>
                  <a:srgbClr val="7F7F7F"/>
                </a:solidFill>
                <a:latin typeface="Arial"/>
                <a:cs typeface="Arial"/>
              </a:rPr>
              <a:t>Z</a:t>
            </a:r>
            <a:endParaRPr lang="en-US" sz="5000" dirty="0"/>
          </a:p>
        </p:txBody>
      </p:sp>
    </p:spTree>
    <p:extLst>
      <p:ext uri="{BB962C8B-B14F-4D97-AF65-F5344CB8AC3E}">
        <p14:creationId xmlns:p14="http://schemas.microsoft.com/office/powerpoint/2010/main" val="408992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62</a:t>
            </a:fld>
            <a:endParaRPr lang="en-IN"/>
          </a:p>
        </p:txBody>
      </p:sp>
      <p:sp>
        <p:nvSpPr>
          <p:cNvPr id="8" name="object 3"/>
          <p:cNvSpPr txBox="1">
            <a:spLocks noGrp="1"/>
          </p:cNvSpPr>
          <p:nvPr>
            <p:ph type="title"/>
          </p:nvPr>
        </p:nvSpPr>
        <p:spPr>
          <a:xfrm>
            <a:off x="4490853" y="766325"/>
            <a:ext cx="1967503" cy="632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950" b="0" spc="-35" dirty="0">
                <a:solidFill>
                  <a:srgbClr val="7F7F7F"/>
                </a:solidFill>
                <a:latin typeface="Arial"/>
                <a:cs typeface="Arial"/>
              </a:rPr>
              <a:t>Quiz</a:t>
            </a:r>
            <a:r>
              <a:rPr sz="3950" b="0" spc="12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3950" b="0" spc="15" dirty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52" name="object 4"/>
          <p:cNvSpPr/>
          <p:nvPr/>
        </p:nvSpPr>
        <p:spPr>
          <a:xfrm>
            <a:off x="3268399" y="1852906"/>
            <a:ext cx="6190698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"/>
          <p:cNvSpPr txBox="1"/>
          <p:nvPr/>
        </p:nvSpPr>
        <p:spPr>
          <a:xfrm>
            <a:off x="3598350" y="1925611"/>
            <a:ext cx="5348388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7075" marR="5080" indent="-715010">
              <a:lnSpc>
                <a:spcPct val="101000"/>
              </a:lnSpc>
              <a:spcBef>
                <a:spcPts val="105"/>
              </a:spcBef>
            </a:pP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minimum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no.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variables/ features 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required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to perform</a:t>
            </a:r>
            <a:r>
              <a:rPr sz="1550" spc="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clustering?</a:t>
            </a:r>
            <a:endParaRPr sz="1550">
              <a:latin typeface="Arial"/>
              <a:cs typeface="Arial"/>
            </a:endParaRPr>
          </a:p>
        </p:txBody>
      </p:sp>
      <p:sp>
        <p:nvSpPr>
          <p:cNvPr id="54" name="object 6"/>
          <p:cNvSpPr/>
          <p:nvPr/>
        </p:nvSpPr>
        <p:spPr>
          <a:xfrm>
            <a:off x="3268399" y="2624569"/>
            <a:ext cx="83341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7"/>
          <p:cNvSpPr/>
          <p:nvPr/>
        </p:nvSpPr>
        <p:spPr>
          <a:xfrm>
            <a:off x="3961569" y="2624569"/>
            <a:ext cx="530712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8"/>
          <p:cNvSpPr txBox="1"/>
          <p:nvPr/>
        </p:nvSpPr>
        <p:spPr>
          <a:xfrm>
            <a:off x="6147876" y="2820835"/>
            <a:ext cx="1747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57" name="object 9"/>
          <p:cNvSpPr/>
          <p:nvPr/>
        </p:nvSpPr>
        <p:spPr>
          <a:xfrm>
            <a:off x="3268399" y="3357094"/>
            <a:ext cx="83341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10"/>
          <p:cNvSpPr/>
          <p:nvPr/>
        </p:nvSpPr>
        <p:spPr>
          <a:xfrm>
            <a:off x="3961569" y="3357094"/>
            <a:ext cx="530712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1"/>
          <p:cNvSpPr txBox="1"/>
          <p:nvPr/>
        </p:nvSpPr>
        <p:spPr>
          <a:xfrm>
            <a:off x="6147876" y="3554641"/>
            <a:ext cx="1747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60" name="object 12"/>
          <p:cNvSpPr/>
          <p:nvPr/>
        </p:nvSpPr>
        <p:spPr>
          <a:xfrm>
            <a:off x="3268399" y="4089507"/>
            <a:ext cx="83341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13"/>
          <p:cNvSpPr/>
          <p:nvPr/>
        </p:nvSpPr>
        <p:spPr>
          <a:xfrm>
            <a:off x="3961569" y="4089507"/>
            <a:ext cx="530712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14"/>
          <p:cNvSpPr txBox="1"/>
          <p:nvPr/>
        </p:nvSpPr>
        <p:spPr>
          <a:xfrm>
            <a:off x="6147876" y="4288448"/>
            <a:ext cx="1747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63" name="object 15"/>
          <p:cNvSpPr/>
          <p:nvPr/>
        </p:nvSpPr>
        <p:spPr>
          <a:xfrm>
            <a:off x="3268399" y="4821979"/>
            <a:ext cx="83341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16"/>
          <p:cNvSpPr/>
          <p:nvPr/>
        </p:nvSpPr>
        <p:spPr>
          <a:xfrm>
            <a:off x="3961569" y="4821979"/>
            <a:ext cx="5307122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17"/>
          <p:cNvSpPr txBox="1"/>
          <p:nvPr/>
        </p:nvSpPr>
        <p:spPr>
          <a:xfrm>
            <a:off x="6147876" y="5022131"/>
            <a:ext cx="1747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66" name="object 18"/>
          <p:cNvSpPr/>
          <p:nvPr/>
        </p:nvSpPr>
        <p:spPr>
          <a:xfrm>
            <a:off x="3378388" y="2768474"/>
            <a:ext cx="589051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19"/>
          <p:cNvSpPr txBox="1"/>
          <p:nvPr/>
        </p:nvSpPr>
        <p:spPr>
          <a:xfrm>
            <a:off x="3526849" y="2805341"/>
            <a:ext cx="21684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68" name="object 20"/>
          <p:cNvSpPr/>
          <p:nvPr/>
        </p:nvSpPr>
        <p:spPr>
          <a:xfrm>
            <a:off x="3377245" y="3516627"/>
            <a:ext cx="589051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21"/>
          <p:cNvSpPr txBox="1"/>
          <p:nvPr/>
        </p:nvSpPr>
        <p:spPr>
          <a:xfrm>
            <a:off x="3525579" y="3554895"/>
            <a:ext cx="21684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70" name="object 22"/>
          <p:cNvSpPr/>
          <p:nvPr/>
        </p:nvSpPr>
        <p:spPr>
          <a:xfrm>
            <a:off x="3377245" y="4220334"/>
            <a:ext cx="589051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3"/>
          <p:cNvSpPr txBox="1"/>
          <p:nvPr/>
        </p:nvSpPr>
        <p:spPr>
          <a:xfrm>
            <a:off x="3525579" y="4259873"/>
            <a:ext cx="21684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72" name="object 24"/>
          <p:cNvSpPr/>
          <p:nvPr/>
        </p:nvSpPr>
        <p:spPr>
          <a:xfrm>
            <a:off x="3377245" y="5019315"/>
            <a:ext cx="589051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25"/>
          <p:cNvSpPr txBox="1"/>
          <p:nvPr/>
        </p:nvSpPr>
        <p:spPr>
          <a:xfrm>
            <a:off x="3525579" y="5060231"/>
            <a:ext cx="21684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5462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63</a:t>
            </a:fld>
            <a:endParaRPr lang="en-IN"/>
          </a:p>
        </p:txBody>
      </p:sp>
      <p:sp>
        <p:nvSpPr>
          <p:cNvPr id="8" name="object 3"/>
          <p:cNvSpPr txBox="1">
            <a:spLocks noGrp="1"/>
          </p:cNvSpPr>
          <p:nvPr>
            <p:ph type="title"/>
          </p:nvPr>
        </p:nvSpPr>
        <p:spPr>
          <a:xfrm>
            <a:off x="4490853" y="774255"/>
            <a:ext cx="3198420" cy="6245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US" sz="3950" b="0" spc="-35" dirty="0" smtClean="0">
                <a:solidFill>
                  <a:srgbClr val="7F7F7F"/>
                </a:solidFill>
                <a:latin typeface="Arial"/>
                <a:cs typeface="Arial"/>
              </a:rPr>
              <a:t>Answer</a:t>
            </a:r>
            <a:r>
              <a:rPr sz="3950" b="0" spc="125" dirty="0" smtClean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3950" b="0" spc="15" dirty="0" smtClean="0">
                <a:solidFill>
                  <a:srgbClr val="7F7F7F"/>
                </a:solidFill>
                <a:latin typeface="Arial"/>
                <a:cs typeface="Arial"/>
              </a:rPr>
              <a:t>1</a:t>
            </a:r>
            <a:endParaRPr sz="3950" dirty="0">
              <a:latin typeface="Arial"/>
              <a:cs typeface="Arial"/>
            </a:endParaRPr>
          </a:p>
        </p:txBody>
      </p:sp>
      <p:sp>
        <p:nvSpPr>
          <p:cNvPr id="74" name="object 4"/>
          <p:cNvSpPr/>
          <p:nvPr/>
        </p:nvSpPr>
        <p:spPr>
          <a:xfrm>
            <a:off x="3406944" y="2033015"/>
            <a:ext cx="6449277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5"/>
          <p:cNvSpPr txBox="1"/>
          <p:nvPr/>
        </p:nvSpPr>
        <p:spPr>
          <a:xfrm>
            <a:off x="3736894" y="2105720"/>
            <a:ext cx="5571785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27075" marR="5080" indent="-715010">
              <a:lnSpc>
                <a:spcPct val="101000"/>
              </a:lnSpc>
              <a:spcBef>
                <a:spcPts val="105"/>
              </a:spcBef>
            </a:pP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What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minimum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no.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variables/ features 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required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to perform</a:t>
            </a:r>
            <a:r>
              <a:rPr sz="1550" spc="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clustering?</a:t>
            </a:r>
            <a:endParaRPr sz="1550">
              <a:latin typeface="Arial"/>
              <a:cs typeface="Arial"/>
            </a:endParaRPr>
          </a:p>
        </p:txBody>
      </p:sp>
      <p:sp>
        <p:nvSpPr>
          <p:cNvPr id="76" name="object 6"/>
          <p:cNvSpPr/>
          <p:nvPr/>
        </p:nvSpPr>
        <p:spPr>
          <a:xfrm>
            <a:off x="3406943" y="2804678"/>
            <a:ext cx="868221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"/>
          <p:cNvSpPr/>
          <p:nvPr/>
        </p:nvSpPr>
        <p:spPr>
          <a:xfrm>
            <a:off x="4100114" y="2804678"/>
            <a:ext cx="55287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8"/>
          <p:cNvSpPr txBox="1"/>
          <p:nvPr/>
        </p:nvSpPr>
        <p:spPr>
          <a:xfrm>
            <a:off x="6286421" y="3000944"/>
            <a:ext cx="1820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1550">
              <a:latin typeface="Arial"/>
              <a:cs typeface="Arial"/>
            </a:endParaRPr>
          </a:p>
        </p:txBody>
      </p:sp>
      <p:sp>
        <p:nvSpPr>
          <p:cNvPr id="79" name="object 9"/>
          <p:cNvSpPr/>
          <p:nvPr/>
        </p:nvSpPr>
        <p:spPr>
          <a:xfrm>
            <a:off x="3406943" y="3537203"/>
            <a:ext cx="868221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9F8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10"/>
          <p:cNvSpPr/>
          <p:nvPr/>
        </p:nvSpPr>
        <p:spPr>
          <a:xfrm>
            <a:off x="4100114" y="3537203"/>
            <a:ext cx="55287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9F8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11"/>
          <p:cNvSpPr txBox="1"/>
          <p:nvPr/>
        </p:nvSpPr>
        <p:spPr>
          <a:xfrm>
            <a:off x="6286421" y="3734750"/>
            <a:ext cx="1820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82" name="object 12"/>
          <p:cNvSpPr/>
          <p:nvPr/>
        </p:nvSpPr>
        <p:spPr>
          <a:xfrm>
            <a:off x="3406943" y="4269616"/>
            <a:ext cx="868221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13"/>
          <p:cNvSpPr/>
          <p:nvPr/>
        </p:nvSpPr>
        <p:spPr>
          <a:xfrm>
            <a:off x="4100114" y="4269616"/>
            <a:ext cx="55287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14"/>
          <p:cNvSpPr txBox="1"/>
          <p:nvPr/>
        </p:nvSpPr>
        <p:spPr>
          <a:xfrm>
            <a:off x="6286421" y="4468557"/>
            <a:ext cx="1820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85" name="object 15"/>
          <p:cNvSpPr/>
          <p:nvPr/>
        </p:nvSpPr>
        <p:spPr>
          <a:xfrm>
            <a:off x="3406943" y="5002088"/>
            <a:ext cx="868221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6"/>
          <p:cNvSpPr/>
          <p:nvPr/>
        </p:nvSpPr>
        <p:spPr>
          <a:xfrm>
            <a:off x="4100114" y="5002088"/>
            <a:ext cx="55287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7"/>
          <p:cNvSpPr txBox="1"/>
          <p:nvPr/>
        </p:nvSpPr>
        <p:spPr>
          <a:xfrm>
            <a:off x="6286421" y="5202240"/>
            <a:ext cx="1820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88" name="object 18"/>
          <p:cNvSpPr/>
          <p:nvPr/>
        </p:nvSpPr>
        <p:spPr>
          <a:xfrm>
            <a:off x="3516933" y="2948583"/>
            <a:ext cx="61365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9"/>
          <p:cNvSpPr txBox="1"/>
          <p:nvPr/>
        </p:nvSpPr>
        <p:spPr>
          <a:xfrm>
            <a:off x="3665394" y="2985450"/>
            <a:ext cx="225906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90" name="object 20"/>
          <p:cNvSpPr/>
          <p:nvPr/>
        </p:nvSpPr>
        <p:spPr>
          <a:xfrm>
            <a:off x="3515790" y="3696736"/>
            <a:ext cx="61365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9F87B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1"/>
          <p:cNvSpPr txBox="1"/>
          <p:nvPr/>
        </p:nvSpPr>
        <p:spPr>
          <a:xfrm>
            <a:off x="3664124" y="3735004"/>
            <a:ext cx="225906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92" name="object 22"/>
          <p:cNvSpPr/>
          <p:nvPr/>
        </p:nvSpPr>
        <p:spPr>
          <a:xfrm>
            <a:off x="3515790" y="4400443"/>
            <a:ext cx="61365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3"/>
          <p:cNvSpPr txBox="1"/>
          <p:nvPr/>
        </p:nvSpPr>
        <p:spPr>
          <a:xfrm>
            <a:off x="3664124" y="4439982"/>
            <a:ext cx="225906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94" name="object 24"/>
          <p:cNvSpPr/>
          <p:nvPr/>
        </p:nvSpPr>
        <p:spPr>
          <a:xfrm>
            <a:off x="3515790" y="5199424"/>
            <a:ext cx="61365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F47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25"/>
          <p:cNvSpPr txBox="1"/>
          <p:nvPr/>
        </p:nvSpPr>
        <p:spPr>
          <a:xfrm>
            <a:off x="3664124" y="5240340"/>
            <a:ext cx="225906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283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07046" y="972189"/>
            <a:ext cx="1804020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Quiz 2</a:t>
            </a:r>
          </a:p>
        </p:txBody>
      </p:sp>
      <p:sp>
        <p:nvSpPr>
          <p:cNvPr id="26" name="object 4"/>
          <p:cNvSpPr/>
          <p:nvPr/>
        </p:nvSpPr>
        <p:spPr>
          <a:xfrm>
            <a:off x="3545489" y="1908324"/>
            <a:ext cx="5932120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 txBox="1"/>
          <p:nvPr/>
        </p:nvSpPr>
        <p:spPr>
          <a:xfrm>
            <a:off x="3999265" y="1981029"/>
            <a:ext cx="4832688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275" marR="5080" indent="-410209">
              <a:lnSpc>
                <a:spcPct val="101000"/>
              </a:lnSpc>
              <a:spcBef>
                <a:spcPts val="10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In which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following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cases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K-Means 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clustering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fail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to give good</a:t>
            </a:r>
            <a:r>
              <a:rPr sz="155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results?</a:t>
            </a:r>
            <a:endParaRPr sz="1550">
              <a:latin typeface="Arial"/>
              <a:cs typeface="Arial"/>
            </a:endParaRPr>
          </a:p>
        </p:txBody>
      </p:sp>
      <p:sp>
        <p:nvSpPr>
          <p:cNvPr id="28" name="object 6"/>
          <p:cNvSpPr/>
          <p:nvPr/>
        </p:nvSpPr>
        <p:spPr>
          <a:xfrm>
            <a:off x="3545488" y="2679987"/>
            <a:ext cx="7985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4238659" y="2679987"/>
            <a:ext cx="5085450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/>
          <p:nvPr/>
        </p:nvSpPr>
        <p:spPr>
          <a:xfrm>
            <a:off x="5232944" y="2876253"/>
            <a:ext cx="265088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points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55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outliers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1" name="object 9"/>
          <p:cNvSpPr/>
          <p:nvPr/>
        </p:nvSpPr>
        <p:spPr>
          <a:xfrm>
            <a:off x="3545488" y="3412512"/>
            <a:ext cx="7985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4238659" y="3412512"/>
            <a:ext cx="5085450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 txBox="1"/>
          <p:nvPr/>
        </p:nvSpPr>
        <p:spPr>
          <a:xfrm>
            <a:off x="4765710" y="3610059"/>
            <a:ext cx="3788307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points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55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densities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4" name="object 12"/>
          <p:cNvSpPr/>
          <p:nvPr/>
        </p:nvSpPr>
        <p:spPr>
          <a:xfrm>
            <a:off x="3545488" y="4144925"/>
            <a:ext cx="7985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3"/>
          <p:cNvSpPr/>
          <p:nvPr/>
        </p:nvSpPr>
        <p:spPr>
          <a:xfrm>
            <a:off x="4238659" y="4144925"/>
            <a:ext cx="5085450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 txBox="1"/>
          <p:nvPr/>
        </p:nvSpPr>
        <p:spPr>
          <a:xfrm>
            <a:off x="4851436" y="4343866"/>
            <a:ext cx="4004627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points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with non-convex</a:t>
            </a:r>
            <a:r>
              <a:rPr sz="1550" spc="2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shapes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7" name="object 15"/>
          <p:cNvSpPr/>
          <p:nvPr/>
        </p:nvSpPr>
        <p:spPr>
          <a:xfrm>
            <a:off x="3545488" y="4877397"/>
            <a:ext cx="798599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4238659" y="4877397"/>
            <a:ext cx="5085450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 txBox="1"/>
          <p:nvPr/>
        </p:nvSpPr>
        <p:spPr>
          <a:xfrm>
            <a:off x="5614325" y="5077549"/>
            <a:ext cx="1735209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40" name="object 18"/>
          <p:cNvSpPr/>
          <p:nvPr/>
        </p:nvSpPr>
        <p:spPr>
          <a:xfrm>
            <a:off x="3655478" y="2823892"/>
            <a:ext cx="56444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 txBox="1"/>
          <p:nvPr/>
        </p:nvSpPr>
        <p:spPr>
          <a:xfrm>
            <a:off x="3803938" y="2860759"/>
            <a:ext cx="20779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42" name="object 20"/>
          <p:cNvSpPr/>
          <p:nvPr/>
        </p:nvSpPr>
        <p:spPr>
          <a:xfrm>
            <a:off x="3654335" y="3572045"/>
            <a:ext cx="56444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 txBox="1"/>
          <p:nvPr/>
        </p:nvSpPr>
        <p:spPr>
          <a:xfrm>
            <a:off x="3802668" y="3610313"/>
            <a:ext cx="20779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44" name="object 22"/>
          <p:cNvSpPr/>
          <p:nvPr/>
        </p:nvSpPr>
        <p:spPr>
          <a:xfrm>
            <a:off x="3654335" y="4275752"/>
            <a:ext cx="56444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/>
          <p:cNvSpPr txBox="1"/>
          <p:nvPr/>
        </p:nvSpPr>
        <p:spPr>
          <a:xfrm>
            <a:off x="3802668" y="4315291"/>
            <a:ext cx="20779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46" name="object 24"/>
          <p:cNvSpPr/>
          <p:nvPr/>
        </p:nvSpPr>
        <p:spPr>
          <a:xfrm>
            <a:off x="3654335" y="5074733"/>
            <a:ext cx="56444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/>
          <p:cNvSpPr txBox="1"/>
          <p:nvPr/>
        </p:nvSpPr>
        <p:spPr>
          <a:xfrm>
            <a:off x="3802668" y="5115649"/>
            <a:ext cx="20779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757855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07046" y="972189"/>
            <a:ext cx="280814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Answer 2</a:t>
            </a:r>
          </a:p>
        </p:txBody>
      </p:sp>
      <p:sp>
        <p:nvSpPr>
          <p:cNvPr id="25" name="object 4"/>
          <p:cNvSpPr/>
          <p:nvPr/>
        </p:nvSpPr>
        <p:spPr>
          <a:xfrm>
            <a:off x="3573199" y="1922179"/>
            <a:ext cx="6756339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"/>
          <p:cNvSpPr txBox="1"/>
          <p:nvPr/>
        </p:nvSpPr>
        <p:spPr>
          <a:xfrm>
            <a:off x="4026975" y="1994884"/>
            <a:ext cx="5504150" cy="504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22275" marR="5080" indent="-410209">
              <a:lnSpc>
                <a:spcPct val="101000"/>
              </a:lnSpc>
              <a:spcBef>
                <a:spcPts val="10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In which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 following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cases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K-Means 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clustering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fail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to give good</a:t>
            </a:r>
            <a:r>
              <a:rPr sz="1550" spc="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results?</a:t>
            </a:r>
            <a:endParaRPr sz="1550">
              <a:latin typeface="Arial"/>
              <a:cs typeface="Arial"/>
            </a:endParaRPr>
          </a:p>
        </p:txBody>
      </p:sp>
      <p:sp>
        <p:nvSpPr>
          <p:cNvPr id="49" name="object 6"/>
          <p:cNvSpPr/>
          <p:nvPr/>
        </p:nvSpPr>
        <p:spPr>
          <a:xfrm>
            <a:off x="3573199" y="2693842"/>
            <a:ext cx="90955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7"/>
          <p:cNvSpPr/>
          <p:nvPr/>
        </p:nvSpPr>
        <p:spPr>
          <a:xfrm>
            <a:off x="4266369" y="2693842"/>
            <a:ext cx="579203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8"/>
          <p:cNvSpPr txBox="1"/>
          <p:nvPr/>
        </p:nvSpPr>
        <p:spPr>
          <a:xfrm>
            <a:off x="5260654" y="2890108"/>
            <a:ext cx="301920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points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1550" spc="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outliers</a:t>
            </a:r>
            <a:endParaRPr sz="1550">
              <a:latin typeface="Arial"/>
              <a:cs typeface="Arial"/>
            </a:endParaRPr>
          </a:p>
        </p:txBody>
      </p:sp>
      <p:sp>
        <p:nvSpPr>
          <p:cNvPr id="52" name="object 9"/>
          <p:cNvSpPr/>
          <p:nvPr/>
        </p:nvSpPr>
        <p:spPr>
          <a:xfrm>
            <a:off x="3573199" y="3426367"/>
            <a:ext cx="90955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0"/>
          <p:cNvSpPr/>
          <p:nvPr/>
        </p:nvSpPr>
        <p:spPr>
          <a:xfrm>
            <a:off x="4266369" y="3426367"/>
            <a:ext cx="579203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1"/>
          <p:cNvSpPr txBox="1"/>
          <p:nvPr/>
        </p:nvSpPr>
        <p:spPr>
          <a:xfrm>
            <a:off x="4793420" y="3623914"/>
            <a:ext cx="431466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points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different</a:t>
            </a:r>
            <a:r>
              <a:rPr sz="1550" spc="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densities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55" name="object 12"/>
          <p:cNvSpPr/>
          <p:nvPr/>
        </p:nvSpPr>
        <p:spPr>
          <a:xfrm>
            <a:off x="3573199" y="4158780"/>
            <a:ext cx="90955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3"/>
          <p:cNvSpPr/>
          <p:nvPr/>
        </p:nvSpPr>
        <p:spPr>
          <a:xfrm>
            <a:off x="4266369" y="4158780"/>
            <a:ext cx="579203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4"/>
          <p:cNvSpPr txBox="1"/>
          <p:nvPr/>
        </p:nvSpPr>
        <p:spPr>
          <a:xfrm>
            <a:off x="4879146" y="4357721"/>
            <a:ext cx="4561037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points </a:t>
            </a: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with non-convex</a:t>
            </a:r>
            <a:r>
              <a:rPr sz="1550" spc="2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shapes</a:t>
            </a:r>
            <a:endParaRPr sz="1550">
              <a:latin typeface="Arial"/>
              <a:cs typeface="Arial"/>
            </a:endParaRPr>
          </a:p>
        </p:txBody>
      </p:sp>
      <p:sp>
        <p:nvSpPr>
          <p:cNvPr id="58" name="object 15"/>
          <p:cNvSpPr/>
          <p:nvPr/>
        </p:nvSpPr>
        <p:spPr>
          <a:xfrm>
            <a:off x="3573199" y="4891252"/>
            <a:ext cx="90955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6"/>
          <p:cNvSpPr/>
          <p:nvPr/>
        </p:nvSpPr>
        <p:spPr>
          <a:xfrm>
            <a:off x="4266369" y="4891252"/>
            <a:ext cx="5792031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7"/>
          <p:cNvSpPr txBox="1"/>
          <p:nvPr/>
        </p:nvSpPr>
        <p:spPr>
          <a:xfrm>
            <a:off x="5642036" y="5091404"/>
            <a:ext cx="197630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All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61" name="object 18"/>
          <p:cNvSpPr/>
          <p:nvPr/>
        </p:nvSpPr>
        <p:spPr>
          <a:xfrm>
            <a:off x="3683189" y="2837747"/>
            <a:ext cx="64287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19"/>
          <p:cNvSpPr txBox="1"/>
          <p:nvPr/>
        </p:nvSpPr>
        <p:spPr>
          <a:xfrm>
            <a:off x="3831649" y="2874614"/>
            <a:ext cx="23666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63" name="object 20"/>
          <p:cNvSpPr/>
          <p:nvPr/>
        </p:nvSpPr>
        <p:spPr>
          <a:xfrm>
            <a:off x="3682046" y="3585900"/>
            <a:ext cx="64287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1"/>
          <p:cNvSpPr txBox="1"/>
          <p:nvPr/>
        </p:nvSpPr>
        <p:spPr>
          <a:xfrm>
            <a:off x="3830379" y="3624168"/>
            <a:ext cx="23666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65" name="object 22"/>
          <p:cNvSpPr/>
          <p:nvPr/>
        </p:nvSpPr>
        <p:spPr>
          <a:xfrm>
            <a:off x="3682046" y="4289607"/>
            <a:ext cx="64287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3"/>
          <p:cNvSpPr txBox="1"/>
          <p:nvPr/>
        </p:nvSpPr>
        <p:spPr>
          <a:xfrm>
            <a:off x="3830379" y="4329146"/>
            <a:ext cx="23666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67" name="object 24"/>
          <p:cNvSpPr/>
          <p:nvPr/>
        </p:nvSpPr>
        <p:spPr>
          <a:xfrm>
            <a:off x="3682046" y="5088588"/>
            <a:ext cx="642872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25"/>
          <p:cNvSpPr txBox="1"/>
          <p:nvPr/>
        </p:nvSpPr>
        <p:spPr>
          <a:xfrm>
            <a:off x="3830379" y="5129504"/>
            <a:ext cx="23666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202674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07046" y="972189"/>
            <a:ext cx="1804020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Quiz </a:t>
            </a:r>
            <a:r>
              <a:rPr lang="en-US" sz="3950" cap="all" spc="-35" dirty="0" smtClean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3</a:t>
            </a:r>
            <a:endParaRPr lang="en-US" sz="3950" cap="all" spc="-35" dirty="0">
              <a:solidFill>
                <a:srgbClr val="7F7F7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25" name="object 4"/>
          <p:cNvSpPr/>
          <p:nvPr/>
        </p:nvSpPr>
        <p:spPr>
          <a:xfrm>
            <a:off x="1868416" y="1918853"/>
            <a:ext cx="4858385" cy="858519"/>
          </a:xfrm>
          <a:custGeom>
            <a:avLst/>
            <a:gdLst/>
            <a:ahLst/>
            <a:cxnLst/>
            <a:rect l="l" t="t" r="r" b="b"/>
            <a:pathLst>
              <a:path w="4858385" h="858519">
                <a:moveTo>
                  <a:pt x="4792605" y="0"/>
                </a:moveTo>
                <a:lnTo>
                  <a:pt x="65388" y="0"/>
                </a:lnTo>
                <a:lnTo>
                  <a:pt x="39932" y="6733"/>
                </a:lnTo>
                <a:lnTo>
                  <a:pt x="19148" y="25111"/>
                </a:lnTo>
                <a:lnTo>
                  <a:pt x="5137" y="52399"/>
                </a:lnTo>
                <a:lnTo>
                  <a:pt x="0" y="85862"/>
                </a:lnTo>
                <a:lnTo>
                  <a:pt x="0" y="772424"/>
                </a:lnTo>
                <a:lnTo>
                  <a:pt x="5137" y="805817"/>
                </a:lnTo>
                <a:lnTo>
                  <a:pt x="19148" y="833102"/>
                </a:lnTo>
                <a:lnTo>
                  <a:pt x="39932" y="851505"/>
                </a:lnTo>
                <a:lnTo>
                  <a:pt x="65388" y="858255"/>
                </a:lnTo>
                <a:lnTo>
                  <a:pt x="4792605" y="858255"/>
                </a:lnTo>
                <a:lnTo>
                  <a:pt x="4818037" y="851505"/>
                </a:lnTo>
                <a:lnTo>
                  <a:pt x="4838831" y="833102"/>
                </a:lnTo>
                <a:lnTo>
                  <a:pt x="4852865" y="805817"/>
                </a:lnTo>
                <a:lnTo>
                  <a:pt x="4858015" y="772424"/>
                </a:lnTo>
                <a:lnTo>
                  <a:pt x="4858015" y="85862"/>
                </a:lnTo>
                <a:lnTo>
                  <a:pt x="4852865" y="52399"/>
                </a:lnTo>
                <a:lnTo>
                  <a:pt x="4838831" y="25111"/>
                </a:lnTo>
                <a:lnTo>
                  <a:pt x="4818037" y="6733"/>
                </a:lnTo>
                <a:lnTo>
                  <a:pt x="4792605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5"/>
          <p:cNvSpPr txBox="1"/>
          <p:nvPr/>
        </p:nvSpPr>
        <p:spPr>
          <a:xfrm>
            <a:off x="1910199" y="2007687"/>
            <a:ext cx="459803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Assume,</a:t>
            </a:r>
            <a:r>
              <a:rPr sz="14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want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observations</a:t>
            </a:r>
            <a:r>
              <a:rPr sz="14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clusters 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using K-Means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clustering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algorithm.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After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first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iteration 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clusters,</a:t>
            </a:r>
            <a:r>
              <a:rPr sz="14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C2,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observations: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49" name="object 6"/>
          <p:cNvSpPr/>
          <p:nvPr/>
        </p:nvSpPr>
        <p:spPr>
          <a:xfrm>
            <a:off x="1868416" y="2819781"/>
            <a:ext cx="654050" cy="654685"/>
          </a:xfrm>
          <a:custGeom>
            <a:avLst/>
            <a:gdLst/>
            <a:ahLst/>
            <a:cxnLst/>
            <a:rect l="l" t="t" r="r" b="b"/>
            <a:pathLst>
              <a:path w="654050" h="654685">
                <a:moveTo>
                  <a:pt x="544948" y="0"/>
                </a:moveTo>
                <a:lnTo>
                  <a:pt x="109014" y="0"/>
                </a:lnTo>
                <a:lnTo>
                  <a:pt x="66580" y="8579"/>
                </a:lnTo>
                <a:lnTo>
                  <a:pt x="31928" y="31969"/>
                </a:lnTo>
                <a:lnTo>
                  <a:pt x="8566" y="66646"/>
                </a:lnTo>
                <a:lnTo>
                  <a:pt x="0" y="109087"/>
                </a:lnTo>
                <a:lnTo>
                  <a:pt x="0" y="544967"/>
                </a:lnTo>
                <a:lnTo>
                  <a:pt x="8566" y="587409"/>
                </a:lnTo>
                <a:lnTo>
                  <a:pt x="31928" y="622089"/>
                </a:lnTo>
                <a:lnTo>
                  <a:pt x="66580" y="645483"/>
                </a:lnTo>
                <a:lnTo>
                  <a:pt x="109014" y="654064"/>
                </a:lnTo>
                <a:lnTo>
                  <a:pt x="544948" y="654064"/>
                </a:lnTo>
                <a:lnTo>
                  <a:pt x="587370" y="645483"/>
                </a:lnTo>
                <a:lnTo>
                  <a:pt x="622006" y="622089"/>
                </a:lnTo>
                <a:lnTo>
                  <a:pt x="645354" y="587409"/>
                </a:lnTo>
                <a:lnTo>
                  <a:pt x="653914" y="544967"/>
                </a:lnTo>
                <a:lnTo>
                  <a:pt x="653914" y="109087"/>
                </a:lnTo>
                <a:lnTo>
                  <a:pt x="645354" y="66646"/>
                </a:lnTo>
                <a:lnTo>
                  <a:pt x="622006" y="31969"/>
                </a:lnTo>
                <a:lnTo>
                  <a:pt x="587370" y="8579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7"/>
          <p:cNvSpPr/>
          <p:nvPr/>
        </p:nvSpPr>
        <p:spPr>
          <a:xfrm>
            <a:off x="2561573" y="2819781"/>
            <a:ext cx="4164965" cy="654685"/>
          </a:xfrm>
          <a:custGeom>
            <a:avLst/>
            <a:gdLst/>
            <a:ahLst/>
            <a:cxnLst/>
            <a:rect l="l" t="t" r="r" b="b"/>
            <a:pathLst>
              <a:path w="4164965" h="654685">
                <a:moveTo>
                  <a:pt x="4055891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67"/>
                </a:lnTo>
                <a:lnTo>
                  <a:pt x="8581" y="587409"/>
                </a:lnTo>
                <a:lnTo>
                  <a:pt x="31974" y="622089"/>
                </a:lnTo>
                <a:lnTo>
                  <a:pt x="66654" y="645483"/>
                </a:lnTo>
                <a:lnTo>
                  <a:pt x="109097" y="654064"/>
                </a:lnTo>
                <a:lnTo>
                  <a:pt x="4055891" y="654064"/>
                </a:lnTo>
                <a:lnTo>
                  <a:pt x="4098313" y="645483"/>
                </a:lnTo>
                <a:lnTo>
                  <a:pt x="4132948" y="622089"/>
                </a:lnTo>
                <a:lnTo>
                  <a:pt x="4156296" y="587409"/>
                </a:lnTo>
                <a:lnTo>
                  <a:pt x="4164857" y="544967"/>
                </a:lnTo>
                <a:lnTo>
                  <a:pt x="4164857" y="109087"/>
                </a:lnTo>
                <a:lnTo>
                  <a:pt x="4156296" y="66646"/>
                </a:lnTo>
                <a:lnTo>
                  <a:pt x="4132948" y="31969"/>
                </a:lnTo>
                <a:lnTo>
                  <a:pt x="4098313" y="8579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8"/>
          <p:cNvSpPr txBox="1"/>
          <p:nvPr/>
        </p:nvSpPr>
        <p:spPr>
          <a:xfrm>
            <a:off x="2724901" y="3021783"/>
            <a:ext cx="229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(4,4),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(2,2),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C3: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(7,7)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2" name="object 9"/>
          <p:cNvSpPr/>
          <p:nvPr/>
        </p:nvSpPr>
        <p:spPr>
          <a:xfrm>
            <a:off x="1868416" y="3552332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48" y="0"/>
                </a:moveTo>
                <a:lnTo>
                  <a:pt x="109014" y="0"/>
                </a:lnTo>
                <a:lnTo>
                  <a:pt x="66580" y="8560"/>
                </a:lnTo>
                <a:lnTo>
                  <a:pt x="31928" y="31908"/>
                </a:lnTo>
                <a:lnTo>
                  <a:pt x="8566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66" y="587370"/>
                </a:lnTo>
                <a:lnTo>
                  <a:pt x="31928" y="622006"/>
                </a:lnTo>
                <a:lnTo>
                  <a:pt x="66580" y="645354"/>
                </a:lnTo>
                <a:lnTo>
                  <a:pt x="109014" y="653914"/>
                </a:lnTo>
                <a:lnTo>
                  <a:pt x="544948" y="653914"/>
                </a:lnTo>
                <a:lnTo>
                  <a:pt x="587370" y="645354"/>
                </a:lnTo>
                <a:lnTo>
                  <a:pt x="622006" y="622006"/>
                </a:lnTo>
                <a:lnTo>
                  <a:pt x="645354" y="587370"/>
                </a:lnTo>
                <a:lnTo>
                  <a:pt x="653914" y="544948"/>
                </a:lnTo>
                <a:lnTo>
                  <a:pt x="653914" y="108966"/>
                </a:lnTo>
                <a:lnTo>
                  <a:pt x="645354" y="66544"/>
                </a:lnTo>
                <a:lnTo>
                  <a:pt x="622006" y="31908"/>
                </a:lnTo>
                <a:lnTo>
                  <a:pt x="587370" y="8560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10"/>
          <p:cNvSpPr/>
          <p:nvPr/>
        </p:nvSpPr>
        <p:spPr>
          <a:xfrm>
            <a:off x="2561573" y="3552332"/>
            <a:ext cx="416496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91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81" y="587370"/>
                </a:lnTo>
                <a:lnTo>
                  <a:pt x="31974" y="622006"/>
                </a:lnTo>
                <a:lnTo>
                  <a:pt x="66654" y="645354"/>
                </a:lnTo>
                <a:lnTo>
                  <a:pt x="109097" y="653914"/>
                </a:lnTo>
                <a:lnTo>
                  <a:pt x="4055891" y="653914"/>
                </a:lnTo>
                <a:lnTo>
                  <a:pt x="4098313" y="645354"/>
                </a:lnTo>
                <a:lnTo>
                  <a:pt x="4132948" y="622006"/>
                </a:lnTo>
                <a:lnTo>
                  <a:pt x="4156296" y="587370"/>
                </a:lnTo>
                <a:lnTo>
                  <a:pt x="4164857" y="544948"/>
                </a:lnTo>
                <a:lnTo>
                  <a:pt x="4164857" y="108966"/>
                </a:lnTo>
                <a:lnTo>
                  <a:pt x="4156296" y="66544"/>
                </a:lnTo>
                <a:lnTo>
                  <a:pt x="4132948" y="31908"/>
                </a:lnTo>
                <a:lnTo>
                  <a:pt x="4098313" y="8560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11"/>
          <p:cNvSpPr txBox="1"/>
          <p:nvPr/>
        </p:nvSpPr>
        <p:spPr>
          <a:xfrm>
            <a:off x="2724901" y="3755589"/>
            <a:ext cx="229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(6,6),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(4,4),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C3: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(9,9)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5" name="object 12"/>
          <p:cNvSpPr/>
          <p:nvPr/>
        </p:nvSpPr>
        <p:spPr>
          <a:xfrm>
            <a:off x="1868416" y="4284732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48" y="0"/>
                </a:moveTo>
                <a:lnTo>
                  <a:pt x="109014" y="0"/>
                </a:lnTo>
                <a:lnTo>
                  <a:pt x="66580" y="8560"/>
                </a:lnTo>
                <a:lnTo>
                  <a:pt x="31928" y="31908"/>
                </a:lnTo>
                <a:lnTo>
                  <a:pt x="8566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66" y="587383"/>
                </a:lnTo>
                <a:lnTo>
                  <a:pt x="31928" y="622035"/>
                </a:lnTo>
                <a:lnTo>
                  <a:pt x="66580" y="645397"/>
                </a:lnTo>
                <a:lnTo>
                  <a:pt x="109014" y="653963"/>
                </a:lnTo>
                <a:lnTo>
                  <a:pt x="544948" y="653963"/>
                </a:lnTo>
                <a:lnTo>
                  <a:pt x="587370" y="645397"/>
                </a:lnTo>
                <a:lnTo>
                  <a:pt x="622006" y="622035"/>
                </a:lnTo>
                <a:lnTo>
                  <a:pt x="645354" y="587383"/>
                </a:lnTo>
                <a:lnTo>
                  <a:pt x="653914" y="544948"/>
                </a:lnTo>
                <a:lnTo>
                  <a:pt x="653914" y="108966"/>
                </a:lnTo>
                <a:lnTo>
                  <a:pt x="645354" y="66544"/>
                </a:lnTo>
                <a:lnTo>
                  <a:pt x="622006" y="31908"/>
                </a:lnTo>
                <a:lnTo>
                  <a:pt x="587370" y="8560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13"/>
          <p:cNvSpPr/>
          <p:nvPr/>
        </p:nvSpPr>
        <p:spPr>
          <a:xfrm>
            <a:off x="2561573" y="4284732"/>
            <a:ext cx="416496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91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81" y="587383"/>
                </a:lnTo>
                <a:lnTo>
                  <a:pt x="31974" y="622035"/>
                </a:lnTo>
                <a:lnTo>
                  <a:pt x="66654" y="645397"/>
                </a:lnTo>
                <a:lnTo>
                  <a:pt x="109097" y="653963"/>
                </a:lnTo>
                <a:lnTo>
                  <a:pt x="4055891" y="653963"/>
                </a:lnTo>
                <a:lnTo>
                  <a:pt x="4098313" y="645397"/>
                </a:lnTo>
                <a:lnTo>
                  <a:pt x="4132948" y="622035"/>
                </a:lnTo>
                <a:lnTo>
                  <a:pt x="4156296" y="587383"/>
                </a:lnTo>
                <a:lnTo>
                  <a:pt x="4164857" y="544948"/>
                </a:lnTo>
                <a:lnTo>
                  <a:pt x="4164857" y="108966"/>
                </a:lnTo>
                <a:lnTo>
                  <a:pt x="4156296" y="66544"/>
                </a:lnTo>
                <a:lnTo>
                  <a:pt x="4132948" y="31908"/>
                </a:lnTo>
                <a:lnTo>
                  <a:pt x="4098313" y="8560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14"/>
          <p:cNvSpPr txBox="1"/>
          <p:nvPr/>
        </p:nvSpPr>
        <p:spPr>
          <a:xfrm>
            <a:off x="2724901" y="4489269"/>
            <a:ext cx="229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(2,2),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(0,0),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C3: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(5,5)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8" name="object 15"/>
          <p:cNvSpPr/>
          <p:nvPr/>
        </p:nvSpPr>
        <p:spPr>
          <a:xfrm>
            <a:off x="1868416" y="5017182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48" y="0"/>
                </a:moveTo>
                <a:lnTo>
                  <a:pt x="109014" y="0"/>
                </a:lnTo>
                <a:lnTo>
                  <a:pt x="66580" y="8566"/>
                </a:lnTo>
                <a:lnTo>
                  <a:pt x="31928" y="31927"/>
                </a:lnTo>
                <a:lnTo>
                  <a:pt x="8566" y="66577"/>
                </a:lnTo>
                <a:lnTo>
                  <a:pt x="0" y="109011"/>
                </a:lnTo>
                <a:lnTo>
                  <a:pt x="0" y="544961"/>
                </a:lnTo>
                <a:lnTo>
                  <a:pt x="8566" y="587395"/>
                </a:lnTo>
                <a:lnTo>
                  <a:pt x="31928" y="622045"/>
                </a:lnTo>
                <a:lnTo>
                  <a:pt x="66580" y="645406"/>
                </a:lnTo>
                <a:lnTo>
                  <a:pt x="109014" y="653972"/>
                </a:lnTo>
                <a:lnTo>
                  <a:pt x="544948" y="653972"/>
                </a:lnTo>
                <a:lnTo>
                  <a:pt x="587370" y="645406"/>
                </a:lnTo>
                <a:lnTo>
                  <a:pt x="622006" y="622045"/>
                </a:lnTo>
                <a:lnTo>
                  <a:pt x="645354" y="587395"/>
                </a:lnTo>
                <a:lnTo>
                  <a:pt x="653914" y="544961"/>
                </a:lnTo>
                <a:lnTo>
                  <a:pt x="653914" y="109011"/>
                </a:lnTo>
                <a:lnTo>
                  <a:pt x="645354" y="66577"/>
                </a:lnTo>
                <a:lnTo>
                  <a:pt x="622006" y="31927"/>
                </a:lnTo>
                <a:lnTo>
                  <a:pt x="587370" y="8566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16"/>
          <p:cNvSpPr/>
          <p:nvPr/>
        </p:nvSpPr>
        <p:spPr>
          <a:xfrm>
            <a:off x="2561573" y="5017182"/>
            <a:ext cx="416496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91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7"/>
                </a:lnTo>
                <a:lnTo>
                  <a:pt x="8581" y="66577"/>
                </a:lnTo>
                <a:lnTo>
                  <a:pt x="0" y="109011"/>
                </a:lnTo>
                <a:lnTo>
                  <a:pt x="0" y="544961"/>
                </a:lnTo>
                <a:lnTo>
                  <a:pt x="8581" y="587395"/>
                </a:lnTo>
                <a:lnTo>
                  <a:pt x="31974" y="622045"/>
                </a:lnTo>
                <a:lnTo>
                  <a:pt x="66654" y="645406"/>
                </a:lnTo>
                <a:lnTo>
                  <a:pt x="109097" y="653972"/>
                </a:lnTo>
                <a:lnTo>
                  <a:pt x="4055891" y="653972"/>
                </a:lnTo>
                <a:lnTo>
                  <a:pt x="4098313" y="645406"/>
                </a:lnTo>
                <a:lnTo>
                  <a:pt x="4132948" y="622045"/>
                </a:lnTo>
                <a:lnTo>
                  <a:pt x="4156296" y="587395"/>
                </a:lnTo>
                <a:lnTo>
                  <a:pt x="4164857" y="544961"/>
                </a:lnTo>
                <a:lnTo>
                  <a:pt x="4164857" y="109011"/>
                </a:lnTo>
                <a:lnTo>
                  <a:pt x="4156296" y="66577"/>
                </a:lnTo>
                <a:lnTo>
                  <a:pt x="4132948" y="31927"/>
                </a:lnTo>
                <a:lnTo>
                  <a:pt x="4098313" y="8566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17"/>
          <p:cNvSpPr txBox="1"/>
          <p:nvPr/>
        </p:nvSpPr>
        <p:spPr>
          <a:xfrm>
            <a:off x="2724901" y="5223072"/>
            <a:ext cx="11353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None 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61" name="object 18"/>
          <p:cNvSpPr/>
          <p:nvPr/>
        </p:nvSpPr>
        <p:spPr>
          <a:xfrm>
            <a:off x="1978406" y="2963757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77"/>
                </a:moveTo>
                <a:lnTo>
                  <a:pt x="462223" y="307777"/>
                </a:lnTo>
                <a:lnTo>
                  <a:pt x="462223" y="0"/>
                </a:lnTo>
                <a:lnTo>
                  <a:pt x="0" y="0"/>
                </a:lnTo>
                <a:lnTo>
                  <a:pt x="0" y="307777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19"/>
          <p:cNvSpPr txBox="1"/>
          <p:nvPr/>
        </p:nvSpPr>
        <p:spPr>
          <a:xfrm>
            <a:off x="2134989" y="2991049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63" name="object 20"/>
          <p:cNvSpPr/>
          <p:nvPr/>
        </p:nvSpPr>
        <p:spPr>
          <a:xfrm>
            <a:off x="1977190" y="3711791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65"/>
                </a:moveTo>
                <a:lnTo>
                  <a:pt x="462223" y="307765"/>
                </a:lnTo>
                <a:lnTo>
                  <a:pt x="462223" y="0"/>
                </a:lnTo>
                <a:lnTo>
                  <a:pt x="0" y="0"/>
                </a:lnTo>
                <a:lnTo>
                  <a:pt x="0" y="3077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21"/>
          <p:cNvSpPr txBox="1"/>
          <p:nvPr/>
        </p:nvSpPr>
        <p:spPr>
          <a:xfrm>
            <a:off x="2124512" y="3740349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65" name="object 22"/>
          <p:cNvSpPr/>
          <p:nvPr/>
        </p:nvSpPr>
        <p:spPr>
          <a:xfrm>
            <a:off x="1977190" y="4415498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65"/>
                </a:moveTo>
                <a:lnTo>
                  <a:pt x="462223" y="307765"/>
                </a:lnTo>
                <a:lnTo>
                  <a:pt x="462223" y="0"/>
                </a:lnTo>
                <a:lnTo>
                  <a:pt x="0" y="0"/>
                </a:lnTo>
                <a:lnTo>
                  <a:pt x="0" y="3077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23"/>
          <p:cNvSpPr txBox="1"/>
          <p:nvPr/>
        </p:nvSpPr>
        <p:spPr>
          <a:xfrm>
            <a:off x="2124512" y="4445581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67" name="object 24"/>
          <p:cNvSpPr/>
          <p:nvPr/>
        </p:nvSpPr>
        <p:spPr>
          <a:xfrm>
            <a:off x="1977190" y="5214525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77"/>
                </a:moveTo>
                <a:lnTo>
                  <a:pt x="462223" y="307777"/>
                </a:lnTo>
                <a:lnTo>
                  <a:pt x="462223" y="0"/>
                </a:lnTo>
                <a:lnTo>
                  <a:pt x="0" y="0"/>
                </a:lnTo>
                <a:lnTo>
                  <a:pt x="0" y="307777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25"/>
          <p:cNvSpPr txBox="1"/>
          <p:nvPr/>
        </p:nvSpPr>
        <p:spPr>
          <a:xfrm>
            <a:off x="2124512" y="5245931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26"/>
          <p:cNvSpPr/>
          <p:nvPr/>
        </p:nvSpPr>
        <p:spPr>
          <a:xfrm>
            <a:off x="7801926" y="1992236"/>
            <a:ext cx="2425065" cy="2079625"/>
          </a:xfrm>
          <a:custGeom>
            <a:avLst/>
            <a:gdLst/>
            <a:ahLst/>
            <a:cxnLst/>
            <a:rect l="l" t="t" r="r" b="b"/>
            <a:pathLst>
              <a:path w="2425065" h="2079625">
                <a:moveTo>
                  <a:pt x="0" y="346709"/>
                </a:moveTo>
                <a:lnTo>
                  <a:pt x="1290" y="276820"/>
                </a:lnTo>
                <a:lnTo>
                  <a:pt x="4991" y="211732"/>
                </a:lnTo>
                <a:lnTo>
                  <a:pt x="10846" y="152837"/>
                </a:lnTo>
                <a:lnTo>
                  <a:pt x="18600" y="101528"/>
                </a:lnTo>
                <a:lnTo>
                  <a:pt x="27997" y="59198"/>
                </a:lnTo>
                <a:lnTo>
                  <a:pt x="50698" y="7041"/>
                </a:lnTo>
                <a:lnTo>
                  <a:pt x="63489" y="0"/>
                </a:lnTo>
                <a:lnTo>
                  <a:pt x="2361194" y="0"/>
                </a:lnTo>
                <a:lnTo>
                  <a:pt x="2396686" y="59198"/>
                </a:lnTo>
                <a:lnTo>
                  <a:pt x="2406083" y="101528"/>
                </a:lnTo>
                <a:lnTo>
                  <a:pt x="2413837" y="152837"/>
                </a:lnTo>
                <a:lnTo>
                  <a:pt x="2419692" y="211732"/>
                </a:lnTo>
                <a:lnTo>
                  <a:pt x="2423393" y="276820"/>
                </a:lnTo>
                <a:lnTo>
                  <a:pt x="2424683" y="346709"/>
                </a:lnTo>
                <a:lnTo>
                  <a:pt x="2424683" y="1732900"/>
                </a:lnTo>
                <a:lnTo>
                  <a:pt x="2423393" y="1802786"/>
                </a:lnTo>
                <a:lnTo>
                  <a:pt x="2419692" y="1867873"/>
                </a:lnTo>
                <a:lnTo>
                  <a:pt x="2413837" y="1926767"/>
                </a:lnTo>
                <a:lnTo>
                  <a:pt x="2406083" y="1978077"/>
                </a:lnTo>
                <a:lnTo>
                  <a:pt x="2396686" y="2020409"/>
                </a:lnTo>
                <a:lnTo>
                  <a:pt x="2373985" y="2072568"/>
                </a:lnTo>
                <a:lnTo>
                  <a:pt x="2361194" y="2079610"/>
                </a:lnTo>
                <a:lnTo>
                  <a:pt x="63489" y="2079610"/>
                </a:lnTo>
                <a:lnTo>
                  <a:pt x="27997" y="2020409"/>
                </a:lnTo>
                <a:lnTo>
                  <a:pt x="18600" y="1978077"/>
                </a:lnTo>
                <a:lnTo>
                  <a:pt x="10846" y="1926767"/>
                </a:lnTo>
                <a:lnTo>
                  <a:pt x="4991" y="1867873"/>
                </a:lnTo>
                <a:lnTo>
                  <a:pt x="1290" y="1802786"/>
                </a:lnTo>
                <a:lnTo>
                  <a:pt x="0" y="1732900"/>
                </a:lnTo>
                <a:lnTo>
                  <a:pt x="0" y="346709"/>
                </a:lnTo>
                <a:close/>
              </a:path>
            </a:pathLst>
          </a:custGeom>
          <a:ln w="12700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27"/>
          <p:cNvSpPr txBox="1"/>
          <p:nvPr/>
        </p:nvSpPr>
        <p:spPr>
          <a:xfrm>
            <a:off x="7969693" y="2265463"/>
            <a:ext cx="1867535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latin typeface="Arial"/>
                <a:cs typeface="Arial"/>
              </a:rPr>
              <a:t>C1:</a:t>
            </a:r>
            <a:r>
              <a:rPr sz="1400" spc="-3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{(2,2), </a:t>
            </a:r>
            <a:r>
              <a:rPr sz="1400" spc="5" dirty="0">
                <a:latin typeface="Arial"/>
                <a:cs typeface="Arial"/>
              </a:rPr>
              <a:t>(4,4), (6,6)}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spc="25" dirty="0">
                <a:latin typeface="Arial"/>
                <a:cs typeface="Arial"/>
              </a:rPr>
              <a:t>C2: </a:t>
            </a:r>
            <a:r>
              <a:rPr sz="1400" dirty="0">
                <a:latin typeface="Arial"/>
                <a:cs typeface="Arial"/>
              </a:rPr>
              <a:t>{(0,4),</a:t>
            </a:r>
            <a:r>
              <a:rPr sz="1400" spc="-2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(4,0)}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sz="1400" spc="25" dirty="0">
                <a:latin typeface="Arial"/>
                <a:cs typeface="Arial"/>
              </a:rPr>
              <a:t>C3: </a:t>
            </a:r>
            <a:r>
              <a:rPr sz="1400" dirty="0">
                <a:latin typeface="Arial"/>
                <a:cs typeface="Arial"/>
              </a:rPr>
              <a:t>{(5,5),</a:t>
            </a:r>
            <a:r>
              <a:rPr sz="1400" spc="-2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(9,9)}</a:t>
            </a:r>
            <a:endParaRPr sz="1400" dirty="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10" dirty="0">
                <a:latin typeface="Arial"/>
                <a:cs typeface="Arial"/>
              </a:rPr>
              <a:t>What </a:t>
            </a:r>
            <a:r>
              <a:rPr sz="1400" spc="-15" dirty="0">
                <a:latin typeface="Arial"/>
                <a:cs typeface="Arial"/>
              </a:rPr>
              <a:t>will </a:t>
            </a:r>
            <a:r>
              <a:rPr sz="1400" spc="30" dirty="0">
                <a:latin typeface="Arial"/>
                <a:cs typeface="Arial"/>
              </a:rPr>
              <a:t>be </a:t>
            </a:r>
            <a:r>
              <a:rPr sz="1400" spc="-15" dirty="0">
                <a:latin typeface="Arial"/>
                <a:cs typeface="Arial"/>
              </a:rPr>
              <a:t>the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cluster</a:t>
            </a:r>
            <a:endParaRPr sz="1400" dirty="0">
              <a:latin typeface="Arial"/>
              <a:cs typeface="Arial"/>
            </a:endParaRPr>
          </a:p>
          <a:p>
            <a:pPr marL="12700" marR="31115">
              <a:lnSpc>
                <a:spcPct val="100600"/>
              </a:lnSpc>
              <a:spcBef>
                <a:spcPts val="35"/>
              </a:spcBef>
            </a:pPr>
            <a:r>
              <a:rPr sz="1400" spc="10" dirty="0">
                <a:latin typeface="Arial"/>
                <a:cs typeface="Arial"/>
              </a:rPr>
              <a:t>centroids </a:t>
            </a:r>
            <a:r>
              <a:rPr sz="1400" spc="-5" dirty="0">
                <a:latin typeface="Arial"/>
                <a:cs typeface="Arial"/>
              </a:rPr>
              <a:t>if </a:t>
            </a:r>
            <a:r>
              <a:rPr sz="1400" spc="10" dirty="0">
                <a:latin typeface="Arial"/>
                <a:cs typeface="Arial"/>
              </a:rPr>
              <a:t>you </a:t>
            </a:r>
            <a:r>
              <a:rPr sz="1400" spc="-25" dirty="0">
                <a:latin typeface="Arial"/>
                <a:cs typeface="Arial"/>
              </a:rPr>
              <a:t>want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to  </a:t>
            </a:r>
            <a:r>
              <a:rPr sz="1400" spc="30" dirty="0">
                <a:latin typeface="Arial"/>
                <a:cs typeface="Arial"/>
              </a:rPr>
              <a:t>proceed </a:t>
            </a:r>
            <a:r>
              <a:rPr sz="1400" spc="35" dirty="0">
                <a:latin typeface="Arial"/>
                <a:cs typeface="Arial"/>
              </a:rPr>
              <a:t>for </a:t>
            </a:r>
            <a:r>
              <a:rPr sz="1400" spc="25" dirty="0">
                <a:latin typeface="Arial"/>
                <a:cs typeface="Arial"/>
              </a:rPr>
              <a:t>second  </a:t>
            </a:r>
            <a:r>
              <a:rPr sz="1400" spc="-5" dirty="0">
                <a:latin typeface="Arial"/>
                <a:cs typeface="Arial"/>
              </a:rPr>
              <a:t>iteration?</a:t>
            </a:r>
            <a:endParaRPr sz="1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214042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51628" y="667389"/>
            <a:ext cx="280814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Answer </a:t>
            </a:r>
            <a:r>
              <a:rPr lang="en-US" sz="3950" cap="all" spc="-35" dirty="0" smtClean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3</a:t>
            </a:r>
            <a:endParaRPr lang="en-US" sz="3950" cap="all" spc="-35" dirty="0">
              <a:solidFill>
                <a:srgbClr val="7F7F7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26" name="object 4"/>
          <p:cNvSpPr/>
          <p:nvPr/>
        </p:nvSpPr>
        <p:spPr>
          <a:xfrm>
            <a:off x="2852089" y="1614054"/>
            <a:ext cx="4858385" cy="858519"/>
          </a:xfrm>
          <a:custGeom>
            <a:avLst/>
            <a:gdLst/>
            <a:ahLst/>
            <a:cxnLst/>
            <a:rect l="l" t="t" r="r" b="b"/>
            <a:pathLst>
              <a:path w="4858385" h="858519">
                <a:moveTo>
                  <a:pt x="4792605" y="0"/>
                </a:moveTo>
                <a:lnTo>
                  <a:pt x="65388" y="0"/>
                </a:lnTo>
                <a:lnTo>
                  <a:pt x="39932" y="6733"/>
                </a:lnTo>
                <a:lnTo>
                  <a:pt x="19148" y="25111"/>
                </a:lnTo>
                <a:lnTo>
                  <a:pt x="5137" y="52399"/>
                </a:lnTo>
                <a:lnTo>
                  <a:pt x="0" y="85862"/>
                </a:lnTo>
                <a:lnTo>
                  <a:pt x="0" y="772424"/>
                </a:lnTo>
                <a:lnTo>
                  <a:pt x="5137" y="805817"/>
                </a:lnTo>
                <a:lnTo>
                  <a:pt x="19148" y="833102"/>
                </a:lnTo>
                <a:lnTo>
                  <a:pt x="39932" y="851505"/>
                </a:lnTo>
                <a:lnTo>
                  <a:pt x="65388" y="858255"/>
                </a:lnTo>
                <a:lnTo>
                  <a:pt x="4792605" y="858255"/>
                </a:lnTo>
                <a:lnTo>
                  <a:pt x="4818037" y="851505"/>
                </a:lnTo>
                <a:lnTo>
                  <a:pt x="4838831" y="833102"/>
                </a:lnTo>
                <a:lnTo>
                  <a:pt x="4852865" y="805817"/>
                </a:lnTo>
                <a:lnTo>
                  <a:pt x="4858015" y="772424"/>
                </a:lnTo>
                <a:lnTo>
                  <a:pt x="4858015" y="85862"/>
                </a:lnTo>
                <a:lnTo>
                  <a:pt x="4852865" y="52399"/>
                </a:lnTo>
                <a:lnTo>
                  <a:pt x="4838831" y="25111"/>
                </a:lnTo>
                <a:lnTo>
                  <a:pt x="4818037" y="6733"/>
                </a:lnTo>
                <a:lnTo>
                  <a:pt x="4792605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5"/>
          <p:cNvSpPr txBox="1"/>
          <p:nvPr/>
        </p:nvSpPr>
        <p:spPr>
          <a:xfrm>
            <a:off x="2893872" y="1702888"/>
            <a:ext cx="4598035" cy="6724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114"/>
              </a:spcBef>
            </a:pP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Assume,</a:t>
            </a:r>
            <a:r>
              <a:rPr sz="14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r>
              <a:rPr sz="1400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Arial"/>
                <a:cs typeface="Arial"/>
              </a:rPr>
              <a:t>want</a:t>
            </a:r>
            <a:r>
              <a:rPr sz="1400" spc="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cluster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14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observations</a:t>
            </a:r>
            <a:r>
              <a:rPr sz="1400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15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clusters 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using K-Means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clustering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algorithm.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After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first </a:t>
            </a: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iteration 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clusters,</a:t>
            </a:r>
            <a:r>
              <a:rPr sz="1400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C2,</a:t>
            </a:r>
            <a:r>
              <a:rPr sz="1400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Arial"/>
                <a:cs typeface="Arial"/>
              </a:rPr>
              <a:t>has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following</a:t>
            </a:r>
            <a:r>
              <a:rPr sz="1400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Arial"/>
                <a:cs typeface="Arial"/>
              </a:rPr>
              <a:t>observations:</a:t>
            </a:r>
            <a:endParaRPr sz="1400">
              <a:latin typeface="Arial"/>
              <a:cs typeface="Arial"/>
            </a:endParaRPr>
          </a:p>
        </p:txBody>
      </p:sp>
      <p:sp>
        <p:nvSpPr>
          <p:cNvPr id="28" name="object 6"/>
          <p:cNvSpPr/>
          <p:nvPr/>
        </p:nvSpPr>
        <p:spPr>
          <a:xfrm>
            <a:off x="2852089" y="2514982"/>
            <a:ext cx="654050" cy="654685"/>
          </a:xfrm>
          <a:custGeom>
            <a:avLst/>
            <a:gdLst/>
            <a:ahLst/>
            <a:cxnLst/>
            <a:rect l="l" t="t" r="r" b="b"/>
            <a:pathLst>
              <a:path w="654050" h="654685">
                <a:moveTo>
                  <a:pt x="544948" y="0"/>
                </a:moveTo>
                <a:lnTo>
                  <a:pt x="109014" y="0"/>
                </a:lnTo>
                <a:lnTo>
                  <a:pt x="66580" y="8579"/>
                </a:lnTo>
                <a:lnTo>
                  <a:pt x="31928" y="31969"/>
                </a:lnTo>
                <a:lnTo>
                  <a:pt x="8566" y="66646"/>
                </a:lnTo>
                <a:lnTo>
                  <a:pt x="0" y="109087"/>
                </a:lnTo>
                <a:lnTo>
                  <a:pt x="0" y="544967"/>
                </a:lnTo>
                <a:lnTo>
                  <a:pt x="8566" y="587409"/>
                </a:lnTo>
                <a:lnTo>
                  <a:pt x="31928" y="622089"/>
                </a:lnTo>
                <a:lnTo>
                  <a:pt x="66580" y="645483"/>
                </a:lnTo>
                <a:lnTo>
                  <a:pt x="109014" y="654064"/>
                </a:lnTo>
                <a:lnTo>
                  <a:pt x="544948" y="654064"/>
                </a:lnTo>
                <a:lnTo>
                  <a:pt x="587370" y="645483"/>
                </a:lnTo>
                <a:lnTo>
                  <a:pt x="622006" y="622089"/>
                </a:lnTo>
                <a:lnTo>
                  <a:pt x="645354" y="587409"/>
                </a:lnTo>
                <a:lnTo>
                  <a:pt x="653914" y="544967"/>
                </a:lnTo>
                <a:lnTo>
                  <a:pt x="653914" y="109087"/>
                </a:lnTo>
                <a:lnTo>
                  <a:pt x="645354" y="66646"/>
                </a:lnTo>
                <a:lnTo>
                  <a:pt x="622006" y="31969"/>
                </a:lnTo>
                <a:lnTo>
                  <a:pt x="587370" y="8579"/>
                </a:lnTo>
                <a:lnTo>
                  <a:pt x="544948" y="0"/>
                </a:lnTo>
                <a:close/>
              </a:path>
            </a:pathLst>
          </a:custGeom>
          <a:solidFill>
            <a:srgbClr val="4EA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7"/>
          <p:cNvSpPr/>
          <p:nvPr/>
        </p:nvSpPr>
        <p:spPr>
          <a:xfrm>
            <a:off x="3545246" y="2514982"/>
            <a:ext cx="4164965" cy="654685"/>
          </a:xfrm>
          <a:custGeom>
            <a:avLst/>
            <a:gdLst/>
            <a:ahLst/>
            <a:cxnLst/>
            <a:rect l="l" t="t" r="r" b="b"/>
            <a:pathLst>
              <a:path w="4164965" h="654685">
                <a:moveTo>
                  <a:pt x="4055891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67"/>
                </a:lnTo>
                <a:lnTo>
                  <a:pt x="8581" y="587409"/>
                </a:lnTo>
                <a:lnTo>
                  <a:pt x="31974" y="622089"/>
                </a:lnTo>
                <a:lnTo>
                  <a:pt x="66654" y="645483"/>
                </a:lnTo>
                <a:lnTo>
                  <a:pt x="109097" y="654064"/>
                </a:lnTo>
                <a:lnTo>
                  <a:pt x="4055891" y="654064"/>
                </a:lnTo>
                <a:lnTo>
                  <a:pt x="4098313" y="645483"/>
                </a:lnTo>
                <a:lnTo>
                  <a:pt x="4132948" y="622089"/>
                </a:lnTo>
                <a:lnTo>
                  <a:pt x="4156296" y="587409"/>
                </a:lnTo>
                <a:lnTo>
                  <a:pt x="4164857" y="544967"/>
                </a:lnTo>
                <a:lnTo>
                  <a:pt x="4164857" y="109087"/>
                </a:lnTo>
                <a:lnTo>
                  <a:pt x="4156296" y="66646"/>
                </a:lnTo>
                <a:lnTo>
                  <a:pt x="4132948" y="31969"/>
                </a:lnTo>
                <a:lnTo>
                  <a:pt x="4098313" y="8579"/>
                </a:lnTo>
                <a:lnTo>
                  <a:pt x="4055891" y="0"/>
                </a:lnTo>
                <a:close/>
              </a:path>
            </a:pathLst>
          </a:custGeom>
          <a:solidFill>
            <a:srgbClr val="4EA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8"/>
          <p:cNvSpPr txBox="1"/>
          <p:nvPr/>
        </p:nvSpPr>
        <p:spPr>
          <a:xfrm>
            <a:off x="3708574" y="2716984"/>
            <a:ext cx="229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(4,4),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(2,2),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C3: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(7,7)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9"/>
          <p:cNvSpPr/>
          <p:nvPr/>
        </p:nvSpPr>
        <p:spPr>
          <a:xfrm>
            <a:off x="2852089" y="3247533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48" y="0"/>
                </a:moveTo>
                <a:lnTo>
                  <a:pt x="109014" y="0"/>
                </a:lnTo>
                <a:lnTo>
                  <a:pt x="66580" y="8560"/>
                </a:lnTo>
                <a:lnTo>
                  <a:pt x="31928" y="31908"/>
                </a:lnTo>
                <a:lnTo>
                  <a:pt x="8566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66" y="587370"/>
                </a:lnTo>
                <a:lnTo>
                  <a:pt x="31928" y="622006"/>
                </a:lnTo>
                <a:lnTo>
                  <a:pt x="66580" y="645354"/>
                </a:lnTo>
                <a:lnTo>
                  <a:pt x="109014" y="653914"/>
                </a:lnTo>
                <a:lnTo>
                  <a:pt x="544948" y="653914"/>
                </a:lnTo>
                <a:lnTo>
                  <a:pt x="587370" y="645354"/>
                </a:lnTo>
                <a:lnTo>
                  <a:pt x="622006" y="622006"/>
                </a:lnTo>
                <a:lnTo>
                  <a:pt x="645354" y="587370"/>
                </a:lnTo>
                <a:lnTo>
                  <a:pt x="653914" y="544948"/>
                </a:lnTo>
                <a:lnTo>
                  <a:pt x="653914" y="108966"/>
                </a:lnTo>
                <a:lnTo>
                  <a:pt x="645354" y="66544"/>
                </a:lnTo>
                <a:lnTo>
                  <a:pt x="622006" y="31908"/>
                </a:lnTo>
                <a:lnTo>
                  <a:pt x="587370" y="8560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10"/>
          <p:cNvSpPr/>
          <p:nvPr/>
        </p:nvSpPr>
        <p:spPr>
          <a:xfrm>
            <a:off x="3545246" y="3247533"/>
            <a:ext cx="416496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91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81" y="587370"/>
                </a:lnTo>
                <a:lnTo>
                  <a:pt x="31974" y="622006"/>
                </a:lnTo>
                <a:lnTo>
                  <a:pt x="66654" y="645354"/>
                </a:lnTo>
                <a:lnTo>
                  <a:pt x="109097" y="653914"/>
                </a:lnTo>
                <a:lnTo>
                  <a:pt x="4055891" y="653914"/>
                </a:lnTo>
                <a:lnTo>
                  <a:pt x="4098313" y="645354"/>
                </a:lnTo>
                <a:lnTo>
                  <a:pt x="4132948" y="622006"/>
                </a:lnTo>
                <a:lnTo>
                  <a:pt x="4156296" y="587370"/>
                </a:lnTo>
                <a:lnTo>
                  <a:pt x="4164857" y="544948"/>
                </a:lnTo>
                <a:lnTo>
                  <a:pt x="4164857" y="108966"/>
                </a:lnTo>
                <a:lnTo>
                  <a:pt x="4156296" y="66544"/>
                </a:lnTo>
                <a:lnTo>
                  <a:pt x="4132948" y="31908"/>
                </a:lnTo>
                <a:lnTo>
                  <a:pt x="4098313" y="8560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11"/>
          <p:cNvSpPr txBox="1"/>
          <p:nvPr/>
        </p:nvSpPr>
        <p:spPr>
          <a:xfrm>
            <a:off x="3708574" y="3450790"/>
            <a:ext cx="229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(6,6),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(4,4),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C3: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(9,9)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4" name="object 12"/>
          <p:cNvSpPr/>
          <p:nvPr/>
        </p:nvSpPr>
        <p:spPr>
          <a:xfrm>
            <a:off x="2852089" y="3979933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48" y="0"/>
                </a:moveTo>
                <a:lnTo>
                  <a:pt x="109014" y="0"/>
                </a:lnTo>
                <a:lnTo>
                  <a:pt x="66580" y="8560"/>
                </a:lnTo>
                <a:lnTo>
                  <a:pt x="31928" y="31908"/>
                </a:lnTo>
                <a:lnTo>
                  <a:pt x="8566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66" y="587383"/>
                </a:lnTo>
                <a:lnTo>
                  <a:pt x="31928" y="622035"/>
                </a:lnTo>
                <a:lnTo>
                  <a:pt x="66580" y="645397"/>
                </a:lnTo>
                <a:lnTo>
                  <a:pt x="109014" y="653963"/>
                </a:lnTo>
                <a:lnTo>
                  <a:pt x="544948" y="653963"/>
                </a:lnTo>
                <a:lnTo>
                  <a:pt x="587370" y="645397"/>
                </a:lnTo>
                <a:lnTo>
                  <a:pt x="622006" y="622035"/>
                </a:lnTo>
                <a:lnTo>
                  <a:pt x="645354" y="587383"/>
                </a:lnTo>
                <a:lnTo>
                  <a:pt x="653914" y="544948"/>
                </a:lnTo>
                <a:lnTo>
                  <a:pt x="653914" y="108966"/>
                </a:lnTo>
                <a:lnTo>
                  <a:pt x="645354" y="66544"/>
                </a:lnTo>
                <a:lnTo>
                  <a:pt x="622006" y="31908"/>
                </a:lnTo>
                <a:lnTo>
                  <a:pt x="587370" y="8560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13"/>
          <p:cNvSpPr/>
          <p:nvPr/>
        </p:nvSpPr>
        <p:spPr>
          <a:xfrm>
            <a:off x="3545246" y="3979933"/>
            <a:ext cx="416496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91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48"/>
                </a:lnTo>
                <a:lnTo>
                  <a:pt x="8581" y="587383"/>
                </a:lnTo>
                <a:lnTo>
                  <a:pt x="31974" y="622035"/>
                </a:lnTo>
                <a:lnTo>
                  <a:pt x="66654" y="645397"/>
                </a:lnTo>
                <a:lnTo>
                  <a:pt x="109097" y="653963"/>
                </a:lnTo>
                <a:lnTo>
                  <a:pt x="4055891" y="653963"/>
                </a:lnTo>
                <a:lnTo>
                  <a:pt x="4098313" y="645397"/>
                </a:lnTo>
                <a:lnTo>
                  <a:pt x="4132948" y="622035"/>
                </a:lnTo>
                <a:lnTo>
                  <a:pt x="4156296" y="587383"/>
                </a:lnTo>
                <a:lnTo>
                  <a:pt x="4164857" y="544948"/>
                </a:lnTo>
                <a:lnTo>
                  <a:pt x="4164857" y="108966"/>
                </a:lnTo>
                <a:lnTo>
                  <a:pt x="4156296" y="66544"/>
                </a:lnTo>
                <a:lnTo>
                  <a:pt x="4132948" y="31908"/>
                </a:lnTo>
                <a:lnTo>
                  <a:pt x="4098313" y="8560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14"/>
          <p:cNvSpPr txBox="1"/>
          <p:nvPr/>
        </p:nvSpPr>
        <p:spPr>
          <a:xfrm>
            <a:off x="3708574" y="4184470"/>
            <a:ext cx="229425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C1: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(2,2),</a:t>
            </a:r>
            <a:r>
              <a:rPr sz="140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C2:</a:t>
            </a:r>
            <a:r>
              <a:rPr sz="1400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FFFFFF"/>
                </a:solidFill>
                <a:latin typeface="Arial"/>
                <a:cs typeface="Arial"/>
              </a:rPr>
              <a:t>(0,0),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25" dirty="0">
                <a:solidFill>
                  <a:srgbClr val="FFFFFF"/>
                </a:solidFill>
                <a:latin typeface="Arial"/>
                <a:cs typeface="Arial"/>
              </a:rPr>
              <a:t>C3:</a:t>
            </a:r>
            <a:r>
              <a:rPr sz="1400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(5,5)</a:t>
            </a:r>
            <a:endParaRPr sz="1400">
              <a:latin typeface="Arial"/>
              <a:cs typeface="Arial"/>
            </a:endParaRPr>
          </a:p>
        </p:txBody>
      </p:sp>
      <p:sp>
        <p:nvSpPr>
          <p:cNvPr id="37" name="object 15"/>
          <p:cNvSpPr/>
          <p:nvPr/>
        </p:nvSpPr>
        <p:spPr>
          <a:xfrm>
            <a:off x="2852089" y="4712383"/>
            <a:ext cx="654050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48" y="0"/>
                </a:moveTo>
                <a:lnTo>
                  <a:pt x="109014" y="0"/>
                </a:lnTo>
                <a:lnTo>
                  <a:pt x="66580" y="8566"/>
                </a:lnTo>
                <a:lnTo>
                  <a:pt x="31928" y="31927"/>
                </a:lnTo>
                <a:lnTo>
                  <a:pt x="8566" y="66577"/>
                </a:lnTo>
                <a:lnTo>
                  <a:pt x="0" y="109011"/>
                </a:lnTo>
                <a:lnTo>
                  <a:pt x="0" y="544961"/>
                </a:lnTo>
                <a:lnTo>
                  <a:pt x="8566" y="587395"/>
                </a:lnTo>
                <a:lnTo>
                  <a:pt x="31928" y="622045"/>
                </a:lnTo>
                <a:lnTo>
                  <a:pt x="66580" y="645406"/>
                </a:lnTo>
                <a:lnTo>
                  <a:pt x="109014" y="653972"/>
                </a:lnTo>
                <a:lnTo>
                  <a:pt x="544948" y="653972"/>
                </a:lnTo>
                <a:lnTo>
                  <a:pt x="587370" y="645406"/>
                </a:lnTo>
                <a:lnTo>
                  <a:pt x="622006" y="622045"/>
                </a:lnTo>
                <a:lnTo>
                  <a:pt x="645354" y="587395"/>
                </a:lnTo>
                <a:lnTo>
                  <a:pt x="653914" y="544961"/>
                </a:lnTo>
                <a:lnTo>
                  <a:pt x="653914" y="109011"/>
                </a:lnTo>
                <a:lnTo>
                  <a:pt x="645354" y="66577"/>
                </a:lnTo>
                <a:lnTo>
                  <a:pt x="622006" y="31927"/>
                </a:lnTo>
                <a:lnTo>
                  <a:pt x="587370" y="8566"/>
                </a:lnTo>
                <a:lnTo>
                  <a:pt x="544948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16"/>
          <p:cNvSpPr/>
          <p:nvPr/>
        </p:nvSpPr>
        <p:spPr>
          <a:xfrm>
            <a:off x="3545246" y="4712383"/>
            <a:ext cx="416496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91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7"/>
                </a:lnTo>
                <a:lnTo>
                  <a:pt x="8581" y="66577"/>
                </a:lnTo>
                <a:lnTo>
                  <a:pt x="0" y="109011"/>
                </a:lnTo>
                <a:lnTo>
                  <a:pt x="0" y="544961"/>
                </a:lnTo>
                <a:lnTo>
                  <a:pt x="8581" y="587395"/>
                </a:lnTo>
                <a:lnTo>
                  <a:pt x="31974" y="622045"/>
                </a:lnTo>
                <a:lnTo>
                  <a:pt x="66654" y="645406"/>
                </a:lnTo>
                <a:lnTo>
                  <a:pt x="109097" y="653972"/>
                </a:lnTo>
                <a:lnTo>
                  <a:pt x="4055891" y="653972"/>
                </a:lnTo>
                <a:lnTo>
                  <a:pt x="4098313" y="645406"/>
                </a:lnTo>
                <a:lnTo>
                  <a:pt x="4132948" y="622045"/>
                </a:lnTo>
                <a:lnTo>
                  <a:pt x="4156296" y="587395"/>
                </a:lnTo>
                <a:lnTo>
                  <a:pt x="4164857" y="544961"/>
                </a:lnTo>
                <a:lnTo>
                  <a:pt x="4164857" y="109011"/>
                </a:lnTo>
                <a:lnTo>
                  <a:pt x="4156296" y="66577"/>
                </a:lnTo>
                <a:lnTo>
                  <a:pt x="4132948" y="31927"/>
                </a:lnTo>
                <a:lnTo>
                  <a:pt x="4098313" y="8566"/>
                </a:lnTo>
                <a:lnTo>
                  <a:pt x="4055891" y="0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17"/>
          <p:cNvSpPr txBox="1"/>
          <p:nvPr/>
        </p:nvSpPr>
        <p:spPr>
          <a:xfrm>
            <a:off x="3708574" y="4918273"/>
            <a:ext cx="113538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5" dirty="0">
                <a:solidFill>
                  <a:srgbClr val="FFFFFF"/>
                </a:solidFill>
                <a:latin typeface="Arial"/>
                <a:cs typeface="Arial"/>
              </a:rPr>
              <a:t>None </a:t>
            </a:r>
            <a:r>
              <a:rPr sz="1400" spc="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4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Arial"/>
                <a:cs typeface="Arial"/>
              </a:rPr>
              <a:t>these</a:t>
            </a:r>
            <a:endParaRPr sz="1400">
              <a:latin typeface="Arial"/>
              <a:cs typeface="Arial"/>
            </a:endParaRPr>
          </a:p>
        </p:txBody>
      </p:sp>
      <p:sp>
        <p:nvSpPr>
          <p:cNvPr id="40" name="object 18"/>
          <p:cNvSpPr/>
          <p:nvPr/>
        </p:nvSpPr>
        <p:spPr>
          <a:xfrm>
            <a:off x="2962079" y="2658958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77"/>
                </a:moveTo>
                <a:lnTo>
                  <a:pt x="462223" y="307777"/>
                </a:lnTo>
                <a:lnTo>
                  <a:pt x="462223" y="0"/>
                </a:lnTo>
                <a:lnTo>
                  <a:pt x="0" y="0"/>
                </a:lnTo>
                <a:lnTo>
                  <a:pt x="0" y="307777"/>
                </a:lnTo>
                <a:close/>
              </a:path>
            </a:pathLst>
          </a:custGeom>
          <a:solidFill>
            <a:srgbClr val="4EA4D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19"/>
          <p:cNvSpPr txBox="1"/>
          <p:nvPr/>
        </p:nvSpPr>
        <p:spPr>
          <a:xfrm>
            <a:off x="3118662" y="2686250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400">
              <a:latin typeface="Arial"/>
              <a:cs typeface="Arial"/>
            </a:endParaRPr>
          </a:p>
        </p:txBody>
      </p:sp>
      <p:sp>
        <p:nvSpPr>
          <p:cNvPr id="42" name="object 20"/>
          <p:cNvSpPr/>
          <p:nvPr/>
        </p:nvSpPr>
        <p:spPr>
          <a:xfrm>
            <a:off x="2960863" y="3406992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65"/>
                </a:moveTo>
                <a:lnTo>
                  <a:pt x="462223" y="307765"/>
                </a:lnTo>
                <a:lnTo>
                  <a:pt x="462223" y="0"/>
                </a:lnTo>
                <a:lnTo>
                  <a:pt x="0" y="0"/>
                </a:lnTo>
                <a:lnTo>
                  <a:pt x="0" y="3077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21"/>
          <p:cNvSpPr txBox="1"/>
          <p:nvPr/>
        </p:nvSpPr>
        <p:spPr>
          <a:xfrm>
            <a:off x="3108185" y="3435550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400">
              <a:latin typeface="Arial"/>
              <a:cs typeface="Arial"/>
            </a:endParaRPr>
          </a:p>
        </p:txBody>
      </p:sp>
      <p:sp>
        <p:nvSpPr>
          <p:cNvPr id="44" name="object 22"/>
          <p:cNvSpPr/>
          <p:nvPr/>
        </p:nvSpPr>
        <p:spPr>
          <a:xfrm>
            <a:off x="2960863" y="4110699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65"/>
                </a:moveTo>
                <a:lnTo>
                  <a:pt x="462223" y="307765"/>
                </a:lnTo>
                <a:lnTo>
                  <a:pt x="462223" y="0"/>
                </a:lnTo>
                <a:lnTo>
                  <a:pt x="0" y="0"/>
                </a:lnTo>
                <a:lnTo>
                  <a:pt x="0" y="307765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23"/>
          <p:cNvSpPr txBox="1"/>
          <p:nvPr/>
        </p:nvSpPr>
        <p:spPr>
          <a:xfrm>
            <a:off x="3108185" y="4140782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400">
              <a:latin typeface="Arial"/>
              <a:cs typeface="Arial"/>
            </a:endParaRPr>
          </a:p>
        </p:txBody>
      </p:sp>
      <p:sp>
        <p:nvSpPr>
          <p:cNvPr id="46" name="object 24"/>
          <p:cNvSpPr/>
          <p:nvPr/>
        </p:nvSpPr>
        <p:spPr>
          <a:xfrm>
            <a:off x="2960863" y="4909726"/>
            <a:ext cx="462280" cy="307975"/>
          </a:xfrm>
          <a:custGeom>
            <a:avLst/>
            <a:gdLst/>
            <a:ahLst/>
            <a:cxnLst/>
            <a:rect l="l" t="t" r="r" b="b"/>
            <a:pathLst>
              <a:path w="462280" h="307975">
                <a:moveTo>
                  <a:pt x="0" y="307777"/>
                </a:moveTo>
                <a:lnTo>
                  <a:pt x="462223" y="307777"/>
                </a:lnTo>
                <a:lnTo>
                  <a:pt x="462223" y="0"/>
                </a:lnTo>
                <a:lnTo>
                  <a:pt x="0" y="0"/>
                </a:lnTo>
                <a:lnTo>
                  <a:pt x="0" y="307777"/>
                </a:lnTo>
                <a:close/>
              </a:path>
            </a:pathLst>
          </a:custGeom>
          <a:solidFill>
            <a:srgbClr val="1B577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25"/>
          <p:cNvSpPr txBox="1"/>
          <p:nvPr/>
        </p:nvSpPr>
        <p:spPr>
          <a:xfrm>
            <a:off x="3108185" y="4941132"/>
            <a:ext cx="15684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26"/>
          <p:cNvSpPr/>
          <p:nvPr/>
        </p:nvSpPr>
        <p:spPr>
          <a:xfrm>
            <a:off x="7940471" y="1635147"/>
            <a:ext cx="2425065" cy="2079625"/>
          </a:xfrm>
          <a:custGeom>
            <a:avLst/>
            <a:gdLst/>
            <a:ahLst/>
            <a:cxnLst/>
            <a:rect l="l" t="t" r="r" b="b"/>
            <a:pathLst>
              <a:path w="2425065" h="2079625">
                <a:moveTo>
                  <a:pt x="0" y="346709"/>
                </a:moveTo>
                <a:lnTo>
                  <a:pt x="1290" y="276820"/>
                </a:lnTo>
                <a:lnTo>
                  <a:pt x="4991" y="211732"/>
                </a:lnTo>
                <a:lnTo>
                  <a:pt x="10846" y="152837"/>
                </a:lnTo>
                <a:lnTo>
                  <a:pt x="18600" y="101528"/>
                </a:lnTo>
                <a:lnTo>
                  <a:pt x="27997" y="59198"/>
                </a:lnTo>
                <a:lnTo>
                  <a:pt x="50698" y="7041"/>
                </a:lnTo>
                <a:lnTo>
                  <a:pt x="63489" y="0"/>
                </a:lnTo>
                <a:lnTo>
                  <a:pt x="2361194" y="0"/>
                </a:lnTo>
                <a:lnTo>
                  <a:pt x="2396686" y="59198"/>
                </a:lnTo>
                <a:lnTo>
                  <a:pt x="2406083" y="101528"/>
                </a:lnTo>
                <a:lnTo>
                  <a:pt x="2413837" y="152837"/>
                </a:lnTo>
                <a:lnTo>
                  <a:pt x="2419692" y="211732"/>
                </a:lnTo>
                <a:lnTo>
                  <a:pt x="2423393" y="276820"/>
                </a:lnTo>
                <a:lnTo>
                  <a:pt x="2424683" y="346709"/>
                </a:lnTo>
                <a:lnTo>
                  <a:pt x="2424683" y="1732900"/>
                </a:lnTo>
                <a:lnTo>
                  <a:pt x="2423393" y="1802786"/>
                </a:lnTo>
                <a:lnTo>
                  <a:pt x="2419692" y="1867873"/>
                </a:lnTo>
                <a:lnTo>
                  <a:pt x="2413837" y="1926767"/>
                </a:lnTo>
                <a:lnTo>
                  <a:pt x="2406083" y="1978077"/>
                </a:lnTo>
                <a:lnTo>
                  <a:pt x="2396686" y="2020409"/>
                </a:lnTo>
                <a:lnTo>
                  <a:pt x="2373985" y="2072568"/>
                </a:lnTo>
                <a:lnTo>
                  <a:pt x="2361194" y="2079610"/>
                </a:lnTo>
                <a:lnTo>
                  <a:pt x="63489" y="2079610"/>
                </a:lnTo>
                <a:lnTo>
                  <a:pt x="27997" y="2020409"/>
                </a:lnTo>
                <a:lnTo>
                  <a:pt x="18600" y="1978077"/>
                </a:lnTo>
                <a:lnTo>
                  <a:pt x="10846" y="1926767"/>
                </a:lnTo>
                <a:lnTo>
                  <a:pt x="4991" y="1867873"/>
                </a:lnTo>
                <a:lnTo>
                  <a:pt x="1290" y="1802786"/>
                </a:lnTo>
                <a:lnTo>
                  <a:pt x="0" y="1732900"/>
                </a:lnTo>
                <a:lnTo>
                  <a:pt x="0" y="346709"/>
                </a:lnTo>
                <a:close/>
              </a:path>
            </a:pathLst>
          </a:custGeom>
          <a:ln w="12700">
            <a:solidFill>
              <a:srgbClr val="1B577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27"/>
          <p:cNvSpPr txBox="1"/>
          <p:nvPr/>
        </p:nvSpPr>
        <p:spPr>
          <a:xfrm>
            <a:off x="8108238" y="1908374"/>
            <a:ext cx="1867535" cy="153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25" dirty="0">
                <a:latin typeface="Arial"/>
                <a:cs typeface="Arial"/>
              </a:rPr>
              <a:t>C1:</a:t>
            </a:r>
            <a:r>
              <a:rPr sz="1400" spc="-30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{(2,2), </a:t>
            </a:r>
            <a:r>
              <a:rPr sz="1400" spc="5" dirty="0">
                <a:latin typeface="Arial"/>
                <a:cs typeface="Arial"/>
              </a:rPr>
              <a:t>(4,4), (6,6)}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  <a:spcBef>
                <a:spcPts val="50"/>
              </a:spcBef>
            </a:pPr>
            <a:r>
              <a:rPr sz="1400" spc="25" dirty="0">
                <a:latin typeface="Arial"/>
                <a:cs typeface="Arial"/>
              </a:rPr>
              <a:t>C2: </a:t>
            </a:r>
            <a:r>
              <a:rPr sz="1400" dirty="0">
                <a:latin typeface="Arial"/>
                <a:cs typeface="Arial"/>
              </a:rPr>
              <a:t>{(0,4),</a:t>
            </a:r>
            <a:r>
              <a:rPr sz="1400" spc="-2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(4,0)}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55"/>
              </a:lnSpc>
            </a:pPr>
            <a:r>
              <a:rPr sz="1400" spc="25" dirty="0">
                <a:latin typeface="Arial"/>
                <a:cs typeface="Arial"/>
              </a:rPr>
              <a:t>C3: </a:t>
            </a:r>
            <a:r>
              <a:rPr sz="1400" dirty="0">
                <a:latin typeface="Arial"/>
                <a:cs typeface="Arial"/>
              </a:rPr>
              <a:t>{(5,5),</a:t>
            </a:r>
            <a:r>
              <a:rPr sz="1400" spc="-240" dirty="0">
                <a:latin typeface="Arial"/>
                <a:cs typeface="Arial"/>
              </a:rPr>
              <a:t> </a:t>
            </a:r>
            <a:r>
              <a:rPr sz="1400" spc="5" dirty="0">
                <a:latin typeface="Arial"/>
                <a:cs typeface="Arial"/>
              </a:rPr>
              <a:t>(9,9)}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64"/>
              </a:lnSpc>
            </a:pPr>
            <a:r>
              <a:rPr sz="1400" spc="10" dirty="0">
                <a:latin typeface="Arial"/>
                <a:cs typeface="Arial"/>
              </a:rPr>
              <a:t>What </a:t>
            </a:r>
            <a:r>
              <a:rPr sz="1400" spc="-15" dirty="0">
                <a:latin typeface="Arial"/>
                <a:cs typeface="Arial"/>
              </a:rPr>
              <a:t>will </a:t>
            </a:r>
            <a:r>
              <a:rPr sz="1400" spc="30" dirty="0">
                <a:latin typeface="Arial"/>
                <a:cs typeface="Arial"/>
              </a:rPr>
              <a:t>be </a:t>
            </a:r>
            <a:r>
              <a:rPr sz="1400" spc="-15" dirty="0">
                <a:latin typeface="Arial"/>
                <a:cs typeface="Arial"/>
              </a:rPr>
              <a:t>the</a:t>
            </a:r>
            <a:r>
              <a:rPr sz="1400" spc="-125" dirty="0">
                <a:latin typeface="Arial"/>
                <a:cs typeface="Arial"/>
              </a:rPr>
              <a:t> </a:t>
            </a:r>
            <a:r>
              <a:rPr sz="1400" spc="10" dirty="0">
                <a:latin typeface="Arial"/>
                <a:cs typeface="Arial"/>
              </a:rPr>
              <a:t>cluster</a:t>
            </a:r>
            <a:endParaRPr sz="1400">
              <a:latin typeface="Arial"/>
              <a:cs typeface="Arial"/>
            </a:endParaRPr>
          </a:p>
          <a:p>
            <a:pPr marL="12700" marR="31115">
              <a:lnSpc>
                <a:spcPct val="100600"/>
              </a:lnSpc>
              <a:spcBef>
                <a:spcPts val="35"/>
              </a:spcBef>
            </a:pPr>
            <a:r>
              <a:rPr sz="1400" spc="10" dirty="0">
                <a:latin typeface="Arial"/>
                <a:cs typeface="Arial"/>
              </a:rPr>
              <a:t>centroids </a:t>
            </a:r>
            <a:r>
              <a:rPr sz="1400" spc="-5" dirty="0">
                <a:latin typeface="Arial"/>
                <a:cs typeface="Arial"/>
              </a:rPr>
              <a:t>if </a:t>
            </a:r>
            <a:r>
              <a:rPr sz="1400" spc="10" dirty="0">
                <a:latin typeface="Arial"/>
                <a:cs typeface="Arial"/>
              </a:rPr>
              <a:t>you </a:t>
            </a:r>
            <a:r>
              <a:rPr sz="1400" spc="-25" dirty="0">
                <a:latin typeface="Arial"/>
                <a:cs typeface="Arial"/>
              </a:rPr>
              <a:t>want</a:t>
            </a:r>
            <a:r>
              <a:rPr sz="1400" spc="-185" dirty="0">
                <a:latin typeface="Arial"/>
                <a:cs typeface="Arial"/>
              </a:rPr>
              <a:t> </a:t>
            </a:r>
            <a:r>
              <a:rPr sz="1400" spc="-5" dirty="0">
                <a:latin typeface="Arial"/>
                <a:cs typeface="Arial"/>
              </a:rPr>
              <a:t>to  </a:t>
            </a:r>
            <a:r>
              <a:rPr sz="1400" spc="30" dirty="0">
                <a:latin typeface="Arial"/>
                <a:cs typeface="Arial"/>
              </a:rPr>
              <a:t>proceed </a:t>
            </a:r>
            <a:r>
              <a:rPr sz="1400" spc="35" dirty="0">
                <a:latin typeface="Arial"/>
                <a:cs typeface="Arial"/>
              </a:rPr>
              <a:t>for </a:t>
            </a:r>
            <a:r>
              <a:rPr sz="1400" spc="25" dirty="0">
                <a:latin typeface="Arial"/>
                <a:cs typeface="Arial"/>
              </a:rPr>
              <a:t>second  </a:t>
            </a:r>
            <a:r>
              <a:rPr sz="1400" spc="-5" dirty="0">
                <a:latin typeface="Arial"/>
                <a:cs typeface="Arial"/>
              </a:rPr>
              <a:t>iteration?</a:t>
            </a:r>
            <a:endParaRPr sz="14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708448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90173" y="625825"/>
            <a:ext cx="1804020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Quiz </a:t>
            </a:r>
            <a:r>
              <a:rPr lang="en-US" sz="3950" cap="all" spc="-35" dirty="0" smtClean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4</a:t>
            </a:r>
            <a:endParaRPr lang="en-US" sz="3950" cap="all" spc="-35" dirty="0">
              <a:solidFill>
                <a:srgbClr val="7F7F7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17780" y="1672797"/>
            <a:ext cx="5431124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85856" y="1867676"/>
            <a:ext cx="4154089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Customer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segmentation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1550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17780" y="2444460"/>
            <a:ext cx="73115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10950" y="2444460"/>
            <a:ext cx="4655959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681866" y="2640726"/>
            <a:ext cx="137570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17780" y="3176985"/>
            <a:ext cx="73115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10950" y="3176985"/>
            <a:ext cx="4655959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844173" y="3374532"/>
            <a:ext cx="102574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517780" y="3909398"/>
            <a:ext cx="73115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10950" y="3909398"/>
            <a:ext cx="4655959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767972" y="4108339"/>
            <a:ext cx="119540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Association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17780" y="4641870"/>
            <a:ext cx="731154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10950" y="4641870"/>
            <a:ext cx="4655959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452886" y="4842022"/>
            <a:ext cx="187615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None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627769" y="2588365"/>
            <a:ext cx="51677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776230" y="2625232"/>
            <a:ext cx="19024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26626" y="3336518"/>
            <a:ext cx="51677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774960" y="3374786"/>
            <a:ext cx="19024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626626" y="4040225"/>
            <a:ext cx="51677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774960" y="4079764"/>
            <a:ext cx="19024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626626" y="4839206"/>
            <a:ext cx="516777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774960" y="4880122"/>
            <a:ext cx="19024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45762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20901" y="611971"/>
            <a:ext cx="280814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Answer </a:t>
            </a:r>
            <a:r>
              <a:rPr lang="en-US" sz="3950" cap="all" spc="-35" dirty="0" smtClean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4</a:t>
            </a:r>
            <a:endParaRPr lang="en-US" sz="3950" cap="all" spc="-35" dirty="0">
              <a:solidFill>
                <a:srgbClr val="7F7F7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43707" y="1742069"/>
            <a:ext cx="6368472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45"/>
                </a:lnTo>
                <a:lnTo>
                  <a:pt x="19178" y="19171"/>
                </a:lnTo>
                <a:lnTo>
                  <a:pt x="5147" y="39964"/>
                </a:lnTo>
                <a:lnTo>
                  <a:pt x="0" y="65410"/>
                </a:lnTo>
                <a:lnTo>
                  <a:pt x="0" y="588629"/>
                </a:lnTo>
                <a:lnTo>
                  <a:pt x="5147" y="614074"/>
                </a:lnTo>
                <a:lnTo>
                  <a:pt x="19178" y="634867"/>
                </a:lnTo>
                <a:lnTo>
                  <a:pt x="39972" y="648894"/>
                </a:lnTo>
                <a:lnTo>
                  <a:pt x="65413" y="654039"/>
                </a:lnTo>
                <a:lnTo>
                  <a:pt x="4792608" y="654039"/>
                </a:lnTo>
                <a:lnTo>
                  <a:pt x="4818040" y="648894"/>
                </a:lnTo>
                <a:lnTo>
                  <a:pt x="4838835" y="634867"/>
                </a:lnTo>
                <a:lnTo>
                  <a:pt x="4852868" y="614074"/>
                </a:lnTo>
                <a:lnTo>
                  <a:pt x="4858018" y="588629"/>
                </a:lnTo>
                <a:lnTo>
                  <a:pt x="4858018" y="65410"/>
                </a:lnTo>
                <a:lnTo>
                  <a:pt x="4852868" y="39964"/>
                </a:lnTo>
                <a:lnTo>
                  <a:pt x="4838835" y="19171"/>
                </a:lnTo>
                <a:lnTo>
                  <a:pt x="4818040" y="5145"/>
                </a:lnTo>
                <a:lnTo>
                  <a:pt x="4792608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11783" y="1936948"/>
            <a:ext cx="4871037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Customer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segmentation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1550" spc="-2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1550" spc="1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43707" y="2513732"/>
            <a:ext cx="85734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79"/>
                </a:lnTo>
                <a:lnTo>
                  <a:pt x="31908" y="31969"/>
                </a:lnTo>
                <a:lnTo>
                  <a:pt x="8560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60" y="587440"/>
                </a:lnTo>
                <a:lnTo>
                  <a:pt x="31908" y="622114"/>
                </a:lnTo>
                <a:lnTo>
                  <a:pt x="66544" y="645477"/>
                </a:lnTo>
                <a:lnTo>
                  <a:pt x="108966" y="654039"/>
                </a:lnTo>
                <a:lnTo>
                  <a:pt x="544961" y="654039"/>
                </a:lnTo>
                <a:lnTo>
                  <a:pt x="587383" y="645477"/>
                </a:lnTo>
                <a:lnTo>
                  <a:pt x="622018" y="622114"/>
                </a:lnTo>
                <a:lnTo>
                  <a:pt x="645366" y="587440"/>
                </a:lnTo>
                <a:lnTo>
                  <a:pt x="653927" y="544942"/>
                </a:lnTo>
                <a:lnTo>
                  <a:pt x="653927" y="109087"/>
                </a:lnTo>
                <a:lnTo>
                  <a:pt x="645366" y="66646"/>
                </a:lnTo>
                <a:lnTo>
                  <a:pt x="622018" y="31969"/>
                </a:lnTo>
                <a:lnTo>
                  <a:pt x="587383" y="8579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36877" y="2513732"/>
            <a:ext cx="5459523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79"/>
                </a:lnTo>
                <a:lnTo>
                  <a:pt x="31974" y="31969"/>
                </a:lnTo>
                <a:lnTo>
                  <a:pt x="8581" y="66646"/>
                </a:lnTo>
                <a:lnTo>
                  <a:pt x="0" y="109087"/>
                </a:lnTo>
                <a:lnTo>
                  <a:pt x="0" y="544942"/>
                </a:lnTo>
                <a:lnTo>
                  <a:pt x="8581" y="587440"/>
                </a:lnTo>
                <a:lnTo>
                  <a:pt x="31974" y="622114"/>
                </a:lnTo>
                <a:lnTo>
                  <a:pt x="66654" y="645477"/>
                </a:lnTo>
                <a:lnTo>
                  <a:pt x="109097" y="654039"/>
                </a:lnTo>
                <a:lnTo>
                  <a:pt x="4055882" y="654039"/>
                </a:lnTo>
                <a:lnTo>
                  <a:pt x="4098304" y="645477"/>
                </a:lnTo>
                <a:lnTo>
                  <a:pt x="4132939" y="622114"/>
                </a:lnTo>
                <a:lnTo>
                  <a:pt x="4156287" y="587440"/>
                </a:lnTo>
                <a:lnTo>
                  <a:pt x="4164848" y="544942"/>
                </a:lnTo>
                <a:lnTo>
                  <a:pt x="4164848" y="109087"/>
                </a:lnTo>
                <a:lnTo>
                  <a:pt x="4156287" y="66646"/>
                </a:lnTo>
                <a:lnTo>
                  <a:pt x="4132939" y="31969"/>
                </a:lnTo>
                <a:lnTo>
                  <a:pt x="4098304" y="8579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307793" y="2709998"/>
            <a:ext cx="161313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Classification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43707" y="3246257"/>
            <a:ext cx="85734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60" y="587383"/>
                </a:lnTo>
                <a:lnTo>
                  <a:pt x="31908" y="622018"/>
                </a:lnTo>
                <a:lnTo>
                  <a:pt x="66544" y="645366"/>
                </a:lnTo>
                <a:lnTo>
                  <a:pt x="108966" y="653927"/>
                </a:lnTo>
                <a:lnTo>
                  <a:pt x="544961" y="653927"/>
                </a:lnTo>
                <a:lnTo>
                  <a:pt x="587383" y="645366"/>
                </a:lnTo>
                <a:lnTo>
                  <a:pt x="622018" y="622018"/>
                </a:lnTo>
                <a:lnTo>
                  <a:pt x="645366" y="587383"/>
                </a:lnTo>
                <a:lnTo>
                  <a:pt x="653927" y="544961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36877" y="3246257"/>
            <a:ext cx="5459523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61"/>
                </a:lnTo>
                <a:lnTo>
                  <a:pt x="8581" y="587383"/>
                </a:lnTo>
                <a:lnTo>
                  <a:pt x="31974" y="622018"/>
                </a:lnTo>
                <a:lnTo>
                  <a:pt x="66654" y="645366"/>
                </a:lnTo>
                <a:lnTo>
                  <a:pt x="109097" y="653927"/>
                </a:lnTo>
                <a:lnTo>
                  <a:pt x="4055882" y="653927"/>
                </a:lnTo>
                <a:lnTo>
                  <a:pt x="4098304" y="645366"/>
                </a:lnTo>
                <a:lnTo>
                  <a:pt x="4132939" y="622018"/>
                </a:lnTo>
                <a:lnTo>
                  <a:pt x="4156287" y="587383"/>
                </a:lnTo>
                <a:lnTo>
                  <a:pt x="4164848" y="544961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70100" y="3443804"/>
            <a:ext cx="1202776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Clustering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43707" y="3978670"/>
            <a:ext cx="85734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2"/>
                </a:lnTo>
                <a:lnTo>
                  <a:pt x="31908" y="31923"/>
                </a:lnTo>
                <a:lnTo>
                  <a:pt x="8560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60" y="587399"/>
                </a:lnTo>
                <a:lnTo>
                  <a:pt x="31908" y="622057"/>
                </a:lnTo>
                <a:lnTo>
                  <a:pt x="66544" y="645427"/>
                </a:lnTo>
                <a:lnTo>
                  <a:pt x="108966" y="653997"/>
                </a:lnTo>
                <a:lnTo>
                  <a:pt x="544961" y="653997"/>
                </a:lnTo>
                <a:lnTo>
                  <a:pt x="587383" y="645427"/>
                </a:lnTo>
                <a:lnTo>
                  <a:pt x="622018" y="622057"/>
                </a:lnTo>
                <a:lnTo>
                  <a:pt x="645366" y="587399"/>
                </a:lnTo>
                <a:lnTo>
                  <a:pt x="653927" y="544961"/>
                </a:lnTo>
                <a:lnTo>
                  <a:pt x="653927" y="109084"/>
                </a:lnTo>
                <a:lnTo>
                  <a:pt x="645366" y="66594"/>
                </a:lnTo>
                <a:lnTo>
                  <a:pt x="622018" y="31923"/>
                </a:lnTo>
                <a:lnTo>
                  <a:pt x="587383" y="8562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36877" y="3978670"/>
            <a:ext cx="5459523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2"/>
                </a:lnTo>
                <a:lnTo>
                  <a:pt x="31974" y="31923"/>
                </a:lnTo>
                <a:lnTo>
                  <a:pt x="8581" y="66594"/>
                </a:lnTo>
                <a:lnTo>
                  <a:pt x="0" y="109084"/>
                </a:lnTo>
                <a:lnTo>
                  <a:pt x="0" y="544961"/>
                </a:lnTo>
                <a:lnTo>
                  <a:pt x="8581" y="587399"/>
                </a:lnTo>
                <a:lnTo>
                  <a:pt x="31974" y="622057"/>
                </a:lnTo>
                <a:lnTo>
                  <a:pt x="66654" y="645427"/>
                </a:lnTo>
                <a:lnTo>
                  <a:pt x="109097" y="653997"/>
                </a:lnTo>
                <a:lnTo>
                  <a:pt x="4055882" y="653997"/>
                </a:lnTo>
                <a:lnTo>
                  <a:pt x="4098304" y="645427"/>
                </a:lnTo>
                <a:lnTo>
                  <a:pt x="4132939" y="622057"/>
                </a:lnTo>
                <a:lnTo>
                  <a:pt x="4156287" y="587399"/>
                </a:lnTo>
                <a:lnTo>
                  <a:pt x="4164848" y="544961"/>
                </a:lnTo>
                <a:lnTo>
                  <a:pt x="4164848" y="109084"/>
                </a:lnTo>
                <a:lnTo>
                  <a:pt x="4156287" y="66594"/>
                </a:lnTo>
                <a:lnTo>
                  <a:pt x="4132939" y="31923"/>
                </a:lnTo>
                <a:lnTo>
                  <a:pt x="4098304" y="8562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93899" y="4177611"/>
            <a:ext cx="140171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Association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143707" y="4711142"/>
            <a:ext cx="85734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6"/>
                </a:lnTo>
                <a:lnTo>
                  <a:pt x="31908" y="31928"/>
                </a:lnTo>
                <a:lnTo>
                  <a:pt x="8560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60" y="587386"/>
                </a:lnTo>
                <a:lnTo>
                  <a:pt x="31908" y="622041"/>
                </a:lnTo>
                <a:lnTo>
                  <a:pt x="66544" y="645407"/>
                </a:lnTo>
                <a:lnTo>
                  <a:pt x="108966" y="653975"/>
                </a:lnTo>
                <a:lnTo>
                  <a:pt x="544961" y="653975"/>
                </a:lnTo>
                <a:lnTo>
                  <a:pt x="587383" y="645407"/>
                </a:lnTo>
                <a:lnTo>
                  <a:pt x="622018" y="622041"/>
                </a:lnTo>
                <a:lnTo>
                  <a:pt x="645366" y="587386"/>
                </a:lnTo>
                <a:lnTo>
                  <a:pt x="653927" y="544951"/>
                </a:lnTo>
                <a:lnTo>
                  <a:pt x="653927" y="109014"/>
                </a:lnTo>
                <a:lnTo>
                  <a:pt x="645366" y="66580"/>
                </a:lnTo>
                <a:lnTo>
                  <a:pt x="622018" y="31928"/>
                </a:lnTo>
                <a:lnTo>
                  <a:pt x="587383" y="8566"/>
                </a:lnTo>
                <a:lnTo>
                  <a:pt x="544961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836877" y="4711142"/>
            <a:ext cx="5459523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6"/>
                </a:lnTo>
                <a:lnTo>
                  <a:pt x="31974" y="31928"/>
                </a:lnTo>
                <a:lnTo>
                  <a:pt x="8581" y="66580"/>
                </a:lnTo>
                <a:lnTo>
                  <a:pt x="0" y="109014"/>
                </a:lnTo>
                <a:lnTo>
                  <a:pt x="0" y="544951"/>
                </a:lnTo>
                <a:lnTo>
                  <a:pt x="8581" y="587386"/>
                </a:lnTo>
                <a:lnTo>
                  <a:pt x="31974" y="622041"/>
                </a:lnTo>
                <a:lnTo>
                  <a:pt x="66654" y="645407"/>
                </a:lnTo>
                <a:lnTo>
                  <a:pt x="109097" y="653975"/>
                </a:lnTo>
                <a:lnTo>
                  <a:pt x="4055882" y="653975"/>
                </a:lnTo>
                <a:lnTo>
                  <a:pt x="4098304" y="645407"/>
                </a:lnTo>
                <a:lnTo>
                  <a:pt x="4132939" y="622041"/>
                </a:lnTo>
                <a:lnTo>
                  <a:pt x="4156287" y="587386"/>
                </a:lnTo>
                <a:lnTo>
                  <a:pt x="4164848" y="544951"/>
                </a:lnTo>
                <a:lnTo>
                  <a:pt x="4164848" y="109014"/>
                </a:lnTo>
                <a:lnTo>
                  <a:pt x="4156287" y="66580"/>
                </a:lnTo>
                <a:lnTo>
                  <a:pt x="4132939" y="31928"/>
                </a:lnTo>
                <a:lnTo>
                  <a:pt x="4098304" y="8566"/>
                </a:lnTo>
                <a:lnTo>
                  <a:pt x="4055882" y="0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5078813" y="4911294"/>
            <a:ext cx="2199957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None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1550" spc="-5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1550" spc="-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above</a:t>
            </a:r>
            <a:endParaRPr sz="15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253697" y="2657637"/>
            <a:ext cx="605966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402156" y="2694504"/>
            <a:ext cx="22307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52554" y="3405790"/>
            <a:ext cx="605966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A8DB6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00886" y="3444058"/>
            <a:ext cx="22307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252554" y="4109497"/>
            <a:ext cx="605966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3400886" y="4149036"/>
            <a:ext cx="22307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252554" y="4908478"/>
            <a:ext cx="605966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0771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00886" y="4949394"/>
            <a:ext cx="223075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8784321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90173" y="584262"/>
            <a:ext cx="1804020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Quiz </a:t>
            </a:r>
            <a:r>
              <a:rPr lang="en-US" sz="3950" cap="all" spc="-35" dirty="0" smtClean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5</a:t>
            </a:r>
            <a:endParaRPr lang="en-US" sz="3950" cap="all" spc="-35" dirty="0">
              <a:solidFill>
                <a:srgbClr val="7F7F7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74280" y="1881272"/>
            <a:ext cx="6594728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27"/>
                </a:lnTo>
                <a:lnTo>
                  <a:pt x="19178" y="19122"/>
                </a:lnTo>
                <a:lnTo>
                  <a:pt x="5147" y="39900"/>
                </a:lnTo>
                <a:lnTo>
                  <a:pt x="0" y="65379"/>
                </a:lnTo>
                <a:lnTo>
                  <a:pt x="0" y="588507"/>
                </a:lnTo>
                <a:lnTo>
                  <a:pt x="5147" y="613991"/>
                </a:lnTo>
                <a:lnTo>
                  <a:pt x="19178" y="634780"/>
                </a:lnTo>
                <a:lnTo>
                  <a:pt x="39972" y="648785"/>
                </a:lnTo>
                <a:lnTo>
                  <a:pt x="65413" y="653917"/>
                </a:lnTo>
                <a:lnTo>
                  <a:pt x="4792608" y="653917"/>
                </a:lnTo>
                <a:lnTo>
                  <a:pt x="4818040" y="648785"/>
                </a:lnTo>
                <a:lnTo>
                  <a:pt x="4838835" y="634780"/>
                </a:lnTo>
                <a:lnTo>
                  <a:pt x="4852868" y="613991"/>
                </a:lnTo>
                <a:lnTo>
                  <a:pt x="4858018" y="588507"/>
                </a:lnTo>
                <a:lnTo>
                  <a:pt x="4858018" y="65379"/>
                </a:lnTo>
                <a:lnTo>
                  <a:pt x="4852868" y="39900"/>
                </a:lnTo>
                <a:lnTo>
                  <a:pt x="4838835" y="19122"/>
                </a:lnTo>
                <a:lnTo>
                  <a:pt x="4818040" y="5127"/>
                </a:lnTo>
                <a:lnTo>
                  <a:pt x="4792608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75960" y="2076268"/>
            <a:ext cx="469414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In K-Means,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K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stands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550" spc="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__________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174280" y="2652904"/>
            <a:ext cx="88780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9"/>
                </a:lnTo>
                <a:lnTo>
                  <a:pt x="8560" y="66546"/>
                </a:lnTo>
                <a:lnTo>
                  <a:pt x="0" y="108972"/>
                </a:lnTo>
                <a:lnTo>
                  <a:pt x="0" y="544967"/>
                </a:lnTo>
                <a:lnTo>
                  <a:pt x="8560" y="587389"/>
                </a:lnTo>
                <a:lnTo>
                  <a:pt x="31908" y="622024"/>
                </a:lnTo>
                <a:lnTo>
                  <a:pt x="66544" y="645372"/>
                </a:lnTo>
                <a:lnTo>
                  <a:pt x="108966" y="653933"/>
                </a:lnTo>
                <a:lnTo>
                  <a:pt x="544961" y="653933"/>
                </a:lnTo>
                <a:lnTo>
                  <a:pt x="587383" y="645372"/>
                </a:lnTo>
                <a:lnTo>
                  <a:pt x="622018" y="622024"/>
                </a:lnTo>
                <a:lnTo>
                  <a:pt x="645366" y="587389"/>
                </a:lnTo>
                <a:lnTo>
                  <a:pt x="653927" y="544967"/>
                </a:lnTo>
                <a:lnTo>
                  <a:pt x="653927" y="108972"/>
                </a:lnTo>
                <a:lnTo>
                  <a:pt x="645366" y="66546"/>
                </a:lnTo>
                <a:lnTo>
                  <a:pt x="622018" y="31909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67450" y="2652904"/>
            <a:ext cx="565348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9"/>
                </a:lnTo>
                <a:lnTo>
                  <a:pt x="8581" y="66546"/>
                </a:lnTo>
                <a:lnTo>
                  <a:pt x="0" y="108972"/>
                </a:lnTo>
                <a:lnTo>
                  <a:pt x="0" y="544967"/>
                </a:lnTo>
                <a:lnTo>
                  <a:pt x="8581" y="587389"/>
                </a:lnTo>
                <a:lnTo>
                  <a:pt x="31974" y="622024"/>
                </a:lnTo>
                <a:lnTo>
                  <a:pt x="66654" y="645372"/>
                </a:lnTo>
                <a:lnTo>
                  <a:pt x="109097" y="653933"/>
                </a:lnTo>
                <a:lnTo>
                  <a:pt x="4055882" y="653933"/>
                </a:lnTo>
                <a:lnTo>
                  <a:pt x="4098304" y="645372"/>
                </a:lnTo>
                <a:lnTo>
                  <a:pt x="4132939" y="622024"/>
                </a:lnTo>
                <a:lnTo>
                  <a:pt x="4156287" y="587389"/>
                </a:lnTo>
                <a:lnTo>
                  <a:pt x="4164848" y="544967"/>
                </a:lnTo>
                <a:lnTo>
                  <a:pt x="4164848" y="108972"/>
                </a:lnTo>
                <a:lnTo>
                  <a:pt x="4156287" y="66546"/>
                </a:lnTo>
                <a:lnTo>
                  <a:pt x="4132939" y="31909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510197" y="2849445"/>
            <a:ext cx="120327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sets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174280" y="3385324"/>
            <a:ext cx="88780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81"/>
                </a:lnTo>
                <a:lnTo>
                  <a:pt x="31908" y="31974"/>
                </a:lnTo>
                <a:lnTo>
                  <a:pt x="8560" y="66654"/>
                </a:lnTo>
                <a:lnTo>
                  <a:pt x="0" y="109097"/>
                </a:lnTo>
                <a:lnTo>
                  <a:pt x="0" y="544961"/>
                </a:lnTo>
                <a:lnTo>
                  <a:pt x="8560" y="587451"/>
                </a:lnTo>
                <a:lnTo>
                  <a:pt x="31908" y="622122"/>
                </a:lnTo>
                <a:lnTo>
                  <a:pt x="66544" y="645483"/>
                </a:lnTo>
                <a:lnTo>
                  <a:pt x="108966" y="654045"/>
                </a:lnTo>
                <a:lnTo>
                  <a:pt x="544961" y="654045"/>
                </a:lnTo>
                <a:lnTo>
                  <a:pt x="587383" y="645483"/>
                </a:lnTo>
                <a:lnTo>
                  <a:pt x="622018" y="622122"/>
                </a:lnTo>
                <a:lnTo>
                  <a:pt x="645366" y="587451"/>
                </a:lnTo>
                <a:lnTo>
                  <a:pt x="653927" y="544961"/>
                </a:lnTo>
                <a:lnTo>
                  <a:pt x="653927" y="109097"/>
                </a:lnTo>
                <a:lnTo>
                  <a:pt x="645366" y="66654"/>
                </a:lnTo>
                <a:lnTo>
                  <a:pt x="622018" y="31974"/>
                </a:lnTo>
                <a:lnTo>
                  <a:pt x="587383" y="8581"/>
                </a:lnTo>
                <a:lnTo>
                  <a:pt x="544961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67450" y="3385324"/>
            <a:ext cx="565348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81"/>
                </a:lnTo>
                <a:lnTo>
                  <a:pt x="31974" y="31974"/>
                </a:lnTo>
                <a:lnTo>
                  <a:pt x="8581" y="66654"/>
                </a:lnTo>
                <a:lnTo>
                  <a:pt x="0" y="109097"/>
                </a:lnTo>
                <a:lnTo>
                  <a:pt x="0" y="544961"/>
                </a:lnTo>
                <a:lnTo>
                  <a:pt x="8581" y="587451"/>
                </a:lnTo>
                <a:lnTo>
                  <a:pt x="31974" y="622122"/>
                </a:lnTo>
                <a:lnTo>
                  <a:pt x="66654" y="645483"/>
                </a:lnTo>
                <a:lnTo>
                  <a:pt x="109097" y="654045"/>
                </a:lnTo>
                <a:lnTo>
                  <a:pt x="4055882" y="654045"/>
                </a:lnTo>
                <a:lnTo>
                  <a:pt x="4098304" y="645483"/>
                </a:lnTo>
                <a:lnTo>
                  <a:pt x="4132939" y="622122"/>
                </a:lnTo>
                <a:lnTo>
                  <a:pt x="4156287" y="587451"/>
                </a:lnTo>
                <a:lnTo>
                  <a:pt x="4164848" y="544961"/>
                </a:lnTo>
                <a:lnTo>
                  <a:pt x="4164848" y="109097"/>
                </a:lnTo>
                <a:lnTo>
                  <a:pt x="4156287" y="66654"/>
                </a:lnTo>
                <a:lnTo>
                  <a:pt x="4132939" y="31974"/>
                </a:lnTo>
                <a:lnTo>
                  <a:pt x="4098304" y="8581"/>
                </a:lnTo>
                <a:lnTo>
                  <a:pt x="4055882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90336" y="3583124"/>
            <a:ext cx="234103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 clusters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74280" y="4117856"/>
            <a:ext cx="887802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36"/>
                </a:lnTo>
                <a:lnTo>
                  <a:pt x="8560" y="587371"/>
                </a:lnTo>
                <a:lnTo>
                  <a:pt x="31908" y="622022"/>
                </a:lnTo>
                <a:lnTo>
                  <a:pt x="66544" y="645384"/>
                </a:lnTo>
                <a:lnTo>
                  <a:pt x="108966" y="653951"/>
                </a:lnTo>
                <a:lnTo>
                  <a:pt x="544961" y="653951"/>
                </a:lnTo>
                <a:lnTo>
                  <a:pt x="587383" y="645384"/>
                </a:lnTo>
                <a:lnTo>
                  <a:pt x="622018" y="622022"/>
                </a:lnTo>
                <a:lnTo>
                  <a:pt x="645366" y="587371"/>
                </a:lnTo>
                <a:lnTo>
                  <a:pt x="653927" y="544936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67450" y="4117856"/>
            <a:ext cx="5653486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36"/>
                </a:lnTo>
                <a:lnTo>
                  <a:pt x="8581" y="587371"/>
                </a:lnTo>
                <a:lnTo>
                  <a:pt x="31974" y="622022"/>
                </a:lnTo>
                <a:lnTo>
                  <a:pt x="66654" y="645384"/>
                </a:lnTo>
                <a:lnTo>
                  <a:pt x="109097" y="653951"/>
                </a:lnTo>
                <a:lnTo>
                  <a:pt x="4055882" y="653951"/>
                </a:lnTo>
                <a:lnTo>
                  <a:pt x="4098304" y="645384"/>
                </a:lnTo>
                <a:lnTo>
                  <a:pt x="4132939" y="622022"/>
                </a:lnTo>
                <a:lnTo>
                  <a:pt x="4156287" y="587371"/>
                </a:lnTo>
                <a:lnTo>
                  <a:pt x="4164848" y="544936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338367" y="4316934"/>
            <a:ext cx="167130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284269" y="2796834"/>
            <a:ext cx="62749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32729" y="2833824"/>
            <a:ext cx="23100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283126" y="3544856"/>
            <a:ext cx="62749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431459" y="3583505"/>
            <a:ext cx="23100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283126" y="4248600"/>
            <a:ext cx="627495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431459" y="4288359"/>
            <a:ext cx="231001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54641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51628" y="570407"/>
            <a:ext cx="2808141" cy="7001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en-US" sz="3950" cap="all" spc="-35" dirty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Answer </a:t>
            </a:r>
            <a:r>
              <a:rPr lang="en-US" sz="3950" cap="all" spc="-35" dirty="0" smtClean="0">
                <a:solidFill>
                  <a:srgbClr val="7F7F7F"/>
                </a:solidFill>
                <a:latin typeface="Arial"/>
                <a:ea typeface="+mj-ea"/>
                <a:cs typeface="Arial"/>
              </a:rPr>
              <a:t>5</a:t>
            </a:r>
            <a:endParaRPr lang="en-US" sz="3950" cap="all" spc="-35" dirty="0">
              <a:solidFill>
                <a:srgbClr val="7F7F7F"/>
              </a:solidFill>
              <a:latin typeface="Arial"/>
              <a:ea typeface="+mj-ea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94326" y="2047526"/>
            <a:ext cx="6271505" cy="654050"/>
          </a:xfrm>
          <a:custGeom>
            <a:avLst/>
            <a:gdLst/>
            <a:ahLst/>
            <a:cxnLst/>
            <a:rect l="l" t="t" r="r" b="b"/>
            <a:pathLst>
              <a:path w="4858384" h="654050">
                <a:moveTo>
                  <a:pt x="4792608" y="0"/>
                </a:moveTo>
                <a:lnTo>
                  <a:pt x="65413" y="0"/>
                </a:lnTo>
                <a:lnTo>
                  <a:pt x="39972" y="5127"/>
                </a:lnTo>
                <a:lnTo>
                  <a:pt x="19178" y="19122"/>
                </a:lnTo>
                <a:lnTo>
                  <a:pt x="5147" y="39900"/>
                </a:lnTo>
                <a:lnTo>
                  <a:pt x="0" y="65379"/>
                </a:lnTo>
                <a:lnTo>
                  <a:pt x="0" y="588507"/>
                </a:lnTo>
                <a:lnTo>
                  <a:pt x="5147" y="613991"/>
                </a:lnTo>
                <a:lnTo>
                  <a:pt x="19178" y="634780"/>
                </a:lnTo>
                <a:lnTo>
                  <a:pt x="39972" y="648785"/>
                </a:lnTo>
                <a:lnTo>
                  <a:pt x="65413" y="653917"/>
                </a:lnTo>
                <a:lnTo>
                  <a:pt x="4792608" y="653917"/>
                </a:lnTo>
                <a:lnTo>
                  <a:pt x="4818040" y="648785"/>
                </a:lnTo>
                <a:lnTo>
                  <a:pt x="4838835" y="634780"/>
                </a:lnTo>
                <a:lnTo>
                  <a:pt x="4852868" y="613991"/>
                </a:lnTo>
                <a:lnTo>
                  <a:pt x="4858018" y="588507"/>
                </a:lnTo>
                <a:lnTo>
                  <a:pt x="4858018" y="65379"/>
                </a:lnTo>
                <a:lnTo>
                  <a:pt x="4852868" y="39900"/>
                </a:lnTo>
                <a:lnTo>
                  <a:pt x="4838835" y="19122"/>
                </a:lnTo>
                <a:lnTo>
                  <a:pt x="4818040" y="5127"/>
                </a:lnTo>
                <a:lnTo>
                  <a:pt x="4792608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96007" y="2242522"/>
            <a:ext cx="4464072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0" dirty="0">
                <a:solidFill>
                  <a:srgbClr val="FFFFFF"/>
                </a:solidFill>
                <a:latin typeface="Arial"/>
                <a:cs typeface="Arial"/>
              </a:rPr>
              <a:t>In K-Means,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K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stands </a:t>
            </a: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1550" spc="2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30" dirty="0">
                <a:solidFill>
                  <a:srgbClr val="FFFFFF"/>
                </a:solidFill>
                <a:latin typeface="Arial"/>
                <a:cs typeface="Arial"/>
              </a:rPr>
              <a:t>__________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894326" y="2819158"/>
            <a:ext cx="84428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9"/>
                </a:lnTo>
                <a:lnTo>
                  <a:pt x="8560" y="66546"/>
                </a:lnTo>
                <a:lnTo>
                  <a:pt x="0" y="108972"/>
                </a:lnTo>
                <a:lnTo>
                  <a:pt x="0" y="544967"/>
                </a:lnTo>
                <a:lnTo>
                  <a:pt x="8560" y="587389"/>
                </a:lnTo>
                <a:lnTo>
                  <a:pt x="31908" y="622024"/>
                </a:lnTo>
                <a:lnTo>
                  <a:pt x="66544" y="645372"/>
                </a:lnTo>
                <a:lnTo>
                  <a:pt x="108966" y="653933"/>
                </a:lnTo>
                <a:lnTo>
                  <a:pt x="544961" y="653933"/>
                </a:lnTo>
                <a:lnTo>
                  <a:pt x="587383" y="645372"/>
                </a:lnTo>
                <a:lnTo>
                  <a:pt x="622018" y="622024"/>
                </a:lnTo>
                <a:lnTo>
                  <a:pt x="645366" y="587389"/>
                </a:lnTo>
                <a:lnTo>
                  <a:pt x="653927" y="544967"/>
                </a:lnTo>
                <a:lnTo>
                  <a:pt x="653927" y="108972"/>
                </a:lnTo>
                <a:lnTo>
                  <a:pt x="645366" y="66546"/>
                </a:lnTo>
                <a:lnTo>
                  <a:pt x="622018" y="31909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5D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87496" y="2819158"/>
            <a:ext cx="53763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9"/>
                </a:lnTo>
                <a:lnTo>
                  <a:pt x="8581" y="66546"/>
                </a:lnTo>
                <a:lnTo>
                  <a:pt x="0" y="108972"/>
                </a:lnTo>
                <a:lnTo>
                  <a:pt x="0" y="544967"/>
                </a:lnTo>
                <a:lnTo>
                  <a:pt x="8581" y="587389"/>
                </a:lnTo>
                <a:lnTo>
                  <a:pt x="31974" y="622024"/>
                </a:lnTo>
                <a:lnTo>
                  <a:pt x="66654" y="645372"/>
                </a:lnTo>
                <a:lnTo>
                  <a:pt x="109097" y="653933"/>
                </a:lnTo>
                <a:lnTo>
                  <a:pt x="4055882" y="653933"/>
                </a:lnTo>
                <a:lnTo>
                  <a:pt x="4098304" y="645372"/>
                </a:lnTo>
                <a:lnTo>
                  <a:pt x="4132939" y="622024"/>
                </a:lnTo>
                <a:lnTo>
                  <a:pt x="4156287" y="587389"/>
                </a:lnTo>
                <a:lnTo>
                  <a:pt x="4164848" y="544967"/>
                </a:lnTo>
                <a:lnTo>
                  <a:pt x="4164848" y="108972"/>
                </a:lnTo>
                <a:lnTo>
                  <a:pt x="4156287" y="66546"/>
                </a:lnTo>
                <a:lnTo>
                  <a:pt x="4132939" y="31909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5D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230244" y="3015699"/>
            <a:ext cx="114429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25" dirty="0">
                <a:solidFill>
                  <a:srgbClr val="FFFFFF"/>
                </a:solidFill>
                <a:latin typeface="Arial"/>
                <a:cs typeface="Arial"/>
              </a:rPr>
              <a:t>sets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894326" y="3551578"/>
            <a:ext cx="84428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81"/>
                </a:lnTo>
                <a:lnTo>
                  <a:pt x="31908" y="31974"/>
                </a:lnTo>
                <a:lnTo>
                  <a:pt x="8560" y="66654"/>
                </a:lnTo>
                <a:lnTo>
                  <a:pt x="0" y="109097"/>
                </a:lnTo>
                <a:lnTo>
                  <a:pt x="0" y="544961"/>
                </a:lnTo>
                <a:lnTo>
                  <a:pt x="8560" y="587451"/>
                </a:lnTo>
                <a:lnTo>
                  <a:pt x="31908" y="622122"/>
                </a:lnTo>
                <a:lnTo>
                  <a:pt x="66544" y="645483"/>
                </a:lnTo>
                <a:lnTo>
                  <a:pt x="108966" y="654045"/>
                </a:lnTo>
                <a:lnTo>
                  <a:pt x="544961" y="654045"/>
                </a:lnTo>
                <a:lnTo>
                  <a:pt x="587383" y="645483"/>
                </a:lnTo>
                <a:lnTo>
                  <a:pt x="622018" y="622122"/>
                </a:lnTo>
                <a:lnTo>
                  <a:pt x="645366" y="587451"/>
                </a:lnTo>
                <a:lnTo>
                  <a:pt x="653927" y="544961"/>
                </a:lnTo>
                <a:lnTo>
                  <a:pt x="653927" y="109097"/>
                </a:lnTo>
                <a:lnTo>
                  <a:pt x="645366" y="66654"/>
                </a:lnTo>
                <a:lnTo>
                  <a:pt x="622018" y="31974"/>
                </a:lnTo>
                <a:lnTo>
                  <a:pt x="587383" y="8581"/>
                </a:lnTo>
                <a:lnTo>
                  <a:pt x="544961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587496" y="3551578"/>
            <a:ext cx="53763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81"/>
                </a:lnTo>
                <a:lnTo>
                  <a:pt x="31974" y="31974"/>
                </a:lnTo>
                <a:lnTo>
                  <a:pt x="8581" y="66654"/>
                </a:lnTo>
                <a:lnTo>
                  <a:pt x="0" y="109097"/>
                </a:lnTo>
                <a:lnTo>
                  <a:pt x="0" y="544961"/>
                </a:lnTo>
                <a:lnTo>
                  <a:pt x="8581" y="587451"/>
                </a:lnTo>
                <a:lnTo>
                  <a:pt x="31974" y="622122"/>
                </a:lnTo>
                <a:lnTo>
                  <a:pt x="66654" y="645483"/>
                </a:lnTo>
                <a:lnTo>
                  <a:pt x="109097" y="654045"/>
                </a:lnTo>
                <a:lnTo>
                  <a:pt x="4055882" y="654045"/>
                </a:lnTo>
                <a:lnTo>
                  <a:pt x="4098304" y="645483"/>
                </a:lnTo>
                <a:lnTo>
                  <a:pt x="4132939" y="622122"/>
                </a:lnTo>
                <a:lnTo>
                  <a:pt x="4156287" y="587451"/>
                </a:lnTo>
                <a:lnTo>
                  <a:pt x="4164848" y="544961"/>
                </a:lnTo>
                <a:lnTo>
                  <a:pt x="4164848" y="109097"/>
                </a:lnTo>
                <a:lnTo>
                  <a:pt x="4156287" y="66654"/>
                </a:lnTo>
                <a:lnTo>
                  <a:pt x="4132939" y="31974"/>
                </a:lnTo>
                <a:lnTo>
                  <a:pt x="4098304" y="8581"/>
                </a:lnTo>
                <a:lnTo>
                  <a:pt x="4055882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810382" y="3749378"/>
            <a:ext cx="2226298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-35" dirty="0">
                <a:solidFill>
                  <a:srgbClr val="FFFFFF"/>
                </a:solidFill>
                <a:latin typeface="Arial"/>
                <a:cs typeface="Arial"/>
              </a:rPr>
              <a:t>Number 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 clusters</a:t>
            </a:r>
            <a:endParaRPr sz="15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894326" y="4284110"/>
            <a:ext cx="844288" cy="654050"/>
          </a:xfrm>
          <a:custGeom>
            <a:avLst/>
            <a:gdLst/>
            <a:ahLst/>
            <a:cxnLst/>
            <a:rect l="l" t="t" r="r" b="b"/>
            <a:pathLst>
              <a:path w="654050" h="654050">
                <a:moveTo>
                  <a:pt x="544961" y="0"/>
                </a:moveTo>
                <a:lnTo>
                  <a:pt x="108966" y="0"/>
                </a:lnTo>
                <a:lnTo>
                  <a:pt x="66544" y="8560"/>
                </a:lnTo>
                <a:lnTo>
                  <a:pt x="31908" y="31908"/>
                </a:lnTo>
                <a:lnTo>
                  <a:pt x="8560" y="66544"/>
                </a:lnTo>
                <a:lnTo>
                  <a:pt x="0" y="108966"/>
                </a:lnTo>
                <a:lnTo>
                  <a:pt x="0" y="544936"/>
                </a:lnTo>
                <a:lnTo>
                  <a:pt x="8560" y="587371"/>
                </a:lnTo>
                <a:lnTo>
                  <a:pt x="31908" y="622022"/>
                </a:lnTo>
                <a:lnTo>
                  <a:pt x="66544" y="645384"/>
                </a:lnTo>
                <a:lnTo>
                  <a:pt x="108966" y="653951"/>
                </a:lnTo>
                <a:lnTo>
                  <a:pt x="544961" y="653951"/>
                </a:lnTo>
                <a:lnTo>
                  <a:pt x="587383" y="645384"/>
                </a:lnTo>
                <a:lnTo>
                  <a:pt x="622018" y="622022"/>
                </a:lnTo>
                <a:lnTo>
                  <a:pt x="645366" y="587371"/>
                </a:lnTo>
                <a:lnTo>
                  <a:pt x="653927" y="544936"/>
                </a:lnTo>
                <a:lnTo>
                  <a:pt x="653927" y="108966"/>
                </a:lnTo>
                <a:lnTo>
                  <a:pt x="645366" y="66544"/>
                </a:lnTo>
                <a:lnTo>
                  <a:pt x="622018" y="31908"/>
                </a:lnTo>
                <a:lnTo>
                  <a:pt x="587383" y="8560"/>
                </a:lnTo>
                <a:lnTo>
                  <a:pt x="544961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587496" y="4284110"/>
            <a:ext cx="5376395" cy="654050"/>
          </a:xfrm>
          <a:custGeom>
            <a:avLst/>
            <a:gdLst/>
            <a:ahLst/>
            <a:cxnLst/>
            <a:rect l="l" t="t" r="r" b="b"/>
            <a:pathLst>
              <a:path w="4164965" h="654050">
                <a:moveTo>
                  <a:pt x="4055882" y="0"/>
                </a:moveTo>
                <a:lnTo>
                  <a:pt x="109097" y="0"/>
                </a:lnTo>
                <a:lnTo>
                  <a:pt x="66654" y="8560"/>
                </a:lnTo>
                <a:lnTo>
                  <a:pt x="31974" y="31908"/>
                </a:lnTo>
                <a:lnTo>
                  <a:pt x="8581" y="66544"/>
                </a:lnTo>
                <a:lnTo>
                  <a:pt x="0" y="108966"/>
                </a:lnTo>
                <a:lnTo>
                  <a:pt x="0" y="544936"/>
                </a:lnTo>
                <a:lnTo>
                  <a:pt x="8581" y="587371"/>
                </a:lnTo>
                <a:lnTo>
                  <a:pt x="31974" y="622022"/>
                </a:lnTo>
                <a:lnTo>
                  <a:pt x="66654" y="645384"/>
                </a:lnTo>
                <a:lnTo>
                  <a:pt x="109097" y="653951"/>
                </a:lnTo>
                <a:lnTo>
                  <a:pt x="4055882" y="653951"/>
                </a:lnTo>
                <a:lnTo>
                  <a:pt x="4098304" y="645384"/>
                </a:lnTo>
                <a:lnTo>
                  <a:pt x="4132939" y="622022"/>
                </a:lnTo>
                <a:lnTo>
                  <a:pt x="4156287" y="587371"/>
                </a:lnTo>
                <a:lnTo>
                  <a:pt x="4164848" y="544936"/>
                </a:lnTo>
                <a:lnTo>
                  <a:pt x="4164848" y="108966"/>
                </a:lnTo>
                <a:lnTo>
                  <a:pt x="4156287" y="66544"/>
                </a:lnTo>
                <a:lnTo>
                  <a:pt x="4132939" y="31908"/>
                </a:lnTo>
                <a:lnTo>
                  <a:pt x="4098304" y="8560"/>
                </a:lnTo>
                <a:lnTo>
                  <a:pt x="4055882" y="0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058413" y="4483188"/>
            <a:ext cx="1589393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spc="15" dirty="0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r>
              <a:rPr sz="1550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5" dirty="0">
                <a:solidFill>
                  <a:srgbClr val="FFFFFF"/>
                </a:solidFill>
                <a:latin typeface="Arial"/>
                <a:cs typeface="Arial"/>
              </a:rPr>
              <a:t>function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004316" y="2963088"/>
            <a:ext cx="59674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5DD3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52775" y="3000078"/>
            <a:ext cx="219679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endParaRPr sz="155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03173" y="3711110"/>
            <a:ext cx="59674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65"/>
                </a:moveTo>
                <a:lnTo>
                  <a:pt x="462223" y="338565"/>
                </a:lnTo>
                <a:lnTo>
                  <a:pt x="462223" y="0"/>
                </a:lnTo>
                <a:lnTo>
                  <a:pt x="0" y="0"/>
                </a:lnTo>
                <a:lnTo>
                  <a:pt x="0" y="338565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151505" y="3749759"/>
            <a:ext cx="219679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B</a:t>
            </a:r>
            <a:endParaRPr sz="155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03173" y="4414854"/>
            <a:ext cx="596740" cy="339090"/>
          </a:xfrm>
          <a:custGeom>
            <a:avLst/>
            <a:gdLst/>
            <a:ahLst/>
            <a:cxnLst/>
            <a:rect l="l" t="t" r="r" b="b"/>
            <a:pathLst>
              <a:path w="462280" h="339089">
                <a:moveTo>
                  <a:pt x="0" y="338553"/>
                </a:moveTo>
                <a:lnTo>
                  <a:pt x="462223" y="338553"/>
                </a:lnTo>
                <a:lnTo>
                  <a:pt x="462223" y="0"/>
                </a:lnTo>
                <a:lnTo>
                  <a:pt x="0" y="0"/>
                </a:lnTo>
                <a:lnTo>
                  <a:pt x="0" y="338553"/>
                </a:lnTo>
                <a:close/>
              </a:path>
            </a:pathLst>
          </a:custGeom>
          <a:solidFill>
            <a:srgbClr val="0083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151505" y="4454613"/>
            <a:ext cx="219679" cy="25455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1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endParaRPr sz="15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569415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 smtClean="0">
                <a:hlinkClick r:id="rId2"/>
              </a:rPr>
              <a:t>arunkg99@gmail.com</a:t>
            </a:r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www.doitskills.com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Thank you</a:t>
            </a: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72</a:t>
            </a:fld>
            <a:endParaRPr lang="en-IN"/>
          </a:p>
        </p:txBody>
      </p:sp>
      <p:pic>
        <p:nvPicPr>
          <p:cNvPr id="14" name="Picture Placeholder 10" descr="city skyline">
            <a:extLst>
              <a:ext uri="{FF2B5EF4-FFF2-40B4-BE49-F238E27FC236}">
                <a16:creationId xmlns="" xmlns:a16="http://schemas.microsoft.com/office/drawing/2014/main" id="{9D82A855-CCB0-4075-B5EE-5CC6FD176D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>
          <a:xfrm>
            <a:off x="724662" y="742395"/>
            <a:ext cx="5305661" cy="5305661"/>
          </a:xfrm>
          <a:prstGeom prst="ellipse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4013546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K-Means Unsupervised Learning_Meet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K-Means Unsupervised Learning" id="{FB119964-045F-4212-88AC-092FB7973E98}" vid="{DDF994B9-7EAD-436D-8278-2D3C77F680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K-Means Unsupervised Learning_Meetu</Template>
  <TotalTime>0</TotalTime>
  <Words>1797</Words>
  <Application>Microsoft Office PowerPoint</Application>
  <PresentationFormat>Custom</PresentationFormat>
  <Paragraphs>414</Paragraphs>
  <Slides>72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3" baseType="lpstr">
      <vt:lpstr>K-Means Unsupervised Learning_Meetu</vt:lpstr>
      <vt:lpstr>Machine Learning Use Cases</vt:lpstr>
      <vt:lpstr>Unsupervised Learning: Clustering</vt:lpstr>
      <vt:lpstr>Things you will learn after this Session</vt:lpstr>
      <vt:lpstr>   What is Clustering?</vt:lpstr>
      <vt:lpstr>   Example of Clustering</vt:lpstr>
      <vt:lpstr>   Use-case of Clustering</vt:lpstr>
      <vt:lpstr>   Where it is used?</vt:lpstr>
      <vt:lpstr>Types of  Clustring</vt:lpstr>
      <vt:lpstr>  Types of  Clustering</vt:lpstr>
      <vt:lpstr>  Types of  Clustering</vt:lpstr>
      <vt:lpstr>  Types of  Clustering</vt:lpstr>
      <vt:lpstr>Understanding K – Means Clustering</vt:lpstr>
      <vt:lpstr>Things you will learn after this Session</vt:lpstr>
      <vt:lpstr>What is  K-means Clustering?</vt:lpstr>
      <vt:lpstr>What is  K-means Clustering?</vt:lpstr>
      <vt:lpstr>Business Application of K-Means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Understand K-means Algorithm</vt:lpstr>
      <vt:lpstr>K-Means Clustering: Demo</vt:lpstr>
      <vt:lpstr>Things you will learn after this Session</vt:lpstr>
      <vt:lpstr>PowerPoint Presentation</vt:lpstr>
      <vt:lpstr>Quiz 1</vt:lpstr>
      <vt:lpstr>Answer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Hewlett-Packard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Use Cases</dc:title>
  <dc:creator>HP</dc:creator>
  <cp:lastModifiedBy>HP</cp:lastModifiedBy>
  <cp:revision>1</cp:revision>
  <dcterms:created xsi:type="dcterms:W3CDTF">2019-11-07T12:22:29Z</dcterms:created>
  <dcterms:modified xsi:type="dcterms:W3CDTF">2019-11-07T12:23:22Z</dcterms:modified>
</cp:coreProperties>
</file>