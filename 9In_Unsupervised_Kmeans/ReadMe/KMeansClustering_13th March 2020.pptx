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4" r:id="rId4"/>
    <p:sldId id="297" r:id="rId5"/>
    <p:sldId id="299" r:id="rId6"/>
    <p:sldId id="298" r:id="rId7"/>
    <p:sldId id="260" r:id="rId8"/>
    <p:sldId id="273" r:id="rId9"/>
    <p:sldId id="261" r:id="rId10"/>
    <p:sldId id="274" r:id="rId11"/>
    <p:sldId id="262" r:id="rId12"/>
    <p:sldId id="275" r:id="rId13"/>
    <p:sldId id="263" r:id="rId14"/>
    <p:sldId id="264" r:id="rId15"/>
    <p:sldId id="295" r:id="rId16"/>
    <p:sldId id="288" r:id="rId17"/>
    <p:sldId id="289" r:id="rId18"/>
    <p:sldId id="290" r:id="rId19"/>
    <p:sldId id="291" r:id="rId20"/>
    <p:sldId id="292" r:id="rId21"/>
    <p:sldId id="284" r:id="rId22"/>
    <p:sldId id="285" r:id="rId23"/>
    <p:sldId id="286" r:id="rId24"/>
    <p:sldId id="287" r:id="rId25"/>
    <p:sldId id="27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runkumarnair/" TargetMode="External"/><Relationship Id="rId2" Type="http://schemas.openxmlformats.org/officeDocument/2006/relationships/hyperlink" Target="mailto:arunkg9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K-Means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By </a:t>
            </a:r>
            <a:r>
              <a:rPr lang="en-IN" dirty="0" err="1"/>
              <a:t>Arunkumar</a:t>
            </a:r>
            <a:r>
              <a:rPr lang="en-IN" dirty="0"/>
              <a:t> Nair</a:t>
            </a:r>
          </a:p>
          <a:p>
            <a:r>
              <a:rPr lang="en-IN" dirty="0">
                <a:hlinkClick r:id="rId2"/>
              </a:rPr>
              <a:t>arunkg99@gmail.com</a:t>
            </a:r>
            <a:endParaRPr lang="en-IN" dirty="0"/>
          </a:p>
          <a:p>
            <a:r>
              <a:rPr lang="en-IN" dirty="0"/>
              <a:t>91-9890652675</a:t>
            </a:r>
          </a:p>
          <a:p>
            <a:r>
              <a:rPr lang="en-IN" dirty="0">
                <a:hlinkClick r:id="rId3"/>
              </a:rPr>
              <a:t>https://www.linkedin.com/in/arunkumarnair/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94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600200"/>
            <a:ext cx="8382000" cy="426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k-means algorithm is an </a:t>
            </a:r>
            <a:r>
              <a:rPr lang="en-US" sz="2400" b="1" dirty="0"/>
              <a:t>unsupervised </a:t>
            </a:r>
            <a:r>
              <a:rPr lang="en-US" sz="2400" dirty="0"/>
              <a:t>clustering algorithm. It takes a bunch of unlabeled points and tries to group them into “K” number of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Used unlabeled data (Data without defined categories or Group)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Data points are clustered based on similarities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goal of this algorithm is to find groups in the data, with the number of groups represented by the variable </a:t>
            </a:r>
            <a:r>
              <a:rPr lang="en-US" sz="2200" i="1" dirty="0"/>
              <a:t>K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9217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the K-means algorithm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426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The K-means algorithm identifies </a:t>
            </a:r>
            <a:r>
              <a:rPr lang="en-US" sz="2400" i="1" dirty="0"/>
              <a:t>k</a:t>
            </a:r>
            <a:r>
              <a:rPr lang="en-US" sz="2400" dirty="0"/>
              <a:t> number of centroids, and then allocates every data point to the nearest cluster, while keeping the centroids as small as possible.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 </a:t>
            </a:r>
            <a:r>
              <a:rPr lang="en-US" sz="2400" i="1" dirty="0"/>
              <a:t>‘means’</a:t>
            </a:r>
            <a:r>
              <a:rPr lang="en-US" sz="2400" dirty="0"/>
              <a:t> in the K-means refers to averaging of the data; that is, finding the centroid.</a:t>
            </a:r>
          </a:p>
        </p:txBody>
      </p:sp>
    </p:spTree>
    <p:extLst>
      <p:ext uri="{BB962C8B-B14F-4D97-AF65-F5344CB8AC3E}">
        <p14:creationId xmlns:p14="http://schemas.microsoft.com/office/powerpoint/2010/main" val="88904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the K-means algorithm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426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K-means algorithm in data mining starts with a first group of randomly selected centroids, which are used as the beginning points for every cluster, and then performs iterative (repetitive) calculations to optimize the positions of the centroids</a:t>
            </a:r>
          </a:p>
          <a:p>
            <a:endParaRPr lang="en-US" sz="2400" dirty="0"/>
          </a:p>
          <a:p>
            <a:r>
              <a:rPr lang="en-US" sz="2400" dirty="0"/>
              <a:t>It halts creating and optimizing clusters when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centroids have stabilized — there is no change in their values because the clustering has been successful.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defined number of iterations has been achieved.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000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it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/>
              <a:t>Step 1: Determine K value by Elbow method and specify the number of clusters K</a:t>
            </a:r>
          </a:p>
          <a:p>
            <a:r>
              <a:rPr lang="en-US" i="1" dirty="0"/>
              <a:t>Step 2: Randomly assign each data point to a cluster</a:t>
            </a:r>
          </a:p>
          <a:p>
            <a:r>
              <a:rPr lang="en-US" i="1" dirty="0"/>
              <a:t>Step 3: Determine the cluster centroid coordinates</a:t>
            </a:r>
          </a:p>
          <a:p>
            <a:r>
              <a:rPr lang="en-US" i="1" dirty="0"/>
              <a:t>Step 4: Determine the distances of each data point to the centroids and re-assign each point to the closest cluster centroid based upon minimum distance</a:t>
            </a:r>
          </a:p>
          <a:p>
            <a:r>
              <a:rPr lang="en-US" i="1" dirty="0"/>
              <a:t>Step 5: Calculate cluster centroids again</a:t>
            </a:r>
          </a:p>
          <a:p>
            <a:r>
              <a:rPr lang="en-US" i="1" dirty="0"/>
              <a:t>Step 6: Repeat steps 4 and 5 until we reach global optima where no improvements are possible and no switching of data points from one cluster to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28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738"/>
            <a:ext cx="8229600" cy="1143000"/>
          </a:xfrm>
        </p:spPr>
        <p:txBody>
          <a:bodyPr/>
          <a:lstStyle/>
          <a:p>
            <a:r>
              <a:rPr lang="en-US" dirty="0"/>
              <a:t>Implementation using python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640" t="21942" r="12758" b="65078"/>
          <a:stretch/>
        </p:blipFill>
        <p:spPr>
          <a:xfrm>
            <a:off x="0" y="1281661"/>
            <a:ext cx="9161238" cy="9518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3248" t="24232" r="13939" b="4047"/>
          <a:stretch/>
        </p:blipFill>
        <p:spPr>
          <a:xfrm>
            <a:off x="83002" y="2286000"/>
            <a:ext cx="9060998" cy="50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7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4" y="1600200"/>
            <a:ext cx="80660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91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4" y="1600200"/>
            <a:ext cx="80660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/>
          <p:nvPr/>
        </p:nvSpPr>
        <p:spPr>
          <a:xfrm>
            <a:off x="5237018" y="2971800"/>
            <a:ext cx="1787237" cy="1371600"/>
          </a:xfrm>
          <a:custGeom>
            <a:avLst/>
            <a:gdLst>
              <a:gd name="connsiteX0" fmla="*/ 263237 w 1787237"/>
              <a:gd name="connsiteY0" fmla="*/ 1357745 h 1371600"/>
              <a:gd name="connsiteX1" fmla="*/ 193964 w 1787237"/>
              <a:gd name="connsiteY1" fmla="*/ 1330036 h 1371600"/>
              <a:gd name="connsiteX2" fmla="*/ 152400 w 1787237"/>
              <a:gd name="connsiteY2" fmla="*/ 1288473 h 1371600"/>
              <a:gd name="connsiteX3" fmla="*/ 55418 w 1787237"/>
              <a:gd name="connsiteY3" fmla="*/ 1191491 h 1371600"/>
              <a:gd name="connsiteX4" fmla="*/ 13855 w 1787237"/>
              <a:gd name="connsiteY4" fmla="*/ 1066800 h 1371600"/>
              <a:gd name="connsiteX5" fmla="*/ 0 w 1787237"/>
              <a:gd name="connsiteY5" fmla="*/ 1025236 h 1371600"/>
              <a:gd name="connsiteX6" fmla="*/ 13855 w 1787237"/>
              <a:gd name="connsiteY6" fmla="*/ 817418 h 1371600"/>
              <a:gd name="connsiteX7" fmla="*/ 96982 w 1787237"/>
              <a:gd name="connsiteY7" fmla="*/ 720436 h 1371600"/>
              <a:gd name="connsiteX8" fmla="*/ 124691 w 1787237"/>
              <a:gd name="connsiteY8" fmla="*/ 678873 h 1371600"/>
              <a:gd name="connsiteX9" fmla="*/ 249382 w 1787237"/>
              <a:gd name="connsiteY9" fmla="*/ 637309 h 1371600"/>
              <a:gd name="connsiteX10" fmla="*/ 360218 w 1787237"/>
              <a:gd name="connsiteY10" fmla="*/ 554182 h 1371600"/>
              <a:gd name="connsiteX11" fmla="*/ 484909 w 1787237"/>
              <a:gd name="connsiteY11" fmla="*/ 457200 h 1371600"/>
              <a:gd name="connsiteX12" fmla="*/ 568037 w 1787237"/>
              <a:gd name="connsiteY12" fmla="*/ 401782 h 1371600"/>
              <a:gd name="connsiteX13" fmla="*/ 609600 w 1787237"/>
              <a:gd name="connsiteY13" fmla="*/ 374073 h 1371600"/>
              <a:gd name="connsiteX14" fmla="*/ 651164 w 1787237"/>
              <a:gd name="connsiteY14" fmla="*/ 360218 h 1371600"/>
              <a:gd name="connsiteX15" fmla="*/ 762000 w 1787237"/>
              <a:gd name="connsiteY15" fmla="*/ 290945 h 1371600"/>
              <a:gd name="connsiteX16" fmla="*/ 817418 w 1787237"/>
              <a:gd name="connsiteY16" fmla="*/ 277091 h 1371600"/>
              <a:gd name="connsiteX17" fmla="*/ 886691 w 1787237"/>
              <a:gd name="connsiteY17" fmla="*/ 249382 h 1371600"/>
              <a:gd name="connsiteX18" fmla="*/ 955964 w 1787237"/>
              <a:gd name="connsiteY18" fmla="*/ 207818 h 1371600"/>
              <a:gd name="connsiteX19" fmla="*/ 1094509 w 1787237"/>
              <a:gd name="connsiteY19" fmla="*/ 96982 h 1371600"/>
              <a:gd name="connsiteX20" fmla="*/ 1343891 w 1787237"/>
              <a:gd name="connsiteY20" fmla="*/ 27709 h 1371600"/>
              <a:gd name="connsiteX21" fmla="*/ 1440873 w 1787237"/>
              <a:gd name="connsiteY21" fmla="*/ 0 h 1371600"/>
              <a:gd name="connsiteX22" fmla="*/ 1551709 w 1787237"/>
              <a:gd name="connsiteY22" fmla="*/ 27709 h 1371600"/>
              <a:gd name="connsiteX23" fmla="*/ 1634837 w 1787237"/>
              <a:gd name="connsiteY23" fmla="*/ 69273 h 1371600"/>
              <a:gd name="connsiteX24" fmla="*/ 1676400 w 1787237"/>
              <a:gd name="connsiteY24" fmla="*/ 110836 h 1371600"/>
              <a:gd name="connsiteX25" fmla="*/ 1704109 w 1787237"/>
              <a:gd name="connsiteY25" fmla="*/ 152400 h 1371600"/>
              <a:gd name="connsiteX26" fmla="*/ 1745673 w 1787237"/>
              <a:gd name="connsiteY26" fmla="*/ 180109 h 1371600"/>
              <a:gd name="connsiteX27" fmla="*/ 1773382 w 1787237"/>
              <a:gd name="connsiteY27" fmla="*/ 277091 h 1371600"/>
              <a:gd name="connsiteX28" fmla="*/ 1787237 w 1787237"/>
              <a:gd name="connsiteY28" fmla="*/ 318654 h 1371600"/>
              <a:gd name="connsiteX29" fmla="*/ 1773382 w 1787237"/>
              <a:gd name="connsiteY29" fmla="*/ 706582 h 1371600"/>
              <a:gd name="connsiteX30" fmla="*/ 1745673 w 1787237"/>
              <a:gd name="connsiteY30" fmla="*/ 789709 h 1371600"/>
              <a:gd name="connsiteX31" fmla="*/ 1717964 w 1787237"/>
              <a:gd name="connsiteY31" fmla="*/ 831273 h 1371600"/>
              <a:gd name="connsiteX32" fmla="*/ 1676400 w 1787237"/>
              <a:gd name="connsiteY32" fmla="*/ 900545 h 1371600"/>
              <a:gd name="connsiteX33" fmla="*/ 1524000 w 1787237"/>
              <a:gd name="connsiteY33" fmla="*/ 1025236 h 1371600"/>
              <a:gd name="connsiteX34" fmla="*/ 1440873 w 1787237"/>
              <a:gd name="connsiteY34" fmla="*/ 1052945 h 1371600"/>
              <a:gd name="connsiteX35" fmla="*/ 1302327 w 1787237"/>
              <a:gd name="connsiteY35" fmla="*/ 1066800 h 1371600"/>
              <a:gd name="connsiteX36" fmla="*/ 1219200 w 1787237"/>
              <a:gd name="connsiteY36" fmla="*/ 1094509 h 1371600"/>
              <a:gd name="connsiteX37" fmla="*/ 1052946 w 1787237"/>
              <a:gd name="connsiteY37" fmla="*/ 1136073 h 1371600"/>
              <a:gd name="connsiteX38" fmla="*/ 983673 w 1787237"/>
              <a:gd name="connsiteY38" fmla="*/ 1149927 h 1371600"/>
              <a:gd name="connsiteX39" fmla="*/ 928255 w 1787237"/>
              <a:gd name="connsiteY39" fmla="*/ 1163782 h 1371600"/>
              <a:gd name="connsiteX40" fmla="*/ 775855 w 1787237"/>
              <a:gd name="connsiteY40" fmla="*/ 1177636 h 1371600"/>
              <a:gd name="connsiteX41" fmla="*/ 651164 w 1787237"/>
              <a:gd name="connsiteY41" fmla="*/ 1205345 h 1371600"/>
              <a:gd name="connsiteX42" fmla="*/ 554182 w 1787237"/>
              <a:gd name="connsiteY42" fmla="*/ 1233054 h 1371600"/>
              <a:gd name="connsiteX43" fmla="*/ 443346 w 1787237"/>
              <a:gd name="connsiteY43" fmla="*/ 1260763 h 1371600"/>
              <a:gd name="connsiteX44" fmla="*/ 374073 w 1787237"/>
              <a:gd name="connsiteY44" fmla="*/ 1343891 h 1371600"/>
              <a:gd name="connsiteX45" fmla="*/ 332509 w 1787237"/>
              <a:gd name="connsiteY45" fmla="*/ 1371600 h 1371600"/>
              <a:gd name="connsiteX46" fmla="*/ 263237 w 1787237"/>
              <a:gd name="connsiteY46" fmla="*/ 135774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87237" h="1371600">
                <a:moveTo>
                  <a:pt x="263237" y="1357745"/>
                </a:moveTo>
                <a:cubicBezTo>
                  <a:pt x="240146" y="1348509"/>
                  <a:pt x="215054" y="1343217"/>
                  <a:pt x="193964" y="1330036"/>
                </a:cubicBezTo>
                <a:cubicBezTo>
                  <a:pt x="177349" y="1319652"/>
                  <a:pt x="167276" y="1301224"/>
                  <a:pt x="152400" y="1288473"/>
                </a:cubicBezTo>
                <a:cubicBezTo>
                  <a:pt x="61886" y="1210890"/>
                  <a:pt x="127460" y="1287546"/>
                  <a:pt x="55418" y="1191491"/>
                </a:cubicBezTo>
                <a:lnTo>
                  <a:pt x="13855" y="1066800"/>
                </a:lnTo>
                <a:lnTo>
                  <a:pt x="0" y="1025236"/>
                </a:lnTo>
                <a:cubicBezTo>
                  <a:pt x="4618" y="955963"/>
                  <a:pt x="-448" y="885355"/>
                  <a:pt x="13855" y="817418"/>
                </a:cubicBezTo>
                <a:cubicBezTo>
                  <a:pt x="19701" y="789647"/>
                  <a:pt x="79373" y="741567"/>
                  <a:pt x="96982" y="720436"/>
                </a:cubicBezTo>
                <a:cubicBezTo>
                  <a:pt x="107642" y="707644"/>
                  <a:pt x="110073" y="686846"/>
                  <a:pt x="124691" y="678873"/>
                </a:cubicBezTo>
                <a:cubicBezTo>
                  <a:pt x="163153" y="657894"/>
                  <a:pt x="207818" y="651164"/>
                  <a:pt x="249382" y="637309"/>
                </a:cubicBezTo>
                <a:cubicBezTo>
                  <a:pt x="398519" y="438462"/>
                  <a:pt x="169719" y="723515"/>
                  <a:pt x="360218" y="554182"/>
                </a:cubicBezTo>
                <a:cubicBezTo>
                  <a:pt x="489446" y="439312"/>
                  <a:pt x="340027" y="486175"/>
                  <a:pt x="484909" y="457200"/>
                </a:cubicBezTo>
                <a:lnTo>
                  <a:pt x="568037" y="401782"/>
                </a:lnTo>
                <a:cubicBezTo>
                  <a:pt x="581891" y="392546"/>
                  <a:pt x="593804" y="379339"/>
                  <a:pt x="609600" y="374073"/>
                </a:cubicBezTo>
                <a:cubicBezTo>
                  <a:pt x="623455" y="369455"/>
                  <a:pt x="638102" y="366749"/>
                  <a:pt x="651164" y="360218"/>
                </a:cubicBezTo>
                <a:cubicBezTo>
                  <a:pt x="762375" y="304612"/>
                  <a:pt x="602047" y="362035"/>
                  <a:pt x="762000" y="290945"/>
                </a:cubicBezTo>
                <a:cubicBezTo>
                  <a:pt x="779400" y="283212"/>
                  <a:pt x="799354" y="283112"/>
                  <a:pt x="817418" y="277091"/>
                </a:cubicBezTo>
                <a:cubicBezTo>
                  <a:pt x="841012" y="269227"/>
                  <a:pt x="864447" y="260504"/>
                  <a:pt x="886691" y="249382"/>
                </a:cubicBezTo>
                <a:cubicBezTo>
                  <a:pt x="910777" y="237339"/>
                  <a:pt x="934708" y="224351"/>
                  <a:pt x="955964" y="207818"/>
                </a:cubicBezTo>
                <a:cubicBezTo>
                  <a:pt x="1038452" y="143661"/>
                  <a:pt x="985156" y="148014"/>
                  <a:pt x="1094509" y="96982"/>
                </a:cubicBezTo>
                <a:cubicBezTo>
                  <a:pt x="1172531" y="60572"/>
                  <a:pt x="1261040" y="46829"/>
                  <a:pt x="1343891" y="27709"/>
                </a:cubicBezTo>
                <a:cubicBezTo>
                  <a:pt x="1400423" y="14663"/>
                  <a:pt x="1391257" y="16538"/>
                  <a:pt x="1440873" y="0"/>
                </a:cubicBezTo>
                <a:cubicBezTo>
                  <a:pt x="1467227" y="5271"/>
                  <a:pt x="1523304" y="13506"/>
                  <a:pt x="1551709" y="27709"/>
                </a:cubicBezTo>
                <a:cubicBezTo>
                  <a:pt x="1659136" y="81423"/>
                  <a:pt x="1530368" y="34449"/>
                  <a:pt x="1634837" y="69273"/>
                </a:cubicBezTo>
                <a:cubicBezTo>
                  <a:pt x="1648691" y="83127"/>
                  <a:pt x="1663857" y="95784"/>
                  <a:pt x="1676400" y="110836"/>
                </a:cubicBezTo>
                <a:cubicBezTo>
                  <a:pt x="1687060" y="123628"/>
                  <a:pt x="1692335" y="140626"/>
                  <a:pt x="1704109" y="152400"/>
                </a:cubicBezTo>
                <a:cubicBezTo>
                  <a:pt x="1715883" y="164174"/>
                  <a:pt x="1731818" y="170873"/>
                  <a:pt x="1745673" y="180109"/>
                </a:cubicBezTo>
                <a:cubicBezTo>
                  <a:pt x="1778899" y="279791"/>
                  <a:pt x="1738578" y="155281"/>
                  <a:pt x="1773382" y="277091"/>
                </a:cubicBezTo>
                <a:cubicBezTo>
                  <a:pt x="1777394" y="291133"/>
                  <a:pt x="1782619" y="304800"/>
                  <a:pt x="1787237" y="318654"/>
                </a:cubicBezTo>
                <a:cubicBezTo>
                  <a:pt x="1782619" y="447963"/>
                  <a:pt x="1784755" y="577691"/>
                  <a:pt x="1773382" y="706582"/>
                </a:cubicBezTo>
                <a:cubicBezTo>
                  <a:pt x="1770815" y="735677"/>
                  <a:pt x="1761874" y="765407"/>
                  <a:pt x="1745673" y="789709"/>
                </a:cubicBezTo>
                <a:cubicBezTo>
                  <a:pt x="1736437" y="803564"/>
                  <a:pt x="1726789" y="817153"/>
                  <a:pt x="1717964" y="831273"/>
                </a:cubicBezTo>
                <a:cubicBezTo>
                  <a:pt x="1703692" y="854108"/>
                  <a:pt x="1693222" y="879518"/>
                  <a:pt x="1676400" y="900545"/>
                </a:cubicBezTo>
                <a:cubicBezTo>
                  <a:pt x="1648223" y="935766"/>
                  <a:pt x="1568374" y="1010445"/>
                  <a:pt x="1524000" y="1025236"/>
                </a:cubicBezTo>
                <a:lnTo>
                  <a:pt x="1440873" y="1052945"/>
                </a:lnTo>
                <a:cubicBezTo>
                  <a:pt x="1382786" y="1140077"/>
                  <a:pt x="1450483" y="1066800"/>
                  <a:pt x="1302327" y="1066800"/>
                </a:cubicBezTo>
                <a:cubicBezTo>
                  <a:pt x="1273119" y="1066800"/>
                  <a:pt x="1247536" y="1087425"/>
                  <a:pt x="1219200" y="1094509"/>
                </a:cubicBezTo>
                <a:cubicBezTo>
                  <a:pt x="1163782" y="1108364"/>
                  <a:pt x="1108960" y="1124871"/>
                  <a:pt x="1052946" y="1136073"/>
                </a:cubicBezTo>
                <a:cubicBezTo>
                  <a:pt x="1029855" y="1140691"/>
                  <a:pt x="1006661" y="1144819"/>
                  <a:pt x="983673" y="1149927"/>
                </a:cubicBezTo>
                <a:cubicBezTo>
                  <a:pt x="965085" y="1154058"/>
                  <a:pt x="947129" y="1161265"/>
                  <a:pt x="928255" y="1163782"/>
                </a:cubicBezTo>
                <a:cubicBezTo>
                  <a:pt x="877693" y="1170524"/>
                  <a:pt x="826655" y="1173018"/>
                  <a:pt x="775855" y="1177636"/>
                </a:cubicBezTo>
                <a:cubicBezTo>
                  <a:pt x="694964" y="1204600"/>
                  <a:pt x="773082" y="1180961"/>
                  <a:pt x="651164" y="1205345"/>
                </a:cubicBezTo>
                <a:cubicBezTo>
                  <a:pt x="564651" y="1222648"/>
                  <a:pt x="626793" y="1213251"/>
                  <a:pt x="554182" y="1233054"/>
                </a:cubicBezTo>
                <a:cubicBezTo>
                  <a:pt x="517441" y="1243074"/>
                  <a:pt x="443346" y="1260763"/>
                  <a:pt x="443346" y="1260763"/>
                </a:cubicBezTo>
                <a:cubicBezTo>
                  <a:pt x="342079" y="1328276"/>
                  <a:pt x="461965" y="1238421"/>
                  <a:pt x="374073" y="1343891"/>
                </a:cubicBezTo>
                <a:cubicBezTo>
                  <a:pt x="363413" y="1356683"/>
                  <a:pt x="346364" y="1362364"/>
                  <a:pt x="332509" y="1371600"/>
                </a:cubicBezTo>
                <a:lnTo>
                  <a:pt x="263237" y="1357745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 6"/>
          <p:cNvSpPr/>
          <p:nvPr/>
        </p:nvSpPr>
        <p:spPr>
          <a:xfrm>
            <a:off x="7273636" y="2369127"/>
            <a:ext cx="637418" cy="1108364"/>
          </a:xfrm>
          <a:custGeom>
            <a:avLst/>
            <a:gdLst>
              <a:gd name="connsiteX0" fmla="*/ 221673 w 637418"/>
              <a:gd name="connsiteY0" fmla="*/ 1039091 h 1108364"/>
              <a:gd name="connsiteX1" fmla="*/ 166255 w 637418"/>
              <a:gd name="connsiteY1" fmla="*/ 969818 h 1108364"/>
              <a:gd name="connsiteX2" fmla="*/ 110837 w 637418"/>
              <a:gd name="connsiteY2" fmla="*/ 928255 h 1108364"/>
              <a:gd name="connsiteX3" fmla="*/ 96982 w 637418"/>
              <a:gd name="connsiteY3" fmla="*/ 886691 h 1108364"/>
              <a:gd name="connsiteX4" fmla="*/ 41564 w 637418"/>
              <a:gd name="connsiteY4" fmla="*/ 775855 h 1108364"/>
              <a:gd name="connsiteX5" fmla="*/ 27709 w 637418"/>
              <a:gd name="connsiteY5" fmla="*/ 706582 h 1108364"/>
              <a:gd name="connsiteX6" fmla="*/ 13855 w 637418"/>
              <a:gd name="connsiteY6" fmla="*/ 665018 h 1108364"/>
              <a:gd name="connsiteX7" fmla="*/ 0 w 637418"/>
              <a:gd name="connsiteY7" fmla="*/ 609600 h 1108364"/>
              <a:gd name="connsiteX8" fmla="*/ 13855 w 637418"/>
              <a:gd name="connsiteY8" fmla="*/ 124691 h 1108364"/>
              <a:gd name="connsiteX9" fmla="*/ 124691 w 637418"/>
              <a:gd name="connsiteY9" fmla="*/ 41564 h 1108364"/>
              <a:gd name="connsiteX10" fmla="*/ 263237 w 637418"/>
              <a:gd name="connsiteY10" fmla="*/ 13855 h 1108364"/>
              <a:gd name="connsiteX11" fmla="*/ 304800 w 637418"/>
              <a:gd name="connsiteY11" fmla="*/ 0 h 1108364"/>
              <a:gd name="connsiteX12" fmla="*/ 429491 w 637418"/>
              <a:gd name="connsiteY12" fmla="*/ 13855 h 1108364"/>
              <a:gd name="connsiteX13" fmla="*/ 512619 w 637418"/>
              <a:gd name="connsiteY13" fmla="*/ 96982 h 1108364"/>
              <a:gd name="connsiteX14" fmla="*/ 540328 w 637418"/>
              <a:gd name="connsiteY14" fmla="*/ 138546 h 1108364"/>
              <a:gd name="connsiteX15" fmla="*/ 581891 w 637418"/>
              <a:gd name="connsiteY15" fmla="*/ 249382 h 1108364"/>
              <a:gd name="connsiteX16" fmla="*/ 595746 w 637418"/>
              <a:gd name="connsiteY16" fmla="*/ 304800 h 1108364"/>
              <a:gd name="connsiteX17" fmla="*/ 623455 w 637418"/>
              <a:gd name="connsiteY17" fmla="*/ 387928 h 1108364"/>
              <a:gd name="connsiteX18" fmla="*/ 623455 w 637418"/>
              <a:gd name="connsiteY18" fmla="*/ 900546 h 1108364"/>
              <a:gd name="connsiteX19" fmla="*/ 609600 w 637418"/>
              <a:gd name="connsiteY19" fmla="*/ 969818 h 1108364"/>
              <a:gd name="connsiteX20" fmla="*/ 581891 w 637418"/>
              <a:gd name="connsiteY20" fmla="*/ 997528 h 1108364"/>
              <a:gd name="connsiteX21" fmla="*/ 554182 w 637418"/>
              <a:gd name="connsiteY21" fmla="*/ 1052946 h 1108364"/>
              <a:gd name="connsiteX22" fmla="*/ 471055 w 637418"/>
              <a:gd name="connsiteY22" fmla="*/ 1080655 h 1108364"/>
              <a:gd name="connsiteX23" fmla="*/ 346364 w 637418"/>
              <a:gd name="connsiteY23" fmla="*/ 1108364 h 1108364"/>
              <a:gd name="connsiteX24" fmla="*/ 221673 w 637418"/>
              <a:gd name="connsiteY24" fmla="*/ 1066800 h 1108364"/>
              <a:gd name="connsiteX25" fmla="*/ 221673 w 637418"/>
              <a:gd name="connsiteY25" fmla="*/ 1039091 h 11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37418" h="1108364">
                <a:moveTo>
                  <a:pt x="221673" y="1039091"/>
                </a:moveTo>
                <a:cubicBezTo>
                  <a:pt x="203200" y="1016000"/>
                  <a:pt x="187165" y="990728"/>
                  <a:pt x="166255" y="969818"/>
                </a:cubicBezTo>
                <a:cubicBezTo>
                  <a:pt x="149927" y="953490"/>
                  <a:pt x="125619" y="945994"/>
                  <a:pt x="110837" y="928255"/>
                </a:cubicBezTo>
                <a:cubicBezTo>
                  <a:pt x="101488" y="917036"/>
                  <a:pt x="103025" y="899986"/>
                  <a:pt x="96982" y="886691"/>
                </a:cubicBezTo>
                <a:cubicBezTo>
                  <a:pt x="79889" y="849087"/>
                  <a:pt x="41564" y="775855"/>
                  <a:pt x="41564" y="775855"/>
                </a:cubicBezTo>
                <a:cubicBezTo>
                  <a:pt x="36946" y="752764"/>
                  <a:pt x="33420" y="729427"/>
                  <a:pt x="27709" y="706582"/>
                </a:cubicBezTo>
                <a:cubicBezTo>
                  <a:pt x="24167" y="692414"/>
                  <a:pt x="17867" y="679060"/>
                  <a:pt x="13855" y="665018"/>
                </a:cubicBezTo>
                <a:cubicBezTo>
                  <a:pt x="8624" y="646709"/>
                  <a:pt x="4618" y="628073"/>
                  <a:pt x="0" y="609600"/>
                </a:cubicBezTo>
                <a:cubicBezTo>
                  <a:pt x="4618" y="447964"/>
                  <a:pt x="1453" y="285917"/>
                  <a:pt x="13855" y="124691"/>
                </a:cubicBezTo>
                <a:cubicBezTo>
                  <a:pt x="19220" y="54951"/>
                  <a:pt x="72043" y="59113"/>
                  <a:pt x="124691" y="41564"/>
                </a:cubicBezTo>
                <a:cubicBezTo>
                  <a:pt x="197237" y="17382"/>
                  <a:pt x="151793" y="29775"/>
                  <a:pt x="263237" y="13855"/>
                </a:cubicBezTo>
                <a:cubicBezTo>
                  <a:pt x="277091" y="9237"/>
                  <a:pt x="290196" y="0"/>
                  <a:pt x="304800" y="0"/>
                </a:cubicBezTo>
                <a:cubicBezTo>
                  <a:pt x="346619" y="0"/>
                  <a:pt x="388920" y="3712"/>
                  <a:pt x="429491" y="13855"/>
                </a:cubicBezTo>
                <a:cubicBezTo>
                  <a:pt x="466092" y="23005"/>
                  <a:pt x="494590" y="71741"/>
                  <a:pt x="512619" y="96982"/>
                </a:cubicBezTo>
                <a:cubicBezTo>
                  <a:pt x="522297" y="110532"/>
                  <a:pt x="532881" y="123653"/>
                  <a:pt x="540328" y="138546"/>
                </a:cubicBezTo>
                <a:cubicBezTo>
                  <a:pt x="550092" y="158075"/>
                  <a:pt x="573896" y="221398"/>
                  <a:pt x="581891" y="249382"/>
                </a:cubicBezTo>
                <a:cubicBezTo>
                  <a:pt x="587122" y="267691"/>
                  <a:pt x="590275" y="286562"/>
                  <a:pt x="595746" y="304800"/>
                </a:cubicBezTo>
                <a:cubicBezTo>
                  <a:pt x="604139" y="332776"/>
                  <a:pt x="614219" y="360219"/>
                  <a:pt x="623455" y="387928"/>
                </a:cubicBezTo>
                <a:cubicBezTo>
                  <a:pt x="635257" y="659393"/>
                  <a:pt x="647851" y="668785"/>
                  <a:pt x="623455" y="900546"/>
                </a:cubicBezTo>
                <a:cubicBezTo>
                  <a:pt x="620990" y="923965"/>
                  <a:pt x="618876" y="948174"/>
                  <a:pt x="609600" y="969818"/>
                </a:cubicBezTo>
                <a:cubicBezTo>
                  <a:pt x="604454" y="981824"/>
                  <a:pt x="589137" y="986659"/>
                  <a:pt x="581891" y="997528"/>
                </a:cubicBezTo>
                <a:cubicBezTo>
                  <a:pt x="570435" y="1014712"/>
                  <a:pt x="570704" y="1040554"/>
                  <a:pt x="554182" y="1052946"/>
                </a:cubicBezTo>
                <a:cubicBezTo>
                  <a:pt x="530816" y="1070471"/>
                  <a:pt x="499696" y="1074927"/>
                  <a:pt x="471055" y="1080655"/>
                </a:cubicBezTo>
                <a:cubicBezTo>
                  <a:pt x="383111" y="1098243"/>
                  <a:pt x="424627" y="1088798"/>
                  <a:pt x="346364" y="1108364"/>
                </a:cubicBezTo>
                <a:cubicBezTo>
                  <a:pt x="290633" y="1099075"/>
                  <a:pt x="260636" y="1105762"/>
                  <a:pt x="221673" y="1066800"/>
                </a:cubicBezTo>
                <a:lnTo>
                  <a:pt x="221673" y="1039091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911054" y="2590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3891" y="43873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2823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29" y="1600200"/>
            <a:ext cx="810714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74365" y="19928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9062" y="228916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4365" y="259693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4365" y="27569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4365" y="30631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9420" y="46159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61593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13/2</a:t>
            </a:r>
          </a:p>
        </p:txBody>
      </p:sp>
      <p:sp>
        <p:nvSpPr>
          <p:cNvPr id="10" name="Left Brace 9"/>
          <p:cNvSpPr/>
          <p:nvPr/>
        </p:nvSpPr>
        <p:spPr>
          <a:xfrm>
            <a:off x="6705600" y="2001771"/>
            <a:ext cx="304800" cy="6040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740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29" y="1600200"/>
            <a:ext cx="810714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74365" y="19928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9062" y="228916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4365" y="259693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4365" y="27569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4365" y="30631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9420" y="46159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61593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13/2</a:t>
            </a:r>
          </a:p>
        </p:txBody>
      </p:sp>
      <p:sp>
        <p:nvSpPr>
          <p:cNvPr id="11" name="Left Brace 10"/>
          <p:cNvSpPr/>
          <p:nvPr/>
        </p:nvSpPr>
        <p:spPr>
          <a:xfrm>
            <a:off x="6667500" y="1986730"/>
            <a:ext cx="381000" cy="7640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Left Brace 12"/>
          <p:cNvSpPr/>
          <p:nvPr/>
        </p:nvSpPr>
        <p:spPr>
          <a:xfrm>
            <a:off x="7620000" y="2004536"/>
            <a:ext cx="381000" cy="7524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Left Brace 13"/>
          <p:cNvSpPr/>
          <p:nvPr/>
        </p:nvSpPr>
        <p:spPr>
          <a:xfrm>
            <a:off x="6414655" y="2835001"/>
            <a:ext cx="381000" cy="5359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Left Brace 14"/>
          <p:cNvSpPr/>
          <p:nvPr/>
        </p:nvSpPr>
        <p:spPr>
          <a:xfrm>
            <a:off x="7606145" y="2910852"/>
            <a:ext cx="381000" cy="535937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414655" y="228916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7068" y="230064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32170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2902" y="32621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452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39980"/>
            <a:ext cx="8229600" cy="4246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707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4" y="1600200"/>
            <a:ext cx="80660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/>
          <p:nvPr/>
        </p:nvSpPr>
        <p:spPr>
          <a:xfrm>
            <a:off x="5237019" y="3352800"/>
            <a:ext cx="1087582" cy="990600"/>
          </a:xfrm>
          <a:custGeom>
            <a:avLst/>
            <a:gdLst>
              <a:gd name="connsiteX0" fmla="*/ 263237 w 1787237"/>
              <a:gd name="connsiteY0" fmla="*/ 1357745 h 1371600"/>
              <a:gd name="connsiteX1" fmla="*/ 193964 w 1787237"/>
              <a:gd name="connsiteY1" fmla="*/ 1330036 h 1371600"/>
              <a:gd name="connsiteX2" fmla="*/ 152400 w 1787237"/>
              <a:gd name="connsiteY2" fmla="*/ 1288473 h 1371600"/>
              <a:gd name="connsiteX3" fmla="*/ 55418 w 1787237"/>
              <a:gd name="connsiteY3" fmla="*/ 1191491 h 1371600"/>
              <a:gd name="connsiteX4" fmla="*/ 13855 w 1787237"/>
              <a:gd name="connsiteY4" fmla="*/ 1066800 h 1371600"/>
              <a:gd name="connsiteX5" fmla="*/ 0 w 1787237"/>
              <a:gd name="connsiteY5" fmla="*/ 1025236 h 1371600"/>
              <a:gd name="connsiteX6" fmla="*/ 13855 w 1787237"/>
              <a:gd name="connsiteY6" fmla="*/ 817418 h 1371600"/>
              <a:gd name="connsiteX7" fmla="*/ 96982 w 1787237"/>
              <a:gd name="connsiteY7" fmla="*/ 720436 h 1371600"/>
              <a:gd name="connsiteX8" fmla="*/ 124691 w 1787237"/>
              <a:gd name="connsiteY8" fmla="*/ 678873 h 1371600"/>
              <a:gd name="connsiteX9" fmla="*/ 249382 w 1787237"/>
              <a:gd name="connsiteY9" fmla="*/ 637309 h 1371600"/>
              <a:gd name="connsiteX10" fmla="*/ 360218 w 1787237"/>
              <a:gd name="connsiteY10" fmla="*/ 554182 h 1371600"/>
              <a:gd name="connsiteX11" fmla="*/ 484909 w 1787237"/>
              <a:gd name="connsiteY11" fmla="*/ 457200 h 1371600"/>
              <a:gd name="connsiteX12" fmla="*/ 568037 w 1787237"/>
              <a:gd name="connsiteY12" fmla="*/ 401782 h 1371600"/>
              <a:gd name="connsiteX13" fmla="*/ 609600 w 1787237"/>
              <a:gd name="connsiteY13" fmla="*/ 374073 h 1371600"/>
              <a:gd name="connsiteX14" fmla="*/ 651164 w 1787237"/>
              <a:gd name="connsiteY14" fmla="*/ 360218 h 1371600"/>
              <a:gd name="connsiteX15" fmla="*/ 762000 w 1787237"/>
              <a:gd name="connsiteY15" fmla="*/ 290945 h 1371600"/>
              <a:gd name="connsiteX16" fmla="*/ 817418 w 1787237"/>
              <a:gd name="connsiteY16" fmla="*/ 277091 h 1371600"/>
              <a:gd name="connsiteX17" fmla="*/ 886691 w 1787237"/>
              <a:gd name="connsiteY17" fmla="*/ 249382 h 1371600"/>
              <a:gd name="connsiteX18" fmla="*/ 955964 w 1787237"/>
              <a:gd name="connsiteY18" fmla="*/ 207818 h 1371600"/>
              <a:gd name="connsiteX19" fmla="*/ 1094509 w 1787237"/>
              <a:gd name="connsiteY19" fmla="*/ 96982 h 1371600"/>
              <a:gd name="connsiteX20" fmla="*/ 1343891 w 1787237"/>
              <a:gd name="connsiteY20" fmla="*/ 27709 h 1371600"/>
              <a:gd name="connsiteX21" fmla="*/ 1440873 w 1787237"/>
              <a:gd name="connsiteY21" fmla="*/ 0 h 1371600"/>
              <a:gd name="connsiteX22" fmla="*/ 1551709 w 1787237"/>
              <a:gd name="connsiteY22" fmla="*/ 27709 h 1371600"/>
              <a:gd name="connsiteX23" fmla="*/ 1634837 w 1787237"/>
              <a:gd name="connsiteY23" fmla="*/ 69273 h 1371600"/>
              <a:gd name="connsiteX24" fmla="*/ 1676400 w 1787237"/>
              <a:gd name="connsiteY24" fmla="*/ 110836 h 1371600"/>
              <a:gd name="connsiteX25" fmla="*/ 1704109 w 1787237"/>
              <a:gd name="connsiteY25" fmla="*/ 152400 h 1371600"/>
              <a:gd name="connsiteX26" fmla="*/ 1745673 w 1787237"/>
              <a:gd name="connsiteY26" fmla="*/ 180109 h 1371600"/>
              <a:gd name="connsiteX27" fmla="*/ 1773382 w 1787237"/>
              <a:gd name="connsiteY27" fmla="*/ 277091 h 1371600"/>
              <a:gd name="connsiteX28" fmla="*/ 1787237 w 1787237"/>
              <a:gd name="connsiteY28" fmla="*/ 318654 h 1371600"/>
              <a:gd name="connsiteX29" fmla="*/ 1773382 w 1787237"/>
              <a:gd name="connsiteY29" fmla="*/ 706582 h 1371600"/>
              <a:gd name="connsiteX30" fmla="*/ 1745673 w 1787237"/>
              <a:gd name="connsiteY30" fmla="*/ 789709 h 1371600"/>
              <a:gd name="connsiteX31" fmla="*/ 1717964 w 1787237"/>
              <a:gd name="connsiteY31" fmla="*/ 831273 h 1371600"/>
              <a:gd name="connsiteX32" fmla="*/ 1676400 w 1787237"/>
              <a:gd name="connsiteY32" fmla="*/ 900545 h 1371600"/>
              <a:gd name="connsiteX33" fmla="*/ 1524000 w 1787237"/>
              <a:gd name="connsiteY33" fmla="*/ 1025236 h 1371600"/>
              <a:gd name="connsiteX34" fmla="*/ 1440873 w 1787237"/>
              <a:gd name="connsiteY34" fmla="*/ 1052945 h 1371600"/>
              <a:gd name="connsiteX35" fmla="*/ 1302327 w 1787237"/>
              <a:gd name="connsiteY35" fmla="*/ 1066800 h 1371600"/>
              <a:gd name="connsiteX36" fmla="*/ 1219200 w 1787237"/>
              <a:gd name="connsiteY36" fmla="*/ 1094509 h 1371600"/>
              <a:gd name="connsiteX37" fmla="*/ 1052946 w 1787237"/>
              <a:gd name="connsiteY37" fmla="*/ 1136073 h 1371600"/>
              <a:gd name="connsiteX38" fmla="*/ 983673 w 1787237"/>
              <a:gd name="connsiteY38" fmla="*/ 1149927 h 1371600"/>
              <a:gd name="connsiteX39" fmla="*/ 928255 w 1787237"/>
              <a:gd name="connsiteY39" fmla="*/ 1163782 h 1371600"/>
              <a:gd name="connsiteX40" fmla="*/ 775855 w 1787237"/>
              <a:gd name="connsiteY40" fmla="*/ 1177636 h 1371600"/>
              <a:gd name="connsiteX41" fmla="*/ 651164 w 1787237"/>
              <a:gd name="connsiteY41" fmla="*/ 1205345 h 1371600"/>
              <a:gd name="connsiteX42" fmla="*/ 554182 w 1787237"/>
              <a:gd name="connsiteY42" fmla="*/ 1233054 h 1371600"/>
              <a:gd name="connsiteX43" fmla="*/ 443346 w 1787237"/>
              <a:gd name="connsiteY43" fmla="*/ 1260763 h 1371600"/>
              <a:gd name="connsiteX44" fmla="*/ 374073 w 1787237"/>
              <a:gd name="connsiteY44" fmla="*/ 1343891 h 1371600"/>
              <a:gd name="connsiteX45" fmla="*/ 332509 w 1787237"/>
              <a:gd name="connsiteY45" fmla="*/ 1371600 h 1371600"/>
              <a:gd name="connsiteX46" fmla="*/ 263237 w 1787237"/>
              <a:gd name="connsiteY46" fmla="*/ 135774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87237" h="1371600">
                <a:moveTo>
                  <a:pt x="263237" y="1357745"/>
                </a:moveTo>
                <a:cubicBezTo>
                  <a:pt x="240146" y="1348509"/>
                  <a:pt x="215054" y="1343217"/>
                  <a:pt x="193964" y="1330036"/>
                </a:cubicBezTo>
                <a:cubicBezTo>
                  <a:pt x="177349" y="1319652"/>
                  <a:pt x="167276" y="1301224"/>
                  <a:pt x="152400" y="1288473"/>
                </a:cubicBezTo>
                <a:cubicBezTo>
                  <a:pt x="61886" y="1210890"/>
                  <a:pt x="127460" y="1287546"/>
                  <a:pt x="55418" y="1191491"/>
                </a:cubicBezTo>
                <a:lnTo>
                  <a:pt x="13855" y="1066800"/>
                </a:lnTo>
                <a:lnTo>
                  <a:pt x="0" y="1025236"/>
                </a:lnTo>
                <a:cubicBezTo>
                  <a:pt x="4618" y="955963"/>
                  <a:pt x="-448" y="885355"/>
                  <a:pt x="13855" y="817418"/>
                </a:cubicBezTo>
                <a:cubicBezTo>
                  <a:pt x="19701" y="789647"/>
                  <a:pt x="79373" y="741567"/>
                  <a:pt x="96982" y="720436"/>
                </a:cubicBezTo>
                <a:cubicBezTo>
                  <a:pt x="107642" y="707644"/>
                  <a:pt x="110073" y="686846"/>
                  <a:pt x="124691" y="678873"/>
                </a:cubicBezTo>
                <a:cubicBezTo>
                  <a:pt x="163153" y="657894"/>
                  <a:pt x="207818" y="651164"/>
                  <a:pt x="249382" y="637309"/>
                </a:cubicBezTo>
                <a:cubicBezTo>
                  <a:pt x="398519" y="438462"/>
                  <a:pt x="169719" y="723515"/>
                  <a:pt x="360218" y="554182"/>
                </a:cubicBezTo>
                <a:cubicBezTo>
                  <a:pt x="489446" y="439312"/>
                  <a:pt x="340027" y="486175"/>
                  <a:pt x="484909" y="457200"/>
                </a:cubicBezTo>
                <a:lnTo>
                  <a:pt x="568037" y="401782"/>
                </a:lnTo>
                <a:cubicBezTo>
                  <a:pt x="581891" y="392546"/>
                  <a:pt x="593804" y="379339"/>
                  <a:pt x="609600" y="374073"/>
                </a:cubicBezTo>
                <a:cubicBezTo>
                  <a:pt x="623455" y="369455"/>
                  <a:pt x="638102" y="366749"/>
                  <a:pt x="651164" y="360218"/>
                </a:cubicBezTo>
                <a:cubicBezTo>
                  <a:pt x="762375" y="304612"/>
                  <a:pt x="602047" y="362035"/>
                  <a:pt x="762000" y="290945"/>
                </a:cubicBezTo>
                <a:cubicBezTo>
                  <a:pt x="779400" y="283212"/>
                  <a:pt x="799354" y="283112"/>
                  <a:pt x="817418" y="277091"/>
                </a:cubicBezTo>
                <a:cubicBezTo>
                  <a:pt x="841012" y="269227"/>
                  <a:pt x="864447" y="260504"/>
                  <a:pt x="886691" y="249382"/>
                </a:cubicBezTo>
                <a:cubicBezTo>
                  <a:pt x="910777" y="237339"/>
                  <a:pt x="934708" y="224351"/>
                  <a:pt x="955964" y="207818"/>
                </a:cubicBezTo>
                <a:cubicBezTo>
                  <a:pt x="1038452" y="143661"/>
                  <a:pt x="985156" y="148014"/>
                  <a:pt x="1094509" y="96982"/>
                </a:cubicBezTo>
                <a:cubicBezTo>
                  <a:pt x="1172531" y="60572"/>
                  <a:pt x="1261040" y="46829"/>
                  <a:pt x="1343891" y="27709"/>
                </a:cubicBezTo>
                <a:cubicBezTo>
                  <a:pt x="1400423" y="14663"/>
                  <a:pt x="1391257" y="16538"/>
                  <a:pt x="1440873" y="0"/>
                </a:cubicBezTo>
                <a:cubicBezTo>
                  <a:pt x="1467227" y="5271"/>
                  <a:pt x="1523304" y="13506"/>
                  <a:pt x="1551709" y="27709"/>
                </a:cubicBezTo>
                <a:cubicBezTo>
                  <a:pt x="1659136" y="81423"/>
                  <a:pt x="1530368" y="34449"/>
                  <a:pt x="1634837" y="69273"/>
                </a:cubicBezTo>
                <a:cubicBezTo>
                  <a:pt x="1648691" y="83127"/>
                  <a:pt x="1663857" y="95784"/>
                  <a:pt x="1676400" y="110836"/>
                </a:cubicBezTo>
                <a:cubicBezTo>
                  <a:pt x="1687060" y="123628"/>
                  <a:pt x="1692335" y="140626"/>
                  <a:pt x="1704109" y="152400"/>
                </a:cubicBezTo>
                <a:cubicBezTo>
                  <a:pt x="1715883" y="164174"/>
                  <a:pt x="1731818" y="170873"/>
                  <a:pt x="1745673" y="180109"/>
                </a:cubicBezTo>
                <a:cubicBezTo>
                  <a:pt x="1778899" y="279791"/>
                  <a:pt x="1738578" y="155281"/>
                  <a:pt x="1773382" y="277091"/>
                </a:cubicBezTo>
                <a:cubicBezTo>
                  <a:pt x="1777394" y="291133"/>
                  <a:pt x="1782619" y="304800"/>
                  <a:pt x="1787237" y="318654"/>
                </a:cubicBezTo>
                <a:cubicBezTo>
                  <a:pt x="1782619" y="447963"/>
                  <a:pt x="1784755" y="577691"/>
                  <a:pt x="1773382" y="706582"/>
                </a:cubicBezTo>
                <a:cubicBezTo>
                  <a:pt x="1770815" y="735677"/>
                  <a:pt x="1761874" y="765407"/>
                  <a:pt x="1745673" y="789709"/>
                </a:cubicBezTo>
                <a:cubicBezTo>
                  <a:pt x="1736437" y="803564"/>
                  <a:pt x="1726789" y="817153"/>
                  <a:pt x="1717964" y="831273"/>
                </a:cubicBezTo>
                <a:cubicBezTo>
                  <a:pt x="1703692" y="854108"/>
                  <a:pt x="1693222" y="879518"/>
                  <a:pt x="1676400" y="900545"/>
                </a:cubicBezTo>
                <a:cubicBezTo>
                  <a:pt x="1648223" y="935766"/>
                  <a:pt x="1568374" y="1010445"/>
                  <a:pt x="1524000" y="1025236"/>
                </a:cubicBezTo>
                <a:lnTo>
                  <a:pt x="1440873" y="1052945"/>
                </a:lnTo>
                <a:cubicBezTo>
                  <a:pt x="1382786" y="1140077"/>
                  <a:pt x="1450483" y="1066800"/>
                  <a:pt x="1302327" y="1066800"/>
                </a:cubicBezTo>
                <a:cubicBezTo>
                  <a:pt x="1273119" y="1066800"/>
                  <a:pt x="1247536" y="1087425"/>
                  <a:pt x="1219200" y="1094509"/>
                </a:cubicBezTo>
                <a:cubicBezTo>
                  <a:pt x="1163782" y="1108364"/>
                  <a:pt x="1108960" y="1124871"/>
                  <a:pt x="1052946" y="1136073"/>
                </a:cubicBezTo>
                <a:cubicBezTo>
                  <a:pt x="1029855" y="1140691"/>
                  <a:pt x="1006661" y="1144819"/>
                  <a:pt x="983673" y="1149927"/>
                </a:cubicBezTo>
                <a:cubicBezTo>
                  <a:pt x="965085" y="1154058"/>
                  <a:pt x="947129" y="1161265"/>
                  <a:pt x="928255" y="1163782"/>
                </a:cubicBezTo>
                <a:cubicBezTo>
                  <a:pt x="877693" y="1170524"/>
                  <a:pt x="826655" y="1173018"/>
                  <a:pt x="775855" y="1177636"/>
                </a:cubicBezTo>
                <a:cubicBezTo>
                  <a:pt x="694964" y="1204600"/>
                  <a:pt x="773082" y="1180961"/>
                  <a:pt x="651164" y="1205345"/>
                </a:cubicBezTo>
                <a:cubicBezTo>
                  <a:pt x="564651" y="1222648"/>
                  <a:pt x="626793" y="1213251"/>
                  <a:pt x="554182" y="1233054"/>
                </a:cubicBezTo>
                <a:cubicBezTo>
                  <a:pt x="517441" y="1243074"/>
                  <a:pt x="443346" y="1260763"/>
                  <a:pt x="443346" y="1260763"/>
                </a:cubicBezTo>
                <a:cubicBezTo>
                  <a:pt x="342079" y="1328276"/>
                  <a:pt x="461965" y="1238421"/>
                  <a:pt x="374073" y="1343891"/>
                </a:cubicBezTo>
                <a:cubicBezTo>
                  <a:pt x="363413" y="1356683"/>
                  <a:pt x="346364" y="1362364"/>
                  <a:pt x="332509" y="1371600"/>
                </a:cubicBezTo>
                <a:lnTo>
                  <a:pt x="263237" y="1357745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 6"/>
          <p:cNvSpPr/>
          <p:nvPr/>
        </p:nvSpPr>
        <p:spPr>
          <a:xfrm>
            <a:off x="6629400" y="2369126"/>
            <a:ext cx="1281654" cy="1478973"/>
          </a:xfrm>
          <a:custGeom>
            <a:avLst/>
            <a:gdLst>
              <a:gd name="connsiteX0" fmla="*/ 221673 w 637418"/>
              <a:gd name="connsiteY0" fmla="*/ 1039091 h 1108364"/>
              <a:gd name="connsiteX1" fmla="*/ 166255 w 637418"/>
              <a:gd name="connsiteY1" fmla="*/ 969818 h 1108364"/>
              <a:gd name="connsiteX2" fmla="*/ 110837 w 637418"/>
              <a:gd name="connsiteY2" fmla="*/ 928255 h 1108364"/>
              <a:gd name="connsiteX3" fmla="*/ 96982 w 637418"/>
              <a:gd name="connsiteY3" fmla="*/ 886691 h 1108364"/>
              <a:gd name="connsiteX4" fmla="*/ 41564 w 637418"/>
              <a:gd name="connsiteY4" fmla="*/ 775855 h 1108364"/>
              <a:gd name="connsiteX5" fmla="*/ 27709 w 637418"/>
              <a:gd name="connsiteY5" fmla="*/ 706582 h 1108364"/>
              <a:gd name="connsiteX6" fmla="*/ 13855 w 637418"/>
              <a:gd name="connsiteY6" fmla="*/ 665018 h 1108364"/>
              <a:gd name="connsiteX7" fmla="*/ 0 w 637418"/>
              <a:gd name="connsiteY7" fmla="*/ 609600 h 1108364"/>
              <a:gd name="connsiteX8" fmla="*/ 13855 w 637418"/>
              <a:gd name="connsiteY8" fmla="*/ 124691 h 1108364"/>
              <a:gd name="connsiteX9" fmla="*/ 124691 w 637418"/>
              <a:gd name="connsiteY9" fmla="*/ 41564 h 1108364"/>
              <a:gd name="connsiteX10" fmla="*/ 263237 w 637418"/>
              <a:gd name="connsiteY10" fmla="*/ 13855 h 1108364"/>
              <a:gd name="connsiteX11" fmla="*/ 304800 w 637418"/>
              <a:gd name="connsiteY11" fmla="*/ 0 h 1108364"/>
              <a:gd name="connsiteX12" fmla="*/ 429491 w 637418"/>
              <a:gd name="connsiteY12" fmla="*/ 13855 h 1108364"/>
              <a:gd name="connsiteX13" fmla="*/ 512619 w 637418"/>
              <a:gd name="connsiteY13" fmla="*/ 96982 h 1108364"/>
              <a:gd name="connsiteX14" fmla="*/ 540328 w 637418"/>
              <a:gd name="connsiteY14" fmla="*/ 138546 h 1108364"/>
              <a:gd name="connsiteX15" fmla="*/ 581891 w 637418"/>
              <a:gd name="connsiteY15" fmla="*/ 249382 h 1108364"/>
              <a:gd name="connsiteX16" fmla="*/ 595746 w 637418"/>
              <a:gd name="connsiteY16" fmla="*/ 304800 h 1108364"/>
              <a:gd name="connsiteX17" fmla="*/ 623455 w 637418"/>
              <a:gd name="connsiteY17" fmla="*/ 387928 h 1108364"/>
              <a:gd name="connsiteX18" fmla="*/ 623455 w 637418"/>
              <a:gd name="connsiteY18" fmla="*/ 900546 h 1108364"/>
              <a:gd name="connsiteX19" fmla="*/ 609600 w 637418"/>
              <a:gd name="connsiteY19" fmla="*/ 969818 h 1108364"/>
              <a:gd name="connsiteX20" fmla="*/ 581891 w 637418"/>
              <a:gd name="connsiteY20" fmla="*/ 997528 h 1108364"/>
              <a:gd name="connsiteX21" fmla="*/ 554182 w 637418"/>
              <a:gd name="connsiteY21" fmla="*/ 1052946 h 1108364"/>
              <a:gd name="connsiteX22" fmla="*/ 471055 w 637418"/>
              <a:gd name="connsiteY22" fmla="*/ 1080655 h 1108364"/>
              <a:gd name="connsiteX23" fmla="*/ 346364 w 637418"/>
              <a:gd name="connsiteY23" fmla="*/ 1108364 h 1108364"/>
              <a:gd name="connsiteX24" fmla="*/ 221673 w 637418"/>
              <a:gd name="connsiteY24" fmla="*/ 1066800 h 1108364"/>
              <a:gd name="connsiteX25" fmla="*/ 221673 w 637418"/>
              <a:gd name="connsiteY25" fmla="*/ 1039091 h 11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37418" h="1108364">
                <a:moveTo>
                  <a:pt x="221673" y="1039091"/>
                </a:moveTo>
                <a:cubicBezTo>
                  <a:pt x="203200" y="1016000"/>
                  <a:pt x="187165" y="990728"/>
                  <a:pt x="166255" y="969818"/>
                </a:cubicBezTo>
                <a:cubicBezTo>
                  <a:pt x="149927" y="953490"/>
                  <a:pt x="125619" y="945994"/>
                  <a:pt x="110837" y="928255"/>
                </a:cubicBezTo>
                <a:cubicBezTo>
                  <a:pt x="101488" y="917036"/>
                  <a:pt x="103025" y="899986"/>
                  <a:pt x="96982" y="886691"/>
                </a:cubicBezTo>
                <a:cubicBezTo>
                  <a:pt x="79889" y="849087"/>
                  <a:pt x="41564" y="775855"/>
                  <a:pt x="41564" y="775855"/>
                </a:cubicBezTo>
                <a:cubicBezTo>
                  <a:pt x="36946" y="752764"/>
                  <a:pt x="33420" y="729427"/>
                  <a:pt x="27709" y="706582"/>
                </a:cubicBezTo>
                <a:cubicBezTo>
                  <a:pt x="24167" y="692414"/>
                  <a:pt x="17867" y="679060"/>
                  <a:pt x="13855" y="665018"/>
                </a:cubicBezTo>
                <a:cubicBezTo>
                  <a:pt x="8624" y="646709"/>
                  <a:pt x="4618" y="628073"/>
                  <a:pt x="0" y="609600"/>
                </a:cubicBezTo>
                <a:cubicBezTo>
                  <a:pt x="4618" y="447964"/>
                  <a:pt x="1453" y="285917"/>
                  <a:pt x="13855" y="124691"/>
                </a:cubicBezTo>
                <a:cubicBezTo>
                  <a:pt x="19220" y="54951"/>
                  <a:pt x="72043" y="59113"/>
                  <a:pt x="124691" y="41564"/>
                </a:cubicBezTo>
                <a:cubicBezTo>
                  <a:pt x="197237" y="17382"/>
                  <a:pt x="151793" y="29775"/>
                  <a:pt x="263237" y="13855"/>
                </a:cubicBezTo>
                <a:cubicBezTo>
                  <a:pt x="277091" y="9237"/>
                  <a:pt x="290196" y="0"/>
                  <a:pt x="304800" y="0"/>
                </a:cubicBezTo>
                <a:cubicBezTo>
                  <a:pt x="346619" y="0"/>
                  <a:pt x="388920" y="3712"/>
                  <a:pt x="429491" y="13855"/>
                </a:cubicBezTo>
                <a:cubicBezTo>
                  <a:pt x="466092" y="23005"/>
                  <a:pt x="494590" y="71741"/>
                  <a:pt x="512619" y="96982"/>
                </a:cubicBezTo>
                <a:cubicBezTo>
                  <a:pt x="522297" y="110532"/>
                  <a:pt x="532881" y="123653"/>
                  <a:pt x="540328" y="138546"/>
                </a:cubicBezTo>
                <a:cubicBezTo>
                  <a:pt x="550092" y="158075"/>
                  <a:pt x="573896" y="221398"/>
                  <a:pt x="581891" y="249382"/>
                </a:cubicBezTo>
                <a:cubicBezTo>
                  <a:pt x="587122" y="267691"/>
                  <a:pt x="590275" y="286562"/>
                  <a:pt x="595746" y="304800"/>
                </a:cubicBezTo>
                <a:cubicBezTo>
                  <a:pt x="604139" y="332776"/>
                  <a:pt x="614219" y="360219"/>
                  <a:pt x="623455" y="387928"/>
                </a:cubicBezTo>
                <a:cubicBezTo>
                  <a:pt x="635257" y="659393"/>
                  <a:pt x="647851" y="668785"/>
                  <a:pt x="623455" y="900546"/>
                </a:cubicBezTo>
                <a:cubicBezTo>
                  <a:pt x="620990" y="923965"/>
                  <a:pt x="618876" y="948174"/>
                  <a:pt x="609600" y="969818"/>
                </a:cubicBezTo>
                <a:cubicBezTo>
                  <a:pt x="604454" y="981824"/>
                  <a:pt x="589137" y="986659"/>
                  <a:pt x="581891" y="997528"/>
                </a:cubicBezTo>
                <a:cubicBezTo>
                  <a:pt x="570435" y="1014712"/>
                  <a:pt x="570704" y="1040554"/>
                  <a:pt x="554182" y="1052946"/>
                </a:cubicBezTo>
                <a:cubicBezTo>
                  <a:pt x="530816" y="1070471"/>
                  <a:pt x="499696" y="1074927"/>
                  <a:pt x="471055" y="1080655"/>
                </a:cubicBezTo>
                <a:cubicBezTo>
                  <a:pt x="383111" y="1098243"/>
                  <a:pt x="424627" y="1088798"/>
                  <a:pt x="346364" y="1108364"/>
                </a:cubicBezTo>
                <a:cubicBezTo>
                  <a:pt x="290633" y="1099075"/>
                  <a:pt x="260636" y="1105762"/>
                  <a:pt x="221673" y="1066800"/>
                </a:cubicBezTo>
                <a:lnTo>
                  <a:pt x="221673" y="1039091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911054" y="2590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3891" y="43873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9026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7401"/>
            <a:ext cx="8229600" cy="4411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09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82513"/>
            <a:ext cx="8229600" cy="4361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034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business cases where K-means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Behavioral segmentation:</a:t>
            </a:r>
          </a:p>
          <a:p>
            <a:pPr lvl="1"/>
            <a:r>
              <a:rPr lang="en-US" dirty="0"/>
              <a:t>Segment by purchase history</a:t>
            </a:r>
          </a:p>
          <a:p>
            <a:pPr lvl="1"/>
            <a:r>
              <a:rPr lang="en-US" dirty="0"/>
              <a:t>Segment by activities on application, website, or platform</a:t>
            </a:r>
          </a:p>
          <a:p>
            <a:pPr lvl="1"/>
            <a:r>
              <a:rPr lang="en-US" dirty="0"/>
              <a:t>Define personas based on interests</a:t>
            </a:r>
          </a:p>
          <a:p>
            <a:pPr lvl="1"/>
            <a:r>
              <a:rPr lang="en-US" dirty="0"/>
              <a:t>Create profiles based on activity monitoring</a:t>
            </a:r>
          </a:p>
          <a:p>
            <a:r>
              <a:rPr lang="en-US" dirty="0"/>
              <a:t>Inventory categorization:</a:t>
            </a:r>
          </a:p>
          <a:p>
            <a:pPr lvl="1"/>
            <a:r>
              <a:rPr lang="en-US" dirty="0"/>
              <a:t>Group inventory by sales activity</a:t>
            </a:r>
          </a:p>
          <a:p>
            <a:pPr lvl="1"/>
            <a:r>
              <a:rPr lang="en-US" dirty="0"/>
              <a:t>Group inventory by manufacturing metrics</a:t>
            </a:r>
          </a:p>
          <a:p>
            <a:r>
              <a:rPr lang="en-US" dirty="0"/>
              <a:t>Sorting sensor measurements:</a:t>
            </a:r>
          </a:p>
          <a:p>
            <a:pPr lvl="1"/>
            <a:r>
              <a:rPr lang="en-US" dirty="0"/>
              <a:t>Detect activity types in motion sensors</a:t>
            </a:r>
          </a:p>
          <a:p>
            <a:pPr lvl="1"/>
            <a:r>
              <a:rPr lang="en-US" dirty="0"/>
              <a:t>Group images</a:t>
            </a:r>
          </a:p>
          <a:p>
            <a:pPr lvl="1"/>
            <a:r>
              <a:rPr lang="en-US" dirty="0"/>
              <a:t>Separate audio</a:t>
            </a:r>
          </a:p>
          <a:p>
            <a:pPr lvl="1"/>
            <a:r>
              <a:rPr lang="en-US" dirty="0"/>
              <a:t>Identify groups in health monitoring</a:t>
            </a:r>
          </a:p>
          <a:p>
            <a:r>
              <a:rPr lang="en-US" dirty="0"/>
              <a:t>Detecting bots or anomalies:</a:t>
            </a:r>
          </a:p>
          <a:p>
            <a:pPr lvl="1"/>
            <a:r>
              <a:rPr lang="en-US" dirty="0"/>
              <a:t>Separate valid activity groups from bots</a:t>
            </a:r>
          </a:p>
          <a:p>
            <a:pPr lvl="1"/>
            <a:r>
              <a:rPr lang="en-US" dirty="0"/>
              <a:t>Group valid activity to clean up outlier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0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Powerful classification algorithm used in pattern recognition</a:t>
            </a:r>
          </a:p>
          <a:p>
            <a:r>
              <a:rPr lang="en-US" dirty="0"/>
              <a:t> K-nearest neighbors store all available cases and classifies new cases based on a similarity measure (e.g. distance function)</a:t>
            </a:r>
          </a:p>
          <a:p>
            <a:r>
              <a:rPr lang="en-US" dirty="0"/>
              <a:t>One of the top data mining algorithm used today</a:t>
            </a:r>
          </a:p>
          <a:p>
            <a:r>
              <a:rPr lang="en-US" dirty="0"/>
              <a:t>A non-parametric lazy learning algorithm (an instance based learning method)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52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names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  <a:p>
            <a:r>
              <a:rPr lang="en-US" dirty="0"/>
              <a:t>Memory-Based Reasoning</a:t>
            </a:r>
          </a:p>
          <a:p>
            <a:r>
              <a:rPr lang="en-US" dirty="0"/>
              <a:t>Example-Based reasoning</a:t>
            </a:r>
          </a:p>
          <a:p>
            <a:r>
              <a:rPr lang="en-US" dirty="0"/>
              <a:t>Instance-Based learning</a:t>
            </a:r>
          </a:p>
          <a:p>
            <a:r>
              <a:rPr lang="en-US" dirty="0"/>
              <a:t>Lazy Learning</a:t>
            </a:r>
          </a:p>
        </p:txBody>
      </p:sp>
    </p:spTree>
    <p:extLst>
      <p:ext uri="{BB962C8B-B14F-4D97-AF65-F5344CB8AC3E}">
        <p14:creationId xmlns:p14="http://schemas.microsoft.com/office/powerpoint/2010/main" val="17082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KNN- Classification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 (a new instance)is classified by a majority votes for its neighbor classes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object is assigned to most common class amongst its K nearest neighbors (measured by a distance function) </a:t>
            </a:r>
          </a:p>
        </p:txBody>
      </p:sp>
    </p:spTree>
    <p:extLst>
      <p:ext uri="{BB962C8B-B14F-4D97-AF65-F5344CB8AC3E}">
        <p14:creationId xmlns:p14="http://schemas.microsoft.com/office/powerpoint/2010/main" val="2138774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4400" t="4970" r="13824" b="7326"/>
          <a:stretch/>
        </p:blipFill>
        <p:spPr>
          <a:xfrm>
            <a:off x="-59962" y="0"/>
            <a:ext cx="933887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5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52"/>
            <a:ext cx="9144000" cy="513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00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K?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749" t="12006" r="13986" b="8505"/>
          <a:stretch/>
        </p:blipFill>
        <p:spPr>
          <a:xfrm>
            <a:off x="1424066" y="1447800"/>
            <a:ext cx="6819265" cy="421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24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129" t="26076" r="15898" b="14703"/>
          <a:stretch/>
        </p:blipFill>
        <p:spPr>
          <a:xfrm>
            <a:off x="164892" y="1678898"/>
            <a:ext cx="8844198" cy="433215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0" y="533400"/>
            <a:ext cx="429027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+mj-lt"/>
              </a:rPr>
              <a:t>How to choose K?</a:t>
            </a:r>
          </a:p>
        </p:txBody>
      </p:sp>
    </p:spTree>
    <p:extLst>
      <p:ext uri="{BB962C8B-B14F-4D97-AF65-F5344CB8AC3E}">
        <p14:creationId xmlns:p14="http://schemas.microsoft.com/office/powerpoint/2010/main" val="2347297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467" t="17503" r="15980" b="10195"/>
          <a:stretch/>
        </p:blipFill>
        <p:spPr>
          <a:xfrm>
            <a:off x="26233" y="1515256"/>
            <a:ext cx="9084039" cy="530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74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243"/>
            <a:ext cx="8229600" cy="1143000"/>
          </a:xfrm>
        </p:spPr>
        <p:txBody>
          <a:bodyPr/>
          <a:lstStyle/>
          <a:p>
            <a:r>
              <a:rPr lang="en-US" dirty="0"/>
              <a:t>Strengths and Weaknesses of KNN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130" r="13317" b="5855"/>
          <a:stretch/>
        </p:blipFill>
        <p:spPr>
          <a:xfrm>
            <a:off x="762000" y="1219200"/>
            <a:ext cx="7467600" cy="5373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3747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Thanks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08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578</Words>
  <Application>Microsoft Office PowerPoint</Application>
  <PresentationFormat>On-screen Show (4:3)</PresentationFormat>
  <Paragraphs>92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K-Means</vt:lpstr>
      <vt:lpstr>K-Means</vt:lpstr>
      <vt:lpstr>How the K-means algorithm works </vt:lpstr>
      <vt:lpstr>How the K-means algorithm works </vt:lpstr>
      <vt:lpstr>How it works?</vt:lpstr>
      <vt:lpstr>Implementation using python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business cases where K-means is used</vt:lpstr>
      <vt:lpstr>What is KNN</vt:lpstr>
      <vt:lpstr>Different names of KNN</vt:lpstr>
      <vt:lpstr>KNN- Classification Approach</vt:lpstr>
      <vt:lpstr>PowerPoint Presentation</vt:lpstr>
      <vt:lpstr>PowerPoint Presentation</vt:lpstr>
      <vt:lpstr>How to choose K?</vt:lpstr>
      <vt:lpstr>PowerPoint Presentation</vt:lpstr>
      <vt:lpstr>How to choose K?</vt:lpstr>
      <vt:lpstr>Strengths and Weaknesses of KNN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Arunkumar Nair</cp:lastModifiedBy>
  <cp:revision>31</cp:revision>
  <dcterms:created xsi:type="dcterms:W3CDTF">2006-08-16T00:00:00Z</dcterms:created>
  <dcterms:modified xsi:type="dcterms:W3CDTF">2020-10-23T12:24:47Z</dcterms:modified>
</cp:coreProperties>
</file>