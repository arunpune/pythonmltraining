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8" r:id="rId3"/>
    <p:sldId id="259" r:id="rId4"/>
    <p:sldId id="265" r:id="rId5"/>
    <p:sldId id="260" r:id="rId6"/>
    <p:sldId id="267" r:id="rId7"/>
    <p:sldId id="269" r:id="rId8"/>
    <p:sldId id="266" r:id="rId9"/>
    <p:sldId id="272" r:id="rId10"/>
    <p:sldId id="273" r:id="rId11"/>
    <p:sldId id="274" r:id="rId12"/>
    <p:sldId id="275" r:id="rId13"/>
    <p:sldId id="263" r:id="rId14"/>
    <p:sldId id="26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842" autoAdjust="0"/>
  </p:normalViewPr>
  <p:slideViewPr>
    <p:cSldViewPr snapToGrid="0">
      <p:cViewPr varScale="1">
        <p:scale>
          <a:sx n="63" d="100"/>
          <a:sy n="63" d="100"/>
        </p:scale>
        <p:origin x="78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4446B1-1B91-476D-877B-0165D79C2BED}" type="datetimeFigureOut">
              <a:rPr lang="en-IN" smtClean="0"/>
              <a:t>09-05-2021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637BE1-1A0F-4BB9-8A99-02A798D1A152}" type="slidenum">
              <a:rPr lang="en-IN" smtClean="0"/>
              <a:t>‹#›</a:t>
            </a:fld>
            <a:endParaRPr lang="en-IN"/>
          </a:p>
        </p:txBody>
      </p:sp>
    </p:spTree>
    <p:extLst>
      <p:ext uri="{BB962C8B-B14F-4D97-AF65-F5344CB8AC3E}">
        <p14:creationId xmlns:p14="http://schemas.microsoft.com/office/powerpoint/2010/main" val="3291909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D637BE1-1A0F-4BB9-8A99-02A798D1A152}" type="slidenum">
              <a:rPr lang="en-IN" smtClean="0"/>
              <a:t>1</a:t>
            </a:fld>
            <a:endParaRPr lang="en-IN"/>
          </a:p>
        </p:txBody>
      </p:sp>
    </p:spTree>
    <p:extLst>
      <p:ext uri="{BB962C8B-B14F-4D97-AF65-F5344CB8AC3E}">
        <p14:creationId xmlns:p14="http://schemas.microsoft.com/office/powerpoint/2010/main" val="28713770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https://www.analyticsvidhya.com/blog/2019/05/beginners-guide-hierarchical-clustering/</a:t>
            </a:r>
          </a:p>
          <a:p>
            <a:endParaRPr lang="en-IN" dirty="0"/>
          </a:p>
        </p:txBody>
      </p:sp>
      <p:sp>
        <p:nvSpPr>
          <p:cNvPr id="4" name="Slide Number Placeholder 3"/>
          <p:cNvSpPr>
            <a:spLocks noGrp="1"/>
          </p:cNvSpPr>
          <p:nvPr>
            <p:ph type="sldNum" sz="quarter" idx="5"/>
          </p:nvPr>
        </p:nvSpPr>
        <p:spPr/>
        <p:txBody>
          <a:bodyPr/>
          <a:lstStyle/>
          <a:p>
            <a:fld id="{2D637BE1-1A0F-4BB9-8A99-02A798D1A152}" type="slidenum">
              <a:rPr lang="en-IN" smtClean="0"/>
              <a:t>2</a:t>
            </a:fld>
            <a:endParaRPr lang="en-IN"/>
          </a:p>
        </p:txBody>
      </p:sp>
    </p:spTree>
    <p:extLst>
      <p:ext uri="{BB962C8B-B14F-4D97-AF65-F5344CB8AC3E}">
        <p14:creationId xmlns:p14="http://schemas.microsoft.com/office/powerpoint/2010/main" val="6413712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BEC98-91B4-4F68-B044-FC549A3D4D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47DE991-1927-4CF3-BE3D-1B507D987F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93F299B-8BE8-40DF-A9AE-0D636648C79D}"/>
              </a:ext>
            </a:extLst>
          </p:cNvPr>
          <p:cNvSpPr>
            <a:spLocks noGrp="1"/>
          </p:cNvSpPr>
          <p:nvPr>
            <p:ph type="dt" sz="half" idx="10"/>
          </p:nvPr>
        </p:nvSpPr>
        <p:spPr/>
        <p:txBody>
          <a:bodyPr/>
          <a:lstStyle/>
          <a:p>
            <a:fld id="{2B98787C-32E2-48C8-8450-5A080EEC0513}" type="datetimeFigureOut">
              <a:rPr lang="en-IN" smtClean="0"/>
              <a:t>09-05-2021</a:t>
            </a:fld>
            <a:endParaRPr lang="en-IN"/>
          </a:p>
        </p:txBody>
      </p:sp>
      <p:sp>
        <p:nvSpPr>
          <p:cNvPr id="5" name="Footer Placeholder 4">
            <a:extLst>
              <a:ext uri="{FF2B5EF4-FFF2-40B4-BE49-F238E27FC236}">
                <a16:creationId xmlns:a16="http://schemas.microsoft.com/office/drawing/2014/main" id="{3D3DEA95-6823-4AC3-83A0-8008215451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8F1CEC-1E35-4518-9422-42B1D686C1FE}"/>
              </a:ext>
            </a:extLst>
          </p:cNvPr>
          <p:cNvSpPr>
            <a:spLocks noGrp="1"/>
          </p:cNvSpPr>
          <p:nvPr>
            <p:ph type="sldNum" sz="quarter" idx="12"/>
          </p:nvPr>
        </p:nvSpPr>
        <p:spPr/>
        <p:txBody>
          <a:bodyPr/>
          <a:lstStyle/>
          <a:p>
            <a:fld id="{72C52FB6-F32A-4F00-B06D-10D7D3179FC3}" type="slidenum">
              <a:rPr lang="en-IN" smtClean="0"/>
              <a:t>‹#›</a:t>
            </a:fld>
            <a:endParaRPr lang="en-IN"/>
          </a:p>
        </p:txBody>
      </p:sp>
    </p:spTree>
    <p:extLst>
      <p:ext uri="{BB962C8B-B14F-4D97-AF65-F5344CB8AC3E}">
        <p14:creationId xmlns:p14="http://schemas.microsoft.com/office/powerpoint/2010/main" val="29526663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EEFF3-3DC4-4158-B6AA-2A24CF8198D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F4933D7-A3C6-4EFA-B5BE-6F2A56CD31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5810D9-014C-4765-8ACC-21BEEE09C415}"/>
              </a:ext>
            </a:extLst>
          </p:cNvPr>
          <p:cNvSpPr>
            <a:spLocks noGrp="1"/>
          </p:cNvSpPr>
          <p:nvPr>
            <p:ph type="dt" sz="half" idx="10"/>
          </p:nvPr>
        </p:nvSpPr>
        <p:spPr/>
        <p:txBody>
          <a:bodyPr/>
          <a:lstStyle/>
          <a:p>
            <a:fld id="{2B98787C-32E2-48C8-8450-5A080EEC0513}" type="datetimeFigureOut">
              <a:rPr lang="en-IN" smtClean="0"/>
              <a:t>09-05-2021</a:t>
            </a:fld>
            <a:endParaRPr lang="en-IN"/>
          </a:p>
        </p:txBody>
      </p:sp>
      <p:sp>
        <p:nvSpPr>
          <p:cNvPr id="5" name="Footer Placeholder 4">
            <a:extLst>
              <a:ext uri="{FF2B5EF4-FFF2-40B4-BE49-F238E27FC236}">
                <a16:creationId xmlns:a16="http://schemas.microsoft.com/office/drawing/2014/main" id="{00F4B936-0BC5-4F87-A07A-EF9C9B45EC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FE17ED-DA9A-4D3F-B73D-F20AA23E1535}"/>
              </a:ext>
            </a:extLst>
          </p:cNvPr>
          <p:cNvSpPr>
            <a:spLocks noGrp="1"/>
          </p:cNvSpPr>
          <p:nvPr>
            <p:ph type="sldNum" sz="quarter" idx="12"/>
          </p:nvPr>
        </p:nvSpPr>
        <p:spPr/>
        <p:txBody>
          <a:bodyPr/>
          <a:lstStyle/>
          <a:p>
            <a:fld id="{72C52FB6-F32A-4F00-B06D-10D7D3179FC3}" type="slidenum">
              <a:rPr lang="en-IN" smtClean="0"/>
              <a:t>‹#›</a:t>
            </a:fld>
            <a:endParaRPr lang="en-IN"/>
          </a:p>
        </p:txBody>
      </p:sp>
    </p:spTree>
    <p:extLst>
      <p:ext uri="{BB962C8B-B14F-4D97-AF65-F5344CB8AC3E}">
        <p14:creationId xmlns:p14="http://schemas.microsoft.com/office/powerpoint/2010/main" val="1160405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8C774-8C57-4E47-AD16-345FDA3FA5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0F69DA8-C27E-4960-8951-3C58E589FD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138F03-D0AB-453F-9F4D-54FF9020C31B}"/>
              </a:ext>
            </a:extLst>
          </p:cNvPr>
          <p:cNvSpPr>
            <a:spLocks noGrp="1"/>
          </p:cNvSpPr>
          <p:nvPr>
            <p:ph type="dt" sz="half" idx="10"/>
          </p:nvPr>
        </p:nvSpPr>
        <p:spPr/>
        <p:txBody>
          <a:bodyPr/>
          <a:lstStyle/>
          <a:p>
            <a:fld id="{2B98787C-32E2-48C8-8450-5A080EEC0513}" type="datetimeFigureOut">
              <a:rPr lang="en-IN" smtClean="0"/>
              <a:t>09-05-2021</a:t>
            </a:fld>
            <a:endParaRPr lang="en-IN"/>
          </a:p>
        </p:txBody>
      </p:sp>
      <p:sp>
        <p:nvSpPr>
          <p:cNvPr id="5" name="Footer Placeholder 4">
            <a:extLst>
              <a:ext uri="{FF2B5EF4-FFF2-40B4-BE49-F238E27FC236}">
                <a16:creationId xmlns:a16="http://schemas.microsoft.com/office/drawing/2014/main" id="{B2B5226E-A647-4C65-B569-F51988C9BC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A17DAE-3E0E-4AA4-B4E8-FFD3D28D5AC0}"/>
              </a:ext>
            </a:extLst>
          </p:cNvPr>
          <p:cNvSpPr>
            <a:spLocks noGrp="1"/>
          </p:cNvSpPr>
          <p:nvPr>
            <p:ph type="sldNum" sz="quarter" idx="12"/>
          </p:nvPr>
        </p:nvSpPr>
        <p:spPr/>
        <p:txBody>
          <a:bodyPr/>
          <a:lstStyle/>
          <a:p>
            <a:fld id="{72C52FB6-F32A-4F00-B06D-10D7D3179FC3}" type="slidenum">
              <a:rPr lang="en-IN" smtClean="0"/>
              <a:t>‹#›</a:t>
            </a:fld>
            <a:endParaRPr lang="en-IN"/>
          </a:p>
        </p:txBody>
      </p:sp>
    </p:spTree>
    <p:extLst>
      <p:ext uri="{BB962C8B-B14F-4D97-AF65-F5344CB8AC3E}">
        <p14:creationId xmlns:p14="http://schemas.microsoft.com/office/powerpoint/2010/main" val="2420149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83022-E65B-4E08-83A9-0762116BA8D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43DEE4E-BE37-4843-8A3B-F9FFDC72EE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85E0776-F21A-404C-AE65-E54BAFB29C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2AEA6F8-C077-48D6-ABD0-28702740FAAE}"/>
              </a:ext>
            </a:extLst>
          </p:cNvPr>
          <p:cNvSpPr>
            <a:spLocks noGrp="1"/>
          </p:cNvSpPr>
          <p:nvPr>
            <p:ph type="dt" sz="half" idx="10"/>
          </p:nvPr>
        </p:nvSpPr>
        <p:spPr/>
        <p:txBody>
          <a:bodyPr/>
          <a:lstStyle/>
          <a:p>
            <a:fld id="{2B98787C-32E2-48C8-8450-5A080EEC0513}" type="datetimeFigureOut">
              <a:rPr lang="en-IN" smtClean="0"/>
              <a:t>09-05-2021</a:t>
            </a:fld>
            <a:endParaRPr lang="en-IN"/>
          </a:p>
        </p:txBody>
      </p:sp>
      <p:sp>
        <p:nvSpPr>
          <p:cNvPr id="6" name="Footer Placeholder 5">
            <a:extLst>
              <a:ext uri="{FF2B5EF4-FFF2-40B4-BE49-F238E27FC236}">
                <a16:creationId xmlns:a16="http://schemas.microsoft.com/office/drawing/2014/main" id="{0E16898D-6318-4F23-9F72-30052CBF464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B96B89F-8643-44DA-9F2D-3547B8F92D82}"/>
              </a:ext>
            </a:extLst>
          </p:cNvPr>
          <p:cNvSpPr>
            <a:spLocks noGrp="1"/>
          </p:cNvSpPr>
          <p:nvPr>
            <p:ph type="sldNum" sz="quarter" idx="12"/>
          </p:nvPr>
        </p:nvSpPr>
        <p:spPr/>
        <p:txBody>
          <a:bodyPr/>
          <a:lstStyle/>
          <a:p>
            <a:fld id="{72C52FB6-F32A-4F00-B06D-10D7D3179FC3}" type="slidenum">
              <a:rPr lang="en-IN" smtClean="0"/>
              <a:t>‹#›</a:t>
            </a:fld>
            <a:endParaRPr lang="en-IN"/>
          </a:p>
        </p:txBody>
      </p:sp>
    </p:spTree>
    <p:extLst>
      <p:ext uri="{BB962C8B-B14F-4D97-AF65-F5344CB8AC3E}">
        <p14:creationId xmlns:p14="http://schemas.microsoft.com/office/powerpoint/2010/main" val="25982705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207C9-FC49-4AF8-BEE4-99D0504DEAD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4AE7E34-2E5F-47EA-A26C-16C2ACFA95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5D340A-31A3-4D21-8720-FD755A028EC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00B84B8-DD86-4EF4-B726-F7741DA79B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5ACCD60-12C9-4E15-B4BE-5A6421D23C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A854984-D19F-4E9B-BD16-5DD04D002F2B}"/>
              </a:ext>
            </a:extLst>
          </p:cNvPr>
          <p:cNvSpPr>
            <a:spLocks noGrp="1"/>
          </p:cNvSpPr>
          <p:nvPr>
            <p:ph type="dt" sz="half" idx="10"/>
          </p:nvPr>
        </p:nvSpPr>
        <p:spPr/>
        <p:txBody>
          <a:bodyPr/>
          <a:lstStyle/>
          <a:p>
            <a:fld id="{2B98787C-32E2-48C8-8450-5A080EEC0513}" type="datetimeFigureOut">
              <a:rPr lang="en-IN" smtClean="0"/>
              <a:t>09-05-2021</a:t>
            </a:fld>
            <a:endParaRPr lang="en-IN"/>
          </a:p>
        </p:txBody>
      </p:sp>
      <p:sp>
        <p:nvSpPr>
          <p:cNvPr id="8" name="Footer Placeholder 7">
            <a:extLst>
              <a:ext uri="{FF2B5EF4-FFF2-40B4-BE49-F238E27FC236}">
                <a16:creationId xmlns:a16="http://schemas.microsoft.com/office/drawing/2014/main" id="{A3976DB2-41CB-4870-952A-5C57B73B829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0711B76-C6CF-4C5C-BB59-FB6AE2F2A023}"/>
              </a:ext>
            </a:extLst>
          </p:cNvPr>
          <p:cNvSpPr>
            <a:spLocks noGrp="1"/>
          </p:cNvSpPr>
          <p:nvPr>
            <p:ph type="sldNum" sz="quarter" idx="12"/>
          </p:nvPr>
        </p:nvSpPr>
        <p:spPr/>
        <p:txBody>
          <a:bodyPr/>
          <a:lstStyle/>
          <a:p>
            <a:fld id="{72C52FB6-F32A-4F00-B06D-10D7D3179FC3}" type="slidenum">
              <a:rPr lang="en-IN" smtClean="0"/>
              <a:t>‹#›</a:t>
            </a:fld>
            <a:endParaRPr lang="en-IN"/>
          </a:p>
        </p:txBody>
      </p:sp>
    </p:spTree>
    <p:extLst>
      <p:ext uri="{BB962C8B-B14F-4D97-AF65-F5344CB8AC3E}">
        <p14:creationId xmlns:p14="http://schemas.microsoft.com/office/powerpoint/2010/main" val="3034858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E871A-620B-499B-8D46-D72E88731D5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0FB3CFE-3F44-4380-ACC8-9A558401B61B}"/>
              </a:ext>
            </a:extLst>
          </p:cNvPr>
          <p:cNvSpPr>
            <a:spLocks noGrp="1"/>
          </p:cNvSpPr>
          <p:nvPr>
            <p:ph type="dt" sz="half" idx="10"/>
          </p:nvPr>
        </p:nvSpPr>
        <p:spPr/>
        <p:txBody>
          <a:bodyPr/>
          <a:lstStyle/>
          <a:p>
            <a:fld id="{2B98787C-32E2-48C8-8450-5A080EEC0513}" type="datetimeFigureOut">
              <a:rPr lang="en-IN" smtClean="0"/>
              <a:t>09-05-2021</a:t>
            </a:fld>
            <a:endParaRPr lang="en-IN"/>
          </a:p>
        </p:txBody>
      </p:sp>
      <p:sp>
        <p:nvSpPr>
          <p:cNvPr id="4" name="Footer Placeholder 3">
            <a:extLst>
              <a:ext uri="{FF2B5EF4-FFF2-40B4-BE49-F238E27FC236}">
                <a16:creationId xmlns:a16="http://schemas.microsoft.com/office/drawing/2014/main" id="{327B55D1-69B0-40CB-9D15-E9AB8320430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993AF61-FA78-43BA-A0B4-FAB2DC1D53AF}"/>
              </a:ext>
            </a:extLst>
          </p:cNvPr>
          <p:cNvSpPr>
            <a:spLocks noGrp="1"/>
          </p:cNvSpPr>
          <p:nvPr>
            <p:ph type="sldNum" sz="quarter" idx="12"/>
          </p:nvPr>
        </p:nvSpPr>
        <p:spPr/>
        <p:txBody>
          <a:bodyPr/>
          <a:lstStyle/>
          <a:p>
            <a:fld id="{72C52FB6-F32A-4F00-B06D-10D7D3179FC3}" type="slidenum">
              <a:rPr lang="en-IN" smtClean="0"/>
              <a:t>‹#›</a:t>
            </a:fld>
            <a:endParaRPr lang="en-IN"/>
          </a:p>
        </p:txBody>
      </p:sp>
    </p:spTree>
    <p:extLst>
      <p:ext uri="{BB962C8B-B14F-4D97-AF65-F5344CB8AC3E}">
        <p14:creationId xmlns:p14="http://schemas.microsoft.com/office/powerpoint/2010/main" val="2605085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1322C1-940D-4EB4-AF97-81A93DCA5267}"/>
              </a:ext>
            </a:extLst>
          </p:cNvPr>
          <p:cNvSpPr>
            <a:spLocks noGrp="1"/>
          </p:cNvSpPr>
          <p:nvPr>
            <p:ph type="dt" sz="half" idx="10"/>
          </p:nvPr>
        </p:nvSpPr>
        <p:spPr/>
        <p:txBody>
          <a:bodyPr/>
          <a:lstStyle/>
          <a:p>
            <a:fld id="{2B98787C-32E2-48C8-8450-5A080EEC0513}" type="datetimeFigureOut">
              <a:rPr lang="en-IN" smtClean="0"/>
              <a:t>09-05-2021</a:t>
            </a:fld>
            <a:endParaRPr lang="en-IN"/>
          </a:p>
        </p:txBody>
      </p:sp>
      <p:sp>
        <p:nvSpPr>
          <p:cNvPr id="3" name="Footer Placeholder 2">
            <a:extLst>
              <a:ext uri="{FF2B5EF4-FFF2-40B4-BE49-F238E27FC236}">
                <a16:creationId xmlns:a16="http://schemas.microsoft.com/office/drawing/2014/main" id="{F2575F9E-5787-4E4E-9B30-8DC9FCB9FFA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6ECB940-A9C0-4906-A49F-722EB378AD6A}"/>
              </a:ext>
            </a:extLst>
          </p:cNvPr>
          <p:cNvSpPr>
            <a:spLocks noGrp="1"/>
          </p:cNvSpPr>
          <p:nvPr>
            <p:ph type="sldNum" sz="quarter" idx="12"/>
          </p:nvPr>
        </p:nvSpPr>
        <p:spPr/>
        <p:txBody>
          <a:bodyPr/>
          <a:lstStyle/>
          <a:p>
            <a:fld id="{72C52FB6-F32A-4F00-B06D-10D7D3179FC3}" type="slidenum">
              <a:rPr lang="en-IN" smtClean="0"/>
              <a:t>‹#›</a:t>
            </a:fld>
            <a:endParaRPr lang="en-IN"/>
          </a:p>
        </p:txBody>
      </p:sp>
    </p:spTree>
    <p:extLst>
      <p:ext uri="{BB962C8B-B14F-4D97-AF65-F5344CB8AC3E}">
        <p14:creationId xmlns:p14="http://schemas.microsoft.com/office/powerpoint/2010/main" val="4067603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FD7AB-069E-40E0-88B9-8E95689F33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0021AEF-5563-4CDA-81DC-2CC4BDEAFF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8A0128A-3E85-4EED-93B9-85EBBDAF84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65254D-CC65-4F12-8800-BE968162DEF3}"/>
              </a:ext>
            </a:extLst>
          </p:cNvPr>
          <p:cNvSpPr>
            <a:spLocks noGrp="1"/>
          </p:cNvSpPr>
          <p:nvPr>
            <p:ph type="dt" sz="half" idx="10"/>
          </p:nvPr>
        </p:nvSpPr>
        <p:spPr/>
        <p:txBody>
          <a:bodyPr/>
          <a:lstStyle/>
          <a:p>
            <a:fld id="{2B98787C-32E2-48C8-8450-5A080EEC0513}" type="datetimeFigureOut">
              <a:rPr lang="en-IN" smtClean="0"/>
              <a:t>09-05-2021</a:t>
            </a:fld>
            <a:endParaRPr lang="en-IN"/>
          </a:p>
        </p:txBody>
      </p:sp>
      <p:sp>
        <p:nvSpPr>
          <p:cNvPr id="6" name="Footer Placeholder 5">
            <a:extLst>
              <a:ext uri="{FF2B5EF4-FFF2-40B4-BE49-F238E27FC236}">
                <a16:creationId xmlns:a16="http://schemas.microsoft.com/office/drawing/2014/main" id="{445706EE-3092-4CF0-B2ED-FD9DFC0B15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EA1A564-1511-4F9E-A5B6-138A365A945B}"/>
              </a:ext>
            </a:extLst>
          </p:cNvPr>
          <p:cNvSpPr>
            <a:spLocks noGrp="1"/>
          </p:cNvSpPr>
          <p:nvPr>
            <p:ph type="sldNum" sz="quarter" idx="12"/>
          </p:nvPr>
        </p:nvSpPr>
        <p:spPr/>
        <p:txBody>
          <a:bodyPr/>
          <a:lstStyle/>
          <a:p>
            <a:fld id="{72C52FB6-F32A-4F00-B06D-10D7D3179FC3}" type="slidenum">
              <a:rPr lang="en-IN" smtClean="0"/>
              <a:t>‹#›</a:t>
            </a:fld>
            <a:endParaRPr lang="en-IN"/>
          </a:p>
        </p:txBody>
      </p:sp>
    </p:spTree>
    <p:extLst>
      <p:ext uri="{BB962C8B-B14F-4D97-AF65-F5344CB8AC3E}">
        <p14:creationId xmlns:p14="http://schemas.microsoft.com/office/powerpoint/2010/main" val="40445822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85408-23F7-41AC-8F70-9383D40697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CFE5285-3477-41F0-A477-60C3BF4762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25ED3A5-7E6C-4E57-AB31-AE0A82AE3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A7B65F-AF30-46BB-B23D-9E78B47EF817}"/>
              </a:ext>
            </a:extLst>
          </p:cNvPr>
          <p:cNvSpPr>
            <a:spLocks noGrp="1"/>
          </p:cNvSpPr>
          <p:nvPr>
            <p:ph type="dt" sz="half" idx="10"/>
          </p:nvPr>
        </p:nvSpPr>
        <p:spPr/>
        <p:txBody>
          <a:bodyPr/>
          <a:lstStyle/>
          <a:p>
            <a:fld id="{2B98787C-32E2-48C8-8450-5A080EEC0513}" type="datetimeFigureOut">
              <a:rPr lang="en-IN" smtClean="0"/>
              <a:t>09-05-2021</a:t>
            </a:fld>
            <a:endParaRPr lang="en-IN"/>
          </a:p>
        </p:txBody>
      </p:sp>
      <p:sp>
        <p:nvSpPr>
          <p:cNvPr id="6" name="Footer Placeholder 5">
            <a:extLst>
              <a:ext uri="{FF2B5EF4-FFF2-40B4-BE49-F238E27FC236}">
                <a16:creationId xmlns:a16="http://schemas.microsoft.com/office/drawing/2014/main" id="{BE3A83F2-2C76-4E04-AED2-B21D4E25EB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17B7FED-A68D-4BD4-B411-BE7913E1A769}"/>
              </a:ext>
            </a:extLst>
          </p:cNvPr>
          <p:cNvSpPr>
            <a:spLocks noGrp="1"/>
          </p:cNvSpPr>
          <p:nvPr>
            <p:ph type="sldNum" sz="quarter" idx="12"/>
          </p:nvPr>
        </p:nvSpPr>
        <p:spPr/>
        <p:txBody>
          <a:bodyPr/>
          <a:lstStyle/>
          <a:p>
            <a:fld id="{72C52FB6-F32A-4F00-B06D-10D7D3179FC3}" type="slidenum">
              <a:rPr lang="en-IN" smtClean="0"/>
              <a:t>‹#›</a:t>
            </a:fld>
            <a:endParaRPr lang="en-IN"/>
          </a:p>
        </p:txBody>
      </p:sp>
    </p:spTree>
    <p:extLst>
      <p:ext uri="{BB962C8B-B14F-4D97-AF65-F5344CB8AC3E}">
        <p14:creationId xmlns:p14="http://schemas.microsoft.com/office/powerpoint/2010/main" val="1609538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CC3F7-E616-4959-A269-371A83F1F3C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5B93BD5-70CA-410B-BBE6-A78CE900BA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5B5BC1-4F83-420D-8339-1CE4C50E6DBC}"/>
              </a:ext>
            </a:extLst>
          </p:cNvPr>
          <p:cNvSpPr>
            <a:spLocks noGrp="1"/>
          </p:cNvSpPr>
          <p:nvPr>
            <p:ph type="dt" sz="half" idx="10"/>
          </p:nvPr>
        </p:nvSpPr>
        <p:spPr/>
        <p:txBody>
          <a:bodyPr/>
          <a:lstStyle/>
          <a:p>
            <a:fld id="{2B98787C-32E2-48C8-8450-5A080EEC0513}" type="datetimeFigureOut">
              <a:rPr lang="en-IN" smtClean="0"/>
              <a:t>09-05-2021</a:t>
            </a:fld>
            <a:endParaRPr lang="en-IN"/>
          </a:p>
        </p:txBody>
      </p:sp>
      <p:sp>
        <p:nvSpPr>
          <p:cNvPr id="5" name="Footer Placeholder 4">
            <a:extLst>
              <a:ext uri="{FF2B5EF4-FFF2-40B4-BE49-F238E27FC236}">
                <a16:creationId xmlns:a16="http://schemas.microsoft.com/office/drawing/2014/main" id="{BDF826FC-10A0-4BFC-829C-B222363348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F3A836-436E-47B8-BA18-6AEEB70EC213}"/>
              </a:ext>
            </a:extLst>
          </p:cNvPr>
          <p:cNvSpPr>
            <a:spLocks noGrp="1"/>
          </p:cNvSpPr>
          <p:nvPr>
            <p:ph type="sldNum" sz="quarter" idx="12"/>
          </p:nvPr>
        </p:nvSpPr>
        <p:spPr/>
        <p:txBody>
          <a:bodyPr/>
          <a:lstStyle/>
          <a:p>
            <a:fld id="{72C52FB6-F32A-4F00-B06D-10D7D3179FC3}" type="slidenum">
              <a:rPr lang="en-IN" smtClean="0"/>
              <a:t>‹#›</a:t>
            </a:fld>
            <a:endParaRPr lang="en-IN"/>
          </a:p>
        </p:txBody>
      </p:sp>
    </p:spTree>
    <p:extLst>
      <p:ext uri="{BB962C8B-B14F-4D97-AF65-F5344CB8AC3E}">
        <p14:creationId xmlns:p14="http://schemas.microsoft.com/office/powerpoint/2010/main" val="38069246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E85BDB-8027-443D-AF72-8CBA12D0408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86DC4D5-11B2-42C8-B1D3-CAD97ECE50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96E682-A1BF-4A9E-97E2-C9BC492AA5B3}"/>
              </a:ext>
            </a:extLst>
          </p:cNvPr>
          <p:cNvSpPr>
            <a:spLocks noGrp="1"/>
          </p:cNvSpPr>
          <p:nvPr>
            <p:ph type="dt" sz="half" idx="10"/>
          </p:nvPr>
        </p:nvSpPr>
        <p:spPr/>
        <p:txBody>
          <a:bodyPr/>
          <a:lstStyle/>
          <a:p>
            <a:fld id="{2B98787C-32E2-48C8-8450-5A080EEC0513}" type="datetimeFigureOut">
              <a:rPr lang="en-IN" smtClean="0"/>
              <a:t>09-05-2021</a:t>
            </a:fld>
            <a:endParaRPr lang="en-IN"/>
          </a:p>
        </p:txBody>
      </p:sp>
      <p:sp>
        <p:nvSpPr>
          <p:cNvPr id="5" name="Footer Placeholder 4">
            <a:extLst>
              <a:ext uri="{FF2B5EF4-FFF2-40B4-BE49-F238E27FC236}">
                <a16:creationId xmlns:a16="http://schemas.microsoft.com/office/drawing/2014/main" id="{FEA66A94-4942-4CF1-9F61-C7FB6F230D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2A6A1B-DBF0-4866-AE34-ECA5B2448A7D}"/>
              </a:ext>
            </a:extLst>
          </p:cNvPr>
          <p:cNvSpPr>
            <a:spLocks noGrp="1"/>
          </p:cNvSpPr>
          <p:nvPr>
            <p:ph type="sldNum" sz="quarter" idx="12"/>
          </p:nvPr>
        </p:nvSpPr>
        <p:spPr/>
        <p:txBody>
          <a:bodyPr/>
          <a:lstStyle/>
          <a:p>
            <a:fld id="{72C52FB6-F32A-4F00-B06D-10D7D3179FC3}" type="slidenum">
              <a:rPr lang="en-IN" smtClean="0"/>
              <a:t>‹#›</a:t>
            </a:fld>
            <a:endParaRPr lang="en-IN"/>
          </a:p>
        </p:txBody>
      </p:sp>
    </p:spTree>
    <p:extLst>
      <p:ext uri="{BB962C8B-B14F-4D97-AF65-F5344CB8AC3E}">
        <p14:creationId xmlns:p14="http://schemas.microsoft.com/office/powerpoint/2010/main" val="3259562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0877A3-B31A-4240-B8E5-E65C8F619E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A5167C8-4391-4C1A-B1C9-EB5476AAD5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417ACE-F01E-4F62-A916-BCA0177739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98787C-32E2-48C8-8450-5A080EEC0513}" type="datetimeFigureOut">
              <a:rPr lang="en-IN" smtClean="0"/>
              <a:t>09-05-2021</a:t>
            </a:fld>
            <a:endParaRPr lang="en-IN"/>
          </a:p>
        </p:txBody>
      </p:sp>
      <p:sp>
        <p:nvSpPr>
          <p:cNvPr id="5" name="Footer Placeholder 4">
            <a:extLst>
              <a:ext uri="{FF2B5EF4-FFF2-40B4-BE49-F238E27FC236}">
                <a16:creationId xmlns:a16="http://schemas.microsoft.com/office/drawing/2014/main" id="{805429D5-8CD7-46CA-9955-9697F62437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168F327-283A-444D-B54A-75CEFBA698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C52FB6-F32A-4F00-B06D-10D7D3179FC3}" type="slidenum">
              <a:rPr lang="en-IN" smtClean="0"/>
              <a:t>‹#›</a:t>
            </a:fld>
            <a:endParaRPr lang="en-IN"/>
          </a:p>
        </p:txBody>
      </p:sp>
    </p:spTree>
    <p:extLst>
      <p:ext uri="{BB962C8B-B14F-4D97-AF65-F5344CB8AC3E}">
        <p14:creationId xmlns:p14="http://schemas.microsoft.com/office/powerpoint/2010/main" val="37657767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08922-50C9-487F-94E1-EB2D55F9959F}"/>
              </a:ext>
            </a:extLst>
          </p:cNvPr>
          <p:cNvSpPr>
            <a:spLocks noGrp="1"/>
          </p:cNvSpPr>
          <p:nvPr>
            <p:ph type="ctrTitle"/>
          </p:nvPr>
        </p:nvSpPr>
        <p:spPr/>
        <p:txBody>
          <a:bodyPr/>
          <a:lstStyle/>
          <a:p>
            <a:r>
              <a:rPr lang="en-IN" dirty="0"/>
              <a:t>hierarchical-clustering</a:t>
            </a:r>
          </a:p>
        </p:txBody>
      </p:sp>
      <p:sp>
        <p:nvSpPr>
          <p:cNvPr id="3" name="Subtitle 2">
            <a:extLst>
              <a:ext uri="{FF2B5EF4-FFF2-40B4-BE49-F238E27FC236}">
                <a16:creationId xmlns:a16="http://schemas.microsoft.com/office/drawing/2014/main" id="{22CC872C-6126-4CC0-BB87-DA08E6D512A9}"/>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2414873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8A1119E-CD4B-4B3A-AAB5-CCE4C516D2D7}"/>
              </a:ext>
            </a:extLst>
          </p:cNvPr>
          <p:cNvPicPr>
            <a:picLocks noChangeAspect="1"/>
          </p:cNvPicPr>
          <p:nvPr/>
        </p:nvPicPr>
        <p:blipFill>
          <a:blip r:embed="rId3"/>
          <a:stretch>
            <a:fillRect/>
          </a:stretch>
        </p:blipFill>
        <p:spPr>
          <a:xfrm>
            <a:off x="4490720" y="1319971"/>
            <a:ext cx="3210560" cy="4218058"/>
          </a:xfrm>
          <a:prstGeom prst="rect">
            <a:avLst/>
          </a:prstGeom>
        </p:spPr>
      </p:pic>
      <p:sp>
        <p:nvSpPr>
          <p:cNvPr id="8" name="TextBox 7">
            <a:extLst>
              <a:ext uri="{FF2B5EF4-FFF2-40B4-BE49-F238E27FC236}">
                <a16:creationId xmlns:a16="http://schemas.microsoft.com/office/drawing/2014/main" id="{FEC1944D-7219-4828-97DA-9E5F11BC8378}"/>
              </a:ext>
            </a:extLst>
          </p:cNvPr>
          <p:cNvSpPr txBox="1"/>
          <p:nvPr/>
        </p:nvSpPr>
        <p:spPr>
          <a:xfrm>
            <a:off x="5963920" y="773608"/>
            <a:ext cx="620554" cy="369332"/>
          </a:xfrm>
          <a:prstGeom prst="rect">
            <a:avLst/>
          </a:prstGeom>
          <a:noFill/>
        </p:spPr>
        <p:txBody>
          <a:bodyPr wrap="none" rtlCol="0">
            <a:spAutoFit/>
          </a:bodyPr>
          <a:lstStyle/>
          <a:p>
            <a:r>
              <a:rPr lang="en-IN" dirty="0"/>
              <a:t>Data</a:t>
            </a:r>
          </a:p>
        </p:txBody>
      </p:sp>
    </p:spTree>
    <p:extLst>
      <p:ext uri="{BB962C8B-B14F-4D97-AF65-F5344CB8AC3E}">
        <p14:creationId xmlns:p14="http://schemas.microsoft.com/office/powerpoint/2010/main" val="1212118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741B20F5-1A25-4DBF-93D5-555D5F24D74F}"/>
              </a:ext>
            </a:extLst>
          </p:cNvPr>
          <p:cNvGraphicFramePr>
            <a:graphicFrameLocks noGrp="1"/>
          </p:cNvGraphicFramePr>
          <p:nvPr>
            <p:extLst>
              <p:ext uri="{D42A27DB-BD31-4B8C-83A1-F6EECF244321}">
                <p14:modId xmlns:p14="http://schemas.microsoft.com/office/powerpoint/2010/main" val="3065625412"/>
              </p:ext>
            </p:extLst>
          </p:nvPr>
        </p:nvGraphicFramePr>
        <p:xfrm>
          <a:off x="3484879" y="1334214"/>
          <a:ext cx="5913121" cy="3450908"/>
        </p:xfrm>
        <a:graphic>
          <a:graphicData uri="http://schemas.openxmlformats.org/drawingml/2006/table">
            <a:tbl>
              <a:tblPr/>
              <a:tblGrid>
                <a:gridCol w="1349941">
                  <a:extLst>
                    <a:ext uri="{9D8B030D-6E8A-4147-A177-3AD203B41FA5}">
                      <a16:colId xmlns:a16="http://schemas.microsoft.com/office/drawing/2014/main" val="96185964"/>
                    </a:ext>
                  </a:extLst>
                </a:gridCol>
                <a:gridCol w="912636">
                  <a:extLst>
                    <a:ext uri="{9D8B030D-6E8A-4147-A177-3AD203B41FA5}">
                      <a16:colId xmlns:a16="http://schemas.microsoft.com/office/drawing/2014/main" val="1463001659"/>
                    </a:ext>
                  </a:extLst>
                </a:gridCol>
                <a:gridCol w="912636">
                  <a:extLst>
                    <a:ext uri="{9D8B030D-6E8A-4147-A177-3AD203B41FA5}">
                      <a16:colId xmlns:a16="http://schemas.microsoft.com/office/drawing/2014/main" val="411097495"/>
                    </a:ext>
                  </a:extLst>
                </a:gridCol>
                <a:gridCol w="912636">
                  <a:extLst>
                    <a:ext uri="{9D8B030D-6E8A-4147-A177-3AD203B41FA5}">
                      <a16:colId xmlns:a16="http://schemas.microsoft.com/office/drawing/2014/main" val="1800538190"/>
                    </a:ext>
                  </a:extLst>
                </a:gridCol>
                <a:gridCol w="912636">
                  <a:extLst>
                    <a:ext uri="{9D8B030D-6E8A-4147-A177-3AD203B41FA5}">
                      <a16:colId xmlns:a16="http://schemas.microsoft.com/office/drawing/2014/main" val="3531501363"/>
                    </a:ext>
                  </a:extLst>
                </a:gridCol>
                <a:gridCol w="912636">
                  <a:extLst>
                    <a:ext uri="{9D8B030D-6E8A-4147-A177-3AD203B41FA5}">
                      <a16:colId xmlns:a16="http://schemas.microsoft.com/office/drawing/2014/main" val="3294420862"/>
                    </a:ext>
                  </a:extLst>
                </a:gridCol>
              </a:tblGrid>
              <a:tr h="582478">
                <a:tc>
                  <a:txBody>
                    <a:bodyPr/>
                    <a:lstStyle/>
                    <a:p>
                      <a:pPr algn="r" fontAlgn="b"/>
                      <a:r>
                        <a:rPr lang="en-IN" sz="2000" b="1" i="0" u="none" strike="noStrike">
                          <a:solidFill>
                            <a:srgbClr val="000000"/>
                          </a:solidFill>
                          <a:effectLst/>
                          <a:latin typeface="Calibri" panose="020F0502020204030204" pitchFamily="34" charset="0"/>
                        </a:rPr>
                        <a:t>ID</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1</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46423204"/>
                  </a:ext>
                </a:extLst>
              </a:tr>
              <a:tr h="571488">
                <a:tc>
                  <a:txBody>
                    <a:bodyPr/>
                    <a:lstStyle/>
                    <a:p>
                      <a:pPr algn="r" fontAlgn="b"/>
                      <a:r>
                        <a:rPr lang="en-IN" sz="2000" b="1" i="0" u="none" strike="noStrike">
                          <a:solidFill>
                            <a:srgbClr val="000000"/>
                          </a:solidFill>
                          <a:effectLst/>
                          <a:latin typeface="Calibri" panose="020F0502020204030204" pitchFamily="34"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FF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00B050"/>
                          </a:solidFill>
                          <a:effectLst/>
                          <a:latin typeface="Calibri" panose="020F0502020204030204" pitchFamily="34" charset="0"/>
                        </a:rPr>
                        <a:t>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86389542"/>
                  </a:ext>
                </a:extLst>
              </a:tr>
              <a:tr h="571488">
                <a:tc>
                  <a:txBody>
                    <a:bodyPr/>
                    <a:lstStyle/>
                    <a:p>
                      <a:pPr algn="r" fontAlgn="b"/>
                      <a:r>
                        <a:rPr lang="en-IN" sz="2000" b="1" i="0" u="none" strike="noStrike">
                          <a:solidFill>
                            <a:srgbClr val="000000"/>
                          </a:solidFill>
                          <a:effectLst/>
                          <a:latin typeface="Calibri" panose="020F0502020204030204" pitchFamily="34" charset="0"/>
                        </a:rPr>
                        <a:t>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FF0000"/>
                          </a:solidFill>
                          <a:effectLst/>
                          <a:latin typeface="Calibri" panose="020F0502020204030204" pitchFamily="34" charset="0"/>
                        </a:rPr>
                        <a:t>3</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1976737"/>
                  </a:ext>
                </a:extLst>
              </a:tr>
              <a:tr h="571488">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00B050"/>
                          </a:solidFill>
                          <a:effectLst/>
                          <a:latin typeface="Calibri" panose="020F0502020204030204" pitchFamily="34" charset="0"/>
                        </a:rPr>
                        <a:t>18</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21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9275789"/>
                  </a:ext>
                </a:extLst>
              </a:tr>
              <a:tr h="571488">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24698853"/>
                  </a:ext>
                </a:extLst>
              </a:tr>
              <a:tr h="582478">
                <a:tc>
                  <a:txBody>
                    <a:bodyPr/>
                    <a:lstStyle/>
                    <a:p>
                      <a:pPr algn="r" fontAlgn="b"/>
                      <a:r>
                        <a:rPr lang="en-IN" sz="2000" b="1" i="0" u="none" strike="noStrike">
                          <a:solidFill>
                            <a:srgbClr val="000000"/>
                          </a:solidFill>
                          <a:effectLst/>
                          <a:latin typeface="Calibri" panose="020F0502020204030204" pitchFamily="34"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69606738"/>
                  </a:ext>
                </a:extLst>
              </a:tr>
            </a:tbl>
          </a:graphicData>
        </a:graphic>
      </p:graphicFrame>
      <p:sp>
        <p:nvSpPr>
          <p:cNvPr id="9" name="TextBox 8">
            <a:extLst>
              <a:ext uri="{FF2B5EF4-FFF2-40B4-BE49-F238E27FC236}">
                <a16:creationId xmlns:a16="http://schemas.microsoft.com/office/drawing/2014/main" id="{EEEFDC09-B103-406E-9690-AAA1F79EA171}"/>
              </a:ext>
            </a:extLst>
          </p:cNvPr>
          <p:cNvSpPr txBox="1"/>
          <p:nvPr/>
        </p:nvSpPr>
        <p:spPr>
          <a:xfrm>
            <a:off x="3302000" y="821154"/>
            <a:ext cx="6096000" cy="369332"/>
          </a:xfrm>
          <a:prstGeom prst="rect">
            <a:avLst/>
          </a:prstGeom>
          <a:noFill/>
        </p:spPr>
        <p:txBody>
          <a:bodyPr wrap="square">
            <a:spAutoFit/>
          </a:bodyPr>
          <a:lstStyle/>
          <a:p>
            <a:r>
              <a:rPr lang="en-IN" b="0" i="0" dirty="0">
                <a:solidFill>
                  <a:srgbClr val="595858"/>
                </a:solidFill>
                <a:effectLst/>
                <a:latin typeface="roboto" panose="02000000000000000000" pitchFamily="2" charset="0"/>
              </a:rPr>
              <a:t>√(10-28)^2 = √324 = </a:t>
            </a:r>
            <a:r>
              <a:rPr lang="en-IN" b="1" i="0" dirty="0">
                <a:solidFill>
                  <a:srgbClr val="00B050"/>
                </a:solidFill>
                <a:effectLst/>
                <a:latin typeface="roboto" panose="02000000000000000000" pitchFamily="2" charset="0"/>
              </a:rPr>
              <a:t>18</a:t>
            </a:r>
            <a:endParaRPr lang="en-IN" b="1" dirty="0">
              <a:solidFill>
                <a:srgbClr val="00B050"/>
              </a:solidFill>
            </a:endParaRPr>
          </a:p>
        </p:txBody>
      </p:sp>
      <p:sp>
        <p:nvSpPr>
          <p:cNvPr id="10" name="TextBox 9">
            <a:extLst>
              <a:ext uri="{FF2B5EF4-FFF2-40B4-BE49-F238E27FC236}">
                <a16:creationId xmlns:a16="http://schemas.microsoft.com/office/drawing/2014/main" id="{FAC15D0D-2E80-4F27-BF5A-547A8F13C8A8}"/>
              </a:ext>
            </a:extLst>
          </p:cNvPr>
          <p:cNvSpPr txBox="1"/>
          <p:nvPr/>
        </p:nvSpPr>
        <p:spPr>
          <a:xfrm>
            <a:off x="3302000" y="308094"/>
            <a:ext cx="6096000" cy="369332"/>
          </a:xfrm>
          <a:prstGeom prst="rect">
            <a:avLst/>
          </a:prstGeom>
          <a:noFill/>
        </p:spPr>
        <p:txBody>
          <a:bodyPr wrap="square">
            <a:spAutoFit/>
          </a:bodyPr>
          <a:lstStyle/>
          <a:p>
            <a:r>
              <a:rPr lang="en-IN" b="0" i="0" dirty="0">
                <a:solidFill>
                  <a:srgbClr val="595858"/>
                </a:solidFill>
                <a:effectLst/>
                <a:latin typeface="roboto" panose="02000000000000000000" pitchFamily="2" charset="0"/>
              </a:rPr>
              <a:t>√(10-7)^2 = √9 = </a:t>
            </a:r>
            <a:r>
              <a:rPr lang="en-IN" b="1" i="0" dirty="0">
                <a:solidFill>
                  <a:srgbClr val="FF0000"/>
                </a:solidFill>
                <a:effectLst/>
                <a:latin typeface="roboto" panose="02000000000000000000" pitchFamily="2" charset="0"/>
              </a:rPr>
              <a:t>3</a:t>
            </a:r>
            <a:endParaRPr lang="en-IN" b="1" dirty="0">
              <a:solidFill>
                <a:srgbClr val="FF0000"/>
              </a:solidFill>
            </a:endParaRPr>
          </a:p>
        </p:txBody>
      </p:sp>
      <p:pic>
        <p:nvPicPr>
          <p:cNvPr id="11" name="Picture 10">
            <a:extLst>
              <a:ext uri="{FF2B5EF4-FFF2-40B4-BE49-F238E27FC236}">
                <a16:creationId xmlns:a16="http://schemas.microsoft.com/office/drawing/2014/main" id="{B37047C7-2F62-44B9-889B-6B371089C793}"/>
              </a:ext>
            </a:extLst>
          </p:cNvPr>
          <p:cNvPicPr>
            <a:picLocks noChangeAspect="1"/>
          </p:cNvPicPr>
          <p:nvPr/>
        </p:nvPicPr>
        <p:blipFill>
          <a:blip r:embed="rId2"/>
          <a:stretch>
            <a:fillRect/>
          </a:stretch>
        </p:blipFill>
        <p:spPr>
          <a:xfrm>
            <a:off x="995165" y="1338728"/>
            <a:ext cx="1342150" cy="1763326"/>
          </a:xfrm>
          <a:prstGeom prst="rect">
            <a:avLst/>
          </a:prstGeom>
        </p:spPr>
      </p:pic>
      <p:sp>
        <p:nvSpPr>
          <p:cNvPr id="12" name="TextBox 11">
            <a:extLst>
              <a:ext uri="{FF2B5EF4-FFF2-40B4-BE49-F238E27FC236}">
                <a16:creationId xmlns:a16="http://schemas.microsoft.com/office/drawing/2014/main" id="{C59F1488-3B71-4DDA-9D14-8738D3297DB2}"/>
              </a:ext>
            </a:extLst>
          </p:cNvPr>
          <p:cNvSpPr txBox="1"/>
          <p:nvPr/>
        </p:nvSpPr>
        <p:spPr>
          <a:xfrm>
            <a:off x="1249680" y="956488"/>
            <a:ext cx="620554" cy="369332"/>
          </a:xfrm>
          <a:prstGeom prst="rect">
            <a:avLst/>
          </a:prstGeom>
          <a:noFill/>
        </p:spPr>
        <p:txBody>
          <a:bodyPr wrap="none" rtlCol="0">
            <a:spAutoFit/>
          </a:bodyPr>
          <a:lstStyle/>
          <a:p>
            <a:r>
              <a:rPr lang="en-IN" dirty="0"/>
              <a:t>Data</a:t>
            </a:r>
          </a:p>
        </p:txBody>
      </p:sp>
      <p:sp>
        <p:nvSpPr>
          <p:cNvPr id="13" name="TextBox 12">
            <a:extLst>
              <a:ext uri="{FF2B5EF4-FFF2-40B4-BE49-F238E27FC236}">
                <a16:creationId xmlns:a16="http://schemas.microsoft.com/office/drawing/2014/main" id="{1D809AC5-AA8F-468A-BCDA-3303D9CA8EC6}"/>
              </a:ext>
            </a:extLst>
          </p:cNvPr>
          <p:cNvSpPr txBox="1"/>
          <p:nvPr/>
        </p:nvSpPr>
        <p:spPr>
          <a:xfrm>
            <a:off x="6350000" y="893018"/>
            <a:ext cx="1735668" cy="369332"/>
          </a:xfrm>
          <a:prstGeom prst="rect">
            <a:avLst/>
          </a:prstGeom>
          <a:noFill/>
        </p:spPr>
        <p:txBody>
          <a:bodyPr wrap="none" rtlCol="0">
            <a:spAutoFit/>
          </a:bodyPr>
          <a:lstStyle/>
          <a:p>
            <a:r>
              <a:rPr lang="en-IN" dirty="0"/>
              <a:t>Proximity Matrix</a:t>
            </a:r>
          </a:p>
        </p:txBody>
      </p:sp>
    </p:spTree>
    <p:extLst>
      <p:ext uri="{BB962C8B-B14F-4D97-AF65-F5344CB8AC3E}">
        <p14:creationId xmlns:p14="http://schemas.microsoft.com/office/powerpoint/2010/main" val="2158551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proximity matrix">
            <a:extLst>
              <a:ext uri="{FF2B5EF4-FFF2-40B4-BE49-F238E27FC236}">
                <a16:creationId xmlns:a16="http://schemas.microsoft.com/office/drawing/2014/main" id="{B25736C8-FDAA-4DD6-BA2F-E773BAC10F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2330" y="1147445"/>
            <a:ext cx="3009900" cy="4381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1ABC34B-1E69-4560-B143-02DEF8F0C909}"/>
              </a:ext>
            </a:extLst>
          </p:cNvPr>
          <p:cNvSpPr txBox="1"/>
          <p:nvPr/>
        </p:nvSpPr>
        <p:spPr>
          <a:xfrm>
            <a:off x="698320" y="416560"/>
            <a:ext cx="5408019" cy="369332"/>
          </a:xfrm>
          <a:prstGeom prst="rect">
            <a:avLst/>
          </a:prstGeom>
          <a:noFill/>
        </p:spPr>
        <p:txBody>
          <a:bodyPr wrap="none" rtlCol="0">
            <a:spAutoFit/>
          </a:bodyPr>
          <a:lstStyle/>
          <a:p>
            <a:r>
              <a:rPr lang="en-IN" dirty="0"/>
              <a:t>Step 1: Assign all the data points to an individual cluster</a:t>
            </a:r>
          </a:p>
        </p:txBody>
      </p:sp>
      <p:pic>
        <p:nvPicPr>
          <p:cNvPr id="6" name="Picture 5">
            <a:extLst>
              <a:ext uri="{FF2B5EF4-FFF2-40B4-BE49-F238E27FC236}">
                <a16:creationId xmlns:a16="http://schemas.microsoft.com/office/drawing/2014/main" id="{2AF9A276-9910-4154-B833-4F6201E81F87}"/>
              </a:ext>
            </a:extLst>
          </p:cNvPr>
          <p:cNvPicPr>
            <a:picLocks noChangeAspect="1"/>
          </p:cNvPicPr>
          <p:nvPr/>
        </p:nvPicPr>
        <p:blipFill>
          <a:blip r:embed="rId3"/>
          <a:stretch>
            <a:fillRect/>
          </a:stretch>
        </p:blipFill>
        <p:spPr>
          <a:xfrm>
            <a:off x="793056" y="881528"/>
            <a:ext cx="1342150" cy="1763326"/>
          </a:xfrm>
          <a:prstGeom prst="rect">
            <a:avLst/>
          </a:prstGeom>
        </p:spPr>
      </p:pic>
      <p:sp>
        <p:nvSpPr>
          <p:cNvPr id="5" name="TextBox 4">
            <a:extLst>
              <a:ext uri="{FF2B5EF4-FFF2-40B4-BE49-F238E27FC236}">
                <a16:creationId xmlns:a16="http://schemas.microsoft.com/office/drawing/2014/main" id="{2A7E6059-BE1C-4271-9CEE-EDF04CE2C2E1}"/>
              </a:ext>
            </a:extLst>
          </p:cNvPr>
          <p:cNvSpPr txBox="1"/>
          <p:nvPr/>
        </p:nvSpPr>
        <p:spPr>
          <a:xfrm>
            <a:off x="3370242" y="782003"/>
            <a:ext cx="4309112" cy="369332"/>
          </a:xfrm>
          <a:prstGeom prst="rect">
            <a:avLst/>
          </a:prstGeom>
          <a:noFill/>
        </p:spPr>
        <p:txBody>
          <a:bodyPr wrap="square" rtlCol="0">
            <a:spAutoFit/>
          </a:bodyPr>
          <a:lstStyle/>
          <a:p>
            <a:r>
              <a:rPr lang="en-IN" dirty="0"/>
              <a:t>10         7          28         20       35 </a:t>
            </a:r>
          </a:p>
        </p:txBody>
      </p:sp>
      <p:sp>
        <p:nvSpPr>
          <p:cNvPr id="8" name="TextBox 7">
            <a:extLst>
              <a:ext uri="{FF2B5EF4-FFF2-40B4-BE49-F238E27FC236}">
                <a16:creationId xmlns:a16="http://schemas.microsoft.com/office/drawing/2014/main" id="{68224E81-6C57-4F29-B01F-E3833E0EE781}"/>
              </a:ext>
            </a:extLst>
          </p:cNvPr>
          <p:cNvSpPr txBox="1"/>
          <p:nvPr/>
        </p:nvSpPr>
        <p:spPr>
          <a:xfrm>
            <a:off x="698320" y="3322320"/>
            <a:ext cx="7599324" cy="369332"/>
          </a:xfrm>
          <a:prstGeom prst="rect">
            <a:avLst/>
          </a:prstGeom>
          <a:noFill/>
        </p:spPr>
        <p:txBody>
          <a:bodyPr wrap="none" rtlCol="0">
            <a:spAutoFit/>
          </a:bodyPr>
          <a:lstStyle/>
          <a:p>
            <a:r>
              <a:rPr lang="en-IN" dirty="0"/>
              <a:t>Step 1: Check the smallest distance proximity matrix and merge the data points </a:t>
            </a:r>
          </a:p>
        </p:txBody>
      </p:sp>
      <p:graphicFrame>
        <p:nvGraphicFramePr>
          <p:cNvPr id="9" name="Table 8">
            <a:extLst>
              <a:ext uri="{FF2B5EF4-FFF2-40B4-BE49-F238E27FC236}">
                <a16:creationId xmlns:a16="http://schemas.microsoft.com/office/drawing/2014/main" id="{9972A7B4-BA87-4B33-B66D-0206BE68C416}"/>
              </a:ext>
            </a:extLst>
          </p:cNvPr>
          <p:cNvGraphicFramePr>
            <a:graphicFrameLocks noGrp="1"/>
          </p:cNvGraphicFramePr>
          <p:nvPr>
            <p:extLst>
              <p:ext uri="{D42A27DB-BD31-4B8C-83A1-F6EECF244321}">
                <p14:modId xmlns:p14="http://schemas.microsoft.com/office/powerpoint/2010/main" val="2142127246"/>
              </p:ext>
            </p:extLst>
          </p:nvPr>
        </p:nvGraphicFramePr>
        <p:xfrm>
          <a:off x="3402329" y="3837225"/>
          <a:ext cx="4551679" cy="2225040"/>
        </p:xfrm>
        <a:graphic>
          <a:graphicData uri="http://schemas.openxmlformats.org/drawingml/2006/table">
            <a:tbl>
              <a:tblPr/>
              <a:tblGrid>
                <a:gridCol w="1039129">
                  <a:extLst>
                    <a:ext uri="{9D8B030D-6E8A-4147-A177-3AD203B41FA5}">
                      <a16:colId xmlns:a16="http://schemas.microsoft.com/office/drawing/2014/main" val="96185964"/>
                    </a:ext>
                  </a:extLst>
                </a:gridCol>
                <a:gridCol w="702510">
                  <a:extLst>
                    <a:ext uri="{9D8B030D-6E8A-4147-A177-3AD203B41FA5}">
                      <a16:colId xmlns:a16="http://schemas.microsoft.com/office/drawing/2014/main" val="1463001659"/>
                    </a:ext>
                  </a:extLst>
                </a:gridCol>
                <a:gridCol w="702510">
                  <a:extLst>
                    <a:ext uri="{9D8B030D-6E8A-4147-A177-3AD203B41FA5}">
                      <a16:colId xmlns:a16="http://schemas.microsoft.com/office/drawing/2014/main" val="411097495"/>
                    </a:ext>
                  </a:extLst>
                </a:gridCol>
                <a:gridCol w="702510">
                  <a:extLst>
                    <a:ext uri="{9D8B030D-6E8A-4147-A177-3AD203B41FA5}">
                      <a16:colId xmlns:a16="http://schemas.microsoft.com/office/drawing/2014/main" val="1800538190"/>
                    </a:ext>
                  </a:extLst>
                </a:gridCol>
                <a:gridCol w="702510">
                  <a:extLst>
                    <a:ext uri="{9D8B030D-6E8A-4147-A177-3AD203B41FA5}">
                      <a16:colId xmlns:a16="http://schemas.microsoft.com/office/drawing/2014/main" val="3531501363"/>
                    </a:ext>
                  </a:extLst>
                </a:gridCol>
                <a:gridCol w="702510">
                  <a:extLst>
                    <a:ext uri="{9D8B030D-6E8A-4147-A177-3AD203B41FA5}">
                      <a16:colId xmlns:a16="http://schemas.microsoft.com/office/drawing/2014/main" val="3294420862"/>
                    </a:ext>
                  </a:extLst>
                </a:gridCol>
              </a:tblGrid>
              <a:tr h="375564">
                <a:tc>
                  <a:txBody>
                    <a:bodyPr/>
                    <a:lstStyle/>
                    <a:p>
                      <a:pPr algn="r" fontAlgn="b"/>
                      <a:r>
                        <a:rPr lang="en-IN" sz="2000" b="1" i="0" u="none" strike="noStrike">
                          <a:solidFill>
                            <a:srgbClr val="000000"/>
                          </a:solidFill>
                          <a:effectLst/>
                          <a:latin typeface="Calibri" panose="020F0502020204030204" pitchFamily="34" charset="0"/>
                        </a:rPr>
                        <a:t>ID</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1</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46423204"/>
                  </a:ext>
                </a:extLst>
              </a:tr>
              <a:tr h="368478">
                <a:tc>
                  <a:txBody>
                    <a:bodyPr/>
                    <a:lstStyle/>
                    <a:p>
                      <a:pPr algn="r" fontAlgn="b"/>
                      <a:r>
                        <a:rPr lang="en-IN" sz="2000" b="1" i="0" u="none" strike="noStrike">
                          <a:solidFill>
                            <a:srgbClr val="000000"/>
                          </a:solidFill>
                          <a:effectLst/>
                          <a:latin typeface="Calibri" panose="020F0502020204030204" pitchFamily="34"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0070C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chemeClr val="tx1"/>
                          </a:solidFill>
                          <a:effectLst/>
                          <a:latin typeface="Calibri" panose="020F0502020204030204" pitchFamily="34" charset="0"/>
                        </a:rPr>
                        <a:t>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86389542"/>
                  </a:ext>
                </a:extLst>
              </a:tr>
              <a:tr h="368478">
                <a:tc>
                  <a:txBody>
                    <a:bodyPr/>
                    <a:lstStyle/>
                    <a:p>
                      <a:pPr algn="r" fontAlgn="b"/>
                      <a:r>
                        <a:rPr lang="en-IN" sz="2000" b="1" i="0" u="none" strike="noStrike">
                          <a:solidFill>
                            <a:srgbClr val="000000"/>
                          </a:solidFill>
                          <a:effectLst/>
                          <a:latin typeface="Calibri" panose="020F0502020204030204" pitchFamily="34" charset="0"/>
                        </a:rPr>
                        <a:t>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0070C0"/>
                          </a:solidFill>
                          <a:effectLst/>
                          <a:latin typeface="Calibri" panose="020F0502020204030204" pitchFamily="34" charset="0"/>
                        </a:rPr>
                        <a:t>3</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1976737"/>
                  </a:ext>
                </a:extLst>
              </a:tr>
              <a:tr h="368478">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chemeClr val="tx1"/>
                          </a:solidFill>
                          <a:effectLst/>
                          <a:latin typeface="Calibri" panose="020F0502020204030204" pitchFamily="34" charset="0"/>
                        </a:rPr>
                        <a:t>18</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21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9275789"/>
                  </a:ext>
                </a:extLst>
              </a:tr>
              <a:tr h="368478">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24698853"/>
                  </a:ext>
                </a:extLst>
              </a:tr>
              <a:tr h="375564">
                <a:tc>
                  <a:txBody>
                    <a:bodyPr/>
                    <a:lstStyle/>
                    <a:p>
                      <a:pPr algn="r" fontAlgn="b"/>
                      <a:r>
                        <a:rPr lang="en-IN" sz="2000" b="1" i="0" u="none" strike="noStrike">
                          <a:solidFill>
                            <a:srgbClr val="000000"/>
                          </a:solidFill>
                          <a:effectLst/>
                          <a:latin typeface="Calibri" panose="020F0502020204030204" pitchFamily="34"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69606738"/>
                  </a:ext>
                </a:extLst>
              </a:tr>
            </a:tbl>
          </a:graphicData>
        </a:graphic>
      </p:graphicFrame>
      <p:sp>
        <p:nvSpPr>
          <p:cNvPr id="10" name="TextBox 9">
            <a:extLst>
              <a:ext uri="{FF2B5EF4-FFF2-40B4-BE49-F238E27FC236}">
                <a16:creationId xmlns:a16="http://schemas.microsoft.com/office/drawing/2014/main" id="{16372C34-9F13-4613-A84A-3C9196749B44}"/>
              </a:ext>
            </a:extLst>
          </p:cNvPr>
          <p:cNvSpPr txBox="1"/>
          <p:nvPr/>
        </p:nvSpPr>
        <p:spPr>
          <a:xfrm>
            <a:off x="77766" y="782003"/>
            <a:ext cx="620554" cy="369332"/>
          </a:xfrm>
          <a:prstGeom prst="rect">
            <a:avLst/>
          </a:prstGeom>
          <a:noFill/>
        </p:spPr>
        <p:txBody>
          <a:bodyPr wrap="none" rtlCol="0">
            <a:spAutoFit/>
          </a:bodyPr>
          <a:lstStyle/>
          <a:p>
            <a:r>
              <a:rPr lang="en-IN" dirty="0"/>
              <a:t>Data</a:t>
            </a:r>
          </a:p>
        </p:txBody>
      </p:sp>
      <p:sp>
        <p:nvSpPr>
          <p:cNvPr id="12" name="TextBox 11">
            <a:extLst>
              <a:ext uri="{FF2B5EF4-FFF2-40B4-BE49-F238E27FC236}">
                <a16:creationId xmlns:a16="http://schemas.microsoft.com/office/drawing/2014/main" id="{4CA426B9-E4F6-4202-9CB4-EAE2E391B3CE}"/>
              </a:ext>
            </a:extLst>
          </p:cNvPr>
          <p:cNvSpPr txBox="1"/>
          <p:nvPr/>
        </p:nvSpPr>
        <p:spPr>
          <a:xfrm>
            <a:off x="1544320" y="3855153"/>
            <a:ext cx="1735668" cy="369332"/>
          </a:xfrm>
          <a:prstGeom prst="rect">
            <a:avLst/>
          </a:prstGeom>
          <a:noFill/>
        </p:spPr>
        <p:txBody>
          <a:bodyPr wrap="none" rtlCol="0">
            <a:spAutoFit/>
          </a:bodyPr>
          <a:lstStyle/>
          <a:p>
            <a:r>
              <a:rPr lang="en-IN" dirty="0"/>
              <a:t>Proximity Matrix</a:t>
            </a:r>
          </a:p>
        </p:txBody>
      </p:sp>
    </p:spTree>
    <p:extLst>
      <p:ext uri="{BB962C8B-B14F-4D97-AF65-F5344CB8AC3E}">
        <p14:creationId xmlns:p14="http://schemas.microsoft.com/office/powerpoint/2010/main" val="3569267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AF9A276-9910-4154-B833-4F6201E81F87}"/>
              </a:ext>
            </a:extLst>
          </p:cNvPr>
          <p:cNvPicPr>
            <a:picLocks noChangeAspect="1"/>
          </p:cNvPicPr>
          <p:nvPr/>
        </p:nvPicPr>
        <p:blipFill>
          <a:blip r:embed="rId2"/>
          <a:stretch>
            <a:fillRect/>
          </a:stretch>
        </p:blipFill>
        <p:spPr>
          <a:xfrm>
            <a:off x="793056" y="85006"/>
            <a:ext cx="1342150" cy="1763326"/>
          </a:xfrm>
          <a:prstGeom prst="rect">
            <a:avLst/>
          </a:prstGeom>
        </p:spPr>
      </p:pic>
      <p:grpSp>
        <p:nvGrpSpPr>
          <p:cNvPr id="7" name="Group 6">
            <a:extLst>
              <a:ext uri="{FF2B5EF4-FFF2-40B4-BE49-F238E27FC236}">
                <a16:creationId xmlns:a16="http://schemas.microsoft.com/office/drawing/2014/main" id="{3B6B3C62-7685-4C78-A5D0-0A234735C032}"/>
              </a:ext>
            </a:extLst>
          </p:cNvPr>
          <p:cNvGrpSpPr/>
          <p:nvPr/>
        </p:nvGrpSpPr>
        <p:grpSpPr>
          <a:xfrm>
            <a:off x="2506642" y="112277"/>
            <a:ext cx="4309112" cy="854392"/>
            <a:chOff x="3370242" y="782003"/>
            <a:chExt cx="4309112" cy="854392"/>
          </a:xfrm>
        </p:grpSpPr>
        <p:pic>
          <p:nvPicPr>
            <p:cNvPr id="3074" name="Picture 2" descr="proximity matrix">
              <a:extLst>
                <a:ext uri="{FF2B5EF4-FFF2-40B4-BE49-F238E27FC236}">
                  <a16:creationId xmlns:a16="http://schemas.microsoft.com/office/drawing/2014/main" id="{B25736C8-FDAA-4DD6-BA2F-E773BAC10F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2330" y="1198245"/>
              <a:ext cx="3009900" cy="4381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A7E6059-BE1C-4271-9CEE-EDF04CE2C2E1}"/>
                </a:ext>
              </a:extLst>
            </p:cNvPr>
            <p:cNvSpPr txBox="1"/>
            <p:nvPr/>
          </p:nvSpPr>
          <p:spPr>
            <a:xfrm>
              <a:off x="3370242" y="782003"/>
              <a:ext cx="4309112" cy="369332"/>
            </a:xfrm>
            <a:prstGeom prst="rect">
              <a:avLst/>
            </a:prstGeom>
            <a:noFill/>
          </p:spPr>
          <p:txBody>
            <a:bodyPr wrap="square" rtlCol="0">
              <a:spAutoFit/>
            </a:bodyPr>
            <a:lstStyle/>
            <a:p>
              <a:r>
                <a:rPr lang="en-IN" dirty="0"/>
                <a:t>10         7          28         20       35 </a:t>
              </a:r>
            </a:p>
          </p:txBody>
        </p:sp>
      </p:grpSp>
      <p:sp>
        <p:nvSpPr>
          <p:cNvPr id="8" name="TextBox 7">
            <a:extLst>
              <a:ext uri="{FF2B5EF4-FFF2-40B4-BE49-F238E27FC236}">
                <a16:creationId xmlns:a16="http://schemas.microsoft.com/office/drawing/2014/main" id="{68224E81-6C57-4F29-B01F-E3833E0EE781}"/>
              </a:ext>
            </a:extLst>
          </p:cNvPr>
          <p:cNvSpPr txBox="1"/>
          <p:nvPr/>
        </p:nvSpPr>
        <p:spPr>
          <a:xfrm>
            <a:off x="718640" y="1974751"/>
            <a:ext cx="9182770" cy="923330"/>
          </a:xfrm>
          <a:prstGeom prst="rect">
            <a:avLst/>
          </a:prstGeom>
          <a:noFill/>
        </p:spPr>
        <p:txBody>
          <a:bodyPr wrap="none" rtlCol="0">
            <a:spAutoFit/>
          </a:bodyPr>
          <a:lstStyle/>
          <a:p>
            <a:r>
              <a:rPr lang="en-IN" dirty="0"/>
              <a:t>Step 2: Check the smallest distance proximity matrix and merge the data points.</a:t>
            </a:r>
          </a:p>
          <a:p>
            <a:r>
              <a:rPr lang="en-US" dirty="0"/>
              <a:t>We have taken the </a:t>
            </a:r>
            <a:r>
              <a:rPr lang="en-US" b="1" dirty="0"/>
              <a:t>maximum</a:t>
            </a:r>
            <a:r>
              <a:rPr lang="en-US" dirty="0"/>
              <a:t> of the two marks (7, </a:t>
            </a:r>
            <a:r>
              <a:rPr lang="en-US" dirty="0">
                <a:solidFill>
                  <a:srgbClr val="FF0000"/>
                </a:solidFill>
              </a:rPr>
              <a:t>10</a:t>
            </a:r>
            <a:r>
              <a:rPr lang="en-US" dirty="0"/>
              <a:t>) (1,2) to replace the marks for this cluster.</a:t>
            </a:r>
            <a:r>
              <a:rPr lang="en-IN" dirty="0"/>
              <a:t>  </a:t>
            </a:r>
          </a:p>
          <a:p>
            <a:r>
              <a:rPr lang="en-IN" dirty="0"/>
              <a:t>You can also take </a:t>
            </a:r>
            <a:r>
              <a:rPr lang="en-IN" b="1" dirty="0"/>
              <a:t>minimum, average.</a:t>
            </a:r>
          </a:p>
        </p:txBody>
      </p:sp>
      <p:graphicFrame>
        <p:nvGraphicFramePr>
          <p:cNvPr id="9" name="Table 8">
            <a:extLst>
              <a:ext uri="{FF2B5EF4-FFF2-40B4-BE49-F238E27FC236}">
                <a16:creationId xmlns:a16="http://schemas.microsoft.com/office/drawing/2014/main" id="{9972A7B4-BA87-4B33-B66D-0206BE68C416}"/>
              </a:ext>
            </a:extLst>
          </p:cNvPr>
          <p:cNvGraphicFramePr>
            <a:graphicFrameLocks noGrp="1"/>
          </p:cNvGraphicFramePr>
          <p:nvPr>
            <p:extLst>
              <p:ext uri="{D42A27DB-BD31-4B8C-83A1-F6EECF244321}">
                <p14:modId xmlns:p14="http://schemas.microsoft.com/office/powerpoint/2010/main" val="3398498328"/>
              </p:ext>
            </p:extLst>
          </p:nvPr>
        </p:nvGraphicFramePr>
        <p:xfrm>
          <a:off x="718640" y="3137807"/>
          <a:ext cx="4551679" cy="2225040"/>
        </p:xfrm>
        <a:graphic>
          <a:graphicData uri="http://schemas.openxmlformats.org/drawingml/2006/table">
            <a:tbl>
              <a:tblPr/>
              <a:tblGrid>
                <a:gridCol w="1039129">
                  <a:extLst>
                    <a:ext uri="{9D8B030D-6E8A-4147-A177-3AD203B41FA5}">
                      <a16:colId xmlns:a16="http://schemas.microsoft.com/office/drawing/2014/main" val="96185964"/>
                    </a:ext>
                  </a:extLst>
                </a:gridCol>
                <a:gridCol w="702510">
                  <a:extLst>
                    <a:ext uri="{9D8B030D-6E8A-4147-A177-3AD203B41FA5}">
                      <a16:colId xmlns:a16="http://schemas.microsoft.com/office/drawing/2014/main" val="1463001659"/>
                    </a:ext>
                  </a:extLst>
                </a:gridCol>
                <a:gridCol w="702510">
                  <a:extLst>
                    <a:ext uri="{9D8B030D-6E8A-4147-A177-3AD203B41FA5}">
                      <a16:colId xmlns:a16="http://schemas.microsoft.com/office/drawing/2014/main" val="411097495"/>
                    </a:ext>
                  </a:extLst>
                </a:gridCol>
                <a:gridCol w="702510">
                  <a:extLst>
                    <a:ext uri="{9D8B030D-6E8A-4147-A177-3AD203B41FA5}">
                      <a16:colId xmlns:a16="http://schemas.microsoft.com/office/drawing/2014/main" val="1800538190"/>
                    </a:ext>
                  </a:extLst>
                </a:gridCol>
                <a:gridCol w="702510">
                  <a:extLst>
                    <a:ext uri="{9D8B030D-6E8A-4147-A177-3AD203B41FA5}">
                      <a16:colId xmlns:a16="http://schemas.microsoft.com/office/drawing/2014/main" val="3531501363"/>
                    </a:ext>
                  </a:extLst>
                </a:gridCol>
                <a:gridCol w="702510">
                  <a:extLst>
                    <a:ext uri="{9D8B030D-6E8A-4147-A177-3AD203B41FA5}">
                      <a16:colId xmlns:a16="http://schemas.microsoft.com/office/drawing/2014/main" val="3294420862"/>
                    </a:ext>
                  </a:extLst>
                </a:gridCol>
              </a:tblGrid>
              <a:tr h="375564">
                <a:tc>
                  <a:txBody>
                    <a:bodyPr/>
                    <a:lstStyle/>
                    <a:p>
                      <a:pPr algn="r" fontAlgn="b"/>
                      <a:r>
                        <a:rPr lang="en-IN" sz="2000" b="1" i="0" u="none" strike="noStrike">
                          <a:solidFill>
                            <a:srgbClr val="000000"/>
                          </a:solidFill>
                          <a:effectLst/>
                          <a:latin typeface="Calibri" panose="020F0502020204030204" pitchFamily="34" charset="0"/>
                        </a:rPr>
                        <a:t>ID</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1</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46423204"/>
                  </a:ext>
                </a:extLst>
              </a:tr>
              <a:tr h="368478">
                <a:tc>
                  <a:txBody>
                    <a:bodyPr/>
                    <a:lstStyle/>
                    <a:p>
                      <a:pPr algn="r" fontAlgn="b"/>
                      <a:r>
                        <a:rPr lang="en-IN" sz="2000" b="1" i="0" u="none" strike="noStrike">
                          <a:solidFill>
                            <a:srgbClr val="000000"/>
                          </a:solidFill>
                          <a:effectLst/>
                          <a:latin typeface="Calibri" panose="020F0502020204030204" pitchFamily="34"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0070C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chemeClr val="tx1"/>
                          </a:solidFill>
                          <a:effectLst/>
                          <a:latin typeface="Calibri" panose="020F0502020204030204" pitchFamily="34" charset="0"/>
                        </a:rPr>
                        <a:t>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86389542"/>
                  </a:ext>
                </a:extLst>
              </a:tr>
              <a:tr h="368478">
                <a:tc>
                  <a:txBody>
                    <a:bodyPr/>
                    <a:lstStyle/>
                    <a:p>
                      <a:pPr algn="r" fontAlgn="b"/>
                      <a:r>
                        <a:rPr lang="en-IN" sz="2000" b="1" i="0" u="none" strike="noStrike">
                          <a:solidFill>
                            <a:srgbClr val="000000"/>
                          </a:solidFill>
                          <a:effectLst/>
                          <a:latin typeface="Calibri" panose="020F0502020204030204" pitchFamily="34" charset="0"/>
                        </a:rPr>
                        <a:t>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0070C0"/>
                          </a:solidFill>
                          <a:effectLst/>
                          <a:latin typeface="Calibri" panose="020F0502020204030204" pitchFamily="34" charset="0"/>
                        </a:rPr>
                        <a:t>3</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1976737"/>
                  </a:ext>
                </a:extLst>
              </a:tr>
              <a:tr h="368478">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chemeClr val="tx1"/>
                          </a:solidFill>
                          <a:effectLst/>
                          <a:latin typeface="Calibri" panose="020F0502020204030204" pitchFamily="34" charset="0"/>
                        </a:rPr>
                        <a:t>18</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21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9275789"/>
                  </a:ext>
                </a:extLst>
              </a:tr>
              <a:tr h="368478">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24698853"/>
                  </a:ext>
                </a:extLst>
              </a:tr>
              <a:tr h="375564">
                <a:tc>
                  <a:txBody>
                    <a:bodyPr/>
                    <a:lstStyle/>
                    <a:p>
                      <a:pPr algn="r" fontAlgn="b"/>
                      <a:r>
                        <a:rPr lang="en-IN" sz="2000" b="1" i="0" u="none" strike="noStrike">
                          <a:solidFill>
                            <a:srgbClr val="000000"/>
                          </a:solidFill>
                          <a:effectLst/>
                          <a:latin typeface="Calibri" panose="020F0502020204030204" pitchFamily="34"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69606738"/>
                  </a:ext>
                </a:extLst>
              </a:tr>
            </a:tbl>
          </a:graphicData>
        </a:graphic>
      </p:graphicFrame>
      <p:pic>
        <p:nvPicPr>
          <p:cNvPr id="3076" name="Picture 4" descr="step 2 : hierarchical">
            <a:extLst>
              <a:ext uri="{FF2B5EF4-FFF2-40B4-BE49-F238E27FC236}">
                <a16:creationId xmlns:a16="http://schemas.microsoft.com/office/drawing/2014/main" id="{164A99B7-C327-420D-BA8E-0E4CA077A7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07208" y="3137807"/>
            <a:ext cx="3028950" cy="11906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Table 10">
            <a:extLst>
              <a:ext uri="{FF2B5EF4-FFF2-40B4-BE49-F238E27FC236}">
                <a16:creationId xmlns:a16="http://schemas.microsoft.com/office/drawing/2014/main" id="{004A6E66-5BCA-4EC7-88FD-81C03CAB0432}"/>
              </a:ext>
            </a:extLst>
          </p:cNvPr>
          <p:cNvGraphicFramePr>
            <a:graphicFrameLocks noGrp="1"/>
          </p:cNvGraphicFramePr>
          <p:nvPr>
            <p:extLst>
              <p:ext uri="{D42A27DB-BD31-4B8C-83A1-F6EECF244321}">
                <p14:modId xmlns:p14="http://schemas.microsoft.com/office/powerpoint/2010/main" val="1566747744"/>
              </p:ext>
            </p:extLst>
          </p:nvPr>
        </p:nvGraphicFramePr>
        <p:xfrm>
          <a:off x="8703310" y="3137807"/>
          <a:ext cx="1511300" cy="1651000"/>
        </p:xfrm>
        <a:graphic>
          <a:graphicData uri="http://schemas.openxmlformats.org/drawingml/2006/table">
            <a:tbl>
              <a:tblPr/>
              <a:tblGrid>
                <a:gridCol w="901700">
                  <a:extLst>
                    <a:ext uri="{9D8B030D-6E8A-4147-A177-3AD203B41FA5}">
                      <a16:colId xmlns:a16="http://schemas.microsoft.com/office/drawing/2014/main" val="3459134712"/>
                    </a:ext>
                  </a:extLst>
                </a:gridCol>
                <a:gridCol w="609600">
                  <a:extLst>
                    <a:ext uri="{9D8B030D-6E8A-4147-A177-3AD203B41FA5}">
                      <a16:colId xmlns:a16="http://schemas.microsoft.com/office/drawing/2014/main" val="811480175"/>
                    </a:ext>
                  </a:extLst>
                </a:gridCol>
              </a:tblGrid>
              <a:tr h="330200">
                <a:tc>
                  <a:txBody>
                    <a:bodyPr/>
                    <a:lstStyle/>
                    <a:p>
                      <a:pPr algn="l" fontAlgn="b"/>
                      <a:r>
                        <a:rPr lang="en-IN" sz="2000" b="0" i="0" u="none" strike="noStrike">
                          <a:solidFill>
                            <a:srgbClr val="000000"/>
                          </a:solidFill>
                          <a:effectLst/>
                          <a:latin typeface="Calibri" panose="020F0502020204030204" pitchFamily="34" charset="0"/>
                        </a:rPr>
                        <a:t>Product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IN" sz="2000" b="0" i="0" u="none" strike="noStrike" dirty="0">
                          <a:solidFill>
                            <a:srgbClr val="000000"/>
                          </a:solidFill>
                          <a:effectLst/>
                          <a:latin typeface="Calibri" panose="020F0502020204030204" pitchFamily="34" charset="0"/>
                        </a:rPr>
                        <a:t>Sales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582309888"/>
                  </a:ext>
                </a:extLst>
              </a:tr>
              <a:tr h="330200">
                <a:tc>
                  <a:txBody>
                    <a:bodyPr/>
                    <a:lstStyle/>
                    <a:p>
                      <a:pPr algn="r" fontAlgn="b"/>
                      <a:r>
                        <a:rPr lang="en-IN" sz="2000" b="0" i="0" u="none" strike="noStrike">
                          <a:solidFill>
                            <a:srgbClr val="000000"/>
                          </a:solidFill>
                          <a:effectLst/>
                          <a:latin typeface="Calibri" panose="020F0502020204030204" pitchFamily="34" charset="0"/>
                        </a:rPr>
                        <a:t>(1,2)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6810189"/>
                  </a:ext>
                </a:extLst>
              </a:tr>
              <a:tr h="330200">
                <a:tc>
                  <a:txBody>
                    <a:bodyPr/>
                    <a:lstStyle/>
                    <a:p>
                      <a:pPr algn="r" fontAlgn="b"/>
                      <a:r>
                        <a:rPr lang="en-IN" sz="2000" b="0" i="0" u="none" strike="noStrike">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60420750"/>
                  </a:ext>
                </a:extLst>
              </a:tr>
              <a:tr h="330200">
                <a:tc>
                  <a:txBody>
                    <a:bodyPr/>
                    <a:lstStyle/>
                    <a:p>
                      <a:pPr algn="r" fontAlgn="b"/>
                      <a:r>
                        <a:rPr lang="en-IN" sz="2000" b="0"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27843459"/>
                  </a:ext>
                </a:extLst>
              </a:tr>
              <a:tr h="330200">
                <a:tc>
                  <a:txBody>
                    <a:bodyPr/>
                    <a:lstStyle/>
                    <a:p>
                      <a:pPr algn="r" fontAlgn="b"/>
                      <a:r>
                        <a:rPr lang="en-IN" sz="2000" b="0"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79684161"/>
                  </a:ext>
                </a:extLst>
              </a:tr>
            </a:tbl>
          </a:graphicData>
        </a:graphic>
      </p:graphicFrame>
      <p:sp>
        <p:nvSpPr>
          <p:cNvPr id="14" name="TextBox 13">
            <a:extLst>
              <a:ext uri="{FF2B5EF4-FFF2-40B4-BE49-F238E27FC236}">
                <a16:creationId xmlns:a16="http://schemas.microsoft.com/office/drawing/2014/main" id="{4D60B252-BB4B-4047-83D6-F7D5451B3441}"/>
              </a:ext>
            </a:extLst>
          </p:cNvPr>
          <p:cNvSpPr txBox="1"/>
          <p:nvPr/>
        </p:nvSpPr>
        <p:spPr>
          <a:xfrm>
            <a:off x="10447924" y="3429000"/>
            <a:ext cx="593432" cy="369332"/>
          </a:xfrm>
          <a:prstGeom prst="rect">
            <a:avLst/>
          </a:prstGeom>
          <a:noFill/>
        </p:spPr>
        <p:txBody>
          <a:bodyPr wrap="none" rtlCol="0">
            <a:spAutoFit/>
          </a:bodyPr>
          <a:lstStyle/>
          <a:p>
            <a:r>
              <a:rPr lang="en-IN" dirty="0"/>
              <a:t>7,</a:t>
            </a:r>
            <a:r>
              <a:rPr lang="en-IN" dirty="0">
                <a:solidFill>
                  <a:srgbClr val="FF0000"/>
                </a:solidFill>
              </a:rPr>
              <a:t>10</a:t>
            </a:r>
          </a:p>
        </p:txBody>
      </p:sp>
      <p:sp>
        <p:nvSpPr>
          <p:cNvPr id="19" name="TextBox 18">
            <a:extLst>
              <a:ext uri="{FF2B5EF4-FFF2-40B4-BE49-F238E27FC236}">
                <a16:creationId xmlns:a16="http://schemas.microsoft.com/office/drawing/2014/main" id="{0030862C-CB2B-4D45-AC9C-02A274DDAF66}"/>
              </a:ext>
            </a:extLst>
          </p:cNvPr>
          <p:cNvSpPr txBox="1"/>
          <p:nvPr/>
        </p:nvSpPr>
        <p:spPr>
          <a:xfrm>
            <a:off x="0" y="2830904"/>
            <a:ext cx="1735668" cy="369332"/>
          </a:xfrm>
          <a:prstGeom prst="rect">
            <a:avLst/>
          </a:prstGeom>
          <a:noFill/>
        </p:spPr>
        <p:txBody>
          <a:bodyPr wrap="none" rtlCol="0">
            <a:spAutoFit/>
          </a:bodyPr>
          <a:lstStyle/>
          <a:p>
            <a:r>
              <a:rPr lang="en-IN" dirty="0"/>
              <a:t>Proximity Matrix</a:t>
            </a:r>
          </a:p>
        </p:txBody>
      </p:sp>
      <p:sp>
        <p:nvSpPr>
          <p:cNvPr id="20" name="TextBox 19">
            <a:extLst>
              <a:ext uri="{FF2B5EF4-FFF2-40B4-BE49-F238E27FC236}">
                <a16:creationId xmlns:a16="http://schemas.microsoft.com/office/drawing/2014/main" id="{27AE2661-EC47-4876-A1F9-770391107553}"/>
              </a:ext>
            </a:extLst>
          </p:cNvPr>
          <p:cNvSpPr txBox="1"/>
          <p:nvPr/>
        </p:nvSpPr>
        <p:spPr>
          <a:xfrm>
            <a:off x="79255" y="85006"/>
            <a:ext cx="620554" cy="369332"/>
          </a:xfrm>
          <a:prstGeom prst="rect">
            <a:avLst/>
          </a:prstGeom>
          <a:noFill/>
        </p:spPr>
        <p:txBody>
          <a:bodyPr wrap="none" rtlCol="0">
            <a:spAutoFit/>
          </a:bodyPr>
          <a:lstStyle/>
          <a:p>
            <a:r>
              <a:rPr lang="en-IN" dirty="0"/>
              <a:t>Data</a:t>
            </a:r>
          </a:p>
        </p:txBody>
      </p:sp>
      <p:sp>
        <p:nvSpPr>
          <p:cNvPr id="21" name="TextBox 20">
            <a:extLst>
              <a:ext uri="{FF2B5EF4-FFF2-40B4-BE49-F238E27FC236}">
                <a16:creationId xmlns:a16="http://schemas.microsoft.com/office/drawing/2014/main" id="{7672D23C-CA53-4FC0-B2AF-78F5FAAD2FA2}"/>
              </a:ext>
            </a:extLst>
          </p:cNvPr>
          <p:cNvSpPr txBox="1"/>
          <p:nvPr/>
        </p:nvSpPr>
        <p:spPr>
          <a:xfrm>
            <a:off x="9096521" y="2713415"/>
            <a:ext cx="620554" cy="369332"/>
          </a:xfrm>
          <a:prstGeom prst="rect">
            <a:avLst/>
          </a:prstGeom>
          <a:noFill/>
        </p:spPr>
        <p:txBody>
          <a:bodyPr wrap="none" rtlCol="0">
            <a:spAutoFit/>
          </a:bodyPr>
          <a:lstStyle/>
          <a:p>
            <a:r>
              <a:rPr lang="en-IN" dirty="0"/>
              <a:t>Data</a:t>
            </a:r>
          </a:p>
        </p:txBody>
      </p:sp>
    </p:spTree>
    <p:extLst>
      <p:ext uri="{BB962C8B-B14F-4D97-AF65-F5344CB8AC3E}">
        <p14:creationId xmlns:p14="http://schemas.microsoft.com/office/powerpoint/2010/main" val="3644040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AF9A276-9910-4154-B833-4F6201E81F87}"/>
              </a:ext>
            </a:extLst>
          </p:cNvPr>
          <p:cNvPicPr>
            <a:picLocks noChangeAspect="1"/>
          </p:cNvPicPr>
          <p:nvPr/>
        </p:nvPicPr>
        <p:blipFill>
          <a:blip r:embed="rId2"/>
          <a:stretch>
            <a:fillRect/>
          </a:stretch>
        </p:blipFill>
        <p:spPr>
          <a:xfrm>
            <a:off x="793056" y="85006"/>
            <a:ext cx="1342150" cy="1763326"/>
          </a:xfrm>
          <a:prstGeom prst="rect">
            <a:avLst/>
          </a:prstGeom>
        </p:spPr>
      </p:pic>
      <p:grpSp>
        <p:nvGrpSpPr>
          <p:cNvPr id="7" name="Group 6">
            <a:extLst>
              <a:ext uri="{FF2B5EF4-FFF2-40B4-BE49-F238E27FC236}">
                <a16:creationId xmlns:a16="http://schemas.microsoft.com/office/drawing/2014/main" id="{3B6B3C62-7685-4C78-A5D0-0A234735C032}"/>
              </a:ext>
            </a:extLst>
          </p:cNvPr>
          <p:cNvGrpSpPr/>
          <p:nvPr/>
        </p:nvGrpSpPr>
        <p:grpSpPr>
          <a:xfrm>
            <a:off x="2506642" y="112277"/>
            <a:ext cx="4309112" cy="854392"/>
            <a:chOff x="3370242" y="782003"/>
            <a:chExt cx="4309112" cy="854392"/>
          </a:xfrm>
        </p:grpSpPr>
        <p:pic>
          <p:nvPicPr>
            <p:cNvPr id="3074" name="Picture 2" descr="proximity matrix">
              <a:extLst>
                <a:ext uri="{FF2B5EF4-FFF2-40B4-BE49-F238E27FC236}">
                  <a16:creationId xmlns:a16="http://schemas.microsoft.com/office/drawing/2014/main" id="{B25736C8-FDAA-4DD6-BA2F-E773BAC10F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2330" y="1198245"/>
              <a:ext cx="3009900" cy="4381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A7E6059-BE1C-4271-9CEE-EDF04CE2C2E1}"/>
                </a:ext>
              </a:extLst>
            </p:cNvPr>
            <p:cNvSpPr txBox="1"/>
            <p:nvPr/>
          </p:nvSpPr>
          <p:spPr>
            <a:xfrm>
              <a:off x="3370242" y="782003"/>
              <a:ext cx="4309112" cy="369332"/>
            </a:xfrm>
            <a:prstGeom prst="rect">
              <a:avLst/>
            </a:prstGeom>
            <a:noFill/>
          </p:spPr>
          <p:txBody>
            <a:bodyPr wrap="square" rtlCol="0">
              <a:spAutoFit/>
            </a:bodyPr>
            <a:lstStyle/>
            <a:p>
              <a:r>
                <a:rPr lang="en-IN" dirty="0"/>
                <a:t>10         7          28         20       35 </a:t>
              </a:r>
            </a:p>
          </p:txBody>
        </p:sp>
      </p:grpSp>
      <p:graphicFrame>
        <p:nvGraphicFramePr>
          <p:cNvPr id="9" name="Table 8">
            <a:extLst>
              <a:ext uri="{FF2B5EF4-FFF2-40B4-BE49-F238E27FC236}">
                <a16:creationId xmlns:a16="http://schemas.microsoft.com/office/drawing/2014/main" id="{9972A7B4-BA87-4B33-B66D-0206BE68C416}"/>
              </a:ext>
            </a:extLst>
          </p:cNvPr>
          <p:cNvGraphicFramePr>
            <a:graphicFrameLocks noGrp="1"/>
          </p:cNvGraphicFramePr>
          <p:nvPr>
            <p:extLst>
              <p:ext uri="{D42A27DB-BD31-4B8C-83A1-F6EECF244321}">
                <p14:modId xmlns:p14="http://schemas.microsoft.com/office/powerpoint/2010/main" val="729161668"/>
              </p:ext>
            </p:extLst>
          </p:nvPr>
        </p:nvGraphicFramePr>
        <p:xfrm>
          <a:off x="829013" y="2251267"/>
          <a:ext cx="2988224" cy="1866900"/>
        </p:xfrm>
        <a:graphic>
          <a:graphicData uri="http://schemas.openxmlformats.org/drawingml/2006/table">
            <a:tbl>
              <a:tblPr/>
              <a:tblGrid>
                <a:gridCol w="682199">
                  <a:extLst>
                    <a:ext uri="{9D8B030D-6E8A-4147-A177-3AD203B41FA5}">
                      <a16:colId xmlns:a16="http://schemas.microsoft.com/office/drawing/2014/main" val="96185964"/>
                    </a:ext>
                  </a:extLst>
                </a:gridCol>
                <a:gridCol w="461205">
                  <a:extLst>
                    <a:ext uri="{9D8B030D-6E8A-4147-A177-3AD203B41FA5}">
                      <a16:colId xmlns:a16="http://schemas.microsoft.com/office/drawing/2014/main" val="1463001659"/>
                    </a:ext>
                  </a:extLst>
                </a:gridCol>
                <a:gridCol w="461205">
                  <a:extLst>
                    <a:ext uri="{9D8B030D-6E8A-4147-A177-3AD203B41FA5}">
                      <a16:colId xmlns:a16="http://schemas.microsoft.com/office/drawing/2014/main" val="411097495"/>
                    </a:ext>
                  </a:extLst>
                </a:gridCol>
                <a:gridCol w="461205">
                  <a:extLst>
                    <a:ext uri="{9D8B030D-6E8A-4147-A177-3AD203B41FA5}">
                      <a16:colId xmlns:a16="http://schemas.microsoft.com/office/drawing/2014/main" val="1800538190"/>
                    </a:ext>
                  </a:extLst>
                </a:gridCol>
                <a:gridCol w="461205">
                  <a:extLst>
                    <a:ext uri="{9D8B030D-6E8A-4147-A177-3AD203B41FA5}">
                      <a16:colId xmlns:a16="http://schemas.microsoft.com/office/drawing/2014/main" val="3531501363"/>
                    </a:ext>
                  </a:extLst>
                </a:gridCol>
                <a:gridCol w="461205">
                  <a:extLst>
                    <a:ext uri="{9D8B030D-6E8A-4147-A177-3AD203B41FA5}">
                      <a16:colId xmlns:a16="http://schemas.microsoft.com/office/drawing/2014/main" val="3294420862"/>
                    </a:ext>
                  </a:extLst>
                </a:gridCol>
              </a:tblGrid>
              <a:tr h="216629">
                <a:tc>
                  <a:txBody>
                    <a:bodyPr/>
                    <a:lstStyle/>
                    <a:p>
                      <a:pPr algn="r" fontAlgn="b"/>
                      <a:r>
                        <a:rPr lang="en-IN" sz="2000" b="1" i="0" u="none" strike="noStrike">
                          <a:solidFill>
                            <a:srgbClr val="000000"/>
                          </a:solidFill>
                          <a:effectLst/>
                          <a:latin typeface="Calibri" panose="020F0502020204030204" pitchFamily="34" charset="0"/>
                        </a:rPr>
                        <a:t>ID</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1</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46423204"/>
                  </a:ext>
                </a:extLst>
              </a:tr>
              <a:tr h="212542">
                <a:tc>
                  <a:txBody>
                    <a:bodyPr/>
                    <a:lstStyle/>
                    <a:p>
                      <a:pPr algn="r" fontAlgn="b"/>
                      <a:r>
                        <a:rPr lang="en-IN" sz="2000" b="1" i="0" u="none" strike="noStrike">
                          <a:solidFill>
                            <a:srgbClr val="000000"/>
                          </a:solidFill>
                          <a:effectLst/>
                          <a:latin typeface="Calibri" panose="020F0502020204030204" pitchFamily="34"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0070C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chemeClr val="tx1"/>
                          </a:solidFill>
                          <a:effectLst/>
                          <a:latin typeface="Calibri" panose="020F0502020204030204" pitchFamily="34" charset="0"/>
                        </a:rPr>
                        <a:t>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86389542"/>
                  </a:ext>
                </a:extLst>
              </a:tr>
              <a:tr h="212542">
                <a:tc>
                  <a:txBody>
                    <a:bodyPr/>
                    <a:lstStyle/>
                    <a:p>
                      <a:pPr algn="r" fontAlgn="b"/>
                      <a:r>
                        <a:rPr lang="en-IN" sz="2000" b="1" i="0" u="none" strike="noStrike">
                          <a:solidFill>
                            <a:srgbClr val="000000"/>
                          </a:solidFill>
                          <a:effectLst/>
                          <a:latin typeface="Calibri" panose="020F0502020204030204" pitchFamily="34" charset="0"/>
                        </a:rPr>
                        <a:t>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0070C0"/>
                          </a:solidFill>
                          <a:effectLst/>
                          <a:latin typeface="Calibri" panose="020F0502020204030204" pitchFamily="34" charset="0"/>
                        </a:rPr>
                        <a:t>3</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1976737"/>
                  </a:ext>
                </a:extLst>
              </a:tr>
              <a:tr h="212542">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chemeClr val="tx1"/>
                          </a:solidFill>
                          <a:effectLst/>
                          <a:latin typeface="Calibri" panose="020F0502020204030204" pitchFamily="34" charset="0"/>
                        </a:rPr>
                        <a:t>18</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21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9275789"/>
                  </a:ext>
                </a:extLst>
              </a:tr>
              <a:tr h="212542">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24698853"/>
                  </a:ext>
                </a:extLst>
              </a:tr>
              <a:tr h="216629">
                <a:tc>
                  <a:txBody>
                    <a:bodyPr/>
                    <a:lstStyle/>
                    <a:p>
                      <a:pPr algn="r" fontAlgn="b"/>
                      <a:r>
                        <a:rPr lang="en-IN" sz="2000" b="1" i="0" u="none" strike="noStrike" dirty="0">
                          <a:solidFill>
                            <a:srgbClr val="000000"/>
                          </a:solidFill>
                          <a:effectLst/>
                          <a:latin typeface="Calibri" panose="020F0502020204030204" pitchFamily="34"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69606738"/>
                  </a:ext>
                </a:extLst>
              </a:tr>
            </a:tbl>
          </a:graphicData>
        </a:graphic>
      </p:graphicFrame>
      <p:pic>
        <p:nvPicPr>
          <p:cNvPr id="3076" name="Picture 4" descr="step 2 : hierarchical">
            <a:extLst>
              <a:ext uri="{FF2B5EF4-FFF2-40B4-BE49-F238E27FC236}">
                <a16:creationId xmlns:a16="http://schemas.microsoft.com/office/drawing/2014/main" id="{164A99B7-C327-420D-BA8E-0E4CA077A7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1198" y="2248072"/>
            <a:ext cx="3028950" cy="11906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Table 10">
            <a:extLst>
              <a:ext uri="{FF2B5EF4-FFF2-40B4-BE49-F238E27FC236}">
                <a16:creationId xmlns:a16="http://schemas.microsoft.com/office/drawing/2014/main" id="{004A6E66-5BCA-4EC7-88FD-81C03CAB0432}"/>
              </a:ext>
            </a:extLst>
          </p:cNvPr>
          <p:cNvGraphicFramePr>
            <a:graphicFrameLocks noGrp="1"/>
          </p:cNvGraphicFramePr>
          <p:nvPr>
            <p:extLst>
              <p:ext uri="{D42A27DB-BD31-4B8C-83A1-F6EECF244321}">
                <p14:modId xmlns:p14="http://schemas.microsoft.com/office/powerpoint/2010/main" val="2229816962"/>
              </p:ext>
            </p:extLst>
          </p:nvPr>
        </p:nvGraphicFramePr>
        <p:xfrm>
          <a:off x="8382761" y="2248072"/>
          <a:ext cx="1511300" cy="1651000"/>
        </p:xfrm>
        <a:graphic>
          <a:graphicData uri="http://schemas.openxmlformats.org/drawingml/2006/table">
            <a:tbl>
              <a:tblPr/>
              <a:tblGrid>
                <a:gridCol w="901700">
                  <a:extLst>
                    <a:ext uri="{9D8B030D-6E8A-4147-A177-3AD203B41FA5}">
                      <a16:colId xmlns:a16="http://schemas.microsoft.com/office/drawing/2014/main" val="3459134712"/>
                    </a:ext>
                  </a:extLst>
                </a:gridCol>
                <a:gridCol w="609600">
                  <a:extLst>
                    <a:ext uri="{9D8B030D-6E8A-4147-A177-3AD203B41FA5}">
                      <a16:colId xmlns:a16="http://schemas.microsoft.com/office/drawing/2014/main" val="811480175"/>
                    </a:ext>
                  </a:extLst>
                </a:gridCol>
              </a:tblGrid>
              <a:tr h="330200">
                <a:tc>
                  <a:txBody>
                    <a:bodyPr/>
                    <a:lstStyle/>
                    <a:p>
                      <a:pPr algn="l" fontAlgn="b"/>
                      <a:r>
                        <a:rPr lang="en-IN" sz="2000" b="0" i="0" u="none" strike="noStrike" dirty="0">
                          <a:solidFill>
                            <a:srgbClr val="000000"/>
                          </a:solidFill>
                          <a:effectLst/>
                          <a:latin typeface="Calibri" panose="020F0502020204030204" pitchFamily="34" charset="0"/>
                        </a:rPr>
                        <a:t>Product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IN" sz="2000" b="0" i="0" u="none" strike="noStrike" dirty="0">
                          <a:solidFill>
                            <a:srgbClr val="000000"/>
                          </a:solidFill>
                          <a:effectLst/>
                          <a:latin typeface="Calibri" panose="020F0502020204030204" pitchFamily="34" charset="0"/>
                        </a:rPr>
                        <a:t>Sales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582309888"/>
                  </a:ext>
                </a:extLst>
              </a:tr>
              <a:tr h="330200">
                <a:tc>
                  <a:txBody>
                    <a:bodyPr/>
                    <a:lstStyle/>
                    <a:p>
                      <a:pPr algn="r" fontAlgn="b"/>
                      <a:r>
                        <a:rPr lang="en-IN" sz="2000" b="0" i="0" u="none" strike="noStrike">
                          <a:solidFill>
                            <a:srgbClr val="000000"/>
                          </a:solidFill>
                          <a:effectLst/>
                          <a:latin typeface="Calibri" panose="020F0502020204030204" pitchFamily="34" charset="0"/>
                        </a:rPr>
                        <a:t>(1,2)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6810189"/>
                  </a:ext>
                </a:extLst>
              </a:tr>
              <a:tr h="330200">
                <a:tc>
                  <a:txBody>
                    <a:bodyPr/>
                    <a:lstStyle/>
                    <a:p>
                      <a:pPr algn="r" fontAlgn="b"/>
                      <a:r>
                        <a:rPr lang="en-IN" sz="2000" b="0" i="0" u="none" strike="noStrike">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60420750"/>
                  </a:ext>
                </a:extLst>
              </a:tr>
              <a:tr h="330200">
                <a:tc>
                  <a:txBody>
                    <a:bodyPr/>
                    <a:lstStyle/>
                    <a:p>
                      <a:pPr algn="r" fontAlgn="b"/>
                      <a:r>
                        <a:rPr lang="en-IN" sz="2000" b="0"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27843459"/>
                  </a:ext>
                </a:extLst>
              </a:tr>
              <a:tr h="330200">
                <a:tc>
                  <a:txBody>
                    <a:bodyPr/>
                    <a:lstStyle/>
                    <a:p>
                      <a:pPr algn="r" fontAlgn="b"/>
                      <a:r>
                        <a:rPr lang="en-IN" sz="2000" b="0"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79684161"/>
                  </a:ext>
                </a:extLst>
              </a:tr>
            </a:tbl>
          </a:graphicData>
        </a:graphic>
      </p:graphicFrame>
      <p:sp>
        <p:nvSpPr>
          <p:cNvPr id="14" name="TextBox 13">
            <a:extLst>
              <a:ext uri="{FF2B5EF4-FFF2-40B4-BE49-F238E27FC236}">
                <a16:creationId xmlns:a16="http://schemas.microsoft.com/office/drawing/2014/main" id="{4D60B252-BB4B-4047-83D6-F7D5451B3441}"/>
              </a:ext>
            </a:extLst>
          </p:cNvPr>
          <p:cNvSpPr txBox="1"/>
          <p:nvPr/>
        </p:nvSpPr>
        <p:spPr>
          <a:xfrm>
            <a:off x="10109155" y="2565744"/>
            <a:ext cx="593432" cy="369332"/>
          </a:xfrm>
          <a:prstGeom prst="rect">
            <a:avLst/>
          </a:prstGeom>
          <a:noFill/>
        </p:spPr>
        <p:txBody>
          <a:bodyPr wrap="none" rtlCol="0">
            <a:spAutoFit/>
          </a:bodyPr>
          <a:lstStyle/>
          <a:p>
            <a:r>
              <a:rPr lang="en-IN" dirty="0"/>
              <a:t>7,</a:t>
            </a:r>
            <a:r>
              <a:rPr lang="en-IN" dirty="0">
                <a:solidFill>
                  <a:srgbClr val="FF0000"/>
                </a:solidFill>
              </a:rPr>
              <a:t>10</a:t>
            </a:r>
          </a:p>
        </p:txBody>
      </p:sp>
      <p:sp>
        <p:nvSpPr>
          <p:cNvPr id="2" name="TextBox 1">
            <a:extLst>
              <a:ext uri="{FF2B5EF4-FFF2-40B4-BE49-F238E27FC236}">
                <a16:creationId xmlns:a16="http://schemas.microsoft.com/office/drawing/2014/main" id="{80C99456-34D7-4463-BFCB-26AC76B5D5F0}"/>
              </a:ext>
            </a:extLst>
          </p:cNvPr>
          <p:cNvSpPr txBox="1"/>
          <p:nvPr/>
        </p:nvSpPr>
        <p:spPr>
          <a:xfrm>
            <a:off x="793056" y="1878740"/>
            <a:ext cx="772071" cy="369332"/>
          </a:xfrm>
          <a:prstGeom prst="rect">
            <a:avLst/>
          </a:prstGeom>
          <a:noFill/>
        </p:spPr>
        <p:txBody>
          <a:bodyPr wrap="none" rtlCol="0">
            <a:spAutoFit/>
          </a:bodyPr>
          <a:lstStyle/>
          <a:p>
            <a:r>
              <a:rPr lang="en-IN" dirty="0"/>
              <a:t>Step 2</a:t>
            </a:r>
          </a:p>
        </p:txBody>
      </p:sp>
      <p:graphicFrame>
        <p:nvGraphicFramePr>
          <p:cNvPr id="4" name="Table 3">
            <a:extLst>
              <a:ext uri="{FF2B5EF4-FFF2-40B4-BE49-F238E27FC236}">
                <a16:creationId xmlns:a16="http://schemas.microsoft.com/office/drawing/2014/main" id="{004C9117-D57B-4AC1-8BDD-E931F2547010}"/>
              </a:ext>
            </a:extLst>
          </p:cNvPr>
          <p:cNvGraphicFramePr>
            <a:graphicFrameLocks noGrp="1"/>
          </p:cNvGraphicFramePr>
          <p:nvPr>
            <p:extLst>
              <p:ext uri="{D42A27DB-BD31-4B8C-83A1-F6EECF244321}">
                <p14:modId xmlns:p14="http://schemas.microsoft.com/office/powerpoint/2010/main" val="1438154101"/>
              </p:ext>
            </p:extLst>
          </p:nvPr>
        </p:nvGraphicFramePr>
        <p:xfrm>
          <a:off x="7919720" y="4706594"/>
          <a:ext cx="3340100" cy="1663700"/>
        </p:xfrm>
        <a:graphic>
          <a:graphicData uri="http://schemas.openxmlformats.org/drawingml/2006/table">
            <a:tbl>
              <a:tblPr/>
              <a:tblGrid>
                <a:gridCol w="901700">
                  <a:extLst>
                    <a:ext uri="{9D8B030D-6E8A-4147-A177-3AD203B41FA5}">
                      <a16:colId xmlns:a16="http://schemas.microsoft.com/office/drawing/2014/main" val="1158854089"/>
                    </a:ext>
                  </a:extLst>
                </a:gridCol>
                <a:gridCol w="609600">
                  <a:extLst>
                    <a:ext uri="{9D8B030D-6E8A-4147-A177-3AD203B41FA5}">
                      <a16:colId xmlns:a16="http://schemas.microsoft.com/office/drawing/2014/main" val="242199934"/>
                    </a:ext>
                  </a:extLst>
                </a:gridCol>
                <a:gridCol w="609600">
                  <a:extLst>
                    <a:ext uri="{9D8B030D-6E8A-4147-A177-3AD203B41FA5}">
                      <a16:colId xmlns:a16="http://schemas.microsoft.com/office/drawing/2014/main" val="1700530510"/>
                    </a:ext>
                  </a:extLst>
                </a:gridCol>
                <a:gridCol w="609600">
                  <a:extLst>
                    <a:ext uri="{9D8B030D-6E8A-4147-A177-3AD203B41FA5}">
                      <a16:colId xmlns:a16="http://schemas.microsoft.com/office/drawing/2014/main" val="3346318287"/>
                    </a:ext>
                  </a:extLst>
                </a:gridCol>
                <a:gridCol w="609600">
                  <a:extLst>
                    <a:ext uri="{9D8B030D-6E8A-4147-A177-3AD203B41FA5}">
                      <a16:colId xmlns:a16="http://schemas.microsoft.com/office/drawing/2014/main" val="78614387"/>
                    </a:ext>
                  </a:extLst>
                </a:gridCol>
              </a:tblGrid>
              <a:tr h="336550">
                <a:tc>
                  <a:txBody>
                    <a:bodyPr/>
                    <a:lstStyle/>
                    <a:p>
                      <a:pPr algn="r" fontAlgn="b"/>
                      <a:r>
                        <a:rPr lang="en-IN" sz="2000" b="1" i="0" u="none" strike="noStrike">
                          <a:solidFill>
                            <a:srgbClr val="000000"/>
                          </a:solidFill>
                          <a:effectLst/>
                          <a:latin typeface="Calibri" panose="020F0502020204030204" pitchFamily="34" charset="0"/>
                        </a:rPr>
                        <a:t>ID</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1,2</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86251532"/>
                  </a:ext>
                </a:extLst>
              </a:tr>
              <a:tr h="330200">
                <a:tc>
                  <a:txBody>
                    <a:bodyPr/>
                    <a:lstStyle/>
                    <a:p>
                      <a:pPr algn="r" fontAlgn="b"/>
                      <a:r>
                        <a:rPr lang="en-IN" sz="2000" b="1" i="0" u="none" strike="noStrike">
                          <a:solidFill>
                            <a:srgbClr val="000000"/>
                          </a:solidFill>
                          <a:effectLst/>
                          <a:latin typeface="Calibri" panose="020F0502020204030204" pitchFamily="34" charset="0"/>
                        </a:rPr>
                        <a:t>1,2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5266929"/>
                  </a:ext>
                </a:extLst>
              </a:tr>
              <a:tr h="330200">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18</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62480929"/>
                  </a:ext>
                </a:extLst>
              </a:tr>
              <a:tr h="330200">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4758147"/>
                  </a:ext>
                </a:extLst>
              </a:tr>
              <a:tr h="336550">
                <a:tc>
                  <a:txBody>
                    <a:bodyPr/>
                    <a:lstStyle/>
                    <a:p>
                      <a:pPr algn="r" fontAlgn="b"/>
                      <a:r>
                        <a:rPr lang="en-IN" sz="2000" b="1" i="0" u="none" strike="noStrike">
                          <a:solidFill>
                            <a:srgbClr val="000000"/>
                          </a:solidFill>
                          <a:effectLst/>
                          <a:latin typeface="Calibri" panose="020F0502020204030204" pitchFamily="34"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9480155"/>
                  </a:ext>
                </a:extLst>
              </a:tr>
            </a:tbl>
          </a:graphicData>
        </a:graphic>
      </p:graphicFrame>
      <p:sp>
        <p:nvSpPr>
          <p:cNvPr id="15" name="TextBox 14">
            <a:extLst>
              <a:ext uri="{FF2B5EF4-FFF2-40B4-BE49-F238E27FC236}">
                <a16:creationId xmlns:a16="http://schemas.microsoft.com/office/drawing/2014/main" id="{9E4CAED8-02FF-4772-979D-E6A2C6FA69B5}"/>
              </a:ext>
            </a:extLst>
          </p:cNvPr>
          <p:cNvSpPr txBox="1"/>
          <p:nvPr/>
        </p:nvSpPr>
        <p:spPr>
          <a:xfrm>
            <a:off x="8569960" y="4118167"/>
            <a:ext cx="3302764" cy="369332"/>
          </a:xfrm>
          <a:prstGeom prst="rect">
            <a:avLst/>
          </a:prstGeom>
          <a:noFill/>
        </p:spPr>
        <p:txBody>
          <a:bodyPr wrap="none" rtlCol="0">
            <a:spAutoFit/>
          </a:bodyPr>
          <a:lstStyle/>
          <a:p>
            <a:r>
              <a:rPr lang="en-IN" dirty="0"/>
              <a:t>Re Calculate the Proximity Matrix</a:t>
            </a:r>
          </a:p>
        </p:txBody>
      </p:sp>
    </p:spTree>
    <p:extLst>
      <p:ext uri="{BB962C8B-B14F-4D97-AF65-F5344CB8AC3E}">
        <p14:creationId xmlns:p14="http://schemas.microsoft.com/office/powerpoint/2010/main" val="1215743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AF9A276-9910-4154-B833-4F6201E81F87}"/>
              </a:ext>
            </a:extLst>
          </p:cNvPr>
          <p:cNvPicPr>
            <a:picLocks noChangeAspect="1"/>
          </p:cNvPicPr>
          <p:nvPr/>
        </p:nvPicPr>
        <p:blipFill>
          <a:blip r:embed="rId2"/>
          <a:stretch>
            <a:fillRect/>
          </a:stretch>
        </p:blipFill>
        <p:spPr>
          <a:xfrm>
            <a:off x="793056" y="85006"/>
            <a:ext cx="1342150" cy="1763326"/>
          </a:xfrm>
          <a:prstGeom prst="rect">
            <a:avLst/>
          </a:prstGeom>
        </p:spPr>
      </p:pic>
      <p:grpSp>
        <p:nvGrpSpPr>
          <p:cNvPr id="7" name="Group 6">
            <a:extLst>
              <a:ext uri="{FF2B5EF4-FFF2-40B4-BE49-F238E27FC236}">
                <a16:creationId xmlns:a16="http://schemas.microsoft.com/office/drawing/2014/main" id="{3B6B3C62-7685-4C78-A5D0-0A234735C032}"/>
              </a:ext>
            </a:extLst>
          </p:cNvPr>
          <p:cNvGrpSpPr/>
          <p:nvPr/>
        </p:nvGrpSpPr>
        <p:grpSpPr>
          <a:xfrm>
            <a:off x="2506642" y="112277"/>
            <a:ext cx="4309112" cy="854392"/>
            <a:chOff x="3370242" y="782003"/>
            <a:chExt cx="4309112" cy="854392"/>
          </a:xfrm>
        </p:grpSpPr>
        <p:pic>
          <p:nvPicPr>
            <p:cNvPr id="3074" name="Picture 2" descr="proximity matrix">
              <a:extLst>
                <a:ext uri="{FF2B5EF4-FFF2-40B4-BE49-F238E27FC236}">
                  <a16:creationId xmlns:a16="http://schemas.microsoft.com/office/drawing/2014/main" id="{B25736C8-FDAA-4DD6-BA2F-E773BAC10F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2330" y="1198245"/>
              <a:ext cx="3009900" cy="4381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A7E6059-BE1C-4271-9CEE-EDF04CE2C2E1}"/>
                </a:ext>
              </a:extLst>
            </p:cNvPr>
            <p:cNvSpPr txBox="1"/>
            <p:nvPr/>
          </p:nvSpPr>
          <p:spPr>
            <a:xfrm>
              <a:off x="3370242" y="782003"/>
              <a:ext cx="4309112" cy="369332"/>
            </a:xfrm>
            <a:prstGeom prst="rect">
              <a:avLst/>
            </a:prstGeom>
            <a:noFill/>
          </p:spPr>
          <p:txBody>
            <a:bodyPr wrap="square" rtlCol="0">
              <a:spAutoFit/>
            </a:bodyPr>
            <a:lstStyle/>
            <a:p>
              <a:r>
                <a:rPr lang="en-IN" dirty="0"/>
                <a:t>10         7          28         20       35 </a:t>
              </a:r>
            </a:p>
          </p:txBody>
        </p:sp>
      </p:grpSp>
      <p:graphicFrame>
        <p:nvGraphicFramePr>
          <p:cNvPr id="9" name="Table 8">
            <a:extLst>
              <a:ext uri="{FF2B5EF4-FFF2-40B4-BE49-F238E27FC236}">
                <a16:creationId xmlns:a16="http://schemas.microsoft.com/office/drawing/2014/main" id="{9972A7B4-BA87-4B33-B66D-0206BE68C416}"/>
              </a:ext>
            </a:extLst>
          </p:cNvPr>
          <p:cNvGraphicFramePr>
            <a:graphicFrameLocks noGrp="1"/>
          </p:cNvGraphicFramePr>
          <p:nvPr/>
        </p:nvGraphicFramePr>
        <p:xfrm>
          <a:off x="829013" y="2251267"/>
          <a:ext cx="2988224" cy="1866900"/>
        </p:xfrm>
        <a:graphic>
          <a:graphicData uri="http://schemas.openxmlformats.org/drawingml/2006/table">
            <a:tbl>
              <a:tblPr/>
              <a:tblGrid>
                <a:gridCol w="682199">
                  <a:extLst>
                    <a:ext uri="{9D8B030D-6E8A-4147-A177-3AD203B41FA5}">
                      <a16:colId xmlns:a16="http://schemas.microsoft.com/office/drawing/2014/main" val="96185964"/>
                    </a:ext>
                  </a:extLst>
                </a:gridCol>
                <a:gridCol w="461205">
                  <a:extLst>
                    <a:ext uri="{9D8B030D-6E8A-4147-A177-3AD203B41FA5}">
                      <a16:colId xmlns:a16="http://schemas.microsoft.com/office/drawing/2014/main" val="1463001659"/>
                    </a:ext>
                  </a:extLst>
                </a:gridCol>
                <a:gridCol w="461205">
                  <a:extLst>
                    <a:ext uri="{9D8B030D-6E8A-4147-A177-3AD203B41FA5}">
                      <a16:colId xmlns:a16="http://schemas.microsoft.com/office/drawing/2014/main" val="411097495"/>
                    </a:ext>
                  </a:extLst>
                </a:gridCol>
                <a:gridCol w="461205">
                  <a:extLst>
                    <a:ext uri="{9D8B030D-6E8A-4147-A177-3AD203B41FA5}">
                      <a16:colId xmlns:a16="http://schemas.microsoft.com/office/drawing/2014/main" val="1800538190"/>
                    </a:ext>
                  </a:extLst>
                </a:gridCol>
                <a:gridCol w="461205">
                  <a:extLst>
                    <a:ext uri="{9D8B030D-6E8A-4147-A177-3AD203B41FA5}">
                      <a16:colId xmlns:a16="http://schemas.microsoft.com/office/drawing/2014/main" val="3531501363"/>
                    </a:ext>
                  </a:extLst>
                </a:gridCol>
                <a:gridCol w="461205">
                  <a:extLst>
                    <a:ext uri="{9D8B030D-6E8A-4147-A177-3AD203B41FA5}">
                      <a16:colId xmlns:a16="http://schemas.microsoft.com/office/drawing/2014/main" val="3294420862"/>
                    </a:ext>
                  </a:extLst>
                </a:gridCol>
              </a:tblGrid>
              <a:tr h="216629">
                <a:tc>
                  <a:txBody>
                    <a:bodyPr/>
                    <a:lstStyle/>
                    <a:p>
                      <a:pPr algn="r" fontAlgn="b"/>
                      <a:r>
                        <a:rPr lang="en-IN" sz="2000" b="1" i="0" u="none" strike="noStrike">
                          <a:solidFill>
                            <a:srgbClr val="000000"/>
                          </a:solidFill>
                          <a:effectLst/>
                          <a:latin typeface="Calibri" panose="020F0502020204030204" pitchFamily="34" charset="0"/>
                        </a:rPr>
                        <a:t>ID</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1</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46423204"/>
                  </a:ext>
                </a:extLst>
              </a:tr>
              <a:tr h="212542">
                <a:tc>
                  <a:txBody>
                    <a:bodyPr/>
                    <a:lstStyle/>
                    <a:p>
                      <a:pPr algn="r" fontAlgn="b"/>
                      <a:r>
                        <a:rPr lang="en-IN" sz="2000" b="1" i="0" u="none" strike="noStrike">
                          <a:solidFill>
                            <a:srgbClr val="000000"/>
                          </a:solidFill>
                          <a:effectLst/>
                          <a:latin typeface="Calibri" panose="020F0502020204030204" pitchFamily="34"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0070C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chemeClr val="tx1"/>
                          </a:solidFill>
                          <a:effectLst/>
                          <a:latin typeface="Calibri" panose="020F0502020204030204" pitchFamily="34" charset="0"/>
                        </a:rPr>
                        <a:t>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86389542"/>
                  </a:ext>
                </a:extLst>
              </a:tr>
              <a:tr h="212542">
                <a:tc>
                  <a:txBody>
                    <a:bodyPr/>
                    <a:lstStyle/>
                    <a:p>
                      <a:pPr algn="r" fontAlgn="b"/>
                      <a:r>
                        <a:rPr lang="en-IN" sz="2000" b="1" i="0" u="none" strike="noStrike">
                          <a:solidFill>
                            <a:srgbClr val="000000"/>
                          </a:solidFill>
                          <a:effectLst/>
                          <a:latin typeface="Calibri" panose="020F0502020204030204" pitchFamily="34" charset="0"/>
                        </a:rPr>
                        <a:t>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0070C0"/>
                          </a:solidFill>
                          <a:effectLst/>
                          <a:latin typeface="Calibri" panose="020F0502020204030204" pitchFamily="34" charset="0"/>
                        </a:rPr>
                        <a:t>3</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1976737"/>
                  </a:ext>
                </a:extLst>
              </a:tr>
              <a:tr h="212542">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chemeClr val="tx1"/>
                          </a:solidFill>
                          <a:effectLst/>
                          <a:latin typeface="Calibri" panose="020F0502020204030204" pitchFamily="34" charset="0"/>
                        </a:rPr>
                        <a:t>18</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21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9275789"/>
                  </a:ext>
                </a:extLst>
              </a:tr>
              <a:tr h="212542">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24698853"/>
                  </a:ext>
                </a:extLst>
              </a:tr>
              <a:tr h="216629">
                <a:tc>
                  <a:txBody>
                    <a:bodyPr/>
                    <a:lstStyle/>
                    <a:p>
                      <a:pPr algn="r" fontAlgn="b"/>
                      <a:r>
                        <a:rPr lang="en-IN" sz="2000" b="1" i="0" u="none" strike="noStrike" dirty="0">
                          <a:solidFill>
                            <a:srgbClr val="000000"/>
                          </a:solidFill>
                          <a:effectLst/>
                          <a:latin typeface="Calibri" panose="020F0502020204030204" pitchFamily="34"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69606738"/>
                  </a:ext>
                </a:extLst>
              </a:tr>
            </a:tbl>
          </a:graphicData>
        </a:graphic>
      </p:graphicFrame>
      <p:pic>
        <p:nvPicPr>
          <p:cNvPr id="3076" name="Picture 4" descr="step 2 : hierarchical">
            <a:extLst>
              <a:ext uri="{FF2B5EF4-FFF2-40B4-BE49-F238E27FC236}">
                <a16:creationId xmlns:a16="http://schemas.microsoft.com/office/drawing/2014/main" id="{164A99B7-C327-420D-BA8E-0E4CA077A7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1198" y="2248072"/>
            <a:ext cx="3028950" cy="11906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Table 10">
            <a:extLst>
              <a:ext uri="{FF2B5EF4-FFF2-40B4-BE49-F238E27FC236}">
                <a16:creationId xmlns:a16="http://schemas.microsoft.com/office/drawing/2014/main" id="{004A6E66-5BCA-4EC7-88FD-81C03CAB0432}"/>
              </a:ext>
            </a:extLst>
          </p:cNvPr>
          <p:cNvGraphicFramePr>
            <a:graphicFrameLocks noGrp="1"/>
          </p:cNvGraphicFramePr>
          <p:nvPr/>
        </p:nvGraphicFramePr>
        <p:xfrm>
          <a:off x="8382761" y="2248072"/>
          <a:ext cx="1511300" cy="1651000"/>
        </p:xfrm>
        <a:graphic>
          <a:graphicData uri="http://schemas.openxmlformats.org/drawingml/2006/table">
            <a:tbl>
              <a:tblPr/>
              <a:tblGrid>
                <a:gridCol w="901700">
                  <a:extLst>
                    <a:ext uri="{9D8B030D-6E8A-4147-A177-3AD203B41FA5}">
                      <a16:colId xmlns:a16="http://schemas.microsoft.com/office/drawing/2014/main" val="3459134712"/>
                    </a:ext>
                  </a:extLst>
                </a:gridCol>
                <a:gridCol w="609600">
                  <a:extLst>
                    <a:ext uri="{9D8B030D-6E8A-4147-A177-3AD203B41FA5}">
                      <a16:colId xmlns:a16="http://schemas.microsoft.com/office/drawing/2014/main" val="811480175"/>
                    </a:ext>
                  </a:extLst>
                </a:gridCol>
              </a:tblGrid>
              <a:tr h="330200">
                <a:tc>
                  <a:txBody>
                    <a:bodyPr/>
                    <a:lstStyle/>
                    <a:p>
                      <a:pPr algn="l" fontAlgn="b"/>
                      <a:r>
                        <a:rPr lang="en-IN" sz="2000" b="0" i="0" u="none" strike="noStrike" dirty="0">
                          <a:solidFill>
                            <a:srgbClr val="000000"/>
                          </a:solidFill>
                          <a:effectLst/>
                          <a:latin typeface="Calibri" panose="020F0502020204030204" pitchFamily="34" charset="0"/>
                        </a:rPr>
                        <a:t>Product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IN" sz="2000" b="0" i="0" u="none" strike="noStrike" dirty="0">
                          <a:solidFill>
                            <a:srgbClr val="000000"/>
                          </a:solidFill>
                          <a:effectLst/>
                          <a:latin typeface="Calibri" panose="020F0502020204030204" pitchFamily="34" charset="0"/>
                        </a:rPr>
                        <a:t>Sales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582309888"/>
                  </a:ext>
                </a:extLst>
              </a:tr>
              <a:tr h="330200">
                <a:tc>
                  <a:txBody>
                    <a:bodyPr/>
                    <a:lstStyle/>
                    <a:p>
                      <a:pPr algn="r" fontAlgn="b"/>
                      <a:r>
                        <a:rPr lang="en-IN" sz="2000" b="0" i="0" u="none" strike="noStrike">
                          <a:solidFill>
                            <a:srgbClr val="000000"/>
                          </a:solidFill>
                          <a:effectLst/>
                          <a:latin typeface="Calibri" panose="020F0502020204030204" pitchFamily="34" charset="0"/>
                        </a:rPr>
                        <a:t>(1,2)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6810189"/>
                  </a:ext>
                </a:extLst>
              </a:tr>
              <a:tr h="330200">
                <a:tc>
                  <a:txBody>
                    <a:bodyPr/>
                    <a:lstStyle/>
                    <a:p>
                      <a:pPr algn="r" fontAlgn="b"/>
                      <a:r>
                        <a:rPr lang="en-IN" sz="2000" b="0" i="0" u="none" strike="noStrike">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60420750"/>
                  </a:ext>
                </a:extLst>
              </a:tr>
              <a:tr h="330200">
                <a:tc>
                  <a:txBody>
                    <a:bodyPr/>
                    <a:lstStyle/>
                    <a:p>
                      <a:pPr algn="r" fontAlgn="b"/>
                      <a:r>
                        <a:rPr lang="en-IN" sz="2000" b="0"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27843459"/>
                  </a:ext>
                </a:extLst>
              </a:tr>
              <a:tr h="330200">
                <a:tc>
                  <a:txBody>
                    <a:bodyPr/>
                    <a:lstStyle/>
                    <a:p>
                      <a:pPr algn="r" fontAlgn="b"/>
                      <a:r>
                        <a:rPr lang="en-IN" sz="2000" b="0"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79684161"/>
                  </a:ext>
                </a:extLst>
              </a:tr>
            </a:tbl>
          </a:graphicData>
        </a:graphic>
      </p:graphicFrame>
      <p:sp>
        <p:nvSpPr>
          <p:cNvPr id="14" name="TextBox 13">
            <a:extLst>
              <a:ext uri="{FF2B5EF4-FFF2-40B4-BE49-F238E27FC236}">
                <a16:creationId xmlns:a16="http://schemas.microsoft.com/office/drawing/2014/main" id="{4D60B252-BB4B-4047-83D6-F7D5451B3441}"/>
              </a:ext>
            </a:extLst>
          </p:cNvPr>
          <p:cNvSpPr txBox="1"/>
          <p:nvPr/>
        </p:nvSpPr>
        <p:spPr>
          <a:xfrm>
            <a:off x="10109155" y="2565744"/>
            <a:ext cx="593432" cy="369332"/>
          </a:xfrm>
          <a:prstGeom prst="rect">
            <a:avLst/>
          </a:prstGeom>
          <a:noFill/>
        </p:spPr>
        <p:txBody>
          <a:bodyPr wrap="none" rtlCol="0">
            <a:spAutoFit/>
          </a:bodyPr>
          <a:lstStyle/>
          <a:p>
            <a:r>
              <a:rPr lang="en-IN" dirty="0"/>
              <a:t>7,</a:t>
            </a:r>
            <a:r>
              <a:rPr lang="en-IN" dirty="0">
                <a:solidFill>
                  <a:srgbClr val="FF0000"/>
                </a:solidFill>
              </a:rPr>
              <a:t>10</a:t>
            </a:r>
          </a:p>
        </p:txBody>
      </p:sp>
      <p:sp>
        <p:nvSpPr>
          <p:cNvPr id="2" name="TextBox 1">
            <a:extLst>
              <a:ext uri="{FF2B5EF4-FFF2-40B4-BE49-F238E27FC236}">
                <a16:creationId xmlns:a16="http://schemas.microsoft.com/office/drawing/2014/main" id="{80C99456-34D7-4463-BFCB-26AC76B5D5F0}"/>
              </a:ext>
            </a:extLst>
          </p:cNvPr>
          <p:cNvSpPr txBox="1"/>
          <p:nvPr/>
        </p:nvSpPr>
        <p:spPr>
          <a:xfrm>
            <a:off x="793056" y="1878740"/>
            <a:ext cx="772071" cy="369332"/>
          </a:xfrm>
          <a:prstGeom prst="rect">
            <a:avLst/>
          </a:prstGeom>
          <a:noFill/>
        </p:spPr>
        <p:txBody>
          <a:bodyPr wrap="none" rtlCol="0">
            <a:spAutoFit/>
          </a:bodyPr>
          <a:lstStyle/>
          <a:p>
            <a:r>
              <a:rPr lang="en-IN" dirty="0"/>
              <a:t>Step 2</a:t>
            </a:r>
          </a:p>
        </p:txBody>
      </p:sp>
      <p:graphicFrame>
        <p:nvGraphicFramePr>
          <p:cNvPr id="4" name="Table 3">
            <a:extLst>
              <a:ext uri="{FF2B5EF4-FFF2-40B4-BE49-F238E27FC236}">
                <a16:creationId xmlns:a16="http://schemas.microsoft.com/office/drawing/2014/main" id="{004C9117-D57B-4AC1-8BDD-E931F2547010}"/>
              </a:ext>
            </a:extLst>
          </p:cNvPr>
          <p:cNvGraphicFramePr>
            <a:graphicFrameLocks noGrp="1"/>
          </p:cNvGraphicFramePr>
          <p:nvPr/>
        </p:nvGraphicFramePr>
        <p:xfrm>
          <a:off x="7919720" y="4706594"/>
          <a:ext cx="3340100" cy="1663700"/>
        </p:xfrm>
        <a:graphic>
          <a:graphicData uri="http://schemas.openxmlformats.org/drawingml/2006/table">
            <a:tbl>
              <a:tblPr/>
              <a:tblGrid>
                <a:gridCol w="901700">
                  <a:extLst>
                    <a:ext uri="{9D8B030D-6E8A-4147-A177-3AD203B41FA5}">
                      <a16:colId xmlns:a16="http://schemas.microsoft.com/office/drawing/2014/main" val="1158854089"/>
                    </a:ext>
                  </a:extLst>
                </a:gridCol>
                <a:gridCol w="609600">
                  <a:extLst>
                    <a:ext uri="{9D8B030D-6E8A-4147-A177-3AD203B41FA5}">
                      <a16:colId xmlns:a16="http://schemas.microsoft.com/office/drawing/2014/main" val="242199934"/>
                    </a:ext>
                  </a:extLst>
                </a:gridCol>
                <a:gridCol w="609600">
                  <a:extLst>
                    <a:ext uri="{9D8B030D-6E8A-4147-A177-3AD203B41FA5}">
                      <a16:colId xmlns:a16="http://schemas.microsoft.com/office/drawing/2014/main" val="1700530510"/>
                    </a:ext>
                  </a:extLst>
                </a:gridCol>
                <a:gridCol w="609600">
                  <a:extLst>
                    <a:ext uri="{9D8B030D-6E8A-4147-A177-3AD203B41FA5}">
                      <a16:colId xmlns:a16="http://schemas.microsoft.com/office/drawing/2014/main" val="3346318287"/>
                    </a:ext>
                  </a:extLst>
                </a:gridCol>
                <a:gridCol w="609600">
                  <a:extLst>
                    <a:ext uri="{9D8B030D-6E8A-4147-A177-3AD203B41FA5}">
                      <a16:colId xmlns:a16="http://schemas.microsoft.com/office/drawing/2014/main" val="78614387"/>
                    </a:ext>
                  </a:extLst>
                </a:gridCol>
              </a:tblGrid>
              <a:tr h="336550">
                <a:tc>
                  <a:txBody>
                    <a:bodyPr/>
                    <a:lstStyle/>
                    <a:p>
                      <a:pPr algn="r" fontAlgn="b"/>
                      <a:r>
                        <a:rPr lang="en-IN" sz="2000" b="1" i="0" u="none" strike="noStrike">
                          <a:solidFill>
                            <a:srgbClr val="000000"/>
                          </a:solidFill>
                          <a:effectLst/>
                          <a:latin typeface="Calibri" panose="020F0502020204030204" pitchFamily="34" charset="0"/>
                        </a:rPr>
                        <a:t>ID</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1,2</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86251532"/>
                  </a:ext>
                </a:extLst>
              </a:tr>
              <a:tr h="330200">
                <a:tc>
                  <a:txBody>
                    <a:bodyPr/>
                    <a:lstStyle/>
                    <a:p>
                      <a:pPr algn="r" fontAlgn="b"/>
                      <a:r>
                        <a:rPr lang="en-IN" sz="2000" b="1" i="0" u="none" strike="noStrike">
                          <a:solidFill>
                            <a:srgbClr val="000000"/>
                          </a:solidFill>
                          <a:effectLst/>
                          <a:latin typeface="Calibri" panose="020F0502020204030204" pitchFamily="34" charset="0"/>
                        </a:rPr>
                        <a:t>1,2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5266929"/>
                  </a:ext>
                </a:extLst>
              </a:tr>
              <a:tr h="330200">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18</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62480929"/>
                  </a:ext>
                </a:extLst>
              </a:tr>
              <a:tr h="330200">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4758147"/>
                  </a:ext>
                </a:extLst>
              </a:tr>
              <a:tr h="336550">
                <a:tc>
                  <a:txBody>
                    <a:bodyPr/>
                    <a:lstStyle/>
                    <a:p>
                      <a:pPr algn="r" fontAlgn="b"/>
                      <a:r>
                        <a:rPr lang="en-IN" sz="2000" b="1" i="0" u="none" strike="noStrike">
                          <a:solidFill>
                            <a:srgbClr val="000000"/>
                          </a:solidFill>
                          <a:effectLst/>
                          <a:latin typeface="Calibri" panose="020F0502020204030204" pitchFamily="34"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9480155"/>
                  </a:ext>
                </a:extLst>
              </a:tr>
            </a:tbl>
          </a:graphicData>
        </a:graphic>
      </p:graphicFrame>
      <p:sp>
        <p:nvSpPr>
          <p:cNvPr id="15" name="TextBox 14">
            <a:extLst>
              <a:ext uri="{FF2B5EF4-FFF2-40B4-BE49-F238E27FC236}">
                <a16:creationId xmlns:a16="http://schemas.microsoft.com/office/drawing/2014/main" id="{9E4CAED8-02FF-4772-979D-E6A2C6FA69B5}"/>
              </a:ext>
            </a:extLst>
          </p:cNvPr>
          <p:cNvSpPr txBox="1"/>
          <p:nvPr/>
        </p:nvSpPr>
        <p:spPr>
          <a:xfrm>
            <a:off x="7919720" y="4234200"/>
            <a:ext cx="3302764" cy="369332"/>
          </a:xfrm>
          <a:prstGeom prst="rect">
            <a:avLst/>
          </a:prstGeom>
          <a:noFill/>
        </p:spPr>
        <p:txBody>
          <a:bodyPr wrap="none" rtlCol="0">
            <a:spAutoFit/>
          </a:bodyPr>
          <a:lstStyle/>
          <a:p>
            <a:r>
              <a:rPr lang="en-IN" dirty="0"/>
              <a:t>Re Calculate the Proximity Matrix</a:t>
            </a:r>
          </a:p>
        </p:txBody>
      </p:sp>
    </p:spTree>
    <p:extLst>
      <p:ext uri="{BB962C8B-B14F-4D97-AF65-F5344CB8AC3E}">
        <p14:creationId xmlns:p14="http://schemas.microsoft.com/office/powerpoint/2010/main" val="14120695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8224E81-6C57-4F29-B01F-E3833E0EE781}"/>
              </a:ext>
            </a:extLst>
          </p:cNvPr>
          <p:cNvSpPr txBox="1"/>
          <p:nvPr/>
        </p:nvSpPr>
        <p:spPr>
          <a:xfrm>
            <a:off x="566240" y="186591"/>
            <a:ext cx="7657033" cy="369332"/>
          </a:xfrm>
          <a:prstGeom prst="rect">
            <a:avLst/>
          </a:prstGeom>
          <a:noFill/>
        </p:spPr>
        <p:txBody>
          <a:bodyPr wrap="none" rtlCol="0">
            <a:spAutoFit/>
          </a:bodyPr>
          <a:lstStyle/>
          <a:p>
            <a:r>
              <a:rPr lang="en-IN" dirty="0"/>
              <a:t>Step 2: Check the smallest distance proximity matrix and merge the data points.</a:t>
            </a:r>
          </a:p>
        </p:txBody>
      </p:sp>
      <p:pic>
        <p:nvPicPr>
          <p:cNvPr id="3076" name="Picture 4" descr="step 2 : hierarchical">
            <a:extLst>
              <a:ext uri="{FF2B5EF4-FFF2-40B4-BE49-F238E27FC236}">
                <a16:creationId xmlns:a16="http://schemas.microsoft.com/office/drawing/2014/main" id="{164A99B7-C327-420D-BA8E-0E4CA077A7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4756" y="587117"/>
            <a:ext cx="3028950" cy="11906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Table 10">
            <a:extLst>
              <a:ext uri="{FF2B5EF4-FFF2-40B4-BE49-F238E27FC236}">
                <a16:creationId xmlns:a16="http://schemas.microsoft.com/office/drawing/2014/main" id="{004A6E66-5BCA-4EC7-88FD-81C03CAB0432}"/>
              </a:ext>
            </a:extLst>
          </p:cNvPr>
          <p:cNvGraphicFramePr>
            <a:graphicFrameLocks noGrp="1"/>
          </p:cNvGraphicFramePr>
          <p:nvPr>
            <p:extLst>
              <p:ext uri="{D42A27DB-BD31-4B8C-83A1-F6EECF244321}">
                <p14:modId xmlns:p14="http://schemas.microsoft.com/office/powerpoint/2010/main" val="3950068517"/>
              </p:ext>
            </p:extLst>
          </p:nvPr>
        </p:nvGraphicFramePr>
        <p:xfrm>
          <a:off x="7924861" y="555923"/>
          <a:ext cx="1511300" cy="1651000"/>
        </p:xfrm>
        <a:graphic>
          <a:graphicData uri="http://schemas.openxmlformats.org/drawingml/2006/table">
            <a:tbl>
              <a:tblPr/>
              <a:tblGrid>
                <a:gridCol w="901700">
                  <a:extLst>
                    <a:ext uri="{9D8B030D-6E8A-4147-A177-3AD203B41FA5}">
                      <a16:colId xmlns:a16="http://schemas.microsoft.com/office/drawing/2014/main" val="3459134712"/>
                    </a:ext>
                  </a:extLst>
                </a:gridCol>
                <a:gridCol w="609600">
                  <a:extLst>
                    <a:ext uri="{9D8B030D-6E8A-4147-A177-3AD203B41FA5}">
                      <a16:colId xmlns:a16="http://schemas.microsoft.com/office/drawing/2014/main" val="811480175"/>
                    </a:ext>
                  </a:extLst>
                </a:gridCol>
              </a:tblGrid>
              <a:tr h="330200">
                <a:tc>
                  <a:txBody>
                    <a:bodyPr/>
                    <a:lstStyle/>
                    <a:p>
                      <a:pPr algn="l" fontAlgn="b"/>
                      <a:r>
                        <a:rPr lang="en-IN" sz="2000" b="0" i="0" u="none" strike="noStrike">
                          <a:solidFill>
                            <a:srgbClr val="000000"/>
                          </a:solidFill>
                          <a:effectLst/>
                          <a:latin typeface="Calibri" panose="020F0502020204030204" pitchFamily="34" charset="0"/>
                        </a:rPr>
                        <a:t>Product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IN" sz="2000" b="0" i="0" u="none" strike="noStrike" dirty="0">
                          <a:solidFill>
                            <a:srgbClr val="000000"/>
                          </a:solidFill>
                          <a:effectLst/>
                          <a:latin typeface="Calibri" panose="020F0502020204030204" pitchFamily="34" charset="0"/>
                        </a:rPr>
                        <a:t>Sales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582309888"/>
                  </a:ext>
                </a:extLst>
              </a:tr>
              <a:tr h="330200">
                <a:tc>
                  <a:txBody>
                    <a:bodyPr/>
                    <a:lstStyle/>
                    <a:p>
                      <a:pPr algn="r" fontAlgn="b"/>
                      <a:r>
                        <a:rPr lang="en-IN" sz="2000" b="0" i="0" u="none" strike="noStrike">
                          <a:solidFill>
                            <a:srgbClr val="000000"/>
                          </a:solidFill>
                          <a:effectLst/>
                          <a:latin typeface="Calibri" panose="020F0502020204030204" pitchFamily="34" charset="0"/>
                        </a:rPr>
                        <a:t>(1,2)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6810189"/>
                  </a:ext>
                </a:extLst>
              </a:tr>
              <a:tr h="330200">
                <a:tc>
                  <a:txBody>
                    <a:bodyPr/>
                    <a:lstStyle/>
                    <a:p>
                      <a:pPr algn="r" fontAlgn="b"/>
                      <a:r>
                        <a:rPr lang="en-IN" sz="2000" b="0" i="0" u="none" strike="noStrike">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60420750"/>
                  </a:ext>
                </a:extLst>
              </a:tr>
              <a:tr h="330200">
                <a:tc>
                  <a:txBody>
                    <a:bodyPr/>
                    <a:lstStyle/>
                    <a:p>
                      <a:pPr algn="r" fontAlgn="b"/>
                      <a:r>
                        <a:rPr lang="en-IN" sz="2000" b="0"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27843459"/>
                  </a:ext>
                </a:extLst>
              </a:tr>
              <a:tr h="330200">
                <a:tc>
                  <a:txBody>
                    <a:bodyPr/>
                    <a:lstStyle/>
                    <a:p>
                      <a:pPr algn="r" fontAlgn="b"/>
                      <a:r>
                        <a:rPr lang="en-IN" sz="2000" b="0"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79684161"/>
                  </a:ext>
                </a:extLst>
              </a:tr>
            </a:tbl>
          </a:graphicData>
        </a:graphic>
      </p:graphicFrame>
      <p:sp>
        <p:nvSpPr>
          <p:cNvPr id="14" name="TextBox 13">
            <a:extLst>
              <a:ext uri="{FF2B5EF4-FFF2-40B4-BE49-F238E27FC236}">
                <a16:creationId xmlns:a16="http://schemas.microsoft.com/office/drawing/2014/main" id="{4D60B252-BB4B-4047-83D6-F7D5451B3441}"/>
              </a:ext>
            </a:extLst>
          </p:cNvPr>
          <p:cNvSpPr txBox="1"/>
          <p:nvPr/>
        </p:nvSpPr>
        <p:spPr>
          <a:xfrm>
            <a:off x="9640600" y="893624"/>
            <a:ext cx="593432" cy="369332"/>
          </a:xfrm>
          <a:prstGeom prst="rect">
            <a:avLst/>
          </a:prstGeom>
          <a:noFill/>
        </p:spPr>
        <p:txBody>
          <a:bodyPr wrap="none" rtlCol="0">
            <a:spAutoFit/>
          </a:bodyPr>
          <a:lstStyle/>
          <a:p>
            <a:r>
              <a:rPr lang="en-IN" dirty="0"/>
              <a:t>7,</a:t>
            </a:r>
            <a:r>
              <a:rPr lang="en-IN" dirty="0">
                <a:solidFill>
                  <a:srgbClr val="FF0000"/>
                </a:solidFill>
              </a:rPr>
              <a:t>10</a:t>
            </a:r>
          </a:p>
        </p:txBody>
      </p:sp>
      <p:grpSp>
        <p:nvGrpSpPr>
          <p:cNvPr id="13" name="Group 12">
            <a:extLst>
              <a:ext uri="{FF2B5EF4-FFF2-40B4-BE49-F238E27FC236}">
                <a16:creationId xmlns:a16="http://schemas.microsoft.com/office/drawing/2014/main" id="{480EB531-589F-4773-A6F8-CFA51572AB17}"/>
              </a:ext>
            </a:extLst>
          </p:cNvPr>
          <p:cNvGrpSpPr/>
          <p:nvPr/>
        </p:nvGrpSpPr>
        <p:grpSpPr>
          <a:xfrm>
            <a:off x="7916923" y="4816165"/>
            <a:ext cx="3038475" cy="1867991"/>
            <a:chOff x="4394756" y="2577009"/>
            <a:chExt cx="3038475" cy="1867991"/>
          </a:xfrm>
        </p:grpSpPr>
        <p:pic>
          <p:nvPicPr>
            <p:cNvPr id="4" name="Picture 3">
              <a:extLst>
                <a:ext uri="{FF2B5EF4-FFF2-40B4-BE49-F238E27FC236}">
                  <a16:creationId xmlns:a16="http://schemas.microsoft.com/office/drawing/2014/main" id="{6CCF71A7-216E-4E94-AA20-DB88ECD90D6E}"/>
                </a:ext>
              </a:extLst>
            </p:cNvPr>
            <p:cNvPicPr>
              <a:picLocks noChangeAspect="1"/>
            </p:cNvPicPr>
            <p:nvPr/>
          </p:nvPicPr>
          <p:blipFill rotWithShape="1">
            <a:blip r:embed="rId3"/>
            <a:srcRect b="57930"/>
            <a:stretch/>
          </p:blipFill>
          <p:spPr>
            <a:xfrm>
              <a:off x="4394756" y="2946341"/>
              <a:ext cx="3038475" cy="1498659"/>
            </a:xfrm>
            <a:prstGeom prst="rect">
              <a:avLst/>
            </a:prstGeom>
          </p:spPr>
        </p:pic>
        <p:sp>
          <p:nvSpPr>
            <p:cNvPr id="10" name="TextBox 9">
              <a:extLst>
                <a:ext uri="{FF2B5EF4-FFF2-40B4-BE49-F238E27FC236}">
                  <a16:creationId xmlns:a16="http://schemas.microsoft.com/office/drawing/2014/main" id="{9D9712E0-0E06-4057-B117-FEA1B9F473F9}"/>
                </a:ext>
              </a:extLst>
            </p:cNvPr>
            <p:cNvSpPr txBox="1"/>
            <p:nvPr/>
          </p:nvSpPr>
          <p:spPr>
            <a:xfrm>
              <a:off x="4744720" y="2577009"/>
              <a:ext cx="301686" cy="369332"/>
            </a:xfrm>
            <a:prstGeom prst="rect">
              <a:avLst/>
            </a:prstGeom>
            <a:noFill/>
          </p:spPr>
          <p:txBody>
            <a:bodyPr wrap="none" rtlCol="0">
              <a:spAutoFit/>
            </a:bodyPr>
            <a:lstStyle/>
            <a:p>
              <a:r>
                <a:rPr lang="en-IN" dirty="0"/>
                <a:t>3</a:t>
              </a:r>
            </a:p>
          </p:txBody>
        </p:sp>
        <p:sp>
          <p:nvSpPr>
            <p:cNvPr id="16" name="TextBox 15">
              <a:extLst>
                <a:ext uri="{FF2B5EF4-FFF2-40B4-BE49-F238E27FC236}">
                  <a16:creationId xmlns:a16="http://schemas.microsoft.com/office/drawing/2014/main" id="{BBFA5773-FADD-466F-8455-DB06ABDE3817}"/>
                </a:ext>
              </a:extLst>
            </p:cNvPr>
            <p:cNvSpPr txBox="1"/>
            <p:nvPr/>
          </p:nvSpPr>
          <p:spPr>
            <a:xfrm>
              <a:off x="5758388" y="3429000"/>
              <a:ext cx="301686" cy="369332"/>
            </a:xfrm>
            <a:prstGeom prst="rect">
              <a:avLst/>
            </a:prstGeom>
            <a:noFill/>
          </p:spPr>
          <p:txBody>
            <a:bodyPr wrap="none" rtlCol="0">
              <a:spAutoFit/>
            </a:bodyPr>
            <a:lstStyle/>
            <a:p>
              <a:r>
                <a:rPr lang="en-IN" dirty="0"/>
                <a:t>7</a:t>
              </a:r>
            </a:p>
          </p:txBody>
        </p:sp>
      </p:grpSp>
      <p:graphicFrame>
        <p:nvGraphicFramePr>
          <p:cNvPr id="20" name="Table 19">
            <a:extLst>
              <a:ext uri="{FF2B5EF4-FFF2-40B4-BE49-F238E27FC236}">
                <a16:creationId xmlns:a16="http://schemas.microsoft.com/office/drawing/2014/main" id="{833136CB-4B04-44DF-9669-99D300FB28A1}"/>
              </a:ext>
            </a:extLst>
          </p:cNvPr>
          <p:cNvGraphicFramePr>
            <a:graphicFrameLocks noGrp="1"/>
          </p:cNvGraphicFramePr>
          <p:nvPr>
            <p:extLst>
              <p:ext uri="{D42A27DB-BD31-4B8C-83A1-F6EECF244321}">
                <p14:modId xmlns:p14="http://schemas.microsoft.com/office/powerpoint/2010/main" val="2448863076"/>
              </p:ext>
            </p:extLst>
          </p:nvPr>
        </p:nvGraphicFramePr>
        <p:xfrm>
          <a:off x="566240" y="661512"/>
          <a:ext cx="2988224" cy="1866900"/>
        </p:xfrm>
        <a:graphic>
          <a:graphicData uri="http://schemas.openxmlformats.org/drawingml/2006/table">
            <a:tbl>
              <a:tblPr/>
              <a:tblGrid>
                <a:gridCol w="682199">
                  <a:extLst>
                    <a:ext uri="{9D8B030D-6E8A-4147-A177-3AD203B41FA5}">
                      <a16:colId xmlns:a16="http://schemas.microsoft.com/office/drawing/2014/main" val="96185964"/>
                    </a:ext>
                  </a:extLst>
                </a:gridCol>
                <a:gridCol w="461205">
                  <a:extLst>
                    <a:ext uri="{9D8B030D-6E8A-4147-A177-3AD203B41FA5}">
                      <a16:colId xmlns:a16="http://schemas.microsoft.com/office/drawing/2014/main" val="1463001659"/>
                    </a:ext>
                  </a:extLst>
                </a:gridCol>
                <a:gridCol w="461205">
                  <a:extLst>
                    <a:ext uri="{9D8B030D-6E8A-4147-A177-3AD203B41FA5}">
                      <a16:colId xmlns:a16="http://schemas.microsoft.com/office/drawing/2014/main" val="411097495"/>
                    </a:ext>
                  </a:extLst>
                </a:gridCol>
                <a:gridCol w="461205">
                  <a:extLst>
                    <a:ext uri="{9D8B030D-6E8A-4147-A177-3AD203B41FA5}">
                      <a16:colId xmlns:a16="http://schemas.microsoft.com/office/drawing/2014/main" val="1800538190"/>
                    </a:ext>
                  </a:extLst>
                </a:gridCol>
                <a:gridCol w="461205">
                  <a:extLst>
                    <a:ext uri="{9D8B030D-6E8A-4147-A177-3AD203B41FA5}">
                      <a16:colId xmlns:a16="http://schemas.microsoft.com/office/drawing/2014/main" val="3531501363"/>
                    </a:ext>
                  </a:extLst>
                </a:gridCol>
                <a:gridCol w="461205">
                  <a:extLst>
                    <a:ext uri="{9D8B030D-6E8A-4147-A177-3AD203B41FA5}">
                      <a16:colId xmlns:a16="http://schemas.microsoft.com/office/drawing/2014/main" val="3294420862"/>
                    </a:ext>
                  </a:extLst>
                </a:gridCol>
              </a:tblGrid>
              <a:tr h="216629">
                <a:tc>
                  <a:txBody>
                    <a:bodyPr/>
                    <a:lstStyle/>
                    <a:p>
                      <a:pPr algn="r" fontAlgn="b"/>
                      <a:r>
                        <a:rPr lang="en-IN" sz="2000" b="1" i="0" u="none" strike="noStrike">
                          <a:solidFill>
                            <a:srgbClr val="000000"/>
                          </a:solidFill>
                          <a:effectLst/>
                          <a:latin typeface="Calibri" panose="020F0502020204030204" pitchFamily="34" charset="0"/>
                        </a:rPr>
                        <a:t>ID</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1</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46423204"/>
                  </a:ext>
                </a:extLst>
              </a:tr>
              <a:tr h="212542">
                <a:tc>
                  <a:txBody>
                    <a:bodyPr/>
                    <a:lstStyle/>
                    <a:p>
                      <a:pPr algn="r" fontAlgn="b"/>
                      <a:r>
                        <a:rPr lang="en-IN" sz="2000" b="1" i="0" u="none" strike="noStrike">
                          <a:solidFill>
                            <a:srgbClr val="000000"/>
                          </a:solidFill>
                          <a:effectLst/>
                          <a:latin typeface="Calibri" panose="020F0502020204030204" pitchFamily="34"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0070C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chemeClr val="tx1"/>
                          </a:solidFill>
                          <a:effectLst/>
                          <a:latin typeface="Calibri" panose="020F0502020204030204" pitchFamily="34" charset="0"/>
                        </a:rPr>
                        <a:t>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86389542"/>
                  </a:ext>
                </a:extLst>
              </a:tr>
              <a:tr h="212542">
                <a:tc>
                  <a:txBody>
                    <a:bodyPr/>
                    <a:lstStyle/>
                    <a:p>
                      <a:pPr algn="r" fontAlgn="b"/>
                      <a:r>
                        <a:rPr lang="en-IN" sz="2000" b="1" i="0" u="none" strike="noStrike">
                          <a:solidFill>
                            <a:srgbClr val="000000"/>
                          </a:solidFill>
                          <a:effectLst/>
                          <a:latin typeface="Calibri" panose="020F0502020204030204" pitchFamily="34" charset="0"/>
                        </a:rPr>
                        <a:t>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0070C0"/>
                          </a:solidFill>
                          <a:effectLst/>
                          <a:latin typeface="Calibri" panose="020F0502020204030204" pitchFamily="34" charset="0"/>
                        </a:rPr>
                        <a:t>3</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1976737"/>
                  </a:ext>
                </a:extLst>
              </a:tr>
              <a:tr h="212542">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chemeClr val="tx1"/>
                          </a:solidFill>
                          <a:effectLst/>
                          <a:latin typeface="Calibri" panose="020F0502020204030204" pitchFamily="34" charset="0"/>
                        </a:rPr>
                        <a:t>18</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21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9275789"/>
                  </a:ext>
                </a:extLst>
              </a:tr>
              <a:tr h="212542">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24698853"/>
                  </a:ext>
                </a:extLst>
              </a:tr>
              <a:tr h="216629">
                <a:tc>
                  <a:txBody>
                    <a:bodyPr/>
                    <a:lstStyle/>
                    <a:p>
                      <a:pPr algn="r" fontAlgn="b"/>
                      <a:r>
                        <a:rPr lang="en-IN" sz="2000" b="1" i="0" u="none" strike="noStrike" dirty="0">
                          <a:solidFill>
                            <a:srgbClr val="000000"/>
                          </a:solidFill>
                          <a:effectLst/>
                          <a:latin typeface="Calibri" panose="020F0502020204030204" pitchFamily="34"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69606738"/>
                  </a:ext>
                </a:extLst>
              </a:tr>
            </a:tbl>
          </a:graphicData>
        </a:graphic>
      </p:graphicFrame>
      <p:graphicFrame>
        <p:nvGraphicFramePr>
          <p:cNvPr id="21" name="Table 20">
            <a:extLst>
              <a:ext uri="{FF2B5EF4-FFF2-40B4-BE49-F238E27FC236}">
                <a16:creationId xmlns:a16="http://schemas.microsoft.com/office/drawing/2014/main" id="{BC92C7DD-FD01-414E-BB86-0AB9FC7F2695}"/>
              </a:ext>
            </a:extLst>
          </p:cNvPr>
          <p:cNvGraphicFramePr>
            <a:graphicFrameLocks noGrp="1"/>
          </p:cNvGraphicFramePr>
          <p:nvPr>
            <p:extLst>
              <p:ext uri="{D42A27DB-BD31-4B8C-83A1-F6EECF244321}">
                <p14:modId xmlns:p14="http://schemas.microsoft.com/office/powerpoint/2010/main" val="1751059222"/>
              </p:ext>
            </p:extLst>
          </p:nvPr>
        </p:nvGraphicFramePr>
        <p:xfrm>
          <a:off x="7924861" y="3049403"/>
          <a:ext cx="3340100" cy="1663700"/>
        </p:xfrm>
        <a:graphic>
          <a:graphicData uri="http://schemas.openxmlformats.org/drawingml/2006/table">
            <a:tbl>
              <a:tblPr/>
              <a:tblGrid>
                <a:gridCol w="901700">
                  <a:extLst>
                    <a:ext uri="{9D8B030D-6E8A-4147-A177-3AD203B41FA5}">
                      <a16:colId xmlns:a16="http://schemas.microsoft.com/office/drawing/2014/main" val="1158854089"/>
                    </a:ext>
                  </a:extLst>
                </a:gridCol>
                <a:gridCol w="609600">
                  <a:extLst>
                    <a:ext uri="{9D8B030D-6E8A-4147-A177-3AD203B41FA5}">
                      <a16:colId xmlns:a16="http://schemas.microsoft.com/office/drawing/2014/main" val="242199934"/>
                    </a:ext>
                  </a:extLst>
                </a:gridCol>
                <a:gridCol w="609600">
                  <a:extLst>
                    <a:ext uri="{9D8B030D-6E8A-4147-A177-3AD203B41FA5}">
                      <a16:colId xmlns:a16="http://schemas.microsoft.com/office/drawing/2014/main" val="1700530510"/>
                    </a:ext>
                  </a:extLst>
                </a:gridCol>
                <a:gridCol w="609600">
                  <a:extLst>
                    <a:ext uri="{9D8B030D-6E8A-4147-A177-3AD203B41FA5}">
                      <a16:colId xmlns:a16="http://schemas.microsoft.com/office/drawing/2014/main" val="3346318287"/>
                    </a:ext>
                  </a:extLst>
                </a:gridCol>
                <a:gridCol w="609600">
                  <a:extLst>
                    <a:ext uri="{9D8B030D-6E8A-4147-A177-3AD203B41FA5}">
                      <a16:colId xmlns:a16="http://schemas.microsoft.com/office/drawing/2014/main" val="78614387"/>
                    </a:ext>
                  </a:extLst>
                </a:gridCol>
              </a:tblGrid>
              <a:tr h="336550">
                <a:tc>
                  <a:txBody>
                    <a:bodyPr/>
                    <a:lstStyle/>
                    <a:p>
                      <a:pPr algn="r" fontAlgn="b"/>
                      <a:r>
                        <a:rPr lang="en-IN" sz="2000" b="1" i="0" u="none" strike="noStrike">
                          <a:solidFill>
                            <a:srgbClr val="000000"/>
                          </a:solidFill>
                          <a:effectLst/>
                          <a:latin typeface="Calibri" panose="020F0502020204030204" pitchFamily="34" charset="0"/>
                        </a:rPr>
                        <a:t>ID</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1,2</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86251532"/>
                  </a:ext>
                </a:extLst>
              </a:tr>
              <a:tr h="330200">
                <a:tc>
                  <a:txBody>
                    <a:bodyPr/>
                    <a:lstStyle/>
                    <a:p>
                      <a:pPr algn="r" fontAlgn="b"/>
                      <a:r>
                        <a:rPr lang="en-IN" sz="2000" b="1" i="0" u="none" strike="noStrike">
                          <a:solidFill>
                            <a:srgbClr val="000000"/>
                          </a:solidFill>
                          <a:effectLst/>
                          <a:latin typeface="Calibri" panose="020F0502020204030204" pitchFamily="34" charset="0"/>
                        </a:rPr>
                        <a:t>1,2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5266929"/>
                  </a:ext>
                </a:extLst>
              </a:tr>
              <a:tr h="330200">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18</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92D05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62480929"/>
                  </a:ext>
                </a:extLst>
              </a:tr>
              <a:tr h="330200">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4758147"/>
                  </a:ext>
                </a:extLst>
              </a:tr>
              <a:tr h="336550">
                <a:tc>
                  <a:txBody>
                    <a:bodyPr/>
                    <a:lstStyle/>
                    <a:p>
                      <a:pPr algn="r" fontAlgn="b"/>
                      <a:r>
                        <a:rPr lang="en-IN" sz="2000" b="1" i="0" u="none" strike="noStrike">
                          <a:solidFill>
                            <a:srgbClr val="000000"/>
                          </a:solidFill>
                          <a:effectLst/>
                          <a:latin typeface="Calibri" panose="020F0502020204030204" pitchFamily="34"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92D05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9480155"/>
                  </a:ext>
                </a:extLst>
              </a:tr>
            </a:tbl>
          </a:graphicData>
        </a:graphic>
      </p:graphicFrame>
      <p:sp>
        <p:nvSpPr>
          <p:cNvPr id="22" name="TextBox 21">
            <a:extLst>
              <a:ext uri="{FF2B5EF4-FFF2-40B4-BE49-F238E27FC236}">
                <a16:creationId xmlns:a16="http://schemas.microsoft.com/office/drawing/2014/main" id="{0468E312-700D-4DFD-A62B-CB8B84007244}"/>
              </a:ext>
            </a:extLst>
          </p:cNvPr>
          <p:cNvSpPr txBox="1"/>
          <p:nvPr/>
        </p:nvSpPr>
        <p:spPr>
          <a:xfrm>
            <a:off x="7924861" y="2577009"/>
            <a:ext cx="3302764" cy="369332"/>
          </a:xfrm>
          <a:prstGeom prst="rect">
            <a:avLst/>
          </a:prstGeom>
          <a:noFill/>
        </p:spPr>
        <p:txBody>
          <a:bodyPr wrap="none" rtlCol="0">
            <a:spAutoFit/>
          </a:bodyPr>
          <a:lstStyle/>
          <a:p>
            <a:r>
              <a:rPr lang="en-IN" dirty="0"/>
              <a:t>Re Calculate the Proximity Matrix</a:t>
            </a:r>
          </a:p>
        </p:txBody>
      </p:sp>
    </p:spTree>
    <p:extLst>
      <p:ext uri="{BB962C8B-B14F-4D97-AF65-F5344CB8AC3E}">
        <p14:creationId xmlns:p14="http://schemas.microsoft.com/office/powerpoint/2010/main" val="3735462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8224E81-6C57-4F29-B01F-E3833E0EE781}"/>
              </a:ext>
            </a:extLst>
          </p:cNvPr>
          <p:cNvSpPr txBox="1"/>
          <p:nvPr/>
        </p:nvSpPr>
        <p:spPr>
          <a:xfrm>
            <a:off x="566240" y="186591"/>
            <a:ext cx="7657033" cy="369332"/>
          </a:xfrm>
          <a:prstGeom prst="rect">
            <a:avLst/>
          </a:prstGeom>
          <a:noFill/>
        </p:spPr>
        <p:txBody>
          <a:bodyPr wrap="none" rtlCol="0">
            <a:spAutoFit/>
          </a:bodyPr>
          <a:lstStyle/>
          <a:p>
            <a:r>
              <a:rPr lang="en-IN" dirty="0"/>
              <a:t>Step 2: Check the smallest distance proximity matrix and merge the data points.</a:t>
            </a:r>
          </a:p>
        </p:txBody>
      </p:sp>
      <p:pic>
        <p:nvPicPr>
          <p:cNvPr id="3076" name="Picture 4" descr="step 2 : hierarchical">
            <a:extLst>
              <a:ext uri="{FF2B5EF4-FFF2-40B4-BE49-F238E27FC236}">
                <a16:creationId xmlns:a16="http://schemas.microsoft.com/office/drawing/2014/main" id="{164A99B7-C327-420D-BA8E-0E4CA077A7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4756" y="587117"/>
            <a:ext cx="3028950" cy="11906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Table 10">
            <a:extLst>
              <a:ext uri="{FF2B5EF4-FFF2-40B4-BE49-F238E27FC236}">
                <a16:creationId xmlns:a16="http://schemas.microsoft.com/office/drawing/2014/main" id="{004A6E66-5BCA-4EC7-88FD-81C03CAB0432}"/>
              </a:ext>
            </a:extLst>
          </p:cNvPr>
          <p:cNvGraphicFramePr>
            <a:graphicFrameLocks noGrp="1"/>
          </p:cNvGraphicFramePr>
          <p:nvPr/>
        </p:nvGraphicFramePr>
        <p:xfrm>
          <a:off x="7924861" y="555923"/>
          <a:ext cx="1511300" cy="1651000"/>
        </p:xfrm>
        <a:graphic>
          <a:graphicData uri="http://schemas.openxmlformats.org/drawingml/2006/table">
            <a:tbl>
              <a:tblPr/>
              <a:tblGrid>
                <a:gridCol w="901700">
                  <a:extLst>
                    <a:ext uri="{9D8B030D-6E8A-4147-A177-3AD203B41FA5}">
                      <a16:colId xmlns:a16="http://schemas.microsoft.com/office/drawing/2014/main" val="3459134712"/>
                    </a:ext>
                  </a:extLst>
                </a:gridCol>
                <a:gridCol w="609600">
                  <a:extLst>
                    <a:ext uri="{9D8B030D-6E8A-4147-A177-3AD203B41FA5}">
                      <a16:colId xmlns:a16="http://schemas.microsoft.com/office/drawing/2014/main" val="811480175"/>
                    </a:ext>
                  </a:extLst>
                </a:gridCol>
              </a:tblGrid>
              <a:tr h="330200">
                <a:tc>
                  <a:txBody>
                    <a:bodyPr/>
                    <a:lstStyle/>
                    <a:p>
                      <a:pPr algn="l" fontAlgn="b"/>
                      <a:r>
                        <a:rPr lang="en-IN" sz="2000" b="0" i="0" u="none" strike="noStrike">
                          <a:solidFill>
                            <a:srgbClr val="000000"/>
                          </a:solidFill>
                          <a:effectLst/>
                          <a:latin typeface="Calibri" panose="020F0502020204030204" pitchFamily="34" charset="0"/>
                        </a:rPr>
                        <a:t>Product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IN" sz="2000" b="0" i="0" u="none" strike="noStrike" dirty="0">
                          <a:solidFill>
                            <a:srgbClr val="000000"/>
                          </a:solidFill>
                          <a:effectLst/>
                          <a:latin typeface="Calibri" panose="020F0502020204030204" pitchFamily="34" charset="0"/>
                        </a:rPr>
                        <a:t>Sales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582309888"/>
                  </a:ext>
                </a:extLst>
              </a:tr>
              <a:tr h="330200">
                <a:tc>
                  <a:txBody>
                    <a:bodyPr/>
                    <a:lstStyle/>
                    <a:p>
                      <a:pPr algn="r" fontAlgn="b"/>
                      <a:r>
                        <a:rPr lang="en-IN" sz="2000" b="0" i="0" u="none" strike="noStrike">
                          <a:solidFill>
                            <a:srgbClr val="000000"/>
                          </a:solidFill>
                          <a:effectLst/>
                          <a:latin typeface="Calibri" panose="020F0502020204030204" pitchFamily="34" charset="0"/>
                        </a:rPr>
                        <a:t>(1,2)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6810189"/>
                  </a:ext>
                </a:extLst>
              </a:tr>
              <a:tr h="330200">
                <a:tc>
                  <a:txBody>
                    <a:bodyPr/>
                    <a:lstStyle/>
                    <a:p>
                      <a:pPr algn="r" fontAlgn="b"/>
                      <a:r>
                        <a:rPr lang="en-IN" sz="2000" b="0" i="0" u="none" strike="noStrike">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60420750"/>
                  </a:ext>
                </a:extLst>
              </a:tr>
              <a:tr h="330200">
                <a:tc>
                  <a:txBody>
                    <a:bodyPr/>
                    <a:lstStyle/>
                    <a:p>
                      <a:pPr algn="r" fontAlgn="b"/>
                      <a:r>
                        <a:rPr lang="en-IN" sz="2000" b="0"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27843459"/>
                  </a:ext>
                </a:extLst>
              </a:tr>
              <a:tr h="330200">
                <a:tc>
                  <a:txBody>
                    <a:bodyPr/>
                    <a:lstStyle/>
                    <a:p>
                      <a:pPr algn="r" fontAlgn="b"/>
                      <a:r>
                        <a:rPr lang="en-IN" sz="2000" b="0"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79684161"/>
                  </a:ext>
                </a:extLst>
              </a:tr>
            </a:tbl>
          </a:graphicData>
        </a:graphic>
      </p:graphicFrame>
      <p:sp>
        <p:nvSpPr>
          <p:cNvPr id="14" name="TextBox 13">
            <a:extLst>
              <a:ext uri="{FF2B5EF4-FFF2-40B4-BE49-F238E27FC236}">
                <a16:creationId xmlns:a16="http://schemas.microsoft.com/office/drawing/2014/main" id="{4D60B252-BB4B-4047-83D6-F7D5451B3441}"/>
              </a:ext>
            </a:extLst>
          </p:cNvPr>
          <p:cNvSpPr txBox="1"/>
          <p:nvPr/>
        </p:nvSpPr>
        <p:spPr>
          <a:xfrm>
            <a:off x="9640600" y="893624"/>
            <a:ext cx="593432" cy="369332"/>
          </a:xfrm>
          <a:prstGeom prst="rect">
            <a:avLst/>
          </a:prstGeom>
          <a:noFill/>
        </p:spPr>
        <p:txBody>
          <a:bodyPr wrap="none" rtlCol="0">
            <a:spAutoFit/>
          </a:bodyPr>
          <a:lstStyle/>
          <a:p>
            <a:r>
              <a:rPr lang="en-IN" dirty="0"/>
              <a:t>7,</a:t>
            </a:r>
            <a:r>
              <a:rPr lang="en-IN" dirty="0">
                <a:solidFill>
                  <a:srgbClr val="FF0000"/>
                </a:solidFill>
              </a:rPr>
              <a:t>10</a:t>
            </a:r>
          </a:p>
        </p:txBody>
      </p:sp>
      <p:grpSp>
        <p:nvGrpSpPr>
          <p:cNvPr id="13" name="Group 12">
            <a:extLst>
              <a:ext uri="{FF2B5EF4-FFF2-40B4-BE49-F238E27FC236}">
                <a16:creationId xmlns:a16="http://schemas.microsoft.com/office/drawing/2014/main" id="{480EB531-589F-4773-A6F8-CFA51572AB17}"/>
              </a:ext>
            </a:extLst>
          </p:cNvPr>
          <p:cNvGrpSpPr/>
          <p:nvPr/>
        </p:nvGrpSpPr>
        <p:grpSpPr>
          <a:xfrm>
            <a:off x="7916923" y="4816165"/>
            <a:ext cx="3038475" cy="1867991"/>
            <a:chOff x="4394756" y="2577009"/>
            <a:chExt cx="3038475" cy="1867991"/>
          </a:xfrm>
        </p:grpSpPr>
        <p:pic>
          <p:nvPicPr>
            <p:cNvPr id="4" name="Picture 3">
              <a:extLst>
                <a:ext uri="{FF2B5EF4-FFF2-40B4-BE49-F238E27FC236}">
                  <a16:creationId xmlns:a16="http://schemas.microsoft.com/office/drawing/2014/main" id="{6CCF71A7-216E-4E94-AA20-DB88ECD90D6E}"/>
                </a:ext>
              </a:extLst>
            </p:cNvPr>
            <p:cNvPicPr>
              <a:picLocks noChangeAspect="1"/>
            </p:cNvPicPr>
            <p:nvPr/>
          </p:nvPicPr>
          <p:blipFill rotWithShape="1">
            <a:blip r:embed="rId3"/>
            <a:srcRect b="57930"/>
            <a:stretch/>
          </p:blipFill>
          <p:spPr>
            <a:xfrm>
              <a:off x="4394756" y="2946341"/>
              <a:ext cx="3038475" cy="1498659"/>
            </a:xfrm>
            <a:prstGeom prst="rect">
              <a:avLst/>
            </a:prstGeom>
          </p:spPr>
        </p:pic>
        <p:sp>
          <p:nvSpPr>
            <p:cNvPr id="10" name="TextBox 9">
              <a:extLst>
                <a:ext uri="{FF2B5EF4-FFF2-40B4-BE49-F238E27FC236}">
                  <a16:creationId xmlns:a16="http://schemas.microsoft.com/office/drawing/2014/main" id="{9D9712E0-0E06-4057-B117-FEA1B9F473F9}"/>
                </a:ext>
              </a:extLst>
            </p:cNvPr>
            <p:cNvSpPr txBox="1"/>
            <p:nvPr/>
          </p:nvSpPr>
          <p:spPr>
            <a:xfrm>
              <a:off x="4744720" y="2577009"/>
              <a:ext cx="301686" cy="369332"/>
            </a:xfrm>
            <a:prstGeom prst="rect">
              <a:avLst/>
            </a:prstGeom>
            <a:noFill/>
          </p:spPr>
          <p:txBody>
            <a:bodyPr wrap="none" rtlCol="0">
              <a:spAutoFit/>
            </a:bodyPr>
            <a:lstStyle/>
            <a:p>
              <a:r>
                <a:rPr lang="en-IN" dirty="0"/>
                <a:t>3</a:t>
              </a:r>
            </a:p>
          </p:txBody>
        </p:sp>
        <p:sp>
          <p:nvSpPr>
            <p:cNvPr id="16" name="TextBox 15">
              <a:extLst>
                <a:ext uri="{FF2B5EF4-FFF2-40B4-BE49-F238E27FC236}">
                  <a16:creationId xmlns:a16="http://schemas.microsoft.com/office/drawing/2014/main" id="{BBFA5773-FADD-466F-8455-DB06ABDE3817}"/>
                </a:ext>
              </a:extLst>
            </p:cNvPr>
            <p:cNvSpPr txBox="1"/>
            <p:nvPr/>
          </p:nvSpPr>
          <p:spPr>
            <a:xfrm>
              <a:off x="5758388" y="3429000"/>
              <a:ext cx="301686" cy="369332"/>
            </a:xfrm>
            <a:prstGeom prst="rect">
              <a:avLst/>
            </a:prstGeom>
            <a:noFill/>
          </p:spPr>
          <p:txBody>
            <a:bodyPr wrap="none" rtlCol="0">
              <a:spAutoFit/>
            </a:bodyPr>
            <a:lstStyle/>
            <a:p>
              <a:r>
                <a:rPr lang="en-IN" dirty="0"/>
                <a:t>7</a:t>
              </a:r>
            </a:p>
          </p:txBody>
        </p:sp>
      </p:grpSp>
      <p:graphicFrame>
        <p:nvGraphicFramePr>
          <p:cNvPr id="20" name="Table 19">
            <a:extLst>
              <a:ext uri="{FF2B5EF4-FFF2-40B4-BE49-F238E27FC236}">
                <a16:creationId xmlns:a16="http://schemas.microsoft.com/office/drawing/2014/main" id="{833136CB-4B04-44DF-9669-99D300FB28A1}"/>
              </a:ext>
            </a:extLst>
          </p:cNvPr>
          <p:cNvGraphicFramePr>
            <a:graphicFrameLocks noGrp="1"/>
          </p:cNvGraphicFramePr>
          <p:nvPr/>
        </p:nvGraphicFramePr>
        <p:xfrm>
          <a:off x="566240" y="661512"/>
          <a:ext cx="2988224" cy="1866900"/>
        </p:xfrm>
        <a:graphic>
          <a:graphicData uri="http://schemas.openxmlformats.org/drawingml/2006/table">
            <a:tbl>
              <a:tblPr/>
              <a:tblGrid>
                <a:gridCol w="682199">
                  <a:extLst>
                    <a:ext uri="{9D8B030D-6E8A-4147-A177-3AD203B41FA5}">
                      <a16:colId xmlns:a16="http://schemas.microsoft.com/office/drawing/2014/main" val="96185964"/>
                    </a:ext>
                  </a:extLst>
                </a:gridCol>
                <a:gridCol w="461205">
                  <a:extLst>
                    <a:ext uri="{9D8B030D-6E8A-4147-A177-3AD203B41FA5}">
                      <a16:colId xmlns:a16="http://schemas.microsoft.com/office/drawing/2014/main" val="1463001659"/>
                    </a:ext>
                  </a:extLst>
                </a:gridCol>
                <a:gridCol w="461205">
                  <a:extLst>
                    <a:ext uri="{9D8B030D-6E8A-4147-A177-3AD203B41FA5}">
                      <a16:colId xmlns:a16="http://schemas.microsoft.com/office/drawing/2014/main" val="411097495"/>
                    </a:ext>
                  </a:extLst>
                </a:gridCol>
                <a:gridCol w="461205">
                  <a:extLst>
                    <a:ext uri="{9D8B030D-6E8A-4147-A177-3AD203B41FA5}">
                      <a16:colId xmlns:a16="http://schemas.microsoft.com/office/drawing/2014/main" val="1800538190"/>
                    </a:ext>
                  </a:extLst>
                </a:gridCol>
                <a:gridCol w="461205">
                  <a:extLst>
                    <a:ext uri="{9D8B030D-6E8A-4147-A177-3AD203B41FA5}">
                      <a16:colId xmlns:a16="http://schemas.microsoft.com/office/drawing/2014/main" val="3531501363"/>
                    </a:ext>
                  </a:extLst>
                </a:gridCol>
                <a:gridCol w="461205">
                  <a:extLst>
                    <a:ext uri="{9D8B030D-6E8A-4147-A177-3AD203B41FA5}">
                      <a16:colId xmlns:a16="http://schemas.microsoft.com/office/drawing/2014/main" val="3294420862"/>
                    </a:ext>
                  </a:extLst>
                </a:gridCol>
              </a:tblGrid>
              <a:tr h="216629">
                <a:tc>
                  <a:txBody>
                    <a:bodyPr/>
                    <a:lstStyle/>
                    <a:p>
                      <a:pPr algn="r" fontAlgn="b"/>
                      <a:r>
                        <a:rPr lang="en-IN" sz="2000" b="1" i="0" u="none" strike="noStrike">
                          <a:solidFill>
                            <a:srgbClr val="000000"/>
                          </a:solidFill>
                          <a:effectLst/>
                          <a:latin typeface="Calibri" panose="020F0502020204030204" pitchFamily="34" charset="0"/>
                        </a:rPr>
                        <a:t>ID</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1</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46423204"/>
                  </a:ext>
                </a:extLst>
              </a:tr>
              <a:tr h="212542">
                <a:tc>
                  <a:txBody>
                    <a:bodyPr/>
                    <a:lstStyle/>
                    <a:p>
                      <a:pPr algn="r" fontAlgn="b"/>
                      <a:r>
                        <a:rPr lang="en-IN" sz="2000" b="1" i="0" u="none" strike="noStrike">
                          <a:solidFill>
                            <a:srgbClr val="000000"/>
                          </a:solidFill>
                          <a:effectLst/>
                          <a:latin typeface="Calibri" panose="020F0502020204030204" pitchFamily="34"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0070C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chemeClr val="tx1"/>
                          </a:solidFill>
                          <a:effectLst/>
                          <a:latin typeface="Calibri" panose="020F0502020204030204" pitchFamily="34" charset="0"/>
                        </a:rPr>
                        <a:t>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86389542"/>
                  </a:ext>
                </a:extLst>
              </a:tr>
              <a:tr h="212542">
                <a:tc>
                  <a:txBody>
                    <a:bodyPr/>
                    <a:lstStyle/>
                    <a:p>
                      <a:pPr algn="r" fontAlgn="b"/>
                      <a:r>
                        <a:rPr lang="en-IN" sz="2000" b="1" i="0" u="none" strike="noStrike">
                          <a:solidFill>
                            <a:srgbClr val="000000"/>
                          </a:solidFill>
                          <a:effectLst/>
                          <a:latin typeface="Calibri" panose="020F0502020204030204" pitchFamily="34" charset="0"/>
                        </a:rPr>
                        <a:t>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0070C0"/>
                          </a:solidFill>
                          <a:effectLst/>
                          <a:latin typeface="Calibri" panose="020F0502020204030204" pitchFamily="34" charset="0"/>
                        </a:rPr>
                        <a:t>3</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1976737"/>
                  </a:ext>
                </a:extLst>
              </a:tr>
              <a:tr h="212542">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chemeClr val="tx1"/>
                          </a:solidFill>
                          <a:effectLst/>
                          <a:latin typeface="Calibri" panose="020F0502020204030204" pitchFamily="34" charset="0"/>
                        </a:rPr>
                        <a:t>18</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21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9275789"/>
                  </a:ext>
                </a:extLst>
              </a:tr>
              <a:tr h="212542">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24698853"/>
                  </a:ext>
                </a:extLst>
              </a:tr>
              <a:tr h="216629">
                <a:tc>
                  <a:txBody>
                    <a:bodyPr/>
                    <a:lstStyle/>
                    <a:p>
                      <a:pPr algn="r" fontAlgn="b"/>
                      <a:r>
                        <a:rPr lang="en-IN" sz="2000" b="1" i="0" u="none" strike="noStrike" dirty="0">
                          <a:solidFill>
                            <a:srgbClr val="000000"/>
                          </a:solidFill>
                          <a:effectLst/>
                          <a:latin typeface="Calibri" panose="020F0502020204030204" pitchFamily="34"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69606738"/>
                  </a:ext>
                </a:extLst>
              </a:tr>
            </a:tbl>
          </a:graphicData>
        </a:graphic>
      </p:graphicFrame>
      <p:graphicFrame>
        <p:nvGraphicFramePr>
          <p:cNvPr id="21" name="Table 20">
            <a:extLst>
              <a:ext uri="{FF2B5EF4-FFF2-40B4-BE49-F238E27FC236}">
                <a16:creationId xmlns:a16="http://schemas.microsoft.com/office/drawing/2014/main" id="{BC92C7DD-FD01-414E-BB86-0AB9FC7F2695}"/>
              </a:ext>
            </a:extLst>
          </p:cNvPr>
          <p:cNvGraphicFramePr>
            <a:graphicFrameLocks noGrp="1"/>
          </p:cNvGraphicFramePr>
          <p:nvPr/>
        </p:nvGraphicFramePr>
        <p:xfrm>
          <a:off x="7924861" y="3049403"/>
          <a:ext cx="3340100" cy="1663700"/>
        </p:xfrm>
        <a:graphic>
          <a:graphicData uri="http://schemas.openxmlformats.org/drawingml/2006/table">
            <a:tbl>
              <a:tblPr/>
              <a:tblGrid>
                <a:gridCol w="901700">
                  <a:extLst>
                    <a:ext uri="{9D8B030D-6E8A-4147-A177-3AD203B41FA5}">
                      <a16:colId xmlns:a16="http://schemas.microsoft.com/office/drawing/2014/main" val="1158854089"/>
                    </a:ext>
                  </a:extLst>
                </a:gridCol>
                <a:gridCol w="609600">
                  <a:extLst>
                    <a:ext uri="{9D8B030D-6E8A-4147-A177-3AD203B41FA5}">
                      <a16:colId xmlns:a16="http://schemas.microsoft.com/office/drawing/2014/main" val="242199934"/>
                    </a:ext>
                  </a:extLst>
                </a:gridCol>
                <a:gridCol w="609600">
                  <a:extLst>
                    <a:ext uri="{9D8B030D-6E8A-4147-A177-3AD203B41FA5}">
                      <a16:colId xmlns:a16="http://schemas.microsoft.com/office/drawing/2014/main" val="1700530510"/>
                    </a:ext>
                  </a:extLst>
                </a:gridCol>
                <a:gridCol w="609600">
                  <a:extLst>
                    <a:ext uri="{9D8B030D-6E8A-4147-A177-3AD203B41FA5}">
                      <a16:colId xmlns:a16="http://schemas.microsoft.com/office/drawing/2014/main" val="3346318287"/>
                    </a:ext>
                  </a:extLst>
                </a:gridCol>
                <a:gridCol w="609600">
                  <a:extLst>
                    <a:ext uri="{9D8B030D-6E8A-4147-A177-3AD203B41FA5}">
                      <a16:colId xmlns:a16="http://schemas.microsoft.com/office/drawing/2014/main" val="78614387"/>
                    </a:ext>
                  </a:extLst>
                </a:gridCol>
              </a:tblGrid>
              <a:tr h="336550">
                <a:tc>
                  <a:txBody>
                    <a:bodyPr/>
                    <a:lstStyle/>
                    <a:p>
                      <a:pPr algn="r" fontAlgn="b"/>
                      <a:r>
                        <a:rPr lang="en-IN" sz="2000" b="1" i="0" u="none" strike="noStrike">
                          <a:solidFill>
                            <a:srgbClr val="000000"/>
                          </a:solidFill>
                          <a:effectLst/>
                          <a:latin typeface="Calibri" panose="020F0502020204030204" pitchFamily="34" charset="0"/>
                        </a:rPr>
                        <a:t>ID</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1,2</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86251532"/>
                  </a:ext>
                </a:extLst>
              </a:tr>
              <a:tr h="330200">
                <a:tc>
                  <a:txBody>
                    <a:bodyPr/>
                    <a:lstStyle/>
                    <a:p>
                      <a:pPr algn="r" fontAlgn="b"/>
                      <a:r>
                        <a:rPr lang="en-IN" sz="2000" b="1" i="0" u="none" strike="noStrike">
                          <a:solidFill>
                            <a:srgbClr val="000000"/>
                          </a:solidFill>
                          <a:effectLst/>
                          <a:latin typeface="Calibri" panose="020F0502020204030204" pitchFamily="34" charset="0"/>
                        </a:rPr>
                        <a:t>1,2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5266929"/>
                  </a:ext>
                </a:extLst>
              </a:tr>
              <a:tr h="330200">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18</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92D05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62480929"/>
                  </a:ext>
                </a:extLst>
              </a:tr>
              <a:tr h="330200">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4758147"/>
                  </a:ext>
                </a:extLst>
              </a:tr>
              <a:tr h="336550">
                <a:tc>
                  <a:txBody>
                    <a:bodyPr/>
                    <a:lstStyle/>
                    <a:p>
                      <a:pPr algn="r" fontAlgn="b"/>
                      <a:r>
                        <a:rPr lang="en-IN" sz="2000" b="1" i="0" u="none" strike="noStrike">
                          <a:solidFill>
                            <a:srgbClr val="000000"/>
                          </a:solidFill>
                          <a:effectLst/>
                          <a:latin typeface="Calibri" panose="020F0502020204030204" pitchFamily="34"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92D05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9480155"/>
                  </a:ext>
                </a:extLst>
              </a:tr>
            </a:tbl>
          </a:graphicData>
        </a:graphic>
      </p:graphicFrame>
      <p:sp>
        <p:nvSpPr>
          <p:cNvPr id="22" name="TextBox 21">
            <a:extLst>
              <a:ext uri="{FF2B5EF4-FFF2-40B4-BE49-F238E27FC236}">
                <a16:creationId xmlns:a16="http://schemas.microsoft.com/office/drawing/2014/main" id="{0468E312-700D-4DFD-A62B-CB8B84007244}"/>
              </a:ext>
            </a:extLst>
          </p:cNvPr>
          <p:cNvSpPr txBox="1"/>
          <p:nvPr/>
        </p:nvSpPr>
        <p:spPr>
          <a:xfrm>
            <a:off x="7924861" y="2577009"/>
            <a:ext cx="3302764" cy="369332"/>
          </a:xfrm>
          <a:prstGeom prst="rect">
            <a:avLst/>
          </a:prstGeom>
          <a:noFill/>
        </p:spPr>
        <p:txBody>
          <a:bodyPr wrap="none" rtlCol="0">
            <a:spAutoFit/>
          </a:bodyPr>
          <a:lstStyle/>
          <a:p>
            <a:r>
              <a:rPr lang="en-IN" dirty="0"/>
              <a:t>Re Calculate the Proximity Matrix</a:t>
            </a:r>
          </a:p>
        </p:txBody>
      </p:sp>
    </p:spTree>
    <p:extLst>
      <p:ext uri="{BB962C8B-B14F-4D97-AF65-F5344CB8AC3E}">
        <p14:creationId xmlns:p14="http://schemas.microsoft.com/office/powerpoint/2010/main" val="518667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8224E81-6C57-4F29-B01F-E3833E0EE781}"/>
              </a:ext>
            </a:extLst>
          </p:cNvPr>
          <p:cNvSpPr txBox="1"/>
          <p:nvPr/>
        </p:nvSpPr>
        <p:spPr>
          <a:xfrm>
            <a:off x="566240" y="186591"/>
            <a:ext cx="7657033" cy="369332"/>
          </a:xfrm>
          <a:prstGeom prst="rect">
            <a:avLst/>
          </a:prstGeom>
          <a:noFill/>
        </p:spPr>
        <p:txBody>
          <a:bodyPr wrap="none" rtlCol="0">
            <a:spAutoFit/>
          </a:bodyPr>
          <a:lstStyle/>
          <a:p>
            <a:r>
              <a:rPr lang="en-IN" dirty="0"/>
              <a:t>Step 2: Check the smallest distance proximity matrix and merge the data points.</a:t>
            </a:r>
          </a:p>
        </p:txBody>
      </p:sp>
      <p:pic>
        <p:nvPicPr>
          <p:cNvPr id="3076" name="Picture 4" descr="step 2 : hierarchical">
            <a:extLst>
              <a:ext uri="{FF2B5EF4-FFF2-40B4-BE49-F238E27FC236}">
                <a16:creationId xmlns:a16="http://schemas.microsoft.com/office/drawing/2014/main" id="{164A99B7-C327-420D-BA8E-0E4CA077A7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4756" y="587117"/>
            <a:ext cx="3028950" cy="11906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Table 10">
            <a:extLst>
              <a:ext uri="{FF2B5EF4-FFF2-40B4-BE49-F238E27FC236}">
                <a16:creationId xmlns:a16="http://schemas.microsoft.com/office/drawing/2014/main" id="{004A6E66-5BCA-4EC7-88FD-81C03CAB0432}"/>
              </a:ext>
            </a:extLst>
          </p:cNvPr>
          <p:cNvGraphicFramePr>
            <a:graphicFrameLocks noGrp="1"/>
          </p:cNvGraphicFramePr>
          <p:nvPr/>
        </p:nvGraphicFramePr>
        <p:xfrm>
          <a:off x="7924861" y="555923"/>
          <a:ext cx="1511300" cy="1651000"/>
        </p:xfrm>
        <a:graphic>
          <a:graphicData uri="http://schemas.openxmlformats.org/drawingml/2006/table">
            <a:tbl>
              <a:tblPr/>
              <a:tblGrid>
                <a:gridCol w="901700">
                  <a:extLst>
                    <a:ext uri="{9D8B030D-6E8A-4147-A177-3AD203B41FA5}">
                      <a16:colId xmlns:a16="http://schemas.microsoft.com/office/drawing/2014/main" val="3459134712"/>
                    </a:ext>
                  </a:extLst>
                </a:gridCol>
                <a:gridCol w="609600">
                  <a:extLst>
                    <a:ext uri="{9D8B030D-6E8A-4147-A177-3AD203B41FA5}">
                      <a16:colId xmlns:a16="http://schemas.microsoft.com/office/drawing/2014/main" val="811480175"/>
                    </a:ext>
                  </a:extLst>
                </a:gridCol>
              </a:tblGrid>
              <a:tr h="330200">
                <a:tc>
                  <a:txBody>
                    <a:bodyPr/>
                    <a:lstStyle/>
                    <a:p>
                      <a:pPr algn="l" fontAlgn="b"/>
                      <a:r>
                        <a:rPr lang="en-IN" sz="2000" b="0" i="0" u="none" strike="noStrike">
                          <a:solidFill>
                            <a:srgbClr val="000000"/>
                          </a:solidFill>
                          <a:effectLst/>
                          <a:latin typeface="Calibri" panose="020F0502020204030204" pitchFamily="34" charset="0"/>
                        </a:rPr>
                        <a:t>Product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IN" sz="2000" b="0" i="0" u="none" strike="noStrike" dirty="0">
                          <a:solidFill>
                            <a:srgbClr val="000000"/>
                          </a:solidFill>
                          <a:effectLst/>
                          <a:latin typeface="Calibri" panose="020F0502020204030204" pitchFamily="34" charset="0"/>
                        </a:rPr>
                        <a:t>Sales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582309888"/>
                  </a:ext>
                </a:extLst>
              </a:tr>
              <a:tr h="330200">
                <a:tc>
                  <a:txBody>
                    <a:bodyPr/>
                    <a:lstStyle/>
                    <a:p>
                      <a:pPr algn="r" fontAlgn="b"/>
                      <a:r>
                        <a:rPr lang="en-IN" sz="2000" b="0" i="0" u="none" strike="noStrike">
                          <a:solidFill>
                            <a:srgbClr val="000000"/>
                          </a:solidFill>
                          <a:effectLst/>
                          <a:latin typeface="Calibri" panose="020F0502020204030204" pitchFamily="34" charset="0"/>
                        </a:rPr>
                        <a:t>(1,2)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6810189"/>
                  </a:ext>
                </a:extLst>
              </a:tr>
              <a:tr h="330200">
                <a:tc>
                  <a:txBody>
                    <a:bodyPr/>
                    <a:lstStyle/>
                    <a:p>
                      <a:pPr algn="r" fontAlgn="b"/>
                      <a:r>
                        <a:rPr lang="en-IN" sz="2000" b="0" i="0" u="none" strike="noStrike">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60420750"/>
                  </a:ext>
                </a:extLst>
              </a:tr>
              <a:tr h="330200">
                <a:tc>
                  <a:txBody>
                    <a:bodyPr/>
                    <a:lstStyle/>
                    <a:p>
                      <a:pPr algn="r" fontAlgn="b"/>
                      <a:r>
                        <a:rPr lang="en-IN" sz="2000" b="0"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27843459"/>
                  </a:ext>
                </a:extLst>
              </a:tr>
              <a:tr h="330200">
                <a:tc>
                  <a:txBody>
                    <a:bodyPr/>
                    <a:lstStyle/>
                    <a:p>
                      <a:pPr algn="r" fontAlgn="b"/>
                      <a:r>
                        <a:rPr lang="en-IN" sz="2000" b="0"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79684161"/>
                  </a:ext>
                </a:extLst>
              </a:tr>
            </a:tbl>
          </a:graphicData>
        </a:graphic>
      </p:graphicFrame>
      <p:sp>
        <p:nvSpPr>
          <p:cNvPr id="14" name="TextBox 13">
            <a:extLst>
              <a:ext uri="{FF2B5EF4-FFF2-40B4-BE49-F238E27FC236}">
                <a16:creationId xmlns:a16="http://schemas.microsoft.com/office/drawing/2014/main" id="{4D60B252-BB4B-4047-83D6-F7D5451B3441}"/>
              </a:ext>
            </a:extLst>
          </p:cNvPr>
          <p:cNvSpPr txBox="1"/>
          <p:nvPr/>
        </p:nvSpPr>
        <p:spPr>
          <a:xfrm>
            <a:off x="9640600" y="893624"/>
            <a:ext cx="593432" cy="369332"/>
          </a:xfrm>
          <a:prstGeom prst="rect">
            <a:avLst/>
          </a:prstGeom>
          <a:noFill/>
        </p:spPr>
        <p:txBody>
          <a:bodyPr wrap="none" rtlCol="0">
            <a:spAutoFit/>
          </a:bodyPr>
          <a:lstStyle/>
          <a:p>
            <a:r>
              <a:rPr lang="en-IN" dirty="0"/>
              <a:t>7,</a:t>
            </a:r>
            <a:r>
              <a:rPr lang="en-IN" dirty="0">
                <a:solidFill>
                  <a:srgbClr val="FF0000"/>
                </a:solidFill>
              </a:rPr>
              <a:t>10</a:t>
            </a:r>
          </a:p>
        </p:txBody>
      </p:sp>
      <p:grpSp>
        <p:nvGrpSpPr>
          <p:cNvPr id="13" name="Group 12">
            <a:extLst>
              <a:ext uri="{FF2B5EF4-FFF2-40B4-BE49-F238E27FC236}">
                <a16:creationId xmlns:a16="http://schemas.microsoft.com/office/drawing/2014/main" id="{480EB531-589F-4773-A6F8-CFA51572AB17}"/>
              </a:ext>
            </a:extLst>
          </p:cNvPr>
          <p:cNvGrpSpPr/>
          <p:nvPr/>
        </p:nvGrpSpPr>
        <p:grpSpPr>
          <a:xfrm>
            <a:off x="7916923" y="4816165"/>
            <a:ext cx="3038475" cy="1867991"/>
            <a:chOff x="4394756" y="2577009"/>
            <a:chExt cx="3038475" cy="1867991"/>
          </a:xfrm>
        </p:grpSpPr>
        <p:pic>
          <p:nvPicPr>
            <p:cNvPr id="4" name="Picture 3">
              <a:extLst>
                <a:ext uri="{FF2B5EF4-FFF2-40B4-BE49-F238E27FC236}">
                  <a16:creationId xmlns:a16="http://schemas.microsoft.com/office/drawing/2014/main" id="{6CCF71A7-216E-4E94-AA20-DB88ECD90D6E}"/>
                </a:ext>
              </a:extLst>
            </p:cNvPr>
            <p:cNvPicPr>
              <a:picLocks noChangeAspect="1"/>
            </p:cNvPicPr>
            <p:nvPr/>
          </p:nvPicPr>
          <p:blipFill rotWithShape="1">
            <a:blip r:embed="rId3"/>
            <a:srcRect b="57930"/>
            <a:stretch/>
          </p:blipFill>
          <p:spPr>
            <a:xfrm>
              <a:off x="4394756" y="2946341"/>
              <a:ext cx="3038475" cy="1498659"/>
            </a:xfrm>
            <a:prstGeom prst="rect">
              <a:avLst/>
            </a:prstGeom>
          </p:spPr>
        </p:pic>
        <p:sp>
          <p:nvSpPr>
            <p:cNvPr id="10" name="TextBox 9">
              <a:extLst>
                <a:ext uri="{FF2B5EF4-FFF2-40B4-BE49-F238E27FC236}">
                  <a16:creationId xmlns:a16="http://schemas.microsoft.com/office/drawing/2014/main" id="{9D9712E0-0E06-4057-B117-FEA1B9F473F9}"/>
                </a:ext>
              </a:extLst>
            </p:cNvPr>
            <p:cNvSpPr txBox="1"/>
            <p:nvPr/>
          </p:nvSpPr>
          <p:spPr>
            <a:xfrm>
              <a:off x="4744720" y="2577009"/>
              <a:ext cx="301686" cy="369332"/>
            </a:xfrm>
            <a:prstGeom prst="rect">
              <a:avLst/>
            </a:prstGeom>
            <a:noFill/>
          </p:spPr>
          <p:txBody>
            <a:bodyPr wrap="none" rtlCol="0">
              <a:spAutoFit/>
            </a:bodyPr>
            <a:lstStyle/>
            <a:p>
              <a:r>
                <a:rPr lang="en-IN" dirty="0"/>
                <a:t>3</a:t>
              </a:r>
            </a:p>
          </p:txBody>
        </p:sp>
        <p:sp>
          <p:nvSpPr>
            <p:cNvPr id="16" name="TextBox 15">
              <a:extLst>
                <a:ext uri="{FF2B5EF4-FFF2-40B4-BE49-F238E27FC236}">
                  <a16:creationId xmlns:a16="http://schemas.microsoft.com/office/drawing/2014/main" id="{BBFA5773-FADD-466F-8455-DB06ABDE3817}"/>
                </a:ext>
              </a:extLst>
            </p:cNvPr>
            <p:cNvSpPr txBox="1"/>
            <p:nvPr/>
          </p:nvSpPr>
          <p:spPr>
            <a:xfrm>
              <a:off x="5758388" y="3429000"/>
              <a:ext cx="301686" cy="369332"/>
            </a:xfrm>
            <a:prstGeom prst="rect">
              <a:avLst/>
            </a:prstGeom>
            <a:noFill/>
          </p:spPr>
          <p:txBody>
            <a:bodyPr wrap="none" rtlCol="0">
              <a:spAutoFit/>
            </a:bodyPr>
            <a:lstStyle/>
            <a:p>
              <a:r>
                <a:rPr lang="en-IN" dirty="0"/>
                <a:t>7</a:t>
              </a:r>
            </a:p>
          </p:txBody>
        </p:sp>
      </p:grpSp>
      <p:graphicFrame>
        <p:nvGraphicFramePr>
          <p:cNvPr id="20" name="Table 19">
            <a:extLst>
              <a:ext uri="{FF2B5EF4-FFF2-40B4-BE49-F238E27FC236}">
                <a16:creationId xmlns:a16="http://schemas.microsoft.com/office/drawing/2014/main" id="{833136CB-4B04-44DF-9669-99D300FB28A1}"/>
              </a:ext>
            </a:extLst>
          </p:cNvPr>
          <p:cNvGraphicFramePr>
            <a:graphicFrameLocks noGrp="1"/>
          </p:cNvGraphicFramePr>
          <p:nvPr>
            <p:extLst>
              <p:ext uri="{D42A27DB-BD31-4B8C-83A1-F6EECF244321}">
                <p14:modId xmlns:p14="http://schemas.microsoft.com/office/powerpoint/2010/main" val="2014577223"/>
              </p:ext>
            </p:extLst>
          </p:nvPr>
        </p:nvGraphicFramePr>
        <p:xfrm>
          <a:off x="566240" y="661512"/>
          <a:ext cx="2988224" cy="1866900"/>
        </p:xfrm>
        <a:graphic>
          <a:graphicData uri="http://schemas.openxmlformats.org/drawingml/2006/table">
            <a:tbl>
              <a:tblPr/>
              <a:tblGrid>
                <a:gridCol w="682199">
                  <a:extLst>
                    <a:ext uri="{9D8B030D-6E8A-4147-A177-3AD203B41FA5}">
                      <a16:colId xmlns:a16="http://schemas.microsoft.com/office/drawing/2014/main" val="96185964"/>
                    </a:ext>
                  </a:extLst>
                </a:gridCol>
                <a:gridCol w="461205">
                  <a:extLst>
                    <a:ext uri="{9D8B030D-6E8A-4147-A177-3AD203B41FA5}">
                      <a16:colId xmlns:a16="http://schemas.microsoft.com/office/drawing/2014/main" val="1463001659"/>
                    </a:ext>
                  </a:extLst>
                </a:gridCol>
                <a:gridCol w="461205">
                  <a:extLst>
                    <a:ext uri="{9D8B030D-6E8A-4147-A177-3AD203B41FA5}">
                      <a16:colId xmlns:a16="http://schemas.microsoft.com/office/drawing/2014/main" val="411097495"/>
                    </a:ext>
                  </a:extLst>
                </a:gridCol>
                <a:gridCol w="461205">
                  <a:extLst>
                    <a:ext uri="{9D8B030D-6E8A-4147-A177-3AD203B41FA5}">
                      <a16:colId xmlns:a16="http://schemas.microsoft.com/office/drawing/2014/main" val="1800538190"/>
                    </a:ext>
                  </a:extLst>
                </a:gridCol>
                <a:gridCol w="461205">
                  <a:extLst>
                    <a:ext uri="{9D8B030D-6E8A-4147-A177-3AD203B41FA5}">
                      <a16:colId xmlns:a16="http://schemas.microsoft.com/office/drawing/2014/main" val="3531501363"/>
                    </a:ext>
                  </a:extLst>
                </a:gridCol>
                <a:gridCol w="461205">
                  <a:extLst>
                    <a:ext uri="{9D8B030D-6E8A-4147-A177-3AD203B41FA5}">
                      <a16:colId xmlns:a16="http://schemas.microsoft.com/office/drawing/2014/main" val="3294420862"/>
                    </a:ext>
                  </a:extLst>
                </a:gridCol>
              </a:tblGrid>
              <a:tr h="216629">
                <a:tc>
                  <a:txBody>
                    <a:bodyPr/>
                    <a:lstStyle/>
                    <a:p>
                      <a:pPr algn="r" fontAlgn="b"/>
                      <a:r>
                        <a:rPr lang="en-IN" sz="2000" b="1" i="0" u="none" strike="noStrike" dirty="0">
                          <a:solidFill>
                            <a:srgbClr val="000000"/>
                          </a:solidFill>
                          <a:effectLst/>
                          <a:latin typeface="Calibri" panose="020F0502020204030204" pitchFamily="34" charset="0"/>
                        </a:rPr>
                        <a:t>ID</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1</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46423204"/>
                  </a:ext>
                </a:extLst>
              </a:tr>
              <a:tr h="212542">
                <a:tc>
                  <a:txBody>
                    <a:bodyPr/>
                    <a:lstStyle/>
                    <a:p>
                      <a:pPr algn="r" fontAlgn="b"/>
                      <a:r>
                        <a:rPr lang="en-IN" sz="2000" b="1" i="0" u="none" strike="noStrike">
                          <a:solidFill>
                            <a:srgbClr val="000000"/>
                          </a:solidFill>
                          <a:effectLst/>
                          <a:latin typeface="Calibri" panose="020F0502020204030204" pitchFamily="34"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0070C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chemeClr val="tx1"/>
                          </a:solidFill>
                          <a:effectLst/>
                          <a:latin typeface="Calibri" panose="020F0502020204030204" pitchFamily="34" charset="0"/>
                        </a:rPr>
                        <a:t>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86389542"/>
                  </a:ext>
                </a:extLst>
              </a:tr>
              <a:tr h="212542">
                <a:tc>
                  <a:txBody>
                    <a:bodyPr/>
                    <a:lstStyle/>
                    <a:p>
                      <a:pPr algn="r" fontAlgn="b"/>
                      <a:r>
                        <a:rPr lang="en-IN" sz="2000" b="1" i="0" u="none" strike="noStrike">
                          <a:solidFill>
                            <a:srgbClr val="000000"/>
                          </a:solidFill>
                          <a:effectLst/>
                          <a:latin typeface="Calibri" panose="020F0502020204030204" pitchFamily="34" charset="0"/>
                        </a:rPr>
                        <a:t>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0070C0"/>
                          </a:solidFill>
                          <a:effectLst/>
                          <a:latin typeface="Calibri" panose="020F0502020204030204" pitchFamily="34" charset="0"/>
                        </a:rPr>
                        <a:t>3</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1976737"/>
                  </a:ext>
                </a:extLst>
              </a:tr>
              <a:tr h="212542">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chemeClr val="tx1"/>
                          </a:solidFill>
                          <a:effectLst/>
                          <a:latin typeface="Calibri" panose="020F0502020204030204" pitchFamily="34" charset="0"/>
                        </a:rPr>
                        <a:t>18</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21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9275789"/>
                  </a:ext>
                </a:extLst>
              </a:tr>
              <a:tr h="212542">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24698853"/>
                  </a:ext>
                </a:extLst>
              </a:tr>
              <a:tr h="216629">
                <a:tc>
                  <a:txBody>
                    <a:bodyPr/>
                    <a:lstStyle/>
                    <a:p>
                      <a:pPr algn="r" fontAlgn="b"/>
                      <a:r>
                        <a:rPr lang="en-IN" sz="2000" b="1" i="0" u="none" strike="noStrike" dirty="0">
                          <a:solidFill>
                            <a:srgbClr val="000000"/>
                          </a:solidFill>
                          <a:effectLst/>
                          <a:latin typeface="Calibri" panose="020F0502020204030204" pitchFamily="34"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69606738"/>
                  </a:ext>
                </a:extLst>
              </a:tr>
            </a:tbl>
          </a:graphicData>
        </a:graphic>
      </p:graphicFrame>
      <p:graphicFrame>
        <p:nvGraphicFramePr>
          <p:cNvPr id="21" name="Table 20">
            <a:extLst>
              <a:ext uri="{FF2B5EF4-FFF2-40B4-BE49-F238E27FC236}">
                <a16:creationId xmlns:a16="http://schemas.microsoft.com/office/drawing/2014/main" id="{BC92C7DD-FD01-414E-BB86-0AB9FC7F2695}"/>
              </a:ext>
            </a:extLst>
          </p:cNvPr>
          <p:cNvGraphicFramePr>
            <a:graphicFrameLocks noGrp="1"/>
          </p:cNvGraphicFramePr>
          <p:nvPr/>
        </p:nvGraphicFramePr>
        <p:xfrm>
          <a:off x="7924861" y="3049403"/>
          <a:ext cx="3340100" cy="1663700"/>
        </p:xfrm>
        <a:graphic>
          <a:graphicData uri="http://schemas.openxmlformats.org/drawingml/2006/table">
            <a:tbl>
              <a:tblPr/>
              <a:tblGrid>
                <a:gridCol w="901700">
                  <a:extLst>
                    <a:ext uri="{9D8B030D-6E8A-4147-A177-3AD203B41FA5}">
                      <a16:colId xmlns:a16="http://schemas.microsoft.com/office/drawing/2014/main" val="1158854089"/>
                    </a:ext>
                  </a:extLst>
                </a:gridCol>
                <a:gridCol w="609600">
                  <a:extLst>
                    <a:ext uri="{9D8B030D-6E8A-4147-A177-3AD203B41FA5}">
                      <a16:colId xmlns:a16="http://schemas.microsoft.com/office/drawing/2014/main" val="242199934"/>
                    </a:ext>
                  </a:extLst>
                </a:gridCol>
                <a:gridCol w="609600">
                  <a:extLst>
                    <a:ext uri="{9D8B030D-6E8A-4147-A177-3AD203B41FA5}">
                      <a16:colId xmlns:a16="http://schemas.microsoft.com/office/drawing/2014/main" val="1700530510"/>
                    </a:ext>
                  </a:extLst>
                </a:gridCol>
                <a:gridCol w="609600">
                  <a:extLst>
                    <a:ext uri="{9D8B030D-6E8A-4147-A177-3AD203B41FA5}">
                      <a16:colId xmlns:a16="http://schemas.microsoft.com/office/drawing/2014/main" val="3346318287"/>
                    </a:ext>
                  </a:extLst>
                </a:gridCol>
                <a:gridCol w="609600">
                  <a:extLst>
                    <a:ext uri="{9D8B030D-6E8A-4147-A177-3AD203B41FA5}">
                      <a16:colId xmlns:a16="http://schemas.microsoft.com/office/drawing/2014/main" val="78614387"/>
                    </a:ext>
                  </a:extLst>
                </a:gridCol>
              </a:tblGrid>
              <a:tr h="336550">
                <a:tc>
                  <a:txBody>
                    <a:bodyPr/>
                    <a:lstStyle/>
                    <a:p>
                      <a:pPr algn="r" fontAlgn="b"/>
                      <a:r>
                        <a:rPr lang="en-IN" sz="2000" b="1" i="0" u="none" strike="noStrike">
                          <a:solidFill>
                            <a:srgbClr val="000000"/>
                          </a:solidFill>
                          <a:effectLst/>
                          <a:latin typeface="Calibri" panose="020F0502020204030204" pitchFamily="34" charset="0"/>
                        </a:rPr>
                        <a:t>ID</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1,2</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86251532"/>
                  </a:ext>
                </a:extLst>
              </a:tr>
              <a:tr h="330200">
                <a:tc>
                  <a:txBody>
                    <a:bodyPr/>
                    <a:lstStyle/>
                    <a:p>
                      <a:pPr algn="r" fontAlgn="b"/>
                      <a:r>
                        <a:rPr lang="en-IN" sz="2000" b="1" i="0" u="none" strike="noStrike">
                          <a:solidFill>
                            <a:srgbClr val="000000"/>
                          </a:solidFill>
                          <a:effectLst/>
                          <a:latin typeface="Calibri" panose="020F0502020204030204" pitchFamily="34" charset="0"/>
                        </a:rPr>
                        <a:t>1,2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5266929"/>
                  </a:ext>
                </a:extLst>
              </a:tr>
              <a:tr h="330200">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18</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92D05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62480929"/>
                  </a:ext>
                </a:extLst>
              </a:tr>
              <a:tr h="330200">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4758147"/>
                  </a:ext>
                </a:extLst>
              </a:tr>
              <a:tr h="336550">
                <a:tc>
                  <a:txBody>
                    <a:bodyPr/>
                    <a:lstStyle/>
                    <a:p>
                      <a:pPr algn="r" fontAlgn="b"/>
                      <a:r>
                        <a:rPr lang="en-IN" sz="2000" b="1" i="0" u="none" strike="noStrike">
                          <a:solidFill>
                            <a:srgbClr val="000000"/>
                          </a:solidFill>
                          <a:effectLst/>
                          <a:latin typeface="Calibri" panose="020F0502020204030204" pitchFamily="34"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92D05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9480155"/>
                  </a:ext>
                </a:extLst>
              </a:tr>
            </a:tbl>
          </a:graphicData>
        </a:graphic>
      </p:graphicFrame>
      <p:sp>
        <p:nvSpPr>
          <p:cNvPr id="22" name="TextBox 21">
            <a:extLst>
              <a:ext uri="{FF2B5EF4-FFF2-40B4-BE49-F238E27FC236}">
                <a16:creationId xmlns:a16="http://schemas.microsoft.com/office/drawing/2014/main" id="{0468E312-700D-4DFD-A62B-CB8B84007244}"/>
              </a:ext>
            </a:extLst>
          </p:cNvPr>
          <p:cNvSpPr txBox="1"/>
          <p:nvPr/>
        </p:nvSpPr>
        <p:spPr>
          <a:xfrm>
            <a:off x="7924861" y="2577009"/>
            <a:ext cx="3302764" cy="369332"/>
          </a:xfrm>
          <a:prstGeom prst="rect">
            <a:avLst/>
          </a:prstGeom>
          <a:noFill/>
        </p:spPr>
        <p:txBody>
          <a:bodyPr wrap="none" rtlCol="0">
            <a:spAutoFit/>
          </a:bodyPr>
          <a:lstStyle/>
          <a:p>
            <a:r>
              <a:rPr lang="en-IN" dirty="0"/>
              <a:t>Re Calculate the Proximity Matrix</a:t>
            </a:r>
          </a:p>
        </p:txBody>
      </p:sp>
      <p:graphicFrame>
        <p:nvGraphicFramePr>
          <p:cNvPr id="3" name="Table 2">
            <a:extLst>
              <a:ext uri="{FF2B5EF4-FFF2-40B4-BE49-F238E27FC236}">
                <a16:creationId xmlns:a16="http://schemas.microsoft.com/office/drawing/2014/main" id="{EA956E7B-3545-4B51-B015-AC164465E340}"/>
              </a:ext>
            </a:extLst>
          </p:cNvPr>
          <p:cNvGraphicFramePr>
            <a:graphicFrameLocks noGrp="1"/>
          </p:cNvGraphicFramePr>
          <p:nvPr>
            <p:extLst>
              <p:ext uri="{D42A27DB-BD31-4B8C-83A1-F6EECF244321}">
                <p14:modId xmlns:p14="http://schemas.microsoft.com/office/powerpoint/2010/main" val="3477280983"/>
              </p:ext>
            </p:extLst>
          </p:nvPr>
        </p:nvGraphicFramePr>
        <p:xfrm>
          <a:off x="6379488" y="4839700"/>
          <a:ext cx="1219200" cy="1612900"/>
        </p:xfrm>
        <a:graphic>
          <a:graphicData uri="http://schemas.openxmlformats.org/drawingml/2006/table">
            <a:tbl>
              <a:tblPr/>
              <a:tblGrid>
                <a:gridCol w="609600">
                  <a:extLst>
                    <a:ext uri="{9D8B030D-6E8A-4147-A177-3AD203B41FA5}">
                      <a16:colId xmlns:a16="http://schemas.microsoft.com/office/drawing/2014/main" val="3399365868"/>
                    </a:ext>
                  </a:extLst>
                </a:gridCol>
                <a:gridCol w="609600">
                  <a:extLst>
                    <a:ext uri="{9D8B030D-6E8A-4147-A177-3AD203B41FA5}">
                      <a16:colId xmlns:a16="http://schemas.microsoft.com/office/drawing/2014/main" val="1508711069"/>
                    </a:ext>
                  </a:extLst>
                </a:gridCol>
              </a:tblGrid>
              <a:tr h="336550">
                <a:tc>
                  <a:txBody>
                    <a:bodyPr/>
                    <a:lstStyle/>
                    <a:p>
                      <a:pPr algn="l" fontAlgn="b"/>
                      <a:r>
                        <a:rPr lang="en-IN" sz="2000" b="0" i="0" u="none" strike="noStrike">
                          <a:solidFill>
                            <a:srgbClr val="000000"/>
                          </a:solidFill>
                          <a:effectLst/>
                          <a:latin typeface="Calibri" panose="020F0502020204030204" pitchFamily="34" charset="0"/>
                        </a:rPr>
                        <a:t>Product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IN" sz="2000" b="0" i="0" u="none" strike="noStrike" dirty="0">
                          <a:solidFill>
                            <a:srgbClr val="000000"/>
                          </a:solidFill>
                          <a:effectLst/>
                          <a:latin typeface="Calibri" panose="020F0502020204030204" pitchFamily="34" charset="0"/>
                        </a:rPr>
                        <a:t>Sales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288633232"/>
                  </a:ext>
                </a:extLst>
              </a:tr>
              <a:tr h="330200">
                <a:tc>
                  <a:txBody>
                    <a:bodyPr/>
                    <a:lstStyle/>
                    <a:p>
                      <a:pPr algn="r" fontAlgn="b"/>
                      <a:r>
                        <a:rPr lang="en-IN" sz="2000" b="0" i="0" u="none" strike="noStrike">
                          <a:solidFill>
                            <a:srgbClr val="000000"/>
                          </a:solidFill>
                          <a:effectLst/>
                          <a:latin typeface="Calibri" panose="020F0502020204030204" pitchFamily="34" charset="0"/>
                        </a:rPr>
                        <a:t>(1,2)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7331123"/>
                  </a:ext>
                </a:extLst>
              </a:tr>
              <a:tr h="330200">
                <a:tc>
                  <a:txBody>
                    <a:bodyPr/>
                    <a:lstStyle/>
                    <a:p>
                      <a:pPr algn="l" fontAlgn="b"/>
                      <a:r>
                        <a:rPr lang="en-IN" sz="2000" b="0" i="0" u="none" strike="noStrike">
                          <a:solidFill>
                            <a:srgbClr val="000000"/>
                          </a:solidFill>
                          <a:effectLst/>
                          <a:latin typeface="Calibri" panose="020F0502020204030204" pitchFamily="34" charset="0"/>
                        </a:rPr>
                        <a:t>(3,5)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60382436"/>
                  </a:ext>
                </a:extLst>
              </a:tr>
              <a:tr h="336550">
                <a:tc>
                  <a:txBody>
                    <a:bodyPr/>
                    <a:lstStyle/>
                    <a:p>
                      <a:pPr algn="r" fontAlgn="b"/>
                      <a:r>
                        <a:rPr lang="en-IN" sz="2000" b="0"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20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45412929"/>
                  </a:ext>
                </a:extLst>
              </a:tr>
            </a:tbl>
          </a:graphicData>
        </a:graphic>
      </p:graphicFrame>
      <p:graphicFrame>
        <p:nvGraphicFramePr>
          <p:cNvPr id="6" name="Table 5">
            <a:extLst>
              <a:ext uri="{FF2B5EF4-FFF2-40B4-BE49-F238E27FC236}">
                <a16:creationId xmlns:a16="http://schemas.microsoft.com/office/drawing/2014/main" id="{F5BF1939-941A-457A-A396-5D91B6D69E3F}"/>
              </a:ext>
            </a:extLst>
          </p:cNvPr>
          <p:cNvGraphicFramePr>
            <a:graphicFrameLocks noGrp="1"/>
          </p:cNvGraphicFramePr>
          <p:nvPr>
            <p:extLst>
              <p:ext uri="{D42A27DB-BD31-4B8C-83A1-F6EECF244321}">
                <p14:modId xmlns:p14="http://schemas.microsoft.com/office/powerpoint/2010/main" val="589838101"/>
              </p:ext>
            </p:extLst>
          </p:nvPr>
        </p:nvGraphicFramePr>
        <p:xfrm>
          <a:off x="3474006" y="5102068"/>
          <a:ext cx="2730500" cy="1333500"/>
        </p:xfrm>
        <a:graphic>
          <a:graphicData uri="http://schemas.openxmlformats.org/drawingml/2006/table">
            <a:tbl>
              <a:tblPr/>
              <a:tblGrid>
                <a:gridCol w="901700">
                  <a:extLst>
                    <a:ext uri="{9D8B030D-6E8A-4147-A177-3AD203B41FA5}">
                      <a16:colId xmlns:a16="http://schemas.microsoft.com/office/drawing/2014/main" val="3989314816"/>
                    </a:ext>
                  </a:extLst>
                </a:gridCol>
                <a:gridCol w="609600">
                  <a:extLst>
                    <a:ext uri="{9D8B030D-6E8A-4147-A177-3AD203B41FA5}">
                      <a16:colId xmlns:a16="http://schemas.microsoft.com/office/drawing/2014/main" val="1872682528"/>
                    </a:ext>
                  </a:extLst>
                </a:gridCol>
                <a:gridCol w="609600">
                  <a:extLst>
                    <a:ext uri="{9D8B030D-6E8A-4147-A177-3AD203B41FA5}">
                      <a16:colId xmlns:a16="http://schemas.microsoft.com/office/drawing/2014/main" val="394602000"/>
                    </a:ext>
                  </a:extLst>
                </a:gridCol>
                <a:gridCol w="609600">
                  <a:extLst>
                    <a:ext uri="{9D8B030D-6E8A-4147-A177-3AD203B41FA5}">
                      <a16:colId xmlns:a16="http://schemas.microsoft.com/office/drawing/2014/main" val="2654765638"/>
                    </a:ext>
                  </a:extLst>
                </a:gridCol>
              </a:tblGrid>
              <a:tr h="336550">
                <a:tc>
                  <a:txBody>
                    <a:bodyPr/>
                    <a:lstStyle/>
                    <a:p>
                      <a:pPr algn="r" fontAlgn="b"/>
                      <a:r>
                        <a:rPr lang="en-IN" sz="2000" b="1" i="0" u="none" strike="noStrike">
                          <a:solidFill>
                            <a:srgbClr val="000000"/>
                          </a:solidFill>
                          <a:effectLst/>
                          <a:latin typeface="Calibri" panose="020F0502020204030204" pitchFamily="34" charset="0"/>
                        </a:rPr>
                        <a:t>ID</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1,2</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44607739"/>
                  </a:ext>
                </a:extLst>
              </a:tr>
              <a:tr h="330200">
                <a:tc>
                  <a:txBody>
                    <a:bodyPr/>
                    <a:lstStyle/>
                    <a:p>
                      <a:pPr algn="r" fontAlgn="b"/>
                      <a:r>
                        <a:rPr lang="en-IN" sz="2000" b="1" i="0" u="none" strike="noStrike">
                          <a:solidFill>
                            <a:srgbClr val="000000"/>
                          </a:solidFill>
                          <a:effectLst/>
                          <a:latin typeface="Calibri" panose="020F0502020204030204" pitchFamily="34" charset="0"/>
                        </a:rPr>
                        <a:t>1,2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1821999"/>
                  </a:ext>
                </a:extLst>
              </a:tr>
              <a:tr h="330200">
                <a:tc>
                  <a:txBody>
                    <a:bodyPr/>
                    <a:lstStyle/>
                    <a:p>
                      <a:pPr algn="r" fontAlgn="b"/>
                      <a:r>
                        <a:rPr lang="en-IN" sz="2000" b="1" i="0" u="none" strike="noStrike">
                          <a:solidFill>
                            <a:srgbClr val="000000"/>
                          </a:solidFill>
                          <a:effectLst/>
                          <a:latin typeface="Calibri" panose="020F0502020204030204" pitchFamily="34" charset="0"/>
                        </a:rPr>
                        <a:t>3,5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424449"/>
                  </a:ext>
                </a:extLst>
              </a:tr>
              <a:tr h="336550">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FFC000"/>
                          </a:solidFill>
                          <a:effectLst/>
                          <a:latin typeface="Calibri" panose="020F0502020204030204" pitchFamily="34" charset="0"/>
                        </a:rPr>
                        <a:t>10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24554674"/>
                  </a:ext>
                </a:extLst>
              </a:tr>
            </a:tbl>
          </a:graphicData>
        </a:graphic>
      </p:graphicFrame>
      <p:pic>
        <p:nvPicPr>
          <p:cNvPr id="17" name="Picture 16">
            <a:extLst>
              <a:ext uri="{FF2B5EF4-FFF2-40B4-BE49-F238E27FC236}">
                <a16:creationId xmlns:a16="http://schemas.microsoft.com/office/drawing/2014/main" id="{890C1204-8C7B-477C-A123-94721052BD6C}"/>
              </a:ext>
            </a:extLst>
          </p:cNvPr>
          <p:cNvPicPr>
            <a:picLocks noChangeAspect="1"/>
          </p:cNvPicPr>
          <p:nvPr/>
        </p:nvPicPr>
        <p:blipFill rotWithShape="1">
          <a:blip r:embed="rId3"/>
          <a:srcRect b="32978"/>
          <a:stretch/>
        </p:blipFill>
        <p:spPr>
          <a:xfrm>
            <a:off x="117296" y="4065040"/>
            <a:ext cx="3038475" cy="2387560"/>
          </a:xfrm>
          <a:prstGeom prst="rect">
            <a:avLst/>
          </a:prstGeom>
        </p:spPr>
      </p:pic>
    </p:spTree>
    <p:extLst>
      <p:ext uri="{BB962C8B-B14F-4D97-AF65-F5344CB8AC3E}">
        <p14:creationId xmlns:p14="http://schemas.microsoft.com/office/powerpoint/2010/main" val="2758252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step 2 : hierarchical">
            <a:extLst>
              <a:ext uri="{FF2B5EF4-FFF2-40B4-BE49-F238E27FC236}">
                <a16:creationId xmlns:a16="http://schemas.microsoft.com/office/drawing/2014/main" id="{164A99B7-C327-420D-BA8E-0E4CA077A7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4756" y="190798"/>
            <a:ext cx="3028950" cy="11906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Table 10">
            <a:extLst>
              <a:ext uri="{FF2B5EF4-FFF2-40B4-BE49-F238E27FC236}">
                <a16:creationId xmlns:a16="http://schemas.microsoft.com/office/drawing/2014/main" id="{004A6E66-5BCA-4EC7-88FD-81C03CAB0432}"/>
              </a:ext>
            </a:extLst>
          </p:cNvPr>
          <p:cNvGraphicFramePr>
            <a:graphicFrameLocks noGrp="1"/>
          </p:cNvGraphicFramePr>
          <p:nvPr>
            <p:extLst>
              <p:ext uri="{D42A27DB-BD31-4B8C-83A1-F6EECF244321}">
                <p14:modId xmlns:p14="http://schemas.microsoft.com/office/powerpoint/2010/main" val="633458546"/>
              </p:ext>
            </p:extLst>
          </p:nvPr>
        </p:nvGraphicFramePr>
        <p:xfrm>
          <a:off x="7662080" y="190798"/>
          <a:ext cx="1511300" cy="1651000"/>
        </p:xfrm>
        <a:graphic>
          <a:graphicData uri="http://schemas.openxmlformats.org/drawingml/2006/table">
            <a:tbl>
              <a:tblPr/>
              <a:tblGrid>
                <a:gridCol w="901700">
                  <a:extLst>
                    <a:ext uri="{9D8B030D-6E8A-4147-A177-3AD203B41FA5}">
                      <a16:colId xmlns:a16="http://schemas.microsoft.com/office/drawing/2014/main" val="3459134712"/>
                    </a:ext>
                  </a:extLst>
                </a:gridCol>
                <a:gridCol w="609600">
                  <a:extLst>
                    <a:ext uri="{9D8B030D-6E8A-4147-A177-3AD203B41FA5}">
                      <a16:colId xmlns:a16="http://schemas.microsoft.com/office/drawing/2014/main" val="811480175"/>
                    </a:ext>
                  </a:extLst>
                </a:gridCol>
              </a:tblGrid>
              <a:tr h="330200">
                <a:tc>
                  <a:txBody>
                    <a:bodyPr/>
                    <a:lstStyle/>
                    <a:p>
                      <a:pPr algn="l" fontAlgn="b"/>
                      <a:r>
                        <a:rPr lang="en-IN" sz="2000" b="0" i="0" u="none" strike="noStrike">
                          <a:solidFill>
                            <a:srgbClr val="000000"/>
                          </a:solidFill>
                          <a:effectLst/>
                          <a:latin typeface="Calibri" panose="020F0502020204030204" pitchFamily="34" charset="0"/>
                        </a:rPr>
                        <a:t>Product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IN" sz="2000" b="0" i="0" u="none" strike="noStrike" dirty="0">
                          <a:solidFill>
                            <a:srgbClr val="000000"/>
                          </a:solidFill>
                          <a:effectLst/>
                          <a:latin typeface="Calibri" panose="020F0502020204030204" pitchFamily="34" charset="0"/>
                        </a:rPr>
                        <a:t>Sales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582309888"/>
                  </a:ext>
                </a:extLst>
              </a:tr>
              <a:tr h="330200">
                <a:tc>
                  <a:txBody>
                    <a:bodyPr/>
                    <a:lstStyle/>
                    <a:p>
                      <a:pPr algn="r" fontAlgn="b"/>
                      <a:r>
                        <a:rPr lang="en-IN" sz="2000" b="0" i="0" u="none" strike="noStrike">
                          <a:solidFill>
                            <a:srgbClr val="000000"/>
                          </a:solidFill>
                          <a:effectLst/>
                          <a:latin typeface="Calibri" panose="020F0502020204030204" pitchFamily="34" charset="0"/>
                        </a:rPr>
                        <a:t>(1,2)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6810189"/>
                  </a:ext>
                </a:extLst>
              </a:tr>
              <a:tr h="330200">
                <a:tc>
                  <a:txBody>
                    <a:bodyPr/>
                    <a:lstStyle/>
                    <a:p>
                      <a:pPr algn="r" fontAlgn="b"/>
                      <a:r>
                        <a:rPr lang="en-IN" sz="2000" b="0" i="0" u="none" strike="noStrike">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60420750"/>
                  </a:ext>
                </a:extLst>
              </a:tr>
              <a:tr h="330200">
                <a:tc>
                  <a:txBody>
                    <a:bodyPr/>
                    <a:lstStyle/>
                    <a:p>
                      <a:pPr algn="r" fontAlgn="b"/>
                      <a:r>
                        <a:rPr lang="en-IN" sz="2000" b="0"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27843459"/>
                  </a:ext>
                </a:extLst>
              </a:tr>
              <a:tr h="330200">
                <a:tc>
                  <a:txBody>
                    <a:bodyPr/>
                    <a:lstStyle/>
                    <a:p>
                      <a:pPr algn="r" fontAlgn="b"/>
                      <a:r>
                        <a:rPr lang="en-IN" sz="2000" b="0"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79684161"/>
                  </a:ext>
                </a:extLst>
              </a:tr>
            </a:tbl>
          </a:graphicData>
        </a:graphic>
      </p:graphicFrame>
      <p:sp>
        <p:nvSpPr>
          <p:cNvPr id="14" name="TextBox 13">
            <a:extLst>
              <a:ext uri="{FF2B5EF4-FFF2-40B4-BE49-F238E27FC236}">
                <a16:creationId xmlns:a16="http://schemas.microsoft.com/office/drawing/2014/main" id="{4D60B252-BB4B-4047-83D6-F7D5451B3441}"/>
              </a:ext>
            </a:extLst>
          </p:cNvPr>
          <p:cNvSpPr txBox="1"/>
          <p:nvPr/>
        </p:nvSpPr>
        <p:spPr>
          <a:xfrm>
            <a:off x="9279527" y="535828"/>
            <a:ext cx="593432" cy="369332"/>
          </a:xfrm>
          <a:prstGeom prst="rect">
            <a:avLst/>
          </a:prstGeom>
          <a:noFill/>
        </p:spPr>
        <p:txBody>
          <a:bodyPr wrap="none" rtlCol="0">
            <a:spAutoFit/>
          </a:bodyPr>
          <a:lstStyle/>
          <a:p>
            <a:r>
              <a:rPr lang="en-IN" dirty="0"/>
              <a:t>7,</a:t>
            </a:r>
            <a:r>
              <a:rPr lang="en-IN" dirty="0">
                <a:solidFill>
                  <a:srgbClr val="FF0000"/>
                </a:solidFill>
              </a:rPr>
              <a:t>10</a:t>
            </a:r>
          </a:p>
        </p:txBody>
      </p:sp>
      <p:grpSp>
        <p:nvGrpSpPr>
          <p:cNvPr id="13" name="Group 12">
            <a:extLst>
              <a:ext uri="{FF2B5EF4-FFF2-40B4-BE49-F238E27FC236}">
                <a16:creationId xmlns:a16="http://schemas.microsoft.com/office/drawing/2014/main" id="{480EB531-589F-4773-A6F8-CFA51572AB17}"/>
              </a:ext>
            </a:extLst>
          </p:cNvPr>
          <p:cNvGrpSpPr/>
          <p:nvPr/>
        </p:nvGrpSpPr>
        <p:grpSpPr>
          <a:xfrm>
            <a:off x="5472351" y="2363630"/>
            <a:ext cx="3038475" cy="1867991"/>
            <a:chOff x="4394756" y="2577009"/>
            <a:chExt cx="3038475" cy="1867991"/>
          </a:xfrm>
        </p:grpSpPr>
        <p:pic>
          <p:nvPicPr>
            <p:cNvPr id="4" name="Picture 3">
              <a:extLst>
                <a:ext uri="{FF2B5EF4-FFF2-40B4-BE49-F238E27FC236}">
                  <a16:creationId xmlns:a16="http://schemas.microsoft.com/office/drawing/2014/main" id="{6CCF71A7-216E-4E94-AA20-DB88ECD90D6E}"/>
                </a:ext>
              </a:extLst>
            </p:cNvPr>
            <p:cNvPicPr>
              <a:picLocks noChangeAspect="1"/>
            </p:cNvPicPr>
            <p:nvPr/>
          </p:nvPicPr>
          <p:blipFill rotWithShape="1">
            <a:blip r:embed="rId3"/>
            <a:srcRect b="57930"/>
            <a:stretch/>
          </p:blipFill>
          <p:spPr>
            <a:xfrm>
              <a:off x="4394756" y="2946341"/>
              <a:ext cx="3038475" cy="1498659"/>
            </a:xfrm>
            <a:prstGeom prst="rect">
              <a:avLst/>
            </a:prstGeom>
          </p:spPr>
        </p:pic>
        <p:sp>
          <p:nvSpPr>
            <p:cNvPr id="10" name="TextBox 9">
              <a:extLst>
                <a:ext uri="{FF2B5EF4-FFF2-40B4-BE49-F238E27FC236}">
                  <a16:creationId xmlns:a16="http://schemas.microsoft.com/office/drawing/2014/main" id="{9D9712E0-0E06-4057-B117-FEA1B9F473F9}"/>
                </a:ext>
              </a:extLst>
            </p:cNvPr>
            <p:cNvSpPr txBox="1"/>
            <p:nvPr/>
          </p:nvSpPr>
          <p:spPr>
            <a:xfrm>
              <a:off x="4744720" y="2577009"/>
              <a:ext cx="301686" cy="369332"/>
            </a:xfrm>
            <a:prstGeom prst="rect">
              <a:avLst/>
            </a:prstGeom>
            <a:noFill/>
          </p:spPr>
          <p:txBody>
            <a:bodyPr wrap="none" rtlCol="0">
              <a:spAutoFit/>
            </a:bodyPr>
            <a:lstStyle/>
            <a:p>
              <a:r>
                <a:rPr lang="en-IN" dirty="0"/>
                <a:t>3</a:t>
              </a:r>
            </a:p>
          </p:txBody>
        </p:sp>
        <p:sp>
          <p:nvSpPr>
            <p:cNvPr id="16" name="TextBox 15">
              <a:extLst>
                <a:ext uri="{FF2B5EF4-FFF2-40B4-BE49-F238E27FC236}">
                  <a16:creationId xmlns:a16="http://schemas.microsoft.com/office/drawing/2014/main" id="{BBFA5773-FADD-466F-8455-DB06ABDE3817}"/>
                </a:ext>
              </a:extLst>
            </p:cNvPr>
            <p:cNvSpPr txBox="1"/>
            <p:nvPr/>
          </p:nvSpPr>
          <p:spPr>
            <a:xfrm>
              <a:off x="5758388" y="3429000"/>
              <a:ext cx="301686" cy="369332"/>
            </a:xfrm>
            <a:prstGeom prst="rect">
              <a:avLst/>
            </a:prstGeom>
            <a:noFill/>
          </p:spPr>
          <p:txBody>
            <a:bodyPr wrap="none" rtlCol="0">
              <a:spAutoFit/>
            </a:bodyPr>
            <a:lstStyle/>
            <a:p>
              <a:r>
                <a:rPr lang="en-IN" dirty="0"/>
                <a:t>7</a:t>
              </a:r>
            </a:p>
          </p:txBody>
        </p:sp>
      </p:grpSp>
      <p:graphicFrame>
        <p:nvGraphicFramePr>
          <p:cNvPr id="20" name="Table 19">
            <a:extLst>
              <a:ext uri="{FF2B5EF4-FFF2-40B4-BE49-F238E27FC236}">
                <a16:creationId xmlns:a16="http://schemas.microsoft.com/office/drawing/2014/main" id="{833136CB-4B04-44DF-9669-99D300FB28A1}"/>
              </a:ext>
            </a:extLst>
          </p:cNvPr>
          <p:cNvGraphicFramePr>
            <a:graphicFrameLocks noGrp="1"/>
          </p:cNvGraphicFramePr>
          <p:nvPr>
            <p:extLst>
              <p:ext uri="{D42A27DB-BD31-4B8C-83A1-F6EECF244321}">
                <p14:modId xmlns:p14="http://schemas.microsoft.com/office/powerpoint/2010/main" val="2057047796"/>
              </p:ext>
            </p:extLst>
          </p:nvPr>
        </p:nvGraphicFramePr>
        <p:xfrm>
          <a:off x="1406532" y="248979"/>
          <a:ext cx="2988224" cy="1866900"/>
        </p:xfrm>
        <a:graphic>
          <a:graphicData uri="http://schemas.openxmlformats.org/drawingml/2006/table">
            <a:tbl>
              <a:tblPr/>
              <a:tblGrid>
                <a:gridCol w="682199">
                  <a:extLst>
                    <a:ext uri="{9D8B030D-6E8A-4147-A177-3AD203B41FA5}">
                      <a16:colId xmlns:a16="http://schemas.microsoft.com/office/drawing/2014/main" val="96185964"/>
                    </a:ext>
                  </a:extLst>
                </a:gridCol>
                <a:gridCol w="461205">
                  <a:extLst>
                    <a:ext uri="{9D8B030D-6E8A-4147-A177-3AD203B41FA5}">
                      <a16:colId xmlns:a16="http://schemas.microsoft.com/office/drawing/2014/main" val="1463001659"/>
                    </a:ext>
                  </a:extLst>
                </a:gridCol>
                <a:gridCol w="461205">
                  <a:extLst>
                    <a:ext uri="{9D8B030D-6E8A-4147-A177-3AD203B41FA5}">
                      <a16:colId xmlns:a16="http://schemas.microsoft.com/office/drawing/2014/main" val="411097495"/>
                    </a:ext>
                  </a:extLst>
                </a:gridCol>
                <a:gridCol w="461205">
                  <a:extLst>
                    <a:ext uri="{9D8B030D-6E8A-4147-A177-3AD203B41FA5}">
                      <a16:colId xmlns:a16="http://schemas.microsoft.com/office/drawing/2014/main" val="1800538190"/>
                    </a:ext>
                  </a:extLst>
                </a:gridCol>
                <a:gridCol w="461205">
                  <a:extLst>
                    <a:ext uri="{9D8B030D-6E8A-4147-A177-3AD203B41FA5}">
                      <a16:colId xmlns:a16="http://schemas.microsoft.com/office/drawing/2014/main" val="3531501363"/>
                    </a:ext>
                  </a:extLst>
                </a:gridCol>
                <a:gridCol w="461205">
                  <a:extLst>
                    <a:ext uri="{9D8B030D-6E8A-4147-A177-3AD203B41FA5}">
                      <a16:colId xmlns:a16="http://schemas.microsoft.com/office/drawing/2014/main" val="3294420862"/>
                    </a:ext>
                  </a:extLst>
                </a:gridCol>
              </a:tblGrid>
              <a:tr h="216629">
                <a:tc>
                  <a:txBody>
                    <a:bodyPr/>
                    <a:lstStyle/>
                    <a:p>
                      <a:pPr algn="r" fontAlgn="b"/>
                      <a:r>
                        <a:rPr lang="en-IN" sz="2000" b="1" i="0" u="none" strike="noStrike" dirty="0">
                          <a:solidFill>
                            <a:srgbClr val="000000"/>
                          </a:solidFill>
                          <a:effectLst/>
                          <a:latin typeface="Calibri" panose="020F0502020204030204" pitchFamily="34" charset="0"/>
                        </a:rPr>
                        <a:t>ID</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1</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46423204"/>
                  </a:ext>
                </a:extLst>
              </a:tr>
              <a:tr h="212542">
                <a:tc>
                  <a:txBody>
                    <a:bodyPr/>
                    <a:lstStyle/>
                    <a:p>
                      <a:pPr algn="r" fontAlgn="b"/>
                      <a:r>
                        <a:rPr lang="en-IN" sz="2000" b="1" i="0" u="none" strike="noStrike">
                          <a:solidFill>
                            <a:srgbClr val="000000"/>
                          </a:solidFill>
                          <a:effectLst/>
                          <a:latin typeface="Calibri" panose="020F0502020204030204" pitchFamily="34"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0070C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chemeClr val="tx1"/>
                          </a:solidFill>
                          <a:effectLst/>
                          <a:latin typeface="Calibri" panose="020F0502020204030204" pitchFamily="34" charset="0"/>
                        </a:rPr>
                        <a:t>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86389542"/>
                  </a:ext>
                </a:extLst>
              </a:tr>
              <a:tr h="212542">
                <a:tc>
                  <a:txBody>
                    <a:bodyPr/>
                    <a:lstStyle/>
                    <a:p>
                      <a:pPr algn="r" fontAlgn="b"/>
                      <a:r>
                        <a:rPr lang="en-IN" sz="2000" b="1" i="0" u="none" strike="noStrike">
                          <a:solidFill>
                            <a:srgbClr val="000000"/>
                          </a:solidFill>
                          <a:effectLst/>
                          <a:latin typeface="Calibri" panose="020F0502020204030204" pitchFamily="34" charset="0"/>
                        </a:rPr>
                        <a:t>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0070C0"/>
                          </a:solidFill>
                          <a:effectLst/>
                          <a:latin typeface="Calibri" panose="020F0502020204030204" pitchFamily="34" charset="0"/>
                        </a:rPr>
                        <a:t>3</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1976737"/>
                  </a:ext>
                </a:extLst>
              </a:tr>
              <a:tr h="212542">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chemeClr val="tx1"/>
                          </a:solidFill>
                          <a:effectLst/>
                          <a:latin typeface="Calibri" panose="020F0502020204030204" pitchFamily="34" charset="0"/>
                        </a:rPr>
                        <a:t>18</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21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9275789"/>
                  </a:ext>
                </a:extLst>
              </a:tr>
              <a:tr h="212542">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24698853"/>
                  </a:ext>
                </a:extLst>
              </a:tr>
              <a:tr h="216629">
                <a:tc>
                  <a:txBody>
                    <a:bodyPr/>
                    <a:lstStyle/>
                    <a:p>
                      <a:pPr algn="r" fontAlgn="b"/>
                      <a:r>
                        <a:rPr lang="en-IN" sz="2000" b="1" i="0" u="none" strike="noStrike" dirty="0">
                          <a:solidFill>
                            <a:srgbClr val="000000"/>
                          </a:solidFill>
                          <a:effectLst/>
                          <a:latin typeface="Calibri" panose="020F0502020204030204" pitchFamily="34"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69606738"/>
                  </a:ext>
                </a:extLst>
              </a:tr>
            </a:tbl>
          </a:graphicData>
        </a:graphic>
      </p:graphicFrame>
      <p:graphicFrame>
        <p:nvGraphicFramePr>
          <p:cNvPr id="21" name="Table 20">
            <a:extLst>
              <a:ext uri="{FF2B5EF4-FFF2-40B4-BE49-F238E27FC236}">
                <a16:creationId xmlns:a16="http://schemas.microsoft.com/office/drawing/2014/main" id="{BC92C7DD-FD01-414E-BB86-0AB9FC7F2695}"/>
              </a:ext>
            </a:extLst>
          </p:cNvPr>
          <p:cNvGraphicFramePr>
            <a:graphicFrameLocks noGrp="1"/>
          </p:cNvGraphicFramePr>
          <p:nvPr>
            <p:extLst>
              <p:ext uri="{D42A27DB-BD31-4B8C-83A1-F6EECF244321}">
                <p14:modId xmlns:p14="http://schemas.microsoft.com/office/powerpoint/2010/main" val="54906786"/>
              </p:ext>
            </p:extLst>
          </p:nvPr>
        </p:nvGraphicFramePr>
        <p:xfrm>
          <a:off x="8679167" y="2432751"/>
          <a:ext cx="3340100" cy="1663700"/>
        </p:xfrm>
        <a:graphic>
          <a:graphicData uri="http://schemas.openxmlformats.org/drawingml/2006/table">
            <a:tbl>
              <a:tblPr/>
              <a:tblGrid>
                <a:gridCol w="901700">
                  <a:extLst>
                    <a:ext uri="{9D8B030D-6E8A-4147-A177-3AD203B41FA5}">
                      <a16:colId xmlns:a16="http://schemas.microsoft.com/office/drawing/2014/main" val="1158854089"/>
                    </a:ext>
                  </a:extLst>
                </a:gridCol>
                <a:gridCol w="609600">
                  <a:extLst>
                    <a:ext uri="{9D8B030D-6E8A-4147-A177-3AD203B41FA5}">
                      <a16:colId xmlns:a16="http://schemas.microsoft.com/office/drawing/2014/main" val="242199934"/>
                    </a:ext>
                  </a:extLst>
                </a:gridCol>
                <a:gridCol w="609600">
                  <a:extLst>
                    <a:ext uri="{9D8B030D-6E8A-4147-A177-3AD203B41FA5}">
                      <a16:colId xmlns:a16="http://schemas.microsoft.com/office/drawing/2014/main" val="1700530510"/>
                    </a:ext>
                  </a:extLst>
                </a:gridCol>
                <a:gridCol w="609600">
                  <a:extLst>
                    <a:ext uri="{9D8B030D-6E8A-4147-A177-3AD203B41FA5}">
                      <a16:colId xmlns:a16="http://schemas.microsoft.com/office/drawing/2014/main" val="3346318287"/>
                    </a:ext>
                  </a:extLst>
                </a:gridCol>
                <a:gridCol w="609600">
                  <a:extLst>
                    <a:ext uri="{9D8B030D-6E8A-4147-A177-3AD203B41FA5}">
                      <a16:colId xmlns:a16="http://schemas.microsoft.com/office/drawing/2014/main" val="78614387"/>
                    </a:ext>
                  </a:extLst>
                </a:gridCol>
              </a:tblGrid>
              <a:tr h="336550">
                <a:tc>
                  <a:txBody>
                    <a:bodyPr/>
                    <a:lstStyle/>
                    <a:p>
                      <a:pPr algn="r" fontAlgn="b"/>
                      <a:r>
                        <a:rPr lang="en-IN" sz="2000" b="1" i="0" u="none" strike="noStrike" dirty="0">
                          <a:solidFill>
                            <a:srgbClr val="000000"/>
                          </a:solidFill>
                          <a:effectLst/>
                          <a:latin typeface="Calibri" panose="020F0502020204030204" pitchFamily="34" charset="0"/>
                        </a:rPr>
                        <a:t>ID</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1,2</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86251532"/>
                  </a:ext>
                </a:extLst>
              </a:tr>
              <a:tr h="330200">
                <a:tc>
                  <a:txBody>
                    <a:bodyPr/>
                    <a:lstStyle/>
                    <a:p>
                      <a:pPr algn="r" fontAlgn="b"/>
                      <a:r>
                        <a:rPr lang="en-IN" sz="2000" b="1" i="0" u="none" strike="noStrike">
                          <a:solidFill>
                            <a:srgbClr val="000000"/>
                          </a:solidFill>
                          <a:effectLst/>
                          <a:latin typeface="Calibri" panose="020F0502020204030204" pitchFamily="34" charset="0"/>
                        </a:rPr>
                        <a:t>1,2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5266929"/>
                  </a:ext>
                </a:extLst>
              </a:tr>
              <a:tr h="330200">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18</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92D05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62480929"/>
                  </a:ext>
                </a:extLst>
              </a:tr>
              <a:tr h="330200">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4758147"/>
                  </a:ext>
                </a:extLst>
              </a:tr>
              <a:tr h="336550">
                <a:tc>
                  <a:txBody>
                    <a:bodyPr/>
                    <a:lstStyle/>
                    <a:p>
                      <a:pPr algn="r" fontAlgn="b"/>
                      <a:r>
                        <a:rPr lang="en-IN" sz="2000" b="1" i="0" u="none" strike="noStrike">
                          <a:solidFill>
                            <a:srgbClr val="000000"/>
                          </a:solidFill>
                          <a:effectLst/>
                          <a:latin typeface="Calibri" panose="020F0502020204030204" pitchFamily="34"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92D05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9480155"/>
                  </a:ext>
                </a:extLst>
              </a:tr>
            </a:tbl>
          </a:graphicData>
        </a:graphic>
      </p:graphicFrame>
      <p:sp>
        <p:nvSpPr>
          <p:cNvPr id="22" name="TextBox 21">
            <a:extLst>
              <a:ext uri="{FF2B5EF4-FFF2-40B4-BE49-F238E27FC236}">
                <a16:creationId xmlns:a16="http://schemas.microsoft.com/office/drawing/2014/main" id="{0468E312-700D-4DFD-A62B-CB8B84007244}"/>
              </a:ext>
            </a:extLst>
          </p:cNvPr>
          <p:cNvSpPr txBox="1"/>
          <p:nvPr/>
        </p:nvSpPr>
        <p:spPr>
          <a:xfrm>
            <a:off x="8716503" y="1952608"/>
            <a:ext cx="3302764" cy="369332"/>
          </a:xfrm>
          <a:prstGeom prst="rect">
            <a:avLst/>
          </a:prstGeom>
          <a:noFill/>
        </p:spPr>
        <p:txBody>
          <a:bodyPr wrap="none" rtlCol="0">
            <a:spAutoFit/>
          </a:bodyPr>
          <a:lstStyle/>
          <a:p>
            <a:r>
              <a:rPr lang="en-IN" dirty="0"/>
              <a:t>Re Calculate the Proximity Matrix</a:t>
            </a:r>
          </a:p>
        </p:txBody>
      </p:sp>
      <p:graphicFrame>
        <p:nvGraphicFramePr>
          <p:cNvPr id="3" name="Table 2">
            <a:extLst>
              <a:ext uri="{FF2B5EF4-FFF2-40B4-BE49-F238E27FC236}">
                <a16:creationId xmlns:a16="http://schemas.microsoft.com/office/drawing/2014/main" id="{EA956E7B-3545-4B51-B015-AC164465E340}"/>
              </a:ext>
            </a:extLst>
          </p:cNvPr>
          <p:cNvGraphicFramePr>
            <a:graphicFrameLocks noGrp="1"/>
          </p:cNvGraphicFramePr>
          <p:nvPr>
            <p:extLst>
              <p:ext uri="{D42A27DB-BD31-4B8C-83A1-F6EECF244321}">
                <p14:modId xmlns:p14="http://schemas.microsoft.com/office/powerpoint/2010/main" val="2202173469"/>
              </p:ext>
            </p:extLst>
          </p:nvPr>
        </p:nvGraphicFramePr>
        <p:xfrm>
          <a:off x="3886539" y="2409171"/>
          <a:ext cx="1219200" cy="1612900"/>
        </p:xfrm>
        <a:graphic>
          <a:graphicData uri="http://schemas.openxmlformats.org/drawingml/2006/table">
            <a:tbl>
              <a:tblPr/>
              <a:tblGrid>
                <a:gridCol w="609600">
                  <a:extLst>
                    <a:ext uri="{9D8B030D-6E8A-4147-A177-3AD203B41FA5}">
                      <a16:colId xmlns:a16="http://schemas.microsoft.com/office/drawing/2014/main" val="3399365868"/>
                    </a:ext>
                  </a:extLst>
                </a:gridCol>
                <a:gridCol w="609600">
                  <a:extLst>
                    <a:ext uri="{9D8B030D-6E8A-4147-A177-3AD203B41FA5}">
                      <a16:colId xmlns:a16="http://schemas.microsoft.com/office/drawing/2014/main" val="1508711069"/>
                    </a:ext>
                  </a:extLst>
                </a:gridCol>
              </a:tblGrid>
              <a:tr h="336550">
                <a:tc>
                  <a:txBody>
                    <a:bodyPr/>
                    <a:lstStyle/>
                    <a:p>
                      <a:pPr algn="l" fontAlgn="b"/>
                      <a:r>
                        <a:rPr lang="en-IN" sz="2000" b="0" i="0" u="none" strike="noStrike">
                          <a:solidFill>
                            <a:srgbClr val="000000"/>
                          </a:solidFill>
                          <a:effectLst/>
                          <a:latin typeface="Calibri" panose="020F0502020204030204" pitchFamily="34" charset="0"/>
                        </a:rPr>
                        <a:t>Product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IN" sz="2000" b="0" i="0" u="none" strike="noStrike" dirty="0">
                          <a:solidFill>
                            <a:srgbClr val="000000"/>
                          </a:solidFill>
                          <a:effectLst/>
                          <a:latin typeface="Calibri" panose="020F0502020204030204" pitchFamily="34" charset="0"/>
                        </a:rPr>
                        <a:t>Sales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288633232"/>
                  </a:ext>
                </a:extLst>
              </a:tr>
              <a:tr h="330200">
                <a:tc>
                  <a:txBody>
                    <a:bodyPr/>
                    <a:lstStyle/>
                    <a:p>
                      <a:pPr algn="r" fontAlgn="b"/>
                      <a:r>
                        <a:rPr lang="en-IN" sz="2000" b="0" i="0" u="none" strike="noStrike" dirty="0">
                          <a:solidFill>
                            <a:srgbClr val="000000"/>
                          </a:solidFill>
                          <a:effectLst/>
                          <a:latin typeface="Calibri" panose="020F0502020204030204" pitchFamily="34" charset="0"/>
                        </a:rPr>
                        <a:t>(1,2)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7331123"/>
                  </a:ext>
                </a:extLst>
              </a:tr>
              <a:tr h="330200">
                <a:tc>
                  <a:txBody>
                    <a:bodyPr/>
                    <a:lstStyle/>
                    <a:p>
                      <a:pPr algn="l" fontAlgn="b"/>
                      <a:r>
                        <a:rPr lang="en-IN" sz="2000" b="0" i="0" u="none" strike="noStrike">
                          <a:solidFill>
                            <a:srgbClr val="000000"/>
                          </a:solidFill>
                          <a:effectLst/>
                          <a:latin typeface="Calibri" panose="020F0502020204030204" pitchFamily="34" charset="0"/>
                        </a:rPr>
                        <a:t>(3,5)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60382436"/>
                  </a:ext>
                </a:extLst>
              </a:tr>
              <a:tr h="336550">
                <a:tc>
                  <a:txBody>
                    <a:bodyPr/>
                    <a:lstStyle/>
                    <a:p>
                      <a:pPr algn="r" fontAlgn="b"/>
                      <a:r>
                        <a:rPr lang="en-IN" sz="2000" b="0"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20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45412929"/>
                  </a:ext>
                </a:extLst>
              </a:tr>
            </a:tbl>
          </a:graphicData>
        </a:graphic>
      </p:graphicFrame>
      <p:graphicFrame>
        <p:nvGraphicFramePr>
          <p:cNvPr id="6" name="Table 5">
            <a:extLst>
              <a:ext uri="{FF2B5EF4-FFF2-40B4-BE49-F238E27FC236}">
                <a16:creationId xmlns:a16="http://schemas.microsoft.com/office/drawing/2014/main" id="{F5BF1939-941A-457A-A396-5D91B6D69E3F}"/>
              </a:ext>
            </a:extLst>
          </p:cNvPr>
          <p:cNvGraphicFramePr>
            <a:graphicFrameLocks noGrp="1"/>
          </p:cNvGraphicFramePr>
          <p:nvPr>
            <p:extLst>
              <p:ext uri="{D42A27DB-BD31-4B8C-83A1-F6EECF244321}">
                <p14:modId xmlns:p14="http://schemas.microsoft.com/office/powerpoint/2010/main" val="3136409628"/>
              </p:ext>
            </p:extLst>
          </p:nvPr>
        </p:nvGraphicFramePr>
        <p:xfrm>
          <a:off x="694785" y="2445056"/>
          <a:ext cx="2730500" cy="1333500"/>
        </p:xfrm>
        <a:graphic>
          <a:graphicData uri="http://schemas.openxmlformats.org/drawingml/2006/table">
            <a:tbl>
              <a:tblPr/>
              <a:tblGrid>
                <a:gridCol w="901700">
                  <a:extLst>
                    <a:ext uri="{9D8B030D-6E8A-4147-A177-3AD203B41FA5}">
                      <a16:colId xmlns:a16="http://schemas.microsoft.com/office/drawing/2014/main" val="3989314816"/>
                    </a:ext>
                  </a:extLst>
                </a:gridCol>
                <a:gridCol w="609600">
                  <a:extLst>
                    <a:ext uri="{9D8B030D-6E8A-4147-A177-3AD203B41FA5}">
                      <a16:colId xmlns:a16="http://schemas.microsoft.com/office/drawing/2014/main" val="1872682528"/>
                    </a:ext>
                  </a:extLst>
                </a:gridCol>
                <a:gridCol w="609600">
                  <a:extLst>
                    <a:ext uri="{9D8B030D-6E8A-4147-A177-3AD203B41FA5}">
                      <a16:colId xmlns:a16="http://schemas.microsoft.com/office/drawing/2014/main" val="394602000"/>
                    </a:ext>
                  </a:extLst>
                </a:gridCol>
                <a:gridCol w="609600">
                  <a:extLst>
                    <a:ext uri="{9D8B030D-6E8A-4147-A177-3AD203B41FA5}">
                      <a16:colId xmlns:a16="http://schemas.microsoft.com/office/drawing/2014/main" val="2654765638"/>
                    </a:ext>
                  </a:extLst>
                </a:gridCol>
              </a:tblGrid>
              <a:tr h="336550">
                <a:tc>
                  <a:txBody>
                    <a:bodyPr/>
                    <a:lstStyle/>
                    <a:p>
                      <a:pPr algn="r" fontAlgn="b"/>
                      <a:r>
                        <a:rPr lang="en-IN" sz="2000" b="1" i="0" u="none" strike="noStrike">
                          <a:solidFill>
                            <a:srgbClr val="000000"/>
                          </a:solidFill>
                          <a:effectLst/>
                          <a:latin typeface="Calibri" panose="020F0502020204030204" pitchFamily="34" charset="0"/>
                        </a:rPr>
                        <a:t>ID</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1,2</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44607739"/>
                  </a:ext>
                </a:extLst>
              </a:tr>
              <a:tr h="330200">
                <a:tc>
                  <a:txBody>
                    <a:bodyPr/>
                    <a:lstStyle/>
                    <a:p>
                      <a:pPr algn="r" fontAlgn="b"/>
                      <a:r>
                        <a:rPr lang="en-IN" sz="2000" b="1" i="0" u="none" strike="noStrike">
                          <a:solidFill>
                            <a:srgbClr val="000000"/>
                          </a:solidFill>
                          <a:effectLst/>
                          <a:latin typeface="Calibri" panose="020F0502020204030204" pitchFamily="34" charset="0"/>
                        </a:rPr>
                        <a:t>1,2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1821999"/>
                  </a:ext>
                </a:extLst>
              </a:tr>
              <a:tr h="330200">
                <a:tc>
                  <a:txBody>
                    <a:bodyPr/>
                    <a:lstStyle/>
                    <a:p>
                      <a:pPr algn="r" fontAlgn="b"/>
                      <a:r>
                        <a:rPr lang="en-IN" sz="2000" b="1" i="0" u="none" strike="noStrike">
                          <a:solidFill>
                            <a:srgbClr val="000000"/>
                          </a:solidFill>
                          <a:effectLst/>
                          <a:latin typeface="Calibri" panose="020F0502020204030204" pitchFamily="34" charset="0"/>
                        </a:rPr>
                        <a:t>3,5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424449"/>
                  </a:ext>
                </a:extLst>
              </a:tr>
              <a:tr h="336550">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FFC000"/>
                          </a:solidFill>
                          <a:effectLst/>
                          <a:latin typeface="Calibri" panose="020F0502020204030204" pitchFamily="34" charset="0"/>
                        </a:rPr>
                        <a:t>10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24554674"/>
                  </a:ext>
                </a:extLst>
              </a:tr>
            </a:tbl>
          </a:graphicData>
        </a:graphic>
      </p:graphicFrame>
      <p:pic>
        <p:nvPicPr>
          <p:cNvPr id="17" name="Picture 16">
            <a:extLst>
              <a:ext uri="{FF2B5EF4-FFF2-40B4-BE49-F238E27FC236}">
                <a16:creationId xmlns:a16="http://schemas.microsoft.com/office/drawing/2014/main" id="{890C1204-8C7B-477C-A123-94721052BD6C}"/>
              </a:ext>
            </a:extLst>
          </p:cNvPr>
          <p:cNvPicPr>
            <a:picLocks noChangeAspect="1"/>
          </p:cNvPicPr>
          <p:nvPr/>
        </p:nvPicPr>
        <p:blipFill rotWithShape="1">
          <a:blip r:embed="rId3"/>
          <a:srcRect b="32978"/>
          <a:stretch/>
        </p:blipFill>
        <p:spPr>
          <a:xfrm>
            <a:off x="8829979" y="4279642"/>
            <a:ext cx="3038475" cy="2387560"/>
          </a:xfrm>
          <a:prstGeom prst="rect">
            <a:avLst/>
          </a:prstGeom>
        </p:spPr>
      </p:pic>
      <p:graphicFrame>
        <p:nvGraphicFramePr>
          <p:cNvPr id="5" name="Table 4">
            <a:extLst>
              <a:ext uri="{FF2B5EF4-FFF2-40B4-BE49-F238E27FC236}">
                <a16:creationId xmlns:a16="http://schemas.microsoft.com/office/drawing/2014/main" id="{1559C2D3-F7B2-4B61-BD04-502B33D30A2A}"/>
              </a:ext>
            </a:extLst>
          </p:cNvPr>
          <p:cNvGraphicFramePr>
            <a:graphicFrameLocks noGrp="1"/>
          </p:cNvGraphicFramePr>
          <p:nvPr>
            <p:extLst>
              <p:ext uri="{D42A27DB-BD31-4B8C-83A1-F6EECF244321}">
                <p14:modId xmlns:p14="http://schemas.microsoft.com/office/powerpoint/2010/main" val="322929741"/>
              </p:ext>
            </p:extLst>
          </p:nvPr>
        </p:nvGraphicFramePr>
        <p:xfrm>
          <a:off x="6835983" y="4606014"/>
          <a:ext cx="1435698" cy="1276350"/>
        </p:xfrm>
        <a:graphic>
          <a:graphicData uri="http://schemas.openxmlformats.org/drawingml/2006/table">
            <a:tbl>
              <a:tblPr/>
              <a:tblGrid>
                <a:gridCol w="717849">
                  <a:extLst>
                    <a:ext uri="{9D8B030D-6E8A-4147-A177-3AD203B41FA5}">
                      <a16:colId xmlns:a16="http://schemas.microsoft.com/office/drawing/2014/main" val="1874032541"/>
                    </a:ext>
                  </a:extLst>
                </a:gridCol>
                <a:gridCol w="717849">
                  <a:extLst>
                    <a:ext uri="{9D8B030D-6E8A-4147-A177-3AD203B41FA5}">
                      <a16:colId xmlns:a16="http://schemas.microsoft.com/office/drawing/2014/main" val="543879933"/>
                    </a:ext>
                  </a:extLst>
                </a:gridCol>
              </a:tblGrid>
              <a:tr h="330200">
                <a:tc>
                  <a:txBody>
                    <a:bodyPr/>
                    <a:lstStyle/>
                    <a:p>
                      <a:pPr algn="l" fontAlgn="b"/>
                      <a:r>
                        <a:rPr lang="en-IN" sz="2000" b="0" i="0" u="none" strike="noStrike">
                          <a:solidFill>
                            <a:srgbClr val="000000"/>
                          </a:solidFill>
                          <a:effectLst/>
                          <a:latin typeface="Calibri" panose="020F0502020204030204" pitchFamily="34" charset="0"/>
                        </a:rPr>
                        <a:t>Product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IN" sz="2000" b="0" i="0" u="none" strike="noStrike">
                          <a:solidFill>
                            <a:srgbClr val="000000"/>
                          </a:solidFill>
                          <a:effectLst/>
                          <a:latin typeface="Calibri" panose="020F0502020204030204" pitchFamily="34" charset="0"/>
                        </a:rPr>
                        <a:t>Sales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359481980"/>
                  </a:ext>
                </a:extLst>
              </a:tr>
              <a:tr h="330200">
                <a:tc>
                  <a:txBody>
                    <a:bodyPr/>
                    <a:lstStyle/>
                    <a:p>
                      <a:pPr algn="r" fontAlgn="b"/>
                      <a:r>
                        <a:rPr lang="en-IN" sz="2000" b="0" i="0" u="none" strike="noStrike">
                          <a:solidFill>
                            <a:srgbClr val="000000"/>
                          </a:solidFill>
                          <a:effectLst/>
                          <a:latin typeface="Calibri" panose="020F0502020204030204" pitchFamily="34" charset="0"/>
                        </a:rPr>
                        <a:t>(1,2,4)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7073319"/>
                  </a:ext>
                </a:extLst>
              </a:tr>
              <a:tr h="330200">
                <a:tc>
                  <a:txBody>
                    <a:bodyPr/>
                    <a:lstStyle/>
                    <a:p>
                      <a:pPr algn="l" fontAlgn="b"/>
                      <a:r>
                        <a:rPr lang="en-IN" sz="2000" b="0" i="0" u="none" strike="noStrike">
                          <a:solidFill>
                            <a:srgbClr val="000000"/>
                          </a:solidFill>
                          <a:effectLst/>
                          <a:latin typeface="Calibri" panose="020F0502020204030204" pitchFamily="34" charset="0"/>
                        </a:rPr>
                        <a:t>(3,5)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904003"/>
                  </a:ext>
                </a:extLst>
              </a:tr>
            </a:tbl>
          </a:graphicData>
        </a:graphic>
      </p:graphicFrame>
      <p:graphicFrame>
        <p:nvGraphicFramePr>
          <p:cNvPr id="9" name="Table 8">
            <a:extLst>
              <a:ext uri="{FF2B5EF4-FFF2-40B4-BE49-F238E27FC236}">
                <a16:creationId xmlns:a16="http://schemas.microsoft.com/office/drawing/2014/main" id="{083C4C32-07A4-498D-9A7A-1AE79FEEFC68}"/>
              </a:ext>
            </a:extLst>
          </p:cNvPr>
          <p:cNvGraphicFramePr>
            <a:graphicFrameLocks noGrp="1"/>
          </p:cNvGraphicFramePr>
          <p:nvPr>
            <p:extLst>
              <p:ext uri="{D42A27DB-BD31-4B8C-83A1-F6EECF244321}">
                <p14:modId xmlns:p14="http://schemas.microsoft.com/office/powerpoint/2010/main" val="420859040"/>
              </p:ext>
            </p:extLst>
          </p:nvPr>
        </p:nvGraphicFramePr>
        <p:xfrm>
          <a:off x="4193536" y="4913235"/>
          <a:ext cx="2120900" cy="990600"/>
        </p:xfrm>
        <a:graphic>
          <a:graphicData uri="http://schemas.openxmlformats.org/drawingml/2006/table">
            <a:tbl>
              <a:tblPr/>
              <a:tblGrid>
                <a:gridCol w="901700">
                  <a:extLst>
                    <a:ext uri="{9D8B030D-6E8A-4147-A177-3AD203B41FA5}">
                      <a16:colId xmlns:a16="http://schemas.microsoft.com/office/drawing/2014/main" val="4181973129"/>
                    </a:ext>
                  </a:extLst>
                </a:gridCol>
                <a:gridCol w="609600">
                  <a:extLst>
                    <a:ext uri="{9D8B030D-6E8A-4147-A177-3AD203B41FA5}">
                      <a16:colId xmlns:a16="http://schemas.microsoft.com/office/drawing/2014/main" val="364652946"/>
                    </a:ext>
                  </a:extLst>
                </a:gridCol>
                <a:gridCol w="609600">
                  <a:extLst>
                    <a:ext uri="{9D8B030D-6E8A-4147-A177-3AD203B41FA5}">
                      <a16:colId xmlns:a16="http://schemas.microsoft.com/office/drawing/2014/main" val="2423606896"/>
                    </a:ext>
                  </a:extLst>
                </a:gridCol>
              </a:tblGrid>
              <a:tr h="330200">
                <a:tc>
                  <a:txBody>
                    <a:bodyPr/>
                    <a:lstStyle/>
                    <a:p>
                      <a:pPr algn="r" fontAlgn="b"/>
                      <a:r>
                        <a:rPr lang="en-IN" sz="2000" b="1" i="0" u="none" strike="noStrike">
                          <a:solidFill>
                            <a:srgbClr val="000000"/>
                          </a:solidFill>
                          <a:effectLst/>
                          <a:latin typeface="Calibri" panose="020F0502020204030204" pitchFamily="34" charset="0"/>
                        </a:rPr>
                        <a:t>ID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1,2,4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70480946"/>
                  </a:ext>
                </a:extLst>
              </a:tr>
              <a:tr h="330200">
                <a:tc>
                  <a:txBody>
                    <a:bodyPr/>
                    <a:lstStyle/>
                    <a:p>
                      <a:pPr algn="r" fontAlgn="b"/>
                      <a:r>
                        <a:rPr lang="en-IN" sz="2000" b="1" i="0" u="none" strike="noStrike">
                          <a:solidFill>
                            <a:srgbClr val="000000"/>
                          </a:solidFill>
                          <a:effectLst/>
                          <a:latin typeface="Calibri" panose="020F0502020204030204" pitchFamily="34" charset="0"/>
                        </a:rPr>
                        <a:t>1,2,4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03826563"/>
                  </a:ext>
                </a:extLst>
              </a:tr>
              <a:tr h="330200">
                <a:tc>
                  <a:txBody>
                    <a:bodyPr/>
                    <a:lstStyle/>
                    <a:p>
                      <a:pPr algn="r" fontAlgn="b"/>
                      <a:r>
                        <a:rPr lang="en-IN" sz="2000" b="1" i="0" u="none" strike="noStrike">
                          <a:solidFill>
                            <a:srgbClr val="000000"/>
                          </a:solidFill>
                          <a:effectLst/>
                          <a:latin typeface="Calibri" panose="020F0502020204030204" pitchFamily="34" charset="0"/>
                        </a:rPr>
                        <a:t>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5919470"/>
                  </a:ext>
                </a:extLst>
              </a:tr>
            </a:tbl>
          </a:graphicData>
        </a:graphic>
      </p:graphicFrame>
      <p:sp>
        <p:nvSpPr>
          <p:cNvPr id="12" name="AutoShape 2" descr="final hierarchical clustering">
            <a:extLst>
              <a:ext uri="{FF2B5EF4-FFF2-40B4-BE49-F238E27FC236}">
                <a16:creationId xmlns:a16="http://schemas.microsoft.com/office/drawing/2014/main" id="{97597455-5089-467D-BB3C-4ACFDD6D7FF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5" name="Picture 14">
            <a:extLst>
              <a:ext uri="{FF2B5EF4-FFF2-40B4-BE49-F238E27FC236}">
                <a16:creationId xmlns:a16="http://schemas.microsoft.com/office/drawing/2014/main" id="{5A5DE6AD-EFFC-4F6B-AAF5-6BD79BDAE4E5}"/>
              </a:ext>
            </a:extLst>
          </p:cNvPr>
          <p:cNvPicPr>
            <a:picLocks noChangeAspect="1"/>
          </p:cNvPicPr>
          <p:nvPr/>
        </p:nvPicPr>
        <p:blipFill>
          <a:blip r:embed="rId3"/>
          <a:stretch>
            <a:fillRect/>
          </a:stretch>
        </p:blipFill>
        <p:spPr>
          <a:xfrm>
            <a:off x="1065269" y="4091677"/>
            <a:ext cx="2029398" cy="2379296"/>
          </a:xfrm>
          <a:prstGeom prst="rect">
            <a:avLst/>
          </a:prstGeom>
        </p:spPr>
      </p:pic>
    </p:spTree>
    <p:extLst>
      <p:ext uri="{BB962C8B-B14F-4D97-AF65-F5344CB8AC3E}">
        <p14:creationId xmlns:p14="http://schemas.microsoft.com/office/powerpoint/2010/main" val="23146893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step 2 : hierarchical">
            <a:extLst>
              <a:ext uri="{FF2B5EF4-FFF2-40B4-BE49-F238E27FC236}">
                <a16:creationId xmlns:a16="http://schemas.microsoft.com/office/drawing/2014/main" id="{164A99B7-C327-420D-BA8E-0E4CA077A7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4756" y="190798"/>
            <a:ext cx="3028950" cy="11906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Table 10">
            <a:extLst>
              <a:ext uri="{FF2B5EF4-FFF2-40B4-BE49-F238E27FC236}">
                <a16:creationId xmlns:a16="http://schemas.microsoft.com/office/drawing/2014/main" id="{004A6E66-5BCA-4EC7-88FD-81C03CAB0432}"/>
              </a:ext>
            </a:extLst>
          </p:cNvPr>
          <p:cNvGraphicFramePr>
            <a:graphicFrameLocks noGrp="1"/>
          </p:cNvGraphicFramePr>
          <p:nvPr/>
        </p:nvGraphicFramePr>
        <p:xfrm>
          <a:off x="7662080" y="190798"/>
          <a:ext cx="1511300" cy="1651000"/>
        </p:xfrm>
        <a:graphic>
          <a:graphicData uri="http://schemas.openxmlformats.org/drawingml/2006/table">
            <a:tbl>
              <a:tblPr/>
              <a:tblGrid>
                <a:gridCol w="901700">
                  <a:extLst>
                    <a:ext uri="{9D8B030D-6E8A-4147-A177-3AD203B41FA5}">
                      <a16:colId xmlns:a16="http://schemas.microsoft.com/office/drawing/2014/main" val="3459134712"/>
                    </a:ext>
                  </a:extLst>
                </a:gridCol>
                <a:gridCol w="609600">
                  <a:extLst>
                    <a:ext uri="{9D8B030D-6E8A-4147-A177-3AD203B41FA5}">
                      <a16:colId xmlns:a16="http://schemas.microsoft.com/office/drawing/2014/main" val="811480175"/>
                    </a:ext>
                  </a:extLst>
                </a:gridCol>
              </a:tblGrid>
              <a:tr h="330200">
                <a:tc>
                  <a:txBody>
                    <a:bodyPr/>
                    <a:lstStyle/>
                    <a:p>
                      <a:pPr algn="l" fontAlgn="b"/>
                      <a:r>
                        <a:rPr lang="en-IN" sz="2000" b="0" i="0" u="none" strike="noStrike">
                          <a:solidFill>
                            <a:srgbClr val="000000"/>
                          </a:solidFill>
                          <a:effectLst/>
                          <a:latin typeface="Calibri" panose="020F0502020204030204" pitchFamily="34" charset="0"/>
                        </a:rPr>
                        <a:t>Product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IN" sz="2000" b="0" i="0" u="none" strike="noStrike" dirty="0">
                          <a:solidFill>
                            <a:srgbClr val="000000"/>
                          </a:solidFill>
                          <a:effectLst/>
                          <a:latin typeface="Calibri" panose="020F0502020204030204" pitchFamily="34" charset="0"/>
                        </a:rPr>
                        <a:t>Sales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582309888"/>
                  </a:ext>
                </a:extLst>
              </a:tr>
              <a:tr h="330200">
                <a:tc>
                  <a:txBody>
                    <a:bodyPr/>
                    <a:lstStyle/>
                    <a:p>
                      <a:pPr algn="r" fontAlgn="b"/>
                      <a:r>
                        <a:rPr lang="en-IN" sz="2000" b="0" i="0" u="none" strike="noStrike">
                          <a:solidFill>
                            <a:srgbClr val="000000"/>
                          </a:solidFill>
                          <a:effectLst/>
                          <a:latin typeface="Calibri" panose="020F0502020204030204" pitchFamily="34" charset="0"/>
                        </a:rPr>
                        <a:t>(1,2)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6810189"/>
                  </a:ext>
                </a:extLst>
              </a:tr>
              <a:tr h="330200">
                <a:tc>
                  <a:txBody>
                    <a:bodyPr/>
                    <a:lstStyle/>
                    <a:p>
                      <a:pPr algn="r" fontAlgn="b"/>
                      <a:r>
                        <a:rPr lang="en-IN" sz="2000" b="0" i="0" u="none" strike="noStrike">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60420750"/>
                  </a:ext>
                </a:extLst>
              </a:tr>
              <a:tr h="330200">
                <a:tc>
                  <a:txBody>
                    <a:bodyPr/>
                    <a:lstStyle/>
                    <a:p>
                      <a:pPr algn="r" fontAlgn="b"/>
                      <a:r>
                        <a:rPr lang="en-IN" sz="2000" b="0"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27843459"/>
                  </a:ext>
                </a:extLst>
              </a:tr>
              <a:tr h="330200">
                <a:tc>
                  <a:txBody>
                    <a:bodyPr/>
                    <a:lstStyle/>
                    <a:p>
                      <a:pPr algn="r" fontAlgn="b"/>
                      <a:r>
                        <a:rPr lang="en-IN" sz="2000" b="0"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79684161"/>
                  </a:ext>
                </a:extLst>
              </a:tr>
            </a:tbl>
          </a:graphicData>
        </a:graphic>
      </p:graphicFrame>
      <p:sp>
        <p:nvSpPr>
          <p:cNvPr id="14" name="TextBox 13">
            <a:extLst>
              <a:ext uri="{FF2B5EF4-FFF2-40B4-BE49-F238E27FC236}">
                <a16:creationId xmlns:a16="http://schemas.microsoft.com/office/drawing/2014/main" id="{4D60B252-BB4B-4047-83D6-F7D5451B3441}"/>
              </a:ext>
            </a:extLst>
          </p:cNvPr>
          <p:cNvSpPr txBox="1"/>
          <p:nvPr/>
        </p:nvSpPr>
        <p:spPr>
          <a:xfrm>
            <a:off x="9279527" y="535828"/>
            <a:ext cx="593432" cy="369332"/>
          </a:xfrm>
          <a:prstGeom prst="rect">
            <a:avLst/>
          </a:prstGeom>
          <a:noFill/>
        </p:spPr>
        <p:txBody>
          <a:bodyPr wrap="none" rtlCol="0">
            <a:spAutoFit/>
          </a:bodyPr>
          <a:lstStyle/>
          <a:p>
            <a:r>
              <a:rPr lang="en-IN" dirty="0"/>
              <a:t>7,</a:t>
            </a:r>
            <a:r>
              <a:rPr lang="en-IN" dirty="0">
                <a:solidFill>
                  <a:srgbClr val="FF0000"/>
                </a:solidFill>
              </a:rPr>
              <a:t>10</a:t>
            </a:r>
          </a:p>
        </p:txBody>
      </p:sp>
      <p:grpSp>
        <p:nvGrpSpPr>
          <p:cNvPr id="13" name="Group 12">
            <a:extLst>
              <a:ext uri="{FF2B5EF4-FFF2-40B4-BE49-F238E27FC236}">
                <a16:creationId xmlns:a16="http://schemas.microsoft.com/office/drawing/2014/main" id="{480EB531-589F-4773-A6F8-CFA51572AB17}"/>
              </a:ext>
            </a:extLst>
          </p:cNvPr>
          <p:cNvGrpSpPr/>
          <p:nvPr/>
        </p:nvGrpSpPr>
        <p:grpSpPr>
          <a:xfrm>
            <a:off x="5472351" y="2363630"/>
            <a:ext cx="3038475" cy="1867991"/>
            <a:chOff x="4394756" y="2577009"/>
            <a:chExt cx="3038475" cy="1867991"/>
          </a:xfrm>
        </p:grpSpPr>
        <p:pic>
          <p:nvPicPr>
            <p:cNvPr id="4" name="Picture 3">
              <a:extLst>
                <a:ext uri="{FF2B5EF4-FFF2-40B4-BE49-F238E27FC236}">
                  <a16:creationId xmlns:a16="http://schemas.microsoft.com/office/drawing/2014/main" id="{6CCF71A7-216E-4E94-AA20-DB88ECD90D6E}"/>
                </a:ext>
              </a:extLst>
            </p:cNvPr>
            <p:cNvPicPr>
              <a:picLocks noChangeAspect="1"/>
            </p:cNvPicPr>
            <p:nvPr/>
          </p:nvPicPr>
          <p:blipFill rotWithShape="1">
            <a:blip r:embed="rId3"/>
            <a:srcRect b="57930"/>
            <a:stretch/>
          </p:blipFill>
          <p:spPr>
            <a:xfrm>
              <a:off x="4394756" y="2946341"/>
              <a:ext cx="3038475" cy="1498659"/>
            </a:xfrm>
            <a:prstGeom prst="rect">
              <a:avLst/>
            </a:prstGeom>
          </p:spPr>
        </p:pic>
        <p:sp>
          <p:nvSpPr>
            <p:cNvPr id="10" name="TextBox 9">
              <a:extLst>
                <a:ext uri="{FF2B5EF4-FFF2-40B4-BE49-F238E27FC236}">
                  <a16:creationId xmlns:a16="http://schemas.microsoft.com/office/drawing/2014/main" id="{9D9712E0-0E06-4057-B117-FEA1B9F473F9}"/>
                </a:ext>
              </a:extLst>
            </p:cNvPr>
            <p:cNvSpPr txBox="1"/>
            <p:nvPr/>
          </p:nvSpPr>
          <p:spPr>
            <a:xfrm>
              <a:off x="4744720" y="2577009"/>
              <a:ext cx="301686" cy="369332"/>
            </a:xfrm>
            <a:prstGeom prst="rect">
              <a:avLst/>
            </a:prstGeom>
            <a:noFill/>
          </p:spPr>
          <p:txBody>
            <a:bodyPr wrap="none" rtlCol="0">
              <a:spAutoFit/>
            </a:bodyPr>
            <a:lstStyle/>
            <a:p>
              <a:r>
                <a:rPr lang="en-IN" dirty="0"/>
                <a:t>3</a:t>
              </a:r>
            </a:p>
          </p:txBody>
        </p:sp>
        <p:sp>
          <p:nvSpPr>
            <p:cNvPr id="16" name="TextBox 15">
              <a:extLst>
                <a:ext uri="{FF2B5EF4-FFF2-40B4-BE49-F238E27FC236}">
                  <a16:creationId xmlns:a16="http://schemas.microsoft.com/office/drawing/2014/main" id="{BBFA5773-FADD-466F-8455-DB06ABDE3817}"/>
                </a:ext>
              </a:extLst>
            </p:cNvPr>
            <p:cNvSpPr txBox="1"/>
            <p:nvPr/>
          </p:nvSpPr>
          <p:spPr>
            <a:xfrm>
              <a:off x="5758388" y="3429000"/>
              <a:ext cx="301686" cy="369332"/>
            </a:xfrm>
            <a:prstGeom prst="rect">
              <a:avLst/>
            </a:prstGeom>
            <a:noFill/>
          </p:spPr>
          <p:txBody>
            <a:bodyPr wrap="none" rtlCol="0">
              <a:spAutoFit/>
            </a:bodyPr>
            <a:lstStyle/>
            <a:p>
              <a:r>
                <a:rPr lang="en-IN" dirty="0"/>
                <a:t>7</a:t>
              </a:r>
            </a:p>
          </p:txBody>
        </p:sp>
      </p:grpSp>
      <p:graphicFrame>
        <p:nvGraphicFramePr>
          <p:cNvPr id="20" name="Table 19">
            <a:extLst>
              <a:ext uri="{FF2B5EF4-FFF2-40B4-BE49-F238E27FC236}">
                <a16:creationId xmlns:a16="http://schemas.microsoft.com/office/drawing/2014/main" id="{833136CB-4B04-44DF-9669-99D300FB28A1}"/>
              </a:ext>
            </a:extLst>
          </p:cNvPr>
          <p:cNvGraphicFramePr>
            <a:graphicFrameLocks noGrp="1"/>
          </p:cNvGraphicFramePr>
          <p:nvPr/>
        </p:nvGraphicFramePr>
        <p:xfrm>
          <a:off x="1406532" y="248979"/>
          <a:ext cx="2988224" cy="1866900"/>
        </p:xfrm>
        <a:graphic>
          <a:graphicData uri="http://schemas.openxmlformats.org/drawingml/2006/table">
            <a:tbl>
              <a:tblPr/>
              <a:tblGrid>
                <a:gridCol w="682199">
                  <a:extLst>
                    <a:ext uri="{9D8B030D-6E8A-4147-A177-3AD203B41FA5}">
                      <a16:colId xmlns:a16="http://schemas.microsoft.com/office/drawing/2014/main" val="96185964"/>
                    </a:ext>
                  </a:extLst>
                </a:gridCol>
                <a:gridCol w="461205">
                  <a:extLst>
                    <a:ext uri="{9D8B030D-6E8A-4147-A177-3AD203B41FA5}">
                      <a16:colId xmlns:a16="http://schemas.microsoft.com/office/drawing/2014/main" val="1463001659"/>
                    </a:ext>
                  </a:extLst>
                </a:gridCol>
                <a:gridCol w="461205">
                  <a:extLst>
                    <a:ext uri="{9D8B030D-6E8A-4147-A177-3AD203B41FA5}">
                      <a16:colId xmlns:a16="http://schemas.microsoft.com/office/drawing/2014/main" val="411097495"/>
                    </a:ext>
                  </a:extLst>
                </a:gridCol>
                <a:gridCol w="461205">
                  <a:extLst>
                    <a:ext uri="{9D8B030D-6E8A-4147-A177-3AD203B41FA5}">
                      <a16:colId xmlns:a16="http://schemas.microsoft.com/office/drawing/2014/main" val="1800538190"/>
                    </a:ext>
                  </a:extLst>
                </a:gridCol>
                <a:gridCol w="461205">
                  <a:extLst>
                    <a:ext uri="{9D8B030D-6E8A-4147-A177-3AD203B41FA5}">
                      <a16:colId xmlns:a16="http://schemas.microsoft.com/office/drawing/2014/main" val="3531501363"/>
                    </a:ext>
                  </a:extLst>
                </a:gridCol>
                <a:gridCol w="461205">
                  <a:extLst>
                    <a:ext uri="{9D8B030D-6E8A-4147-A177-3AD203B41FA5}">
                      <a16:colId xmlns:a16="http://schemas.microsoft.com/office/drawing/2014/main" val="3294420862"/>
                    </a:ext>
                  </a:extLst>
                </a:gridCol>
              </a:tblGrid>
              <a:tr h="216629">
                <a:tc>
                  <a:txBody>
                    <a:bodyPr/>
                    <a:lstStyle/>
                    <a:p>
                      <a:pPr algn="r" fontAlgn="b"/>
                      <a:r>
                        <a:rPr lang="en-IN" sz="2000" b="1" i="0" u="none" strike="noStrike" dirty="0">
                          <a:solidFill>
                            <a:srgbClr val="000000"/>
                          </a:solidFill>
                          <a:effectLst/>
                          <a:latin typeface="Calibri" panose="020F0502020204030204" pitchFamily="34" charset="0"/>
                        </a:rPr>
                        <a:t>ID</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1</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46423204"/>
                  </a:ext>
                </a:extLst>
              </a:tr>
              <a:tr h="212542">
                <a:tc>
                  <a:txBody>
                    <a:bodyPr/>
                    <a:lstStyle/>
                    <a:p>
                      <a:pPr algn="r" fontAlgn="b"/>
                      <a:r>
                        <a:rPr lang="en-IN" sz="2000" b="1" i="0" u="none" strike="noStrike">
                          <a:solidFill>
                            <a:srgbClr val="000000"/>
                          </a:solidFill>
                          <a:effectLst/>
                          <a:latin typeface="Calibri" panose="020F0502020204030204" pitchFamily="34"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0070C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chemeClr val="tx1"/>
                          </a:solidFill>
                          <a:effectLst/>
                          <a:latin typeface="Calibri" panose="020F0502020204030204" pitchFamily="34" charset="0"/>
                        </a:rPr>
                        <a:t>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86389542"/>
                  </a:ext>
                </a:extLst>
              </a:tr>
              <a:tr h="212542">
                <a:tc>
                  <a:txBody>
                    <a:bodyPr/>
                    <a:lstStyle/>
                    <a:p>
                      <a:pPr algn="r" fontAlgn="b"/>
                      <a:r>
                        <a:rPr lang="en-IN" sz="2000" b="1" i="0" u="none" strike="noStrike">
                          <a:solidFill>
                            <a:srgbClr val="000000"/>
                          </a:solidFill>
                          <a:effectLst/>
                          <a:latin typeface="Calibri" panose="020F0502020204030204" pitchFamily="34" charset="0"/>
                        </a:rPr>
                        <a:t>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0070C0"/>
                          </a:solidFill>
                          <a:effectLst/>
                          <a:latin typeface="Calibri" panose="020F0502020204030204" pitchFamily="34" charset="0"/>
                        </a:rPr>
                        <a:t>3</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1976737"/>
                  </a:ext>
                </a:extLst>
              </a:tr>
              <a:tr h="212542">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chemeClr val="tx1"/>
                          </a:solidFill>
                          <a:effectLst/>
                          <a:latin typeface="Calibri" panose="020F0502020204030204" pitchFamily="34" charset="0"/>
                        </a:rPr>
                        <a:t>18</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21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9275789"/>
                  </a:ext>
                </a:extLst>
              </a:tr>
              <a:tr h="212542">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24698853"/>
                  </a:ext>
                </a:extLst>
              </a:tr>
              <a:tr h="216629">
                <a:tc>
                  <a:txBody>
                    <a:bodyPr/>
                    <a:lstStyle/>
                    <a:p>
                      <a:pPr algn="r" fontAlgn="b"/>
                      <a:r>
                        <a:rPr lang="en-IN" sz="2000" b="1" i="0" u="none" strike="noStrike" dirty="0">
                          <a:solidFill>
                            <a:srgbClr val="000000"/>
                          </a:solidFill>
                          <a:effectLst/>
                          <a:latin typeface="Calibri" panose="020F0502020204030204" pitchFamily="34"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69606738"/>
                  </a:ext>
                </a:extLst>
              </a:tr>
            </a:tbl>
          </a:graphicData>
        </a:graphic>
      </p:graphicFrame>
      <p:graphicFrame>
        <p:nvGraphicFramePr>
          <p:cNvPr id="21" name="Table 20">
            <a:extLst>
              <a:ext uri="{FF2B5EF4-FFF2-40B4-BE49-F238E27FC236}">
                <a16:creationId xmlns:a16="http://schemas.microsoft.com/office/drawing/2014/main" id="{BC92C7DD-FD01-414E-BB86-0AB9FC7F2695}"/>
              </a:ext>
            </a:extLst>
          </p:cNvPr>
          <p:cNvGraphicFramePr>
            <a:graphicFrameLocks noGrp="1"/>
          </p:cNvGraphicFramePr>
          <p:nvPr/>
        </p:nvGraphicFramePr>
        <p:xfrm>
          <a:off x="8679167" y="2432751"/>
          <a:ext cx="3340100" cy="1663700"/>
        </p:xfrm>
        <a:graphic>
          <a:graphicData uri="http://schemas.openxmlformats.org/drawingml/2006/table">
            <a:tbl>
              <a:tblPr/>
              <a:tblGrid>
                <a:gridCol w="901700">
                  <a:extLst>
                    <a:ext uri="{9D8B030D-6E8A-4147-A177-3AD203B41FA5}">
                      <a16:colId xmlns:a16="http://schemas.microsoft.com/office/drawing/2014/main" val="1158854089"/>
                    </a:ext>
                  </a:extLst>
                </a:gridCol>
                <a:gridCol w="609600">
                  <a:extLst>
                    <a:ext uri="{9D8B030D-6E8A-4147-A177-3AD203B41FA5}">
                      <a16:colId xmlns:a16="http://schemas.microsoft.com/office/drawing/2014/main" val="242199934"/>
                    </a:ext>
                  </a:extLst>
                </a:gridCol>
                <a:gridCol w="609600">
                  <a:extLst>
                    <a:ext uri="{9D8B030D-6E8A-4147-A177-3AD203B41FA5}">
                      <a16:colId xmlns:a16="http://schemas.microsoft.com/office/drawing/2014/main" val="1700530510"/>
                    </a:ext>
                  </a:extLst>
                </a:gridCol>
                <a:gridCol w="609600">
                  <a:extLst>
                    <a:ext uri="{9D8B030D-6E8A-4147-A177-3AD203B41FA5}">
                      <a16:colId xmlns:a16="http://schemas.microsoft.com/office/drawing/2014/main" val="3346318287"/>
                    </a:ext>
                  </a:extLst>
                </a:gridCol>
                <a:gridCol w="609600">
                  <a:extLst>
                    <a:ext uri="{9D8B030D-6E8A-4147-A177-3AD203B41FA5}">
                      <a16:colId xmlns:a16="http://schemas.microsoft.com/office/drawing/2014/main" val="78614387"/>
                    </a:ext>
                  </a:extLst>
                </a:gridCol>
              </a:tblGrid>
              <a:tr h="336550">
                <a:tc>
                  <a:txBody>
                    <a:bodyPr/>
                    <a:lstStyle/>
                    <a:p>
                      <a:pPr algn="r" fontAlgn="b"/>
                      <a:r>
                        <a:rPr lang="en-IN" sz="2000" b="1" i="0" u="none" strike="noStrike" dirty="0">
                          <a:solidFill>
                            <a:srgbClr val="000000"/>
                          </a:solidFill>
                          <a:effectLst/>
                          <a:latin typeface="Calibri" panose="020F0502020204030204" pitchFamily="34" charset="0"/>
                        </a:rPr>
                        <a:t>ID</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1,2</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86251532"/>
                  </a:ext>
                </a:extLst>
              </a:tr>
              <a:tr h="330200">
                <a:tc>
                  <a:txBody>
                    <a:bodyPr/>
                    <a:lstStyle/>
                    <a:p>
                      <a:pPr algn="r" fontAlgn="b"/>
                      <a:r>
                        <a:rPr lang="en-IN" sz="2000" b="1" i="0" u="none" strike="noStrike">
                          <a:solidFill>
                            <a:srgbClr val="000000"/>
                          </a:solidFill>
                          <a:effectLst/>
                          <a:latin typeface="Calibri" panose="020F0502020204030204" pitchFamily="34" charset="0"/>
                        </a:rPr>
                        <a:t>1,2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5266929"/>
                  </a:ext>
                </a:extLst>
              </a:tr>
              <a:tr h="330200">
                <a:tc>
                  <a:txBody>
                    <a:bodyPr/>
                    <a:lstStyle/>
                    <a:p>
                      <a:pPr algn="r" fontAlgn="b"/>
                      <a:r>
                        <a:rPr lang="en-IN" sz="2000" b="1" i="0" u="none" strike="noStrike">
                          <a:solidFill>
                            <a:srgbClr val="000000"/>
                          </a:solidFill>
                          <a:effectLst/>
                          <a:latin typeface="Calibri" panose="020F0502020204030204" pitchFamily="34"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18</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92D05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62480929"/>
                  </a:ext>
                </a:extLst>
              </a:tr>
              <a:tr h="330200">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4758147"/>
                  </a:ext>
                </a:extLst>
              </a:tr>
              <a:tr h="336550">
                <a:tc>
                  <a:txBody>
                    <a:bodyPr/>
                    <a:lstStyle/>
                    <a:p>
                      <a:pPr algn="r" fontAlgn="b"/>
                      <a:r>
                        <a:rPr lang="en-IN" sz="2000" b="1" i="0" u="none" strike="noStrike">
                          <a:solidFill>
                            <a:srgbClr val="000000"/>
                          </a:solidFill>
                          <a:effectLst/>
                          <a:latin typeface="Calibri" panose="020F0502020204030204" pitchFamily="34"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92D05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9480155"/>
                  </a:ext>
                </a:extLst>
              </a:tr>
            </a:tbl>
          </a:graphicData>
        </a:graphic>
      </p:graphicFrame>
      <p:sp>
        <p:nvSpPr>
          <p:cNvPr id="22" name="TextBox 21">
            <a:extLst>
              <a:ext uri="{FF2B5EF4-FFF2-40B4-BE49-F238E27FC236}">
                <a16:creationId xmlns:a16="http://schemas.microsoft.com/office/drawing/2014/main" id="{0468E312-700D-4DFD-A62B-CB8B84007244}"/>
              </a:ext>
            </a:extLst>
          </p:cNvPr>
          <p:cNvSpPr txBox="1"/>
          <p:nvPr/>
        </p:nvSpPr>
        <p:spPr>
          <a:xfrm>
            <a:off x="8716503" y="1952608"/>
            <a:ext cx="3302764" cy="369332"/>
          </a:xfrm>
          <a:prstGeom prst="rect">
            <a:avLst/>
          </a:prstGeom>
          <a:noFill/>
        </p:spPr>
        <p:txBody>
          <a:bodyPr wrap="none" rtlCol="0">
            <a:spAutoFit/>
          </a:bodyPr>
          <a:lstStyle/>
          <a:p>
            <a:r>
              <a:rPr lang="en-IN" dirty="0"/>
              <a:t>Re Calculate the Proximity Matrix</a:t>
            </a:r>
          </a:p>
        </p:txBody>
      </p:sp>
      <p:graphicFrame>
        <p:nvGraphicFramePr>
          <p:cNvPr id="3" name="Table 2">
            <a:extLst>
              <a:ext uri="{FF2B5EF4-FFF2-40B4-BE49-F238E27FC236}">
                <a16:creationId xmlns:a16="http://schemas.microsoft.com/office/drawing/2014/main" id="{EA956E7B-3545-4B51-B015-AC164465E340}"/>
              </a:ext>
            </a:extLst>
          </p:cNvPr>
          <p:cNvGraphicFramePr>
            <a:graphicFrameLocks noGrp="1"/>
          </p:cNvGraphicFramePr>
          <p:nvPr/>
        </p:nvGraphicFramePr>
        <p:xfrm>
          <a:off x="3886539" y="2409171"/>
          <a:ext cx="1219200" cy="1612900"/>
        </p:xfrm>
        <a:graphic>
          <a:graphicData uri="http://schemas.openxmlformats.org/drawingml/2006/table">
            <a:tbl>
              <a:tblPr/>
              <a:tblGrid>
                <a:gridCol w="609600">
                  <a:extLst>
                    <a:ext uri="{9D8B030D-6E8A-4147-A177-3AD203B41FA5}">
                      <a16:colId xmlns:a16="http://schemas.microsoft.com/office/drawing/2014/main" val="3399365868"/>
                    </a:ext>
                  </a:extLst>
                </a:gridCol>
                <a:gridCol w="609600">
                  <a:extLst>
                    <a:ext uri="{9D8B030D-6E8A-4147-A177-3AD203B41FA5}">
                      <a16:colId xmlns:a16="http://schemas.microsoft.com/office/drawing/2014/main" val="1508711069"/>
                    </a:ext>
                  </a:extLst>
                </a:gridCol>
              </a:tblGrid>
              <a:tr h="336550">
                <a:tc>
                  <a:txBody>
                    <a:bodyPr/>
                    <a:lstStyle/>
                    <a:p>
                      <a:pPr algn="l" fontAlgn="b"/>
                      <a:r>
                        <a:rPr lang="en-IN" sz="2000" b="0" i="0" u="none" strike="noStrike">
                          <a:solidFill>
                            <a:srgbClr val="000000"/>
                          </a:solidFill>
                          <a:effectLst/>
                          <a:latin typeface="Calibri" panose="020F0502020204030204" pitchFamily="34" charset="0"/>
                        </a:rPr>
                        <a:t>Product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IN" sz="2000" b="0" i="0" u="none" strike="noStrike" dirty="0">
                          <a:solidFill>
                            <a:srgbClr val="000000"/>
                          </a:solidFill>
                          <a:effectLst/>
                          <a:latin typeface="Calibri" panose="020F0502020204030204" pitchFamily="34" charset="0"/>
                        </a:rPr>
                        <a:t>Sales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288633232"/>
                  </a:ext>
                </a:extLst>
              </a:tr>
              <a:tr h="330200">
                <a:tc>
                  <a:txBody>
                    <a:bodyPr/>
                    <a:lstStyle/>
                    <a:p>
                      <a:pPr algn="r" fontAlgn="b"/>
                      <a:r>
                        <a:rPr lang="en-IN" sz="2000" b="0" i="0" u="none" strike="noStrike" dirty="0">
                          <a:solidFill>
                            <a:srgbClr val="000000"/>
                          </a:solidFill>
                          <a:effectLst/>
                          <a:latin typeface="Calibri" panose="020F0502020204030204" pitchFamily="34" charset="0"/>
                        </a:rPr>
                        <a:t>(1,2)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7331123"/>
                  </a:ext>
                </a:extLst>
              </a:tr>
              <a:tr h="330200">
                <a:tc>
                  <a:txBody>
                    <a:bodyPr/>
                    <a:lstStyle/>
                    <a:p>
                      <a:pPr algn="l" fontAlgn="b"/>
                      <a:r>
                        <a:rPr lang="en-IN" sz="2000" b="0" i="0" u="none" strike="noStrike">
                          <a:solidFill>
                            <a:srgbClr val="000000"/>
                          </a:solidFill>
                          <a:effectLst/>
                          <a:latin typeface="Calibri" panose="020F0502020204030204" pitchFamily="34" charset="0"/>
                        </a:rPr>
                        <a:t>(3,5)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60382436"/>
                  </a:ext>
                </a:extLst>
              </a:tr>
              <a:tr h="336550">
                <a:tc>
                  <a:txBody>
                    <a:bodyPr/>
                    <a:lstStyle/>
                    <a:p>
                      <a:pPr algn="r" fontAlgn="b"/>
                      <a:r>
                        <a:rPr lang="en-IN" sz="2000" b="0"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20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45412929"/>
                  </a:ext>
                </a:extLst>
              </a:tr>
            </a:tbl>
          </a:graphicData>
        </a:graphic>
      </p:graphicFrame>
      <p:graphicFrame>
        <p:nvGraphicFramePr>
          <p:cNvPr id="6" name="Table 5">
            <a:extLst>
              <a:ext uri="{FF2B5EF4-FFF2-40B4-BE49-F238E27FC236}">
                <a16:creationId xmlns:a16="http://schemas.microsoft.com/office/drawing/2014/main" id="{F5BF1939-941A-457A-A396-5D91B6D69E3F}"/>
              </a:ext>
            </a:extLst>
          </p:cNvPr>
          <p:cNvGraphicFramePr>
            <a:graphicFrameLocks noGrp="1"/>
          </p:cNvGraphicFramePr>
          <p:nvPr/>
        </p:nvGraphicFramePr>
        <p:xfrm>
          <a:off x="694785" y="2445056"/>
          <a:ext cx="2730500" cy="1333500"/>
        </p:xfrm>
        <a:graphic>
          <a:graphicData uri="http://schemas.openxmlformats.org/drawingml/2006/table">
            <a:tbl>
              <a:tblPr/>
              <a:tblGrid>
                <a:gridCol w="901700">
                  <a:extLst>
                    <a:ext uri="{9D8B030D-6E8A-4147-A177-3AD203B41FA5}">
                      <a16:colId xmlns:a16="http://schemas.microsoft.com/office/drawing/2014/main" val="3989314816"/>
                    </a:ext>
                  </a:extLst>
                </a:gridCol>
                <a:gridCol w="609600">
                  <a:extLst>
                    <a:ext uri="{9D8B030D-6E8A-4147-A177-3AD203B41FA5}">
                      <a16:colId xmlns:a16="http://schemas.microsoft.com/office/drawing/2014/main" val="1872682528"/>
                    </a:ext>
                  </a:extLst>
                </a:gridCol>
                <a:gridCol w="609600">
                  <a:extLst>
                    <a:ext uri="{9D8B030D-6E8A-4147-A177-3AD203B41FA5}">
                      <a16:colId xmlns:a16="http://schemas.microsoft.com/office/drawing/2014/main" val="394602000"/>
                    </a:ext>
                  </a:extLst>
                </a:gridCol>
                <a:gridCol w="609600">
                  <a:extLst>
                    <a:ext uri="{9D8B030D-6E8A-4147-A177-3AD203B41FA5}">
                      <a16:colId xmlns:a16="http://schemas.microsoft.com/office/drawing/2014/main" val="2654765638"/>
                    </a:ext>
                  </a:extLst>
                </a:gridCol>
              </a:tblGrid>
              <a:tr h="336550">
                <a:tc>
                  <a:txBody>
                    <a:bodyPr/>
                    <a:lstStyle/>
                    <a:p>
                      <a:pPr algn="r" fontAlgn="b"/>
                      <a:r>
                        <a:rPr lang="en-IN" sz="2000" b="1" i="0" u="none" strike="noStrike">
                          <a:solidFill>
                            <a:srgbClr val="000000"/>
                          </a:solidFill>
                          <a:effectLst/>
                          <a:latin typeface="Calibri" panose="020F0502020204030204" pitchFamily="34" charset="0"/>
                        </a:rPr>
                        <a:t>ID</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1,2</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44607739"/>
                  </a:ext>
                </a:extLst>
              </a:tr>
              <a:tr h="330200">
                <a:tc>
                  <a:txBody>
                    <a:bodyPr/>
                    <a:lstStyle/>
                    <a:p>
                      <a:pPr algn="r" fontAlgn="b"/>
                      <a:r>
                        <a:rPr lang="en-IN" sz="2000" b="1" i="0" u="none" strike="noStrike">
                          <a:solidFill>
                            <a:srgbClr val="000000"/>
                          </a:solidFill>
                          <a:effectLst/>
                          <a:latin typeface="Calibri" panose="020F0502020204030204" pitchFamily="34" charset="0"/>
                        </a:rPr>
                        <a:t>1,2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1821999"/>
                  </a:ext>
                </a:extLst>
              </a:tr>
              <a:tr h="330200">
                <a:tc>
                  <a:txBody>
                    <a:bodyPr/>
                    <a:lstStyle/>
                    <a:p>
                      <a:pPr algn="r" fontAlgn="b"/>
                      <a:r>
                        <a:rPr lang="en-IN" sz="2000" b="1" i="0" u="none" strike="noStrike">
                          <a:solidFill>
                            <a:srgbClr val="000000"/>
                          </a:solidFill>
                          <a:effectLst/>
                          <a:latin typeface="Calibri" panose="020F0502020204030204" pitchFamily="34" charset="0"/>
                        </a:rPr>
                        <a:t>3,5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424449"/>
                  </a:ext>
                </a:extLst>
              </a:tr>
              <a:tr h="336550">
                <a:tc>
                  <a:txBody>
                    <a:bodyPr/>
                    <a:lstStyle/>
                    <a:p>
                      <a:pPr algn="r" fontAlgn="b"/>
                      <a:r>
                        <a:rPr lang="en-IN" sz="2000" b="1" i="0" u="none" strike="noStrike">
                          <a:solidFill>
                            <a:srgbClr val="000000"/>
                          </a:solidFill>
                          <a:effectLst/>
                          <a:latin typeface="Calibri" panose="020F0502020204030204" pitchFamily="34"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FFC000"/>
                          </a:solidFill>
                          <a:effectLst/>
                          <a:latin typeface="Calibri" panose="020F0502020204030204" pitchFamily="34" charset="0"/>
                        </a:rPr>
                        <a:t>10</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24554674"/>
                  </a:ext>
                </a:extLst>
              </a:tr>
            </a:tbl>
          </a:graphicData>
        </a:graphic>
      </p:graphicFrame>
      <p:pic>
        <p:nvPicPr>
          <p:cNvPr id="17" name="Picture 16">
            <a:extLst>
              <a:ext uri="{FF2B5EF4-FFF2-40B4-BE49-F238E27FC236}">
                <a16:creationId xmlns:a16="http://schemas.microsoft.com/office/drawing/2014/main" id="{890C1204-8C7B-477C-A123-94721052BD6C}"/>
              </a:ext>
            </a:extLst>
          </p:cNvPr>
          <p:cNvPicPr>
            <a:picLocks noChangeAspect="1"/>
          </p:cNvPicPr>
          <p:nvPr/>
        </p:nvPicPr>
        <p:blipFill rotWithShape="1">
          <a:blip r:embed="rId3"/>
          <a:srcRect b="32978"/>
          <a:stretch/>
        </p:blipFill>
        <p:spPr>
          <a:xfrm>
            <a:off x="8829979" y="4279642"/>
            <a:ext cx="3038475" cy="2387560"/>
          </a:xfrm>
          <a:prstGeom prst="rect">
            <a:avLst/>
          </a:prstGeom>
        </p:spPr>
      </p:pic>
      <p:graphicFrame>
        <p:nvGraphicFramePr>
          <p:cNvPr id="5" name="Table 4">
            <a:extLst>
              <a:ext uri="{FF2B5EF4-FFF2-40B4-BE49-F238E27FC236}">
                <a16:creationId xmlns:a16="http://schemas.microsoft.com/office/drawing/2014/main" id="{1559C2D3-F7B2-4B61-BD04-502B33D30A2A}"/>
              </a:ext>
            </a:extLst>
          </p:cNvPr>
          <p:cNvGraphicFramePr>
            <a:graphicFrameLocks noGrp="1"/>
          </p:cNvGraphicFramePr>
          <p:nvPr/>
        </p:nvGraphicFramePr>
        <p:xfrm>
          <a:off x="6835983" y="4606014"/>
          <a:ext cx="1435698" cy="1276350"/>
        </p:xfrm>
        <a:graphic>
          <a:graphicData uri="http://schemas.openxmlformats.org/drawingml/2006/table">
            <a:tbl>
              <a:tblPr/>
              <a:tblGrid>
                <a:gridCol w="717849">
                  <a:extLst>
                    <a:ext uri="{9D8B030D-6E8A-4147-A177-3AD203B41FA5}">
                      <a16:colId xmlns:a16="http://schemas.microsoft.com/office/drawing/2014/main" val="1874032541"/>
                    </a:ext>
                  </a:extLst>
                </a:gridCol>
                <a:gridCol w="717849">
                  <a:extLst>
                    <a:ext uri="{9D8B030D-6E8A-4147-A177-3AD203B41FA5}">
                      <a16:colId xmlns:a16="http://schemas.microsoft.com/office/drawing/2014/main" val="543879933"/>
                    </a:ext>
                  </a:extLst>
                </a:gridCol>
              </a:tblGrid>
              <a:tr h="330200">
                <a:tc>
                  <a:txBody>
                    <a:bodyPr/>
                    <a:lstStyle/>
                    <a:p>
                      <a:pPr algn="l" fontAlgn="b"/>
                      <a:r>
                        <a:rPr lang="en-IN" sz="2000" b="0" i="0" u="none" strike="noStrike">
                          <a:solidFill>
                            <a:srgbClr val="000000"/>
                          </a:solidFill>
                          <a:effectLst/>
                          <a:latin typeface="Calibri" panose="020F0502020204030204" pitchFamily="34" charset="0"/>
                        </a:rPr>
                        <a:t>Product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IN" sz="2000" b="0" i="0" u="none" strike="noStrike">
                          <a:solidFill>
                            <a:srgbClr val="000000"/>
                          </a:solidFill>
                          <a:effectLst/>
                          <a:latin typeface="Calibri" panose="020F0502020204030204" pitchFamily="34" charset="0"/>
                        </a:rPr>
                        <a:t>Sales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359481980"/>
                  </a:ext>
                </a:extLst>
              </a:tr>
              <a:tr h="330200">
                <a:tc>
                  <a:txBody>
                    <a:bodyPr/>
                    <a:lstStyle/>
                    <a:p>
                      <a:pPr algn="r" fontAlgn="b"/>
                      <a:r>
                        <a:rPr lang="en-IN" sz="2000" b="0" i="0" u="none" strike="noStrike">
                          <a:solidFill>
                            <a:srgbClr val="000000"/>
                          </a:solidFill>
                          <a:effectLst/>
                          <a:latin typeface="Calibri" panose="020F0502020204030204" pitchFamily="34" charset="0"/>
                        </a:rPr>
                        <a:t>(1,2,4)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7073319"/>
                  </a:ext>
                </a:extLst>
              </a:tr>
              <a:tr h="330200">
                <a:tc>
                  <a:txBody>
                    <a:bodyPr/>
                    <a:lstStyle/>
                    <a:p>
                      <a:pPr algn="l" fontAlgn="b"/>
                      <a:r>
                        <a:rPr lang="en-IN" sz="2000" b="0" i="0" u="none" strike="noStrike">
                          <a:solidFill>
                            <a:srgbClr val="000000"/>
                          </a:solidFill>
                          <a:effectLst/>
                          <a:latin typeface="Calibri" panose="020F0502020204030204" pitchFamily="34" charset="0"/>
                        </a:rPr>
                        <a:t>(3,5)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904003"/>
                  </a:ext>
                </a:extLst>
              </a:tr>
            </a:tbl>
          </a:graphicData>
        </a:graphic>
      </p:graphicFrame>
      <p:graphicFrame>
        <p:nvGraphicFramePr>
          <p:cNvPr id="9" name="Table 8">
            <a:extLst>
              <a:ext uri="{FF2B5EF4-FFF2-40B4-BE49-F238E27FC236}">
                <a16:creationId xmlns:a16="http://schemas.microsoft.com/office/drawing/2014/main" id="{083C4C32-07A4-498D-9A7A-1AE79FEEFC68}"/>
              </a:ext>
            </a:extLst>
          </p:cNvPr>
          <p:cNvGraphicFramePr>
            <a:graphicFrameLocks noGrp="1"/>
          </p:cNvGraphicFramePr>
          <p:nvPr>
            <p:extLst>
              <p:ext uri="{D42A27DB-BD31-4B8C-83A1-F6EECF244321}">
                <p14:modId xmlns:p14="http://schemas.microsoft.com/office/powerpoint/2010/main" val="1550981641"/>
              </p:ext>
            </p:extLst>
          </p:nvPr>
        </p:nvGraphicFramePr>
        <p:xfrm>
          <a:off x="4193536" y="4913235"/>
          <a:ext cx="2120900" cy="990600"/>
        </p:xfrm>
        <a:graphic>
          <a:graphicData uri="http://schemas.openxmlformats.org/drawingml/2006/table">
            <a:tbl>
              <a:tblPr/>
              <a:tblGrid>
                <a:gridCol w="901700">
                  <a:extLst>
                    <a:ext uri="{9D8B030D-6E8A-4147-A177-3AD203B41FA5}">
                      <a16:colId xmlns:a16="http://schemas.microsoft.com/office/drawing/2014/main" val="4181973129"/>
                    </a:ext>
                  </a:extLst>
                </a:gridCol>
                <a:gridCol w="609600">
                  <a:extLst>
                    <a:ext uri="{9D8B030D-6E8A-4147-A177-3AD203B41FA5}">
                      <a16:colId xmlns:a16="http://schemas.microsoft.com/office/drawing/2014/main" val="364652946"/>
                    </a:ext>
                  </a:extLst>
                </a:gridCol>
                <a:gridCol w="609600">
                  <a:extLst>
                    <a:ext uri="{9D8B030D-6E8A-4147-A177-3AD203B41FA5}">
                      <a16:colId xmlns:a16="http://schemas.microsoft.com/office/drawing/2014/main" val="2423606896"/>
                    </a:ext>
                  </a:extLst>
                </a:gridCol>
              </a:tblGrid>
              <a:tr h="330200">
                <a:tc>
                  <a:txBody>
                    <a:bodyPr/>
                    <a:lstStyle/>
                    <a:p>
                      <a:pPr algn="r" fontAlgn="b"/>
                      <a:r>
                        <a:rPr lang="en-IN" sz="2000" b="1" i="0" u="none" strike="noStrike">
                          <a:solidFill>
                            <a:srgbClr val="000000"/>
                          </a:solidFill>
                          <a:effectLst/>
                          <a:latin typeface="Calibri" panose="020F0502020204030204" pitchFamily="34" charset="0"/>
                        </a:rPr>
                        <a:t>ID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1,2,4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a:solidFill>
                            <a:srgbClr val="000000"/>
                          </a:solidFill>
                          <a:effectLst/>
                          <a:latin typeface="Calibri" panose="020F0502020204030204" pitchFamily="34" charset="0"/>
                        </a:rPr>
                        <a:t>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70480946"/>
                  </a:ext>
                </a:extLst>
              </a:tr>
              <a:tr h="330200">
                <a:tc>
                  <a:txBody>
                    <a:bodyPr/>
                    <a:lstStyle/>
                    <a:p>
                      <a:pPr algn="r" fontAlgn="b"/>
                      <a:r>
                        <a:rPr lang="en-IN" sz="2000" b="1" i="0" u="none" strike="noStrike">
                          <a:solidFill>
                            <a:srgbClr val="000000"/>
                          </a:solidFill>
                          <a:effectLst/>
                          <a:latin typeface="Calibri" panose="020F0502020204030204" pitchFamily="34" charset="0"/>
                        </a:rPr>
                        <a:t>1,2,4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03826563"/>
                  </a:ext>
                </a:extLst>
              </a:tr>
              <a:tr h="330200">
                <a:tc>
                  <a:txBody>
                    <a:bodyPr/>
                    <a:lstStyle/>
                    <a:p>
                      <a:pPr algn="r" fontAlgn="b"/>
                      <a:r>
                        <a:rPr lang="en-IN" sz="2000" b="1" i="0" u="none" strike="noStrike">
                          <a:solidFill>
                            <a:srgbClr val="000000"/>
                          </a:solidFill>
                          <a:effectLst/>
                          <a:latin typeface="Calibri" panose="020F0502020204030204" pitchFamily="34" charset="0"/>
                        </a:rPr>
                        <a:t>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B0F0"/>
                          </a:solidFill>
                          <a:effectLst/>
                          <a:latin typeface="Calibri" panose="020F0502020204030204"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5919470"/>
                  </a:ext>
                </a:extLst>
              </a:tr>
            </a:tbl>
          </a:graphicData>
        </a:graphic>
      </p:graphicFrame>
      <p:sp>
        <p:nvSpPr>
          <p:cNvPr id="12" name="AutoShape 2" descr="final hierarchical clustering">
            <a:extLst>
              <a:ext uri="{FF2B5EF4-FFF2-40B4-BE49-F238E27FC236}">
                <a16:creationId xmlns:a16="http://schemas.microsoft.com/office/drawing/2014/main" id="{97597455-5089-467D-BB3C-4ACFDD6D7FF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5" name="Picture 14">
            <a:extLst>
              <a:ext uri="{FF2B5EF4-FFF2-40B4-BE49-F238E27FC236}">
                <a16:creationId xmlns:a16="http://schemas.microsoft.com/office/drawing/2014/main" id="{5A5DE6AD-EFFC-4F6B-AAF5-6BD79BDAE4E5}"/>
              </a:ext>
            </a:extLst>
          </p:cNvPr>
          <p:cNvPicPr>
            <a:picLocks noChangeAspect="1"/>
          </p:cNvPicPr>
          <p:nvPr/>
        </p:nvPicPr>
        <p:blipFill>
          <a:blip r:embed="rId3"/>
          <a:stretch>
            <a:fillRect/>
          </a:stretch>
        </p:blipFill>
        <p:spPr>
          <a:xfrm>
            <a:off x="1065269" y="4091677"/>
            <a:ext cx="2029398" cy="2379296"/>
          </a:xfrm>
          <a:prstGeom prst="rect">
            <a:avLst/>
          </a:prstGeom>
        </p:spPr>
      </p:pic>
    </p:spTree>
    <p:extLst>
      <p:ext uri="{BB962C8B-B14F-4D97-AF65-F5344CB8AC3E}">
        <p14:creationId xmlns:p14="http://schemas.microsoft.com/office/powerpoint/2010/main" val="3751645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84438-5556-4779-92FA-9D9DB7EA4D23}"/>
              </a:ext>
            </a:extLst>
          </p:cNvPr>
          <p:cNvSpPr>
            <a:spLocks noGrp="1"/>
          </p:cNvSpPr>
          <p:nvPr>
            <p:ph type="title"/>
          </p:nvPr>
        </p:nvSpPr>
        <p:spPr/>
        <p:txBody>
          <a:bodyPr/>
          <a:lstStyle/>
          <a:p>
            <a:r>
              <a:rPr lang="en-IN" dirty="0" err="1"/>
              <a:t>Dendogram</a:t>
            </a:r>
            <a:endParaRPr lang="en-IN" dirty="0"/>
          </a:p>
        </p:txBody>
      </p:sp>
      <p:sp>
        <p:nvSpPr>
          <p:cNvPr id="4" name="AutoShape 2" descr="dendrogram">
            <a:extLst>
              <a:ext uri="{FF2B5EF4-FFF2-40B4-BE49-F238E27FC236}">
                <a16:creationId xmlns:a16="http://schemas.microsoft.com/office/drawing/2014/main" id="{CE94BF83-3FB4-4E41-9304-01B7AC08A34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6DF52B75-2CFC-43E2-A7DA-EBE8C98B8469}"/>
              </a:ext>
            </a:extLst>
          </p:cNvPr>
          <p:cNvPicPr>
            <a:picLocks noChangeAspect="1"/>
          </p:cNvPicPr>
          <p:nvPr/>
        </p:nvPicPr>
        <p:blipFill>
          <a:blip r:embed="rId2"/>
          <a:stretch>
            <a:fillRect/>
          </a:stretch>
        </p:blipFill>
        <p:spPr>
          <a:xfrm>
            <a:off x="455669" y="1541517"/>
            <a:ext cx="2029398" cy="2379296"/>
          </a:xfrm>
          <a:prstGeom prst="rect">
            <a:avLst/>
          </a:prstGeom>
        </p:spPr>
      </p:pic>
      <p:pic>
        <p:nvPicPr>
          <p:cNvPr id="14340" name="Picture 4" descr="dendrogram">
            <a:extLst>
              <a:ext uri="{FF2B5EF4-FFF2-40B4-BE49-F238E27FC236}">
                <a16:creationId xmlns:a16="http://schemas.microsoft.com/office/drawing/2014/main" id="{28CE2B92-1F41-4D0E-A346-A360A15AC9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9835" y="1288098"/>
            <a:ext cx="3371850" cy="3286125"/>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8FA742B5-BEC6-46CB-9901-A1C34471EA08}"/>
              </a:ext>
            </a:extLst>
          </p:cNvPr>
          <p:cNvCxnSpPr/>
          <p:nvPr/>
        </p:nvCxnSpPr>
        <p:spPr>
          <a:xfrm>
            <a:off x="3545840" y="3276600"/>
            <a:ext cx="146304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A3CDBCF-A24D-4D17-A650-D0B2580D5534}"/>
              </a:ext>
            </a:extLst>
          </p:cNvPr>
          <p:cNvSpPr txBox="1"/>
          <p:nvPr/>
        </p:nvSpPr>
        <p:spPr>
          <a:xfrm>
            <a:off x="3210560" y="3119120"/>
            <a:ext cx="301686" cy="369332"/>
          </a:xfrm>
          <a:prstGeom prst="rect">
            <a:avLst/>
          </a:prstGeom>
          <a:noFill/>
        </p:spPr>
        <p:txBody>
          <a:bodyPr wrap="none" rtlCol="0">
            <a:spAutoFit/>
          </a:bodyPr>
          <a:lstStyle/>
          <a:p>
            <a:r>
              <a:rPr lang="en-IN" dirty="0"/>
              <a:t>3</a:t>
            </a:r>
          </a:p>
        </p:txBody>
      </p:sp>
      <p:sp>
        <p:nvSpPr>
          <p:cNvPr id="11" name="TextBox 10">
            <a:extLst>
              <a:ext uri="{FF2B5EF4-FFF2-40B4-BE49-F238E27FC236}">
                <a16:creationId xmlns:a16="http://schemas.microsoft.com/office/drawing/2014/main" id="{EB0A3780-E911-4EF2-B1F6-0B4A3387A1C3}"/>
              </a:ext>
            </a:extLst>
          </p:cNvPr>
          <p:cNvSpPr txBox="1"/>
          <p:nvPr/>
        </p:nvSpPr>
        <p:spPr>
          <a:xfrm>
            <a:off x="610235" y="1288098"/>
            <a:ext cx="301686" cy="369332"/>
          </a:xfrm>
          <a:prstGeom prst="rect">
            <a:avLst/>
          </a:prstGeom>
          <a:noFill/>
        </p:spPr>
        <p:txBody>
          <a:bodyPr wrap="none" rtlCol="0">
            <a:spAutoFit/>
          </a:bodyPr>
          <a:lstStyle/>
          <a:p>
            <a:r>
              <a:rPr lang="en-IN" dirty="0"/>
              <a:t>3</a:t>
            </a:r>
          </a:p>
        </p:txBody>
      </p:sp>
      <p:sp>
        <p:nvSpPr>
          <p:cNvPr id="12" name="TextBox 11">
            <a:extLst>
              <a:ext uri="{FF2B5EF4-FFF2-40B4-BE49-F238E27FC236}">
                <a16:creationId xmlns:a16="http://schemas.microsoft.com/office/drawing/2014/main" id="{358D1034-BE27-4530-9B7A-055AD5E6606E}"/>
              </a:ext>
            </a:extLst>
          </p:cNvPr>
          <p:cNvSpPr txBox="1"/>
          <p:nvPr/>
        </p:nvSpPr>
        <p:spPr>
          <a:xfrm>
            <a:off x="1773867" y="1759441"/>
            <a:ext cx="301686" cy="369332"/>
          </a:xfrm>
          <a:prstGeom prst="rect">
            <a:avLst/>
          </a:prstGeom>
          <a:noFill/>
        </p:spPr>
        <p:txBody>
          <a:bodyPr wrap="none" rtlCol="0">
            <a:spAutoFit/>
          </a:bodyPr>
          <a:lstStyle/>
          <a:p>
            <a:r>
              <a:rPr lang="en-IN" dirty="0"/>
              <a:t>7</a:t>
            </a:r>
          </a:p>
        </p:txBody>
      </p:sp>
      <p:sp>
        <p:nvSpPr>
          <p:cNvPr id="13" name="TextBox 12">
            <a:extLst>
              <a:ext uri="{FF2B5EF4-FFF2-40B4-BE49-F238E27FC236}">
                <a16:creationId xmlns:a16="http://schemas.microsoft.com/office/drawing/2014/main" id="{44CDCB7B-A42C-4DA0-8C7B-61CB6AF18921}"/>
              </a:ext>
            </a:extLst>
          </p:cNvPr>
          <p:cNvSpPr txBox="1"/>
          <p:nvPr/>
        </p:nvSpPr>
        <p:spPr>
          <a:xfrm>
            <a:off x="1072827" y="2621084"/>
            <a:ext cx="418704" cy="369332"/>
          </a:xfrm>
          <a:prstGeom prst="rect">
            <a:avLst/>
          </a:prstGeom>
          <a:noFill/>
        </p:spPr>
        <p:txBody>
          <a:bodyPr wrap="none" rtlCol="0">
            <a:spAutoFit/>
          </a:bodyPr>
          <a:lstStyle/>
          <a:p>
            <a:r>
              <a:rPr lang="en-IN" dirty="0"/>
              <a:t>10</a:t>
            </a:r>
          </a:p>
        </p:txBody>
      </p:sp>
      <p:sp>
        <p:nvSpPr>
          <p:cNvPr id="14" name="TextBox 13">
            <a:extLst>
              <a:ext uri="{FF2B5EF4-FFF2-40B4-BE49-F238E27FC236}">
                <a16:creationId xmlns:a16="http://schemas.microsoft.com/office/drawing/2014/main" id="{9EB9CA72-BCF3-472D-B868-2A0CF290BDA6}"/>
              </a:ext>
            </a:extLst>
          </p:cNvPr>
          <p:cNvSpPr txBox="1"/>
          <p:nvPr/>
        </p:nvSpPr>
        <p:spPr>
          <a:xfrm>
            <a:off x="1219230" y="3270948"/>
            <a:ext cx="418704" cy="369332"/>
          </a:xfrm>
          <a:prstGeom prst="rect">
            <a:avLst/>
          </a:prstGeom>
          <a:noFill/>
        </p:spPr>
        <p:txBody>
          <a:bodyPr wrap="none" rtlCol="0">
            <a:spAutoFit/>
          </a:bodyPr>
          <a:lstStyle/>
          <a:p>
            <a:r>
              <a:rPr lang="en-IN" dirty="0"/>
              <a:t>15</a:t>
            </a:r>
          </a:p>
        </p:txBody>
      </p:sp>
      <p:sp>
        <p:nvSpPr>
          <p:cNvPr id="16" name="TextBox 15">
            <a:extLst>
              <a:ext uri="{FF2B5EF4-FFF2-40B4-BE49-F238E27FC236}">
                <a16:creationId xmlns:a16="http://schemas.microsoft.com/office/drawing/2014/main" id="{355F5465-4F66-48FB-B25F-8AEA615C67F6}"/>
              </a:ext>
            </a:extLst>
          </p:cNvPr>
          <p:cNvSpPr txBox="1"/>
          <p:nvPr/>
        </p:nvSpPr>
        <p:spPr>
          <a:xfrm>
            <a:off x="610235" y="4758532"/>
            <a:ext cx="7685722" cy="1477328"/>
          </a:xfrm>
          <a:prstGeom prst="rect">
            <a:avLst/>
          </a:prstGeom>
          <a:noFill/>
        </p:spPr>
        <p:txBody>
          <a:bodyPr wrap="square">
            <a:spAutoFit/>
          </a:bodyPr>
          <a:lstStyle/>
          <a:p>
            <a:r>
              <a:rPr lang="en-IN" dirty="0"/>
              <a:t>1)We started by merging ROW 1 and 2 = 3and the distance between these two samples was 3 (refer to the first proximity matrix in the previous section). Let’s plot this in the dendrogram:</a:t>
            </a:r>
          </a:p>
          <a:p>
            <a:r>
              <a:rPr lang="en-IN" dirty="0"/>
              <a:t>2)We started by merging Row 3 and 5 =7</a:t>
            </a:r>
          </a:p>
          <a:p>
            <a:r>
              <a:rPr lang="en-IN" dirty="0"/>
              <a:t>3)We started by merging Row (1,2) and 4 =10</a:t>
            </a:r>
          </a:p>
        </p:txBody>
      </p:sp>
      <p:pic>
        <p:nvPicPr>
          <p:cNvPr id="14342" name="Picture 6" descr="final dendrogram">
            <a:extLst>
              <a:ext uri="{FF2B5EF4-FFF2-40B4-BE49-F238E27FC236}">
                <a16:creationId xmlns:a16="http://schemas.microsoft.com/office/drawing/2014/main" id="{92894A70-7F37-4BD6-8475-4ED3BBECBA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92645" y="1288098"/>
            <a:ext cx="3400425" cy="3257550"/>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7D3F15B-8B18-42B3-AA91-31E4DB3EE2D3}"/>
              </a:ext>
            </a:extLst>
          </p:cNvPr>
          <p:cNvSpPr txBox="1"/>
          <p:nvPr/>
        </p:nvSpPr>
        <p:spPr>
          <a:xfrm>
            <a:off x="8219824" y="3303786"/>
            <a:ext cx="301686" cy="369332"/>
          </a:xfrm>
          <a:prstGeom prst="rect">
            <a:avLst/>
          </a:prstGeom>
          <a:noFill/>
        </p:spPr>
        <p:txBody>
          <a:bodyPr wrap="none" rtlCol="0">
            <a:spAutoFit/>
          </a:bodyPr>
          <a:lstStyle/>
          <a:p>
            <a:r>
              <a:rPr lang="en-IN" dirty="0"/>
              <a:t>3</a:t>
            </a:r>
          </a:p>
        </p:txBody>
      </p:sp>
      <p:sp>
        <p:nvSpPr>
          <p:cNvPr id="17" name="TextBox 16">
            <a:extLst>
              <a:ext uri="{FF2B5EF4-FFF2-40B4-BE49-F238E27FC236}">
                <a16:creationId xmlns:a16="http://schemas.microsoft.com/office/drawing/2014/main" id="{7F9ED647-B623-4416-97F2-1A6D0F3DD57C}"/>
              </a:ext>
            </a:extLst>
          </p:cNvPr>
          <p:cNvSpPr txBox="1"/>
          <p:nvPr/>
        </p:nvSpPr>
        <p:spPr>
          <a:xfrm>
            <a:off x="10342880" y="3119120"/>
            <a:ext cx="301686" cy="369332"/>
          </a:xfrm>
          <a:prstGeom prst="rect">
            <a:avLst/>
          </a:prstGeom>
          <a:noFill/>
        </p:spPr>
        <p:txBody>
          <a:bodyPr wrap="none" rtlCol="0">
            <a:spAutoFit/>
          </a:bodyPr>
          <a:lstStyle/>
          <a:p>
            <a:r>
              <a:rPr lang="en-IN" dirty="0"/>
              <a:t>7</a:t>
            </a:r>
          </a:p>
        </p:txBody>
      </p:sp>
      <p:sp>
        <p:nvSpPr>
          <p:cNvPr id="18" name="TextBox 17">
            <a:extLst>
              <a:ext uri="{FF2B5EF4-FFF2-40B4-BE49-F238E27FC236}">
                <a16:creationId xmlns:a16="http://schemas.microsoft.com/office/drawing/2014/main" id="{AB04F201-8CFE-45BE-A7D1-FB5C324DEDF3}"/>
              </a:ext>
            </a:extLst>
          </p:cNvPr>
          <p:cNvSpPr txBox="1"/>
          <p:nvPr/>
        </p:nvSpPr>
        <p:spPr>
          <a:xfrm>
            <a:off x="8219824" y="2431256"/>
            <a:ext cx="418704" cy="369332"/>
          </a:xfrm>
          <a:prstGeom prst="rect">
            <a:avLst/>
          </a:prstGeom>
          <a:noFill/>
        </p:spPr>
        <p:txBody>
          <a:bodyPr wrap="none" rtlCol="0">
            <a:spAutoFit/>
          </a:bodyPr>
          <a:lstStyle/>
          <a:p>
            <a:r>
              <a:rPr lang="en-IN" dirty="0"/>
              <a:t>10</a:t>
            </a:r>
          </a:p>
        </p:txBody>
      </p:sp>
      <p:sp>
        <p:nvSpPr>
          <p:cNvPr id="19" name="TextBox 18">
            <a:extLst>
              <a:ext uri="{FF2B5EF4-FFF2-40B4-BE49-F238E27FC236}">
                <a16:creationId xmlns:a16="http://schemas.microsoft.com/office/drawing/2014/main" id="{F5C5AB0C-EE78-494F-AB5A-D434BFBE69EE}"/>
              </a:ext>
            </a:extLst>
          </p:cNvPr>
          <p:cNvSpPr txBox="1"/>
          <p:nvPr/>
        </p:nvSpPr>
        <p:spPr>
          <a:xfrm>
            <a:off x="8892857" y="1472764"/>
            <a:ext cx="418704" cy="369332"/>
          </a:xfrm>
          <a:prstGeom prst="rect">
            <a:avLst/>
          </a:prstGeom>
          <a:noFill/>
        </p:spPr>
        <p:txBody>
          <a:bodyPr wrap="none" rtlCol="0">
            <a:spAutoFit/>
          </a:bodyPr>
          <a:lstStyle/>
          <a:p>
            <a:r>
              <a:rPr lang="en-IN" dirty="0"/>
              <a:t>15</a:t>
            </a:r>
          </a:p>
        </p:txBody>
      </p:sp>
    </p:spTree>
    <p:extLst>
      <p:ext uri="{BB962C8B-B14F-4D97-AF65-F5344CB8AC3E}">
        <p14:creationId xmlns:p14="http://schemas.microsoft.com/office/powerpoint/2010/main" val="3559407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dendrogram threshold">
            <a:extLst>
              <a:ext uri="{FF2B5EF4-FFF2-40B4-BE49-F238E27FC236}">
                <a16:creationId xmlns:a16="http://schemas.microsoft.com/office/drawing/2014/main" id="{2E32A993-4001-4B8B-93C7-700E68B626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380" y="1640523"/>
            <a:ext cx="3429000" cy="319087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dendrogram threshold">
            <a:extLst>
              <a:ext uri="{FF2B5EF4-FFF2-40B4-BE49-F238E27FC236}">
                <a16:creationId xmlns:a16="http://schemas.microsoft.com/office/drawing/2014/main" id="{CC4471F8-93CA-41B3-A568-077F3B6D77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6780" y="1792923"/>
            <a:ext cx="3429000" cy="319087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dendrogram threshold">
            <a:extLst>
              <a:ext uri="{FF2B5EF4-FFF2-40B4-BE49-F238E27FC236}">
                <a16:creationId xmlns:a16="http://schemas.microsoft.com/office/drawing/2014/main" id="{2FD61038-3C90-49DB-8C8D-AE735B672B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2460" y="1792922"/>
            <a:ext cx="3429000" cy="3190875"/>
          </a:xfrm>
          <a:prstGeom prst="rect">
            <a:avLst/>
          </a:prstGeom>
          <a:noFill/>
          <a:extLst>
            <a:ext uri="{909E8E84-426E-40DD-AFC4-6F175D3DCCD1}">
              <a14:hiddenFill xmlns:a14="http://schemas.microsoft.com/office/drawing/2010/main">
                <a:solidFill>
                  <a:srgbClr val="FFFFFF"/>
                </a:solidFill>
              </a14:hiddenFill>
            </a:ext>
          </a:extLst>
        </p:spPr>
      </p:pic>
      <p:sp>
        <p:nvSpPr>
          <p:cNvPr id="4" name="Oval 3">
            <a:extLst>
              <a:ext uri="{FF2B5EF4-FFF2-40B4-BE49-F238E27FC236}">
                <a16:creationId xmlns:a16="http://schemas.microsoft.com/office/drawing/2014/main" id="{04D509B6-3462-465B-B62E-55C1B8F0823E}"/>
              </a:ext>
            </a:extLst>
          </p:cNvPr>
          <p:cNvSpPr/>
          <p:nvPr/>
        </p:nvSpPr>
        <p:spPr>
          <a:xfrm>
            <a:off x="6096000" y="2336800"/>
            <a:ext cx="1960880" cy="282448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0E568F7F-33D5-4BC9-81A6-7167F4D20221}"/>
              </a:ext>
            </a:extLst>
          </p:cNvPr>
          <p:cNvSpPr txBox="1"/>
          <p:nvPr/>
        </p:nvSpPr>
        <p:spPr>
          <a:xfrm>
            <a:off x="6360160" y="5476240"/>
            <a:ext cx="1599862" cy="369332"/>
          </a:xfrm>
          <a:prstGeom prst="rect">
            <a:avLst/>
          </a:prstGeom>
          <a:noFill/>
        </p:spPr>
        <p:txBody>
          <a:bodyPr wrap="none" rtlCol="0">
            <a:spAutoFit/>
          </a:bodyPr>
          <a:lstStyle/>
          <a:p>
            <a:r>
              <a:rPr lang="en-IN" dirty="0"/>
              <a:t>1 Cluster -1,2,4</a:t>
            </a:r>
          </a:p>
        </p:txBody>
      </p:sp>
      <p:sp>
        <p:nvSpPr>
          <p:cNvPr id="9" name="TextBox 8">
            <a:extLst>
              <a:ext uri="{FF2B5EF4-FFF2-40B4-BE49-F238E27FC236}">
                <a16:creationId xmlns:a16="http://schemas.microsoft.com/office/drawing/2014/main" id="{34289D04-BF10-413C-8674-C7465BFC75DB}"/>
              </a:ext>
            </a:extLst>
          </p:cNvPr>
          <p:cNvSpPr txBox="1"/>
          <p:nvPr/>
        </p:nvSpPr>
        <p:spPr>
          <a:xfrm>
            <a:off x="8440420" y="4791948"/>
            <a:ext cx="892937" cy="369332"/>
          </a:xfrm>
          <a:prstGeom prst="rect">
            <a:avLst/>
          </a:prstGeom>
          <a:noFill/>
        </p:spPr>
        <p:txBody>
          <a:bodyPr wrap="none" rtlCol="0">
            <a:spAutoFit/>
          </a:bodyPr>
          <a:lstStyle/>
          <a:p>
            <a:r>
              <a:rPr lang="en-IN" dirty="0"/>
              <a:t> Cluster</a:t>
            </a:r>
          </a:p>
        </p:txBody>
      </p:sp>
      <p:sp>
        <p:nvSpPr>
          <p:cNvPr id="10" name="TextBox 9">
            <a:extLst>
              <a:ext uri="{FF2B5EF4-FFF2-40B4-BE49-F238E27FC236}">
                <a16:creationId xmlns:a16="http://schemas.microsoft.com/office/drawing/2014/main" id="{3596CE6F-1207-4508-BA7D-D55B23F34F4C}"/>
              </a:ext>
            </a:extLst>
          </p:cNvPr>
          <p:cNvSpPr txBox="1"/>
          <p:nvPr/>
        </p:nvSpPr>
        <p:spPr>
          <a:xfrm>
            <a:off x="223520" y="467954"/>
            <a:ext cx="11805920" cy="923330"/>
          </a:xfrm>
          <a:prstGeom prst="rect">
            <a:avLst/>
          </a:prstGeom>
          <a:noFill/>
        </p:spPr>
        <p:txBody>
          <a:bodyPr wrap="square" rtlCol="0">
            <a:spAutoFit/>
          </a:bodyPr>
          <a:lstStyle/>
          <a:p>
            <a:r>
              <a:rPr lang="en-US" dirty="0"/>
              <a:t>The number of clusters will be the number of vertical lines which are being intersected by the line drawn using the threshold. In the above example, since the red line intersects 2 vertical lines, we will have 2 clusters. One cluster will have a sample (1,2,4) and the other will have a sample (3,5). </a:t>
            </a:r>
            <a:endParaRPr lang="en-IN" dirty="0"/>
          </a:p>
        </p:txBody>
      </p:sp>
    </p:spTree>
    <p:extLst>
      <p:ext uri="{BB962C8B-B14F-4D97-AF65-F5344CB8AC3E}">
        <p14:creationId xmlns:p14="http://schemas.microsoft.com/office/powerpoint/2010/main" val="35617712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839</TotalTime>
  <Words>1140</Words>
  <Application>Microsoft Office PowerPoint</Application>
  <PresentationFormat>Widescreen</PresentationFormat>
  <Paragraphs>786</Paragraphs>
  <Slides>14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roboto</vt:lpstr>
      <vt:lpstr>Office Theme</vt:lpstr>
      <vt:lpstr>hierarchical-clustering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Dendogram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Arun kumar Nair</dc:creator>
  <cp:lastModifiedBy>Arun kumar Nair</cp:lastModifiedBy>
  <cp:revision>18</cp:revision>
  <dcterms:created xsi:type="dcterms:W3CDTF">2021-05-08T09:16:13Z</dcterms:created>
  <dcterms:modified xsi:type="dcterms:W3CDTF">2021-05-09T12:28:03Z</dcterms:modified>
</cp:coreProperties>
</file>