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5" r:id="rId5"/>
    <p:sldId id="260" r:id="rId6"/>
    <p:sldId id="278" r:id="rId7"/>
    <p:sldId id="277" r:id="rId8"/>
    <p:sldId id="27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42" autoAdjust="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53 1384,'0'0'2994,"0"-2"-2643,1-20 11498,2 2-10501,-3 19-1153,3-7 2827,-5 49-3028,-2-1 0,-2-1 0,-13 49 0,-3 17 213,17-81-176,2-6 54,-3 35-1,6-52 207,-13-2-531,2-5-385,-1 0 0,1-1 0,0 0 0,1-1 0,-16-14 1,6 5-1237,-20-18-3592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46 4601,'0'0'7123,"-2"-5"-6154,2 5-967,-3-5 459,1 1 1,0-1-1,-1 1 1,0-1 0,0 1-1,0 0 1,-4-4 0,6 7 2,-1 1-416,1 0 0,-1 0 0,0 0 0,0 0 0,0 0 0,0 0 1,0 1-1,0-1 0,-3 2 0,-3 3-23,0 0 0,0 1-1,-14 13 1,15-12-58,-1-1-1,0 1 1,0-1-1,-14 7 1,8-6-481,1-2-1,-1 0 1,0-1-1,-27 6 1,30-9-576,1 0 0,-1-1 1,0 0-1,-13-1 1,2-5-3707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6857,'0'0'7410,"8"0"-6899,-5 0-512,-1 1-1,0 0 1,1-1 0,-1 1-1,0 0 1,1 0 0,-1 0 0,0 1-1,0-1 1,0 0 0,0 1 0,0 0-1,0-1 1,0 1 0,-1 0 0,1 0-1,-1 0 1,1 0 0,-1 0-1,0 0 1,0 0 0,2 4 0,1 3 0,0 0 1,0 1-1,-1 0 0,3 13 1,-4-12-18,0 1 0,0 0 0,-1 0 0,-1-1 0,0 1 0,0 0-1,-1 0 1,-1 0 0,0-1 0,-1 1 0,0-1 0,0 1 0,-1-1 0,-8 14 0,-2-4 59,0-1 1,-1-1-1,-28 28 0,-61 46 230,44-41-197,60-52-75,0 1 1,0-1-1,-1 0 1,1 0-1,0 0 1,0 0-1,0 0 1,0 0-1,0 0 1,0 0 0,0 1-1,-1-1 1,1 0-1,0 0 1,0 0-1,0 0 1,0 0-1,0 1 1,0-1 0,0 0-1,0 0 1,0 0-1,0 0 1,0 0-1,0 1 1,0-1-1,0 0 1,0 0 0,0 0-1,0 0 1,0 0-1,0 1 1,0-1-1,0 0 1,0 0-1,0 0 1,1 0 0,-1 0-1,0 1 1,0-1-1,0 0 1,0 0-1,0 0 1,0 0-1,0 0 1,0 0-1,1 0 1,-1 0 0,0 1-1,0-1 1,0 0-1,0 0 1,0 0-1,0 0 1,1 0-1,-1 0 1,0 0 0,0 0-1,0 0 1,18 3 127,32-2 309,-40-1-322,36-1 429,1-2-1,71-13 0,-91 12-715,31-3 0,27 6-4279,-43 1 670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8042,'0'0'4897,"0"-1"-4931,0 1 0,0 0 1,0 0-1,0 0 1,0 0-1,0 0 0,0 0 1,0 0-1,0 0 0,0 0 1,0 0-1,0 0 0,0 0 1,0 0-1,0 0 1,0-1-1,0 1 0,0 0 1,-1 0-1,1 0 0,0 0 1,0 0-1,0 0 0,0 0 1,0 0-1,0 0 1,1 0-1,-1-1 0,0 1 1,0 0-1,0 0 0,0 0 1,0 0-1,0 0 0,0 0 1,0 0-1,0 0 1,0 0-1,0 0 0,0 0 1,0 0-1,0 0 0,0-1 1,0 1-1,-17-3-5166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9090,'0'0'14416,"-5"1"-16383,-9 1-1253,-10-1-2320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4993,'0'0'2209,"7"0"-2201,-4 0 256,1 0-264,-1 0-104,4 0-1361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5601,'0'0'12083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4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19 808,'0'0'6308,"-3"-19"-745,-35 19-9575,4 0-1790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8042,'0'0'4897,"0"-1"-4931,0 1 0,0 0 1,0 0-1,0 0 1,0 0-1,0 0 0,0 0 1,0 0-1,0 0 0,0 0 1,0 0-1,0 0 0,0 0 1,0 0-1,0 0 1,0-1-1,0 1 0,0 0 1,-1 0-1,1 0 0,0 0 1,0 0-1,0 0 0,0 0 1,0 0-1,0 0 1,1 0-1,-1-1 0,0 1 1,0 0-1,0 0 0,0 0 1,0 0-1,0 0 0,0 0 1,0 0-1,0 0 1,0 0-1,0 0 0,0 0 1,0 0-1,0 0 0,0-1 1,0 1-1,-17-3-5166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9090,'0'0'14416,"-5"1"-16383,-9 1-1253,-10-1-2320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0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4993,'0'0'2209,"7"0"-2201,-4 0 256,1 0-264,-1 0-104,4 0-1361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1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5601,'0'0'12083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0:4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19 808,'0'0'6308,"-3"-19"-745,-35 19-9575,4 0-1790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2:15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7418,'0'0'14448,"9"-19"-20896,-1 4 4506,21-26-1,-1 1-2212,2-12-2167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13:4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0 568,'0'0'3916,"-17"0"-4459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1:0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40,'0'0'641,"0"-1"-589,0-43 205,0 40-671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3:5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75 1296,'0'0'2009,"-39"-71"-3210,24 68-559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9T12:25:5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1 264,'0'0'0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446B1-1B91-476D-877B-0165D79C2BED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37BE1-1A0F-4BB9-8A99-02A798D1A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90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37BE1-1A0F-4BB9-8A99-02A798D1A15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37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https://www.analyticsvidhya.com/blog/2019/05/beginners-guide-hierarchical-clustering/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37BE1-1A0F-4BB9-8A99-02A798D1A15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37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EC98-91B4-4F68-B044-FC549A3D4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DE991-1927-4CF3-BE3D-1B507D987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F299B-8BE8-40DF-A9AE-0D636648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EA95-6823-4AC3-83A0-80082154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F1CEC-1E35-4518-9422-42B1D686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6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EFF3-3DC4-4158-B6AA-2A24CF81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33D7-A3C6-4EFA-B5BE-6F2A56CD3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810D9-014C-4765-8ACC-21BEEE09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4B936-0BC5-4F87-A07A-EF9C9B45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E17ED-DA9A-4D3F-B73D-F20AA23E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40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C774-8C57-4E47-AD16-345FDA3F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69DA8-C27E-4960-8951-3C58E589F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38F03-D0AB-453F-9F4D-54FF9020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5226E-A647-4C65-B569-F51988C9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17DAE-3E0E-4AA4-B4E8-FFD3D28D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4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3022-E65B-4E08-83A9-0762116BA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EE4E-BE37-4843-8A3B-F9FFDC72E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E0776-F21A-404C-AE65-E54BAFB29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EA6F8-C077-48D6-ABD0-28702740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6898D-6318-4F23-9F72-30052CBF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6B89F-8643-44DA-9F2D-3547B8F9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7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07C9-FC49-4AF8-BEE4-99D0504D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E7E34-2E5F-47EA-A26C-16C2ACFA9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D340A-31A3-4D21-8720-FD755A028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B84B8-DD86-4EF4-B726-F7741DA79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CCD60-12C9-4E15-B4BE-5A6421D23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54984-D19F-4E9B-BD16-5DD04D0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76DB2-41CB-4870-952A-5C57B73B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11B76-C6CF-4C5C-BB59-FB6AE2F2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85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871A-620B-499B-8D46-D72E8873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B3CFE-3F44-4380-ACC8-9A558401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B55D1-69B0-40CB-9D15-E9AB8320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3AF61-FA78-43BA-A0B4-FAB2DC1D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8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322C1-940D-4EB4-AF97-81A93DCA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75F9E-5787-4E4E-9B30-8DC9FCB9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B940-A9C0-4906-A49F-722EB378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03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D7AB-069E-40E0-88B9-8E95689F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1AEF-5563-4CDA-81DC-2CC4BDEAF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0128A-3E85-4EED-93B9-85EBBDAF8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5254D-CC65-4F12-8800-BE968162D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06EE-3092-4CF0-B2ED-FD9DFC0B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1A564-1511-4F9E-A5B6-138A365A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58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5408-23F7-41AC-8F70-9383D406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E5285-3477-41F0-A477-60C3BF476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ED3A5-7E6C-4E57-AB31-AE0A82AE3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B65F-AF30-46BB-B23D-9E78B47E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A83F2-2C76-4E04-AED2-B21D4E25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B7FED-A68D-4BD4-B411-BE7913E1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3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C3F7-E616-4959-A269-371A83F1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93BD5-70CA-410B-BBE6-A78CE900B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5BC1-4F83-420D-8339-1CE4C50E6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826FC-10A0-4BFC-829C-B2223633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3A836-436E-47B8-BA18-6AEEB70E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2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85BDB-8027-443D-AF72-8CBA12D04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DC4D5-11B2-42C8-B1D3-CAD97ECE5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6E682-A1BF-4A9E-97E2-C9BC492A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6A94-4942-4CF1-9F61-C7FB6F23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A6A1B-DBF0-4866-AE34-ECA5B244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6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877A3-B31A-4240-B8E5-E65C8F61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167C8-4391-4C1A-B1C9-EB5476AAD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17ACE-F01E-4F62-A916-BCA017773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787C-32E2-48C8-8450-5A080EEC0513}" type="datetimeFigureOut">
              <a:rPr lang="en-IN" smtClean="0"/>
              <a:t>09-10-2021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429D5-8CD7-46CA-9955-9697F6243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F327-283A-444D-B54A-75CEFBA69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52FB6-F32A-4F00-B06D-10D7D317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77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" Type="http://schemas.openxmlformats.org/officeDocument/2006/relationships/image" Target="../media/image1.emf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customXml" Target="../ink/ink13.xml"/><Relationship Id="rId3" Type="http://schemas.openxmlformats.org/officeDocument/2006/relationships/image" Target="../media/image2.png"/><Relationship Id="rId12" Type="http://schemas.openxmlformats.org/officeDocument/2006/relationships/image" Target="../media/image10.png"/><Relationship Id="rId17" Type="http://schemas.openxmlformats.org/officeDocument/2006/relationships/customXml" Target="../ink/ink12.xml"/><Relationship Id="rId2" Type="http://schemas.openxmlformats.org/officeDocument/2006/relationships/image" Target="../media/image1.emf"/><Relationship Id="rId16" Type="http://schemas.openxmlformats.org/officeDocument/2006/relationships/image" Target="../media/image7.png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24" Type="http://schemas.openxmlformats.org/officeDocument/2006/relationships/customXml" Target="../ink/ink15.xml"/><Relationship Id="rId5" Type="http://schemas.openxmlformats.org/officeDocument/2006/relationships/customXml" Target="../ink/ink9.xml"/><Relationship Id="rId15" Type="http://schemas.openxmlformats.org/officeDocument/2006/relationships/customXml" Target="../ink/ink11.xml"/><Relationship Id="rId23" Type="http://schemas.openxmlformats.org/officeDocument/2006/relationships/image" Target="../media/image14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customXml" Target="../ink/ink17.xml"/><Relationship Id="rId10" Type="http://schemas.openxmlformats.org/officeDocument/2006/relationships/image" Target="../media/image10.png"/><Relationship Id="rId4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8922-50C9-487F-94E1-EB2D55F99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hierarchical-clustering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C872C-6126-4CC0-BB87-DA08E6D51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87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A1119E-CD4B-4B3A-AAB5-CCE4C516D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720" y="1319971"/>
            <a:ext cx="3210560" cy="4218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C1944D-7219-4828-97DA-9E5F11BC8378}"/>
              </a:ext>
            </a:extLst>
          </p:cNvPr>
          <p:cNvSpPr txBox="1"/>
          <p:nvPr/>
        </p:nvSpPr>
        <p:spPr>
          <a:xfrm>
            <a:off x="5963920" y="77360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21211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1B20F5-1A25-4DBF-93D5-555D5F24D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625412"/>
              </p:ext>
            </p:extLst>
          </p:nvPr>
        </p:nvGraphicFramePr>
        <p:xfrm>
          <a:off x="3484879" y="1334214"/>
          <a:ext cx="5913121" cy="3450908"/>
        </p:xfrm>
        <a:graphic>
          <a:graphicData uri="http://schemas.openxmlformats.org/drawingml/2006/table">
            <a:tbl>
              <a:tblPr/>
              <a:tblGrid>
                <a:gridCol w="1349941">
                  <a:extLst>
                    <a:ext uri="{9D8B030D-6E8A-4147-A177-3AD203B41FA5}">
                      <a16:colId xmlns:a16="http://schemas.microsoft.com/office/drawing/2014/main" val="96185964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1463001659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411097495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1800538190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3531501363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3294420862"/>
                    </a:ext>
                  </a:extLst>
                </a:gridCol>
              </a:tblGrid>
              <a:tr h="582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423204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9542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976737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275789"/>
                  </a:ext>
                </a:extLst>
              </a:tr>
              <a:tr h="57148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8853"/>
                  </a:ext>
                </a:extLst>
              </a:tr>
              <a:tr h="582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06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EFDC09-B103-406E-9690-AAA1F79EA171}"/>
              </a:ext>
            </a:extLst>
          </p:cNvPr>
          <p:cNvSpPr txBox="1"/>
          <p:nvPr/>
        </p:nvSpPr>
        <p:spPr>
          <a:xfrm>
            <a:off x="3302000" y="8211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595858"/>
                </a:solidFill>
                <a:effectLst/>
                <a:latin typeface="roboto" panose="02000000000000000000" pitchFamily="2" charset="0"/>
              </a:rPr>
              <a:t>√(10-28)^2 = √324 = </a:t>
            </a:r>
            <a:r>
              <a:rPr lang="en-IN" b="1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18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15D0D-2E80-4F27-BF5A-547A8F13C8A8}"/>
              </a:ext>
            </a:extLst>
          </p:cNvPr>
          <p:cNvSpPr txBox="1"/>
          <p:nvPr/>
        </p:nvSpPr>
        <p:spPr>
          <a:xfrm>
            <a:off x="3302000" y="308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595858"/>
                </a:solidFill>
                <a:effectLst/>
                <a:latin typeface="roboto" panose="02000000000000000000" pitchFamily="2" charset="0"/>
              </a:rPr>
              <a:t>√(10-7)^2 = √9 = </a:t>
            </a:r>
            <a:r>
              <a:rPr lang="en-I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7047C7-2F62-44B9-889B-6B371089C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65" y="1338728"/>
            <a:ext cx="1342150" cy="17633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9F1488-3B71-4DDA-9D14-8738D3297DB2}"/>
              </a:ext>
            </a:extLst>
          </p:cNvPr>
          <p:cNvSpPr txBox="1"/>
          <p:nvPr/>
        </p:nvSpPr>
        <p:spPr>
          <a:xfrm>
            <a:off x="1249680" y="95648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09AC5-AA8F-468A-BCDA-3303D9CA8EC6}"/>
              </a:ext>
            </a:extLst>
          </p:cNvPr>
          <p:cNvSpPr txBox="1"/>
          <p:nvPr/>
        </p:nvSpPr>
        <p:spPr>
          <a:xfrm>
            <a:off x="6350000" y="893018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215855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oximity matrix">
            <a:extLst>
              <a:ext uri="{FF2B5EF4-FFF2-40B4-BE49-F238E27FC236}">
                <a16:creationId xmlns:a16="http://schemas.microsoft.com/office/drawing/2014/main" id="{B25736C8-FDAA-4DD6-BA2F-E773BAC10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330" y="1147445"/>
            <a:ext cx="30099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ABC34B-1E69-4560-B143-02DEF8F0C909}"/>
              </a:ext>
            </a:extLst>
          </p:cNvPr>
          <p:cNvSpPr txBox="1"/>
          <p:nvPr/>
        </p:nvSpPr>
        <p:spPr>
          <a:xfrm>
            <a:off x="698320" y="416560"/>
            <a:ext cx="5408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1: Assign all the data points to an individual cluster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9A276-9910-4154-B833-4F6201E8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56" y="881528"/>
            <a:ext cx="1342150" cy="1763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7E6059-BE1C-4271-9CEE-EDF04CE2C2E1}"/>
              </a:ext>
            </a:extLst>
          </p:cNvPr>
          <p:cNvSpPr txBox="1"/>
          <p:nvPr/>
        </p:nvSpPr>
        <p:spPr>
          <a:xfrm>
            <a:off x="3370242" y="782003"/>
            <a:ext cx="430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10         7          28         20       35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24E81-6C57-4F29-B01F-E3833E0EE781}"/>
              </a:ext>
            </a:extLst>
          </p:cNvPr>
          <p:cNvSpPr txBox="1"/>
          <p:nvPr/>
        </p:nvSpPr>
        <p:spPr>
          <a:xfrm>
            <a:off x="698320" y="3322320"/>
            <a:ext cx="7599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1: Check the smallest distance proximity matrix and merge the data points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72A7B4-BA87-4B33-B66D-0206BE68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27246"/>
              </p:ext>
            </p:extLst>
          </p:nvPr>
        </p:nvGraphicFramePr>
        <p:xfrm>
          <a:off x="3402329" y="3837225"/>
          <a:ext cx="4551679" cy="2225040"/>
        </p:xfrm>
        <a:graphic>
          <a:graphicData uri="http://schemas.openxmlformats.org/drawingml/2006/table">
            <a:tbl>
              <a:tblPr/>
              <a:tblGrid>
                <a:gridCol w="1039129">
                  <a:extLst>
                    <a:ext uri="{9D8B030D-6E8A-4147-A177-3AD203B41FA5}">
                      <a16:colId xmlns:a16="http://schemas.microsoft.com/office/drawing/2014/main" val="96185964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463001659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411097495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800538190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531501363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294420862"/>
                    </a:ext>
                  </a:extLst>
                </a:gridCol>
              </a:tblGrid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423204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9542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976737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275789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8853"/>
                  </a:ext>
                </a:extLst>
              </a:tr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0673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6372C34-9F13-4613-A84A-3C9196749B44}"/>
              </a:ext>
            </a:extLst>
          </p:cNvPr>
          <p:cNvSpPr txBox="1"/>
          <p:nvPr/>
        </p:nvSpPr>
        <p:spPr>
          <a:xfrm>
            <a:off x="77766" y="782003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426B9-E4F6-4202-9CB4-EAE2E391B3CE}"/>
              </a:ext>
            </a:extLst>
          </p:cNvPr>
          <p:cNvSpPr txBox="1"/>
          <p:nvPr/>
        </p:nvSpPr>
        <p:spPr>
          <a:xfrm>
            <a:off x="1544320" y="3855153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356926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F9A276-9910-4154-B833-4F6201E8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56" y="85006"/>
            <a:ext cx="1342150" cy="176332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6B3C62-7685-4C78-A5D0-0A234735C032}"/>
              </a:ext>
            </a:extLst>
          </p:cNvPr>
          <p:cNvGrpSpPr/>
          <p:nvPr/>
        </p:nvGrpSpPr>
        <p:grpSpPr>
          <a:xfrm>
            <a:off x="2506642" y="112277"/>
            <a:ext cx="4309112" cy="854392"/>
            <a:chOff x="3370242" y="782003"/>
            <a:chExt cx="4309112" cy="854392"/>
          </a:xfrm>
        </p:grpSpPr>
        <p:pic>
          <p:nvPicPr>
            <p:cNvPr id="3074" name="Picture 2" descr="proximity matrix">
              <a:extLst>
                <a:ext uri="{FF2B5EF4-FFF2-40B4-BE49-F238E27FC236}">
                  <a16:creationId xmlns:a16="http://schemas.microsoft.com/office/drawing/2014/main" id="{B25736C8-FDAA-4DD6-BA2F-E773BAC10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330" y="1198245"/>
              <a:ext cx="3009900" cy="438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7E6059-BE1C-4271-9CEE-EDF04CE2C2E1}"/>
                </a:ext>
              </a:extLst>
            </p:cNvPr>
            <p:cNvSpPr txBox="1"/>
            <p:nvPr/>
          </p:nvSpPr>
          <p:spPr>
            <a:xfrm>
              <a:off x="3370242" y="782003"/>
              <a:ext cx="4309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10         7          28         20       35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224E81-6C57-4F29-B01F-E3833E0EE781}"/>
              </a:ext>
            </a:extLst>
          </p:cNvPr>
          <p:cNvSpPr txBox="1"/>
          <p:nvPr/>
        </p:nvSpPr>
        <p:spPr>
          <a:xfrm>
            <a:off x="718640" y="1974751"/>
            <a:ext cx="91827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2: Check the smallest distance proximity matrix and merge the data points.</a:t>
            </a:r>
          </a:p>
          <a:p>
            <a:r>
              <a:rPr lang="en-US" dirty="0"/>
              <a:t>We have taken the </a:t>
            </a:r>
            <a:r>
              <a:rPr lang="en-US" b="1" dirty="0"/>
              <a:t>maximum</a:t>
            </a:r>
            <a:r>
              <a:rPr lang="en-US" dirty="0"/>
              <a:t> of the two marks (7,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/>
              <a:t>) (1,2) to replace the marks for this cluster.</a:t>
            </a:r>
            <a:r>
              <a:rPr lang="en-IN" dirty="0"/>
              <a:t>  </a:t>
            </a:r>
          </a:p>
          <a:p>
            <a:r>
              <a:rPr lang="en-IN" dirty="0"/>
              <a:t>You can also take </a:t>
            </a:r>
            <a:r>
              <a:rPr lang="en-IN" b="1" dirty="0"/>
              <a:t>minimum, average.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72A7B4-BA87-4B33-B66D-0206BE68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98328"/>
              </p:ext>
            </p:extLst>
          </p:nvPr>
        </p:nvGraphicFramePr>
        <p:xfrm>
          <a:off x="718640" y="3137807"/>
          <a:ext cx="4551679" cy="2225040"/>
        </p:xfrm>
        <a:graphic>
          <a:graphicData uri="http://schemas.openxmlformats.org/drawingml/2006/table">
            <a:tbl>
              <a:tblPr/>
              <a:tblGrid>
                <a:gridCol w="1039129">
                  <a:extLst>
                    <a:ext uri="{9D8B030D-6E8A-4147-A177-3AD203B41FA5}">
                      <a16:colId xmlns:a16="http://schemas.microsoft.com/office/drawing/2014/main" val="96185964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463001659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411097495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1800538190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531501363"/>
                    </a:ext>
                  </a:extLst>
                </a:gridCol>
                <a:gridCol w="702510">
                  <a:extLst>
                    <a:ext uri="{9D8B030D-6E8A-4147-A177-3AD203B41FA5}">
                      <a16:colId xmlns:a16="http://schemas.microsoft.com/office/drawing/2014/main" val="3294420862"/>
                    </a:ext>
                  </a:extLst>
                </a:gridCol>
              </a:tblGrid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423204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389542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976737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275789"/>
                  </a:ext>
                </a:extLst>
              </a:tr>
              <a:tr h="368478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8853"/>
                  </a:ext>
                </a:extLst>
              </a:tr>
              <a:tr h="375564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06738"/>
                  </a:ext>
                </a:extLst>
              </a:tr>
            </a:tbl>
          </a:graphicData>
        </a:graphic>
      </p:graphicFrame>
      <p:pic>
        <p:nvPicPr>
          <p:cNvPr id="3076" name="Picture 4" descr="step 2 : hierarchical">
            <a:extLst>
              <a:ext uri="{FF2B5EF4-FFF2-40B4-BE49-F238E27FC236}">
                <a16:creationId xmlns:a16="http://schemas.microsoft.com/office/drawing/2014/main" id="{164A99B7-C327-420D-BA8E-0E4CA077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208" y="3137807"/>
            <a:ext cx="30289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4A6E66-5BCA-4EC7-88FD-81C03CAB0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747744"/>
              </p:ext>
            </p:extLst>
          </p:nvPr>
        </p:nvGraphicFramePr>
        <p:xfrm>
          <a:off x="8703310" y="3137807"/>
          <a:ext cx="1511300" cy="165100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4591347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148017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0988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(1,2)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101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4207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8434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841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60B252-BB4B-4047-83D6-F7D5451B3441}"/>
              </a:ext>
            </a:extLst>
          </p:cNvPr>
          <p:cNvSpPr txBox="1"/>
          <p:nvPr/>
        </p:nvSpPr>
        <p:spPr>
          <a:xfrm>
            <a:off x="10447924" y="34290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7,</a:t>
            </a:r>
            <a:r>
              <a:rPr lang="en-IN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0862C-CB2B-4D45-AC9C-02A274DDAF66}"/>
              </a:ext>
            </a:extLst>
          </p:cNvPr>
          <p:cNvSpPr txBox="1"/>
          <p:nvPr/>
        </p:nvSpPr>
        <p:spPr>
          <a:xfrm>
            <a:off x="0" y="2830904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AE2661-EC47-4876-A1F9-770391107553}"/>
              </a:ext>
            </a:extLst>
          </p:cNvPr>
          <p:cNvSpPr txBox="1"/>
          <p:nvPr/>
        </p:nvSpPr>
        <p:spPr>
          <a:xfrm>
            <a:off x="79255" y="8500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2D23C-CA53-4FC0-B2AF-78F5FAAD2FA2}"/>
              </a:ext>
            </a:extLst>
          </p:cNvPr>
          <p:cNvSpPr txBox="1"/>
          <p:nvPr/>
        </p:nvSpPr>
        <p:spPr>
          <a:xfrm>
            <a:off x="9096521" y="2713415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CDA66D-8C00-4953-B49E-99018EA55111}"/>
              </a:ext>
            </a:extLst>
          </p:cNvPr>
          <p:cNvGrpSpPr/>
          <p:nvPr/>
        </p:nvGrpSpPr>
        <p:grpSpPr>
          <a:xfrm>
            <a:off x="6174240" y="376600"/>
            <a:ext cx="505800" cy="253080"/>
            <a:chOff x="6174240" y="376600"/>
            <a:chExt cx="50580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DFEB9C-F847-4F2C-8A44-F4A629F85BCC}"/>
                    </a:ext>
                  </a:extLst>
                </p14:cNvPr>
                <p14:cNvContentPartPr/>
                <p14:nvPr/>
              </p14:nvContentPartPr>
              <p14:xfrm>
                <a:off x="6174240" y="447520"/>
                <a:ext cx="79920" cy="147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DFEB9C-F847-4F2C-8A44-F4A629F85BC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65240" y="438520"/>
                  <a:ext cx="97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480C5E-D0F3-4613-BC60-CD8971BA5221}"/>
                    </a:ext>
                  </a:extLst>
                </p14:cNvPr>
                <p14:cNvContentPartPr/>
                <p14:nvPr/>
              </p14:nvContentPartPr>
              <p14:xfrm>
                <a:off x="6240840" y="589720"/>
                <a:ext cx="120960" cy="39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480C5E-D0F3-4613-BC60-CD8971BA522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32200" y="581080"/>
                  <a:ext cx="138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83CF69-19B6-4579-8989-B606380C0E50}"/>
                    </a:ext>
                  </a:extLst>
                </p14:cNvPr>
                <p14:cNvContentPartPr/>
                <p14:nvPr/>
              </p14:nvContentPartPr>
              <p14:xfrm>
                <a:off x="6498240" y="376600"/>
                <a:ext cx="181800" cy="198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83CF69-19B6-4579-8989-B606380C0E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89600" y="367600"/>
                  <a:ext cx="19944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14:cNvPr>
              <p14:cNvContentPartPr/>
              <p14:nvPr/>
            </p14:nvContentPartPr>
            <p14:xfrm>
              <a:off x="10094640" y="4451080"/>
              <a:ext cx="6840" cy="2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86000" y="4442080"/>
                <a:ext cx="244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14:cNvPr>
              <p14:cNvContentPartPr/>
              <p14:nvPr/>
            </p14:nvContentPartPr>
            <p14:xfrm>
              <a:off x="10021560" y="4847080"/>
              <a:ext cx="1584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12560" y="4838080"/>
                <a:ext cx="334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2642E16-6739-4A24-83D0-6503DCD385F4}"/>
              </a:ext>
            </a:extLst>
          </p:cNvPr>
          <p:cNvGrpSpPr/>
          <p:nvPr/>
        </p:nvGrpSpPr>
        <p:grpSpPr>
          <a:xfrm>
            <a:off x="9965040" y="3784720"/>
            <a:ext cx="271080" cy="344520"/>
            <a:chOff x="9965040" y="3784720"/>
            <a:chExt cx="27108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14:cNvPr>
                <p14:cNvContentPartPr/>
                <p14:nvPr/>
              </p14:nvContentPartPr>
              <p14:xfrm>
                <a:off x="9965040" y="3784720"/>
                <a:ext cx="9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56400" y="3775720"/>
                  <a:ext cx="27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14:cNvPr>
                <p14:cNvContentPartPr/>
                <p14:nvPr/>
              </p14:nvContentPartPr>
              <p14:xfrm>
                <a:off x="10046040" y="412888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37040" y="4119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14:cNvPr>
                <p14:cNvContentPartPr/>
                <p14:nvPr/>
              </p14:nvContentPartPr>
              <p14:xfrm>
                <a:off x="10208760" y="4029560"/>
                <a:ext cx="27360" cy="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00120" y="4020560"/>
                  <a:ext cx="4500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404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F9A276-9910-4154-B833-4F6201E8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56" y="85006"/>
            <a:ext cx="1342150" cy="176332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6B3C62-7685-4C78-A5D0-0A234735C032}"/>
              </a:ext>
            </a:extLst>
          </p:cNvPr>
          <p:cNvGrpSpPr/>
          <p:nvPr/>
        </p:nvGrpSpPr>
        <p:grpSpPr>
          <a:xfrm>
            <a:off x="2506642" y="112277"/>
            <a:ext cx="4309112" cy="854392"/>
            <a:chOff x="3370242" y="782003"/>
            <a:chExt cx="4309112" cy="854392"/>
          </a:xfrm>
        </p:grpSpPr>
        <p:pic>
          <p:nvPicPr>
            <p:cNvPr id="3074" name="Picture 2" descr="proximity matrix">
              <a:extLst>
                <a:ext uri="{FF2B5EF4-FFF2-40B4-BE49-F238E27FC236}">
                  <a16:creationId xmlns:a16="http://schemas.microsoft.com/office/drawing/2014/main" id="{B25736C8-FDAA-4DD6-BA2F-E773BAC10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330" y="1198245"/>
              <a:ext cx="3009900" cy="438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7E6059-BE1C-4271-9CEE-EDF04CE2C2E1}"/>
                </a:ext>
              </a:extLst>
            </p:cNvPr>
            <p:cNvSpPr txBox="1"/>
            <p:nvPr/>
          </p:nvSpPr>
          <p:spPr>
            <a:xfrm>
              <a:off x="3370242" y="782003"/>
              <a:ext cx="4309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10         7          28         20       35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224E81-6C57-4F29-B01F-E3833E0EE781}"/>
              </a:ext>
            </a:extLst>
          </p:cNvPr>
          <p:cNvSpPr txBox="1"/>
          <p:nvPr/>
        </p:nvSpPr>
        <p:spPr>
          <a:xfrm>
            <a:off x="718640" y="1974751"/>
            <a:ext cx="91827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 2: Check the smallest distance proximity matrix and merge the data points.</a:t>
            </a:r>
          </a:p>
          <a:p>
            <a:r>
              <a:rPr lang="en-US" dirty="0"/>
              <a:t>We have taken the </a:t>
            </a:r>
            <a:r>
              <a:rPr lang="en-US" b="1" dirty="0"/>
              <a:t>maximum</a:t>
            </a:r>
            <a:r>
              <a:rPr lang="en-US" dirty="0"/>
              <a:t> of the two marks (7,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/>
              <a:t>) (1,2) to replace the marks for this cluster.</a:t>
            </a:r>
            <a:r>
              <a:rPr lang="en-IN" dirty="0"/>
              <a:t>  </a:t>
            </a:r>
          </a:p>
          <a:p>
            <a:r>
              <a:rPr lang="en-IN" dirty="0"/>
              <a:t>You can also take </a:t>
            </a:r>
            <a:r>
              <a:rPr lang="en-IN" b="1" dirty="0"/>
              <a:t>minimum, average.</a:t>
            </a:r>
          </a:p>
        </p:txBody>
      </p:sp>
      <p:pic>
        <p:nvPicPr>
          <p:cNvPr id="3076" name="Picture 4" descr="step 2 : hierarchical">
            <a:extLst>
              <a:ext uri="{FF2B5EF4-FFF2-40B4-BE49-F238E27FC236}">
                <a16:creationId xmlns:a16="http://schemas.microsoft.com/office/drawing/2014/main" id="{164A99B7-C327-420D-BA8E-0E4CA077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208" y="3137807"/>
            <a:ext cx="30289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4A6E66-5BCA-4EC7-88FD-81C03CAB0432}"/>
              </a:ext>
            </a:extLst>
          </p:cNvPr>
          <p:cNvGraphicFramePr>
            <a:graphicFrameLocks noGrp="1"/>
          </p:cNvGraphicFramePr>
          <p:nvPr/>
        </p:nvGraphicFramePr>
        <p:xfrm>
          <a:off x="8703310" y="3137807"/>
          <a:ext cx="1511300" cy="165100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34591347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148017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0988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(1,2)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101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42075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8434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6841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60B252-BB4B-4047-83D6-F7D5451B3441}"/>
              </a:ext>
            </a:extLst>
          </p:cNvPr>
          <p:cNvSpPr txBox="1"/>
          <p:nvPr/>
        </p:nvSpPr>
        <p:spPr>
          <a:xfrm>
            <a:off x="10447924" y="34290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7,</a:t>
            </a:r>
            <a:r>
              <a:rPr lang="en-IN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0862C-CB2B-4D45-AC9C-02A274DDAF66}"/>
              </a:ext>
            </a:extLst>
          </p:cNvPr>
          <p:cNvSpPr txBox="1"/>
          <p:nvPr/>
        </p:nvSpPr>
        <p:spPr>
          <a:xfrm>
            <a:off x="0" y="2830904"/>
            <a:ext cx="173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Proximity Matrix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AE2661-EC47-4876-A1F9-770391107553}"/>
              </a:ext>
            </a:extLst>
          </p:cNvPr>
          <p:cNvSpPr txBox="1"/>
          <p:nvPr/>
        </p:nvSpPr>
        <p:spPr>
          <a:xfrm>
            <a:off x="79255" y="8500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2D23C-CA53-4FC0-B2AF-78F5FAAD2FA2}"/>
              </a:ext>
            </a:extLst>
          </p:cNvPr>
          <p:cNvSpPr txBox="1"/>
          <p:nvPr/>
        </p:nvSpPr>
        <p:spPr>
          <a:xfrm>
            <a:off x="9096521" y="2713415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14:cNvPr>
              <p14:cNvContentPartPr/>
              <p14:nvPr/>
            </p14:nvContentPartPr>
            <p14:xfrm>
              <a:off x="10094640" y="4451080"/>
              <a:ext cx="6840" cy="2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9F710A-CBBF-4754-A61B-F83AEA6F7D3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85140" y="4443205"/>
                <a:ext cx="25460" cy="17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14:cNvPr>
              <p14:cNvContentPartPr/>
              <p14:nvPr/>
            </p14:nvContentPartPr>
            <p14:xfrm>
              <a:off x="10021560" y="4847080"/>
              <a:ext cx="1584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0E94F99-9494-411A-84C7-5632A6289A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12560" y="4839880"/>
                <a:ext cx="33480" cy="15552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2642E16-6739-4A24-83D0-6503DCD385F4}"/>
              </a:ext>
            </a:extLst>
          </p:cNvPr>
          <p:cNvGrpSpPr/>
          <p:nvPr/>
        </p:nvGrpSpPr>
        <p:grpSpPr>
          <a:xfrm>
            <a:off x="9965040" y="3784720"/>
            <a:ext cx="271080" cy="344520"/>
            <a:chOff x="9965040" y="3784720"/>
            <a:chExt cx="27108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14:cNvPr>
                <p14:cNvContentPartPr/>
                <p14:nvPr/>
              </p14:nvContentPartPr>
              <p14:xfrm>
                <a:off x="9965040" y="3784720"/>
                <a:ext cx="9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583693-D8B7-4A40-8424-60740FBF8F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55680" y="3775720"/>
                  <a:ext cx="27706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14:cNvPr>
                <p14:cNvContentPartPr/>
                <p14:nvPr/>
              </p14:nvContentPartPr>
              <p14:xfrm>
                <a:off x="10046040" y="412888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A1CCCF-E171-4F40-A3FF-DD4F3D1E16A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37040" y="4119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14:cNvPr>
                <p14:cNvContentPartPr/>
                <p14:nvPr/>
              </p14:nvContentPartPr>
              <p14:xfrm>
                <a:off x="10208760" y="4029560"/>
                <a:ext cx="27360" cy="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06FB0E-F6E6-4497-93D9-BF0F5BF30C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99760" y="4020560"/>
                  <a:ext cx="45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CFD9141-57AC-4A21-9E76-BFEC159F7735}"/>
                  </a:ext>
                </a:extLst>
              </p14:cNvPr>
              <p14:cNvContentPartPr/>
              <p14:nvPr/>
            </p14:nvContentPartPr>
            <p14:xfrm>
              <a:off x="765240" y="4263880"/>
              <a:ext cx="37440" cy="60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CFD9141-57AC-4A21-9E76-BFEC159F77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6240" y="4254880"/>
                <a:ext cx="550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08" name="Ink 3107">
                <a:extLst>
                  <a:ext uri="{FF2B5EF4-FFF2-40B4-BE49-F238E27FC236}">
                    <a16:creationId xmlns:a16="http://schemas.microsoft.com/office/drawing/2014/main" id="{A633837C-5BB9-4F37-BE05-B66E8DFA1630}"/>
                  </a:ext>
                </a:extLst>
              </p14:cNvPr>
              <p14:cNvContentPartPr/>
              <p14:nvPr/>
            </p14:nvContentPartPr>
            <p14:xfrm>
              <a:off x="1926600" y="5383120"/>
              <a:ext cx="6480" cy="360"/>
            </p14:xfrm>
          </p:contentPart>
        </mc:Choice>
        <mc:Fallback xmlns="">
          <p:pic>
            <p:nvPicPr>
              <p:cNvPr id="3108" name="Ink 3107">
                <a:extLst>
                  <a:ext uri="{FF2B5EF4-FFF2-40B4-BE49-F238E27FC236}">
                    <a16:creationId xmlns:a16="http://schemas.microsoft.com/office/drawing/2014/main" id="{A633837C-5BB9-4F37-BE05-B66E8DFA163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17960" y="5374120"/>
                <a:ext cx="2412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014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06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8D920D-C6D8-422F-BDF7-CAB0CE7B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96" y="770888"/>
            <a:ext cx="4272864" cy="50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45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dendrogram threshold">
            <a:extLst>
              <a:ext uri="{FF2B5EF4-FFF2-40B4-BE49-F238E27FC236}">
                <a16:creationId xmlns:a16="http://schemas.microsoft.com/office/drawing/2014/main" id="{2E32A993-4001-4B8B-93C7-700E68B62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" y="1640523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endrogram threshold">
            <a:extLst>
              <a:ext uri="{FF2B5EF4-FFF2-40B4-BE49-F238E27FC236}">
                <a16:creationId xmlns:a16="http://schemas.microsoft.com/office/drawing/2014/main" id="{CC4471F8-93CA-41B3-A568-077F3B6D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" y="1792923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ndrogram threshold">
            <a:extLst>
              <a:ext uri="{FF2B5EF4-FFF2-40B4-BE49-F238E27FC236}">
                <a16:creationId xmlns:a16="http://schemas.microsoft.com/office/drawing/2014/main" id="{2FD61038-3C90-49DB-8C8D-AE735B672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460" y="1792922"/>
            <a:ext cx="3429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D509B6-3462-465B-B62E-55C1B8F0823E}"/>
              </a:ext>
            </a:extLst>
          </p:cNvPr>
          <p:cNvSpPr/>
          <p:nvPr/>
        </p:nvSpPr>
        <p:spPr>
          <a:xfrm>
            <a:off x="6096000" y="2336800"/>
            <a:ext cx="1960880" cy="28244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68F7F-33D5-4BC9-81A6-7167F4D20221}"/>
              </a:ext>
            </a:extLst>
          </p:cNvPr>
          <p:cNvSpPr txBox="1"/>
          <p:nvPr/>
        </p:nvSpPr>
        <p:spPr>
          <a:xfrm>
            <a:off x="6360160" y="5476240"/>
            <a:ext cx="159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 Cluster -1,2,4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89D04-BF10-413C-8674-C7465BFC75DB}"/>
              </a:ext>
            </a:extLst>
          </p:cNvPr>
          <p:cNvSpPr txBox="1"/>
          <p:nvPr/>
        </p:nvSpPr>
        <p:spPr>
          <a:xfrm>
            <a:off x="8440420" y="4791948"/>
            <a:ext cx="89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Cluster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6CE6F-1207-4508-BA7D-D55B23F34F4C}"/>
              </a:ext>
            </a:extLst>
          </p:cNvPr>
          <p:cNvSpPr txBox="1"/>
          <p:nvPr/>
        </p:nvSpPr>
        <p:spPr>
          <a:xfrm>
            <a:off x="223520" y="467954"/>
            <a:ext cx="1180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Dendogram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F988312-F94E-44CE-BB48-38271FF7C939}"/>
                  </a:ext>
                </a:extLst>
              </p14:cNvPr>
              <p14:cNvContentPartPr/>
              <p14:nvPr/>
            </p14:nvContentPartPr>
            <p14:xfrm>
              <a:off x="2081760" y="4530640"/>
              <a:ext cx="360" cy="17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F988312-F94E-44CE-BB48-38271FF7C9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3120" y="4521640"/>
                <a:ext cx="18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2E5857C-EE09-4855-AC26-F7C1062D2EE7}"/>
                  </a:ext>
                </a:extLst>
              </p14:cNvPr>
              <p14:cNvContentPartPr/>
              <p14:nvPr/>
            </p14:nvContentPartPr>
            <p14:xfrm>
              <a:off x="4219800" y="4865440"/>
              <a:ext cx="19440" cy="27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2E5857C-EE09-4855-AC26-F7C1062D2E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10800" y="4856800"/>
                <a:ext cx="37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404" name="Ink 16403">
                <a:extLst>
                  <a:ext uri="{FF2B5EF4-FFF2-40B4-BE49-F238E27FC236}">
                    <a16:creationId xmlns:a16="http://schemas.microsoft.com/office/drawing/2014/main" id="{4ACA4424-C62E-4D77-B41B-930465C62ECB}"/>
                  </a:ext>
                </a:extLst>
              </p14:cNvPr>
              <p14:cNvContentPartPr/>
              <p14:nvPr/>
            </p14:nvContentPartPr>
            <p14:xfrm>
              <a:off x="6519480" y="2067160"/>
              <a:ext cx="360" cy="360"/>
            </p14:xfrm>
          </p:contentPart>
        </mc:Choice>
        <mc:Fallback xmlns="">
          <p:pic>
            <p:nvPicPr>
              <p:cNvPr id="16404" name="Ink 16403">
                <a:extLst>
                  <a:ext uri="{FF2B5EF4-FFF2-40B4-BE49-F238E27FC236}">
                    <a16:creationId xmlns:a16="http://schemas.microsoft.com/office/drawing/2014/main" id="{4ACA4424-C62E-4D77-B41B-930465C62EC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10480" y="205852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177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330</Words>
  <Application>Microsoft Office PowerPoint</Application>
  <PresentationFormat>Widescreen</PresentationFormat>
  <Paragraphs>161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roboto</vt:lpstr>
      <vt:lpstr>Office Theme</vt:lpstr>
      <vt:lpstr>hierarchical-clustering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kumar Nair</dc:creator>
  <cp:lastModifiedBy>Arun kumar Nair</cp:lastModifiedBy>
  <cp:revision>24</cp:revision>
  <dcterms:created xsi:type="dcterms:W3CDTF">2021-05-08T09:16:13Z</dcterms:created>
  <dcterms:modified xsi:type="dcterms:W3CDTF">2021-10-09T07:12:21Z</dcterms:modified>
</cp:coreProperties>
</file>