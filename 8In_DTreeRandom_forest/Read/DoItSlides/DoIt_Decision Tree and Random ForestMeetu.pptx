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2"/>
  </p:notesMasterIdLst>
  <p:sldIdLst>
    <p:sldId id="257" r:id="rId2"/>
    <p:sldId id="258" r:id="rId3"/>
    <p:sldId id="261" r:id="rId4"/>
    <p:sldId id="263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296" r:id="rId15"/>
    <p:sldId id="297" r:id="rId16"/>
    <p:sldId id="319" r:id="rId17"/>
    <p:sldId id="320" r:id="rId18"/>
    <p:sldId id="321" r:id="rId19"/>
    <p:sldId id="322" r:id="rId20"/>
    <p:sldId id="323" r:id="rId21"/>
    <p:sldId id="325" r:id="rId22"/>
    <p:sldId id="324" r:id="rId23"/>
    <p:sldId id="327" r:id="rId24"/>
    <p:sldId id="326" r:id="rId25"/>
    <p:sldId id="330" r:id="rId26"/>
    <p:sldId id="331" r:id="rId27"/>
    <p:sldId id="332" r:id="rId28"/>
    <p:sldId id="333" r:id="rId29"/>
    <p:sldId id="335" r:id="rId30"/>
    <p:sldId id="338" r:id="rId31"/>
    <p:sldId id="339" r:id="rId32"/>
    <p:sldId id="340" r:id="rId33"/>
    <p:sldId id="334" r:id="rId34"/>
    <p:sldId id="341" r:id="rId35"/>
    <p:sldId id="342" r:id="rId36"/>
    <p:sldId id="343" r:id="rId37"/>
    <p:sldId id="344" r:id="rId38"/>
    <p:sldId id="379" r:id="rId39"/>
    <p:sldId id="336" r:id="rId40"/>
    <p:sldId id="346" r:id="rId41"/>
    <p:sldId id="347" r:id="rId42"/>
    <p:sldId id="354" r:id="rId43"/>
    <p:sldId id="355" r:id="rId44"/>
    <p:sldId id="356" r:id="rId45"/>
    <p:sldId id="357" r:id="rId46"/>
    <p:sldId id="352" r:id="rId47"/>
    <p:sldId id="353" r:id="rId48"/>
    <p:sldId id="358" r:id="rId49"/>
    <p:sldId id="351" r:id="rId50"/>
    <p:sldId id="350" r:id="rId51"/>
    <p:sldId id="348" r:id="rId52"/>
    <p:sldId id="360" r:id="rId53"/>
    <p:sldId id="361" r:id="rId54"/>
    <p:sldId id="359" r:id="rId55"/>
    <p:sldId id="363" r:id="rId56"/>
    <p:sldId id="362" r:id="rId57"/>
    <p:sldId id="367" r:id="rId58"/>
    <p:sldId id="368" r:id="rId59"/>
    <p:sldId id="369" r:id="rId60"/>
    <p:sldId id="370" r:id="rId61"/>
    <p:sldId id="372" r:id="rId62"/>
    <p:sldId id="373" r:id="rId63"/>
    <p:sldId id="376" r:id="rId64"/>
    <p:sldId id="377" r:id="rId65"/>
    <p:sldId id="378" r:id="rId66"/>
    <p:sldId id="380" r:id="rId67"/>
    <p:sldId id="381" r:id="rId68"/>
    <p:sldId id="382" r:id="rId69"/>
    <p:sldId id="383" r:id="rId70"/>
    <p:sldId id="385" r:id="rId71"/>
    <p:sldId id="384" r:id="rId72"/>
    <p:sldId id="386" r:id="rId73"/>
    <p:sldId id="387" r:id="rId74"/>
    <p:sldId id="389" r:id="rId75"/>
    <p:sldId id="388" r:id="rId76"/>
    <p:sldId id="394" r:id="rId77"/>
    <p:sldId id="390" r:id="rId78"/>
    <p:sldId id="395" r:id="rId79"/>
    <p:sldId id="396" r:id="rId80"/>
    <p:sldId id="397" r:id="rId81"/>
    <p:sldId id="400" r:id="rId82"/>
    <p:sldId id="399" r:id="rId83"/>
    <p:sldId id="398" r:id="rId84"/>
    <p:sldId id="401" r:id="rId85"/>
    <p:sldId id="402" r:id="rId86"/>
    <p:sldId id="404" r:id="rId87"/>
    <p:sldId id="403" r:id="rId88"/>
    <p:sldId id="406" r:id="rId89"/>
    <p:sldId id="408" r:id="rId90"/>
    <p:sldId id="407" r:id="rId91"/>
    <p:sldId id="405" r:id="rId92"/>
    <p:sldId id="262" r:id="rId93"/>
    <p:sldId id="409" r:id="rId94"/>
    <p:sldId id="411" r:id="rId95"/>
    <p:sldId id="410" r:id="rId96"/>
    <p:sldId id="412" r:id="rId97"/>
    <p:sldId id="414" r:id="rId98"/>
    <p:sldId id="413" r:id="rId99"/>
    <p:sldId id="415" r:id="rId100"/>
    <p:sldId id="259" r:id="rId1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B3854-D60E-4E11-9518-AA7971D0E531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7A392-A198-4808-8A61-0D3A256C1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8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Statistics: </a:t>
            </a:r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that branch of mathematics which deals with gathering, interpreting, and organizing the information or data.</a:t>
            </a:r>
            <a:endParaRPr lang="en-IN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 statistics</a:t>
            </a:r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uses the data to provide descriptions of the population, either through numerical calculations or graphs or tables.</a:t>
            </a:r>
          </a:p>
          <a:p>
            <a:r>
              <a:rPr lang="en-I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Inferential statistics</a:t>
            </a:r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makes inferences and predictions about a population based on a sample of data taken from the population in question.</a:t>
            </a:r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3F5-F62B-4C75-927E-23DBCA25E4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837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03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88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59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32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82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693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52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75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48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1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20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87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42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43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92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342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91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210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01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NUL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19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87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4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89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2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2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8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6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3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7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63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446" y="224447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=""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=""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90206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=""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=""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pic>
        <p:nvPicPr>
          <p:cNvPr id="2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999" y="1844881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=""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0800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=""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47142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649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228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2F057-E59D-4C51-A1B1-75D62372E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04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25.jp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jp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4.png"/><Relationship Id="rId7" Type="http://schemas.openxmlformats.org/officeDocument/2006/relationships/image" Target="../media/image8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jp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2.png"/><Relationship Id="rId5" Type="http://schemas.openxmlformats.org/officeDocument/2006/relationships/image" Target="../media/image107.png"/><Relationship Id="rId4" Type="http://schemas.openxmlformats.org/officeDocument/2006/relationships/image" Target="../media/image11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7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4.jpg"/><Relationship Id="rId5" Type="http://schemas.openxmlformats.org/officeDocument/2006/relationships/image" Target="../media/image143.png"/><Relationship Id="rId4" Type="http://schemas.openxmlformats.org/officeDocument/2006/relationships/image" Target="../media/image142.jp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0" Type="http://schemas.openxmlformats.org/officeDocument/2006/relationships/image" Target="../media/image156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jp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69.png"/><Relationship Id="rId7" Type="http://schemas.openxmlformats.org/officeDocument/2006/relationships/image" Target="../media/image17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2.png"/><Relationship Id="rId5" Type="http://schemas.openxmlformats.org/officeDocument/2006/relationships/image" Target="../media/image171.jpg"/><Relationship Id="rId4" Type="http://schemas.openxmlformats.org/officeDocument/2006/relationships/image" Target="../media/image170.png"/><Relationship Id="rId9" Type="http://schemas.openxmlformats.org/officeDocument/2006/relationships/image" Target="../media/image17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mailto:arunkg99@gmail.com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343650" y="1880751"/>
            <a:ext cx="5143500" cy="23833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lang="en-IN" sz="4800" dirty="0"/>
              <a:t>Machine Learning Use Cases</a:t>
            </a:r>
            <a:endParaRPr sz="385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Learn easy. Enjoy Easy. Expertise easy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 dirty="0"/>
          </a:p>
        </p:txBody>
      </p:sp>
      <p:pic>
        <p:nvPicPr>
          <p:cNvPr id="6" name="Picture Placeholder 10" descr="city skyline">
            <a:extLst>
              <a:ext uri="{FF2B5EF4-FFF2-40B4-BE49-F238E27FC236}">
                <a16:creationId xmlns="" xmlns:a16="http://schemas.microsoft.com/office/drawing/2014/main" id="{9D82A855-CCB0-4075-B5EE-5CC6FD176D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4487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220196" y="2369127"/>
            <a:ext cx="5143500" cy="1777205"/>
          </a:xfrm>
        </p:spPr>
        <p:txBody>
          <a:bodyPr/>
          <a:lstStyle/>
          <a:p>
            <a:r>
              <a:rPr lang="en-US" spc="20" dirty="0"/>
              <a:t>Decision </a:t>
            </a:r>
            <a:r>
              <a:rPr lang="en-US" spc="-20" dirty="0"/>
              <a:t>Tree </a:t>
            </a:r>
            <a:r>
              <a:rPr lang="en-US" spc="20" dirty="0"/>
              <a:t>&amp; </a:t>
            </a:r>
            <a:r>
              <a:rPr lang="en-US" spc="35" dirty="0"/>
              <a:t>Random</a:t>
            </a:r>
            <a:r>
              <a:rPr lang="en-US" spc="50" dirty="0"/>
              <a:t> </a:t>
            </a:r>
            <a:r>
              <a:rPr lang="en-US" spc="25" dirty="0"/>
              <a:t>Forest</a:t>
            </a:r>
            <a:endParaRPr lang="en-IN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3" y="290957"/>
            <a:ext cx="9144000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395972" y="546627"/>
            <a:ext cx="5647690" cy="331501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sz="2100" spc="5" dirty="0">
                <a:solidFill>
                  <a:schemeClr val="bg1"/>
                </a:solidFill>
              </a:rPr>
              <a:t>Things you </a:t>
            </a:r>
            <a:r>
              <a:rPr sz="2100" spc="25" dirty="0">
                <a:solidFill>
                  <a:schemeClr val="bg1"/>
                </a:solidFill>
              </a:rPr>
              <a:t>will </a:t>
            </a:r>
            <a:r>
              <a:rPr sz="2100" spc="15" dirty="0">
                <a:solidFill>
                  <a:schemeClr val="bg1"/>
                </a:solidFill>
              </a:rPr>
              <a:t>learn </a:t>
            </a:r>
            <a:r>
              <a:rPr sz="2100" dirty="0">
                <a:solidFill>
                  <a:schemeClr val="bg1"/>
                </a:solidFill>
              </a:rPr>
              <a:t>after </a:t>
            </a:r>
            <a:r>
              <a:rPr sz="2100" spc="-10" dirty="0">
                <a:solidFill>
                  <a:schemeClr val="bg1"/>
                </a:solidFill>
              </a:rPr>
              <a:t>this</a:t>
            </a:r>
            <a:r>
              <a:rPr sz="2100" spc="-370" dirty="0">
                <a:solidFill>
                  <a:schemeClr val="bg1"/>
                </a:solidFill>
              </a:rPr>
              <a:t> </a:t>
            </a:r>
            <a:r>
              <a:rPr sz="2100" spc="-5" dirty="0">
                <a:solidFill>
                  <a:schemeClr val="bg1"/>
                </a:solidFill>
              </a:rPr>
              <a:t>Session</a:t>
            </a:r>
            <a:endParaRPr sz="2100" dirty="0">
              <a:solidFill>
                <a:schemeClr val="bg1"/>
              </a:solidFill>
            </a:endParaRPr>
          </a:p>
        </p:txBody>
      </p:sp>
      <p:sp>
        <p:nvSpPr>
          <p:cNvPr id="18" name="object 8"/>
          <p:cNvSpPr txBox="1"/>
          <p:nvPr/>
        </p:nvSpPr>
        <p:spPr>
          <a:xfrm>
            <a:off x="3482464" y="1650169"/>
            <a:ext cx="4554855" cy="3082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" dirty="0">
                <a:solidFill>
                  <a:srgbClr val="595959"/>
                </a:solidFill>
                <a:latin typeface="Arial"/>
                <a:cs typeface="Arial"/>
              </a:rPr>
              <a:t>Supervised </a:t>
            </a:r>
            <a:r>
              <a:rPr sz="2100" b="1" dirty="0">
                <a:solidFill>
                  <a:srgbClr val="595959"/>
                </a:solidFill>
                <a:latin typeface="Arial"/>
                <a:cs typeface="Arial"/>
              </a:rPr>
              <a:t>Learning:</a:t>
            </a:r>
            <a:r>
              <a:rPr sz="2100" b="1" spc="-1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b="1" spc="-5" dirty="0">
                <a:solidFill>
                  <a:srgbClr val="595959"/>
                </a:solidFill>
                <a:latin typeface="Arial"/>
                <a:cs typeface="Arial"/>
              </a:rPr>
              <a:t>Classification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imes New Roman"/>
              <a:cs typeface="Times New Roman"/>
            </a:endParaRPr>
          </a:p>
          <a:p>
            <a:pPr marL="628015" indent="-21971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Understanding</a:t>
            </a:r>
            <a:r>
              <a:rPr sz="14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Classification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595959"/>
              </a:buClr>
              <a:buFont typeface="Wingdings"/>
              <a:buChar char=""/>
            </a:pPr>
            <a:endParaRPr sz="1400">
              <a:latin typeface="Times New Roman"/>
              <a:cs typeface="Times New Roman"/>
            </a:endParaRPr>
          </a:p>
          <a:p>
            <a:pPr marL="628015" indent="-21971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z="1400" spc="-2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Tree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95959"/>
              </a:buClr>
              <a:buFont typeface="Wingdings"/>
              <a:buChar char=""/>
            </a:pPr>
            <a:endParaRPr sz="1450">
              <a:latin typeface="Times New Roman"/>
              <a:cs typeface="Times New Roman"/>
            </a:endParaRPr>
          </a:p>
          <a:p>
            <a:pPr marL="628015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Demo</a:t>
            </a:r>
            <a:r>
              <a:rPr sz="14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z="1400" spc="-2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Tree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595959"/>
              </a:buClr>
              <a:buFont typeface="Wingdings"/>
              <a:buChar char=""/>
            </a:pPr>
            <a:endParaRPr sz="1450">
              <a:latin typeface="Times New Roman"/>
              <a:cs typeface="Times New Roman"/>
            </a:endParaRPr>
          </a:p>
          <a:p>
            <a:pPr marL="628015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Bagging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95959"/>
              </a:buClr>
              <a:buFont typeface="Wingdings"/>
              <a:buChar char=""/>
            </a:pPr>
            <a:endParaRPr sz="1450">
              <a:latin typeface="Times New Roman"/>
              <a:cs typeface="Times New Roman"/>
            </a:endParaRPr>
          </a:p>
          <a:p>
            <a:pPr marL="628015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Random</a:t>
            </a:r>
            <a:r>
              <a:rPr sz="1400" spc="-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Forest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95959"/>
              </a:buClr>
              <a:buFont typeface="Wingdings"/>
              <a:buChar char=""/>
            </a:pPr>
            <a:endParaRPr sz="1450">
              <a:latin typeface="Times New Roman"/>
              <a:cs typeface="Times New Roman"/>
            </a:endParaRPr>
          </a:p>
          <a:p>
            <a:pPr marL="628015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Demo</a:t>
            </a:r>
            <a:r>
              <a:rPr sz="14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Random</a:t>
            </a:r>
            <a:r>
              <a:rPr sz="1400" spc="-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Forest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7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4" y="385456"/>
            <a:ext cx="6458857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dirty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dirty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What </a:t>
            </a: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is  </a:t>
            </a:r>
            <a:r>
              <a:rPr lang="en-US" spc="-5" dirty="0">
                <a:solidFill>
                  <a:schemeClr val="accent1"/>
                </a:solidFill>
                <a:latin typeface="Arial"/>
                <a:cs typeface="Arial"/>
              </a:rPr>
              <a:t>C</a:t>
            </a:r>
            <a:r>
              <a:rPr lang="en-US" spc="20" dirty="0">
                <a:solidFill>
                  <a:schemeClr val="accent1"/>
                </a:solidFill>
                <a:latin typeface="Arial"/>
                <a:cs typeface="Arial"/>
              </a:rPr>
              <a:t>l</a:t>
            </a:r>
            <a:r>
              <a:rPr lang="en-US" spc="-25" dirty="0">
                <a:solidFill>
                  <a:schemeClr val="accent1"/>
                </a:solidFill>
                <a:latin typeface="Arial"/>
                <a:cs typeface="Arial"/>
              </a:rPr>
              <a:t>ass</a:t>
            </a:r>
            <a:r>
              <a:rPr lang="en-US" spc="20" dirty="0">
                <a:solidFill>
                  <a:schemeClr val="accent1"/>
                </a:solidFill>
                <a:latin typeface="Arial"/>
                <a:cs typeface="Arial"/>
              </a:rPr>
              <a:t>i</a:t>
            </a:r>
            <a:r>
              <a:rPr lang="en-US" spc="30" dirty="0">
                <a:solidFill>
                  <a:schemeClr val="accent1"/>
                </a:solidFill>
                <a:latin typeface="Arial"/>
                <a:cs typeface="Arial"/>
              </a:rPr>
              <a:t>f</a:t>
            </a:r>
            <a:r>
              <a:rPr lang="en-US" spc="20" dirty="0">
                <a:solidFill>
                  <a:schemeClr val="accent1"/>
                </a:solidFill>
                <a:latin typeface="Arial"/>
                <a:cs typeface="Arial"/>
              </a:rPr>
              <a:t>i</a:t>
            </a:r>
            <a:r>
              <a:rPr lang="en-US" spc="-25" dirty="0">
                <a:solidFill>
                  <a:schemeClr val="accent1"/>
                </a:solidFill>
                <a:latin typeface="Arial"/>
                <a:cs typeface="Arial"/>
              </a:rPr>
              <a:t>ca</a:t>
            </a:r>
            <a:r>
              <a:rPr lang="en-US" spc="30" dirty="0">
                <a:solidFill>
                  <a:schemeClr val="accent1"/>
                </a:solidFill>
                <a:latin typeface="Arial"/>
                <a:cs typeface="Arial"/>
              </a:rPr>
              <a:t>t</a:t>
            </a:r>
            <a:r>
              <a:rPr lang="en-US" spc="20" dirty="0">
                <a:solidFill>
                  <a:schemeClr val="accent1"/>
                </a:solidFill>
                <a:latin typeface="Arial"/>
                <a:cs typeface="Arial"/>
              </a:rPr>
              <a:t>i</a:t>
            </a:r>
            <a:r>
              <a:rPr lang="en-US" spc="-15" dirty="0">
                <a:solidFill>
                  <a:schemeClr val="accent1"/>
                </a:solidFill>
                <a:latin typeface="Arial"/>
                <a:cs typeface="Arial"/>
              </a:rPr>
              <a:t>o</a:t>
            </a: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n ?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8997177" y="3058158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/>
          <p:cNvSpPr/>
          <p:nvPr/>
        </p:nvSpPr>
        <p:spPr>
          <a:xfrm>
            <a:off x="5653566" y="2804757"/>
            <a:ext cx="3976915" cy="3000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534481" y="1511727"/>
            <a:ext cx="6096000" cy="70788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r>
              <a:rPr lang="en-US" sz="2000" b="0" spc="5" dirty="0" smtClean="0">
                <a:latin typeface="Arial"/>
                <a:cs typeface="Arial"/>
              </a:rPr>
              <a:t>“Classification</a:t>
            </a:r>
            <a:r>
              <a:rPr lang="en-US" sz="2000" b="0" spc="-204" dirty="0" smtClean="0">
                <a:latin typeface="Arial"/>
                <a:cs typeface="Arial"/>
              </a:rPr>
              <a:t> </a:t>
            </a:r>
            <a:r>
              <a:rPr lang="en-US" sz="2000" b="0" spc="-5" dirty="0" smtClean="0">
                <a:latin typeface="Arial"/>
                <a:cs typeface="Arial"/>
              </a:rPr>
              <a:t>is</a:t>
            </a:r>
            <a:r>
              <a:rPr lang="en-US" sz="2000" b="0" spc="25" dirty="0" smtClean="0">
                <a:latin typeface="Arial"/>
                <a:cs typeface="Arial"/>
              </a:rPr>
              <a:t> </a:t>
            </a:r>
            <a:r>
              <a:rPr lang="en-US" sz="2000" b="0" spc="-15" dirty="0" smtClean="0">
                <a:solidFill>
                  <a:schemeClr val="accent6"/>
                </a:solidFill>
                <a:latin typeface="Arial"/>
                <a:cs typeface="Arial"/>
              </a:rPr>
              <a:t>the</a:t>
            </a:r>
            <a:r>
              <a:rPr lang="en-US" sz="2000" b="0" spc="30" dirty="0" smtClean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US" sz="2000" b="0" spc="25" dirty="0" smtClean="0">
                <a:solidFill>
                  <a:schemeClr val="accent6"/>
                </a:solidFill>
                <a:latin typeface="Arial"/>
                <a:cs typeface="Arial"/>
              </a:rPr>
              <a:t>process</a:t>
            </a:r>
            <a:r>
              <a:rPr lang="en-US" sz="2000" b="0" spc="-200" dirty="0" smtClean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US" sz="2000" b="0" spc="20" dirty="0" smtClean="0">
                <a:solidFill>
                  <a:schemeClr val="accent6"/>
                </a:solidFill>
                <a:latin typeface="Arial"/>
                <a:cs typeface="Arial"/>
              </a:rPr>
              <a:t>of</a:t>
            </a:r>
            <a:r>
              <a:rPr lang="en-US" sz="2000" b="0" spc="-60" dirty="0" smtClean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US" sz="2000" spc="20" dirty="0" smtClean="0">
                <a:solidFill>
                  <a:schemeClr val="accent6"/>
                </a:solidFill>
              </a:rPr>
              <a:t>grouping</a:t>
            </a:r>
            <a:r>
              <a:rPr lang="en-US" sz="2000" spc="-135" dirty="0" smtClean="0">
                <a:solidFill>
                  <a:schemeClr val="accent6"/>
                </a:solidFill>
              </a:rPr>
              <a:t> </a:t>
            </a:r>
            <a:r>
              <a:rPr lang="en-US" sz="2000" spc="15" dirty="0" smtClean="0">
                <a:solidFill>
                  <a:schemeClr val="accent6"/>
                </a:solidFill>
              </a:rPr>
              <a:t>things</a:t>
            </a:r>
            <a:r>
              <a:rPr lang="en-US" sz="2000" spc="-45" dirty="0" smtClean="0">
                <a:solidFill>
                  <a:schemeClr val="accent6"/>
                </a:solidFill>
              </a:rPr>
              <a:t> </a:t>
            </a:r>
            <a:r>
              <a:rPr lang="en-US" sz="2000" spc="-10" dirty="0" smtClean="0">
                <a:solidFill>
                  <a:schemeClr val="accent6"/>
                </a:solidFill>
              </a:rPr>
              <a:t>according  </a:t>
            </a:r>
            <a:r>
              <a:rPr lang="en-US" sz="2000" spc="-5" dirty="0" smtClean="0">
                <a:solidFill>
                  <a:schemeClr val="accent6"/>
                </a:solidFill>
              </a:rPr>
              <a:t>to</a:t>
            </a:r>
            <a:r>
              <a:rPr lang="en-US" sz="2000" spc="10" dirty="0" smtClean="0">
                <a:solidFill>
                  <a:schemeClr val="accent6"/>
                </a:solidFill>
              </a:rPr>
              <a:t> </a:t>
            </a:r>
            <a:r>
              <a:rPr lang="en-US" sz="2000" spc="5" dirty="0" smtClean="0">
                <a:solidFill>
                  <a:schemeClr val="accent6"/>
                </a:solidFill>
              </a:rPr>
              <a:t>similar</a:t>
            </a:r>
            <a:r>
              <a:rPr lang="en-US" sz="2000" spc="-125" dirty="0" smtClean="0">
                <a:solidFill>
                  <a:schemeClr val="accent6"/>
                </a:solidFill>
              </a:rPr>
              <a:t> </a:t>
            </a:r>
            <a:r>
              <a:rPr lang="en-US" sz="2000" spc="20" dirty="0" smtClean="0">
                <a:solidFill>
                  <a:schemeClr val="accent6"/>
                </a:solidFill>
              </a:rPr>
              <a:t>features</a:t>
            </a:r>
            <a:r>
              <a:rPr lang="en-US" sz="2000" spc="-185" dirty="0" smtClean="0"/>
              <a:t> </a:t>
            </a:r>
            <a:r>
              <a:rPr lang="en-US" sz="2000" b="0" dirty="0" smtClean="0">
                <a:latin typeface="Arial"/>
                <a:cs typeface="Arial"/>
              </a:rPr>
              <a:t>they</a:t>
            </a:r>
            <a:r>
              <a:rPr lang="en-US" sz="2000" b="0" spc="-55" dirty="0" smtClean="0">
                <a:latin typeface="Arial"/>
                <a:cs typeface="Arial"/>
              </a:rPr>
              <a:t> </a:t>
            </a:r>
            <a:r>
              <a:rPr lang="en-US" sz="2000" b="0" dirty="0" smtClean="0">
                <a:latin typeface="Arial"/>
                <a:cs typeface="Arial"/>
              </a:rPr>
              <a:t>share”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4375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4" y="385456"/>
            <a:ext cx="7866743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Classification  </a:t>
            </a:r>
            <a:r>
              <a:rPr lang="en-US" spc="15" dirty="0" err="1">
                <a:solidFill>
                  <a:schemeClr val="accent1"/>
                </a:solidFill>
                <a:latin typeface="Arial"/>
                <a:cs typeface="Arial"/>
              </a:rPr>
              <a:t>vs</a:t>
            </a: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  Regression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8997177" y="3058158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  <p:sp>
        <p:nvSpPr>
          <p:cNvPr id="12" name="object 10"/>
          <p:cNvSpPr/>
          <p:nvPr/>
        </p:nvSpPr>
        <p:spPr>
          <a:xfrm>
            <a:off x="3621701" y="1712686"/>
            <a:ext cx="6814069" cy="26836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3153762" y="3999299"/>
            <a:ext cx="1940751" cy="1805952"/>
          </a:xfrm>
          <a:custGeom>
            <a:avLst/>
            <a:gdLst/>
            <a:ahLst/>
            <a:cxnLst/>
            <a:rect l="l" t="t" r="r" b="b"/>
            <a:pathLst>
              <a:path w="1648460" h="1776095">
                <a:moveTo>
                  <a:pt x="782802" y="820324"/>
                </a:moveTo>
                <a:lnTo>
                  <a:pt x="730213" y="821955"/>
                </a:lnTo>
                <a:lnTo>
                  <a:pt x="678186" y="825643"/>
                </a:lnTo>
                <a:lnTo>
                  <a:pt x="626876" y="831344"/>
                </a:lnTo>
                <a:lnTo>
                  <a:pt x="576443" y="839019"/>
                </a:lnTo>
                <a:lnTo>
                  <a:pt x="527042" y="848627"/>
                </a:lnTo>
                <a:lnTo>
                  <a:pt x="478832" y="860125"/>
                </a:lnTo>
                <a:lnTo>
                  <a:pt x="431969" y="873473"/>
                </a:lnTo>
                <a:lnTo>
                  <a:pt x="386611" y="888630"/>
                </a:lnTo>
                <a:lnTo>
                  <a:pt x="342916" y="905555"/>
                </a:lnTo>
                <a:lnTo>
                  <a:pt x="301040" y="924205"/>
                </a:lnTo>
                <a:lnTo>
                  <a:pt x="261141" y="944542"/>
                </a:lnTo>
                <a:lnTo>
                  <a:pt x="223376" y="966522"/>
                </a:lnTo>
                <a:lnTo>
                  <a:pt x="187903" y="990105"/>
                </a:lnTo>
                <a:lnTo>
                  <a:pt x="154878" y="1015250"/>
                </a:lnTo>
                <a:lnTo>
                  <a:pt x="124460" y="1041916"/>
                </a:lnTo>
                <a:lnTo>
                  <a:pt x="91597" y="1075848"/>
                </a:lnTo>
                <a:lnTo>
                  <a:pt x="63867" y="1110697"/>
                </a:lnTo>
                <a:lnTo>
                  <a:pt x="41207" y="1146295"/>
                </a:lnTo>
                <a:lnTo>
                  <a:pt x="23554" y="1182471"/>
                </a:lnTo>
                <a:lnTo>
                  <a:pt x="10844" y="1219055"/>
                </a:lnTo>
                <a:lnTo>
                  <a:pt x="0" y="1292770"/>
                </a:lnTo>
                <a:lnTo>
                  <a:pt x="1738" y="1329561"/>
                </a:lnTo>
                <a:lnTo>
                  <a:pt x="19220" y="1402163"/>
                </a:lnTo>
                <a:lnTo>
                  <a:pt x="34836" y="1437635"/>
                </a:lnTo>
                <a:lnTo>
                  <a:pt x="54952" y="1472327"/>
                </a:lnTo>
                <a:lnTo>
                  <a:pt x="79502" y="1506069"/>
                </a:lnTo>
                <a:lnTo>
                  <a:pt x="108425" y="1538693"/>
                </a:lnTo>
                <a:lnTo>
                  <a:pt x="141656" y="1570029"/>
                </a:lnTo>
                <a:lnTo>
                  <a:pt x="179133" y="1599906"/>
                </a:lnTo>
                <a:lnTo>
                  <a:pt x="220791" y="1628155"/>
                </a:lnTo>
                <a:lnTo>
                  <a:pt x="266567" y="1654607"/>
                </a:lnTo>
                <a:lnTo>
                  <a:pt x="316398" y="1679091"/>
                </a:lnTo>
                <a:lnTo>
                  <a:pt x="370220" y="1701439"/>
                </a:lnTo>
                <a:lnTo>
                  <a:pt x="417321" y="1718045"/>
                </a:lnTo>
                <a:lnTo>
                  <a:pt x="465520" y="1732513"/>
                </a:lnTo>
                <a:lnTo>
                  <a:pt x="514653" y="1744864"/>
                </a:lnTo>
                <a:lnTo>
                  <a:pt x="564555" y="1755122"/>
                </a:lnTo>
                <a:lnTo>
                  <a:pt x="615064" y="1763307"/>
                </a:lnTo>
                <a:lnTo>
                  <a:pt x="666013" y="1769442"/>
                </a:lnTo>
                <a:lnTo>
                  <a:pt x="717241" y="1773548"/>
                </a:lnTo>
                <a:lnTo>
                  <a:pt x="768581" y="1775648"/>
                </a:lnTo>
                <a:lnTo>
                  <a:pt x="819871" y="1775763"/>
                </a:lnTo>
                <a:lnTo>
                  <a:pt x="870947" y="1773915"/>
                </a:lnTo>
                <a:lnTo>
                  <a:pt x="921643" y="1770127"/>
                </a:lnTo>
                <a:lnTo>
                  <a:pt x="971796" y="1764420"/>
                </a:lnTo>
                <a:lnTo>
                  <a:pt x="1021243" y="1756816"/>
                </a:lnTo>
                <a:lnTo>
                  <a:pt x="1069818" y="1747336"/>
                </a:lnTo>
                <a:lnTo>
                  <a:pt x="1117358" y="1736004"/>
                </a:lnTo>
                <a:lnTo>
                  <a:pt x="1163698" y="1722841"/>
                </a:lnTo>
                <a:lnTo>
                  <a:pt x="1208675" y="1707868"/>
                </a:lnTo>
                <a:lnTo>
                  <a:pt x="1252125" y="1691108"/>
                </a:lnTo>
                <a:lnTo>
                  <a:pt x="1293883" y="1672583"/>
                </a:lnTo>
                <a:lnTo>
                  <a:pt x="1333785" y="1652314"/>
                </a:lnTo>
                <a:lnTo>
                  <a:pt x="1371667" y="1630323"/>
                </a:lnTo>
                <a:lnTo>
                  <a:pt x="1407365" y="1606633"/>
                </a:lnTo>
                <a:lnTo>
                  <a:pt x="1440716" y="1581265"/>
                </a:lnTo>
                <a:lnTo>
                  <a:pt x="1471554" y="1554242"/>
                </a:lnTo>
                <a:lnTo>
                  <a:pt x="1504418" y="1520311"/>
                </a:lnTo>
                <a:lnTo>
                  <a:pt x="1532148" y="1485463"/>
                </a:lnTo>
                <a:lnTo>
                  <a:pt x="1554809" y="1449866"/>
                </a:lnTo>
                <a:lnTo>
                  <a:pt x="1572463" y="1413691"/>
                </a:lnTo>
                <a:lnTo>
                  <a:pt x="1585175" y="1377108"/>
                </a:lnTo>
                <a:lnTo>
                  <a:pt x="1596023" y="1303393"/>
                </a:lnTo>
                <a:lnTo>
                  <a:pt x="1594287" y="1266601"/>
                </a:lnTo>
                <a:lnTo>
                  <a:pt x="1576809" y="1193999"/>
                </a:lnTo>
                <a:lnTo>
                  <a:pt x="1561195" y="1158527"/>
                </a:lnTo>
                <a:lnTo>
                  <a:pt x="1541082" y="1123834"/>
                </a:lnTo>
                <a:lnTo>
                  <a:pt x="1516534" y="1090091"/>
                </a:lnTo>
                <a:lnTo>
                  <a:pt x="1487613" y="1057466"/>
                </a:lnTo>
                <a:lnTo>
                  <a:pt x="1454383" y="1026130"/>
                </a:lnTo>
                <a:lnTo>
                  <a:pt x="1416909" y="996253"/>
                </a:lnTo>
                <a:lnTo>
                  <a:pt x="1375252" y="968003"/>
                </a:lnTo>
                <a:lnTo>
                  <a:pt x="1329477" y="941551"/>
                </a:lnTo>
                <a:lnTo>
                  <a:pt x="1279646" y="917066"/>
                </a:lnTo>
                <a:lnTo>
                  <a:pt x="1225824" y="894719"/>
                </a:lnTo>
                <a:lnTo>
                  <a:pt x="1257248" y="828175"/>
                </a:lnTo>
                <a:lnTo>
                  <a:pt x="942360" y="828175"/>
                </a:lnTo>
                <a:lnTo>
                  <a:pt x="889033" y="823392"/>
                </a:lnTo>
                <a:lnTo>
                  <a:pt x="835794" y="820789"/>
                </a:lnTo>
                <a:lnTo>
                  <a:pt x="782802" y="820324"/>
                </a:lnTo>
                <a:close/>
              </a:path>
              <a:path w="1648460" h="1776095">
                <a:moveTo>
                  <a:pt x="1648338" y="0"/>
                </a:moveTo>
                <a:lnTo>
                  <a:pt x="942360" y="828175"/>
                </a:lnTo>
                <a:lnTo>
                  <a:pt x="1257248" y="828175"/>
                </a:lnTo>
                <a:lnTo>
                  <a:pt x="1648338" y="0"/>
                </a:lnTo>
                <a:close/>
              </a:path>
            </a:pathLst>
          </a:custGeom>
          <a:solidFill>
            <a:srgbClr val="4736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 txBox="1"/>
          <p:nvPr/>
        </p:nvSpPr>
        <p:spPr>
          <a:xfrm>
            <a:off x="3528172" y="4931280"/>
            <a:ext cx="992055" cy="6669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marR="5080" indent="-153035">
              <a:lnSpc>
                <a:spcPct val="153100"/>
              </a:lnSpc>
              <a:spcBef>
                <a:spcPts val="100"/>
              </a:spcBef>
            </a:pPr>
            <a:r>
              <a:rPr sz="1350" spc="5" dirty="0">
                <a:solidFill>
                  <a:srgbClr val="FFFFFF"/>
                </a:solidFill>
                <a:latin typeface="Comic Sans MS"/>
                <a:cs typeface="Comic Sans MS"/>
              </a:rPr>
              <a:t>C</a:t>
            </a:r>
            <a:r>
              <a:rPr sz="1350" spc="-40" dirty="0">
                <a:solidFill>
                  <a:srgbClr val="FFFFFF"/>
                </a:solidFill>
                <a:latin typeface="Comic Sans MS"/>
                <a:cs typeface="Comic Sans MS"/>
              </a:rPr>
              <a:t>o</a:t>
            </a:r>
            <a:r>
              <a:rPr sz="1350" spc="-35" dirty="0">
                <a:solidFill>
                  <a:srgbClr val="FFFFFF"/>
                </a:solidFill>
                <a:latin typeface="Comic Sans MS"/>
                <a:cs typeface="Comic Sans MS"/>
              </a:rPr>
              <a:t>n</a:t>
            </a:r>
            <a:r>
              <a:rPr sz="1350" spc="-40" dirty="0">
                <a:solidFill>
                  <a:srgbClr val="FFFFFF"/>
                </a:solidFill>
                <a:latin typeface="Comic Sans MS"/>
                <a:cs typeface="Comic Sans MS"/>
              </a:rPr>
              <a:t>t</a:t>
            </a:r>
            <a:r>
              <a:rPr sz="1350" spc="-80" dirty="0">
                <a:solidFill>
                  <a:srgbClr val="FFFFFF"/>
                </a:solidFill>
                <a:latin typeface="Comic Sans MS"/>
                <a:cs typeface="Comic Sans MS"/>
              </a:rPr>
              <a:t>i</a:t>
            </a:r>
            <a:r>
              <a:rPr sz="1350" spc="-35" dirty="0">
                <a:solidFill>
                  <a:srgbClr val="FFFFFF"/>
                </a:solidFill>
                <a:latin typeface="Comic Sans MS"/>
                <a:cs typeface="Comic Sans MS"/>
              </a:rPr>
              <a:t>n</a:t>
            </a:r>
            <a:r>
              <a:rPr sz="1350" spc="-30" dirty="0">
                <a:solidFill>
                  <a:srgbClr val="FFFFFF"/>
                </a:solidFill>
                <a:latin typeface="Comic Sans MS"/>
                <a:cs typeface="Comic Sans MS"/>
              </a:rPr>
              <a:t>u</a:t>
            </a:r>
            <a:r>
              <a:rPr sz="1350" spc="-40" dirty="0">
                <a:solidFill>
                  <a:srgbClr val="FFFFFF"/>
                </a:solidFill>
                <a:latin typeface="Comic Sans MS"/>
                <a:cs typeface="Comic Sans MS"/>
              </a:rPr>
              <a:t>o</a:t>
            </a:r>
            <a:r>
              <a:rPr sz="1350" spc="-30" dirty="0">
                <a:solidFill>
                  <a:srgbClr val="FFFFFF"/>
                </a:solidFill>
                <a:latin typeface="Comic Sans MS"/>
                <a:cs typeface="Comic Sans MS"/>
              </a:rPr>
              <a:t>u</a:t>
            </a:r>
            <a:r>
              <a:rPr sz="1350" dirty="0">
                <a:solidFill>
                  <a:srgbClr val="FFFFFF"/>
                </a:solidFill>
                <a:latin typeface="Comic Sans MS"/>
                <a:cs typeface="Comic Sans MS"/>
              </a:rPr>
              <a:t>s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5" dirty="0">
                <a:solidFill>
                  <a:srgbClr val="FFFFFF"/>
                </a:solidFill>
                <a:latin typeface="Comic Sans MS"/>
                <a:cs typeface="Comic Sans MS"/>
              </a:rPr>
              <a:t>Values</a:t>
            </a:r>
            <a:endParaRPr sz="1350" dirty="0">
              <a:latin typeface="Comic Sans MS"/>
              <a:cs typeface="Comic Sans MS"/>
            </a:endParaRPr>
          </a:p>
        </p:txBody>
      </p:sp>
      <p:sp>
        <p:nvSpPr>
          <p:cNvPr id="17" name="object 13"/>
          <p:cNvSpPr/>
          <p:nvPr/>
        </p:nvSpPr>
        <p:spPr>
          <a:xfrm>
            <a:off x="8824687" y="4146681"/>
            <a:ext cx="1793608" cy="1658570"/>
          </a:xfrm>
          <a:custGeom>
            <a:avLst/>
            <a:gdLst/>
            <a:ahLst/>
            <a:cxnLst/>
            <a:rect l="l" t="t" r="r" b="b"/>
            <a:pathLst>
              <a:path w="1595754" h="1517014">
                <a:moveTo>
                  <a:pt x="112676" y="0"/>
                </a:moveTo>
                <a:lnTo>
                  <a:pt x="368708" y="636401"/>
                </a:lnTo>
                <a:lnTo>
                  <a:pt x="312020" y="660207"/>
                </a:lnTo>
                <a:lnTo>
                  <a:pt x="259568" y="686538"/>
                </a:lnTo>
                <a:lnTo>
                  <a:pt x="211496" y="715194"/>
                </a:lnTo>
                <a:lnTo>
                  <a:pt x="167951" y="745976"/>
                </a:lnTo>
                <a:lnTo>
                  <a:pt x="129077" y="778682"/>
                </a:lnTo>
                <a:lnTo>
                  <a:pt x="95021" y="813114"/>
                </a:lnTo>
                <a:lnTo>
                  <a:pt x="65927" y="849071"/>
                </a:lnTo>
                <a:lnTo>
                  <a:pt x="41942" y="886353"/>
                </a:lnTo>
                <a:lnTo>
                  <a:pt x="23212" y="924761"/>
                </a:lnTo>
                <a:lnTo>
                  <a:pt x="9881" y="964095"/>
                </a:lnTo>
                <a:lnTo>
                  <a:pt x="2095" y="1004154"/>
                </a:lnTo>
                <a:lnTo>
                  <a:pt x="0" y="1044739"/>
                </a:lnTo>
                <a:lnTo>
                  <a:pt x="3741" y="1085650"/>
                </a:lnTo>
                <a:lnTo>
                  <a:pt x="13464" y="1126687"/>
                </a:lnTo>
                <a:lnTo>
                  <a:pt x="41913" y="1192278"/>
                </a:lnTo>
                <a:lnTo>
                  <a:pt x="84344" y="1253346"/>
                </a:lnTo>
                <a:lnTo>
                  <a:pt x="110408" y="1282023"/>
                </a:lnTo>
                <a:lnTo>
                  <a:pt x="139496" y="1309375"/>
                </a:lnTo>
                <a:lnTo>
                  <a:pt x="171450" y="1335337"/>
                </a:lnTo>
                <a:lnTo>
                  <a:pt x="206112" y="1359846"/>
                </a:lnTo>
                <a:lnTo>
                  <a:pt x="243324" y="1382835"/>
                </a:lnTo>
                <a:lnTo>
                  <a:pt x="282931" y="1404241"/>
                </a:lnTo>
                <a:lnTo>
                  <a:pt x="324774" y="1423999"/>
                </a:lnTo>
                <a:lnTo>
                  <a:pt x="368695" y="1442044"/>
                </a:lnTo>
                <a:lnTo>
                  <a:pt x="414538" y="1458312"/>
                </a:lnTo>
                <a:lnTo>
                  <a:pt x="462145" y="1472737"/>
                </a:lnTo>
                <a:lnTo>
                  <a:pt x="511358" y="1485255"/>
                </a:lnTo>
                <a:lnTo>
                  <a:pt x="562021" y="1495801"/>
                </a:lnTo>
                <a:lnTo>
                  <a:pt x="613975" y="1504311"/>
                </a:lnTo>
                <a:lnTo>
                  <a:pt x="667064" y="1510720"/>
                </a:lnTo>
                <a:lnTo>
                  <a:pt x="721131" y="1514964"/>
                </a:lnTo>
                <a:lnTo>
                  <a:pt x="776016" y="1516976"/>
                </a:lnTo>
                <a:lnTo>
                  <a:pt x="831564" y="1516694"/>
                </a:lnTo>
                <a:lnTo>
                  <a:pt x="887617" y="1514052"/>
                </a:lnTo>
                <a:lnTo>
                  <a:pt x="944018" y="1508985"/>
                </a:lnTo>
                <a:lnTo>
                  <a:pt x="1004875" y="1500740"/>
                </a:lnTo>
                <a:lnTo>
                  <a:pt x="1063586" y="1489881"/>
                </a:lnTo>
                <a:lnTo>
                  <a:pt x="1120009" y="1476533"/>
                </a:lnTo>
                <a:lnTo>
                  <a:pt x="1174002" y="1460820"/>
                </a:lnTo>
                <a:lnTo>
                  <a:pt x="1225422" y="1442864"/>
                </a:lnTo>
                <a:lnTo>
                  <a:pt x="1274128" y="1422791"/>
                </a:lnTo>
                <a:lnTo>
                  <a:pt x="1319978" y="1400724"/>
                </a:lnTo>
                <a:lnTo>
                  <a:pt x="1362829" y="1376787"/>
                </a:lnTo>
                <a:lnTo>
                  <a:pt x="1402539" y="1351103"/>
                </a:lnTo>
                <a:lnTo>
                  <a:pt x="1438968" y="1323798"/>
                </a:lnTo>
                <a:lnTo>
                  <a:pt x="1471972" y="1294994"/>
                </a:lnTo>
                <a:lnTo>
                  <a:pt x="1501409" y="1264815"/>
                </a:lnTo>
                <a:lnTo>
                  <a:pt x="1527138" y="1233386"/>
                </a:lnTo>
                <a:lnTo>
                  <a:pt x="1549017" y="1200830"/>
                </a:lnTo>
                <a:lnTo>
                  <a:pt x="1580654" y="1132834"/>
                </a:lnTo>
                <a:lnTo>
                  <a:pt x="1595185" y="1061818"/>
                </a:lnTo>
                <a:lnTo>
                  <a:pt x="1595680" y="1025487"/>
                </a:lnTo>
                <a:lnTo>
                  <a:pt x="1591473" y="988772"/>
                </a:lnTo>
                <a:lnTo>
                  <a:pt x="1570026" y="918476"/>
                </a:lnTo>
                <a:lnTo>
                  <a:pt x="1534431" y="855090"/>
                </a:lnTo>
                <a:lnTo>
                  <a:pt x="1485479" y="796483"/>
                </a:lnTo>
                <a:lnTo>
                  <a:pt x="1456389" y="769132"/>
                </a:lnTo>
                <a:lnTo>
                  <a:pt x="1424432" y="743171"/>
                </a:lnTo>
                <a:lnTo>
                  <a:pt x="1389767" y="718662"/>
                </a:lnTo>
                <a:lnTo>
                  <a:pt x="1352550" y="695672"/>
                </a:lnTo>
                <a:lnTo>
                  <a:pt x="1312940" y="674265"/>
                </a:lnTo>
                <a:lnTo>
                  <a:pt x="1271094" y="654505"/>
                </a:lnTo>
                <a:lnTo>
                  <a:pt x="1227170" y="636458"/>
                </a:lnTo>
                <a:lnTo>
                  <a:pt x="1181325" y="620188"/>
                </a:lnTo>
                <a:lnTo>
                  <a:pt x="1133716" y="605759"/>
                </a:lnTo>
                <a:lnTo>
                  <a:pt x="1084502" y="593237"/>
                </a:lnTo>
                <a:lnTo>
                  <a:pt x="1033840" y="582686"/>
                </a:lnTo>
                <a:lnTo>
                  <a:pt x="981888" y="574171"/>
                </a:lnTo>
                <a:lnTo>
                  <a:pt x="942922" y="569463"/>
                </a:lnTo>
                <a:lnTo>
                  <a:pt x="651898" y="569463"/>
                </a:lnTo>
                <a:lnTo>
                  <a:pt x="112676" y="0"/>
                </a:lnTo>
                <a:close/>
              </a:path>
              <a:path w="1595754" h="1517014">
                <a:moveTo>
                  <a:pt x="819863" y="561490"/>
                </a:moveTo>
                <a:lnTo>
                  <a:pt x="764325" y="561767"/>
                </a:lnTo>
                <a:lnTo>
                  <a:pt x="708284" y="564403"/>
                </a:lnTo>
                <a:lnTo>
                  <a:pt x="651898" y="569463"/>
                </a:lnTo>
                <a:lnTo>
                  <a:pt x="942922" y="569463"/>
                </a:lnTo>
                <a:lnTo>
                  <a:pt x="928802" y="567757"/>
                </a:lnTo>
                <a:lnTo>
                  <a:pt x="874742" y="563509"/>
                </a:lnTo>
                <a:lnTo>
                  <a:pt x="819863" y="56149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 txBox="1"/>
          <p:nvPr/>
        </p:nvSpPr>
        <p:spPr>
          <a:xfrm>
            <a:off x="9258526" y="4819503"/>
            <a:ext cx="1023491" cy="65402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350" spc="5" dirty="0">
                <a:solidFill>
                  <a:srgbClr val="FFFFFF"/>
                </a:solidFill>
                <a:latin typeface="Comic Sans MS"/>
                <a:cs typeface="Comic Sans MS"/>
              </a:rPr>
              <a:t>C</a:t>
            </a:r>
            <a:r>
              <a:rPr sz="1350" spc="-2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350" spc="-40" dirty="0">
                <a:solidFill>
                  <a:srgbClr val="FFFFFF"/>
                </a:solidFill>
                <a:latin typeface="Comic Sans MS"/>
                <a:cs typeface="Comic Sans MS"/>
              </a:rPr>
              <a:t>t</a:t>
            </a:r>
            <a:r>
              <a:rPr sz="1350" spc="5" dirty="0">
                <a:solidFill>
                  <a:srgbClr val="FFFFFF"/>
                </a:solidFill>
                <a:latin typeface="Comic Sans MS"/>
                <a:cs typeface="Comic Sans MS"/>
              </a:rPr>
              <a:t>e</a:t>
            </a:r>
            <a:r>
              <a:rPr sz="1350" spc="30" dirty="0">
                <a:solidFill>
                  <a:srgbClr val="FFFFFF"/>
                </a:solidFill>
                <a:latin typeface="Comic Sans MS"/>
                <a:cs typeface="Comic Sans MS"/>
              </a:rPr>
              <a:t>g</a:t>
            </a:r>
            <a:r>
              <a:rPr sz="1350" spc="-40" dirty="0">
                <a:solidFill>
                  <a:srgbClr val="FFFFFF"/>
                </a:solidFill>
                <a:latin typeface="Comic Sans MS"/>
                <a:cs typeface="Comic Sans MS"/>
              </a:rPr>
              <a:t>o</a:t>
            </a:r>
            <a:r>
              <a:rPr sz="1350" spc="20" dirty="0">
                <a:solidFill>
                  <a:srgbClr val="FFFFFF"/>
                </a:solidFill>
                <a:latin typeface="Comic Sans MS"/>
                <a:cs typeface="Comic Sans MS"/>
              </a:rPr>
              <a:t>r</a:t>
            </a:r>
            <a:r>
              <a:rPr sz="1350" spc="-80" dirty="0">
                <a:solidFill>
                  <a:srgbClr val="FFFFFF"/>
                </a:solidFill>
                <a:latin typeface="Comic Sans MS"/>
                <a:cs typeface="Comic Sans MS"/>
              </a:rPr>
              <a:t>i</a:t>
            </a:r>
            <a:r>
              <a:rPr sz="1350" spc="-20" dirty="0">
                <a:solidFill>
                  <a:srgbClr val="FFFFFF"/>
                </a:solidFill>
                <a:latin typeface="Comic Sans MS"/>
                <a:cs typeface="Comic Sans MS"/>
              </a:rPr>
              <a:t>ca</a:t>
            </a:r>
            <a:r>
              <a:rPr sz="1350" dirty="0">
                <a:solidFill>
                  <a:srgbClr val="FFFFFF"/>
                </a:solidFill>
                <a:latin typeface="Comic Sans MS"/>
                <a:cs typeface="Comic Sans MS"/>
              </a:rPr>
              <a:t>l</a:t>
            </a:r>
            <a:endParaRPr sz="1350" dirty="0">
              <a:latin typeface="Comic Sans MS"/>
              <a:cs typeface="Comic Sans MS"/>
            </a:endParaRPr>
          </a:p>
          <a:p>
            <a:pPr marR="3175" algn="ctr">
              <a:lnSpc>
                <a:spcPct val="100000"/>
              </a:lnSpc>
              <a:spcBef>
                <a:spcPts val="860"/>
              </a:spcBef>
            </a:pPr>
            <a:r>
              <a:rPr sz="1350" spc="-5" dirty="0">
                <a:solidFill>
                  <a:srgbClr val="FFFFFF"/>
                </a:solidFill>
                <a:latin typeface="Comic Sans MS"/>
                <a:cs typeface="Comic Sans MS"/>
              </a:rPr>
              <a:t>Values</a:t>
            </a:r>
            <a:endParaRPr sz="135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71373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Types of  Classification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8997177" y="3058158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38160" y="1135000"/>
            <a:ext cx="3362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10" dirty="0" smtClean="0">
                <a:solidFill>
                  <a:srgbClr val="535353"/>
                </a:solidFill>
              </a:rPr>
              <a:t>Types </a:t>
            </a:r>
            <a:r>
              <a:rPr lang="en-US" sz="2800" spc="30" dirty="0" smtClean="0">
                <a:solidFill>
                  <a:srgbClr val="535353"/>
                </a:solidFill>
              </a:rPr>
              <a:t>of</a:t>
            </a:r>
            <a:r>
              <a:rPr lang="en-US" sz="2800" spc="-330" dirty="0" smtClean="0">
                <a:solidFill>
                  <a:srgbClr val="535353"/>
                </a:solidFill>
              </a:rPr>
              <a:t> </a:t>
            </a:r>
            <a:r>
              <a:rPr lang="en-US" sz="2800" spc="10" dirty="0" smtClean="0">
                <a:solidFill>
                  <a:srgbClr val="535353"/>
                </a:solidFill>
              </a:rPr>
              <a:t>Classification</a:t>
            </a:r>
            <a:endParaRPr lang="en-US" sz="2800" dirty="0"/>
          </a:p>
        </p:txBody>
      </p:sp>
      <p:sp>
        <p:nvSpPr>
          <p:cNvPr id="28" name="object 12"/>
          <p:cNvSpPr/>
          <p:nvPr/>
        </p:nvSpPr>
        <p:spPr>
          <a:xfrm>
            <a:off x="6923314" y="1859616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/>
          <p:cNvSpPr/>
          <p:nvPr/>
        </p:nvSpPr>
        <p:spPr>
          <a:xfrm>
            <a:off x="6923314" y="2520970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6923314" y="3169797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6604000" y="3805397"/>
            <a:ext cx="3830653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2"/>
          <p:cNvSpPr/>
          <p:nvPr/>
        </p:nvSpPr>
        <p:spPr>
          <a:xfrm>
            <a:off x="6923314" y="4427042"/>
            <a:ext cx="2925394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>
            <a:spLocks/>
          </p:cNvSpPr>
          <p:nvPr/>
        </p:nvSpPr>
        <p:spPr>
          <a:xfrm>
            <a:off x="6315399" y="1736167"/>
            <a:ext cx="4141223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5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Logistic</a:t>
            </a:r>
            <a:r>
              <a:rPr lang="en-US" spc="-6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Regression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dirty="0" smtClean="0">
                <a:solidFill>
                  <a:schemeClr val="bg1"/>
                </a:solidFill>
              </a:rPr>
              <a:t>Decision </a:t>
            </a:r>
            <a:r>
              <a:rPr lang="en-US" spc="-15" dirty="0" smtClean="0">
                <a:solidFill>
                  <a:schemeClr val="bg1"/>
                </a:solidFill>
              </a:rPr>
              <a:t>Tree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  </a:t>
            </a:r>
            <a:r>
              <a:rPr lang="en-US" spc="5" dirty="0" smtClean="0">
                <a:solidFill>
                  <a:schemeClr val="bg1"/>
                </a:solidFill>
              </a:rPr>
              <a:t>Random</a:t>
            </a:r>
            <a:r>
              <a:rPr lang="en-US" spc="-12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Forest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10" dirty="0" smtClean="0">
                <a:solidFill>
                  <a:schemeClr val="bg1"/>
                </a:solidFill>
              </a:rPr>
              <a:t>K- </a:t>
            </a:r>
            <a:r>
              <a:rPr lang="en-US" spc="5" dirty="0" smtClean="0">
                <a:solidFill>
                  <a:schemeClr val="bg1"/>
                </a:solidFill>
              </a:rPr>
              <a:t>Nearest</a:t>
            </a:r>
            <a:r>
              <a:rPr lang="en-US" spc="-145" dirty="0" smtClean="0">
                <a:solidFill>
                  <a:schemeClr val="bg1"/>
                </a:solidFill>
              </a:rPr>
              <a:t> </a:t>
            </a:r>
            <a:r>
              <a:rPr lang="en-US" spc="-5" dirty="0" smtClean="0">
                <a:solidFill>
                  <a:schemeClr val="bg1"/>
                </a:solidFill>
              </a:rPr>
              <a:t>Neighbor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Naïve</a:t>
            </a:r>
            <a:r>
              <a:rPr lang="en-US" spc="-50" dirty="0" smtClean="0">
                <a:solidFill>
                  <a:schemeClr val="bg1"/>
                </a:solidFill>
              </a:rPr>
              <a:t> </a:t>
            </a:r>
            <a:r>
              <a:rPr lang="en-US" spc="-20" dirty="0" smtClean="0">
                <a:solidFill>
                  <a:schemeClr val="bg1"/>
                </a:solidFill>
              </a:rPr>
              <a:t>Byes</a:t>
            </a:r>
            <a:endParaRPr lang="en-US" spc="-2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773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Types of  Classification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470892" y="6644421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3104373" y="3246840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5356" y="1323682"/>
            <a:ext cx="3362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10" dirty="0" smtClean="0">
                <a:solidFill>
                  <a:srgbClr val="535353"/>
                </a:solidFill>
              </a:rPr>
              <a:t>Types </a:t>
            </a:r>
            <a:r>
              <a:rPr lang="en-US" sz="2800" spc="30" dirty="0" smtClean="0">
                <a:solidFill>
                  <a:srgbClr val="535353"/>
                </a:solidFill>
              </a:rPr>
              <a:t>of</a:t>
            </a:r>
            <a:r>
              <a:rPr lang="en-US" sz="2800" spc="-330" dirty="0" smtClean="0">
                <a:solidFill>
                  <a:srgbClr val="535353"/>
                </a:solidFill>
              </a:rPr>
              <a:t> </a:t>
            </a:r>
            <a:r>
              <a:rPr lang="en-US" sz="2800" spc="10" dirty="0" smtClean="0">
                <a:solidFill>
                  <a:srgbClr val="535353"/>
                </a:solidFill>
              </a:rPr>
              <a:t>Classification</a:t>
            </a:r>
            <a:endParaRPr lang="en-US" sz="2800" dirty="0"/>
          </a:p>
        </p:txBody>
      </p:sp>
      <p:sp>
        <p:nvSpPr>
          <p:cNvPr id="28" name="object 12"/>
          <p:cNvSpPr/>
          <p:nvPr/>
        </p:nvSpPr>
        <p:spPr>
          <a:xfrm>
            <a:off x="1030510" y="2048298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/>
          <p:cNvSpPr/>
          <p:nvPr/>
        </p:nvSpPr>
        <p:spPr>
          <a:xfrm>
            <a:off x="1030510" y="2709652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1030510" y="3358479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711196" y="3994079"/>
            <a:ext cx="3830653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2"/>
          <p:cNvSpPr/>
          <p:nvPr/>
        </p:nvSpPr>
        <p:spPr>
          <a:xfrm>
            <a:off x="1030510" y="4615724"/>
            <a:ext cx="2925394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>
            <a:spLocks/>
          </p:cNvSpPr>
          <p:nvPr/>
        </p:nvSpPr>
        <p:spPr>
          <a:xfrm>
            <a:off x="422595" y="1924849"/>
            <a:ext cx="4141223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5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Logistic</a:t>
            </a:r>
            <a:r>
              <a:rPr lang="en-US" spc="-6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Regression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dirty="0" smtClean="0">
                <a:solidFill>
                  <a:schemeClr val="bg1"/>
                </a:solidFill>
              </a:rPr>
              <a:t>Decision </a:t>
            </a:r>
            <a:r>
              <a:rPr lang="en-US" spc="-15" dirty="0" smtClean="0">
                <a:solidFill>
                  <a:schemeClr val="bg1"/>
                </a:solidFill>
              </a:rPr>
              <a:t>Tree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  </a:t>
            </a:r>
            <a:r>
              <a:rPr lang="en-US" spc="5" dirty="0" smtClean="0">
                <a:solidFill>
                  <a:schemeClr val="bg1"/>
                </a:solidFill>
              </a:rPr>
              <a:t>Random</a:t>
            </a:r>
            <a:r>
              <a:rPr lang="en-US" spc="-12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Forest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10" dirty="0" smtClean="0">
                <a:solidFill>
                  <a:schemeClr val="bg1"/>
                </a:solidFill>
              </a:rPr>
              <a:t>K- </a:t>
            </a:r>
            <a:r>
              <a:rPr lang="en-US" spc="5" dirty="0" smtClean="0">
                <a:solidFill>
                  <a:schemeClr val="bg1"/>
                </a:solidFill>
              </a:rPr>
              <a:t>Nearest</a:t>
            </a:r>
            <a:r>
              <a:rPr lang="en-US" spc="-145" dirty="0" smtClean="0">
                <a:solidFill>
                  <a:schemeClr val="bg1"/>
                </a:solidFill>
              </a:rPr>
              <a:t> </a:t>
            </a:r>
            <a:r>
              <a:rPr lang="en-US" spc="-5" dirty="0" smtClean="0">
                <a:solidFill>
                  <a:schemeClr val="bg1"/>
                </a:solidFill>
              </a:rPr>
              <a:t>Neighbor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Naïve</a:t>
            </a:r>
            <a:r>
              <a:rPr lang="en-US" spc="-50" dirty="0" smtClean="0">
                <a:solidFill>
                  <a:schemeClr val="bg1"/>
                </a:solidFill>
              </a:rPr>
              <a:t> </a:t>
            </a:r>
            <a:r>
              <a:rPr lang="en-US" spc="-20" dirty="0" smtClean="0">
                <a:solidFill>
                  <a:schemeClr val="bg1"/>
                </a:solidFill>
              </a:rPr>
              <a:t>Byes</a:t>
            </a:r>
            <a:endParaRPr lang="en-US" spc="-20" dirty="0">
              <a:solidFill>
                <a:schemeClr val="bg1"/>
              </a:solidFill>
            </a:endParaRPr>
          </a:p>
        </p:txBody>
      </p:sp>
      <p:sp>
        <p:nvSpPr>
          <p:cNvPr id="14" name="object 2"/>
          <p:cNvSpPr/>
          <p:nvPr/>
        </p:nvSpPr>
        <p:spPr>
          <a:xfrm>
            <a:off x="7971733" y="2607304"/>
            <a:ext cx="3371129" cy="3122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8"/>
          <p:cNvSpPr txBox="1">
            <a:spLocks/>
          </p:cNvSpPr>
          <p:nvPr/>
        </p:nvSpPr>
        <p:spPr>
          <a:xfrm>
            <a:off x="5646057" y="1268380"/>
            <a:ext cx="6082990" cy="853311"/>
          </a:xfrm>
          <a:prstGeom prst="rect">
            <a:avLst/>
          </a:prstGeom>
        </p:spPr>
        <p:txBody>
          <a:bodyPr vert="horz" wrap="square" lIns="0" tIns="5715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56285" marR="5080" indent="-744220">
              <a:lnSpc>
                <a:spcPct val="102499"/>
              </a:lnSpc>
              <a:spcBef>
                <a:spcPts val="45"/>
              </a:spcBef>
            </a:pPr>
            <a:r>
              <a:rPr lang="en-US" sz="1800" b="0" spc="10" dirty="0" smtClean="0">
                <a:solidFill>
                  <a:srgbClr val="002060"/>
                </a:solidFill>
                <a:latin typeface="Arial"/>
                <a:cs typeface="Arial"/>
              </a:rPr>
              <a:t>“Logistic</a:t>
            </a:r>
            <a:r>
              <a:rPr lang="en-US" sz="1800" b="0" spc="-130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800" b="0" spc="15" dirty="0" smtClean="0">
                <a:solidFill>
                  <a:srgbClr val="002060"/>
                </a:solidFill>
                <a:latin typeface="Arial"/>
                <a:cs typeface="Arial"/>
              </a:rPr>
              <a:t>Regression</a:t>
            </a:r>
            <a:r>
              <a:rPr lang="en-US" sz="1800" b="0" spc="-204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800" b="0" spc="-5" dirty="0" smtClean="0">
                <a:solidFill>
                  <a:srgbClr val="002060"/>
                </a:solidFill>
                <a:latin typeface="Arial"/>
                <a:cs typeface="Arial"/>
              </a:rPr>
              <a:t>is</a:t>
            </a:r>
            <a:r>
              <a:rPr lang="en-US" sz="1800" b="0" spc="-55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800" b="0" spc="15" dirty="0" smtClean="0">
                <a:solidFill>
                  <a:srgbClr val="002060"/>
                </a:solidFill>
                <a:latin typeface="Arial"/>
                <a:cs typeface="Arial"/>
              </a:rPr>
              <a:t>used</a:t>
            </a:r>
            <a:r>
              <a:rPr lang="en-US" sz="1800" b="0" spc="-125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800" b="0" spc="-5" dirty="0" smtClean="0">
                <a:solidFill>
                  <a:srgbClr val="002060"/>
                </a:solidFill>
                <a:latin typeface="Arial"/>
                <a:cs typeface="Arial"/>
              </a:rPr>
              <a:t>when</a:t>
            </a:r>
            <a:r>
              <a:rPr lang="en-US" sz="1800" b="0" spc="15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800" b="0" spc="-15" dirty="0" smtClean="0">
                <a:solidFill>
                  <a:srgbClr val="002060"/>
                </a:solidFill>
                <a:latin typeface="Arial"/>
                <a:cs typeface="Arial"/>
              </a:rPr>
              <a:t>the</a:t>
            </a:r>
            <a:r>
              <a:rPr lang="en-US" sz="1800" b="0" spc="25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800" b="0" spc="10" dirty="0" smtClean="0">
                <a:solidFill>
                  <a:srgbClr val="002060"/>
                </a:solidFill>
                <a:latin typeface="Arial"/>
                <a:cs typeface="Arial"/>
              </a:rPr>
              <a:t>dependent  </a:t>
            </a:r>
            <a:r>
              <a:rPr lang="en-US" sz="1800" b="0" spc="-5" dirty="0" smtClean="0">
                <a:solidFill>
                  <a:srgbClr val="002060"/>
                </a:solidFill>
                <a:latin typeface="Arial"/>
                <a:cs typeface="Arial"/>
              </a:rPr>
              <a:t>variable(target) is</a:t>
            </a:r>
            <a:r>
              <a:rPr lang="en-US" sz="1800" b="0" spc="-30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800" b="0" spc="5" dirty="0" smtClean="0">
                <a:solidFill>
                  <a:srgbClr val="002060"/>
                </a:solidFill>
                <a:latin typeface="Arial"/>
                <a:cs typeface="Arial"/>
              </a:rPr>
              <a:t>categorical.”</a:t>
            </a:r>
            <a:endParaRPr lang="en-US" sz="18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16" name="object 19"/>
          <p:cNvSpPr txBox="1"/>
          <p:nvPr/>
        </p:nvSpPr>
        <p:spPr>
          <a:xfrm>
            <a:off x="5537571" y="3316799"/>
            <a:ext cx="1325828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30" dirty="0">
                <a:solidFill>
                  <a:srgbClr val="535353"/>
                </a:solidFill>
                <a:latin typeface="Arial"/>
                <a:cs typeface="Arial"/>
              </a:rPr>
              <a:t>For</a:t>
            </a:r>
            <a:r>
              <a:rPr sz="1400" spc="-18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35353"/>
                </a:solidFill>
                <a:latin typeface="Arial"/>
                <a:cs typeface="Arial"/>
              </a:rPr>
              <a:t>example,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20"/>
          <p:cNvSpPr txBox="1"/>
          <p:nvPr/>
        </p:nvSpPr>
        <p:spPr>
          <a:xfrm>
            <a:off x="5537570" y="3713525"/>
            <a:ext cx="2277323" cy="4623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Predict </a:t>
            </a:r>
            <a:r>
              <a:rPr sz="1400" spc="-5" dirty="0">
                <a:solidFill>
                  <a:srgbClr val="535353"/>
                </a:solidFill>
                <a:latin typeface="Arial"/>
                <a:cs typeface="Arial"/>
              </a:rPr>
              <a:t>whether </a:t>
            </a:r>
            <a:r>
              <a:rPr sz="1400" spc="-10" dirty="0">
                <a:solidFill>
                  <a:srgbClr val="535353"/>
                </a:solidFill>
                <a:latin typeface="Arial"/>
                <a:cs typeface="Arial"/>
              </a:rPr>
              <a:t>an  </a:t>
            </a:r>
            <a:r>
              <a:rPr sz="1400" spc="5" dirty="0">
                <a:solidFill>
                  <a:srgbClr val="535353"/>
                </a:solidFill>
                <a:latin typeface="Arial"/>
                <a:cs typeface="Arial"/>
              </a:rPr>
              <a:t>email</a:t>
            </a:r>
            <a:r>
              <a:rPr sz="1400" spc="-4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35353"/>
                </a:solidFill>
                <a:latin typeface="Arial"/>
                <a:cs typeface="Arial"/>
              </a:rPr>
              <a:t>is</a:t>
            </a:r>
            <a:r>
              <a:rPr sz="1400" spc="-6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535353"/>
                </a:solidFill>
                <a:latin typeface="Arial"/>
                <a:cs typeface="Arial"/>
              </a:rPr>
              <a:t>spam</a:t>
            </a:r>
            <a:r>
              <a:rPr sz="1400" spc="-8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35353"/>
                </a:solidFill>
                <a:latin typeface="Arial"/>
                <a:cs typeface="Arial"/>
              </a:rPr>
              <a:t>(1)</a:t>
            </a:r>
            <a:r>
              <a:rPr sz="1400" spc="-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535353"/>
                </a:solidFill>
                <a:latin typeface="Arial"/>
                <a:cs typeface="Arial"/>
              </a:rPr>
              <a:t>or</a:t>
            </a:r>
            <a:r>
              <a:rPr sz="1400" spc="-1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35353"/>
                </a:solidFill>
                <a:latin typeface="Arial"/>
                <a:cs typeface="Arial"/>
              </a:rPr>
              <a:t>(0)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342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Types of  Classification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470892" y="6644421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3104373" y="3246840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5356" y="1323682"/>
            <a:ext cx="3362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10" dirty="0" smtClean="0">
                <a:solidFill>
                  <a:srgbClr val="535353"/>
                </a:solidFill>
              </a:rPr>
              <a:t>Types </a:t>
            </a:r>
            <a:r>
              <a:rPr lang="en-US" sz="2800" spc="30" dirty="0" smtClean="0">
                <a:solidFill>
                  <a:srgbClr val="535353"/>
                </a:solidFill>
              </a:rPr>
              <a:t>of</a:t>
            </a:r>
            <a:r>
              <a:rPr lang="en-US" sz="2800" spc="-330" dirty="0" smtClean="0">
                <a:solidFill>
                  <a:srgbClr val="535353"/>
                </a:solidFill>
              </a:rPr>
              <a:t> </a:t>
            </a:r>
            <a:r>
              <a:rPr lang="en-US" sz="2800" spc="10" dirty="0" smtClean="0">
                <a:solidFill>
                  <a:srgbClr val="535353"/>
                </a:solidFill>
              </a:rPr>
              <a:t>Classification</a:t>
            </a:r>
            <a:endParaRPr lang="en-US" sz="2800" dirty="0"/>
          </a:p>
        </p:txBody>
      </p:sp>
      <p:sp>
        <p:nvSpPr>
          <p:cNvPr id="28" name="object 12"/>
          <p:cNvSpPr/>
          <p:nvPr/>
        </p:nvSpPr>
        <p:spPr>
          <a:xfrm>
            <a:off x="1030510" y="2048298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/>
          <p:cNvSpPr/>
          <p:nvPr/>
        </p:nvSpPr>
        <p:spPr>
          <a:xfrm>
            <a:off x="1030510" y="2709652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1030510" y="3358479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711196" y="3994079"/>
            <a:ext cx="3830653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2"/>
          <p:cNvSpPr/>
          <p:nvPr/>
        </p:nvSpPr>
        <p:spPr>
          <a:xfrm>
            <a:off x="1030510" y="4615724"/>
            <a:ext cx="2925394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>
            <a:spLocks/>
          </p:cNvSpPr>
          <p:nvPr/>
        </p:nvSpPr>
        <p:spPr>
          <a:xfrm>
            <a:off x="422595" y="1924849"/>
            <a:ext cx="4141223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5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Logistic</a:t>
            </a:r>
            <a:r>
              <a:rPr lang="en-US" spc="-6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Regression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dirty="0" smtClean="0">
                <a:solidFill>
                  <a:schemeClr val="bg1"/>
                </a:solidFill>
              </a:rPr>
              <a:t>Decision </a:t>
            </a:r>
            <a:r>
              <a:rPr lang="en-US" spc="-15" dirty="0" smtClean="0">
                <a:solidFill>
                  <a:schemeClr val="bg1"/>
                </a:solidFill>
              </a:rPr>
              <a:t>Tree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  </a:t>
            </a:r>
            <a:r>
              <a:rPr lang="en-US" spc="5" dirty="0" smtClean="0">
                <a:solidFill>
                  <a:schemeClr val="bg1"/>
                </a:solidFill>
              </a:rPr>
              <a:t>Random</a:t>
            </a:r>
            <a:r>
              <a:rPr lang="en-US" spc="-12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Forest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10" dirty="0" smtClean="0">
                <a:solidFill>
                  <a:schemeClr val="bg1"/>
                </a:solidFill>
              </a:rPr>
              <a:t>K- </a:t>
            </a:r>
            <a:r>
              <a:rPr lang="en-US" spc="5" dirty="0" smtClean="0">
                <a:solidFill>
                  <a:schemeClr val="bg1"/>
                </a:solidFill>
              </a:rPr>
              <a:t>Nearest</a:t>
            </a:r>
            <a:r>
              <a:rPr lang="en-US" spc="-145" dirty="0" smtClean="0">
                <a:solidFill>
                  <a:schemeClr val="bg1"/>
                </a:solidFill>
              </a:rPr>
              <a:t> </a:t>
            </a:r>
            <a:r>
              <a:rPr lang="en-US" spc="-5" dirty="0" smtClean="0">
                <a:solidFill>
                  <a:schemeClr val="bg1"/>
                </a:solidFill>
              </a:rPr>
              <a:t>Neighbor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Naïve</a:t>
            </a:r>
            <a:r>
              <a:rPr lang="en-US" spc="-50" dirty="0" smtClean="0">
                <a:solidFill>
                  <a:schemeClr val="bg1"/>
                </a:solidFill>
              </a:rPr>
              <a:t> </a:t>
            </a:r>
            <a:r>
              <a:rPr lang="en-US" spc="-20" dirty="0" smtClean="0">
                <a:solidFill>
                  <a:schemeClr val="bg1"/>
                </a:solidFill>
              </a:rPr>
              <a:t>Byes</a:t>
            </a:r>
            <a:endParaRPr lang="en-US" spc="-20" dirty="0">
              <a:solidFill>
                <a:schemeClr val="bg1"/>
              </a:solidFill>
            </a:endParaRPr>
          </a:p>
        </p:txBody>
      </p:sp>
      <p:sp>
        <p:nvSpPr>
          <p:cNvPr id="18" name="object 13"/>
          <p:cNvSpPr/>
          <p:nvPr/>
        </p:nvSpPr>
        <p:spPr>
          <a:xfrm>
            <a:off x="5933471" y="3199203"/>
            <a:ext cx="5205929" cy="34452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/>
          <p:cNvSpPr txBox="1">
            <a:spLocks/>
          </p:cNvSpPr>
          <p:nvPr/>
        </p:nvSpPr>
        <p:spPr>
          <a:xfrm>
            <a:off x="4977508" y="1186818"/>
            <a:ext cx="6807200" cy="884729"/>
          </a:xfrm>
          <a:prstGeom prst="rect">
            <a:avLst/>
          </a:prstGeom>
        </p:spPr>
        <p:txBody>
          <a:bodyPr vert="horz" wrap="square" lIns="0" tIns="5715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22960" marR="5080" indent="-810895">
              <a:lnSpc>
                <a:spcPct val="102499"/>
              </a:lnSpc>
              <a:spcBef>
                <a:spcPts val="45"/>
              </a:spcBef>
            </a:pPr>
            <a:r>
              <a:rPr lang="en-US" sz="2800" b="0" spc="-5" dirty="0" smtClean="0">
                <a:solidFill>
                  <a:srgbClr val="002060"/>
                </a:solidFill>
                <a:latin typeface="Arial"/>
                <a:cs typeface="Arial"/>
              </a:rPr>
              <a:t>“</a:t>
            </a:r>
            <a:r>
              <a:rPr lang="en-US" sz="1600" b="0" spc="-5" dirty="0" smtClean="0">
                <a:solidFill>
                  <a:srgbClr val="002060"/>
                </a:solidFill>
                <a:latin typeface="Arial"/>
                <a:cs typeface="Arial"/>
              </a:rPr>
              <a:t>Graphical </a:t>
            </a:r>
            <a:r>
              <a:rPr lang="en-US" sz="1600" b="0" spc="5" dirty="0" smtClean="0">
                <a:solidFill>
                  <a:srgbClr val="002060"/>
                </a:solidFill>
                <a:latin typeface="Arial"/>
                <a:cs typeface="Arial"/>
              </a:rPr>
              <a:t>representation </a:t>
            </a:r>
            <a:r>
              <a:rPr lang="en-US" sz="1600" b="0" spc="20" dirty="0" smtClean="0">
                <a:solidFill>
                  <a:srgbClr val="002060"/>
                </a:solidFill>
                <a:latin typeface="Arial"/>
                <a:cs typeface="Arial"/>
              </a:rPr>
              <a:t>of </a:t>
            </a:r>
            <a:r>
              <a:rPr lang="en-US" sz="1600" b="0" spc="-15" dirty="0" smtClean="0">
                <a:solidFill>
                  <a:srgbClr val="002060"/>
                </a:solidFill>
                <a:latin typeface="Arial"/>
                <a:cs typeface="Arial"/>
              </a:rPr>
              <a:t>all the</a:t>
            </a:r>
            <a:r>
              <a:rPr lang="en-US" sz="1600" b="0" spc="-195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600" b="0" spc="20" dirty="0" smtClean="0">
                <a:solidFill>
                  <a:srgbClr val="002060"/>
                </a:solidFill>
                <a:latin typeface="Arial"/>
                <a:cs typeface="Arial"/>
              </a:rPr>
              <a:t>possible  </a:t>
            </a:r>
            <a:r>
              <a:rPr lang="en-US" sz="1600" b="0" dirty="0" smtClean="0">
                <a:solidFill>
                  <a:srgbClr val="002060"/>
                </a:solidFill>
                <a:latin typeface="Arial"/>
                <a:cs typeface="Arial"/>
              </a:rPr>
              <a:t>solutions </a:t>
            </a:r>
            <a:r>
              <a:rPr lang="en-US" sz="1600" b="0" spc="-5" dirty="0" smtClean="0">
                <a:solidFill>
                  <a:srgbClr val="002060"/>
                </a:solidFill>
                <a:latin typeface="Arial"/>
                <a:cs typeface="Arial"/>
              </a:rPr>
              <a:t>to </a:t>
            </a:r>
            <a:r>
              <a:rPr lang="en-US" sz="1600" b="0" spc="15" dirty="0" smtClean="0">
                <a:solidFill>
                  <a:srgbClr val="002060"/>
                </a:solidFill>
                <a:latin typeface="Arial"/>
                <a:cs typeface="Arial"/>
              </a:rPr>
              <a:t>a</a:t>
            </a:r>
            <a:r>
              <a:rPr lang="en-US" sz="1600" b="0" spc="-114" dirty="0" smtClean="0">
                <a:solidFill>
                  <a:srgbClr val="002060"/>
                </a:solidFill>
                <a:latin typeface="Arial"/>
                <a:cs typeface="Arial"/>
              </a:rPr>
              <a:t>  </a:t>
            </a:r>
            <a:r>
              <a:rPr lang="en-US" sz="1600" b="0" spc="20" dirty="0" smtClean="0">
                <a:solidFill>
                  <a:srgbClr val="002060"/>
                </a:solidFill>
                <a:latin typeface="Arial"/>
                <a:cs typeface="Arial"/>
              </a:rPr>
              <a:t>decision</a:t>
            </a:r>
            <a:r>
              <a:rPr lang="en-US" sz="2800" b="0" spc="20" dirty="0" smtClean="0">
                <a:solidFill>
                  <a:srgbClr val="002060"/>
                </a:solidFill>
                <a:latin typeface="Arial"/>
                <a:cs typeface="Arial"/>
              </a:rPr>
              <a:t>”</a:t>
            </a:r>
            <a:endParaRPr lang="en-US" sz="28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20" name="object 19"/>
          <p:cNvSpPr txBox="1"/>
          <p:nvPr/>
        </p:nvSpPr>
        <p:spPr>
          <a:xfrm>
            <a:off x="5310445" y="2120013"/>
            <a:ext cx="6141326" cy="793807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970"/>
              </a:spcBef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pc="15" dirty="0">
                <a:solidFill>
                  <a:srgbClr val="595959"/>
                </a:solidFill>
                <a:latin typeface="Arial"/>
                <a:cs typeface="Arial"/>
              </a:rPr>
              <a:t>Decisions</a:t>
            </a:r>
            <a:r>
              <a:rPr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mainly</a:t>
            </a:r>
            <a:r>
              <a:rPr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25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3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595959"/>
                </a:solidFill>
                <a:latin typeface="Arial"/>
                <a:cs typeface="Arial"/>
              </a:rPr>
              <a:t>conditions</a:t>
            </a:r>
            <a:endParaRPr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spcBef>
                <a:spcPts val="875"/>
              </a:spcBef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pc="2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pc="-2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595959"/>
                </a:solidFill>
                <a:latin typeface="Arial"/>
                <a:cs typeface="Arial"/>
              </a:rPr>
              <a:t>made</a:t>
            </a:r>
            <a:r>
              <a:rPr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25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595959"/>
                </a:solidFill>
                <a:latin typeface="Arial"/>
                <a:cs typeface="Arial"/>
              </a:rPr>
              <a:t>easily</a:t>
            </a:r>
            <a:r>
              <a:rPr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explained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7318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Types of  Classification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470892" y="6644421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3104373" y="3246840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5356" y="1323682"/>
            <a:ext cx="3362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10" dirty="0" smtClean="0">
                <a:solidFill>
                  <a:srgbClr val="535353"/>
                </a:solidFill>
              </a:rPr>
              <a:t>Types </a:t>
            </a:r>
            <a:r>
              <a:rPr lang="en-US" sz="2800" spc="30" dirty="0" smtClean="0">
                <a:solidFill>
                  <a:srgbClr val="535353"/>
                </a:solidFill>
              </a:rPr>
              <a:t>of</a:t>
            </a:r>
            <a:r>
              <a:rPr lang="en-US" sz="2800" spc="-330" dirty="0" smtClean="0">
                <a:solidFill>
                  <a:srgbClr val="535353"/>
                </a:solidFill>
              </a:rPr>
              <a:t> </a:t>
            </a:r>
            <a:r>
              <a:rPr lang="en-US" sz="2800" spc="10" dirty="0" smtClean="0">
                <a:solidFill>
                  <a:srgbClr val="535353"/>
                </a:solidFill>
              </a:rPr>
              <a:t>Classification</a:t>
            </a:r>
            <a:endParaRPr lang="en-US" sz="2800" dirty="0"/>
          </a:p>
        </p:txBody>
      </p:sp>
      <p:sp>
        <p:nvSpPr>
          <p:cNvPr id="28" name="object 12"/>
          <p:cNvSpPr/>
          <p:nvPr/>
        </p:nvSpPr>
        <p:spPr>
          <a:xfrm>
            <a:off x="1030510" y="2048298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/>
          <p:cNvSpPr/>
          <p:nvPr/>
        </p:nvSpPr>
        <p:spPr>
          <a:xfrm>
            <a:off x="1030510" y="2709652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1030510" y="3358479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711196" y="3994079"/>
            <a:ext cx="3830653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2"/>
          <p:cNvSpPr/>
          <p:nvPr/>
        </p:nvSpPr>
        <p:spPr>
          <a:xfrm>
            <a:off x="1030510" y="4615724"/>
            <a:ext cx="2925394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>
            <a:spLocks/>
          </p:cNvSpPr>
          <p:nvPr/>
        </p:nvSpPr>
        <p:spPr>
          <a:xfrm>
            <a:off x="422595" y="1924849"/>
            <a:ext cx="4141223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5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Logistic</a:t>
            </a:r>
            <a:r>
              <a:rPr lang="en-US" spc="-6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Regression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dirty="0" smtClean="0">
                <a:solidFill>
                  <a:schemeClr val="bg1"/>
                </a:solidFill>
              </a:rPr>
              <a:t>Decision </a:t>
            </a:r>
            <a:r>
              <a:rPr lang="en-US" spc="-15" dirty="0" smtClean="0">
                <a:solidFill>
                  <a:schemeClr val="bg1"/>
                </a:solidFill>
              </a:rPr>
              <a:t>Tree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  </a:t>
            </a:r>
            <a:r>
              <a:rPr lang="en-US" spc="5" dirty="0" smtClean="0">
                <a:solidFill>
                  <a:schemeClr val="bg1"/>
                </a:solidFill>
              </a:rPr>
              <a:t>Random</a:t>
            </a:r>
            <a:r>
              <a:rPr lang="en-US" spc="-12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Forest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10" dirty="0" smtClean="0">
                <a:solidFill>
                  <a:schemeClr val="bg1"/>
                </a:solidFill>
              </a:rPr>
              <a:t>K- </a:t>
            </a:r>
            <a:r>
              <a:rPr lang="en-US" spc="5" dirty="0" smtClean="0">
                <a:solidFill>
                  <a:schemeClr val="bg1"/>
                </a:solidFill>
              </a:rPr>
              <a:t>Nearest</a:t>
            </a:r>
            <a:r>
              <a:rPr lang="en-US" spc="-145" dirty="0" smtClean="0">
                <a:solidFill>
                  <a:schemeClr val="bg1"/>
                </a:solidFill>
              </a:rPr>
              <a:t> </a:t>
            </a:r>
            <a:r>
              <a:rPr lang="en-US" spc="-5" dirty="0" smtClean="0">
                <a:solidFill>
                  <a:schemeClr val="bg1"/>
                </a:solidFill>
              </a:rPr>
              <a:t>Neighbor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Naïve</a:t>
            </a:r>
            <a:r>
              <a:rPr lang="en-US" spc="-50" dirty="0" smtClean="0">
                <a:solidFill>
                  <a:schemeClr val="bg1"/>
                </a:solidFill>
              </a:rPr>
              <a:t> </a:t>
            </a:r>
            <a:r>
              <a:rPr lang="en-US" spc="-20" dirty="0" smtClean="0">
                <a:solidFill>
                  <a:schemeClr val="bg1"/>
                </a:solidFill>
              </a:rPr>
              <a:t>Byes</a:t>
            </a:r>
            <a:endParaRPr lang="en-US" spc="-20" dirty="0">
              <a:solidFill>
                <a:schemeClr val="bg1"/>
              </a:solidFill>
            </a:endParaRPr>
          </a:p>
        </p:txBody>
      </p:sp>
      <p:sp>
        <p:nvSpPr>
          <p:cNvPr id="13" name="object 17"/>
          <p:cNvSpPr/>
          <p:nvPr/>
        </p:nvSpPr>
        <p:spPr>
          <a:xfrm>
            <a:off x="5664706" y="2224669"/>
            <a:ext cx="5177465" cy="35375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8"/>
          <p:cNvSpPr txBox="1"/>
          <p:nvPr/>
        </p:nvSpPr>
        <p:spPr>
          <a:xfrm>
            <a:off x="5470892" y="1342419"/>
            <a:ext cx="1948056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spc="30" dirty="0">
                <a:solidFill>
                  <a:srgbClr val="535353"/>
                </a:solidFill>
                <a:latin typeface="Arial"/>
                <a:cs typeface="Arial"/>
              </a:rPr>
              <a:t>For</a:t>
            </a:r>
            <a:r>
              <a:rPr sz="1600" b="1" spc="-17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535353"/>
                </a:solidFill>
                <a:latin typeface="Arial"/>
                <a:cs typeface="Arial"/>
              </a:rPr>
              <a:t>example,</a:t>
            </a:r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819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Types of  Classification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470892" y="6644421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3104373" y="3246840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5356" y="1323682"/>
            <a:ext cx="3362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10" dirty="0" smtClean="0">
                <a:solidFill>
                  <a:srgbClr val="535353"/>
                </a:solidFill>
              </a:rPr>
              <a:t>Types </a:t>
            </a:r>
            <a:r>
              <a:rPr lang="en-US" sz="2800" spc="30" dirty="0" smtClean="0">
                <a:solidFill>
                  <a:srgbClr val="535353"/>
                </a:solidFill>
              </a:rPr>
              <a:t>of</a:t>
            </a:r>
            <a:r>
              <a:rPr lang="en-US" sz="2800" spc="-330" dirty="0" smtClean="0">
                <a:solidFill>
                  <a:srgbClr val="535353"/>
                </a:solidFill>
              </a:rPr>
              <a:t> </a:t>
            </a:r>
            <a:r>
              <a:rPr lang="en-US" sz="2800" spc="10" dirty="0" smtClean="0">
                <a:solidFill>
                  <a:srgbClr val="535353"/>
                </a:solidFill>
              </a:rPr>
              <a:t>Classification</a:t>
            </a:r>
            <a:endParaRPr lang="en-US" sz="2800" dirty="0"/>
          </a:p>
        </p:txBody>
      </p:sp>
      <p:sp>
        <p:nvSpPr>
          <p:cNvPr id="28" name="object 12"/>
          <p:cNvSpPr/>
          <p:nvPr/>
        </p:nvSpPr>
        <p:spPr>
          <a:xfrm>
            <a:off x="1030510" y="2048298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/>
          <p:cNvSpPr/>
          <p:nvPr/>
        </p:nvSpPr>
        <p:spPr>
          <a:xfrm>
            <a:off x="1030510" y="2709652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1030510" y="3358479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711196" y="3994079"/>
            <a:ext cx="3830653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2"/>
          <p:cNvSpPr/>
          <p:nvPr/>
        </p:nvSpPr>
        <p:spPr>
          <a:xfrm>
            <a:off x="1030510" y="4615724"/>
            <a:ext cx="2925394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>
            <a:spLocks/>
          </p:cNvSpPr>
          <p:nvPr/>
        </p:nvSpPr>
        <p:spPr>
          <a:xfrm>
            <a:off x="422595" y="1924849"/>
            <a:ext cx="4141223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5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Logistic</a:t>
            </a:r>
            <a:r>
              <a:rPr lang="en-US" spc="-6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Regression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dirty="0" smtClean="0">
                <a:solidFill>
                  <a:schemeClr val="bg1"/>
                </a:solidFill>
              </a:rPr>
              <a:t>Decision </a:t>
            </a:r>
            <a:r>
              <a:rPr lang="en-US" spc="-15" dirty="0" smtClean="0">
                <a:solidFill>
                  <a:schemeClr val="bg1"/>
                </a:solidFill>
              </a:rPr>
              <a:t>Tree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  </a:t>
            </a:r>
            <a:r>
              <a:rPr lang="en-US" spc="5" dirty="0" smtClean="0">
                <a:solidFill>
                  <a:schemeClr val="bg1"/>
                </a:solidFill>
              </a:rPr>
              <a:t>Random</a:t>
            </a:r>
            <a:r>
              <a:rPr lang="en-US" spc="-12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Forest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10" dirty="0" smtClean="0">
                <a:solidFill>
                  <a:schemeClr val="bg1"/>
                </a:solidFill>
              </a:rPr>
              <a:t>K- </a:t>
            </a:r>
            <a:r>
              <a:rPr lang="en-US" spc="5" dirty="0" smtClean="0">
                <a:solidFill>
                  <a:schemeClr val="bg1"/>
                </a:solidFill>
              </a:rPr>
              <a:t>Nearest</a:t>
            </a:r>
            <a:r>
              <a:rPr lang="en-US" spc="-145" dirty="0" smtClean="0">
                <a:solidFill>
                  <a:schemeClr val="bg1"/>
                </a:solidFill>
              </a:rPr>
              <a:t> </a:t>
            </a:r>
            <a:r>
              <a:rPr lang="en-US" spc="-5" dirty="0" smtClean="0">
                <a:solidFill>
                  <a:schemeClr val="bg1"/>
                </a:solidFill>
              </a:rPr>
              <a:t>Neighbor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Naïve</a:t>
            </a:r>
            <a:r>
              <a:rPr lang="en-US" spc="-50" dirty="0" smtClean="0">
                <a:solidFill>
                  <a:schemeClr val="bg1"/>
                </a:solidFill>
              </a:rPr>
              <a:t> </a:t>
            </a:r>
            <a:r>
              <a:rPr lang="en-US" spc="-20" dirty="0" smtClean="0">
                <a:solidFill>
                  <a:schemeClr val="bg1"/>
                </a:solidFill>
              </a:rPr>
              <a:t>Byes</a:t>
            </a:r>
            <a:endParaRPr lang="en-US" spc="-20" dirty="0">
              <a:solidFill>
                <a:schemeClr val="bg1"/>
              </a:solidFill>
            </a:endParaRPr>
          </a:p>
        </p:txBody>
      </p:sp>
      <p:sp>
        <p:nvSpPr>
          <p:cNvPr id="13" name="object 18"/>
          <p:cNvSpPr/>
          <p:nvPr/>
        </p:nvSpPr>
        <p:spPr>
          <a:xfrm>
            <a:off x="5325556" y="1924849"/>
            <a:ext cx="5893987" cy="4330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9"/>
          <p:cNvSpPr txBox="1"/>
          <p:nvPr/>
        </p:nvSpPr>
        <p:spPr>
          <a:xfrm>
            <a:off x="6073887" y="1463690"/>
            <a:ext cx="1778342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30" dirty="0">
                <a:solidFill>
                  <a:srgbClr val="535353"/>
                </a:solidFill>
                <a:latin typeface="Arial"/>
                <a:cs typeface="Arial"/>
              </a:rPr>
              <a:t>For</a:t>
            </a:r>
            <a:r>
              <a:rPr b="1" spc="-17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b="1" spc="25" dirty="0">
                <a:solidFill>
                  <a:srgbClr val="535353"/>
                </a:solidFill>
                <a:latin typeface="Arial"/>
                <a:cs typeface="Arial"/>
              </a:rPr>
              <a:t>example,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407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Types of  Classification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470892" y="6644421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3104373" y="3246840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5356" y="1323682"/>
            <a:ext cx="3362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10" dirty="0" smtClean="0">
                <a:solidFill>
                  <a:srgbClr val="535353"/>
                </a:solidFill>
              </a:rPr>
              <a:t>Types </a:t>
            </a:r>
            <a:r>
              <a:rPr lang="en-US" sz="2800" spc="30" dirty="0" smtClean="0">
                <a:solidFill>
                  <a:srgbClr val="535353"/>
                </a:solidFill>
              </a:rPr>
              <a:t>of</a:t>
            </a:r>
            <a:r>
              <a:rPr lang="en-US" sz="2800" spc="-330" dirty="0" smtClean="0">
                <a:solidFill>
                  <a:srgbClr val="535353"/>
                </a:solidFill>
              </a:rPr>
              <a:t> </a:t>
            </a:r>
            <a:r>
              <a:rPr lang="en-US" sz="2800" spc="10" dirty="0" smtClean="0">
                <a:solidFill>
                  <a:srgbClr val="535353"/>
                </a:solidFill>
              </a:rPr>
              <a:t>Classification</a:t>
            </a:r>
            <a:endParaRPr lang="en-US" sz="2800" dirty="0"/>
          </a:p>
        </p:txBody>
      </p:sp>
      <p:sp>
        <p:nvSpPr>
          <p:cNvPr id="28" name="object 12"/>
          <p:cNvSpPr/>
          <p:nvPr/>
        </p:nvSpPr>
        <p:spPr>
          <a:xfrm>
            <a:off x="1030510" y="2048298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/>
          <p:cNvSpPr/>
          <p:nvPr/>
        </p:nvSpPr>
        <p:spPr>
          <a:xfrm>
            <a:off x="1030510" y="2709652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1030510" y="3358479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711196" y="3994079"/>
            <a:ext cx="3830653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2"/>
          <p:cNvSpPr/>
          <p:nvPr/>
        </p:nvSpPr>
        <p:spPr>
          <a:xfrm>
            <a:off x="1030510" y="4615724"/>
            <a:ext cx="2925394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>
            <a:spLocks/>
          </p:cNvSpPr>
          <p:nvPr/>
        </p:nvSpPr>
        <p:spPr>
          <a:xfrm>
            <a:off x="422595" y="1924849"/>
            <a:ext cx="4141223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5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Logistic</a:t>
            </a:r>
            <a:r>
              <a:rPr lang="en-US" spc="-6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Regression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dirty="0" smtClean="0">
                <a:solidFill>
                  <a:schemeClr val="bg1"/>
                </a:solidFill>
              </a:rPr>
              <a:t>Decision </a:t>
            </a:r>
            <a:r>
              <a:rPr lang="en-US" spc="-15" dirty="0" smtClean="0">
                <a:solidFill>
                  <a:schemeClr val="bg1"/>
                </a:solidFill>
              </a:rPr>
              <a:t>Tree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  </a:t>
            </a:r>
            <a:r>
              <a:rPr lang="en-US" spc="5" dirty="0" smtClean="0">
                <a:solidFill>
                  <a:schemeClr val="bg1"/>
                </a:solidFill>
              </a:rPr>
              <a:t>Random</a:t>
            </a:r>
            <a:r>
              <a:rPr lang="en-US" spc="-12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Forest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10" dirty="0" smtClean="0">
                <a:solidFill>
                  <a:schemeClr val="bg1"/>
                </a:solidFill>
              </a:rPr>
              <a:t>K- </a:t>
            </a:r>
            <a:r>
              <a:rPr lang="en-US" spc="5" dirty="0" smtClean="0">
                <a:solidFill>
                  <a:schemeClr val="bg1"/>
                </a:solidFill>
              </a:rPr>
              <a:t>Nearest</a:t>
            </a:r>
            <a:r>
              <a:rPr lang="en-US" spc="-145" dirty="0" smtClean="0">
                <a:solidFill>
                  <a:schemeClr val="bg1"/>
                </a:solidFill>
              </a:rPr>
              <a:t> </a:t>
            </a:r>
            <a:r>
              <a:rPr lang="en-US" spc="-5" dirty="0" smtClean="0">
                <a:solidFill>
                  <a:schemeClr val="bg1"/>
                </a:solidFill>
              </a:rPr>
              <a:t>Neighbor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Naïve</a:t>
            </a:r>
            <a:r>
              <a:rPr lang="en-US" spc="-50" dirty="0" smtClean="0">
                <a:solidFill>
                  <a:schemeClr val="bg1"/>
                </a:solidFill>
              </a:rPr>
              <a:t> </a:t>
            </a:r>
            <a:r>
              <a:rPr lang="en-US" spc="-20" dirty="0" smtClean="0">
                <a:solidFill>
                  <a:schemeClr val="bg1"/>
                </a:solidFill>
              </a:rPr>
              <a:t>Byes</a:t>
            </a:r>
            <a:endParaRPr lang="en-US" spc="-20" dirty="0">
              <a:solidFill>
                <a:schemeClr val="bg1"/>
              </a:solidFill>
            </a:endParaRPr>
          </a:p>
        </p:txBody>
      </p:sp>
      <p:sp>
        <p:nvSpPr>
          <p:cNvPr id="13" name="object 18"/>
          <p:cNvSpPr txBox="1"/>
          <p:nvPr/>
        </p:nvSpPr>
        <p:spPr>
          <a:xfrm>
            <a:off x="5069645" y="3160757"/>
            <a:ext cx="2310626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30" dirty="0">
                <a:solidFill>
                  <a:srgbClr val="535353"/>
                </a:solidFill>
                <a:latin typeface="Arial"/>
                <a:cs typeface="Arial"/>
              </a:rPr>
              <a:t>For</a:t>
            </a:r>
            <a:r>
              <a:rPr b="1" spc="-17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b="1" spc="25" dirty="0">
                <a:solidFill>
                  <a:srgbClr val="535353"/>
                </a:solidFill>
                <a:latin typeface="Arial"/>
                <a:cs typeface="Arial"/>
              </a:rPr>
              <a:t>example,</a:t>
            </a:r>
            <a:endParaRPr dirty="0">
              <a:latin typeface="Arial"/>
              <a:cs typeface="Arial"/>
            </a:endParaRPr>
          </a:p>
        </p:txBody>
      </p:sp>
      <p:sp>
        <p:nvSpPr>
          <p:cNvPr id="14" name="object 20"/>
          <p:cNvSpPr/>
          <p:nvPr/>
        </p:nvSpPr>
        <p:spPr>
          <a:xfrm>
            <a:off x="6224958" y="3652561"/>
            <a:ext cx="4631728" cy="2806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7"/>
          <p:cNvSpPr txBox="1">
            <a:spLocks/>
          </p:cNvSpPr>
          <p:nvPr/>
        </p:nvSpPr>
        <p:spPr>
          <a:xfrm>
            <a:off x="5470891" y="1462751"/>
            <a:ext cx="5676079" cy="508088"/>
          </a:xfrm>
          <a:prstGeom prst="rect">
            <a:avLst/>
          </a:prstGeom>
        </p:spPr>
        <p:txBody>
          <a:bodyPr vert="horz" wrap="square" lIns="0" tIns="5715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33144" marR="5080" indent="-1020444">
              <a:lnSpc>
                <a:spcPct val="102499"/>
              </a:lnSpc>
              <a:spcBef>
                <a:spcPts val="45"/>
              </a:spcBef>
            </a:pPr>
            <a:r>
              <a:rPr lang="en-US" sz="1600" b="0" dirty="0" smtClean="0">
                <a:solidFill>
                  <a:srgbClr val="002060"/>
                </a:solidFill>
                <a:latin typeface="Arial"/>
                <a:cs typeface="Arial"/>
              </a:rPr>
              <a:t>“</a:t>
            </a:r>
            <a:r>
              <a:rPr lang="en-US" sz="1600" dirty="0" smtClean="0">
                <a:solidFill>
                  <a:srgbClr val="002060"/>
                </a:solidFill>
              </a:rPr>
              <a:t>KNN </a:t>
            </a:r>
            <a:r>
              <a:rPr lang="en-US" sz="1600" spc="20" dirty="0" smtClean="0">
                <a:solidFill>
                  <a:srgbClr val="002060"/>
                </a:solidFill>
              </a:rPr>
              <a:t>algorithms </a:t>
            </a:r>
            <a:r>
              <a:rPr lang="en-US" sz="1600" spc="-200" dirty="0" smtClean="0">
                <a:solidFill>
                  <a:srgbClr val="002060"/>
                </a:solidFill>
              </a:rPr>
              <a:t> </a:t>
            </a:r>
            <a:r>
              <a:rPr lang="en-US" sz="1600" b="0" spc="5" dirty="0" smtClean="0">
                <a:solidFill>
                  <a:srgbClr val="002060"/>
                </a:solidFill>
                <a:latin typeface="Arial"/>
                <a:cs typeface="Arial"/>
              </a:rPr>
              <a:t>use</a:t>
            </a:r>
            <a:r>
              <a:rPr lang="en-US" sz="1600" b="0" spc="-70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600" b="0" spc="15" dirty="0" smtClean="0">
                <a:solidFill>
                  <a:srgbClr val="002060"/>
                </a:solidFill>
                <a:latin typeface="Arial"/>
                <a:cs typeface="Arial"/>
              </a:rPr>
              <a:t>a</a:t>
            </a:r>
            <a:r>
              <a:rPr lang="en-US" sz="1600" b="0" spc="-60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600" b="0" dirty="0" smtClean="0">
                <a:solidFill>
                  <a:srgbClr val="002060"/>
                </a:solidFill>
                <a:latin typeface="Arial"/>
                <a:cs typeface="Arial"/>
              </a:rPr>
              <a:t>data</a:t>
            </a:r>
            <a:r>
              <a:rPr lang="en-US" sz="1600" b="0" spc="-60" dirty="0" smtClean="0">
                <a:solidFill>
                  <a:srgbClr val="002060"/>
                </a:solidFill>
                <a:latin typeface="Arial"/>
                <a:cs typeface="Arial"/>
              </a:rPr>
              <a:t>  </a:t>
            </a:r>
            <a:r>
              <a:rPr lang="en-US" sz="1600" b="0" spc="-15" dirty="0" smtClean="0">
                <a:solidFill>
                  <a:srgbClr val="002060"/>
                </a:solidFill>
                <a:latin typeface="Arial"/>
                <a:cs typeface="Arial"/>
              </a:rPr>
              <a:t>and</a:t>
            </a:r>
            <a:r>
              <a:rPr lang="en-US" sz="1600" b="0" spc="80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600" b="0" spc="15" dirty="0" smtClean="0">
                <a:solidFill>
                  <a:srgbClr val="002060"/>
                </a:solidFill>
                <a:latin typeface="Arial"/>
                <a:cs typeface="Arial"/>
              </a:rPr>
              <a:t>classify </a:t>
            </a:r>
            <a:r>
              <a:rPr lang="en-US" sz="1600" b="0" spc="-204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600" b="0" spc="10" dirty="0" smtClean="0">
                <a:solidFill>
                  <a:srgbClr val="002060"/>
                </a:solidFill>
                <a:latin typeface="Arial"/>
                <a:cs typeface="Arial"/>
              </a:rPr>
              <a:t>new</a:t>
            </a:r>
            <a:r>
              <a:rPr lang="en-US" sz="1600" b="0" spc="-75" dirty="0" smtClean="0">
                <a:solidFill>
                  <a:srgbClr val="002060"/>
                </a:solidFill>
                <a:latin typeface="Arial"/>
                <a:cs typeface="Arial"/>
              </a:rPr>
              <a:t>  </a:t>
            </a:r>
            <a:r>
              <a:rPr lang="en-US" sz="1600" b="0" dirty="0" smtClean="0">
                <a:solidFill>
                  <a:srgbClr val="002060"/>
                </a:solidFill>
                <a:latin typeface="Arial"/>
                <a:cs typeface="Arial"/>
              </a:rPr>
              <a:t>data</a:t>
            </a:r>
            <a:r>
              <a:rPr lang="en-US" sz="1600" b="0" spc="10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600" b="0" spc="5" dirty="0" smtClean="0">
                <a:solidFill>
                  <a:srgbClr val="002060"/>
                </a:solidFill>
                <a:latin typeface="Arial"/>
                <a:cs typeface="Arial"/>
              </a:rPr>
              <a:t>points  </a:t>
            </a:r>
            <a:r>
              <a:rPr lang="en-US" sz="1600" b="0" spc="20" dirty="0" smtClean="0">
                <a:solidFill>
                  <a:srgbClr val="002060"/>
                </a:solidFill>
                <a:latin typeface="Arial"/>
                <a:cs typeface="Arial"/>
              </a:rPr>
              <a:t>based </a:t>
            </a:r>
            <a:r>
              <a:rPr lang="en-US" sz="1600" b="0" spc="25" dirty="0" smtClean="0">
                <a:solidFill>
                  <a:srgbClr val="002060"/>
                </a:solidFill>
                <a:latin typeface="Arial"/>
                <a:cs typeface="Arial"/>
              </a:rPr>
              <a:t>on </a:t>
            </a:r>
            <a:r>
              <a:rPr lang="en-US" sz="1600" b="0" spc="15" dirty="0" smtClean="0">
                <a:solidFill>
                  <a:srgbClr val="002060"/>
                </a:solidFill>
                <a:latin typeface="Arial"/>
                <a:cs typeface="Arial"/>
              </a:rPr>
              <a:t>a</a:t>
            </a:r>
            <a:r>
              <a:rPr lang="en-US" sz="1600" b="0" spc="-285" dirty="0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1600" b="0" spc="-5" dirty="0" smtClean="0">
                <a:solidFill>
                  <a:srgbClr val="002060"/>
                </a:solidFill>
                <a:latin typeface="Arial"/>
                <a:cs typeface="Arial"/>
              </a:rPr>
              <a:t>similarity  </a:t>
            </a:r>
            <a:r>
              <a:rPr lang="en-US" sz="1600" b="0" spc="15" dirty="0" smtClean="0">
                <a:solidFill>
                  <a:srgbClr val="002060"/>
                </a:solidFill>
                <a:latin typeface="Arial"/>
                <a:cs typeface="Arial"/>
              </a:rPr>
              <a:t>measures”</a:t>
            </a:r>
            <a:endParaRPr lang="en-US" sz="16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92822" y="2138966"/>
            <a:ext cx="6096000" cy="93435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52100"/>
              </a:lnSpc>
              <a:spcBef>
                <a:spcPts val="95"/>
              </a:spcBef>
            </a:pPr>
            <a:r>
              <a:rPr lang="en-US" spc="5" dirty="0" smtClean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lang="en-US" spc="-5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30" dirty="0" smtClean="0">
                <a:solidFill>
                  <a:srgbClr val="595959"/>
                </a:solidFill>
                <a:latin typeface="Arial"/>
                <a:cs typeface="Arial"/>
              </a:rPr>
              <a:t>“K”</a:t>
            </a:r>
            <a:r>
              <a:rPr lang="en-US" b="1" spc="-12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 smtClean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lang="en-US" spc="2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5" dirty="0" smtClean="0">
                <a:solidFill>
                  <a:srgbClr val="595959"/>
                </a:solidFill>
                <a:latin typeface="Arial"/>
                <a:cs typeface="Arial"/>
              </a:rPr>
              <a:t>KNN</a:t>
            </a:r>
            <a:r>
              <a:rPr lang="en-US" spc="1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 smtClean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r>
              <a:rPr lang="en-US" spc="-7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 smtClean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lang="en-US" spc="2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5" dirty="0" smtClean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lang="en-US" spc="2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5" dirty="0" smtClean="0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r>
              <a:rPr lang="en-US" spc="-11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5" dirty="0" smtClean="0">
                <a:solidFill>
                  <a:srgbClr val="595959"/>
                </a:solidFill>
                <a:latin typeface="Arial"/>
                <a:cs typeface="Arial"/>
              </a:rPr>
              <a:t>neighbors</a:t>
            </a:r>
            <a:r>
              <a:rPr lang="en-US" spc="-1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0" dirty="0" smtClean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lang="en-US" spc="2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595959"/>
                </a:solidFill>
                <a:latin typeface="Arial"/>
                <a:cs typeface="Arial"/>
              </a:rPr>
              <a:t>wish</a:t>
            </a:r>
            <a:r>
              <a:rPr lang="en-US" spc="1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 smtClean="0">
                <a:solidFill>
                  <a:srgbClr val="595959"/>
                </a:solidFill>
                <a:latin typeface="Arial"/>
                <a:cs typeface="Arial"/>
              </a:rPr>
              <a:t>to  </a:t>
            </a:r>
            <a:r>
              <a:rPr lang="en-US" spc="-15" dirty="0" smtClean="0">
                <a:solidFill>
                  <a:srgbClr val="595959"/>
                </a:solidFill>
                <a:latin typeface="Arial"/>
                <a:cs typeface="Arial"/>
              </a:rPr>
              <a:t>take </a:t>
            </a:r>
            <a:r>
              <a:rPr lang="en-US" dirty="0" smtClean="0">
                <a:solidFill>
                  <a:srgbClr val="595959"/>
                </a:solidFill>
                <a:latin typeface="Arial"/>
                <a:cs typeface="Arial"/>
              </a:rPr>
              <a:t>vote</a:t>
            </a:r>
            <a:r>
              <a:rPr lang="en-US" spc="4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20" dirty="0" smtClean="0">
                <a:solidFill>
                  <a:srgbClr val="595959"/>
                </a:solidFill>
                <a:latin typeface="Arial"/>
                <a:cs typeface="Arial"/>
              </a:rPr>
              <a:t>from.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7026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Types of  Classification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470892" y="6644421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3104373" y="3246840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5356" y="1323682"/>
            <a:ext cx="3362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10" dirty="0" smtClean="0">
                <a:solidFill>
                  <a:srgbClr val="535353"/>
                </a:solidFill>
              </a:rPr>
              <a:t>Types </a:t>
            </a:r>
            <a:r>
              <a:rPr lang="en-US" sz="2800" spc="30" dirty="0" smtClean="0">
                <a:solidFill>
                  <a:srgbClr val="535353"/>
                </a:solidFill>
              </a:rPr>
              <a:t>of</a:t>
            </a:r>
            <a:r>
              <a:rPr lang="en-US" sz="2800" spc="-330" dirty="0" smtClean="0">
                <a:solidFill>
                  <a:srgbClr val="535353"/>
                </a:solidFill>
              </a:rPr>
              <a:t> </a:t>
            </a:r>
            <a:r>
              <a:rPr lang="en-US" sz="2800" spc="10" dirty="0" smtClean="0">
                <a:solidFill>
                  <a:srgbClr val="535353"/>
                </a:solidFill>
              </a:rPr>
              <a:t>Classification</a:t>
            </a:r>
            <a:endParaRPr lang="en-US" sz="2800" dirty="0"/>
          </a:p>
        </p:txBody>
      </p:sp>
      <p:sp>
        <p:nvSpPr>
          <p:cNvPr id="28" name="object 12"/>
          <p:cNvSpPr/>
          <p:nvPr/>
        </p:nvSpPr>
        <p:spPr>
          <a:xfrm>
            <a:off x="1030510" y="2048298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/>
          <p:cNvSpPr/>
          <p:nvPr/>
        </p:nvSpPr>
        <p:spPr>
          <a:xfrm>
            <a:off x="1030510" y="2709652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1030510" y="3358479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711196" y="3994079"/>
            <a:ext cx="3830653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2"/>
          <p:cNvSpPr/>
          <p:nvPr/>
        </p:nvSpPr>
        <p:spPr>
          <a:xfrm>
            <a:off x="1030510" y="4615724"/>
            <a:ext cx="2925394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>
            <a:spLocks/>
          </p:cNvSpPr>
          <p:nvPr/>
        </p:nvSpPr>
        <p:spPr>
          <a:xfrm>
            <a:off x="422595" y="1924849"/>
            <a:ext cx="4141223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5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Logistic</a:t>
            </a:r>
            <a:r>
              <a:rPr lang="en-US" spc="-6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Regression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dirty="0" smtClean="0">
                <a:solidFill>
                  <a:schemeClr val="bg1"/>
                </a:solidFill>
              </a:rPr>
              <a:t>Decision </a:t>
            </a:r>
            <a:r>
              <a:rPr lang="en-US" spc="-15" dirty="0" smtClean="0">
                <a:solidFill>
                  <a:schemeClr val="bg1"/>
                </a:solidFill>
              </a:rPr>
              <a:t>Tree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  </a:t>
            </a:r>
            <a:r>
              <a:rPr lang="en-US" spc="5" dirty="0" smtClean="0">
                <a:solidFill>
                  <a:schemeClr val="bg1"/>
                </a:solidFill>
              </a:rPr>
              <a:t>Random</a:t>
            </a:r>
            <a:r>
              <a:rPr lang="en-US" spc="-12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Forest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10" dirty="0" smtClean="0">
                <a:solidFill>
                  <a:schemeClr val="bg1"/>
                </a:solidFill>
              </a:rPr>
              <a:t>K- </a:t>
            </a:r>
            <a:r>
              <a:rPr lang="en-US" spc="5" dirty="0" smtClean="0">
                <a:solidFill>
                  <a:schemeClr val="bg1"/>
                </a:solidFill>
              </a:rPr>
              <a:t>Nearest</a:t>
            </a:r>
            <a:r>
              <a:rPr lang="en-US" spc="-145" dirty="0" smtClean="0">
                <a:solidFill>
                  <a:schemeClr val="bg1"/>
                </a:solidFill>
              </a:rPr>
              <a:t> </a:t>
            </a:r>
            <a:r>
              <a:rPr lang="en-US" spc="-5" dirty="0" smtClean="0">
                <a:solidFill>
                  <a:schemeClr val="bg1"/>
                </a:solidFill>
              </a:rPr>
              <a:t>Neighbor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Naïve</a:t>
            </a:r>
            <a:r>
              <a:rPr lang="en-US" spc="-50" dirty="0" smtClean="0">
                <a:solidFill>
                  <a:schemeClr val="bg1"/>
                </a:solidFill>
              </a:rPr>
              <a:t> </a:t>
            </a:r>
            <a:r>
              <a:rPr lang="en-US" spc="-20" dirty="0" smtClean="0">
                <a:solidFill>
                  <a:schemeClr val="bg1"/>
                </a:solidFill>
              </a:rPr>
              <a:t>Byes</a:t>
            </a:r>
            <a:endParaRPr lang="en-US" spc="-20" dirty="0">
              <a:solidFill>
                <a:schemeClr val="bg1"/>
              </a:solidFill>
            </a:endParaRPr>
          </a:p>
        </p:txBody>
      </p:sp>
      <p:sp>
        <p:nvSpPr>
          <p:cNvPr id="13" name="object 17"/>
          <p:cNvSpPr txBox="1"/>
          <p:nvPr/>
        </p:nvSpPr>
        <p:spPr>
          <a:xfrm>
            <a:off x="4799349" y="1646289"/>
            <a:ext cx="6929698" cy="1232389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374650" indent="-362585">
              <a:lnSpc>
                <a:spcPct val="100000"/>
              </a:lnSpc>
              <a:spcBef>
                <a:spcPts val="970"/>
              </a:spcBef>
              <a:buFont typeface="Wingdings"/>
              <a:buChar char=""/>
              <a:tabLst>
                <a:tab pos="374650" algn="l"/>
                <a:tab pos="375285" algn="l"/>
              </a:tabLst>
            </a:pPr>
            <a:r>
              <a:rPr b="0" spc="50" dirty="0">
                <a:solidFill>
                  <a:srgbClr val="002060"/>
                </a:solidFill>
                <a:latin typeface="Segoe UI Semilight"/>
                <a:cs typeface="Segoe UI Semilight"/>
              </a:rPr>
              <a:t>Classification</a:t>
            </a:r>
            <a:r>
              <a:rPr b="0" spc="-175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35" dirty="0">
                <a:solidFill>
                  <a:srgbClr val="002060"/>
                </a:solidFill>
                <a:latin typeface="Segoe UI Semilight"/>
                <a:cs typeface="Segoe UI Semilight"/>
              </a:rPr>
              <a:t>based</a:t>
            </a:r>
            <a:r>
              <a:rPr b="0" spc="-125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40" dirty="0">
                <a:solidFill>
                  <a:srgbClr val="002060"/>
                </a:solidFill>
                <a:latin typeface="Segoe UI Semilight"/>
                <a:cs typeface="Segoe UI Semilight"/>
              </a:rPr>
              <a:t>on</a:t>
            </a:r>
            <a:r>
              <a:rPr b="0" spc="55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45" dirty="0">
                <a:solidFill>
                  <a:srgbClr val="002060"/>
                </a:solidFill>
                <a:latin typeface="Segoe UI Semilight"/>
                <a:cs typeface="Segoe UI Semilight"/>
              </a:rPr>
              <a:t>Bayes'</a:t>
            </a:r>
            <a:r>
              <a:rPr b="0" spc="-80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40" dirty="0">
                <a:solidFill>
                  <a:srgbClr val="002060"/>
                </a:solidFill>
                <a:latin typeface="Segoe UI Semilight"/>
                <a:cs typeface="Segoe UI Semilight"/>
              </a:rPr>
              <a:t>Theorem</a:t>
            </a:r>
            <a:endParaRPr dirty="0">
              <a:solidFill>
                <a:srgbClr val="002060"/>
              </a:solidFill>
              <a:latin typeface="Segoe UI Semilight"/>
              <a:cs typeface="Segoe UI Semilight"/>
            </a:endParaRPr>
          </a:p>
          <a:p>
            <a:pPr marL="374650" marR="5080" indent="-362585">
              <a:lnSpc>
                <a:spcPct val="149800"/>
              </a:lnSpc>
              <a:spcBef>
                <a:spcPts val="35"/>
              </a:spcBef>
              <a:buFont typeface="Wingdings"/>
              <a:buChar char=""/>
              <a:tabLst>
                <a:tab pos="374650" algn="l"/>
                <a:tab pos="375285" algn="l"/>
              </a:tabLst>
            </a:pPr>
            <a:r>
              <a:rPr b="1" spc="5" dirty="0">
                <a:solidFill>
                  <a:schemeClr val="accent2"/>
                </a:solidFill>
                <a:latin typeface="Segoe UI Semibold"/>
                <a:cs typeface="Segoe UI Semibold"/>
              </a:rPr>
              <a:t>Assumption:</a:t>
            </a:r>
            <a:r>
              <a:rPr b="1" spc="-125" dirty="0">
                <a:solidFill>
                  <a:schemeClr val="accent2"/>
                </a:solidFill>
                <a:latin typeface="Segoe UI Semibold"/>
                <a:cs typeface="Segoe UI Semibold"/>
              </a:rPr>
              <a:t> </a:t>
            </a:r>
            <a:r>
              <a:rPr b="0" spc="35" dirty="0">
                <a:solidFill>
                  <a:srgbClr val="002060"/>
                </a:solidFill>
                <a:latin typeface="Segoe UI Semilight"/>
                <a:cs typeface="Segoe UI Semilight"/>
              </a:rPr>
              <a:t>Presence</a:t>
            </a:r>
            <a:r>
              <a:rPr b="0" spc="-95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45" dirty="0">
                <a:solidFill>
                  <a:srgbClr val="002060"/>
                </a:solidFill>
                <a:latin typeface="Segoe UI Semilight"/>
                <a:cs typeface="Segoe UI Semilight"/>
              </a:rPr>
              <a:t>of</a:t>
            </a:r>
            <a:r>
              <a:rPr b="0" spc="20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40" dirty="0">
                <a:solidFill>
                  <a:srgbClr val="002060"/>
                </a:solidFill>
                <a:latin typeface="Segoe UI Semilight"/>
                <a:cs typeface="Segoe UI Semilight"/>
              </a:rPr>
              <a:t>a</a:t>
            </a:r>
            <a:r>
              <a:rPr b="0" spc="-15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55" dirty="0">
                <a:solidFill>
                  <a:srgbClr val="002060"/>
                </a:solidFill>
                <a:latin typeface="Segoe UI Semilight"/>
                <a:cs typeface="Segoe UI Semilight"/>
              </a:rPr>
              <a:t>particular</a:t>
            </a:r>
            <a:r>
              <a:rPr b="0" spc="-165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55" dirty="0">
                <a:solidFill>
                  <a:srgbClr val="002060"/>
                </a:solidFill>
                <a:latin typeface="Segoe UI Semilight"/>
                <a:cs typeface="Segoe UI Semilight"/>
              </a:rPr>
              <a:t>feature</a:t>
            </a:r>
            <a:r>
              <a:rPr b="0" spc="-175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55" dirty="0">
                <a:solidFill>
                  <a:srgbClr val="002060"/>
                </a:solidFill>
                <a:latin typeface="Segoe UI Semilight"/>
                <a:cs typeface="Segoe UI Semilight"/>
              </a:rPr>
              <a:t>in</a:t>
            </a:r>
            <a:r>
              <a:rPr b="0" spc="-15" dirty="0">
                <a:solidFill>
                  <a:srgbClr val="002060"/>
                </a:solidFill>
                <a:latin typeface="Segoe UI Semilight"/>
                <a:cs typeface="Segoe UI Semilight"/>
              </a:rPr>
              <a:t> </a:t>
            </a:r>
            <a:r>
              <a:rPr b="0" spc="40" dirty="0">
                <a:solidFill>
                  <a:srgbClr val="002060"/>
                </a:solidFill>
                <a:latin typeface="Segoe UI Semilight"/>
                <a:cs typeface="Segoe UI Semilight"/>
              </a:rPr>
              <a:t>a  class </a:t>
            </a:r>
            <a:r>
              <a:rPr b="0" spc="50" dirty="0">
                <a:solidFill>
                  <a:srgbClr val="002060"/>
                </a:solidFill>
                <a:latin typeface="Segoe UI Semilight"/>
                <a:cs typeface="Segoe UI Semilight"/>
              </a:rPr>
              <a:t>is </a:t>
            </a:r>
            <a:r>
              <a:rPr b="0" spc="45" dirty="0">
                <a:solidFill>
                  <a:srgbClr val="002060"/>
                </a:solidFill>
                <a:latin typeface="Segoe UI Semilight"/>
                <a:cs typeface="Segoe UI Semilight"/>
              </a:rPr>
              <a:t>not related </a:t>
            </a:r>
            <a:r>
              <a:rPr b="0" spc="60" dirty="0">
                <a:solidFill>
                  <a:srgbClr val="002060"/>
                </a:solidFill>
                <a:latin typeface="Segoe UI Semilight"/>
                <a:cs typeface="Segoe UI Semilight"/>
              </a:rPr>
              <a:t>to </a:t>
            </a:r>
            <a:r>
              <a:rPr b="0" spc="55" dirty="0">
                <a:solidFill>
                  <a:srgbClr val="002060"/>
                </a:solidFill>
                <a:latin typeface="Segoe UI Semilight"/>
                <a:cs typeface="Segoe UI Semilight"/>
              </a:rPr>
              <a:t>the </a:t>
            </a:r>
            <a:r>
              <a:rPr b="0" spc="30" dirty="0">
                <a:solidFill>
                  <a:srgbClr val="002060"/>
                </a:solidFill>
                <a:latin typeface="Segoe UI Semilight"/>
                <a:cs typeface="Segoe UI Semilight"/>
              </a:rPr>
              <a:t>presence </a:t>
            </a:r>
            <a:r>
              <a:rPr b="0" spc="45" dirty="0">
                <a:solidFill>
                  <a:srgbClr val="002060"/>
                </a:solidFill>
                <a:latin typeface="Segoe UI Semilight"/>
                <a:cs typeface="Segoe UI Semilight"/>
              </a:rPr>
              <a:t>of </a:t>
            </a:r>
            <a:r>
              <a:rPr b="0" spc="55" dirty="0">
                <a:solidFill>
                  <a:srgbClr val="002060"/>
                </a:solidFill>
                <a:latin typeface="Segoe UI Semilight"/>
                <a:cs typeface="Segoe UI Semilight"/>
              </a:rPr>
              <a:t>any </a:t>
            </a:r>
            <a:r>
              <a:rPr b="0" spc="45" dirty="0">
                <a:solidFill>
                  <a:srgbClr val="002060"/>
                </a:solidFill>
                <a:latin typeface="Segoe UI Semilight"/>
                <a:cs typeface="Segoe UI Semilight"/>
              </a:rPr>
              <a:t>other  </a:t>
            </a:r>
            <a:r>
              <a:rPr b="0" spc="55" dirty="0">
                <a:solidFill>
                  <a:srgbClr val="002060"/>
                </a:solidFill>
                <a:latin typeface="Segoe UI Semilight"/>
                <a:cs typeface="Segoe UI Semilight"/>
              </a:rPr>
              <a:t>feature</a:t>
            </a:r>
            <a:endParaRPr dirty="0">
              <a:solidFill>
                <a:srgbClr val="002060"/>
              </a:solidFill>
              <a:latin typeface="Segoe UI Semilight"/>
              <a:cs typeface="Segoe UI Semilight"/>
            </a:endParaRPr>
          </a:p>
        </p:txBody>
      </p:sp>
      <p:sp>
        <p:nvSpPr>
          <p:cNvPr id="14" name="object 18"/>
          <p:cNvSpPr/>
          <p:nvPr/>
        </p:nvSpPr>
        <p:spPr>
          <a:xfrm>
            <a:off x="5577494" y="3617246"/>
            <a:ext cx="4379305" cy="21739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4600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Types of  Classification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470892" y="6644421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3104373" y="3246840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5356" y="1323682"/>
            <a:ext cx="3362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10" dirty="0" smtClean="0">
                <a:solidFill>
                  <a:srgbClr val="535353"/>
                </a:solidFill>
              </a:rPr>
              <a:t>Types </a:t>
            </a:r>
            <a:r>
              <a:rPr lang="en-US" sz="2800" spc="30" dirty="0" smtClean="0">
                <a:solidFill>
                  <a:srgbClr val="535353"/>
                </a:solidFill>
              </a:rPr>
              <a:t>of</a:t>
            </a:r>
            <a:r>
              <a:rPr lang="en-US" sz="2800" spc="-330" dirty="0" smtClean="0">
                <a:solidFill>
                  <a:srgbClr val="535353"/>
                </a:solidFill>
              </a:rPr>
              <a:t> </a:t>
            </a:r>
            <a:r>
              <a:rPr lang="en-US" sz="2800" spc="10" dirty="0" smtClean="0">
                <a:solidFill>
                  <a:srgbClr val="535353"/>
                </a:solidFill>
              </a:rPr>
              <a:t>Classification</a:t>
            </a:r>
            <a:endParaRPr lang="en-US" sz="2800" dirty="0"/>
          </a:p>
        </p:txBody>
      </p:sp>
      <p:sp>
        <p:nvSpPr>
          <p:cNvPr id="28" name="object 12"/>
          <p:cNvSpPr/>
          <p:nvPr/>
        </p:nvSpPr>
        <p:spPr>
          <a:xfrm>
            <a:off x="1030510" y="2048298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/>
          <p:cNvSpPr/>
          <p:nvPr/>
        </p:nvSpPr>
        <p:spPr>
          <a:xfrm>
            <a:off x="1030510" y="2709652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1030510" y="3358479"/>
            <a:ext cx="3045885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711196" y="3994079"/>
            <a:ext cx="3830653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2"/>
          <p:cNvSpPr/>
          <p:nvPr/>
        </p:nvSpPr>
        <p:spPr>
          <a:xfrm>
            <a:off x="1030510" y="4615724"/>
            <a:ext cx="2925394" cy="505459"/>
          </a:xfrm>
          <a:custGeom>
            <a:avLst/>
            <a:gdLst/>
            <a:ahLst/>
            <a:cxnLst/>
            <a:rect l="l" t="t" r="r" b="b"/>
            <a:pathLst>
              <a:path w="2791459" h="505459">
                <a:moveTo>
                  <a:pt x="2707020" y="0"/>
                </a:moveTo>
                <a:lnTo>
                  <a:pt x="84216" y="0"/>
                </a:lnTo>
                <a:lnTo>
                  <a:pt x="51396" y="6622"/>
                </a:lnTo>
                <a:lnTo>
                  <a:pt x="24631" y="24677"/>
                </a:lnTo>
                <a:lnTo>
                  <a:pt x="6605" y="51447"/>
                </a:lnTo>
                <a:lnTo>
                  <a:pt x="0" y="84216"/>
                </a:lnTo>
                <a:lnTo>
                  <a:pt x="0" y="421142"/>
                </a:lnTo>
                <a:lnTo>
                  <a:pt x="6605" y="453905"/>
                </a:lnTo>
                <a:lnTo>
                  <a:pt x="24631" y="480665"/>
                </a:lnTo>
                <a:lnTo>
                  <a:pt x="51396" y="498710"/>
                </a:lnTo>
                <a:lnTo>
                  <a:pt x="84216" y="505327"/>
                </a:lnTo>
                <a:lnTo>
                  <a:pt x="2707020" y="505327"/>
                </a:lnTo>
                <a:lnTo>
                  <a:pt x="2739859" y="498710"/>
                </a:lnTo>
                <a:lnTo>
                  <a:pt x="2766665" y="480665"/>
                </a:lnTo>
                <a:lnTo>
                  <a:pt x="2784734" y="453905"/>
                </a:lnTo>
                <a:lnTo>
                  <a:pt x="2791358" y="421142"/>
                </a:lnTo>
                <a:lnTo>
                  <a:pt x="2791358" y="84216"/>
                </a:lnTo>
                <a:lnTo>
                  <a:pt x="2784734" y="51447"/>
                </a:lnTo>
                <a:lnTo>
                  <a:pt x="2766665" y="24677"/>
                </a:lnTo>
                <a:lnTo>
                  <a:pt x="2739859" y="6622"/>
                </a:lnTo>
                <a:lnTo>
                  <a:pt x="270702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/>
          <p:cNvSpPr txBox="1">
            <a:spLocks/>
          </p:cNvSpPr>
          <p:nvPr/>
        </p:nvSpPr>
        <p:spPr>
          <a:xfrm>
            <a:off x="422595" y="1924849"/>
            <a:ext cx="4141223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5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Logistic</a:t>
            </a:r>
            <a:r>
              <a:rPr lang="en-US" spc="-6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Regression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dirty="0" smtClean="0">
                <a:solidFill>
                  <a:schemeClr val="bg1"/>
                </a:solidFill>
              </a:rPr>
              <a:t>Decision </a:t>
            </a:r>
            <a:r>
              <a:rPr lang="en-US" spc="-15" dirty="0" smtClean="0">
                <a:solidFill>
                  <a:schemeClr val="bg1"/>
                </a:solidFill>
              </a:rPr>
              <a:t>Tree</a:t>
            </a:r>
          </a:p>
          <a:p>
            <a:pPr marL="307975" marR="301625" indent="6985" algn="ctr">
              <a:lnSpc>
                <a:spcPct val="150000"/>
              </a:lnSpc>
              <a:spcBef>
                <a:spcPts val="114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  </a:t>
            </a:r>
            <a:r>
              <a:rPr lang="en-US" spc="5" dirty="0" smtClean="0">
                <a:solidFill>
                  <a:schemeClr val="bg1"/>
                </a:solidFill>
              </a:rPr>
              <a:t>Random</a:t>
            </a:r>
            <a:r>
              <a:rPr lang="en-US" spc="-120" dirty="0" smtClean="0">
                <a:solidFill>
                  <a:schemeClr val="bg1"/>
                </a:solidFill>
              </a:rPr>
              <a:t> </a:t>
            </a:r>
            <a:r>
              <a:rPr lang="en-US" spc="5" dirty="0" smtClean="0">
                <a:solidFill>
                  <a:schemeClr val="bg1"/>
                </a:solidFill>
              </a:rPr>
              <a:t>Forest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10" dirty="0" smtClean="0">
                <a:solidFill>
                  <a:schemeClr val="bg1"/>
                </a:solidFill>
              </a:rPr>
              <a:t>K- </a:t>
            </a:r>
            <a:r>
              <a:rPr lang="en-US" spc="5" dirty="0" smtClean="0">
                <a:solidFill>
                  <a:schemeClr val="bg1"/>
                </a:solidFill>
              </a:rPr>
              <a:t>Nearest</a:t>
            </a:r>
            <a:r>
              <a:rPr lang="en-US" spc="-145" dirty="0" smtClean="0">
                <a:solidFill>
                  <a:schemeClr val="bg1"/>
                </a:solidFill>
              </a:rPr>
              <a:t> </a:t>
            </a:r>
            <a:r>
              <a:rPr lang="en-US" spc="-5" dirty="0" smtClean="0">
                <a:solidFill>
                  <a:schemeClr val="bg1"/>
                </a:solidFill>
              </a:rPr>
              <a:t>Neighbor</a:t>
            </a:r>
          </a:p>
          <a:p>
            <a:pPr marL="12700" marR="5080" algn="ctr">
              <a:lnSpc>
                <a:spcPct val="150000"/>
              </a:lnSpc>
              <a:spcBef>
                <a:spcPts val="4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Naïve</a:t>
            </a:r>
            <a:r>
              <a:rPr lang="en-US" spc="-50" dirty="0" smtClean="0">
                <a:solidFill>
                  <a:schemeClr val="bg1"/>
                </a:solidFill>
              </a:rPr>
              <a:t> </a:t>
            </a:r>
            <a:r>
              <a:rPr lang="en-US" spc="-20" dirty="0" smtClean="0">
                <a:solidFill>
                  <a:schemeClr val="bg1"/>
                </a:solidFill>
              </a:rPr>
              <a:t>Byes</a:t>
            </a:r>
            <a:endParaRPr lang="en-US" spc="-20" dirty="0">
              <a:solidFill>
                <a:schemeClr val="bg1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48651" y="4709712"/>
            <a:ext cx="4483467" cy="19517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70892" y="1272934"/>
            <a:ext cx="6140536" cy="1232389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374650" indent="-362585">
              <a:lnSpc>
                <a:spcPct val="100000"/>
              </a:lnSpc>
              <a:spcBef>
                <a:spcPts val="970"/>
              </a:spcBef>
              <a:buFont typeface="Wingdings"/>
              <a:buChar char=""/>
              <a:tabLst>
                <a:tab pos="374650" algn="l"/>
                <a:tab pos="375285" algn="l"/>
              </a:tabLst>
            </a:pPr>
            <a:r>
              <a:rPr b="0" spc="50" dirty="0">
                <a:solidFill>
                  <a:schemeClr val="tx2"/>
                </a:solidFill>
                <a:latin typeface="Segoe UI Semilight"/>
                <a:cs typeface="Segoe UI Semilight"/>
              </a:rPr>
              <a:t>Classification</a:t>
            </a:r>
            <a:r>
              <a:rPr b="0" spc="-175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35" dirty="0">
                <a:solidFill>
                  <a:schemeClr val="tx2"/>
                </a:solidFill>
                <a:latin typeface="Segoe UI Semilight"/>
                <a:cs typeface="Segoe UI Semilight"/>
              </a:rPr>
              <a:t>based</a:t>
            </a:r>
            <a:r>
              <a:rPr b="0" spc="-125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40" dirty="0">
                <a:solidFill>
                  <a:schemeClr val="tx2"/>
                </a:solidFill>
                <a:latin typeface="Segoe UI Semilight"/>
                <a:cs typeface="Segoe UI Semilight"/>
              </a:rPr>
              <a:t>on</a:t>
            </a:r>
            <a:r>
              <a:rPr b="0" spc="55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45" dirty="0">
                <a:solidFill>
                  <a:schemeClr val="tx2"/>
                </a:solidFill>
                <a:latin typeface="Segoe UI Semilight"/>
                <a:cs typeface="Segoe UI Semilight"/>
              </a:rPr>
              <a:t>Bayes'</a:t>
            </a:r>
            <a:r>
              <a:rPr b="0" spc="-80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40" dirty="0">
                <a:solidFill>
                  <a:schemeClr val="tx2"/>
                </a:solidFill>
                <a:latin typeface="Segoe UI Semilight"/>
                <a:cs typeface="Segoe UI Semilight"/>
              </a:rPr>
              <a:t>Theorem</a:t>
            </a:r>
            <a:endParaRPr dirty="0">
              <a:solidFill>
                <a:schemeClr val="tx2"/>
              </a:solidFill>
              <a:latin typeface="Segoe UI Semilight"/>
              <a:cs typeface="Segoe UI Semilight"/>
            </a:endParaRPr>
          </a:p>
          <a:p>
            <a:pPr marL="374650" marR="5080" indent="-362585">
              <a:lnSpc>
                <a:spcPct val="149900"/>
              </a:lnSpc>
              <a:spcBef>
                <a:spcPts val="35"/>
              </a:spcBef>
              <a:buFont typeface="Wingdings"/>
              <a:buChar char=""/>
              <a:tabLst>
                <a:tab pos="374650" algn="l"/>
                <a:tab pos="375285" algn="l"/>
              </a:tabLst>
            </a:pPr>
            <a:r>
              <a:rPr b="1" spc="5" dirty="0">
                <a:solidFill>
                  <a:schemeClr val="accent2"/>
                </a:solidFill>
                <a:latin typeface="Segoe UI Semibold"/>
                <a:cs typeface="Segoe UI Semibold"/>
              </a:rPr>
              <a:t>Assumption:</a:t>
            </a:r>
            <a:r>
              <a:rPr b="1" spc="-125" dirty="0">
                <a:solidFill>
                  <a:schemeClr val="accent2"/>
                </a:solidFill>
                <a:latin typeface="Segoe UI Semibold"/>
                <a:cs typeface="Segoe UI Semibold"/>
              </a:rPr>
              <a:t> </a:t>
            </a:r>
            <a:r>
              <a:rPr b="0" spc="35" dirty="0">
                <a:solidFill>
                  <a:schemeClr val="tx2"/>
                </a:solidFill>
                <a:latin typeface="Segoe UI Semilight"/>
                <a:cs typeface="Segoe UI Semilight"/>
              </a:rPr>
              <a:t>Presence</a:t>
            </a:r>
            <a:r>
              <a:rPr b="0" spc="-95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45" dirty="0">
                <a:solidFill>
                  <a:schemeClr val="tx2"/>
                </a:solidFill>
                <a:latin typeface="Segoe UI Semilight"/>
                <a:cs typeface="Segoe UI Semilight"/>
              </a:rPr>
              <a:t>of</a:t>
            </a:r>
            <a:r>
              <a:rPr b="0" spc="20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40" dirty="0">
                <a:solidFill>
                  <a:schemeClr val="tx2"/>
                </a:solidFill>
                <a:latin typeface="Segoe UI Semilight"/>
                <a:cs typeface="Segoe UI Semilight"/>
              </a:rPr>
              <a:t>a</a:t>
            </a:r>
            <a:r>
              <a:rPr b="0" spc="-15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55" dirty="0">
                <a:solidFill>
                  <a:schemeClr val="tx2"/>
                </a:solidFill>
                <a:latin typeface="Segoe UI Semilight"/>
                <a:cs typeface="Segoe UI Semilight"/>
              </a:rPr>
              <a:t>particular</a:t>
            </a:r>
            <a:r>
              <a:rPr b="0" spc="-165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55" dirty="0">
                <a:solidFill>
                  <a:schemeClr val="tx2"/>
                </a:solidFill>
                <a:latin typeface="Segoe UI Semilight"/>
                <a:cs typeface="Segoe UI Semilight"/>
              </a:rPr>
              <a:t>feature</a:t>
            </a:r>
            <a:r>
              <a:rPr b="0" spc="-175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55" dirty="0">
                <a:solidFill>
                  <a:schemeClr val="tx2"/>
                </a:solidFill>
                <a:latin typeface="Segoe UI Semilight"/>
                <a:cs typeface="Segoe UI Semilight"/>
              </a:rPr>
              <a:t>in</a:t>
            </a:r>
            <a:r>
              <a:rPr b="0" spc="-15" dirty="0">
                <a:solidFill>
                  <a:schemeClr val="tx2"/>
                </a:solidFill>
                <a:latin typeface="Segoe UI Semilight"/>
                <a:cs typeface="Segoe UI Semilight"/>
              </a:rPr>
              <a:t> </a:t>
            </a:r>
            <a:r>
              <a:rPr b="0" spc="40" dirty="0">
                <a:solidFill>
                  <a:schemeClr val="tx2"/>
                </a:solidFill>
                <a:latin typeface="Segoe UI Semilight"/>
                <a:cs typeface="Segoe UI Semilight"/>
              </a:rPr>
              <a:t>a  class </a:t>
            </a:r>
            <a:r>
              <a:rPr b="0" spc="50" dirty="0">
                <a:solidFill>
                  <a:schemeClr val="tx2"/>
                </a:solidFill>
                <a:latin typeface="Segoe UI Semilight"/>
                <a:cs typeface="Segoe UI Semilight"/>
              </a:rPr>
              <a:t>is </a:t>
            </a:r>
            <a:r>
              <a:rPr b="0" spc="45" dirty="0">
                <a:solidFill>
                  <a:schemeClr val="tx2"/>
                </a:solidFill>
                <a:latin typeface="Segoe UI Semilight"/>
                <a:cs typeface="Segoe UI Semilight"/>
              </a:rPr>
              <a:t>not related </a:t>
            </a:r>
            <a:r>
              <a:rPr b="0" spc="60" dirty="0">
                <a:solidFill>
                  <a:schemeClr val="tx2"/>
                </a:solidFill>
                <a:latin typeface="Segoe UI Semilight"/>
                <a:cs typeface="Segoe UI Semilight"/>
              </a:rPr>
              <a:t>to </a:t>
            </a:r>
            <a:r>
              <a:rPr b="0" spc="55" dirty="0">
                <a:solidFill>
                  <a:schemeClr val="tx2"/>
                </a:solidFill>
                <a:latin typeface="Segoe UI Semilight"/>
                <a:cs typeface="Segoe UI Semilight"/>
              </a:rPr>
              <a:t>the </a:t>
            </a:r>
            <a:r>
              <a:rPr b="0" spc="30" dirty="0">
                <a:solidFill>
                  <a:schemeClr val="tx2"/>
                </a:solidFill>
                <a:latin typeface="Segoe UI Semilight"/>
                <a:cs typeface="Segoe UI Semilight"/>
              </a:rPr>
              <a:t>presence </a:t>
            </a:r>
            <a:r>
              <a:rPr b="0" spc="45" dirty="0">
                <a:solidFill>
                  <a:schemeClr val="tx2"/>
                </a:solidFill>
                <a:latin typeface="Segoe UI Semilight"/>
                <a:cs typeface="Segoe UI Semilight"/>
              </a:rPr>
              <a:t>of </a:t>
            </a:r>
            <a:r>
              <a:rPr b="0" spc="55" dirty="0">
                <a:solidFill>
                  <a:schemeClr val="tx2"/>
                </a:solidFill>
                <a:latin typeface="Segoe UI Semilight"/>
                <a:cs typeface="Segoe UI Semilight"/>
              </a:rPr>
              <a:t>any </a:t>
            </a:r>
            <a:r>
              <a:rPr b="0" spc="45" dirty="0">
                <a:solidFill>
                  <a:schemeClr val="tx2"/>
                </a:solidFill>
                <a:latin typeface="Segoe UI Semilight"/>
                <a:cs typeface="Segoe UI Semilight"/>
              </a:rPr>
              <a:t>other  </a:t>
            </a:r>
            <a:r>
              <a:rPr b="0" spc="55" dirty="0">
                <a:solidFill>
                  <a:schemeClr val="tx2"/>
                </a:solidFill>
                <a:latin typeface="Segoe UI Semilight"/>
                <a:cs typeface="Segoe UI Semilight"/>
              </a:rPr>
              <a:t>feature</a:t>
            </a:r>
            <a:endParaRPr dirty="0">
              <a:solidFill>
                <a:schemeClr val="tx2"/>
              </a:solidFill>
              <a:latin typeface="Segoe UI Semilight"/>
              <a:cs typeface="Segoe UI Semi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4545" y="3701050"/>
            <a:ext cx="1513628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30" dirty="0">
                <a:solidFill>
                  <a:srgbClr val="535353"/>
                </a:solidFill>
                <a:latin typeface="Arial"/>
                <a:cs typeface="Arial"/>
              </a:rPr>
              <a:t>For</a:t>
            </a:r>
            <a:r>
              <a:rPr b="1" spc="-17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b="1" spc="25" dirty="0">
                <a:solidFill>
                  <a:srgbClr val="535353"/>
                </a:solidFill>
                <a:latin typeface="Arial"/>
                <a:cs typeface="Arial"/>
              </a:rPr>
              <a:t>example,</a:t>
            </a:r>
            <a:endParaRPr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38288" y="2774096"/>
            <a:ext cx="3644226" cy="17254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3175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  <p:sp>
        <p:nvSpPr>
          <p:cNvPr id="7" name="object 3"/>
          <p:cNvSpPr/>
          <p:nvPr/>
        </p:nvSpPr>
        <p:spPr>
          <a:xfrm>
            <a:off x="3208325" y="2830958"/>
            <a:ext cx="8591789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>
            <a:spLocks noGrp="1"/>
          </p:cNvSpPr>
          <p:nvPr>
            <p:ph type="title"/>
          </p:nvPr>
        </p:nvSpPr>
        <p:spPr>
          <a:xfrm>
            <a:off x="4978400" y="2997108"/>
            <a:ext cx="5268686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25" dirty="0">
                <a:solidFill>
                  <a:schemeClr val="bg1"/>
                </a:solidFill>
              </a:rPr>
              <a:t>Understanding </a:t>
            </a:r>
            <a:r>
              <a:rPr lang="en-US" sz="2800" spc="20" dirty="0">
                <a:solidFill>
                  <a:schemeClr val="bg1"/>
                </a:solidFill>
              </a:rPr>
              <a:t>Decision</a:t>
            </a:r>
            <a:r>
              <a:rPr lang="en-US" sz="2800" spc="-20" dirty="0">
                <a:solidFill>
                  <a:schemeClr val="bg1"/>
                </a:solidFill>
              </a:rPr>
              <a:t> Tree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48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  <p:sp>
        <p:nvSpPr>
          <p:cNvPr id="4" name="object 2"/>
          <p:cNvSpPr/>
          <p:nvPr/>
        </p:nvSpPr>
        <p:spPr>
          <a:xfrm>
            <a:off x="87087" y="522509"/>
            <a:ext cx="3545204" cy="1188720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/>
          <p:nvPr/>
        </p:nvSpPr>
        <p:spPr>
          <a:xfrm>
            <a:off x="87087" y="3110894"/>
            <a:ext cx="3545204" cy="2209165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/>
          <p:cNvSpPr txBox="1"/>
          <p:nvPr/>
        </p:nvSpPr>
        <p:spPr>
          <a:xfrm>
            <a:off x="87087" y="1710978"/>
            <a:ext cx="3545204" cy="1727139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27940" rIns="0" bIns="0" rtlCol="0">
            <a:spAutoFit/>
          </a:bodyPr>
          <a:lstStyle/>
          <a:p>
            <a:pPr marR="1446530" algn="ctr">
              <a:lnSpc>
                <a:spcPct val="92000"/>
              </a:lnSpc>
              <a:spcBef>
                <a:spcPts val="220"/>
              </a:spcBef>
            </a:pP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3950" b="1" spc="15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z="3950" b="1" spc="-5" dirty="0" smtClean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950" b="1" spc="-25" dirty="0" smtClean="0">
                <a:solidFill>
                  <a:srgbClr val="FFFFFF"/>
                </a:solidFill>
                <a:latin typeface="Arial"/>
                <a:cs typeface="Arial"/>
              </a:rPr>
              <a:t>ec</a:t>
            </a:r>
            <a:r>
              <a:rPr sz="3950" b="1" spc="15" dirty="0" smtClean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5" dirty="0" smtClean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50" b="1" spc="15" dirty="0" smtClean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50" b="1" spc="-20" dirty="0" smtClean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lang="en-US" sz="3950" b="1" spc="-20" dirty="0" smtClean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50" b="1" spc="1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spc="5" dirty="0" smtClean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50" b="1" spc="-50" dirty="0">
                <a:solidFill>
                  <a:srgbClr val="FFFFFF"/>
                </a:solidFill>
                <a:latin typeface="Arial"/>
                <a:cs typeface="Arial"/>
              </a:rPr>
              <a:t>Tree?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/>
          <p:cNvSpPr/>
          <p:nvPr/>
        </p:nvSpPr>
        <p:spPr>
          <a:xfrm>
            <a:off x="9084264" y="524033"/>
            <a:ext cx="147320" cy="578485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/>
          <p:cNvSpPr/>
          <p:nvPr/>
        </p:nvSpPr>
        <p:spPr>
          <a:xfrm>
            <a:off x="3699607" y="524033"/>
            <a:ext cx="1786889" cy="4872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/>
          <p:cNvSpPr/>
          <p:nvPr/>
        </p:nvSpPr>
        <p:spPr>
          <a:xfrm>
            <a:off x="4901854" y="2764946"/>
            <a:ext cx="5475860" cy="34036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/>
          <p:cNvSpPr txBox="1">
            <a:spLocks noGrp="1"/>
          </p:cNvSpPr>
          <p:nvPr>
            <p:ph type="title"/>
          </p:nvPr>
        </p:nvSpPr>
        <p:spPr>
          <a:xfrm>
            <a:off x="3974827" y="1040944"/>
            <a:ext cx="7918821" cy="5707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0" tIns="5715" rIns="0" bIns="0" rtlCol="0">
            <a:spAutoFit/>
          </a:bodyPr>
          <a:lstStyle/>
          <a:p>
            <a:pPr marL="822325" marR="5080" indent="-810260">
              <a:lnSpc>
                <a:spcPct val="102499"/>
              </a:lnSpc>
              <a:spcBef>
                <a:spcPts val="45"/>
              </a:spcBef>
            </a:pPr>
            <a:r>
              <a:rPr sz="1800" b="0" spc="-5" dirty="0">
                <a:solidFill>
                  <a:schemeClr val="tx2"/>
                </a:solidFill>
                <a:latin typeface="Arial"/>
                <a:cs typeface="Arial"/>
              </a:rPr>
              <a:t>“Graphical </a:t>
            </a:r>
            <a:r>
              <a:rPr sz="1800" b="0" spc="5" dirty="0">
                <a:solidFill>
                  <a:schemeClr val="tx2"/>
                </a:solidFill>
                <a:latin typeface="Arial"/>
                <a:cs typeface="Arial"/>
              </a:rPr>
              <a:t>representation </a:t>
            </a:r>
            <a:r>
              <a:rPr sz="1800" b="0" spc="20" dirty="0">
                <a:solidFill>
                  <a:schemeClr val="tx2"/>
                </a:solidFill>
                <a:latin typeface="Arial"/>
                <a:cs typeface="Arial"/>
              </a:rPr>
              <a:t>of </a:t>
            </a:r>
            <a:r>
              <a:rPr sz="1800" b="0" spc="-15" dirty="0">
                <a:solidFill>
                  <a:schemeClr val="tx2"/>
                </a:solidFill>
                <a:latin typeface="Arial"/>
                <a:cs typeface="Arial"/>
              </a:rPr>
              <a:t>all the</a:t>
            </a:r>
            <a:r>
              <a:rPr sz="1800" b="0" spc="-20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800" b="0" spc="20" dirty="0">
                <a:solidFill>
                  <a:schemeClr val="tx2"/>
                </a:solidFill>
                <a:latin typeface="Arial"/>
                <a:cs typeface="Arial"/>
              </a:rPr>
              <a:t>possible  </a:t>
            </a:r>
            <a:r>
              <a:rPr sz="1800" b="0" dirty="0">
                <a:solidFill>
                  <a:schemeClr val="tx2"/>
                </a:solidFill>
                <a:latin typeface="Arial"/>
                <a:cs typeface="Arial"/>
              </a:rPr>
              <a:t>solutions </a:t>
            </a:r>
            <a:r>
              <a:rPr sz="1800" b="0" spc="-5" dirty="0">
                <a:solidFill>
                  <a:schemeClr val="tx2"/>
                </a:solidFill>
                <a:latin typeface="Arial"/>
                <a:cs typeface="Arial"/>
              </a:rPr>
              <a:t>to </a:t>
            </a:r>
            <a:r>
              <a:rPr sz="1800" b="0" spc="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1800" b="0" spc="-114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800" b="0" spc="20" dirty="0">
                <a:solidFill>
                  <a:schemeClr val="tx2"/>
                </a:solidFill>
                <a:latin typeface="Arial"/>
                <a:cs typeface="Arial"/>
              </a:rPr>
              <a:t>decision”</a:t>
            </a:r>
            <a:endParaRPr sz="18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12" name="object 11"/>
          <p:cNvSpPr txBox="1"/>
          <p:nvPr/>
        </p:nvSpPr>
        <p:spPr>
          <a:xfrm>
            <a:off x="4901854" y="1795514"/>
            <a:ext cx="6593460" cy="7931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0" tIns="122555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pc="15" dirty="0">
                <a:solidFill>
                  <a:srgbClr val="595959"/>
                </a:solidFill>
                <a:latin typeface="Arial"/>
                <a:cs typeface="Arial"/>
              </a:rPr>
              <a:t>Decisions</a:t>
            </a:r>
            <a:r>
              <a:rPr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mainly</a:t>
            </a:r>
            <a:r>
              <a:rPr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20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25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3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595959"/>
                </a:solidFill>
                <a:latin typeface="Arial"/>
                <a:cs typeface="Arial"/>
              </a:rPr>
              <a:t>conditions</a:t>
            </a:r>
            <a:endParaRPr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spcBef>
                <a:spcPts val="869"/>
              </a:spcBef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pc="2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pc="-2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10" dirty="0">
                <a:solidFill>
                  <a:srgbClr val="595959"/>
                </a:solidFill>
                <a:latin typeface="Arial"/>
                <a:cs typeface="Arial"/>
              </a:rPr>
              <a:t>made</a:t>
            </a:r>
            <a:r>
              <a:rPr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25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5" dirty="0">
                <a:solidFill>
                  <a:srgbClr val="595959"/>
                </a:solidFill>
                <a:latin typeface="Arial"/>
                <a:cs typeface="Arial"/>
              </a:rPr>
              <a:t>easily</a:t>
            </a:r>
            <a:r>
              <a:rPr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explained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0293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  <p:sp>
        <p:nvSpPr>
          <p:cNvPr id="4" name="object 2"/>
          <p:cNvSpPr/>
          <p:nvPr/>
        </p:nvSpPr>
        <p:spPr>
          <a:xfrm>
            <a:off x="87087" y="522508"/>
            <a:ext cx="3545204" cy="1664073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/>
          <p:nvPr/>
        </p:nvSpPr>
        <p:spPr>
          <a:xfrm>
            <a:off x="87087" y="2764946"/>
            <a:ext cx="3545204" cy="2555113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/>
          <p:cNvSpPr txBox="1"/>
          <p:nvPr/>
        </p:nvSpPr>
        <p:spPr>
          <a:xfrm>
            <a:off x="87087" y="2186582"/>
            <a:ext cx="3545204" cy="1156727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27940" rIns="0" bIns="0" rtlCol="0">
            <a:spAutoFit/>
          </a:bodyPr>
          <a:lstStyle/>
          <a:p>
            <a:pPr marL="12700" marR="5080" algn="ctr">
              <a:lnSpc>
                <a:spcPts val="4360"/>
              </a:lnSpc>
              <a:spcBef>
                <a:spcPts val="590"/>
              </a:spcBef>
            </a:pPr>
            <a:r>
              <a:rPr lang="en-US" sz="3950" b="1" dirty="0">
                <a:solidFill>
                  <a:schemeClr val="bg1"/>
                </a:solidFill>
                <a:latin typeface="Arial"/>
                <a:ea typeface="+mj-ea"/>
                <a:cs typeface="Arial"/>
              </a:rPr>
              <a:t>Visualizing a  Decision Tree</a:t>
            </a:r>
            <a:endParaRPr sz="3950" b="1" dirty="0">
              <a:solidFill>
                <a:schemeClr val="bg1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5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633551"/>
              </p:ext>
            </p:extLst>
          </p:nvPr>
        </p:nvGraphicFramePr>
        <p:xfrm>
          <a:off x="5454060" y="234226"/>
          <a:ext cx="2799257" cy="1827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625"/>
                <a:gridCol w="745291"/>
                <a:gridCol w="1258341"/>
              </a:tblGrid>
              <a:tr h="426704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Color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Diam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b="1" spc="15" dirty="0">
                          <a:latin typeface="Times New Roman"/>
                          <a:cs typeface="Times New Roman"/>
                        </a:rPr>
                        <a:t>Label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61839">
                <a:tc>
                  <a:txBody>
                    <a:bodyPr/>
                    <a:lstStyle/>
                    <a:p>
                      <a:pPr marL="95885">
                        <a:lnSpc>
                          <a:spcPts val="1295"/>
                        </a:lnSpc>
                        <a:spcBef>
                          <a:spcPts val="595"/>
                        </a:spcBef>
                      </a:pPr>
                      <a:r>
                        <a:rPr sz="1100" spc="5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Green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ts val="1295"/>
                        </a:lnSpc>
                        <a:spcBef>
                          <a:spcPts val="595"/>
                        </a:spcBef>
                      </a:pP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ts val="1295"/>
                        </a:lnSpc>
                        <a:spcBef>
                          <a:spcPts val="595"/>
                        </a:spcBef>
                      </a:pPr>
                      <a:r>
                        <a:rPr sz="1100" spc="-5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Mango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5735">
                <a:tc>
                  <a:txBody>
                    <a:bodyPr/>
                    <a:lstStyle/>
                    <a:p>
                      <a:pPr marL="95885">
                        <a:lnSpc>
                          <a:spcPts val="1250"/>
                        </a:lnSpc>
                      </a:pPr>
                      <a:r>
                        <a:rPr sz="1100" spc="-2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Yellow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1250"/>
                        </a:lnSpc>
                      </a:pP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2895" algn="r">
                        <a:lnSpc>
                          <a:spcPts val="1250"/>
                        </a:lnSpc>
                      </a:pPr>
                      <a:r>
                        <a:rPr sz="1100" spc="-15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100" spc="2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100" spc="-55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100" spc="-4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8836">
                <a:tc>
                  <a:txBody>
                    <a:bodyPr/>
                    <a:lstStyle/>
                    <a:p>
                      <a:pPr marL="95885">
                        <a:lnSpc>
                          <a:spcPts val="1215"/>
                        </a:lnSpc>
                      </a:pPr>
                      <a:r>
                        <a:rPr sz="1100" spc="2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Red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1215"/>
                        </a:lnSpc>
                      </a:pP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2895" algn="r">
                        <a:lnSpc>
                          <a:spcPts val="1215"/>
                        </a:lnSpc>
                      </a:pP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100" spc="-45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100" spc="2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rry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8930">
                <a:tc>
                  <a:txBody>
                    <a:bodyPr/>
                    <a:lstStyle/>
                    <a:p>
                      <a:pPr marL="95885">
                        <a:lnSpc>
                          <a:spcPts val="1215"/>
                        </a:lnSpc>
                      </a:pPr>
                      <a:r>
                        <a:rPr sz="1100" spc="-2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Yellow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1215"/>
                        </a:lnSpc>
                      </a:pP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2895" algn="r">
                        <a:lnSpc>
                          <a:spcPts val="1215"/>
                        </a:lnSpc>
                      </a:pPr>
                      <a:r>
                        <a:rPr sz="1100" spc="-25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100" spc="2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-4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ng</a:t>
                      </a: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5234">
                <a:tc>
                  <a:txBody>
                    <a:bodyPr/>
                    <a:lstStyle/>
                    <a:p>
                      <a:pPr marL="95885">
                        <a:lnSpc>
                          <a:spcPts val="1275"/>
                        </a:lnSpc>
                      </a:pPr>
                      <a:r>
                        <a:rPr sz="1100" spc="2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Red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1275"/>
                        </a:lnSpc>
                      </a:pP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2895" algn="r">
                        <a:lnSpc>
                          <a:spcPts val="1275"/>
                        </a:lnSpc>
                      </a:pP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100" spc="-45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100" spc="2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100" dirty="0">
                          <a:solidFill>
                            <a:srgbClr val="595959"/>
                          </a:solidFill>
                          <a:latin typeface="Times New Roman"/>
                          <a:cs typeface="Times New Roman"/>
                        </a:rPr>
                        <a:t>rry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7" name="object 24"/>
          <p:cNvSpPr txBox="1"/>
          <p:nvPr/>
        </p:nvSpPr>
        <p:spPr>
          <a:xfrm>
            <a:off x="4168700" y="3608690"/>
            <a:ext cx="965026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0" spc="-15" dirty="0" smtClean="0">
                <a:latin typeface="Segoe UI Semilight"/>
                <a:cs typeface="Segoe UI Semilight"/>
              </a:rPr>
              <a:t>R  1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5" dirty="0" smtClean="0">
                <a:latin typeface="Segoe UI Semilight"/>
                <a:cs typeface="Segoe UI Semilight"/>
              </a:rPr>
              <a:t>C</a:t>
            </a:r>
            <a:r>
              <a:rPr b="0" dirty="0" smtClean="0">
                <a:latin typeface="Segoe UI Semilight"/>
                <a:cs typeface="Segoe UI Semilight"/>
              </a:rPr>
              <a:t>h</a:t>
            </a:r>
            <a:r>
              <a:rPr b="0" spc="55" dirty="0" smtClean="0">
                <a:latin typeface="Segoe UI Semilight"/>
                <a:cs typeface="Segoe UI Semilight"/>
              </a:rPr>
              <a:t>e</a:t>
            </a:r>
            <a:r>
              <a:rPr b="0" spc="135" dirty="0" smtClean="0">
                <a:latin typeface="Segoe UI Semilight"/>
                <a:cs typeface="Segoe UI Semilight"/>
              </a:rPr>
              <a:t>r</a:t>
            </a:r>
            <a:r>
              <a:rPr lang="en-US" b="0" spc="135" dirty="0" smtClean="0">
                <a:latin typeface="Segoe UI Semilight"/>
                <a:cs typeface="Segoe UI Semilight"/>
              </a:rPr>
              <a:t>r</a:t>
            </a:r>
            <a:r>
              <a:rPr b="0" spc="55" dirty="0" smtClean="0">
                <a:latin typeface="Segoe UI Semilight"/>
                <a:cs typeface="Segoe UI Semilight"/>
              </a:rPr>
              <a:t>y</a:t>
            </a:r>
            <a:endParaRPr dirty="0">
              <a:latin typeface="Segoe UI Semilight"/>
              <a:cs typeface="Segoe UI Semilight"/>
            </a:endParaRPr>
          </a:p>
        </p:txBody>
      </p:sp>
      <p:sp>
        <p:nvSpPr>
          <p:cNvPr id="88" name="object 38"/>
          <p:cNvSpPr txBox="1"/>
          <p:nvPr/>
        </p:nvSpPr>
        <p:spPr>
          <a:xfrm>
            <a:off x="3738530" y="2870248"/>
            <a:ext cx="207468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F07F09"/>
                </a:solidFill>
                <a:latin typeface="Segoe UI Semibold"/>
                <a:cs typeface="Segoe UI Semibold"/>
              </a:rPr>
              <a:t>Gini</a:t>
            </a:r>
            <a:r>
              <a:rPr sz="1400" b="1" spc="-95" dirty="0">
                <a:solidFill>
                  <a:srgbClr val="F07F09"/>
                </a:solidFill>
                <a:latin typeface="Segoe UI Semibold"/>
                <a:cs typeface="Segoe UI Semibold"/>
              </a:rPr>
              <a:t> </a:t>
            </a:r>
            <a:r>
              <a:rPr sz="1400" b="1" spc="5" dirty="0">
                <a:solidFill>
                  <a:srgbClr val="F07F09"/>
                </a:solidFill>
                <a:latin typeface="Segoe UI Semibold"/>
                <a:cs typeface="Segoe UI Semibold"/>
              </a:rPr>
              <a:t>Impurity</a:t>
            </a:r>
            <a:r>
              <a:rPr sz="1400" b="1" spc="-70" dirty="0">
                <a:solidFill>
                  <a:srgbClr val="F07F09"/>
                </a:solidFill>
                <a:latin typeface="Segoe UI Semibold"/>
                <a:cs typeface="Segoe UI Semibold"/>
              </a:rPr>
              <a:t> </a:t>
            </a:r>
            <a:r>
              <a:rPr sz="1400" b="1" spc="15" dirty="0">
                <a:solidFill>
                  <a:srgbClr val="F07F09"/>
                </a:solidFill>
                <a:latin typeface="Segoe UI Semibold"/>
                <a:cs typeface="Segoe UI Semibold"/>
              </a:rPr>
              <a:t>=</a:t>
            </a:r>
            <a:r>
              <a:rPr sz="1400" b="1" spc="-60" dirty="0">
                <a:solidFill>
                  <a:srgbClr val="F07F09"/>
                </a:solidFill>
                <a:latin typeface="Segoe UI Semibold"/>
                <a:cs typeface="Segoe UI Semibold"/>
              </a:rPr>
              <a:t> </a:t>
            </a:r>
            <a:r>
              <a:rPr sz="1400" b="1" spc="15" dirty="0">
                <a:solidFill>
                  <a:srgbClr val="F07F09"/>
                </a:solidFill>
                <a:latin typeface="Segoe UI Semibold"/>
                <a:cs typeface="Segoe UI Semibold"/>
              </a:rPr>
              <a:t>0</a:t>
            </a:r>
            <a:endParaRPr sz="1400" dirty="0">
              <a:latin typeface="Segoe UI Semibold"/>
              <a:cs typeface="Segoe UI Semibold"/>
            </a:endParaRPr>
          </a:p>
        </p:txBody>
      </p:sp>
      <p:sp>
        <p:nvSpPr>
          <p:cNvPr id="89" name="object 10"/>
          <p:cNvSpPr/>
          <p:nvPr/>
        </p:nvSpPr>
        <p:spPr>
          <a:xfrm>
            <a:off x="6745313" y="2046514"/>
            <a:ext cx="45719" cy="941316"/>
          </a:xfrm>
          <a:custGeom>
            <a:avLst/>
            <a:gdLst/>
            <a:ahLst/>
            <a:cxnLst/>
            <a:rect l="l" t="t" r="r" b="b"/>
            <a:pathLst>
              <a:path w="76200" h="648969">
                <a:moveTo>
                  <a:pt x="28590" y="572755"/>
                </a:moveTo>
                <a:lnTo>
                  <a:pt x="0" y="572755"/>
                </a:lnTo>
                <a:lnTo>
                  <a:pt x="38100" y="648955"/>
                </a:lnTo>
                <a:lnTo>
                  <a:pt x="69844" y="585465"/>
                </a:lnTo>
                <a:lnTo>
                  <a:pt x="28590" y="585465"/>
                </a:lnTo>
                <a:lnTo>
                  <a:pt x="28590" y="572755"/>
                </a:lnTo>
                <a:close/>
              </a:path>
              <a:path w="76200" h="648969">
                <a:moveTo>
                  <a:pt x="47640" y="0"/>
                </a:moveTo>
                <a:lnTo>
                  <a:pt x="28590" y="0"/>
                </a:lnTo>
                <a:lnTo>
                  <a:pt x="28590" y="585465"/>
                </a:lnTo>
                <a:lnTo>
                  <a:pt x="47640" y="585465"/>
                </a:lnTo>
                <a:lnTo>
                  <a:pt x="47640" y="0"/>
                </a:lnTo>
                <a:close/>
              </a:path>
              <a:path w="76200" h="648969">
                <a:moveTo>
                  <a:pt x="76200" y="572755"/>
                </a:moveTo>
                <a:lnTo>
                  <a:pt x="47640" y="572755"/>
                </a:lnTo>
                <a:lnTo>
                  <a:pt x="47640" y="585465"/>
                </a:lnTo>
                <a:lnTo>
                  <a:pt x="69844" y="585465"/>
                </a:lnTo>
                <a:lnTo>
                  <a:pt x="76200" y="572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1"/>
          <p:cNvSpPr/>
          <p:nvPr/>
        </p:nvSpPr>
        <p:spPr>
          <a:xfrm>
            <a:off x="6347994" y="3067514"/>
            <a:ext cx="816713" cy="469485"/>
          </a:xfrm>
          <a:custGeom>
            <a:avLst/>
            <a:gdLst/>
            <a:ahLst/>
            <a:cxnLst/>
            <a:rect l="l" t="t" r="r" b="b"/>
            <a:pathLst>
              <a:path w="408939" h="375919">
                <a:moveTo>
                  <a:pt x="204216" y="0"/>
                </a:moveTo>
                <a:lnTo>
                  <a:pt x="0" y="187839"/>
                </a:lnTo>
                <a:lnTo>
                  <a:pt x="204216" y="375672"/>
                </a:lnTo>
                <a:lnTo>
                  <a:pt x="408432" y="187839"/>
                </a:lnTo>
                <a:lnTo>
                  <a:pt x="204216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15"/>
          <p:cNvSpPr/>
          <p:nvPr/>
        </p:nvSpPr>
        <p:spPr>
          <a:xfrm>
            <a:off x="5399929" y="3340590"/>
            <a:ext cx="1808437" cy="1032548"/>
          </a:xfrm>
          <a:custGeom>
            <a:avLst/>
            <a:gdLst/>
            <a:ahLst/>
            <a:cxnLst/>
            <a:rect l="l" t="t" r="r" b="b"/>
            <a:pathLst>
              <a:path w="905510" h="826769">
                <a:moveTo>
                  <a:pt x="34533" y="736985"/>
                </a:moveTo>
                <a:lnTo>
                  <a:pt x="0" y="826520"/>
                </a:lnTo>
                <a:lnTo>
                  <a:pt x="92323" y="800362"/>
                </a:lnTo>
                <a:lnTo>
                  <a:pt x="81901" y="788932"/>
                </a:lnTo>
                <a:lnTo>
                  <a:pt x="62484" y="788932"/>
                </a:lnTo>
                <a:lnTo>
                  <a:pt x="43190" y="767846"/>
                </a:lnTo>
                <a:lnTo>
                  <a:pt x="53831" y="758147"/>
                </a:lnTo>
                <a:lnTo>
                  <a:pt x="34533" y="736985"/>
                </a:lnTo>
                <a:close/>
              </a:path>
              <a:path w="905510" h="826769">
                <a:moveTo>
                  <a:pt x="53831" y="758147"/>
                </a:moveTo>
                <a:lnTo>
                  <a:pt x="43190" y="767846"/>
                </a:lnTo>
                <a:lnTo>
                  <a:pt x="62484" y="788932"/>
                </a:lnTo>
                <a:lnTo>
                  <a:pt x="73088" y="779267"/>
                </a:lnTo>
                <a:lnTo>
                  <a:pt x="53831" y="758147"/>
                </a:lnTo>
                <a:close/>
              </a:path>
              <a:path w="905510" h="826769">
                <a:moveTo>
                  <a:pt x="73088" y="779267"/>
                </a:moveTo>
                <a:lnTo>
                  <a:pt x="62484" y="788932"/>
                </a:lnTo>
                <a:lnTo>
                  <a:pt x="81901" y="788932"/>
                </a:lnTo>
                <a:lnTo>
                  <a:pt x="73088" y="779267"/>
                </a:lnTo>
                <a:close/>
              </a:path>
              <a:path w="905510" h="826769">
                <a:moveTo>
                  <a:pt x="885687" y="0"/>
                </a:moveTo>
                <a:lnTo>
                  <a:pt x="53831" y="758147"/>
                </a:lnTo>
                <a:lnTo>
                  <a:pt x="73088" y="779267"/>
                </a:lnTo>
                <a:lnTo>
                  <a:pt x="904890" y="21217"/>
                </a:lnTo>
                <a:lnTo>
                  <a:pt x="8856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16"/>
          <p:cNvSpPr/>
          <p:nvPr/>
        </p:nvSpPr>
        <p:spPr>
          <a:xfrm>
            <a:off x="7136815" y="3336780"/>
            <a:ext cx="1737418" cy="984966"/>
          </a:xfrm>
          <a:custGeom>
            <a:avLst/>
            <a:gdLst/>
            <a:ahLst/>
            <a:cxnLst/>
            <a:rect l="l" t="t" r="r" b="b"/>
            <a:pathLst>
              <a:path w="869950" h="788669">
                <a:moveTo>
                  <a:pt x="796786" y="741685"/>
                </a:moveTo>
                <a:lnTo>
                  <a:pt x="777605" y="762893"/>
                </a:lnTo>
                <a:lnTo>
                  <a:pt x="869929" y="788551"/>
                </a:lnTo>
                <a:lnTo>
                  <a:pt x="855386" y="751213"/>
                </a:lnTo>
                <a:lnTo>
                  <a:pt x="807323" y="751213"/>
                </a:lnTo>
                <a:lnTo>
                  <a:pt x="796786" y="741685"/>
                </a:lnTo>
                <a:close/>
              </a:path>
              <a:path w="869950" h="788669">
                <a:moveTo>
                  <a:pt x="815968" y="720476"/>
                </a:moveTo>
                <a:lnTo>
                  <a:pt x="796786" y="741685"/>
                </a:lnTo>
                <a:lnTo>
                  <a:pt x="807323" y="751213"/>
                </a:lnTo>
                <a:lnTo>
                  <a:pt x="826495" y="729996"/>
                </a:lnTo>
                <a:lnTo>
                  <a:pt x="815968" y="720476"/>
                </a:lnTo>
                <a:close/>
              </a:path>
              <a:path w="869950" h="788669">
                <a:moveTo>
                  <a:pt x="835152" y="699266"/>
                </a:moveTo>
                <a:lnTo>
                  <a:pt x="815968" y="720476"/>
                </a:lnTo>
                <a:lnTo>
                  <a:pt x="826495" y="729996"/>
                </a:lnTo>
                <a:lnTo>
                  <a:pt x="807323" y="751213"/>
                </a:lnTo>
                <a:lnTo>
                  <a:pt x="855386" y="751213"/>
                </a:lnTo>
                <a:lnTo>
                  <a:pt x="835152" y="699266"/>
                </a:lnTo>
                <a:close/>
              </a:path>
              <a:path w="869950" h="788669">
                <a:moveTo>
                  <a:pt x="19171" y="0"/>
                </a:moveTo>
                <a:lnTo>
                  <a:pt x="0" y="21217"/>
                </a:lnTo>
                <a:lnTo>
                  <a:pt x="796786" y="741685"/>
                </a:lnTo>
                <a:lnTo>
                  <a:pt x="815968" y="720476"/>
                </a:lnTo>
                <a:lnTo>
                  <a:pt x="191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17"/>
          <p:cNvSpPr/>
          <p:nvPr/>
        </p:nvSpPr>
        <p:spPr>
          <a:xfrm rot="187180">
            <a:off x="5277575" y="3380653"/>
            <a:ext cx="1258043" cy="747051"/>
          </a:xfrm>
          <a:custGeom>
            <a:avLst/>
            <a:gdLst/>
            <a:ahLst/>
            <a:cxnLst/>
            <a:rect l="l" t="t" r="r" b="b"/>
            <a:pathLst>
              <a:path w="629920" h="598169">
                <a:moveTo>
                  <a:pt x="481854" y="0"/>
                </a:moveTo>
                <a:lnTo>
                  <a:pt x="8732" y="415184"/>
                </a:lnTo>
                <a:lnTo>
                  <a:pt x="0" y="433484"/>
                </a:lnTo>
                <a:lnTo>
                  <a:pt x="1445" y="443557"/>
                </a:lnTo>
                <a:lnTo>
                  <a:pt x="6812" y="452641"/>
                </a:lnTo>
                <a:lnTo>
                  <a:pt x="129616" y="589170"/>
                </a:lnTo>
                <a:lnTo>
                  <a:pt x="138060" y="595469"/>
                </a:lnTo>
                <a:lnTo>
                  <a:pt x="147908" y="597948"/>
                </a:lnTo>
                <a:lnTo>
                  <a:pt x="157944" y="596547"/>
                </a:lnTo>
                <a:lnTo>
                  <a:pt x="166954" y="591206"/>
                </a:lnTo>
                <a:lnTo>
                  <a:pt x="620984" y="182774"/>
                </a:lnTo>
                <a:lnTo>
                  <a:pt x="627295" y="174326"/>
                </a:lnTo>
                <a:lnTo>
                  <a:pt x="629777" y="164463"/>
                </a:lnTo>
                <a:lnTo>
                  <a:pt x="628373" y="154389"/>
                </a:lnTo>
                <a:lnTo>
                  <a:pt x="623026" y="145305"/>
                </a:lnTo>
                <a:lnTo>
                  <a:pt x="500100" y="8776"/>
                </a:lnTo>
                <a:lnTo>
                  <a:pt x="491673" y="2477"/>
                </a:lnTo>
                <a:lnTo>
                  <a:pt x="481854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0"/>
          <p:cNvSpPr/>
          <p:nvPr/>
        </p:nvSpPr>
        <p:spPr>
          <a:xfrm>
            <a:off x="8194041" y="3568536"/>
            <a:ext cx="211649" cy="235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25"/>
          <p:cNvSpPr/>
          <p:nvPr/>
        </p:nvSpPr>
        <p:spPr>
          <a:xfrm>
            <a:off x="7632099" y="4320482"/>
            <a:ext cx="816713" cy="469485"/>
          </a:xfrm>
          <a:custGeom>
            <a:avLst/>
            <a:gdLst/>
            <a:ahLst/>
            <a:cxnLst/>
            <a:rect l="l" t="t" r="r" b="b"/>
            <a:pathLst>
              <a:path w="408940" h="375920">
                <a:moveTo>
                  <a:pt x="204216" y="0"/>
                </a:moveTo>
                <a:lnTo>
                  <a:pt x="0" y="187833"/>
                </a:lnTo>
                <a:lnTo>
                  <a:pt x="204216" y="375666"/>
                </a:lnTo>
                <a:lnTo>
                  <a:pt x="408432" y="187833"/>
                </a:lnTo>
                <a:lnTo>
                  <a:pt x="204216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26"/>
          <p:cNvSpPr/>
          <p:nvPr/>
        </p:nvSpPr>
        <p:spPr>
          <a:xfrm>
            <a:off x="8611883" y="4590466"/>
            <a:ext cx="349885" cy="0"/>
          </a:xfrm>
          <a:custGeom>
            <a:avLst/>
            <a:gdLst/>
            <a:ahLst/>
            <a:cxnLst/>
            <a:rect l="l" t="t" r="r" b="b"/>
            <a:pathLst>
              <a:path w="349884">
                <a:moveTo>
                  <a:pt x="0" y="0"/>
                </a:moveTo>
                <a:lnTo>
                  <a:pt x="349483" y="0"/>
                </a:lnTo>
              </a:path>
            </a:pathLst>
          </a:custGeom>
          <a:ln w="19049">
            <a:solidFill>
              <a:srgbClr val="5F4778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28"/>
          <p:cNvSpPr/>
          <p:nvPr/>
        </p:nvSpPr>
        <p:spPr>
          <a:xfrm>
            <a:off x="6234053" y="4789967"/>
            <a:ext cx="1730907" cy="1043829"/>
          </a:xfrm>
          <a:custGeom>
            <a:avLst/>
            <a:gdLst/>
            <a:ahLst/>
            <a:cxnLst/>
            <a:rect l="l" t="t" r="r" b="b"/>
            <a:pathLst>
              <a:path w="904875" h="826770">
                <a:moveTo>
                  <a:pt x="34411" y="737021"/>
                </a:moveTo>
                <a:lnTo>
                  <a:pt x="0" y="826437"/>
                </a:lnTo>
                <a:lnTo>
                  <a:pt x="92202" y="800374"/>
                </a:lnTo>
                <a:lnTo>
                  <a:pt x="81708" y="788871"/>
                </a:lnTo>
                <a:lnTo>
                  <a:pt x="62331" y="788871"/>
                </a:lnTo>
                <a:lnTo>
                  <a:pt x="43159" y="767751"/>
                </a:lnTo>
                <a:lnTo>
                  <a:pt x="53689" y="758154"/>
                </a:lnTo>
                <a:lnTo>
                  <a:pt x="34411" y="737021"/>
                </a:lnTo>
                <a:close/>
              </a:path>
              <a:path w="904875" h="826770">
                <a:moveTo>
                  <a:pt x="53689" y="758154"/>
                </a:moveTo>
                <a:lnTo>
                  <a:pt x="43159" y="767751"/>
                </a:lnTo>
                <a:lnTo>
                  <a:pt x="62331" y="788871"/>
                </a:lnTo>
                <a:lnTo>
                  <a:pt x="72912" y="779227"/>
                </a:lnTo>
                <a:lnTo>
                  <a:pt x="53689" y="758154"/>
                </a:lnTo>
                <a:close/>
              </a:path>
              <a:path w="904875" h="826770">
                <a:moveTo>
                  <a:pt x="72912" y="779227"/>
                </a:moveTo>
                <a:lnTo>
                  <a:pt x="62331" y="788871"/>
                </a:lnTo>
                <a:lnTo>
                  <a:pt x="81708" y="788871"/>
                </a:lnTo>
                <a:lnTo>
                  <a:pt x="72912" y="779227"/>
                </a:lnTo>
                <a:close/>
              </a:path>
              <a:path w="904875" h="826770">
                <a:moveTo>
                  <a:pt x="885565" y="0"/>
                </a:moveTo>
                <a:lnTo>
                  <a:pt x="53689" y="758154"/>
                </a:lnTo>
                <a:lnTo>
                  <a:pt x="72912" y="779227"/>
                </a:lnTo>
                <a:lnTo>
                  <a:pt x="904737" y="21073"/>
                </a:lnTo>
                <a:lnTo>
                  <a:pt x="8855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30"/>
          <p:cNvSpPr/>
          <p:nvPr/>
        </p:nvSpPr>
        <p:spPr>
          <a:xfrm rot="21353618">
            <a:off x="6301636" y="4671223"/>
            <a:ext cx="1502527" cy="751017"/>
          </a:xfrm>
          <a:custGeom>
            <a:avLst/>
            <a:gdLst/>
            <a:ahLst/>
            <a:cxnLst/>
            <a:rect l="l" t="t" r="r" b="b"/>
            <a:pathLst>
              <a:path w="627379" h="601345">
                <a:moveTo>
                  <a:pt x="478078" y="0"/>
                </a:moveTo>
                <a:lnTo>
                  <a:pt x="8538" y="419358"/>
                </a:lnTo>
                <a:lnTo>
                  <a:pt x="0" y="437712"/>
                </a:lnTo>
                <a:lnTo>
                  <a:pt x="1504" y="447748"/>
                </a:lnTo>
                <a:lnTo>
                  <a:pt x="6892" y="456754"/>
                </a:lnTo>
                <a:lnTo>
                  <a:pt x="130976" y="592247"/>
                </a:lnTo>
                <a:lnTo>
                  <a:pt x="139491" y="598437"/>
                </a:lnTo>
                <a:lnTo>
                  <a:pt x="149374" y="600811"/>
                </a:lnTo>
                <a:lnTo>
                  <a:pt x="159424" y="599313"/>
                </a:lnTo>
                <a:lnTo>
                  <a:pt x="168436" y="593890"/>
                </a:lnTo>
                <a:lnTo>
                  <a:pt x="618778" y="181434"/>
                </a:lnTo>
                <a:lnTo>
                  <a:pt x="624980" y="172995"/>
                </a:lnTo>
                <a:lnTo>
                  <a:pt x="627362" y="163149"/>
                </a:lnTo>
                <a:lnTo>
                  <a:pt x="625863" y="153112"/>
                </a:lnTo>
                <a:lnTo>
                  <a:pt x="620424" y="144096"/>
                </a:lnTo>
                <a:lnTo>
                  <a:pt x="496370" y="8591"/>
                </a:lnTo>
                <a:lnTo>
                  <a:pt x="487926" y="2384"/>
                </a:lnTo>
                <a:lnTo>
                  <a:pt x="478078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32"/>
          <p:cNvSpPr/>
          <p:nvPr/>
        </p:nvSpPr>
        <p:spPr>
          <a:xfrm rot="541677">
            <a:off x="8581421" y="4858619"/>
            <a:ext cx="1197170" cy="723260"/>
          </a:xfrm>
          <a:custGeom>
            <a:avLst/>
            <a:gdLst/>
            <a:ahLst/>
            <a:cxnLst/>
            <a:rect l="l" t="t" r="r" b="b"/>
            <a:pathLst>
              <a:path w="599440" h="579120">
                <a:moveTo>
                  <a:pt x="162961" y="0"/>
                </a:moveTo>
                <a:lnTo>
                  <a:pt x="7600" y="156149"/>
                </a:lnTo>
                <a:lnTo>
                  <a:pt x="0" y="176797"/>
                </a:lnTo>
                <a:lnTo>
                  <a:pt x="2547" y="187522"/>
                </a:lnTo>
                <a:lnTo>
                  <a:pt x="9246" y="196784"/>
                </a:lnTo>
                <a:lnTo>
                  <a:pt x="415758" y="571487"/>
                </a:lnTo>
                <a:lnTo>
                  <a:pt x="425532" y="577413"/>
                </a:lnTo>
                <a:lnTo>
                  <a:pt x="436431" y="579080"/>
                </a:lnTo>
                <a:lnTo>
                  <a:pt x="447159" y="576537"/>
                </a:lnTo>
                <a:lnTo>
                  <a:pt x="456418" y="569832"/>
                </a:lnTo>
                <a:lnTo>
                  <a:pt x="591780" y="422967"/>
                </a:lnTo>
                <a:lnTo>
                  <a:pt x="597734" y="413202"/>
                </a:lnTo>
                <a:lnTo>
                  <a:pt x="599404" y="402298"/>
                </a:lnTo>
                <a:lnTo>
                  <a:pt x="596851" y="391563"/>
                </a:lnTo>
                <a:lnTo>
                  <a:pt x="590134" y="382307"/>
                </a:lnTo>
                <a:lnTo>
                  <a:pt x="183622" y="7559"/>
                </a:lnTo>
                <a:lnTo>
                  <a:pt x="173853" y="1672"/>
                </a:lnTo>
                <a:lnTo>
                  <a:pt x="16296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33"/>
          <p:cNvSpPr/>
          <p:nvPr/>
        </p:nvSpPr>
        <p:spPr>
          <a:xfrm>
            <a:off x="9199241" y="4767673"/>
            <a:ext cx="91397" cy="3667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36"/>
          <p:cNvSpPr txBox="1"/>
          <p:nvPr/>
        </p:nvSpPr>
        <p:spPr>
          <a:xfrm>
            <a:off x="5679083" y="4423100"/>
            <a:ext cx="1528123" cy="292387"/>
          </a:xfrm>
          <a:prstGeom prst="rect">
            <a:avLst/>
          </a:prstGeom>
          <a:ln w="9534">
            <a:solidFill>
              <a:srgbClr val="5F4778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359"/>
              </a:spcBef>
            </a:pPr>
            <a:r>
              <a:rPr sz="1600" spc="15" dirty="0">
                <a:latin typeface="Times New Roman"/>
                <a:cs typeface="Times New Roman"/>
              </a:rPr>
              <a:t>G </a:t>
            </a:r>
            <a:r>
              <a:rPr sz="1600" spc="10" dirty="0">
                <a:latin typeface="Times New Roman"/>
                <a:cs typeface="Times New Roman"/>
              </a:rPr>
              <a:t>3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Mango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02" name="object 43"/>
          <p:cNvSpPr/>
          <p:nvPr/>
        </p:nvSpPr>
        <p:spPr>
          <a:xfrm>
            <a:off x="5067403" y="5832587"/>
            <a:ext cx="1023580" cy="5786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44"/>
          <p:cNvSpPr/>
          <p:nvPr/>
        </p:nvSpPr>
        <p:spPr>
          <a:xfrm>
            <a:off x="9557333" y="5667797"/>
            <a:ext cx="1023580" cy="5786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45"/>
          <p:cNvSpPr/>
          <p:nvPr/>
        </p:nvSpPr>
        <p:spPr>
          <a:xfrm>
            <a:off x="4359024" y="4392246"/>
            <a:ext cx="1023580" cy="5786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29"/>
          <p:cNvSpPr/>
          <p:nvPr/>
        </p:nvSpPr>
        <p:spPr>
          <a:xfrm>
            <a:off x="8148888" y="4797265"/>
            <a:ext cx="1354607" cy="980797"/>
          </a:xfrm>
          <a:custGeom>
            <a:avLst/>
            <a:gdLst/>
            <a:ahLst/>
            <a:cxnLst/>
            <a:rect l="l" t="t" r="r" b="b"/>
            <a:pathLst>
              <a:path w="870584" h="788670">
                <a:moveTo>
                  <a:pt x="796824" y="741559"/>
                </a:moveTo>
                <a:lnTo>
                  <a:pt x="777605" y="762798"/>
                </a:lnTo>
                <a:lnTo>
                  <a:pt x="869960" y="788502"/>
                </a:lnTo>
                <a:lnTo>
                  <a:pt x="855415" y="751188"/>
                </a:lnTo>
                <a:lnTo>
                  <a:pt x="807476" y="751188"/>
                </a:lnTo>
                <a:lnTo>
                  <a:pt x="796824" y="741559"/>
                </a:lnTo>
                <a:close/>
              </a:path>
              <a:path w="870584" h="788670">
                <a:moveTo>
                  <a:pt x="816000" y="720369"/>
                </a:moveTo>
                <a:lnTo>
                  <a:pt x="796824" y="741559"/>
                </a:lnTo>
                <a:lnTo>
                  <a:pt x="807476" y="751188"/>
                </a:lnTo>
                <a:lnTo>
                  <a:pt x="826648" y="729996"/>
                </a:lnTo>
                <a:lnTo>
                  <a:pt x="816000" y="720369"/>
                </a:lnTo>
                <a:close/>
              </a:path>
              <a:path w="870584" h="788670">
                <a:moveTo>
                  <a:pt x="835152" y="699205"/>
                </a:moveTo>
                <a:lnTo>
                  <a:pt x="816000" y="720369"/>
                </a:lnTo>
                <a:lnTo>
                  <a:pt x="826648" y="729996"/>
                </a:lnTo>
                <a:lnTo>
                  <a:pt x="807476" y="751188"/>
                </a:lnTo>
                <a:lnTo>
                  <a:pt x="855415" y="751188"/>
                </a:lnTo>
                <a:lnTo>
                  <a:pt x="835152" y="699205"/>
                </a:lnTo>
                <a:close/>
              </a:path>
              <a:path w="870584" h="788670">
                <a:moveTo>
                  <a:pt x="19171" y="0"/>
                </a:moveTo>
                <a:lnTo>
                  <a:pt x="0" y="21204"/>
                </a:lnTo>
                <a:lnTo>
                  <a:pt x="796824" y="741559"/>
                </a:lnTo>
                <a:lnTo>
                  <a:pt x="816000" y="720369"/>
                </a:lnTo>
                <a:lnTo>
                  <a:pt x="191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3739395" y="5032396"/>
            <a:ext cx="1481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0" spc="35" dirty="0" smtClean="0">
                <a:latin typeface="Segoe UI Semilight"/>
                <a:cs typeface="Segoe UI Semilight"/>
              </a:rPr>
              <a:t>100%</a:t>
            </a:r>
            <a:r>
              <a:rPr lang="en-US" b="0" spc="-85" dirty="0" smtClean="0">
                <a:latin typeface="Segoe UI Semilight"/>
                <a:cs typeface="Segoe UI Semilight"/>
              </a:rPr>
              <a:t> </a:t>
            </a:r>
            <a:r>
              <a:rPr lang="en-US" b="0" spc="50" dirty="0" smtClean="0">
                <a:latin typeface="Segoe UI Semilight"/>
                <a:cs typeface="Segoe UI Semilight"/>
              </a:rPr>
              <a:t>Cherry</a:t>
            </a:r>
            <a:endParaRPr lang="en-US" dirty="0">
              <a:latin typeface="Segoe UI Semilight"/>
              <a:cs typeface="Segoe UI Semilight"/>
            </a:endParaRPr>
          </a:p>
        </p:txBody>
      </p:sp>
      <p:sp>
        <p:nvSpPr>
          <p:cNvPr id="147" name="object 18"/>
          <p:cNvSpPr/>
          <p:nvPr/>
        </p:nvSpPr>
        <p:spPr>
          <a:xfrm>
            <a:off x="5758980" y="3608691"/>
            <a:ext cx="392160" cy="248174"/>
          </a:xfrm>
          <a:custGeom>
            <a:avLst/>
            <a:gdLst/>
            <a:ahLst/>
            <a:cxnLst/>
            <a:rect l="l" t="t" r="r" b="b"/>
            <a:pathLst>
              <a:path w="268604" h="229235">
                <a:moveTo>
                  <a:pt x="30682" y="156267"/>
                </a:moveTo>
                <a:lnTo>
                  <a:pt x="12710" y="156267"/>
                </a:lnTo>
                <a:lnTo>
                  <a:pt x="67818" y="217608"/>
                </a:lnTo>
                <a:lnTo>
                  <a:pt x="60838" y="226371"/>
                </a:lnTo>
                <a:lnTo>
                  <a:pt x="63246" y="229169"/>
                </a:lnTo>
                <a:lnTo>
                  <a:pt x="86152" y="208595"/>
                </a:lnTo>
                <a:lnTo>
                  <a:pt x="77845" y="208595"/>
                </a:lnTo>
                <a:lnTo>
                  <a:pt x="53461" y="181544"/>
                </a:lnTo>
                <a:lnTo>
                  <a:pt x="58684" y="176841"/>
                </a:lnTo>
                <a:lnTo>
                  <a:pt x="49286" y="176841"/>
                </a:lnTo>
                <a:lnTo>
                  <a:pt x="30682" y="156267"/>
                </a:lnTo>
                <a:close/>
              </a:path>
              <a:path w="268604" h="229235">
                <a:moveTo>
                  <a:pt x="90678" y="199583"/>
                </a:moveTo>
                <a:lnTo>
                  <a:pt x="77845" y="208595"/>
                </a:lnTo>
                <a:lnTo>
                  <a:pt x="86152" y="208595"/>
                </a:lnTo>
                <a:lnTo>
                  <a:pt x="93085" y="202368"/>
                </a:lnTo>
                <a:lnTo>
                  <a:pt x="90678" y="199583"/>
                </a:lnTo>
                <a:close/>
              </a:path>
              <a:path w="268604" h="229235">
                <a:moveTo>
                  <a:pt x="67056" y="145862"/>
                </a:moveTo>
                <a:lnTo>
                  <a:pt x="63886" y="148647"/>
                </a:lnTo>
                <a:lnTo>
                  <a:pt x="69707" y="158435"/>
                </a:lnTo>
                <a:lnTo>
                  <a:pt x="49286" y="176841"/>
                </a:lnTo>
                <a:lnTo>
                  <a:pt x="58684" y="176841"/>
                </a:lnTo>
                <a:lnTo>
                  <a:pt x="73914" y="163125"/>
                </a:lnTo>
                <a:lnTo>
                  <a:pt x="82568" y="163125"/>
                </a:lnTo>
                <a:lnTo>
                  <a:pt x="67056" y="145862"/>
                </a:lnTo>
                <a:close/>
              </a:path>
              <a:path w="268604" h="229235">
                <a:moveTo>
                  <a:pt x="124740" y="111309"/>
                </a:moveTo>
                <a:lnTo>
                  <a:pt x="103510" y="111309"/>
                </a:lnTo>
                <a:lnTo>
                  <a:pt x="108844" y="112334"/>
                </a:lnTo>
                <a:lnTo>
                  <a:pt x="111770" y="114239"/>
                </a:lnTo>
                <a:lnTo>
                  <a:pt x="114783" y="117668"/>
                </a:lnTo>
                <a:lnTo>
                  <a:pt x="121523" y="125156"/>
                </a:lnTo>
                <a:lnTo>
                  <a:pt x="114421" y="132014"/>
                </a:lnTo>
                <a:lnTo>
                  <a:pt x="109331" y="136836"/>
                </a:lnTo>
                <a:lnTo>
                  <a:pt x="105796" y="141027"/>
                </a:lnTo>
                <a:lnTo>
                  <a:pt x="104150" y="144587"/>
                </a:lnTo>
                <a:lnTo>
                  <a:pt x="102351" y="148266"/>
                </a:lnTo>
                <a:lnTo>
                  <a:pt x="101711" y="151695"/>
                </a:lnTo>
                <a:lnTo>
                  <a:pt x="102473" y="155006"/>
                </a:lnTo>
                <a:lnTo>
                  <a:pt x="103113" y="158172"/>
                </a:lnTo>
                <a:lnTo>
                  <a:pt x="104912" y="161483"/>
                </a:lnTo>
                <a:lnTo>
                  <a:pt x="107807" y="164649"/>
                </a:lnTo>
                <a:lnTo>
                  <a:pt x="114271" y="170349"/>
                </a:lnTo>
                <a:lnTo>
                  <a:pt x="120681" y="172783"/>
                </a:lnTo>
                <a:lnTo>
                  <a:pt x="127040" y="171978"/>
                </a:lnTo>
                <a:lnTo>
                  <a:pt x="133350" y="167960"/>
                </a:lnTo>
                <a:lnTo>
                  <a:pt x="138317" y="163506"/>
                </a:lnTo>
                <a:lnTo>
                  <a:pt x="126857" y="163506"/>
                </a:lnTo>
                <a:lnTo>
                  <a:pt x="121523" y="162744"/>
                </a:lnTo>
                <a:lnTo>
                  <a:pt x="112654" y="152838"/>
                </a:lnTo>
                <a:lnTo>
                  <a:pt x="111130" y="149409"/>
                </a:lnTo>
                <a:lnTo>
                  <a:pt x="111252" y="146243"/>
                </a:lnTo>
                <a:lnTo>
                  <a:pt x="111495" y="143195"/>
                </a:lnTo>
                <a:lnTo>
                  <a:pt x="113781" y="139503"/>
                </a:lnTo>
                <a:lnTo>
                  <a:pt x="124846" y="128835"/>
                </a:lnTo>
                <a:lnTo>
                  <a:pt x="140450" y="128835"/>
                </a:lnTo>
                <a:lnTo>
                  <a:pt x="124740" y="111309"/>
                </a:lnTo>
                <a:close/>
              </a:path>
              <a:path w="268604" h="229235">
                <a:moveTo>
                  <a:pt x="82568" y="163125"/>
                </a:moveTo>
                <a:lnTo>
                  <a:pt x="73914" y="163125"/>
                </a:lnTo>
                <a:lnTo>
                  <a:pt x="83058" y="169983"/>
                </a:lnTo>
                <a:lnTo>
                  <a:pt x="86227" y="167198"/>
                </a:lnTo>
                <a:lnTo>
                  <a:pt x="82568" y="163125"/>
                </a:lnTo>
                <a:close/>
              </a:path>
              <a:path w="268604" h="229235">
                <a:moveTo>
                  <a:pt x="140450" y="128835"/>
                </a:moveTo>
                <a:lnTo>
                  <a:pt x="124846" y="128835"/>
                </a:lnTo>
                <a:lnTo>
                  <a:pt x="140451" y="146111"/>
                </a:lnTo>
                <a:lnTo>
                  <a:pt x="139382" y="148647"/>
                </a:lnTo>
                <a:lnTo>
                  <a:pt x="138287" y="150683"/>
                </a:lnTo>
                <a:lnTo>
                  <a:pt x="137160" y="152838"/>
                </a:lnTo>
                <a:lnTo>
                  <a:pt x="135879" y="154874"/>
                </a:lnTo>
                <a:lnTo>
                  <a:pt x="134112" y="157029"/>
                </a:lnTo>
                <a:lnTo>
                  <a:pt x="131704" y="159065"/>
                </a:lnTo>
                <a:lnTo>
                  <a:pt x="126857" y="163506"/>
                </a:lnTo>
                <a:lnTo>
                  <a:pt x="138317" y="163506"/>
                </a:lnTo>
                <a:lnTo>
                  <a:pt x="139446" y="162494"/>
                </a:lnTo>
                <a:lnTo>
                  <a:pt x="142737" y="156017"/>
                </a:lnTo>
                <a:lnTo>
                  <a:pt x="143134" y="148529"/>
                </a:lnTo>
                <a:lnTo>
                  <a:pt x="152846" y="148529"/>
                </a:lnTo>
                <a:lnTo>
                  <a:pt x="159786" y="142301"/>
                </a:lnTo>
                <a:lnTo>
                  <a:pt x="152521" y="142301"/>
                </a:lnTo>
                <a:lnTo>
                  <a:pt x="140450" y="128835"/>
                </a:lnTo>
                <a:close/>
              </a:path>
              <a:path w="268604" h="229235">
                <a:moveTo>
                  <a:pt x="52181" y="113214"/>
                </a:moveTo>
                <a:lnTo>
                  <a:pt x="0" y="160208"/>
                </a:lnTo>
                <a:lnTo>
                  <a:pt x="2529" y="163007"/>
                </a:lnTo>
                <a:lnTo>
                  <a:pt x="12710" y="156267"/>
                </a:lnTo>
                <a:lnTo>
                  <a:pt x="30682" y="156267"/>
                </a:lnTo>
                <a:lnTo>
                  <a:pt x="23103" y="147885"/>
                </a:lnTo>
                <a:lnTo>
                  <a:pt x="41910" y="131003"/>
                </a:lnTo>
                <a:lnTo>
                  <a:pt x="47609" y="126299"/>
                </a:lnTo>
                <a:lnTo>
                  <a:pt x="51937" y="123251"/>
                </a:lnTo>
                <a:lnTo>
                  <a:pt x="61160" y="123251"/>
                </a:lnTo>
                <a:lnTo>
                  <a:pt x="52181" y="113214"/>
                </a:lnTo>
                <a:close/>
              </a:path>
              <a:path w="268604" h="229235">
                <a:moveTo>
                  <a:pt x="152846" y="148529"/>
                </a:moveTo>
                <a:lnTo>
                  <a:pt x="143134" y="148529"/>
                </a:lnTo>
                <a:lnTo>
                  <a:pt x="148468" y="152457"/>
                </a:lnTo>
                <a:lnTo>
                  <a:pt x="152846" y="148529"/>
                </a:lnTo>
                <a:close/>
              </a:path>
              <a:path w="268604" h="229235">
                <a:moveTo>
                  <a:pt x="159776" y="138110"/>
                </a:moveTo>
                <a:lnTo>
                  <a:pt x="152521" y="142301"/>
                </a:lnTo>
                <a:lnTo>
                  <a:pt x="159786" y="142301"/>
                </a:lnTo>
                <a:lnTo>
                  <a:pt x="161909" y="140396"/>
                </a:lnTo>
                <a:lnTo>
                  <a:pt x="159776" y="138110"/>
                </a:lnTo>
                <a:close/>
              </a:path>
              <a:path w="268604" h="229235">
                <a:moveTo>
                  <a:pt x="114665" y="102677"/>
                </a:moveTo>
                <a:lnTo>
                  <a:pt x="110093" y="102677"/>
                </a:lnTo>
                <a:lnTo>
                  <a:pt x="105674" y="102809"/>
                </a:lnTo>
                <a:lnTo>
                  <a:pt x="100827" y="105213"/>
                </a:lnTo>
                <a:lnTo>
                  <a:pt x="95493" y="110048"/>
                </a:lnTo>
                <a:lnTo>
                  <a:pt x="91196" y="113858"/>
                </a:lnTo>
                <a:lnTo>
                  <a:pt x="86868" y="118929"/>
                </a:lnTo>
                <a:lnTo>
                  <a:pt x="82296" y="125156"/>
                </a:lnTo>
                <a:lnTo>
                  <a:pt x="91958" y="135693"/>
                </a:lnTo>
                <a:lnTo>
                  <a:pt x="94731" y="133157"/>
                </a:lnTo>
                <a:lnTo>
                  <a:pt x="91043" y="125537"/>
                </a:lnTo>
                <a:lnTo>
                  <a:pt x="92445" y="121346"/>
                </a:lnTo>
                <a:lnTo>
                  <a:pt x="95006" y="117668"/>
                </a:lnTo>
                <a:lnTo>
                  <a:pt x="98419" y="114488"/>
                </a:lnTo>
                <a:lnTo>
                  <a:pt x="100949" y="112202"/>
                </a:lnTo>
                <a:lnTo>
                  <a:pt x="103510" y="111309"/>
                </a:lnTo>
                <a:lnTo>
                  <a:pt x="124740" y="111309"/>
                </a:lnTo>
                <a:lnTo>
                  <a:pt x="122925" y="109286"/>
                </a:lnTo>
                <a:lnTo>
                  <a:pt x="118872" y="104832"/>
                </a:lnTo>
                <a:lnTo>
                  <a:pt x="114665" y="102677"/>
                </a:lnTo>
                <a:close/>
              </a:path>
              <a:path w="268604" h="229235">
                <a:moveTo>
                  <a:pt x="128641" y="57470"/>
                </a:moveTo>
                <a:lnTo>
                  <a:pt x="113141" y="57470"/>
                </a:lnTo>
                <a:lnTo>
                  <a:pt x="172974" y="124013"/>
                </a:lnTo>
                <a:lnTo>
                  <a:pt x="165719" y="132776"/>
                </a:lnTo>
                <a:lnTo>
                  <a:pt x="167883" y="135062"/>
                </a:lnTo>
                <a:lnTo>
                  <a:pt x="188784" y="116262"/>
                </a:lnTo>
                <a:lnTo>
                  <a:pt x="181477" y="116262"/>
                </a:lnTo>
                <a:lnTo>
                  <a:pt x="128641" y="57470"/>
                </a:lnTo>
                <a:close/>
              </a:path>
              <a:path w="268604" h="229235">
                <a:moveTo>
                  <a:pt x="61160" y="123251"/>
                </a:moveTo>
                <a:lnTo>
                  <a:pt x="51937" y="123251"/>
                </a:lnTo>
                <a:lnTo>
                  <a:pt x="63764" y="133026"/>
                </a:lnTo>
                <a:lnTo>
                  <a:pt x="67177" y="129978"/>
                </a:lnTo>
                <a:lnTo>
                  <a:pt x="61160" y="123251"/>
                </a:lnTo>
                <a:close/>
              </a:path>
              <a:path w="268604" h="229235">
                <a:moveTo>
                  <a:pt x="189168" y="111253"/>
                </a:moveTo>
                <a:lnTo>
                  <a:pt x="181477" y="116262"/>
                </a:lnTo>
                <a:lnTo>
                  <a:pt x="188784" y="116262"/>
                </a:lnTo>
                <a:lnTo>
                  <a:pt x="193019" y="112452"/>
                </a:lnTo>
                <a:lnTo>
                  <a:pt x="190256" y="112452"/>
                </a:lnTo>
                <a:lnTo>
                  <a:pt x="189168" y="111253"/>
                </a:lnTo>
                <a:close/>
              </a:path>
              <a:path w="268604" h="229235">
                <a:moveTo>
                  <a:pt x="191018" y="110048"/>
                </a:moveTo>
                <a:lnTo>
                  <a:pt x="189168" y="111253"/>
                </a:lnTo>
                <a:lnTo>
                  <a:pt x="190256" y="112452"/>
                </a:lnTo>
                <a:lnTo>
                  <a:pt x="192423" y="111553"/>
                </a:lnTo>
                <a:lnTo>
                  <a:pt x="191018" y="110048"/>
                </a:lnTo>
                <a:close/>
              </a:path>
              <a:path w="268604" h="229235">
                <a:moveTo>
                  <a:pt x="192423" y="111553"/>
                </a:moveTo>
                <a:lnTo>
                  <a:pt x="190256" y="112452"/>
                </a:lnTo>
                <a:lnTo>
                  <a:pt x="193019" y="112452"/>
                </a:lnTo>
                <a:lnTo>
                  <a:pt x="193029" y="112202"/>
                </a:lnTo>
                <a:lnTo>
                  <a:pt x="192423" y="111553"/>
                </a:lnTo>
                <a:close/>
              </a:path>
              <a:path w="268604" h="229235">
                <a:moveTo>
                  <a:pt x="195193" y="110048"/>
                </a:moveTo>
                <a:lnTo>
                  <a:pt x="191018" y="110048"/>
                </a:lnTo>
                <a:lnTo>
                  <a:pt x="192423" y="111553"/>
                </a:lnTo>
                <a:lnTo>
                  <a:pt x="195193" y="110048"/>
                </a:lnTo>
                <a:close/>
              </a:path>
              <a:path w="268604" h="229235">
                <a:moveTo>
                  <a:pt x="181721" y="98355"/>
                </a:moveTo>
                <a:lnTo>
                  <a:pt x="179435" y="100523"/>
                </a:lnTo>
                <a:lnTo>
                  <a:pt x="189168" y="111253"/>
                </a:lnTo>
                <a:lnTo>
                  <a:pt x="191018" y="110048"/>
                </a:lnTo>
                <a:lnTo>
                  <a:pt x="195193" y="110048"/>
                </a:lnTo>
                <a:lnTo>
                  <a:pt x="198638" y="107880"/>
                </a:lnTo>
                <a:lnTo>
                  <a:pt x="201930" y="105857"/>
                </a:lnTo>
                <a:lnTo>
                  <a:pt x="204856" y="103689"/>
                </a:lnTo>
                <a:lnTo>
                  <a:pt x="205707" y="102927"/>
                </a:lnTo>
                <a:lnTo>
                  <a:pt x="195072" y="102927"/>
                </a:lnTo>
                <a:lnTo>
                  <a:pt x="190378" y="102809"/>
                </a:lnTo>
                <a:lnTo>
                  <a:pt x="181721" y="98355"/>
                </a:lnTo>
                <a:close/>
              </a:path>
              <a:path w="268604" h="229235">
                <a:moveTo>
                  <a:pt x="216070" y="74733"/>
                </a:moveTo>
                <a:lnTo>
                  <a:pt x="196839" y="74733"/>
                </a:lnTo>
                <a:lnTo>
                  <a:pt x="202173" y="75377"/>
                </a:lnTo>
                <a:lnTo>
                  <a:pt x="206678" y="80448"/>
                </a:lnTo>
                <a:lnTo>
                  <a:pt x="211195" y="85401"/>
                </a:lnTo>
                <a:lnTo>
                  <a:pt x="210433" y="91247"/>
                </a:lnTo>
                <a:lnTo>
                  <a:pt x="203697" y="97343"/>
                </a:lnTo>
                <a:lnTo>
                  <a:pt x="199522" y="101022"/>
                </a:lnTo>
                <a:lnTo>
                  <a:pt x="195072" y="102927"/>
                </a:lnTo>
                <a:lnTo>
                  <a:pt x="205707" y="102927"/>
                </a:lnTo>
                <a:lnTo>
                  <a:pt x="218280" y="80448"/>
                </a:lnTo>
                <a:lnTo>
                  <a:pt x="218252" y="80198"/>
                </a:lnTo>
                <a:lnTo>
                  <a:pt x="216529" y="75245"/>
                </a:lnTo>
                <a:lnTo>
                  <a:pt x="216070" y="74733"/>
                </a:lnTo>
                <a:close/>
              </a:path>
              <a:path w="268604" h="229235">
                <a:moveTo>
                  <a:pt x="177424" y="38801"/>
                </a:moveTo>
                <a:lnTo>
                  <a:pt x="171053" y="42611"/>
                </a:lnTo>
                <a:lnTo>
                  <a:pt x="166116" y="46040"/>
                </a:lnTo>
                <a:lnTo>
                  <a:pt x="162549" y="49337"/>
                </a:lnTo>
                <a:lnTo>
                  <a:pt x="157612" y="53778"/>
                </a:lnTo>
                <a:lnTo>
                  <a:pt x="154807" y="58613"/>
                </a:lnTo>
                <a:lnTo>
                  <a:pt x="154045" y="63684"/>
                </a:lnTo>
                <a:lnTo>
                  <a:pt x="153405" y="68768"/>
                </a:lnTo>
                <a:lnTo>
                  <a:pt x="154929" y="73472"/>
                </a:lnTo>
                <a:lnTo>
                  <a:pt x="158739" y="77781"/>
                </a:lnTo>
                <a:lnTo>
                  <a:pt x="161025" y="80198"/>
                </a:lnTo>
                <a:lnTo>
                  <a:pt x="163311" y="81854"/>
                </a:lnTo>
                <a:lnTo>
                  <a:pt x="165597" y="82734"/>
                </a:lnTo>
                <a:lnTo>
                  <a:pt x="168005" y="83759"/>
                </a:lnTo>
                <a:lnTo>
                  <a:pt x="196839" y="74733"/>
                </a:lnTo>
                <a:lnTo>
                  <a:pt x="216070" y="74733"/>
                </a:lnTo>
                <a:lnTo>
                  <a:pt x="213676" y="72066"/>
                </a:lnTo>
                <a:lnTo>
                  <a:pt x="173736" y="72066"/>
                </a:lnTo>
                <a:lnTo>
                  <a:pt x="168645" y="71816"/>
                </a:lnTo>
                <a:lnTo>
                  <a:pt x="161677" y="63684"/>
                </a:lnTo>
                <a:lnTo>
                  <a:pt x="161909" y="61148"/>
                </a:lnTo>
                <a:lnTo>
                  <a:pt x="162062" y="58481"/>
                </a:lnTo>
                <a:lnTo>
                  <a:pt x="163586" y="55814"/>
                </a:lnTo>
                <a:lnTo>
                  <a:pt x="166359" y="53279"/>
                </a:lnTo>
                <a:lnTo>
                  <a:pt x="170291" y="49850"/>
                </a:lnTo>
                <a:lnTo>
                  <a:pt x="173979" y="47945"/>
                </a:lnTo>
                <a:lnTo>
                  <a:pt x="185575" y="47945"/>
                </a:lnTo>
                <a:lnTo>
                  <a:pt x="177424" y="38801"/>
                </a:lnTo>
                <a:close/>
              </a:path>
              <a:path w="268604" h="229235">
                <a:moveTo>
                  <a:pt x="198120" y="63947"/>
                </a:moveTo>
                <a:lnTo>
                  <a:pt x="195834" y="64065"/>
                </a:lnTo>
                <a:lnTo>
                  <a:pt x="193669" y="64709"/>
                </a:lnTo>
                <a:lnTo>
                  <a:pt x="191383" y="65339"/>
                </a:lnTo>
                <a:lnTo>
                  <a:pt x="186933" y="66995"/>
                </a:lnTo>
                <a:lnTo>
                  <a:pt x="180197" y="69911"/>
                </a:lnTo>
                <a:lnTo>
                  <a:pt x="176784" y="71435"/>
                </a:lnTo>
                <a:lnTo>
                  <a:pt x="173736" y="72066"/>
                </a:lnTo>
                <a:lnTo>
                  <a:pt x="213676" y="72066"/>
                </a:lnTo>
                <a:lnTo>
                  <a:pt x="212201" y="70424"/>
                </a:lnTo>
                <a:lnTo>
                  <a:pt x="202295" y="64196"/>
                </a:lnTo>
                <a:lnTo>
                  <a:pt x="198120" y="63947"/>
                </a:lnTo>
                <a:close/>
              </a:path>
              <a:path w="268604" h="229235">
                <a:moveTo>
                  <a:pt x="228036" y="0"/>
                </a:moveTo>
                <a:lnTo>
                  <a:pt x="218592" y="1280"/>
                </a:lnTo>
                <a:lnTo>
                  <a:pt x="209153" y="7296"/>
                </a:lnTo>
                <a:lnTo>
                  <a:pt x="202570" y="13274"/>
                </a:lnTo>
                <a:lnTo>
                  <a:pt x="199400" y="19869"/>
                </a:lnTo>
                <a:lnTo>
                  <a:pt x="199644" y="27371"/>
                </a:lnTo>
                <a:lnTo>
                  <a:pt x="223197" y="61656"/>
                </a:lnTo>
                <a:lnTo>
                  <a:pt x="241554" y="66995"/>
                </a:lnTo>
                <a:lnTo>
                  <a:pt x="248930" y="64065"/>
                </a:lnTo>
                <a:lnTo>
                  <a:pt x="256479" y="57136"/>
                </a:lnTo>
                <a:lnTo>
                  <a:pt x="257989" y="55814"/>
                </a:lnTo>
                <a:lnTo>
                  <a:pt x="240151" y="55814"/>
                </a:lnTo>
                <a:lnTo>
                  <a:pt x="236738" y="55302"/>
                </a:lnTo>
                <a:lnTo>
                  <a:pt x="233293" y="53660"/>
                </a:lnTo>
                <a:lnTo>
                  <a:pt x="229880" y="51873"/>
                </a:lnTo>
                <a:lnTo>
                  <a:pt x="226070" y="48707"/>
                </a:lnTo>
                <a:lnTo>
                  <a:pt x="221742" y="43872"/>
                </a:lnTo>
                <a:lnTo>
                  <a:pt x="220858" y="42992"/>
                </a:lnTo>
                <a:lnTo>
                  <a:pt x="225664" y="38669"/>
                </a:lnTo>
                <a:lnTo>
                  <a:pt x="217291" y="38669"/>
                </a:lnTo>
                <a:lnTo>
                  <a:pt x="212201" y="33086"/>
                </a:lnTo>
                <a:lnTo>
                  <a:pt x="209306" y="27870"/>
                </a:lnTo>
                <a:lnTo>
                  <a:pt x="208544" y="23298"/>
                </a:lnTo>
                <a:lnTo>
                  <a:pt x="207904" y="18608"/>
                </a:lnTo>
                <a:lnTo>
                  <a:pt x="209306" y="14666"/>
                </a:lnTo>
                <a:lnTo>
                  <a:pt x="216286" y="8570"/>
                </a:lnTo>
                <a:lnTo>
                  <a:pt x="219821" y="7677"/>
                </a:lnTo>
                <a:lnTo>
                  <a:pt x="242328" y="7677"/>
                </a:lnTo>
                <a:lnTo>
                  <a:pt x="237503" y="3481"/>
                </a:lnTo>
                <a:lnTo>
                  <a:pt x="228036" y="0"/>
                </a:lnTo>
                <a:close/>
              </a:path>
              <a:path w="268604" h="229235">
                <a:moveTo>
                  <a:pt x="118475" y="46158"/>
                </a:moveTo>
                <a:lnTo>
                  <a:pt x="101589" y="61398"/>
                </a:lnTo>
                <a:lnTo>
                  <a:pt x="103632" y="63684"/>
                </a:lnTo>
                <a:lnTo>
                  <a:pt x="113141" y="57470"/>
                </a:lnTo>
                <a:lnTo>
                  <a:pt x="128641" y="57470"/>
                </a:lnTo>
                <a:lnTo>
                  <a:pt x="118475" y="46158"/>
                </a:lnTo>
                <a:close/>
              </a:path>
              <a:path w="268604" h="229235">
                <a:moveTo>
                  <a:pt x="265816" y="36383"/>
                </a:moveTo>
                <a:lnTo>
                  <a:pt x="264008" y="38812"/>
                </a:lnTo>
                <a:lnTo>
                  <a:pt x="262646" y="40574"/>
                </a:lnTo>
                <a:lnTo>
                  <a:pt x="260360" y="43110"/>
                </a:lnTo>
                <a:lnTo>
                  <a:pt x="258074" y="45777"/>
                </a:lnTo>
                <a:lnTo>
                  <a:pt x="256032" y="47945"/>
                </a:lnTo>
                <a:lnTo>
                  <a:pt x="254111" y="49587"/>
                </a:lnTo>
                <a:lnTo>
                  <a:pt x="250576" y="52766"/>
                </a:lnTo>
                <a:lnTo>
                  <a:pt x="247131" y="54671"/>
                </a:lnTo>
                <a:lnTo>
                  <a:pt x="243718" y="55302"/>
                </a:lnTo>
                <a:lnTo>
                  <a:pt x="240151" y="55814"/>
                </a:lnTo>
                <a:lnTo>
                  <a:pt x="257989" y="55814"/>
                </a:lnTo>
                <a:lnTo>
                  <a:pt x="268345" y="39300"/>
                </a:lnTo>
                <a:lnTo>
                  <a:pt x="265816" y="36383"/>
                </a:lnTo>
                <a:close/>
              </a:path>
              <a:path w="268604" h="229235">
                <a:moveTo>
                  <a:pt x="185575" y="47945"/>
                </a:moveTo>
                <a:lnTo>
                  <a:pt x="177302" y="47945"/>
                </a:lnTo>
                <a:lnTo>
                  <a:pt x="184525" y="51623"/>
                </a:lnTo>
                <a:lnTo>
                  <a:pt x="186933" y="49469"/>
                </a:lnTo>
                <a:lnTo>
                  <a:pt x="185575" y="47945"/>
                </a:lnTo>
                <a:close/>
              </a:path>
              <a:path w="268604" h="229235">
                <a:moveTo>
                  <a:pt x="242328" y="7677"/>
                </a:moveTo>
                <a:lnTo>
                  <a:pt x="219821" y="7677"/>
                </a:lnTo>
                <a:lnTo>
                  <a:pt x="223784" y="8820"/>
                </a:lnTo>
                <a:lnTo>
                  <a:pt x="227838" y="10094"/>
                </a:lnTo>
                <a:lnTo>
                  <a:pt x="232531" y="13773"/>
                </a:lnTo>
                <a:lnTo>
                  <a:pt x="238109" y="20000"/>
                </a:lnTo>
                <a:lnTo>
                  <a:pt x="217291" y="38669"/>
                </a:lnTo>
                <a:lnTo>
                  <a:pt x="225664" y="38669"/>
                </a:lnTo>
                <a:lnTo>
                  <a:pt x="250941" y="15941"/>
                </a:lnTo>
                <a:lnTo>
                  <a:pt x="247009" y="11750"/>
                </a:lnTo>
                <a:lnTo>
                  <a:pt x="242328" y="76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9"/>
          <p:cNvSpPr/>
          <p:nvPr/>
        </p:nvSpPr>
        <p:spPr>
          <a:xfrm rot="20603629">
            <a:off x="7270777" y="3448245"/>
            <a:ext cx="661622" cy="687202"/>
          </a:xfrm>
          <a:custGeom>
            <a:avLst/>
            <a:gdLst/>
            <a:ahLst/>
            <a:cxnLst/>
            <a:rect l="l" t="t" r="r" b="b"/>
            <a:pathLst>
              <a:path w="602615" h="575310">
                <a:moveTo>
                  <a:pt x="160488" y="0"/>
                </a:moveTo>
                <a:lnTo>
                  <a:pt x="7246" y="158228"/>
                </a:lnTo>
                <a:lnTo>
                  <a:pt x="0" y="179068"/>
                </a:lnTo>
                <a:lnTo>
                  <a:pt x="2703" y="189747"/>
                </a:lnTo>
                <a:lnTo>
                  <a:pt x="9532" y="198864"/>
                </a:lnTo>
                <a:lnTo>
                  <a:pt x="421256" y="567922"/>
                </a:lnTo>
                <a:lnTo>
                  <a:pt x="431098" y="573676"/>
                </a:lnTo>
                <a:lnTo>
                  <a:pt x="442020" y="575164"/>
                </a:lnTo>
                <a:lnTo>
                  <a:pt x="452726" y="572459"/>
                </a:lnTo>
                <a:lnTo>
                  <a:pt x="461916" y="565636"/>
                </a:lnTo>
                <a:lnTo>
                  <a:pt x="595114" y="416927"/>
                </a:lnTo>
                <a:lnTo>
                  <a:pt x="600940" y="407076"/>
                </a:lnTo>
                <a:lnTo>
                  <a:pt x="602471" y="396129"/>
                </a:lnTo>
                <a:lnTo>
                  <a:pt x="599790" y="385419"/>
                </a:lnTo>
                <a:lnTo>
                  <a:pt x="592980" y="376279"/>
                </a:lnTo>
                <a:lnTo>
                  <a:pt x="181226" y="7352"/>
                </a:lnTo>
                <a:lnTo>
                  <a:pt x="171401" y="1527"/>
                </a:lnTo>
                <a:lnTo>
                  <a:pt x="16048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20"/>
          <p:cNvSpPr/>
          <p:nvPr/>
        </p:nvSpPr>
        <p:spPr>
          <a:xfrm rot="20603629">
            <a:off x="7447224" y="3612119"/>
            <a:ext cx="232373" cy="2815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2"/>
          <p:cNvSpPr txBox="1"/>
          <p:nvPr/>
        </p:nvSpPr>
        <p:spPr>
          <a:xfrm>
            <a:off x="7817631" y="3045290"/>
            <a:ext cx="2294912" cy="303287"/>
          </a:xfrm>
          <a:prstGeom prst="rect">
            <a:avLst/>
          </a:prstGeom>
          <a:ln w="28574">
            <a:solidFill>
              <a:srgbClr val="5F4778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204"/>
              </a:spcBef>
            </a:pPr>
            <a:r>
              <a:rPr b="1" spc="-20" dirty="0">
                <a:latin typeface="Times New Roman"/>
                <a:cs typeface="Times New Roman"/>
              </a:rPr>
              <a:t>is </a:t>
            </a:r>
            <a:r>
              <a:rPr b="1" spc="-15" dirty="0">
                <a:latin typeface="Times New Roman"/>
                <a:cs typeface="Times New Roman"/>
              </a:rPr>
              <a:t>diameter </a:t>
            </a:r>
            <a:r>
              <a:rPr b="1" dirty="0">
                <a:latin typeface="Times New Roman"/>
                <a:cs typeface="Times New Roman"/>
              </a:rPr>
              <a:t>&gt; =</a:t>
            </a:r>
            <a:r>
              <a:rPr b="1" spc="10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3?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51" name="object 14"/>
          <p:cNvSpPr/>
          <p:nvPr/>
        </p:nvSpPr>
        <p:spPr>
          <a:xfrm>
            <a:off x="8312504" y="3154184"/>
            <a:ext cx="349885" cy="0"/>
          </a:xfrm>
          <a:custGeom>
            <a:avLst/>
            <a:gdLst/>
            <a:ahLst/>
            <a:cxnLst/>
            <a:rect l="l" t="t" r="r" b="b"/>
            <a:pathLst>
              <a:path w="349885">
                <a:moveTo>
                  <a:pt x="0" y="0"/>
                </a:moveTo>
                <a:lnTo>
                  <a:pt x="349514" y="0"/>
                </a:lnTo>
              </a:path>
            </a:pathLst>
          </a:custGeom>
          <a:ln w="19049">
            <a:solidFill>
              <a:srgbClr val="5F4778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39"/>
          <p:cNvSpPr txBox="1"/>
          <p:nvPr/>
        </p:nvSpPr>
        <p:spPr>
          <a:xfrm>
            <a:off x="7586413" y="2617128"/>
            <a:ext cx="2327596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0" dirty="0">
                <a:solidFill>
                  <a:srgbClr val="F07F09"/>
                </a:solidFill>
                <a:latin typeface="Times New Roman"/>
                <a:cs typeface="Times New Roman"/>
              </a:rPr>
              <a:t>Information </a:t>
            </a:r>
            <a:r>
              <a:rPr sz="1400" spc="-10" dirty="0">
                <a:solidFill>
                  <a:srgbClr val="F07F09"/>
                </a:solidFill>
                <a:latin typeface="Times New Roman"/>
                <a:cs typeface="Times New Roman"/>
              </a:rPr>
              <a:t>Gain </a:t>
            </a:r>
            <a:r>
              <a:rPr sz="1400" spc="10" dirty="0">
                <a:solidFill>
                  <a:srgbClr val="F07F09"/>
                </a:solidFill>
                <a:latin typeface="Times New Roman"/>
                <a:cs typeface="Times New Roman"/>
              </a:rPr>
              <a:t>=</a:t>
            </a:r>
            <a:r>
              <a:rPr sz="1400" spc="-120" dirty="0">
                <a:solidFill>
                  <a:srgbClr val="F07F09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F07F09"/>
                </a:solidFill>
                <a:latin typeface="Times New Roman"/>
                <a:cs typeface="Times New Roman"/>
              </a:rPr>
              <a:t>0.37</a:t>
            </a:r>
            <a:endParaRPr sz="1400" dirty="0">
              <a:latin typeface="Times New Roman"/>
              <a:cs typeface="Times New Roman"/>
            </a:endParaRPr>
          </a:p>
        </p:txBody>
      </p:sp>
      <p:graphicFrame>
        <p:nvGraphicFramePr>
          <p:cNvPr id="153" name="objec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539834"/>
              </p:ext>
            </p:extLst>
          </p:nvPr>
        </p:nvGraphicFramePr>
        <p:xfrm>
          <a:off x="9244939" y="3668154"/>
          <a:ext cx="2284095" cy="7516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240"/>
                <a:gridCol w="193675"/>
                <a:gridCol w="685800"/>
                <a:gridCol w="1135380"/>
              </a:tblGrid>
              <a:tr h="221389">
                <a:tc>
                  <a:txBody>
                    <a:bodyPr/>
                    <a:lstStyle/>
                    <a:p>
                      <a:pPr marR="59055" algn="r">
                        <a:lnSpc>
                          <a:spcPts val="1295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43815" marB="0">
                    <a:lnL w="12700">
                      <a:solidFill>
                        <a:srgbClr val="5F4778"/>
                      </a:solidFill>
                      <a:prstDash val="solid"/>
                    </a:lnL>
                    <a:lnT w="12700">
                      <a:solidFill>
                        <a:srgbClr val="5F477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295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T w="12700">
                      <a:solidFill>
                        <a:srgbClr val="5F477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295"/>
                        </a:lnSpc>
                        <a:spcBef>
                          <a:spcPts val="345"/>
                        </a:spcBef>
                      </a:pPr>
                      <a:r>
                        <a:rPr sz="1100" spc="-5" dirty="0">
                          <a:latin typeface="Times New Roman"/>
                          <a:cs typeface="Times New Roman"/>
                        </a:rPr>
                        <a:t>Mango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R w="12700">
                      <a:solidFill>
                        <a:srgbClr val="5F4778"/>
                      </a:solidFill>
                      <a:prstDash val="solid"/>
                    </a:lnR>
                    <a:lnT w="12700">
                      <a:solidFill>
                        <a:srgbClr val="5F477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F4778"/>
                      </a:solidFill>
                      <a:prstDash val="solid"/>
                    </a:lnL>
                  </a:tcPr>
                </a:tc>
              </a:tr>
              <a:tr h="167003">
                <a:tc>
                  <a:txBody>
                    <a:bodyPr/>
                    <a:lstStyle/>
                    <a:p>
                      <a:pPr marR="59055" algn="r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F4778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215"/>
                        </a:lnSpc>
                      </a:pPr>
                      <a:r>
                        <a:rPr sz="1100" spc="-5" dirty="0">
                          <a:latin typeface="Times New Roman"/>
                          <a:cs typeface="Times New Roman"/>
                        </a:rPr>
                        <a:t>Mango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5F477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F4778"/>
                      </a:solidFill>
                      <a:prstDash val="solid"/>
                    </a:ln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 marR="59055" algn="r">
                        <a:lnSpc>
                          <a:spcPts val="124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F4778"/>
                      </a:solidFill>
                      <a:prstDash val="solid"/>
                    </a:lnL>
                    <a:lnB w="12700">
                      <a:solidFill>
                        <a:srgbClr val="5F47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24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5F47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240"/>
                        </a:lnSpc>
                      </a:pPr>
                      <a:r>
                        <a:rPr sz="1100" spc="-5" dirty="0">
                          <a:latin typeface="Times New Roman"/>
                          <a:cs typeface="Times New Roman"/>
                        </a:rPr>
                        <a:t>Lemon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5F4778"/>
                      </a:solidFill>
                      <a:prstDash val="solid"/>
                    </a:lnR>
                    <a:lnB w="12700">
                      <a:solidFill>
                        <a:srgbClr val="5F47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F4778"/>
                      </a:solidFill>
                      <a:prstDash val="solid"/>
                    </a:lnL>
                  </a:tcPr>
                </a:tc>
              </a:tr>
              <a:tr h="151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5F477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5F477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5F477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880"/>
                        </a:lnSpc>
                        <a:spcBef>
                          <a:spcPts val="210"/>
                        </a:spcBef>
                      </a:pPr>
                      <a:r>
                        <a:rPr sz="800" spc="15" dirty="0">
                          <a:solidFill>
                            <a:srgbClr val="F07F09"/>
                          </a:solidFill>
                          <a:latin typeface="Times New Roman"/>
                          <a:cs typeface="Times New Roman"/>
                        </a:rPr>
                        <a:t>Information </a:t>
                      </a:r>
                      <a:r>
                        <a:rPr sz="800" spc="-10" dirty="0">
                          <a:solidFill>
                            <a:srgbClr val="F07F09"/>
                          </a:solidFill>
                          <a:latin typeface="Times New Roman"/>
                          <a:cs typeface="Times New Roman"/>
                        </a:rPr>
                        <a:t>Gain </a:t>
                      </a:r>
                      <a:r>
                        <a:rPr sz="800" spc="15" dirty="0">
                          <a:solidFill>
                            <a:srgbClr val="F07F09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800" spc="-145" dirty="0">
                          <a:solidFill>
                            <a:srgbClr val="F07F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0" dirty="0">
                          <a:solidFill>
                            <a:srgbClr val="F07F09"/>
                          </a:solidFill>
                          <a:latin typeface="Times New Roman"/>
                          <a:cs typeface="Times New Roman"/>
                        </a:rPr>
                        <a:t>0.11</a:t>
                      </a: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</a:tr>
            </a:tbl>
          </a:graphicData>
        </a:graphic>
      </p:graphicFrame>
      <p:sp>
        <p:nvSpPr>
          <p:cNvPr id="154" name="Rectangle 153"/>
          <p:cNvSpPr/>
          <p:nvPr/>
        </p:nvSpPr>
        <p:spPr>
          <a:xfrm>
            <a:off x="9095177" y="3298850"/>
            <a:ext cx="17633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00" b="1" spc="-10" dirty="0" err="1" smtClean="0">
                <a:solidFill>
                  <a:srgbClr val="F07F09"/>
                </a:solidFill>
                <a:latin typeface="Times New Roman"/>
                <a:cs typeface="Times New Roman"/>
              </a:rPr>
              <a:t>Gini</a:t>
            </a:r>
            <a:r>
              <a:rPr lang="en-US" sz="1400" b="1" spc="-10" dirty="0" smtClean="0">
                <a:solidFill>
                  <a:srgbClr val="F07F09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20" dirty="0" smtClean="0">
                <a:solidFill>
                  <a:srgbClr val="F07F09"/>
                </a:solidFill>
                <a:latin typeface="Times New Roman"/>
                <a:cs typeface="Times New Roman"/>
              </a:rPr>
              <a:t>Impurity </a:t>
            </a:r>
            <a:r>
              <a:rPr lang="en-US" sz="1400" b="1" spc="15" dirty="0" smtClean="0">
                <a:solidFill>
                  <a:srgbClr val="F07F09"/>
                </a:solidFill>
                <a:latin typeface="Times New Roman"/>
                <a:cs typeface="Times New Roman"/>
              </a:rPr>
              <a:t>=</a:t>
            </a:r>
            <a:r>
              <a:rPr lang="en-US" sz="1400" b="1" spc="-30" dirty="0" smtClean="0">
                <a:solidFill>
                  <a:srgbClr val="F07F09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20" dirty="0" smtClean="0">
                <a:solidFill>
                  <a:srgbClr val="F07F09"/>
                </a:solidFill>
                <a:latin typeface="Times New Roman"/>
                <a:cs typeface="Times New Roman"/>
              </a:rPr>
              <a:t>0.44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155" name="object 31"/>
          <p:cNvSpPr/>
          <p:nvPr/>
        </p:nvSpPr>
        <p:spPr>
          <a:xfrm>
            <a:off x="6896363" y="4903320"/>
            <a:ext cx="515472" cy="231139"/>
          </a:xfrm>
          <a:custGeom>
            <a:avLst/>
            <a:gdLst/>
            <a:ahLst/>
            <a:cxnLst/>
            <a:rect l="l" t="t" r="r" b="b"/>
            <a:pathLst>
              <a:path w="267335" h="231139">
                <a:moveTo>
                  <a:pt x="30814" y="158174"/>
                </a:moveTo>
                <a:lnTo>
                  <a:pt x="12588" y="158174"/>
                </a:lnTo>
                <a:lnTo>
                  <a:pt x="68214" y="218991"/>
                </a:lnTo>
                <a:lnTo>
                  <a:pt x="61356" y="227873"/>
                </a:lnTo>
                <a:lnTo>
                  <a:pt x="63886" y="230585"/>
                </a:lnTo>
                <a:lnTo>
                  <a:pt x="86497" y="209892"/>
                </a:lnTo>
                <a:lnTo>
                  <a:pt x="78242" y="209892"/>
                </a:lnTo>
                <a:lnTo>
                  <a:pt x="53583" y="183046"/>
                </a:lnTo>
                <a:lnTo>
                  <a:pt x="58641" y="178413"/>
                </a:lnTo>
                <a:lnTo>
                  <a:pt x="49408" y="178413"/>
                </a:lnTo>
                <a:lnTo>
                  <a:pt x="30814" y="158174"/>
                </a:lnTo>
                <a:close/>
              </a:path>
              <a:path w="267335" h="231139">
                <a:moveTo>
                  <a:pt x="90921" y="200785"/>
                </a:moveTo>
                <a:lnTo>
                  <a:pt x="78242" y="209892"/>
                </a:lnTo>
                <a:lnTo>
                  <a:pt x="86497" y="209892"/>
                </a:lnTo>
                <a:lnTo>
                  <a:pt x="93482" y="203501"/>
                </a:lnTo>
                <a:lnTo>
                  <a:pt x="90921" y="200785"/>
                </a:lnTo>
                <a:close/>
              </a:path>
              <a:path w="267335" h="231139">
                <a:moveTo>
                  <a:pt x="66812" y="147232"/>
                </a:moveTo>
                <a:lnTo>
                  <a:pt x="63764" y="150100"/>
                </a:lnTo>
                <a:lnTo>
                  <a:pt x="69738" y="159805"/>
                </a:lnTo>
                <a:lnTo>
                  <a:pt x="49408" y="178413"/>
                </a:lnTo>
                <a:lnTo>
                  <a:pt x="58641" y="178413"/>
                </a:lnTo>
                <a:lnTo>
                  <a:pt x="73914" y="164422"/>
                </a:lnTo>
                <a:lnTo>
                  <a:pt x="82561" y="164422"/>
                </a:lnTo>
                <a:lnTo>
                  <a:pt x="66812" y="147232"/>
                </a:lnTo>
                <a:close/>
              </a:path>
              <a:path w="267335" h="231139">
                <a:moveTo>
                  <a:pt x="124400" y="112393"/>
                </a:moveTo>
                <a:lnTo>
                  <a:pt x="103113" y="112393"/>
                </a:lnTo>
                <a:lnTo>
                  <a:pt x="108465" y="113335"/>
                </a:lnTo>
                <a:lnTo>
                  <a:pt x="111252" y="115215"/>
                </a:lnTo>
                <a:lnTo>
                  <a:pt x="121279" y="126109"/>
                </a:lnTo>
                <a:lnTo>
                  <a:pt x="109087" y="137838"/>
                </a:lnTo>
                <a:lnTo>
                  <a:pt x="105674" y="142087"/>
                </a:lnTo>
                <a:lnTo>
                  <a:pt x="103875" y="145720"/>
                </a:lnTo>
                <a:lnTo>
                  <a:pt x="102278" y="149231"/>
                </a:lnTo>
                <a:lnTo>
                  <a:pt x="102172" y="149649"/>
                </a:lnTo>
                <a:lnTo>
                  <a:pt x="101589" y="152779"/>
                </a:lnTo>
                <a:lnTo>
                  <a:pt x="102351" y="156040"/>
                </a:lnTo>
                <a:lnTo>
                  <a:pt x="102991" y="159293"/>
                </a:lnTo>
                <a:lnTo>
                  <a:pt x="104790" y="162530"/>
                </a:lnTo>
                <a:lnTo>
                  <a:pt x="107838" y="165757"/>
                </a:lnTo>
                <a:lnTo>
                  <a:pt x="114353" y="171351"/>
                </a:lnTo>
                <a:lnTo>
                  <a:pt x="120777" y="173723"/>
                </a:lnTo>
                <a:lnTo>
                  <a:pt x="127109" y="172874"/>
                </a:lnTo>
                <a:lnTo>
                  <a:pt x="133350" y="168805"/>
                </a:lnTo>
                <a:lnTo>
                  <a:pt x="138150" y="164435"/>
                </a:lnTo>
                <a:lnTo>
                  <a:pt x="126654" y="164422"/>
                </a:lnTo>
                <a:lnTo>
                  <a:pt x="121554" y="163660"/>
                </a:lnTo>
                <a:lnTo>
                  <a:pt x="112654" y="153861"/>
                </a:lnTo>
                <a:lnTo>
                  <a:pt x="111008" y="150423"/>
                </a:lnTo>
                <a:lnTo>
                  <a:pt x="111252" y="144205"/>
                </a:lnTo>
                <a:lnTo>
                  <a:pt x="113538" y="140468"/>
                </a:lnTo>
                <a:lnTo>
                  <a:pt x="117988" y="136085"/>
                </a:lnTo>
                <a:lnTo>
                  <a:pt x="124602" y="129718"/>
                </a:lnTo>
                <a:lnTo>
                  <a:pt x="140283" y="129718"/>
                </a:lnTo>
                <a:lnTo>
                  <a:pt x="124400" y="112393"/>
                </a:lnTo>
                <a:close/>
              </a:path>
              <a:path w="267335" h="231139">
                <a:moveTo>
                  <a:pt x="82561" y="164422"/>
                </a:moveTo>
                <a:lnTo>
                  <a:pt x="73914" y="164422"/>
                </a:lnTo>
                <a:lnTo>
                  <a:pt x="83179" y="171305"/>
                </a:lnTo>
                <a:lnTo>
                  <a:pt x="86227" y="168424"/>
                </a:lnTo>
                <a:lnTo>
                  <a:pt x="82561" y="164422"/>
                </a:lnTo>
                <a:close/>
              </a:path>
              <a:path w="267335" h="231139">
                <a:moveTo>
                  <a:pt x="51694" y="114822"/>
                </a:moveTo>
                <a:lnTo>
                  <a:pt x="0" y="162197"/>
                </a:lnTo>
                <a:lnTo>
                  <a:pt x="2529" y="164934"/>
                </a:lnTo>
                <a:lnTo>
                  <a:pt x="12588" y="158174"/>
                </a:lnTo>
                <a:lnTo>
                  <a:pt x="30814" y="158174"/>
                </a:lnTo>
                <a:lnTo>
                  <a:pt x="22981" y="149649"/>
                </a:lnTo>
                <a:lnTo>
                  <a:pt x="41544" y="132656"/>
                </a:lnTo>
                <a:lnTo>
                  <a:pt x="47365" y="127822"/>
                </a:lnTo>
                <a:lnTo>
                  <a:pt x="51572" y="124786"/>
                </a:lnTo>
                <a:lnTo>
                  <a:pt x="60896" y="124786"/>
                </a:lnTo>
                <a:lnTo>
                  <a:pt x="51694" y="114822"/>
                </a:lnTo>
                <a:close/>
              </a:path>
              <a:path w="267335" h="231139">
                <a:moveTo>
                  <a:pt x="140283" y="129718"/>
                </a:moveTo>
                <a:lnTo>
                  <a:pt x="124602" y="129718"/>
                </a:lnTo>
                <a:lnTo>
                  <a:pt x="140208" y="146896"/>
                </a:lnTo>
                <a:lnTo>
                  <a:pt x="139298" y="149338"/>
                </a:lnTo>
                <a:lnTo>
                  <a:pt x="126735" y="164435"/>
                </a:lnTo>
                <a:lnTo>
                  <a:pt x="138163" y="164422"/>
                </a:lnTo>
                <a:lnTo>
                  <a:pt x="139446" y="163255"/>
                </a:lnTo>
                <a:lnTo>
                  <a:pt x="142615" y="156732"/>
                </a:lnTo>
                <a:lnTo>
                  <a:pt x="143012" y="149231"/>
                </a:lnTo>
                <a:lnTo>
                  <a:pt x="152673" y="149231"/>
                </a:lnTo>
                <a:lnTo>
                  <a:pt x="159567" y="142934"/>
                </a:lnTo>
                <a:lnTo>
                  <a:pt x="152400" y="142934"/>
                </a:lnTo>
                <a:lnTo>
                  <a:pt x="140283" y="129718"/>
                </a:lnTo>
                <a:close/>
              </a:path>
              <a:path w="267335" h="231139">
                <a:moveTo>
                  <a:pt x="152673" y="149231"/>
                </a:moveTo>
                <a:lnTo>
                  <a:pt x="143012" y="149231"/>
                </a:lnTo>
                <a:lnTo>
                  <a:pt x="148346" y="153184"/>
                </a:lnTo>
                <a:lnTo>
                  <a:pt x="152673" y="149231"/>
                </a:lnTo>
                <a:close/>
              </a:path>
              <a:path w="267335" h="231139">
                <a:moveTo>
                  <a:pt x="159501" y="138706"/>
                </a:moveTo>
                <a:lnTo>
                  <a:pt x="152400" y="142934"/>
                </a:lnTo>
                <a:lnTo>
                  <a:pt x="159567" y="142934"/>
                </a:lnTo>
                <a:lnTo>
                  <a:pt x="161665" y="141017"/>
                </a:lnTo>
                <a:lnTo>
                  <a:pt x="159501" y="138706"/>
                </a:lnTo>
                <a:close/>
              </a:path>
              <a:path w="267335" h="231139">
                <a:moveTo>
                  <a:pt x="114056" y="103630"/>
                </a:moveTo>
                <a:lnTo>
                  <a:pt x="81930" y="126408"/>
                </a:lnTo>
                <a:lnTo>
                  <a:pt x="91561" y="136957"/>
                </a:lnTo>
                <a:lnTo>
                  <a:pt x="94488" y="134311"/>
                </a:lnTo>
                <a:lnTo>
                  <a:pt x="90799" y="126691"/>
                </a:lnTo>
                <a:lnTo>
                  <a:pt x="92080" y="122479"/>
                </a:lnTo>
                <a:lnTo>
                  <a:pt x="94488" y="118800"/>
                </a:lnTo>
                <a:lnTo>
                  <a:pt x="100462" y="113335"/>
                </a:lnTo>
                <a:lnTo>
                  <a:pt x="103113" y="112393"/>
                </a:lnTo>
                <a:lnTo>
                  <a:pt x="124400" y="112393"/>
                </a:lnTo>
                <a:lnTo>
                  <a:pt x="118353" y="105797"/>
                </a:lnTo>
                <a:lnTo>
                  <a:pt x="114056" y="103630"/>
                </a:lnTo>
                <a:close/>
              </a:path>
              <a:path w="267335" h="231139">
                <a:moveTo>
                  <a:pt x="127828" y="58422"/>
                </a:moveTo>
                <a:lnTo>
                  <a:pt x="112135" y="58422"/>
                </a:lnTo>
                <a:lnTo>
                  <a:pt x="172608" y="124430"/>
                </a:lnTo>
                <a:lnTo>
                  <a:pt x="165475" y="133266"/>
                </a:lnTo>
                <a:lnTo>
                  <a:pt x="167640" y="135573"/>
                </a:lnTo>
                <a:lnTo>
                  <a:pt x="188325" y="116608"/>
                </a:lnTo>
                <a:lnTo>
                  <a:pt x="181112" y="116608"/>
                </a:lnTo>
                <a:lnTo>
                  <a:pt x="127828" y="58422"/>
                </a:lnTo>
                <a:close/>
              </a:path>
              <a:path w="267335" h="231139">
                <a:moveTo>
                  <a:pt x="60896" y="124786"/>
                </a:moveTo>
                <a:lnTo>
                  <a:pt x="51572" y="124786"/>
                </a:lnTo>
                <a:lnTo>
                  <a:pt x="63489" y="134442"/>
                </a:lnTo>
                <a:lnTo>
                  <a:pt x="66934" y="131324"/>
                </a:lnTo>
                <a:lnTo>
                  <a:pt x="60896" y="124786"/>
                </a:lnTo>
                <a:close/>
              </a:path>
              <a:path w="267335" h="231139">
                <a:moveTo>
                  <a:pt x="188633" y="111561"/>
                </a:moveTo>
                <a:lnTo>
                  <a:pt x="181112" y="116608"/>
                </a:lnTo>
                <a:lnTo>
                  <a:pt x="188325" y="116608"/>
                </a:lnTo>
                <a:lnTo>
                  <a:pt x="192521" y="112762"/>
                </a:lnTo>
                <a:lnTo>
                  <a:pt x="189738" y="112762"/>
                </a:lnTo>
                <a:lnTo>
                  <a:pt x="188633" y="111561"/>
                </a:lnTo>
                <a:close/>
              </a:path>
              <a:path w="267335" h="231139">
                <a:moveTo>
                  <a:pt x="190500" y="110308"/>
                </a:moveTo>
                <a:lnTo>
                  <a:pt x="188633" y="111561"/>
                </a:lnTo>
                <a:lnTo>
                  <a:pt x="189738" y="112762"/>
                </a:lnTo>
                <a:lnTo>
                  <a:pt x="191936" y="111850"/>
                </a:lnTo>
                <a:lnTo>
                  <a:pt x="190500" y="110308"/>
                </a:lnTo>
                <a:close/>
              </a:path>
              <a:path w="267335" h="231139">
                <a:moveTo>
                  <a:pt x="191936" y="111850"/>
                </a:moveTo>
                <a:lnTo>
                  <a:pt x="189738" y="112762"/>
                </a:lnTo>
                <a:lnTo>
                  <a:pt x="192521" y="112762"/>
                </a:lnTo>
                <a:lnTo>
                  <a:pt x="192664" y="112631"/>
                </a:lnTo>
                <a:lnTo>
                  <a:pt x="191936" y="111850"/>
                </a:lnTo>
                <a:close/>
              </a:path>
              <a:path w="267335" h="231139">
                <a:moveTo>
                  <a:pt x="194764" y="110308"/>
                </a:moveTo>
                <a:lnTo>
                  <a:pt x="190500" y="110308"/>
                </a:lnTo>
                <a:lnTo>
                  <a:pt x="191936" y="111850"/>
                </a:lnTo>
                <a:lnTo>
                  <a:pt x="194764" y="110308"/>
                </a:lnTo>
                <a:close/>
              </a:path>
              <a:path w="267335" h="231139">
                <a:moveTo>
                  <a:pt x="181234" y="98759"/>
                </a:moveTo>
                <a:lnTo>
                  <a:pt x="178826" y="100893"/>
                </a:lnTo>
                <a:lnTo>
                  <a:pt x="188633" y="111561"/>
                </a:lnTo>
                <a:lnTo>
                  <a:pt x="190500" y="110308"/>
                </a:lnTo>
                <a:lnTo>
                  <a:pt x="194764" y="110308"/>
                </a:lnTo>
                <a:lnTo>
                  <a:pt x="198120" y="108202"/>
                </a:lnTo>
                <a:lnTo>
                  <a:pt x="201411" y="106047"/>
                </a:lnTo>
                <a:lnTo>
                  <a:pt x="204337" y="103856"/>
                </a:lnTo>
                <a:lnTo>
                  <a:pt x="205057" y="103200"/>
                </a:lnTo>
                <a:lnTo>
                  <a:pt x="189859" y="103200"/>
                </a:lnTo>
                <a:lnTo>
                  <a:pt x="181234" y="98759"/>
                </a:lnTo>
                <a:close/>
              </a:path>
              <a:path w="267335" h="231139">
                <a:moveTo>
                  <a:pt x="215530" y="75055"/>
                </a:moveTo>
                <a:lnTo>
                  <a:pt x="196077" y="75055"/>
                </a:lnTo>
                <a:lnTo>
                  <a:pt x="201411" y="75686"/>
                </a:lnTo>
                <a:lnTo>
                  <a:pt x="205221" y="79877"/>
                </a:lnTo>
                <a:lnTo>
                  <a:pt x="210433" y="85473"/>
                </a:lnTo>
                <a:lnTo>
                  <a:pt x="209793" y="91414"/>
                </a:lnTo>
                <a:lnTo>
                  <a:pt x="203088" y="97510"/>
                </a:lnTo>
                <a:lnTo>
                  <a:pt x="199003" y="101274"/>
                </a:lnTo>
                <a:lnTo>
                  <a:pt x="194553" y="103179"/>
                </a:lnTo>
                <a:lnTo>
                  <a:pt x="189859" y="103200"/>
                </a:lnTo>
                <a:lnTo>
                  <a:pt x="205057" y="103200"/>
                </a:lnTo>
                <a:lnTo>
                  <a:pt x="206745" y="101664"/>
                </a:lnTo>
                <a:lnTo>
                  <a:pt x="212598" y="96223"/>
                </a:lnTo>
                <a:lnTo>
                  <a:pt x="216042" y="90889"/>
                </a:lnTo>
                <a:lnTo>
                  <a:pt x="217566" y="80389"/>
                </a:lnTo>
                <a:lnTo>
                  <a:pt x="215767" y="75305"/>
                </a:lnTo>
                <a:lnTo>
                  <a:pt x="215530" y="75055"/>
                </a:lnTo>
                <a:close/>
              </a:path>
              <a:path w="267335" h="231139">
                <a:moveTo>
                  <a:pt x="176265" y="39241"/>
                </a:moveTo>
                <a:lnTo>
                  <a:pt x="170047" y="43051"/>
                </a:lnTo>
                <a:lnTo>
                  <a:pt x="165110" y="46611"/>
                </a:lnTo>
                <a:lnTo>
                  <a:pt x="161544" y="49909"/>
                </a:lnTo>
                <a:lnTo>
                  <a:pt x="156606" y="54350"/>
                </a:lnTo>
                <a:lnTo>
                  <a:pt x="153802" y="59184"/>
                </a:lnTo>
                <a:lnTo>
                  <a:pt x="152521" y="69340"/>
                </a:lnTo>
                <a:lnTo>
                  <a:pt x="154167" y="74043"/>
                </a:lnTo>
                <a:lnTo>
                  <a:pt x="169926" y="84580"/>
                </a:lnTo>
                <a:lnTo>
                  <a:pt x="172455" y="84199"/>
                </a:lnTo>
                <a:lnTo>
                  <a:pt x="175138" y="83949"/>
                </a:lnTo>
                <a:lnTo>
                  <a:pt x="178704" y="82806"/>
                </a:lnTo>
                <a:lnTo>
                  <a:pt x="196077" y="75055"/>
                </a:lnTo>
                <a:lnTo>
                  <a:pt x="215530" y="75055"/>
                </a:lnTo>
                <a:lnTo>
                  <a:pt x="213125" y="72519"/>
                </a:lnTo>
                <a:lnTo>
                  <a:pt x="172852" y="72519"/>
                </a:lnTo>
                <a:lnTo>
                  <a:pt x="167761" y="72257"/>
                </a:lnTo>
                <a:lnTo>
                  <a:pt x="165597" y="71245"/>
                </a:lnTo>
                <a:lnTo>
                  <a:pt x="163830" y="69340"/>
                </a:lnTo>
                <a:lnTo>
                  <a:pt x="161665" y="66923"/>
                </a:lnTo>
                <a:lnTo>
                  <a:pt x="160873" y="64768"/>
                </a:lnTo>
                <a:lnTo>
                  <a:pt x="160908" y="61672"/>
                </a:lnTo>
                <a:lnTo>
                  <a:pt x="161178" y="59053"/>
                </a:lnTo>
                <a:lnTo>
                  <a:pt x="162702" y="56386"/>
                </a:lnTo>
                <a:lnTo>
                  <a:pt x="165475" y="53850"/>
                </a:lnTo>
                <a:lnTo>
                  <a:pt x="169285" y="50290"/>
                </a:lnTo>
                <a:lnTo>
                  <a:pt x="172974" y="48516"/>
                </a:lnTo>
                <a:lnTo>
                  <a:pt x="176265" y="48385"/>
                </a:lnTo>
                <a:lnTo>
                  <a:pt x="184650" y="48385"/>
                </a:lnTo>
                <a:lnTo>
                  <a:pt x="176265" y="39241"/>
                </a:lnTo>
                <a:close/>
              </a:path>
              <a:path w="267335" h="231139">
                <a:moveTo>
                  <a:pt x="197236" y="64137"/>
                </a:moveTo>
                <a:lnTo>
                  <a:pt x="175900" y="71876"/>
                </a:lnTo>
                <a:lnTo>
                  <a:pt x="172852" y="72519"/>
                </a:lnTo>
                <a:lnTo>
                  <a:pt x="213125" y="72519"/>
                </a:lnTo>
                <a:lnTo>
                  <a:pt x="211317" y="70614"/>
                </a:lnTo>
                <a:lnTo>
                  <a:pt x="209428" y="68447"/>
                </a:lnTo>
                <a:lnTo>
                  <a:pt x="199278" y="64256"/>
                </a:lnTo>
                <a:lnTo>
                  <a:pt x="197236" y="64137"/>
                </a:lnTo>
                <a:close/>
              </a:path>
              <a:path w="267335" h="231139">
                <a:moveTo>
                  <a:pt x="226576" y="0"/>
                </a:moveTo>
                <a:lnTo>
                  <a:pt x="198229" y="23489"/>
                </a:lnTo>
                <a:lnTo>
                  <a:pt x="198363" y="27561"/>
                </a:lnTo>
                <a:lnTo>
                  <a:pt x="222313" y="61672"/>
                </a:lnTo>
                <a:lnTo>
                  <a:pt x="240670" y="66923"/>
                </a:lnTo>
                <a:lnTo>
                  <a:pt x="248046" y="63875"/>
                </a:lnTo>
                <a:lnTo>
                  <a:pt x="256906" y="55755"/>
                </a:lnTo>
                <a:lnTo>
                  <a:pt x="239268" y="55755"/>
                </a:lnTo>
                <a:lnTo>
                  <a:pt x="235854" y="55243"/>
                </a:lnTo>
                <a:lnTo>
                  <a:pt x="232410" y="53588"/>
                </a:lnTo>
                <a:lnTo>
                  <a:pt x="228843" y="51945"/>
                </a:lnTo>
                <a:lnTo>
                  <a:pt x="225033" y="48635"/>
                </a:lnTo>
                <a:lnTo>
                  <a:pt x="220736" y="43944"/>
                </a:lnTo>
                <a:lnTo>
                  <a:pt x="219852" y="43051"/>
                </a:lnTo>
                <a:lnTo>
                  <a:pt x="224414" y="38860"/>
                </a:lnTo>
                <a:lnTo>
                  <a:pt x="216164" y="38860"/>
                </a:lnTo>
                <a:lnTo>
                  <a:pt x="210952" y="33145"/>
                </a:lnTo>
                <a:lnTo>
                  <a:pt x="208026" y="28061"/>
                </a:lnTo>
                <a:lnTo>
                  <a:pt x="207385" y="23489"/>
                </a:lnTo>
                <a:lnTo>
                  <a:pt x="206623" y="18798"/>
                </a:lnTo>
                <a:lnTo>
                  <a:pt x="208026" y="14857"/>
                </a:lnTo>
                <a:lnTo>
                  <a:pt x="211592" y="11559"/>
                </a:lnTo>
                <a:lnTo>
                  <a:pt x="214884" y="8630"/>
                </a:lnTo>
                <a:lnTo>
                  <a:pt x="218450" y="7749"/>
                </a:lnTo>
                <a:lnTo>
                  <a:pt x="241261" y="7749"/>
                </a:lnTo>
                <a:lnTo>
                  <a:pt x="236109" y="3387"/>
                </a:lnTo>
                <a:lnTo>
                  <a:pt x="226576" y="0"/>
                </a:lnTo>
                <a:close/>
              </a:path>
              <a:path w="267335" h="231139">
                <a:moveTo>
                  <a:pt x="117469" y="47111"/>
                </a:moveTo>
                <a:lnTo>
                  <a:pt x="100705" y="62482"/>
                </a:lnTo>
                <a:lnTo>
                  <a:pt x="102748" y="64768"/>
                </a:lnTo>
                <a:lnTo>
                  <a:pt x="112135" y="58422"/>
                </a:lnTo>
                <a:lnTo>
                  <a:pt x="127828" y="58422"/>
                </a:lnTo>
                <a:lnTo>
                  <a:pt x="117469" y="47111"/>
                </a:lnTo>
                <a:close/>
              </a:path>
              <a:path w="267335" h="231139">
                <a:moveTo>
                  <a:pt x="264657" y="36062"/>
                </a:moveTo>
                <a:lnTo>
                  <a:pt x="253105" y="49278"/>
                </a:lnTo>
                <a:lnTo>
                  <a:pt x="249570" y="52576"/>
                </a:lnTo>
                <a:lnTo>
                  <a:pt x="246126" y="54481"/>
                </a:lnTo>
                <a:lnTo>
                  <a:pt x="239268" y="55755"/>
                </a:lnTo>
                <a:lnTo>
                  <a:pt x="256906" y="55755"/>
                </a:lnTo>
                <a:lnTo>
                  <a:pt x="267155" y="39241"/>
                </a:lnTo>
                <a:lnTo>
                  <a:pt x="267103" y="38860"/>
                </a:lnTo>
                <a:lnTo>
                  <a:pt x="264657" y="36062"/>
                </a:lnTo>
                <a:close/>
              </a:path>
              <a:path w="267335" h="231139">
                <a:moveTo>
                  <a:pt x="184650" y="48385"/>
                </a:moveTo>
                <a:lnTo>
                  <a:pt x="176265" y="48385"/>
                </a:lnTo>
                <a:lnTo>
                  <a:pt x="183520" y="52064"/>
                </a:lnTo>
                <a:lnTo>
                  <a:pt x="185928" y="49778"/>
                </a:lnTo>
                <a:lnTo>
                  <a:pt x="184650" y="48385"/>
                </a:lnTo>
                <a:close/>
              </a:path>
              <a:path w="267335" h="231139">
                <a:moveTo>
                  <a:pt x="241261" y="7749"/>
                </a:moveTo>
                <a:lnTo>
                  <a:pt x="218450" y="7749"/>
                </a:lnTo>
                <a:lnTo>
                  <a:pt x="226435" y="10035"/>
                </a:lnTo>
                <a:lnTo>
                  <a:pt x="231282" y="13714"/>
                </a:lnTo>
                <a:lnTo>
                  <a:pt x="236860" y="19941"/>
                </a:lnTo>
                <a:lnTo>
                  <a:pt x="216164" y="38860"/>
                </a:lnTo>
                <a:lnTo>
                  <a:pt x="224414" y="38860"/>
                </a:lnTo>
                <a:lnTo>
                  <a:pt x="249570" y="15750"/>
                </a:lnTo>
                <a:lnTo>
                  <a:pt x="245760" y="11559"/>
                </a:lnTo>
                <a:lnTo>
                  <a:pt x="241261" y="7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33"/>
          <p:cNvSpPr/>
          <p:nvPr/>
        </p:nvSpPr>
        <p:spPr>
          <a:xfrm>
            <a:off x="9062747" y="5052086"/>
            <a:ext cx="346621" cy="3145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26"/>
          <p:cNvSpPr/>
          <p:nvPr/>
        </p:nvSpPr>
        <p:spPr>
          <a:xfrm>
            <a:off x="9434967" y="4619077"/>
            <a:ext cx="349885" cy="0"/>
          </a:xfrm>
          <a:custGeom>
            <a:avLst/>
            <a:gdLst/>
            <a:ahLst/>
            <a:cxnLst/>
            <a:rect l="l" t="t" r="r" b="b"/>
            <a:pathLst>
              <a:path w="349884">
                <a:moveTo>
                  <a:pt x="0" y="0"/>
                </a:moveTo>
                <a:lnTo>
                  <a:pt x="349483" y="0"/>
                </a:lnTo>
              </a:path>
            </a:pathLst>
          </a:custGeom>
          <a:ln w="19049">
            <a:solidFill>
              <a:srgbClr val="5F4778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27"/>
          <p:cNvSpPr txBox="1"/>
          <p:nvPr/>
        </p:nvSpPr>
        <p:spPr>
          <a:xfrm>
            <a:off x="9203882" y="4493442"/>
            <a:ext cx="2102551" cy="268021"/>
          </a:xfrm>
          <a:prstGeom prst="rect">
            <a:avLst/>
          </a:prstGeom>
          <a:ln w="28574">
            <a:solidFill>
              <a:srgbClr val="5F4778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409"/>
              </a:spcBef>
            </a:pPr>
            <a:r>
              <a:rPr sz="1400" b="1" dirty="0">
                <a:latin typeface="Times New Roman"/>
                <a:cs typeface="Times New Roman"/>
              </a:rPr>
              <a:t>is colour = =</a:t>
            </a:r>
            <a:r>
              <a:rPr sz="1400" b="1" spc="-9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Yellow?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59" name="object 35"/>
          <p:cNvSpPr txBox="1"/>
          <p:nvPr/>
        </p:nvSpPr>
        <p:spPr>
          <a:xfrm>
            <a:off x="10242663" y="4972084"/>
            <a:ext cx="1029969" cy="477695"/>
          </a:xfrm>
          <a:prstGeom prst="rect">
            <a:avLst/>
          </a:prstGeom>
          <a:ln w="9534">
            <a:solidFill>
              <a:srgbClr val="5F4778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365"/>
              </a:spcBef>
            </a:pPr>
            <a:r>
              <a:rPr sz="1400" spc="15" dirty="0">
                <a:latin typeface="Times New Roman"/>
                <a:cs typeface="Times New Roman"/>
              </a:rPr>
              <a:t>Y   </a:t>
            </a:r>
            <a:r>
              <a:rPr sz="1400" spc="10" dirty="0">
                <a:latin typeface="Times New Roman"/>
                <a:cs typeface="Times New Roman"/>
              </a:rPr>
              <a:t>3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Mango</a:t>
            </a:r>
            <a:endParaRPr sz="1400" dirty="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30"/>
              </a:spcBef>
            </a:pPr>
            <a:r>
              <a:rPr sz="1400" spc="15" dirty="0">
                <a:latin typeface="Times New Roman"/>
                <a:cs typeface="Times New Roman"/>
              </a:rPr>
              <a:t>Y   </a:t>
            </a:r>
            <a:r>
              <a:rPr sz="1400" spc="10" dirty="0">
                <a:latin typeface="Times New Roman"/>
                <a:cs typeface="Times New Roman"/>
              </a:rPr>
              <a:t>3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Lemon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10566722" y="579873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pc="-10" dirty="0" smtClean="0">
                <a:latin typeface="Times New Roman"/>
                <a:cs typeface="Times New Roman"/>
              </a:rPr>
              <a:t>50%</a:t>
            </a:r>
            <a:r>
              <a:rPr lang="en-US" spc="-105" dirty="0" smtClean="0">
                <a:latin typeface="Times New Roman"/>
                <a:cs typeface="Times New Roman"/>
              </a:rPr>
              <a:t> </a:t>
            </a:r>
            <a:r>
              <a:rPr lang="en-US" spc="-5" dirty="0" smtClean="0">
                <a:latin typeface="Times New Roman"/>
                <a:cs typeface="Times New Roman"/>
              </a:rPr>
              <a:t>Mango</a:t>
            </a:r>
            <a:endParaRPr lang="en-US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US" spc="-10" dirty="0" smtClean="0">
                <a:latin typeface="Times New Roman"/>
                <a:cs typeface="Times New Roman"/>
              </a:rPr>
              <a:t>50%</a:t>
            </a:r>
            <a:r>
              <a:rPr lang="en-US" spc="-105" dirty="0" smtClean="0">
                <a:latin typeface="Times New Roman"/>
                <a:cs typeface="Times New Roman"/>
              </a:rPr>
              <a:t> </a:t>
            </a:r>
            <a:r>
              <a:rPr lang="en-US" spc="-5" dirty="0" smtClean="0">
                <a:latin typeface="Times New Roman"/>
                <a:cs typeface="Times New Roman"/>
              </a:rPr>
              <a:t>Lemon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3553392" y="6040475"/>
            <a:ext cx="1435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pc="-15" dirty="0" smtClean="0">
                <a:latin typeface="Times New Roman"/>
                <a:cs typeface="Times New Roman"/>
              </a:rPr>
              <a:t>100%</a:t>
            </a:r>
            <a:r>
              <a:rPr lang="en-US" spc="-10" dirty="0" smtClean="0">
                <a:latin typeface="Times New Roman"/>
                <a:cs typeface="Times New Roman"/>
              </a:rPr>
              <a:t> </a:t>
            </a:r>
            <a:r>
              <a:rPr lang="en-US" spc="-5" dirty="0" smtClean="0">
                <a:latin typeface="Times New Roman"/>
                <a:cs typeface="Times New Roman"/>
              </a:rPr>
              <a:t>Mango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8905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Decision Tree: Terminology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/>
          <p:cNvSpPr/>
          <p:nvPr/>
        </p:nvSpPr>
        <p:spPr>
          <a:xfrm>
            <a:off x="3933372" y="1857829"/>
            <a:ext cx="4743058" cy="41961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/>
          <p:cNvSpPr txBox="1"/>
          <p:nvPr/>
        </p:nvSpPr>
        <p:spPr>
          <a:xfrm>
            <a:off x="2593118" y="1675067"/>
            <a:ext cx="2226945" cy="70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20520" algn="r">
              <a:lnSpc>
                <a:spcPct val="150400"/>
              </a:lnSpc>
              <a:spcBef>
                <a:spcPts val="95"/>
              </a:spcBef>
            </a:pPr>
            <a:r>
              <a:rPr sz="1200" b="1" spc="20" dirty="0">
                <a:solidFill>
                  <a:srgbClr val="00AFF0"/>
                </a:solidFill>
                <a:latin typeface="Arial"/>
                <a:cs typeface="Arial"/>
              </a:rPr>
              <a:t>P</a:t>
            </a:r>
            <a:r>
              <a:rPr sz="1200" b="1" spc="-20" dirty="0">
                <a:solidFill>
                  <a:srgbClr val="00AFF0"/>
                </a:solidFill>
                <a:latin typeface="Arial"/>
                <a:cs typeface="Arial"/>
              </a:rPr>
              <a:t>r</a:t>
            </a:r>
            <a:r>
              <a:rPr sz="1200" b="1" spc="10" dirty="0">
                <a:solidFill>
                  <a:srgbClr val="00AFF0"/>
                </a:solidFill>
                <a:latin typeface="Arial"/>
                <a:cs typeface="Arial"/>
              </a:rPr>
              <a:t>un</a:t>
            </a:r>
            <a:r>
              <a:rPr sz="1200" b="1" spc="-35" dirty="0">
                <a:solidFill>
                  <a:srgbClr val="00AFF0"/>
                </a:solidFill>
                <a:latin typeface="Arial"/>
                <a:cs typeface="Arial"/>
              </a:rPr>
              <a:t>i</a:t>
            </a:r>
            <a:r>
              <a:rPr sz="1200" b="1" spc="10" dirty="0">
                <a:solidFill>
                  <a:srgbClr val="00AFF0"/>
                </a:solidFill>
                <a:latin typeface="Arial"/>
                <a:cs typeface="Arial"/>
              </a:rPr>
              <a:t>n</a:t>
            </a:r>
            <a:r>
              <a:rPr sz="1200" b="1" dirty="0">
                <a:solidFill>
                  <a:srgbClr val="00AFF0"/>
                </a:solidFill>
                <a:latin typeface="Arial"/>
                <a:cs typeface="Arial"/>
              </a:rPr>
              <a:t>g </a:t>
            </a:r>
            <a:r>
              <a:rPr sz="1200" dirty="0">
                <a:solidFill>
                  <a:srgbClr val="00AFF0"/>
                </a:solidFill>
                <a:latin typeface="Times New Roman"/>
                <a:cs typeface="Times New Roman"/>
              </a:rPr>
              <a:t>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Opposite of Splitting, basically removing  unwanted branches from the tree</a:t>
            </a:r>
          </a:p>
        </p:txBody>
      </p:sp>
      <p:sp>
        <p:nvSpPr>
          <p:cNvPr id="16" name="object 9"/>
          <p:cNvSpPr txBox="1"/>
          <p:nvPr/>
        </p:nvSpPr>
        <p:spPr>
          <a:xfrm>
            <a:off x="756657" y="3018098"/>
            <a:ext cx="3007908" cy="9598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49045" algn="just">
              <a:lnSpc>
                <a:spcPct val="150300"/>
              </a:lnSpc>
              <a:spcBef>
                <a:spcPts val="95"/>
              </a:spcBef>
            </a:pPr>
            <a:r>
              <a:rPr sz="1200" b="1" spc="20" dirty="0">
                <a:solidFill>
                  <a:srgbClr val="00AFF0"/>
                </a:solidFill>
                <a:latin typeface="Arial"/>
                <a:cs typeface="Arial"/>
              </a:rPr>
              <a:t>Parent/Child Node  </a:t>
            </a:r>
            <a:endParaRPr lang="en-US" sz="1200" b="1" spc="20" dirty="0" smtClean="0">
              <a:solidFill>
                <a:srgbClr val="00AFF0"/>
              </a:solidFill>
              <a:latin typeface="Arial"/>
              <a:cs typeface="Arial"/>
            </a:endParaRPr>
          </a:p>
          <a:p>
            <a:pPr marL="12700" marR="5080" indent="1249045" algn="just">
              <a:lnSpc>
                <a:spcPct val="150300"/>
              </a:lnSpc>
              <a:spcBef>
                <a:spcPts val="95"/>
              </a:spcBef>
            </a:pP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Root node is the parent node and all the other </a:t>
            </a:r>
            <a:r>
              <a:rPr sz="950" spc="10" dirty="0" smtClean="0">
                <a:solidFill>
                  <a:srgbClr val="7F7F7F"/>
                </a:solidFill>
                <a:latin typeface="Arial"/>
                <a:cs typeface="Arial"/>
              </a:rPr>
              <a:t>nodes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branched from it is known as child node</a:t>
            </a:r>
          </a:p>
        </p:txBody>
      </p:sp>
      <p:sp>
        <p:nvSpPr>
          <p:cNvPr id="17" name="object 8"/>
          <p:cNvSpPr txBox="1"/>
          <p:nvPr/>
        </p:nvSpPr>
        <p:spPr>
          <a:xfrm>
            <a:off x="1224775" y="4505685"/>
            <a:ext cx="2284730" cy="981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77645" algn="r">
              <a:lnSpc>
                <a:spcPct val="150300"/>
              </a:lnSpc>
              <a:spcBef>
                <a:spcPts val="95"/>
              </a:spcBef>
            </a:pPr>
            <a:r>
              <a:rPr sz="1200" b="1" spc="10" dirty="0">
                <a:solidFill>
                  <a:srgbClr val="00AFF0"/>
                </a:solidFill>
                <a:latin typeface="Arial"/>
                <a:cs typeface="Arial"/>
              </a:rPr>
              <a:t>Root</a:t>
            </a:r>
            <a:r>
              <a:rPr sz="1200" b="1" spc="-145" dirty="0">
                <a:solidFill>
                  <a:srgbClr val="00AFF0"/>
                </a:solidFill>
                <a:latin typeface="Arial"/>
                <a:cs typeface="Arial"/>
              </a:rPr>
              <a:t> </a:t>
            </a:r>
            <a:r>
              <a:rPr sz="1200" b="1" spc="10" dirty="0">
                <a:solidFill>
                  <a:srgbClr val="00AFF0"/>
                </a:solidFill>
                <a:latin typeface="Arial"/>
                <a:cs typeface="Arial"/>
              </a:rPr>
              <a:t>Node </a:t>
            </a:r>
            <a:r>
              <a:rPr sz="1200" dirty="0">
                <a:solidFill>
                  <a:srgbClr val="00AFF0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7F7F7F"/>
                </a:solidFill>
                <a:latin typeface="Arial"/>
                <a:cs typeface="Arial"/>
              </a:rPr>
              <a:t>It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represents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the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entire</a:t>
            </a:r>
            <a:r>
              <a:rPr sz="950" spc="1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population</a:t>
            </a:r>
            <a:r>
              <a:rPr sz="950" spc="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or </a:t>
            </a:r>
            <a:r>
              <a:rPr sz="950" spc="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950" spc="15" dirty="0">
                <a:solidFill>
                  <a:srgbClr val="7F7F7F"/>
                </a:solidFill>
                <a:latin typeface="Arial"/>
                <a:cs typeface="Arial"/>
              </a:rPr>
              <a:t>sample 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and 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this </a:t>
            </a:r>
            <a:r>
              <a:rPr sz="950" spc="-10" dirty="0">
                <a:solidFill>
                  <a:srgbClr val="7F7F7F"/>
                </a:solidFill>
                <a:latin typeface="Arial"/>
                <a:cs typeface="Arial"/>
              </a:rPr>
              <a:t>further  </a:t>
            </a:r>
            <a:r>
              <a:rPr sz="950" spc="5" dirty="0">
                <a:solidFill>
                  <a:srgbClr val="7F7F7F"/>
                </a:solidFill>
                <a:latin typeface="Arial"/>
                <a:cs typeface="Arial"/>
              </a:rPr>
              <a:t>gets </a:t>
            </a:r>
            <a:r>
              <a:rPr sz="950" spc="-15" dirty="0">
                <a:solidFill>
                  <a:srgbClr val="7F7F7F"/>
                </a:solidFill>
                <a:latin typeface="Arial"/>
                <a:cs typeface="Arial"/>
              </a:rPr>
              <a:t>divided</a:t>
            </a:r>
            <a:r>
              <a:rPr sz="950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into</a:t>
            </a:r>
            <a:endParaRPr sz="950" dirty="0">
              <a:latin typeface="Arial"/>
              <a:cs typeface="Arial"/>
            </a:endParaRPr>
          </a:p>
          <a:p>
            <a:pPr marR="11430" algn="r">
              <a:lnSpc>
                <a:spcPct val="100000"/>
              </a:lnSpc>
              <a:spcBef>
                <a:spcPts val="665"/>
              </a:spcBef>
            </a:pP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two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or </a:t>
            </a:r>
            <a:r>
              <a:rPr sz="950" spc="5" dirty="0">
                <a:solidFill>
                  <a:srgbClr val="7F7F7F"/>
                </a:solidFill>
                <a:latin typeface="Arial"/>
                <a:cs typeface="Arial"/>
              </a:rPr>
              <a:t>more </a:t>
            </a:r>
            <a:r>
              <a:rPr sz="950" spc="-5" dirty="0">
                <a:solidFill>
                  <a:srgbClr val="7F7F7F"/>
                </a:solidFill>
                <a:latin typeface="Arial"/>
                <a:cs typeface="Arial"/>
              </a:rPr>
              <a:t>homogenous </a:t>
            </a:r>
            <a:r>
              <a:rPr sz="950" spc="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950" spc="25" dirty="0">
                <a:solidFill>
                  <a:srgbClr val="7F7F7F"/>
                </a:solidFill>
                <a:latin typeface="Arial"/>
                <a:cs typeface="Arial"/>
              </a:rPr>
              <a:t>sets.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18" name="object 13"/>
          <p:cNvSpPr txBox="1"/>
          <p:nvPr/>
        </p:nvSpPr>
        <p:spPr>
          <a:xfrm>
            <a:off x="7445800" y="1534689"/>
            <a:ext cx="1855470" cy="5232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200" b="1" spc="-5" dirty="0">
                <a:solidFill>
                  <a:srgbClr val="00AFF0"/>
                </a:solidFill>
                <a:latin typeface="Arial"/>
                <a:cs typeface="Arial"/>
              </a:rPr>
              <a:t>Branch/SubTree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950" spc="5" dirty="0">
                <a:solidFill>
                  <a:srgbClr val="7F7F7F"/>
                </a:solidFill>
                <a:latin typeface="Arial"/>
                <a:cs typeface="Arial"/>
              </a:rPr>
              <a:t>Formed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by </a:t>
            </a:r>
            <a:r>
              <a:rPr sz="950" spc="15" dirty="0">
                <a:solidFill>
                  <a:srgbClr val="7F7F7F"/>
                </a:solidFill>
                <a:latin typeface="Arial"/>
                <a:cs typeface="Arial"/>
              </a:rPr>
              <a:t>splitting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the</a:t>
            </a:r>
            <a:r>
              <a:rPr sz="950" spc="14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tree/node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19" name="object 10"/>
          <p:cNvSpPr txBox="1"/>
          <p:nvPr/>
        </p:nvSpPr>
        <p:spPr>
          <a:xfrm>
            <a:off x="8676430" y="2785172"/>
            <a:ext cx="6248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solidFill>
                  <a:srgbClr val="00AFF0"/>
                </a:solidFill>
                <a:latin typeface="Arial"/>
                <a:cs typeface="Arial"/>
              </a:rPr>
              <a:t>Splitting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0" name="object 11"/>
          <p:cNvSpPr txBox="1"/>
          <p:nvPr/>
        </p:nvSpPr>
        <p:spPr>
          <a:xfrm>
            <a:off x="8676430" y="3055517"/>
            <a:ext cx="2044700" cy="71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8200"/>
              </a:lnSpc>
              <a:spcBef>
                <a:spcPts val="100"/>
              </a:spcBef>
            </a:pPr>
            <a:r>
              <a:rPr sz="950" spc="-10" dirty="0">
                <a:solidFill>
                  <a:srgbClr val="7F7F7F"/>
                </a:solidFill>
                <a:latin typeface="Arial"/>
                <a:cs typeface="Arial"/>
              </a:rPr>
              <a:t>Dividing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the </a:t>
            </a:r>
            <a:r>
              <a:rPr sz="950" spc="-10" dirty="0">
                <a:solidFill>
                  <a:srgbClr val="7F7F7F"/>
                </a:solidFill>
                <a:latin typeface="Arial"/>
                <a:cs typeface="Arial"/>
              </a:rPr>
              <a:t>root </a:t>
            </a:r>
            <a:r>
              <a:rPr sz="950" spc="5" dirty="0">
                <a:solidFill>
                  <a:srgbClr val="7F7F7F"/>
                </a:solidFill>
                <a:latin typeface="Arial"/>
                <a:cs typeface="Arial"/>
              </a:rPr>
              <a:t>node/sub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node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into  </a:t>
            </a:r>
            <a:r>
              <a:rPr sz="950" spc="-10" dirty="0">
                <a:solidFill>
                  <a:srgbClr val="7F7F7F"/>
                </a:solidFill>
                <a:latin typeface="Arial"/>
                <a:cs typeface="Arial"/>
              </a:rPr>
              <a:t>different </a:t>
            </a:r>
            <a:r>
              <a:rPr sz="950" spc="5" dirty="0">
                <a:solidFill>
                  <a:srgbClr val="7F7F7F"/>
                </a:solidFill>
                <a:latin typeface="Arial"/>
                <a:cs typeface="Arial"/>
              </a:rPr>
              <a:t>parts on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the basis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of </a:t>
            </a:r>
            <a:r>
              <a:rPr sz="950" spc="20" dirty="0">
                <a:solidFill>
                  <a:srgbClr val="7F7F7F"/>
                </a:solidFill>
                <a:latin typeface="Arial"/>
                <a:cs typeface="Arial"/>
              </a:rPr>
              <a:t>some  </a:t>
            </a:r>
            <a:r>
              <a:rPr sz="950" spc="5" dirty="0">
                <a:solidFill>
                  <a:srgbClr val="7F7F7F"/>
                </a:solidFill>
                <a:latin typeface="Arial"/>
                <a:cs typeface="Arial"/>
              </a:rPr>
              <a:t>condition.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21" name="object 12"/>
          <p:cNvSpPr txBox="1"/>
          <p:nvPr/>
        </p:nvSpPr>
        <p:spPr>
          <a:xfrm>
            <a:off x="8590070" y="4734920"/>
            <a:ext cx="2217420" cy="75247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200" b="1" spc="5" dirty="0">
                <a:solidFill>
                  <a:srgbClr val="00AFF0"/>
                </a:solidFill>
                <a:latin typeface="Arial"/>
                <a:cs typeface="Arial"/>
              </a:rPr>
              <a:t>Leaf</a:t>
            </a:r>
            <a:r>
              <a:rPr sz="1200" b="1" spc="-70" dirty="0">
                <a:solidFill>
                  <a:srgbClr val="00AFF0"/>
                </a:solidFill>
                <a:latin typeface="Arial"/>
                <a:cs typeface="Arial"/>
              </a:rPr>
              <a:t> </a:t>
            </a:r>
            <a:r>
              <a:rPr sz="1200" b="1" spc="15" dirty="0">
                <a:solidFill>
                  <a:srgbClr val="00AFF0"/>
                </a:solidFill>
                <a:latin typeface="Arial"/>
                <a:cs typeface="Arial"/>
              </a:rPr>
              <a:t>Node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950" spc="-5" dirty="0">
                <a:solidFill>
                  <a:srgbClr val="7F7F7F"/>
                </a:solidFill>
                <a:latin typeface="Arial"/>
                <a:cs typeface="Arial"/>
              </a:rPr>
              <a:t>Node </a:t>
            </a:r>
            <a:r>
              <a:rPr sz="950" spc="5" dirty="0">
                <a:solidFill>
                  <a:srgbClr val="7F7F7F"/>
                </a:solidFill>
                <a:latin typeface="Arial"/>
                <a:cs typeface="Arial"/>
              </a:rPr>
              <a:t>cannot be </a:t>
            </a:r>
            <a:r>
              <a:rPr sz="950" spc="-10" dirty="0">
                <a:solidFill>
                  <a:srgbClr val="7F7F7F"/>
                </a:solidFill>
                <a:latin typeface="Arial"/>
                <a:cs typeface="Arial"/>
              </a:rPr>
              <a:t>further </a:t>
            </a:r>
            <a:r>
              <a:rPr sz="950" dirty="0">
                <a:solidFill>
                  <a:srgbClr val="7F7F7F"/>
                </a:solidFill>
                <a:latin typeface="Arial"/>
                <a:cs typeface="Arial"/>
              </a:rPr>
              <a:t>segregated</a:t>
            </a:r>
            <a:r>
              <a:rPr sz="950" spc="6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7F7F7F"/>
                </a:solidFill>
                <a:latin typeface="Arial"/>
                <a:cs typeface="Arial"/>
              </a:rPr>
              <a:t>into</a:t>
            </a:r>
            <a:endParaRPr sz="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50" spc="-10" dirty="0">
                <a:solidFill>
                  <a:srgbClr val="7F7F7F"/>
                </a:solidFill>
                <a:latin typeface="Arial"/>
                <a:cs typeface="Arial"/>
              </a:rPr>
              <a:t>further</a:t>
            </a:r>
            <a:r>
              <a:rPr sz="950" spc="15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950" spc="-5" dirty="0">
                <a:solidFill>
                  <a:srgbClr val="7F7F7F"/>
                </a:solidFill>
                <a:latin typeface="Arial"/>
                <a:cs typeface="Arial"/>
              </a:rPr>
              <a:t>nodes</a:t>
            </a:r>
            <a:endParaRPr sz="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85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Creating a Decision Tree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6"/>
          <p:cNvSpPr txBox="1"/>
          <p:nvPr/>
        </p:nvSpPr>
        <p:spPr>
          <a:xfrm>
            <a:off x="1026478" y="2558413"/>
            <a:ext cx="298323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spc="105" dirty="0">
                <a:solidFill>
                  <a:srgbClr val="5F4778"/>
                </a:solidFill>
                <a:latin typeface="Segoe UI Semilight"/>
                <a:cs typeface="Segoe UI Semilight"/>
              </a:rPr>
              <a:t>This is </a:t>
            </a:r>
            <a:r>
              <a:rPr sz="2750" b="0" spc="100" dirty="0">
                <a:solidFill>
                  <a:srgbClr val="5F4778"/>
                </a:solidFill>
                <a:latin typeface="Segoe UI Semilight"/>
                <a:cs typeface="Segoe UI Semilight"/>
              </a:rPr>
              <a:t>our</a:t>
            </a:r>
            <a:r>
              <a:rPr sz="2750" b="0" spc="-185" dirty="0">
                <a:solidFill>
                  <a:srgbClr val="5F4778"/>
                </a:solidFill>
                <a:latin typeface="Segoe UI Semilight"/>
                <a:cs typeface="Segoe UI Semilight"/>
              </a:rPr>
              <a:t> </a:t>
            </a:r>
            <a:r>
              <a:rPr sz="2750" b="0" spc="85" dirty="0">
                <a:solidFill>
                  <a:srgbClr val="5F4778"/>
                </a:solidFill>
                <a:latin typeface="Segoe UI Semilight"/>
                <a:cs typeface="Segoe UI Semilight"/>
              </a:rPr>
              <a:t>Dataset</a:t>
            </a:r>
            <a:endParaRPr sz="2750">
              <a:latin typeface="Segoe UI Semilight"/>
              <a:cs typeface="Segoe UI Semilight"/>
            </a:endParaRPr>
          </a:p>
        </p:txBody>
      </p:sp>
      <p:sp>
        <p:nvSpPr>
          <p:cNvPr id="22" name="object 7"/>
          <p:cNvSpPr/>
          <p:nvPr/>
        </p:nvSpPr>
        <p:spPr>
          <a:xfrm>
            <a:off x="6780811" y="1318161"/>
            <a:ext cx="3752602" cy="40494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1726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Creating a Decision Tree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 txBox="1"/>
          <p:nvPr/>
        </p:nvSpPr>
        <p:spPr>
          <a:xfrm>
            <a:off x="635627" y="2558413"/>
            <a:ext cx="4486226" cy="86908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3175" algn="ctr">
              <a:lnSpc>
                <a:spcPct val="102499"/>
              </a:lnSpc>
              <a:spcBef>
                <a:spcPts val="45"/>
              </a:spcBef>
            </a:pPr>
            <a:r>
              <a:rPr sz="2750" b="0" spc="120" dirty="0">
                <a:solidFill>
                  <a:srgbClr val="5F4778"/>
                </a:solidFill>
                <a:latin typeface="Segoe UI Semilight"/>
                <a:cs typeface="Segoe UI Semilight"/>
              </a:rPr>
              <a:t>How </a:t>
            </a:r>
            <a:r>
              <a:rPr sz="2750" b="0" spc="90" dirty="0">
                <a:solidFill>
                  <a:srgbClr val="5F4778"/>
                </a:solidFill>
                <a:latin typeface="Segoe UI Semilight"/>
                <a:cs typeface="Segoe UI Semilight"/>
              </a:rPr>
              <a:t>to </a:t>
            </a:r>
            <a:r>
              <a:rPr sz="2750" b="0" spc="75" dirty="0">
                <a:solidFill>
                  <a:srgbClr val="5F4778"/>
                </a:solidFill>
                <a:latin typeface="Segoe UI Semilight"/>
                <a:cs typeface="Segoe UI Semilight"/>
              </a:rPr>
              <a:t>decide,  </a:t>
            </a:r>
            <a:r>
              <a:rPr sz="2750" b="0" spc="114" dirty="0">
                <a:solidFill>
                  <a:srgbClr val="5F4778"/>
                </a:solidFill>
                <a:latin typeface="Segoe UI Semilight"/>
                <a:cs typeface="Segoe UI Semilight"/>
              </a:rPr>
              <a:t>whether we </a:t>
            </a:r>
            <a:r>
              <a:rPr sz="2750" b="0" spc="135" dirty="0">
                <a:solidFill>
                  <a:srgbClr val="5F4778"/>
                </a:solidFill>
                <a:latin typeface="Segoe UI Semilight"/>
                <a:cs typeface="Segoe UI Semilight"/>
              </a:rPr>
              <a:t>will </a:t>
            </a:r>
            <a:r>
              <a:rPr sz="2750" b="0" spc="90" dirty="0">
                <a:solidFill>
                  <a:srgbClr val="5F4778"/>
                </a:solidFill>
                <a:latin typeface="Segoe UI Semilight"/>
                <a:cs typeface="Segoe UI Semilight"/>
              </a:rPr>
              <a:t>play</a:t>
            </a:r>
            <a:r>
              <a:rPr sz="2750" b="0" spc="-300" dirty="0">
                <a:solidFill>
                  <a:srgbClr val="5F4778"/>
                </a:solidFill>
                <a:latin typeface="Segoe UI Semilight"/>
                <a:cs typeface="Segoe UI Semilight"/>
              </a:rPr>
              <a:t> </a:t>
            </a:r>
            <a:r>
              <a:rPr sz="2750" b="0" spc="85" dirty="0">
                <a:solidFill>
                  <a:srgbClr val="5F4778"/>
                </a:solidFill>
                <a:latin typeface="Segoe UI Semilight"/>
                <a:cs typeface="Segoe UI Semilight"/>
              </a:rPr>
              <a:t>or  </a:t>
            </a:r>
            <a:r>
              <a:rPr sz="2750" b="0" spc="80" dirty="0">
                <a:solidFill>
                  <a:srgbClr val="5F4778"/>
                </a:solidFill>
                <a:latin typeface="Segoe UI Semilight"/>
                <a:cs typeface="Segoe UI Semilight"/>
              </a:rPr>
              <a:t>not?</a:t>
            </a:r>
            <a:endParaRPr sz="2750" dirty="0">
              <a:latin typeface="Segoe UI Semilight"/>
              <a:cs typeface="Segoe UI Semi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85808" y="1508166"/>
            <a:ext cx="4277795" cy="37526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5342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Creating a Decision Tree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 txBox="1"/>
          <p:nvPr/>
        </p:nvSpPr>
        <p:spPr>
          <a:xfrm>
            <a:off x="602294" y="2319271"/>
            <a:ext cx="3495675" cy="130810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-9525" algn="ctr">
              <a:lnSpc>
                <a:spcPct val="102499"/>
              </a:lnSpc>
              <a:spcBef>
                <a:spcPts val="45"/>
              </a:spcBef>
            </a:pPr>
            <a:r>
              <a:rPr sz="2750" b="0" spc="114" dirty="0">
                <a:solidFill>
                  <a:srgbClr val="5F4778"/>
                </a:solidFill>
                <a:latin typeface="Segoe UI Semilight"/>
                <a:cs typeface="Segoe UI Semilight"/>
              </a:rPr>
              <a:t>Which </a:t>
            </a:r>
            <a:r>
              <a:rPr sz="2750" b="0" spc="90" dirty="0">
                <a:solidFill>
                  <a:srgbClr val="5F4778"/>
                </a:solidFill>
                <a:latin typeface="Segoe UI Semilight"/>
                <a:cs typeface="Segoe UI Semilight"/>
              </a:rPr>
              <a:t>one </a:t>
            </a:r>
            <a:r>
              <a:rPr sz="2750" b="0" spc="100" dirty="0">
                <a:solidFill>
                  <a:srgbClr val="5F4778"/>
                </a:solidFill>
                <a:latin typeface="Segoe UI Semilight"/>
                <a:cs typeface="Segoe UI Semilight"/>
              </a:rPr>
              <a:t>among  </a:t>
            </a:r>
            <a:r>
              <a:rPr sz="2750" b="0" spc="114" dirty="0">
                <a:solidFill>
                  <a:srgbClr val="5F4778"/>
                </a:solidFill>
                <a:latin typeface="Segoe UI Semilight"/>
                <a:cs typeface="Segoe UI Semilight"/>
              </a:rPr>
              <a:t>them </a:t>
            </a:r>
            <a:r>
              <a:rPr sz="2750" b="0" spc="105" dirty="0">
                <a:solidFill>
                  <a:srgbClr val="5F4778"/>
                </a:solidFill>
                <a:latin typeface="Segoe UI Semilight"/>
                <a:cs typeface="Segoe UI Semilight"/>
              </a:rPr>
              <a:t>should you</a:t>
            </a:r>
            <a:r>
              <a:rPr sz="2750" b="0" spc="-215" dirty="0">
                <a:solidFill>
                  <a:srgbClr val="5F4778"/>
                </a:solidFill>
                <a:latin typeface="Segoe UI Semilight"/>
                <a:cs typeface="Segoe UI Semilight"/>
              </a:rPr>
              <a:t> </a:t>
            </a:r>
            <a:r>
              <a:rPr sz="2750" b="0" spc="95" dirty="0">
                <a:solidFill>
                  <a:srgbClr val="5F4778"/>
                </a:solidFill>
                <a:latin typeface="Segoe UI Semilight"/>
                <a:cs typeface="Segoe UI Semilight"/>
              </a:rPr>
              <a:t>pick  </a:t>
            </a:r>
            <a:r>
              <a:rPr sz="2750" b="0" spc="100" dirty="0">
                <a:solidFill>
                  <a:srgbClr val="5F4778"/>
                </a:solidFill>
                <a:latin typeface="Segoe UI Semilight"/>
                <a:cs typeface="Segoe UI Semilight"/>
              </a:rPr>
              <a:t>first?</a:t>
            </a:r>
            <a:endParaRPr sz="2750">
              <a:latin typeface="Segoe UI Semilight"/>
              <a:cs typeface="Segoe UI Semi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72885" y="1349541"/>
            <a:ext cx="3758209" cy="3946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0948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Creating a Decision Tree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7447065" y="1346131"/>
            <a:ext cx="3680114" cy="3950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6425" y="2260878"/>
            <a:ext cx="3670300" cy="12985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0160" algn="ctr">
              <a:lnSpc>
                <a:spcPct val="101299"/>
              </a:lnSpc>
              <a:spcBef>
                <a:spcPts val="85"/>
              </a:spcBef>
            </a:pPr>
            <a:r>
              <a:rPr sz="2750" b="1" spc="20" dirty="0">
                <a:solidFill>
                  <a:srgbClr val="5F4778"/>
                </a:solidFill>
                <a:latin typeface="Gill Sans MT"/>
                <a:cs typeface="Gill Sans MT"/>
              </a:rPr>
              <a:t>Answer: </a:t>
            </a:r>
            <a:r>
              <a:rPr sz="2750" spc="20" dirty="0">
                <a:solidFill>
                  <a:srgbClr val="5F4778"/>
                </a:solidFill>
                <a:latin typeface="Gill Sans MT"/>
                <a:cs typeface="Gill Sans MT"/>
              </a:rPr>
              <a:t>Determine</a:t>
            </a:r>
            <a:r>
              <a:rPr sz="2750" spc="-290" dirty="0">
                <a:solidFill>
                  <a:srgbClr val="5F4778"/>
                </a:solidFill>
                <a:latin typeface="Gill Sans MT"/>
                <a:cs typeface="Gill Sans MT"/>
              </a:rPr>
              <a:t> </a:t>
            </a:r>
            <a:r>
              <a:rPr sz="2750" spc="10" dirty="0">
                <a:solidFill>
                  <a:srgbClr val="5F4778"/>
                </a:solidFill>
                <a:latin typeface="Gill Sans MT"/>
                <a:cs typeface="Gill Sans MT"/>
              </a:rPr>
              <a:t>the  attribute </a:t>
            </a:r>
            <a:r>
              <a:rPr sz="2750" spc="15" dirty="0">
                <a:solidFill>
                  <a:srgbClr val="5F4778"/>
                </a:solidFill>
                <a:latin typeface="Gill Sans MT"/>
                <a:cs typeface="Gill Sans MT"/>
              </a:rPr>
              <a:t>that best  </a:t>
            </a:r>
            <a:r>
              <a:rPr sz="2750" dirty="0">
                <a:solidFill>
                  <a:srgbClr val="5F4778"/>
                </a:solidFill>
                <a:latin typeface="Gill Sans MT"/>
                <a:cs typeface="Gill Sans MT"/>
              </a:rPr>
              <a:t>classifies </a:t>
            </a:r>
            <a:r>
              <a:rPr sz="2750" spc="10" dirty="0">
                <a:solidFill>
                  <a:srgbClr val="5F4778"/>
                </a:solidFill>
                <a:latin typeface="Gill Sans MT"/>
                <a:cs typeface="Gill Sans MT"/>
              </a:rPr>
              <a:t>the </a:t>
            </a:r>
            <a:r>
              <a:rPr sz="2750" spc="15" dirty="0">
                <a:solidFill>
                  <a:srgbClr val="5F4778"/>
                </a:solidFill>
                <a:latin typeface="Gill Sans MT"/>
                <a:cs typeface="Gill Sans MT"/>
              </a:rPr>
              <a:t>training</a:t>
            </a:r>
            <a:r>
              <a:rPr sz="2750" spc="114" dirty="0">
                <a:solidFill>
                  <a:srgbClr val="5F4778"/>
                </a:solidFill>
                <a:latin typeface="Gill Sans MT"/>
                <a:cs typeface="Gill Sans MT"/>
              </a:rPr>
              <a:t> </a:t>
            </a:r>
            <a:r>
              <a:rPr sz="2750" spc="10" dirty="0">
                <a:solidFill>
                  <a:srgbClr val="5F4778"/>
                </a:solidFill>
                <a:latin typeface="Gill Sans MT"/>
                <a:cs typeface="Gill Sans MT"/>
              </a:rPr>
              <a:t>data</a:t>
            </a:r>
            <a:endParaRPr sz="275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29447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Creating a Decision Tree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7078931" y="1325792"/>
            <a:ext cx="3884672" cy="4018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8469" y="1675762"/>
            <a:ext cx="3726815" cy="23291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ctr">
              <a:lnSpc>
                <a:spcPct val="102400"/>
              </a:lnSpc>
              <a:spcBef>
                <a:spcPts val="50"/>
              </a:spcBef>
            </a:pPr>
            <a:r>
              <a:rPr sz="2750" b="0" spc="125" dirty="0">
                <a:solidFill>
                  <a:srgbClr val="5F4778"/>
                </a:solidFill>
                <a:latin typeface="Segoe UI Semilight"/>
                <a:cs typeface="Segoe UI Semilight"/>
              </a:rPr>
              <a:t>But </a:t>
            </a:r>
            <a:r>
              <a:rPr sz="2750" b="0" spc="120" dirty="0">
                <a:solidFill>
                  <a:srgbClr val="5F4778"/>
                </a:solidFill>
                <a:latin typeface="Segoe UI Semilight"/>
                <a:cs typeface="Segoe UI Semilight"/>
              </a:rPr>
              <a:t>How </a:t>
            </a:r>
            <a:r>
              <a:rPr sz="2750" b="0" spc="75" dirty="0">
                <a:solidFill>
                  <a:srgbClr val="5F4778"/>
                </a:solidFill>
                <a:latin typeface="Segoe UI Semilight"/>
                <a:cs typeface="Segoe UI Semilight"/>
              </a:rPr>
              <a:t>do </a:t>
            </a:r>
            <a:r>
              <a:rPr sz="2750" b="0" spc="114" dirty="0">
                <a:solidFill>
                  <a:srgbClr val="5F4778"/>
                </a:solidFill>
                <a:latin typeface="Segoe UI Semilight"/>
                <a:cs typeface="Segoe UI Semilight"/>
              </a:rPr>
              <a:t>we</a:t>
            </a:r>
            <a:r>
              <a:rPr sz="2750" b="0" spc="-125" dirty="0">
                <a:solidFill>
                  <a:srgbClr val="5F4778"/>
                </a:solidFill>
                <a:latin typeface="Segoe UI Semilight"/>
                <a:cs typeface="Segoe UI Semilight"/>
              </a:rPr>
              <a:t> </a:t>
            </a:r>
            <a:r>
              <a:rPr sz="2750" b="0" spc="70" dirty="0">
                <a:solidFill>
                  <a:srgbClr val="5F4778"/>
                </a:solidFill>
                <a:latin typeface="Segoe UI Semilight"/>
                <a:cs typeface="Segoe UI Semilight"/>
              </a:rPr>
              <a:t>choose  </a:t>
            </a:r>
            <a:r>
              <a:rPr sz="2750" b="0" spc="95" dirty="0">
                <a:solidFill>
                  <a:srgbClr val="5F4778"/>
                </a:solidFill>
                <a:latin typeface="Segoe UI Semilight"/>
                <a:cs typeface="Segoe UI Semilight"/>
              </a:rPr>
              <a:t>the </a:t>
            </a:r>
            <a:r>
              <a:rPr sz="2750" b="0" spc="90" dirty="0">
                <a:solidFill>
                  <a:srgbClr val="5F4778"/>
                </a:solidFill>
                <a:latin typeface="Segoe UI Semilight"/>
                <a:cs typeface="Segoe UI Semilight"/>
              </a:rPr>
              <a:t>best</a:t>
            </a:r>
            <a:r>
              <a:rPr sz="2750" b="0" spc="5" dirty="0">
                <a:solidFill>
                  <a:srgbClr val="5F4778"/>
                </a:solidFill>
                <a:latin typeface="Segoe UI Semilight"/>
                <a:cs typeface="Segoe UI Semilight"/>
              </a:rPr>
              <a:t> </a:t>
            </a:r>
            <a:r>
              <a:rPr sz="2750" b="0" spc="90" dirty="0">
                <a:solidFill>
                  <a:srgbClr val="5F4778"/>
                </a:solidFill>
                <a:latin typeface="Segoe UI Semilight"/>
                <a:cs typeface="Segoe UI Semilight"/>
              </a:rPr>
              <a:t>attribute?</a:t>
            </a:r>
            <a:endParaRPr sz="2750" dirty="0">
              <a:latin typeface="Segoe UI Semilight"/>
              <a:cs typeface="Segoe UI Semilight"/>
            </a:endParaRPr>
          </a:p>
          <a:p>
            <a:pPr marL="13335" algn="ctr">
              <a:lnSpc>
                <a:spcPct val="100000"/>
              </a:lnSpc>
              <a:spcBef>
                <a:spcPts val="755"/>
              </a:spcBef>
            </a:pPr>
            <a:r>
              <a:rPr sz="2750" b="0" spc="50" dirty="0">
                <a:solidFill>
                  <a:srgbClr val="5F4778"/>
                </a:solidFill>
                <a:latin typeface="Segoe UI Semilight"/>
                <a:cs typeface="Segoe UI Semilight"/>
              </a:rPr>
              <a:t>Or</a:t>
            </a:r>
            <a:endParaRPr sz="2750" dirty="0">
              <a:latin typeface="Segoe UI Semilight"/>
              <a:cs typeface="Segoe UI Semilight"/>
            </a:endParaRPr>
          </a:p>
          <a:p>
            <a:pPr marL="107950" marR="93980" indent="3810" algn="ctr">
              <a:lnSpc>
                <a:spcPct val="100000"/>
              </a:lnSpc>
              <a:spcBef>
                <a:spcPts val="760"/>
              </a:spcBef>
            </a:pPr>
            <a:r>
              <a:rPr sz="2750" b="0" spc="120" dirty="0">
                <a:solidFill>
                  <a:srgbClr val="5F4778"/>
                </a:solidFill>
                <a:latin typeface="Segoe UI Semilight"/>
                <a:cs typeface="Segoe UI Semilight"/>
              </a:rPr>
              <a:t>How </a:t>
            </a:r>
            <a:r>
              <a:rPr sz="2750" b="0" spc="75" dirty="0">
                <a:solidFill>
                  <a:srgbClr val="5F4778"/>
                </a:solidFill>
                <a:latin typeface="Segoe UI Semilight"/>
                <a:cs typeface="Segoe UI Semilight"/>
              </a:rPr>
              <a:t>does </a:t>
            </a:r>
            <a:r>
              <a:rPr sz="2750" b="0" spc="70" dirty="0">
                <a:solidFill>
                  <a:srgbClr val="5F4778"/>
                </a:solidFill>
                <a:latin typeface="Segoe UI Semilight"/>
                <a:cs typeface="Segoe UI Semilight"/>
              </a:rPr>
              <a:t>a </a:t>
            </a:r>
            <a:r>
              <a:rPr sz="2750" b="0" spc="90" dirty="0">
                <a:solidFill>
                  <a:srgbClr val="5F4778"/>
                </a:solidFill>
                <a:latin typeface="Segoe UI Semilight"/>
                <a:cs typeface="Segoe UI Semilight"/>
              </a:rPr>
              <a:t>tree  </a:t>
            </a:r>
            <a:r>
              <a:rPr sz="2750" b="0" spc="70" dirty="0">
                <a:solidFill>
                  <a:srgbClr val="5F4778"/>
                </a:solidFill>
                <a:latin typeface="Segoe UI Semilight"/>
                <a:cs typeface="Segoe UI Semilight"/>
              </a:rPr>
              <a:t>decide </a:t>
            </a:r>
            <a:r>
              <a:rPr sz="2750" b="0" spc="110" dirty="0">
                <a:solidFill>
                  <a:srgbClr val="5F4778"/>
                </a:solidFill>
                <a:latin typeface="Segoe UI Semilight"/>
                <a:cs typeface="Segoe UI Semilight"/>
              </a:rPr>
              <a:t>where </a:t>
            </a:r>
            <a:r>
              <a:rPr sz="2750" b="0" spc="90" dirty="0">
                <a:solidFill>
                  <a:srgbClr val="5F4778"/>
                </a:solidFill>
                <a:latin typeface="Segoe UI Semilight"/>
                <a:cs typeface="Segoe UI Semilight"/>
              </a:rPr>
              <a:t>to</a:t>
            </a:r>
            <a:r>
              <a:rPr sz="2750" b="0" spc="-50" dirty="0">
                <a:solidFill>
                  <a:srgbClr val="5F4778"/>
                </a:solidFill>
                <a:latin typeface="Segoe UI Semilight"/>
                <a:cs typeface="Segoe UI Semilight"/>
              </a:rPr>
              <a:t> </a:t>
            </a:r>
            <a:r>
              <a:rPr sz="2750" b="0" spc="85" dirty="0">
                <a:solidFill>
                  <a:srgbClr val="5F4778"/>
                </a:solidFill>
                <a:latin typeface="Segoe UI Semilight"/>
                <a:cs typeface="Segoe UI Semilight"/>
              </a:rPr>
              <a:t>split?</a:t>
            </a:r>
            <a:endParaRPr sz="2750" dirty="0">
              <a:latin typeface="Segoe UI Semilight"/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051750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How do we split a Tree?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36660" y="2093008"/>
            <a:ext cx="3874062" cy="144924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400" b="1" spc="5" dirty="0">
                <a:solidFill>
                  <a:srgbClr val="5F4778"/>
                </a:solidFill>
                <a:latin typeface="Calibri"/>
                <a:cs typeface="Calibri"/>
              </a:rPr>
              <a:t>Information</a:t>
            </a:r>
            <a:r>
              <a:rPr sz="1400" b="1" spc="-25" dirty="0">
                <a:solidFill>
                  <a:srgbClr val="5F4778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5F4778"/>
                </a:solidFill>
                <a:latin typeface="Calibri"/>
                <a:cs typeface="Calibri"/>
              </a:rPr>
              <a:t>Gain</a:t>
            </a:r>
            <a:endParaRPr sz="1400" dirty="0">
              <a:latin typeface="Calibri"/>
              <a:cs typeface="Calibri"/>
            </a:endParaRPr>
          </a:p>
          <a:p>
            <a:pPr marL="12700" marR="46990">
              <a:lnSpc>
                <a:spcPct val="105500"/>
              </a:lnSpc>
              <a:spcBef>
                <a:spcPts val="250"/>
              </a:spcBef>
            </a:pP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information </a:t>
            </a:r>
            <a:r>
              <a:rPr sz="1400" spc="35" dirty="0">
                <a:solidFill>
                  <a:srgbClr val="7F7F7F"/>
                </a:solidFill>
                <a:latin typeface="Calibri"/>
                <a:cs typeface="Calibri"/>
              </a:rPr>
              <a:t>gain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is 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decrease </a:t>
            </a:r>
            <a:r>
              <a:rPr sz="1400" spc="45" dirty="0">
                <a:solidFill>
                  <a:srgbClr val="7F7F7F"/>
                </a:solidFill>
                <a:latin typeface="Calibri"/>
                <a:cs typeface="Calibri"/>
              </a:rPr>
              <a:t>in 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entropy 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after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a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dataset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is </a:t>
            </a:r>
            <a:r>
              <a:rPr sz="1400" spc="35" dirty="0">
                <a:solidFill>
                  <a:srgbClr val="7F7F7F"/>
                </a:solidFill>
                <a:latin typeface="Calibri"/>
                <a:cs typeface="Calibri"/>
              </a:rPr>
              <a:t>split </a:t>
            </a:r>
            <a:r>
              <a:rPr sz="1400" spc="15" dirty="0">
                <a:solidFill>
                  <a:srgbClr val="7F7F7F"/>
                </a:solidFill>
                <a:latin typeface="Calibri"/>
                <a:cs typeface="Calibri"/>
              </a:rPr>
              <a:t>on 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 </a:t>
            </a:r>
            <a:r>
              <a:rPr sz="1400" spc="50" dirty="0">
                <a:solidFill>
                  <a:srgbClr val="7F7F7F"/>
                </a:solidFill>
                <a:latin typeface="Calibri"/>
                <a:cs typeface="Calibri"/>
              </a:rPr>
              <a:t>basis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of 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an</a:t>
            </a:r>
            <a:r>
              <a:rPr sz="1400" spc="-6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5" dirty="0">
                <a:solidFill>
                  <a:srgbClr val="7F7F7F"/>
                </a:solidFill>
                <a:latin typeface="Calibri"/>
                <a:cs typeface="Calibri"/>
              </a:rPr>
              <a:t>attribute.</a:t>
            </a:r>
            <a:r>
              <a:rPr sz="1400" spc="5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Constructing</a:t>
            </a:r>
            <a:r>
              <a:rPr sz="1400" spc="-8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a</a:t>
            </a:r>
            <a:r>
              <a:rPr sz="1400" spc="-1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35" dirty="0">
                <a:solidFill>
                  <a:srgbClr val="7F7F7F"/>
                </a:solidFill>
                <a:latin typeface="Calibri"/>
                <a:cs typeface="Calibri"/>
              </a:rPr>
              <a:t>decision</a:t>
            </a:r>
            <a:r>
              <a:rPr sz="1400" spc="-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tree</a:t>
            </a:r>
            <a:r>
              <a:rPr sz="1400" spc="-4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is</a:t>
            </a: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7F7F7F"/>
                </a:solidFill>
                <a:latin typeface="Calibri"/>
                <a:cs typeface="Calibri"/>
              </a:rPr>
              <a:t>all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ct val="105400"/>
              </a:lnSpc>
            </a:pP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about</a:t>
            </a:r>
            <a:r>
              <a:rPr sz="1400" spc="-3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35" dirty="0">
                <a:solidFill>
                  <a:srgbClr val="7F7F7F"/>
                </a:solidFill>
                <a:latin typeface="Calibri"/>
                <a:cs typeface="Calibri"/>
              </a:rPr>
              <a:t>finding</a:t>
            </a:r>
            <a:r>
              <a:rPr sz="1400" spc="-8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20" dirty="0">
                <a:solidFill>
                  <a:srgbClr val="7F7F7F"/>
                </a:solidFill>
                <a:latin typeface="Calibri"/>
                <a:cs typeface="Calibri"/>
              </a:rPr>
              <a:t>attribute</a:t>
            </a:r>
            <a:r>
              <a:rPr sz="1400" spc="-11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20" dirty="0">
                <a:solidFill>
                  <a:srgbClr val="7F7F7F"/>
                </a:solidFill>
                <a:latin typeface="Calibri"/>
                <a:cs typeface="Calibri"/>
              </a:rPr>
              <a:t>that</a:t>
            </a:r>
            <a:r>
              <a:rPr sz="1400" spc="4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returns</a:t>
            </a:r>
            <a:r>
              <a:rPr sz="1400" spc="-1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</a:t>
            </a:r>
            <a:r>
              <a:rPr sz="1400" spc="3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highest  information</a:t>
            </a:r>
            <a:r>
              <a:rPr sz="1400" spc="-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35" dirty="0">
                <a:solidFill>
                  <a:srgbClr val="7F7F7F"/>
                </a:solidFill>
                <a:latin typeface="Calibri"/>
                <a:cs typeface="Calibri"/>
              </a:rPr>
              <a:t>gain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977" y="2133018"/>
            <a:ext cx="3919542" cy="106567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450"/>
              </a:spcBef>
            </a:pPr>
            <a:r>
              <a:rPr sz="1400" b="1" spc="10" dirty="0">
                <a:solidFill>
                  <a:srgbClr val="F07F09"/>
                </a:solidFill>
                <a:latin typeface="Calibri"/>
                <a:cs typeface="Calibri"/>
              </a:rPr>
              <a:t>E</a:t>
            </a:r>
            <a:r>
              <a:rPr sz="1400" b="1" spc="25" dirty="0">
                <a:solidFill>
                  <a:srgbClr val="F07F09"/>
                </a:solidFill>
                <a:latin typeface="Calibri"/>
                <a:cs typeface="Calibri"/>
              </a:rPr>
              <a:t>n</a:t>
            </a:r>
            <a:r>
              <a:rPr sz="1400" b="1" spc="30" dirty="0">
                <a:solidFill>
                  <a:srgbClr val="F07F09"/>
                </a:solidFill>
                <a:latin typeface="Calibri"/>
                <a:cs typeface="Calibri"/>
              </a:rPr>
              <a:t>t</a:t>
            </a:r>
            <a:r>
              <a:rPr sz="1400" b="1" spc="20" dirty="0">
                <a:solidFill>
                  <a:srgbClr val="F07F09"/>
                </a:solidFill>
                <a:latin typeface="Calibri"/>
                <a:cs typeface="Calibri"/>
              </a:rPr>
              <a:t>r</a:t>
            </a:r>
            <a:r>
              <a:rPr sz="1400" b="1" spc="25" dirty="0">
                <a:solidFill>
                  <a:srgbClr val="F07F09"/>
                </a:solidFill>
                <a:latin typeface="Calibri"/>
                <a:cs typeface="Calibri"/>
              </a:rPr>
              <a:t>op</a:t>
            </a:r>
            <a:r>
              <a:rPr sz="1400" b="1" dirty="0">
                <a:solidFill>
                  <a:srgbClr val="F07F09"/>
                </a:solidFill>
                <a:latin typeface="Calibri"/>
                <a:cs typeface="Calibri"/>
              </a:rPr>
              <a:t>y</a:t>
            </a:r>
            <a:endParaRPr sz="1400" dirty="0">
              <a:latin typeface="Calibri"/>
              <a:cs typeface="Calibri"/>
            </a:endParaRPr>
          </a:p>
          <a:p>
            <a:pPr marL="536575" marR="8255" indent="533400" algn="r">
              <a:lnSpc>
                <a:spcPct val="125299"/>
              </a:lnSpc>
              <a:spcBef>
                <a:spcPts val="25"/>
              </a:spcBef>
            </a:pP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Defines </a:t>
            </a:r>
            <a:r>
              <a:rPr sz="1400" spc="20" dirty="0">
                <a:solidFill>
                  <a:srgbClr val="7F7F7F"/>
                </a:solidFill>
                <a:latin typeface="Calibri"/>
                <a:cs typeface="Calibri"/>
              </a:rPr>
              <a:t>randomness </a:t>
            </a:r>
            <a:r>
              <a:rPr sz="1400" spc="45" dirty="0">
                <a:solidFill>
                  <a:srgbClr val="7F7F7F"/>
                </a:solidFill>
                <a:latin typeface="Calibri"/>
                <a:cs typeface="Calibri"/>
              </a:rPr>
              <a:t>in</a:t>
            </a:r>
            <a:r>
              <a:rPr sz="1400" spc="-4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20" dirty="0">
                <a:solidFill>
                  <a:srgbClr val="7F7F7F"/>
                </a:solidFill>
                <a:latin typeface="Calibri"/>
                <a:cs typeface="Calibri"/>
              </a:rPr>
              <a:t>data </a:t>
            </a:r>
            <a:r>
              <a:rPr sz="1400" spc="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7F7F7F"/>
                </a:solidFill>
                <a:latin typeface="Calibri"/>
                <a:cs typeface="Calibri"/>
              </a:rPr>
              <a:t>It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is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a metric </a:t>
            </a:r>
            <a:r>
              <a:rPr sz="1400" spc="30" dirty="0">
                <a:solidFill>
                  <a:srgbClr val="7F7F7F"/>
                </a:solidFill>
                <a:latin typeface="Calibri"/>
                <a:cs typeface="Calibri"/>
              </a:rPr>
              <a:t>which </a:t>
            </a:r>
            <a:r>
              <a:rPr sz="1400" spc="15" dirty="0">
                <a:solidFill>
                  <a:srgbClr val="7F7F7F"/>
                </a:solidFill>
                <a:latin typeface="Calibri"/>
                <a:cs typeface="Calibri"/>
              </a:rPr>
              <a:t>measures</a:t>
            </a:r>
            <a:r>
              <a:rPr sz="1400" spc="-15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impurity</a:t>
            </a:r>
            <a:endParaRPr sz="14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285"/>
              </a:spcBef>
            </a:pP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</a:t>
            </a:r>
            <a:r>
              <a:rPr sz="1400" spc="3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first</a:t>
            </a:r>
            <a:r>
              <a:rPr sz="1400" spc="-9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step</a:t>
            </a:r>
            <a:r>
              <a:rPr sz="1400" spc="1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to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solve</a:t>
            </a:r>
            <a:r>
              <a:rPr sz="1400" spc="-10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problem</a:t>
            </a:r>
            <a:r>
              <a:rPr sz="1400" spc="-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of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a</a:t>
            </a:r>
            <a:r>
              <a:rPr sz="1400" spc="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35" dirty="0">
                <a:solidFill>
                  <a:srgbClr val="7F7F7F"/>
                </a:solidFill>
                <a:latin typeface="Calibri"/>
                <a:cs typeface="Calibri"/>
              </a:rPr>
              <a:t>decision</a:t>
            </a:r>
            <a:r>
              <a:rPr sz="1400" spc="-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tree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49445" y="3918467"/>
            <a:ext cx="3508711" cy="764697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b="1" dirty="0">
                <a:solidFill>
                  <a:srgbClr val="6B9E24"/>
                </a:solidFill>
                <a:latin typeface="Calibri"/>
                <a:cs typeface="Calibri"/>
              </a:rPr>
              <a:t>Gini</a:t>
            </a:r>
            <a:r>
              <a:rPr sz="1400" b="1" spc="-50" dirty="0">
                <a:solidFill>
                  <a:srgbClr val="6B9E2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B9E24"/>
                </a:solidFill>
                <a:latin typeface="Calibri"/>
                <a:cs typeface="Calibri"/>
              </a:rPr>
              <a:t>Index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ct val="105300"/>
              </a:lnSpc>
              <a:spcBef>
                <a:spcPts val="254"/>
              </a:spcBef>
            </a:pP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measure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of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impurity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(or </a:t>
            </a:r>
            <a:r>
              <a:rPr sz="1400" spc="20" dirty="0">
                <a:solidFill>
                  <a:srgbClr val="7F7F7F"/>
                </a:solidFill>
                <a:latin typeface="Calibri"/>
                <a:cs typeface="Calibri"/>
              </a:rPr>
              <a:t>purity) used</a:t>
            </a:r>
            <a:r>
              <a:rPr sz="1400" spc="-13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7F7F7F"/>
                </a:solidFill>
                <a:latin typeface="Calibri"/>
                <a:cs typeface="Calibri"/>
              </a:rPr>
              <a:t>in 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building</a:t>
            </a:r>
            <a:r>
              <a:rPr sz="1400" spc="-8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30" dirty="0">
                <a:solidFill>
                  <a:srgbClr val="7F7F7F"/>
                </a:solidFill>
                <a:latin typeface="Calibri"/>
                <a:cs typeface="Calibri"/>
              </a:rPr>
              <a:t>decision</a:t>
            </a:r>
            <a:r>
              <a:rPr sz="1400" spc="-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tree</a:t>
            </a:r>
            <a:r>
              <a:rPr sz="1400" spc="-10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7F7F7F"/>
                </a:solidFill>
                <a:latin typeface="Calibri"/>
                <a:cs typeface="Calibri"/>
              </a:rPr>
              <a:t>in</a:t>
            </a:r>
            <a:r>
              <a:rPr sz="1400" spc="-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CART</a:t>
            </a:r>
            <a:r>
              <a:rPr sz="1400" spc="1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7F7F7F"/>
                </a:solidFill>
                <a:latin typeface="Calibri"/>
                <a:cs typeface="Calibri"/>
              </a:rPr>
              <a:t>is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Gini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5" dirty="0">
                <a:solidFill>
                  <a:srgbClr val="7F7F7F"/>
                </a:solidFill>
                <a:latin typeface="Calibri"/>
                <a:cs typeface="Calibri"/>
              </a:rPr>
              <a:t>Index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645" y="3668143"/>
            <a:ext cx="3923041" cy="1265346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2225" marR="5080" indent="953135" algn="r">
              <a:lnSpc>
                <a:spcPct val="113500"/>
              </a:lnSpc>
              <a:spcBef>
                <a:spcPts val="260"/>
              </a:spcBef>
            </a:pP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Reduction</a:t>
            </a:r>
            <a:r>
              <a:rPr sz="1400" b="1" spc="-5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in</a:t>
            </a:r>
            <a:r>
              <a:rPr sz="1400" b="1" spc="-5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1B577B"/>
                </a:solidFill>
                <a:latin typeface="Calibri"/>
                <a:cs typeface="Calibri"/>
              </a:rPr>
              <a:t>Variance </a:t>
            </a:r>
            <a:r>
              <a:rPr sz="140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endParaRPr lang="en-US" sz="1400" dirty="0" smtClean="0">
              <a:solidFill>
                <a:srgbClr val="1B577B"/>
              </a:solidFill>
              <a:latin typeface="Times New Roman"/>
              <a:cs typeface="Times New Roman"/>
            </a:endParaRPr>
          </a:p>
          <a:p>
            <a:pPr marL="22225" marR="5080" indent="953135" algn="r">
              <a:lnSpc>
                <a:spcPct val="113500"/>
              </a:lnSpc>
              <a:spcBef>
                <a:spcPts val="260"/>
              </a:spcBef>
            </a:pPr>
            <a:r>
              <a:rPr sz="1400" spc="15" dirty="0" smtClean="0">
                <a:solidFill>
                  <a:srgbClr val="7F7F7F"/>
                </a:solidFill>
                <a:latin typeface="Calibri"/>
                <a:cs typeface="Calibri"/>
              </a:rPr>
              <a:t>Reduction </a:t>
            </a:r>
            <a:r>
              <a:rPr sz="1400" spc="45" dirty="0">
                <a:solidFill>
                  <a:srgbClr val="7F7F7F"/>
                </a:solidFill>
                <a:latin typeface="Calibri"/>
                <a:cs typeface="Calibri"/>
              </a:rPr>
              <a:t>in</a:t>
            </a:r>
            <a:r>
              <a:rPr sz="1400" spc="-5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variance</a:t>
            </a:r>
            <a:r>
              <a:rPr sz="1400" spc="-10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7F7F7F"/>
                </a:solidFill>
                <a:latin typeface="Calibri"/>
                <a:cs typeface="Calibri"/>
              </a:rPr>
              <a:t>is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an</a:t>
            </a:r>
            <a:r>
              <a:rPr sz="1400" spc="-5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5" dirty="0">
                <a:solidFill>
                  <a:srgbClr val="7F7F7F"/>
                </a:solidFill>
                <a:latin typeface="Calibri"/>
                <a:cs typeface="Calibri"/>
              </a:rPr>
              <a:t>algorithm</a:t>
            </a:r>
            <a:r>
              <a:rPr sz="1400" spc="-9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20" dirty="0">
                <a:solidFill>
                  <a:srgbClr val="7F7F7F"/>
                </a:solidFill>
                <a:latin typeface="Calibri"/>
                <a:cs typeface="Calibri"/>
              </a:rPr>
              <a:t>used</a:t>
            </a:r>
            <a:r>
              <a:rPr sz="1400" spc="-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for </a:t>
            </a:r>
            <a:r>
              <a:rPr sz="1400" spc="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7F7F7F"/>
                </a:solidFill>
                <a:latin typeface="Calibri"/>
                <a:cs typeface="Calibri"/>
              </a:rPr>
              <a:t>continuous </a:t>
            </a:r>
            <a:r>
              <a:rPr sz="1400" spc="10" dirty="0">
                <a:solidFill>
                  <a:srgbClr val="7F7F7F"/>
                </a:solidFill>
                <a:latin typeface="Calibri"/>
                <a:cs typeface="Calibri"/>
              </a:rPr>
              <a:t>target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variables</a:t>
            </a:r>
            <a:r>
              <a:rPr sz="1400" spc="-13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25" dirty="0">
                <a:solidFill>
                  <a:srgbClr val="7F7F7F"/>
                </a:solidFill>
                <a:latin typeface="Calibri"/>
                <a:cs typeface="Calibri"/>
              </a:rPr>
              <a:t>(regression</a:t>
            </a:r>
            <a:endParaRPr sz="1400" dirty="0">
              <a:latin typeface="Calibri"/>
              <a:cs typeface="Calibri"/>
            </a:endParaRPr>
          </a:p>
          <a:p>
            <a:pPr marL="12700" marR="8255" indent="161925" algn="r">
              <a:lnSpc>
                <a:spcPct val="105500"/>
              </a:lnSpc>
            </a:pPr>
            <a:r>
              <a:rPr sz="1400" spc="20" dirty="0">
                <a:solidFill>
                  <a:srgbClr val="7F7F7F"/>
                </a:solidFill>
                <a:latin typeface="Calibri"/>
                <a:cs typeface="Calibri"/>
              </a:rPr>
              <a:t>problems).</a:t>
            </a:r>
            <a:r>
              <a:rPr sz="1400" spc="-9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7F7F7F"/>
                </a:solidFill>
                <a:latin typeface="Calibri"/>
                <a:cs typeface="Calibri"/>
              </a:rPr>
              <a:t>The</a:t>
            </a:r>
            <a:r>
              <a:rPr sz="1400" spc="1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7F7F7F"/>
                </a:solidFill>
                <a:latin typeface="Calibri"/>
                <a:cs typeface="Calibri"/>
              </a:rPr>
              <a:t>split</a:t>
            </a:r>
            <a:r>
              <a:rPr sz="1400" spc="-9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5" dirty="0">
                <a:solidFill>
                  <a:srgbClr val="7F7F7F"/>
                </a:solidFill>
                <a:latin typeface="Calibri"/>
                <a:cs typeface="Calibri"/>
              </a:rPr>
              <a:t>with</a:t>
            </a:r>
            <a:r>
              <a:rPr sz="1400" spc="-6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15" dirty="0">
                <a:solidFill>
                  <a:srgbClr val="7F7F7F"/>
                </a:solidFill>
                <a:latin typeface="Calibri"/>
                <a:cs typeface="Calibri"/>
              </a:rPr>
              <a:t>lower</a:t>
            </a:r>
            <a:r>
              <a:rPr sz="1400" spc="-3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7F7F7F"/>
                </a:solidFill>
                <a:latin typeface="Calibri"/>
                <a:cs typeface="Calibri"/>
              </a:rPr>
              <a:t>variance</a:t>
            </a:r>
            <a:r>
              <a:rPr sz="1400" spc="-10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7F7F7F"/>
                </a:solidFill>
                <a:latin typeface="Calibri"/>
                <a:cs typeface="Calibri"/>
              </a:rPr>
              <a:t>is </a:t>
            </a:r>
            <a:r>
              <a:rPr sz="1400" spc="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400" spc="15" dirty="0">
                <a:solidFill>
                  <a:srgbClr val="7F7F7F"/>
                </a:solidFill>
                <a:latin typeface="Calibri"/>
                <a:cs typeface="Calibri"/>
              </a:rPr>
              <a:t>selected </a:t>
            </a:r>
            <a:r>
              <a:rPr sz="1400" spc="35" dirty="0">
                <a:solidFill>
                  <a:srgbClr val="7F7F7F"/>
                </a:solidFill>
                <a:latin typeface="Calibri"/>
                <a:cs typeface="Calibri"/>
              </a:rPr>
              <a:t>as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 the</a:t>
            </a:r>
            <a:r>
              <a:rPr sz="1400" spc="5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30" dirty="0">
                <a:solidFill>
                  <a:srgbClr val="7F7F7F"/>
                </a:solidFill>
                <a:latin typeface="Calibri"/>
                <a:cs typeface="Calibri"/>
              </a:rPr>
              <a:t>criteria</a:t>
            </a:r>
            <a:r>
              <a:rPr sz="1400" spc="-1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Calibri"/>
                <a:cs typeface="Calibri"/>
              </a:rPr>
              <a:t>to</a:t>
            </a:r>
            <a:r>
              <a:rPr sz="1400" spc="-5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7F7F7F"/>
                </a:solidFill>
                <a:latin typeface="Calibri"/>
                <a:cs typeface="Calibri"/>
              </a:rPr>
              <a:t>split</a:t>
            </a:r>
            <a:r>
              <a:rPr sz="1400" spc="-9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F7F7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400" spc="30" dirty="0">
                <a:solidFill>
                  <a:srgbClr val="7F7F7F"/>
                </a:solidFill>
                <a:latin typeface="Calibri"/>
                <a:cs typeface="Calibri"/>
              </a:rPr>
              <a:t>population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6"/>
          <p:cNvSpPr/>
          <p:nvPr/>
        </p:nvSpPr>
        <p:spPr>
          <a:xfrm>
            <a:off x="4656519" y="2133018"/>
            <a:ext cx="1802509" cy="1503243"/>
          </a:xfrm>
          <a:custGeom>
            <a:avLst/>
            <a:gdLst/>
            <a:ahLst/>
            <a:cxnLst/>
            <a:rect l="l" t="t" r="r" b="b"/>
            <a:pathLst>
              <a:path w="1281429" h="1281430">
                <a:moveTo>
                  <a:pt x="1281409" y="0"/>
                </a:moveTo>
                <a:lnTo>
                  <a:pt x="1233275" y="886"/>
                </a:lnTo>
                <a:lnTo>
                  <a:pt x="1185597" y="3523"/>
                </a:lnTo>
                <a:lnTo>
                  <a:pt x="1138403" y="7880"/>
                </a:lnTo>
                <a:lnTo>
                  <a:pt x="1091726" y="13927"/>
                </a:lnTo>
                <a:lnTo>
                  <a:pt x="1045596" y="21630"/>
                </a:lnTo>
                <a:lnTo>
                  <a:pt x="1000044" y="30960"/>
                </a:lnTo>
                <a:lnTo>
                  <a:pt x="955099" y="41885"/>
                </a:lnTo>
                <a:lnTo>
                  <a:pt x="910794" y="54373"/>
                </a:lnTo>
                <a:lnTo>
                  <a:pt x="867158" y="68394"/>
                </a:lnTo>
                <a:lnTo>
                  <a:pt x="824222" y="83915"/>
                </a:lnTo>
                <a:lnTo>
                  <a:pt x="782017" y="100907"/>
                </a:lnTo>
                <a:lnTo>
                  <a:pt x="740574" y="119337"/>
                </a:lnTo>
                <a:lnTo>
                  <a:pt x="699923" y="139174"/>
                </a:lnTo>
                <a:lnTo>
                  <a:pt x="660095" y="160387"/>
                </a:lnTo>
                <a:lnTo>
                  <a:pt x="621120" y="182945"/>
                </a:lnTo>
                <a:lnTo>
                  <a:pt x="583030" y="206816"/>
                </a:lnTo>
                <a:lnTo>
                  <a:pt x="545855" y="231969"/>
                </a:lnTo>
                <a:lnTo>
                  <a:pt x="509625" y="258373"/>
                </a:lnTo>
                <a:lnTo>
                  <a:pt x="474371" y="285996"/>
                </a:lnTo>
                <a:lnTo>
                  <a:pt x="440124" y="314808"/>
                </a:lnTo>
                <a:lnTo>
                  <a:pt x="406915" y="344777"/>
                </a:lnTo>
                <a:lnTo>
                  <a:pt x="374774" y="375871"/>
                </a:lnTo>
                <a:lnTo>
                  <a:pt x="343732" y="408060"/>
                </a:lnTo>
                <a:lnTo>
                  <a:pt x="313819" y="441311"/>
                </a:lnTo>
                <a:lnTo>
                  <a:pt x="285067" y="475595"/>
                </a:lnTo>
                <a:lnTo>
                  <a:pt x="257505" y="510879"/>
                </a:lnTo>
                <a:lnTo>
                  <a:pt x="231166" y="547133"/>
                </a:lnTo>
                <a:lnTo>
                  <a:pt x="206078" y="584324"/>
                </a:lnTo>
                <a:lnTo>
                  <a:pt x="182273" y="622422"/>
                </a:lnTo>
                <a:lnTo>
                  <a:pt x="159782" y="661395"/>
                </a:lnTo>
                <a:lnTo>
                  <a:pt x="138635" y="701213"/>
                </a:lnTo>
                <a:lnTo>
                  <a:pt x="118863" y="741844"/>
                </a:lnTo>
                <a:lnTo>
                  <a:pt x="100496" y="783256"/>
                </a:lnTo>
                <a:lnTo>
                  <a:pt x="83565" y="825418"/>
                </a:lnTo>
                <a:lnTo>
                  <a:pt x="68102" y="868299"/>
                </a:lnTo>
                <a:lnTo>
                  <a:pt x="54136" y="911868"/>
                </a:lnTo>
                <a:lnTo>
                  <a:pt x="41698" y="956094"/>
                </a:lnTo>
                <a:lnTo>
                  <a:pt x="30819" y="1000944"/>
                </a:lnTo>
                <a:lnTo>
                  <a:pt x="21530" y="1046389"/>
                </a:lnTo>
                <a:lnTo>
                  <a:pt x="13861" y="1092396"/>
                </a:lnTo>
                <a:lnTo>
                  <a:pt x="7842" y="1138934"/>
                </a:lnTo>
                <a:lnTo>
                  <a:pt x="3506" y="1185973"/>
                </a:lnTo>
                <a:lnTo>
                  <a:pt x="881" y="1233480"/>
                </a:lnTo>
                <a:lnTo>
                  <a:pt x="0" y="1281424"/>
                </a:lnTo>
                <a:lnTo>
                  <a:pt x="1281409" y="1281424"/>
                </a:lnTo>
                <a:lnTo>
                  <a:pt x="1281409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/>
          <p:cNvSpPr/>
          <p:nvPr/>
        </p:nvSpPr>
        <p:spPr>
          <a:xfrm>
            <a:off x="4656519" y="3512454"/>
            <a:ext cx="1802509" cy="1421035"/>
          </a:xfrm>
          <a:custGeom>
            <a:avLst/>
            <a:gdLst/>
            <a:ahLst/>
            <a:cxnLst/>
            <a:rect l="l" t="t" r="r" b="b"/>
            <a:pathLst>
              <a:path w="1281429" h="1285875">
                <a:moveTo>
                  <a:pt x="1281409" y="0"/>
                </a:moveTo>
                <a:lnTo>
                  <a:pt x="0" y="0"/>
                </a:lnTo>
                <a:lnTo>
                  <a:pt x="881" y="48182"/>
                </a:lnTo>
                <a:lnTo>
                  <a:pt x="3506" y="95918"/>
                </a:lnTo>
                <a:lnTo>
                  <a:pt x="7842" y="143176"/>
                </a:lnTo>
                <a:lnTo>
                  <a:pt x="13861" y="189925"/>
                </a:lnTo>
                <a:lnTo>
                  <a:pt x="21530" y="236134"/>
                </a:lnTo>
                <a:lnTo>
                  <a:pt x="30819" y="281772"/>
                </a:lnTo>
                <a:lnTo>
                  <a:pt x="41698" y="326808"/>
                </a:lnTo>
                <a:lnTo>
                  <a:pt x="54136" y="371210"/>
                </a:lnTo>
                <a:lnTo>
                  <a:pt x="68102" y="414948"/>
                </a:lnTo>
                <a:lnTo>
                  <a:pt x="83565" y="457990"/>
                </a:lnTo>
                <a:lnTo>
                  <a:pt x="100496" y="500306"/>
                </a:lnTo>
                <a:lnTo>
                  <a:pt x="118863" y="541864"/>
                </a:lnTo>
                <a:lnTo>
                  <a:pt x="138635" y="582633"/>
                </a:lnTo>
                <a:lnTo>
                  <a:pt x="159782" y="622582"/>
                </a:lnTo>
                <a:lnTo>
                  <a:pt x="182273" y="661680"/>
                </a:lnTo>
                <a:lnTo>
                  <a:pt x="206078" y="699896"/>
                </a:lnTo>
                <a:lnTo>
                  <a:pt x="231166" y="737198"/>
                </a:lnTo>
                <a:lnTo>
                  <a:pt x="257505" y="773556"/>
                </a:lnTo>
                <a:lnTo>
                  <a:pt x="285067" y="808939"/>
                </a:lnTo>
                <a:lnTo>
                  <a:pt x="313819" y="843315"/>
                </a:lnTo>
                <a:lnTo>
                  <a:pt x="343732" y="876653"/>
                </a:lnTo>
                <a:lnTo>
                  <a:pt x="374774" y="908923"/>
                </a:lnTo>
                <a:lnTo>
                  <a:pt x="406915" y="940092"/>
                </a:lnTo>
                <a:lnTo>
                  <a:pt x="440124" y="970131"/>
                </a:lnTo>
                <a:lnTo>
                  <a:pt x="474371" y="999007"/>
                </a:lnTo>
                <a:lnTo>
                  <a:pt x="509625" y="1026691"/>
                </a:lnTo>
                <a:lnTo>
                  <a:pt x="545855" y="1053150"/>
                </a:lnTo>
                <a:lnTo>
                  <a:pt x="583030" y="1078353"/>
                </a:lnTo>
                <a:lnTo>
                  <a:pt x="621120" y="1102270"/>
                </a:lnTo>
                <a:lnTo>
                  <a:pt x="660095" y="1124870"/>
                </a:lnTo>
                <a:lnTo>
                  <a:pt x="699923" y="1146120"/>
                </a:lnTo>
                <a:lnTo>
                  <a:pt x="740574" y="1165991"/>
                </a:lnTo>
                <a:lnTo>
                  <a:pt x="782017" y="1184451"/>
                </a:lnTo>
                <a:lnTo>
                  <a:pt x="824222" y="1201469"/>
                </a:lnTo>
                <a:lnTo>
                  <a:pt x="867158" y="1217014"/>
                </a:lnTo>
                <a:lnTo>
                  <a:pt x="910794" y="1231054"/>
                </a:lnTo>
                <a:lnTo>
                  <a:pt x="955099" y="1243560"/>
                </a:lnTo>
                <a:lnTo>
                  <a:pt x="1000044" y="1254498"/>
                </a:lnTo>
                <a:lnTo>
                  <a:pt x="1045596" y="1263839"/>
                </a:lnTo>
                <a:lnTo>
                  <a:pt x="1091726" y="1271552"/>
                </a:lnTo>
                <a:lnTo>
                  <a:pt x="1138403" y="1277605"/>
                </a:lnTo>
                <a:lnTo>
                  <a:pt x="1185597" y="1281967"/>
                </a:lnTo>
                <a:lnTo>
                  <a:pt x="1233275" y="1284607"/>
                </a:lnTo>
                <a:lnTo>
                  <a:pt x="1281409" y="1285494"/>
                </a:lnTo>
                <a:lnTo>
                  <a:pt x="1281409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/>
          <p:cNvSpPr/>
          <p:nvPr/>
        </p:nvSpPr>
        <p:spPr>
          <a:xfrm>
            <a:off x="6210000" y="2135050"/>
            <a:ext cx="1808761" cy="1444587"/>
          </a:xfrm>
          <a:custGeom>
            <a:avLst/>
            <a:gdLst/>
            <a:ahLst/>
            <a:cxnLst/>
            <a:rect l="l" t="t" r="r" b="b"/>
            <a:pathLst>
              <a:path w="1285875" h="1281430">
                <a:moveTo>
                  <a:pt x="0" y="0"/>
                </a:moveTo>
                <a:lnTo>
                  <a:pt x="0" y="1281424"/>
                </a:lnTo>
                <a:lnTo>
                  <a:pt x="1285494" y="1281424"/>
                </a:lnTo>
                <a:lnTo>
                  <a:pt x="1284607" y="1233480"/>
                </a:lnTo>
                <a:lnTo>
                  <a:pt x="1281967" y="1185973"/>
                </a:lnTo>
                <a:lnTo>
                  <a:pt x="1277605" y="1138934"/>
                </a:lnTo>
                <a:lnTo>
                  <a:pt x="1271552" y="1092396"/>
                </a:lnTo>
                <a:lnTo>
                  <a:pt x="1263840" y="1046389"/>
                </a:lnTo>
                <a:lnTo>
                  <a:pt x="1254499" y="1000944"/>
                </a:lnTo>
                <a:lnTo>
                  <a:pt x="1243560" y="956094"/>
                </a:lnTo>
                <a:lnTo>
                  <a:pt x="1231056" y="911868"/>
                </a:lnTo>
                <a:lnTo>
                  <a:pt x="1217015" y="868299"/>
                </a:lnTo>
                <a:lnTo>
                  <a:pt x="1201471" y="825418"/>
                </a:lnTo>
                <a:lnTo>
                  <a:pt x="1184453" y="783256"/>
                </a:lnTo>
                <a:lnTo>
                  <a:pt x="1165994" y="741844"/>
                </a:lnTo>
                <a:lnTo>
                  <a:pt x="1146123" y="701213"/>
                </a:lnTo>
                <a:lnTo>
                  <a:pt x="1124873" y="661395"/>
                </a:lnTo>
                <a:lnTo>
                  <a:pt x="1102274" y="622422"/>
                </a:lnTo>
                <a:lnTo>
                  <a:pt x="1078357" y="584324"/>
                </a:lnTo>
                <a:lnTo>
                  <a:pt x="1053154" y="547133"/>
                </a:lnTo>
                <a:lnTo>
                  <a:pt x="1026695" y="510879"/>
                </a:lnTo>
                <a:lnTo>
                  <a:pt x="999012" y="475595"/>
                </a:lnTo>
                <a:lnTo>
                  <a:pt x="970136" y="441311"/>
                </a:lnTo>
                <a:lnTo>
                  <a:pt x="940098" y="408060"/>
                </a:lnTo>
                <a:lnTo>
                  <a:pt x="908928" y="375871"/>
                </a:lnTo>
                <a:lnTo>
                  <a:pt x="876659" y="344777"/>
                </a:lnTo>
                <a:lnTo>
                  <a:pt x="843321" y="314808"/>
                </a:lnTo>
                <a:lnTo>
                  <a:pt x="808945" y="285996"/>
                </a:lnTo>
                <a:lnTo>
                  <a:pt x="773563" y="258373"/>
                </a:lnTo>
                <a:lnTo>
                  <a:pt x="737205" y="231969"/>
                </a:lnTo>
                <a:lnTo>
                  <a:pt x="699902" y="206816"/>
                </a:lnTo>
                <a:lnTo>
                  <a:pt x="661687" y="182945"/>
                </a:lnTo>
                <a:lnTo>
                  <a:pt x="622589" y="160387"/>
                </a:lnTo>
                <a:lnTo>
                  <a:pt x="582640" y="139174"/>
                </a:lnTo>
                <a:lnTo>
                  <a:pt x="541871" y="119337"/>
                </a:lnTo>
                <a:lnTo>
                  <a:pt x="500313" y="100907"/>
                </a:lnTo>
                <a:lnTo>
                  <a:pt x="457997" y="83915"/>
                </a:lnTo>
                <a:lnTo>
                  <a:pt x="414954" y="68394"/>
                </a:lnTo>
                <a:lnTo>
                  <a:pt x="371216" y="54373"/>
                </a:lnTo>
                <a:lnTo>
                  <a:pt x="326813" y="41885"/>
                </a:lnTo>
                <a:lnTo>
                  <a:pt x="281777" y="30960"/>
                </a:lnTo>
                <a:lnTo>
                  <a:pt x="236138" y="21630"/>
                </a:lnTo>
                <a:lnTo>
                  <a:pt x="189929" y="13927"/>
                </a:lnTo>
                <a:lnTo>
                  <a:pt x="143179" y="7880"/>
                </a:lnTo>
                <a:lnTo>
                  <a:pt x="95920" y="3523"/>
                </a:lnTo>
                <a:lnTo>
                  <a:pt x="48183" y="886"/>
                </a:lnTo>
                <a:lnTo>
                  <a:pt x="0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9"/>
          <p:cNvSpPr/>
          <p:nvPr/>
        </p:nvSpPr>
        <p:spPr>
          <a:xfrm>
            <a:off x="6223646" y="3526102"/>
            <a:ext cx="1808761" cy="1421035"/>
          </a:xfrm>
          <a:custGeom>
            <a:avLst/>
            <a:gdLst/>
            <a:ahLst/>
            <a:cxnLst/>
            <a:rect l="l" t="t" r="r" b="b"/>
            <a:pathLst>
              <a:path w="1285875" h="1285875">
                <a:moveTo>
                  <a:pt x="1285494" y="0"/>
                </a:moveTo>
                <a:lnTo>
                  <a:pt x="0" y="0"/>
                </a:lnTo>
                <a:lnTo>
                  <a:pt x="0" y="1285494"/>
                </a:lnTo>
                <a:lnTo>
                  <a:pt x="48183" y="1284607"/>
                </a:lnTo>
                <a:lnTo>
                  <a:pt x="95920" y="1281967"/>
                </a:lnTo>
                <a:lnTo>
                  <a:pt x="143179" y="1277605"/>
                </a:lnTo>
                <a:lnTo>
                  <a:pt x="189929" y="1271552"/>
                </a:lnTo>
                <a:lnTo>
                  <a:pt x="236138" y="1263839"/>
                </a:lnTo>
                <a:lnTo>
                  <a:pt x="281777" y="1254498"/>
                </a:lnTo>
                <a:lnTo>
                  <a:pt x="326813" y="1243560"/>
                </a:lnTo>
                <a:lnTo>
                  <a:pt x="371216" y="1231054"/>
                </a:lnTo>
                <a:lnTo>
                  <a:pt x="414954" y="1217014"/>
                </a:lnTo>
                <a:lnTo>
                  <a:pt x="457997" y="1201469"/>
                </a:lnTo>
                <a:lnTo>
                  <a:pt x="500313" y="1184451"/>
                </a:lnTo>
                <a:lnTo>
                  <a:pt x="541871" y="1165991"/>
                </a:lnTo>
                <a:lnTo>
                  <a:pt x="582640" y="1146120"/>
                </a:lnTo>
                <a:lnTo>
                  <a:pt x="622589" y="1124870"/>
                </a:lnTo>
                <a:lnTo>
                  <a:pt x="661687" y="1102270"/>
                </a:lnTo>
                <a:lnTo>
                  <a:pt x="699902" y="1078353"/>
                </a:lnTo>
                <a:lnTo>
                  <a:pt x="737205" y="1053150"/>
                </a:lnTo>
                <a:lnTo>
                  <a:pt x="773563" y="1026691"/>
                </a:lnTo>
                <a:lnTo>
                  <a:pt x="808945" y="999007"/>
                </a:lnTo>
                <a:lnTo>
                  <a:pt x="843321" y="970131"/>
                </a:lnTo>
                <a:lnTo>
                  <a:pt x="876659" y="940092"/>
                </a:lnTo>
                <a:lnTo>
                  <a:pt x="908928" y="908923"/>
                </a:lnTo>
                <a:lnTo>
                  <a:pt x="940098" y="876653"/>
                </a:lnTo>
                <a:lnTo>
                  <a:pt x="970136" y="843315"/>
                </a:lnTo>
                <a:lnTo>
                  <a:pt x="999012" y="808939"/>
                </a:lnTo>
                <a:lnTo>
                  <a:pt x="1026695" y="773556"/>
                </a:lnTo>
                <a:lnTo>
                  <a:pt x="1053154" y="737198"/>
                </a:lnTo>
                <a:lnTo>
                  <a:pt x="1078357" y="699896"/>
                </a:lnTo>
                <a:lnTo>
                  <a:pt x="1102274" y="661680"/>
                </a:lnTo>
                <a:lnTo>
                  <a:pt x="1124873" y="622582"/>
                </a:lnTo>
                <a:lnTo>
                  <a:pt x="1146123" y="582633"/>
                </a:lnTo>
                <a:lnTo>
                  <a:pt x="1165994" y="541864"/>
                </a:lnTo>
                <a:lnTo>
                  <a:pt x="1184453" y="500306"/>
                </a:lnTo>
                <a:lnTo>
                  <a:pt x="1201471" y="457990"/>
                </a:lnTo>
                <a:lnTo>
                  <a:pt x="1217015" y="414948"/>
                </a:lnTo>
                <a:lnTo>
                  <a:pt x="1231056" y="371210"/>
                </a:lnTo>
                <a:lnTo>
                  <a:pt x="1243560" y="326808"/>
                </a:lnTo>
                <a:lnTo>
                  <a:pt x="1254499" y="281772"/>
                </a:lnTo>
                <a:lnTo>
                  <a:pt x="1263840" y="236134"/>
                </a:lnTo>
                <a:lnTo>
                  <a:pt x="1271552" y="189925"/>
                </a:lnTo>
                <a:lnTo>
                  <a:pt x="1277605" y="143176"/>
                </a:lnTo>
                <a:lnTo>
                  <a:pt x="1281967" y="95918"/>
                </a:lnTo>
                <a:lnTo>
                  <a:pt x="1284607" y="48182"/>
                </a:lnTo>
                <a:lnTo>
                  <a:pt x="1285494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4"/>
          <p:cNvSpPr/>
          <p:nvPr/>
        </p:nvSpPr>
        <p:spPr>
          <a:xfrm>
            <a:off x="5319801" y="2685718"/>
            <a:ext cx="602920" cy="445565"/>
          </a:xfrm>
          <a:custGeom>
            <a:avLst/>
            <a:gdLst/>
            <a:ahLst/>
            <a:cxnLst/>
            <a:rect l="l" t="t" r="r" b="b"/>
            <a:pathLst>
              <a:path w="428625" h="427989">
                <a:moveTo>
                  <a:pt x="214000" y="0"/>
                </a:moveTo>
                <a:lnTo>
                  <a:pt x="164956" y="5649"/>
                </a:lnTo>
                <a:lnTo>
                  <a:pt x="119922" y="21742"/>
                </a:lnTo>
                <a:lnTo>
                  <a:pt x="80187" y="46998"/>
                </a:lnTo>
                <a:lnTo>
                  <a:pt x="47038" y="80133"/>
                </a:lnTo>
                <a:lnTo>
                  <a:pt x="21765" y="119867"/>
                </a:lnTo>
                <a:lnTo>
                  <a:pt x="5656" y="164918"/>
                </a:lnTo>
                <a:lnTo>
                  <a:pt x="0" y="214003"/>
                </a:lnTo>
                <a:lnTo>
                  <a:pt x="5656" y="263046"/>
                </a:lnTo>
                <a:lnTo>
                  <a:pt x="21765" y="308078"/>
                </a:lnTo>
                <a:lnTo>
                  <a:pt x="47038" y="347812"/>
                </a:lnTo>
                <a:lnTo>
                  <a:pt x="80187" y="380959"/>
                </a:lnTo>
                <a:lnTo>
                  <a:pt x="119922" y="406230"/>
                </a:lnTo>
                <a:lnTo>
                  <a:pt x="164956" y="422338"/>
                </a:lnTo>
                <a:lnTo>
                  <a:pt x="214000" y="427994"/>
                </a:lnTo>
                <a:lnTo>
                  <a:pt x="263043" y="422338"/>
                </a:lnTo>
                <a:lnTo>
                  <a:pt x="308077" y="406230"/>
                </a:lnTo>
                <a:lnTo>
                  <a:pt x="347813" y="380959"/>
                </a:lnTo>
                <a:lnTo>
                  <a:pt x="380961" y="347812"/>
                </a:lnTo>
                <a:lnTo>
                  <a:pt x="406235" y="308078"/>
                </a:lnTo>
                <a:lnTo>
                  <a:pt x="422344" y="263046"/>
                </a:lnTo>
                <a:lnTo>
                  <a:pt x="428000" y="214003"/>
                </a:lnTo>
                <a:lnTo>
                  <a:pt x="422344" y="164918"/>
                </a:lnTo>
                <a:lnTo>
                  <a:pt x="406235" y="119867"/>
                </a:lnTo>
                <a:lnTo>
                  <a:pt x="380961" y="80133"/>
                </a:lnTo>
                <a:lnTo>
                  <a:pt x="347813" y="46998"/>
                </a:lnTo>
                <a:lnTo>
                  <a:pt x="308077" y="21742"/>
                </a:lnTo>
                <a:lnTo>
                  <a:pt x="263043" y="5649"/>
                </a:lnTo>
                <a:lnTo>
                  <a:pt x="21400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6"/>
          <p:cNvSpPr txBox="1"/>
          <p:nvPr/>
        </p:nvSpPr>
        <p:spPr>
          <a:xfrm>
            <a:off x="5536047" y="2773414"/>
            <a:ext cx="17774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7" name="object 18"/>
          <p:cNvSpPr/>
          <p:nvPr/>
        </p:nvSpPr>
        <p:spPr>
          <a:xfrm>
            <a:off x="6691401" y="2685719"/>
            <a:ext cx="602920" cy="445565"/>
          </a:xfrm>
          <a:custGeom>
            <a:avLst/>
            <a:gdLst/>
            <a:ahLst/>
            <a:cxnLst/>
            <a:rect l="l" t="t" r="r" b="b"/>
            <a:pathLst>
              <a:path w="428625" h="427989">
                <a:moveTo>
                  <a:pt x="0" y="214003"/>
                </a:moveTo>
                <a:lnTo>
                  <a:pt x="5656" y="164918"/>
                </a:lnTo>
                <a:lnTo>
                  <a:pt x="21765" y="119867"/>
                </a:lnTo>
                <a:lnTo>
                  <a:pt x="47038" y="80133"/>
                </a:lnTo>
                <a:lnTo>
                  <a:pt x="80187" y="46998"/>
                </a:lnTo>
                <a:lnTo>
                  <a:pt x="119922" y="21742"/>
                </a:lnTo>
                <a:lnTo>
                  <a:pt x="164956" y="5649"/>
                </a:lnTo>
                <a:lnTo>
                  <a:pt x="214000" y="0"/>
                </a:lnTo>
                <a:lnTo>
                  <a:pt x="263043" y="5649"/>
                </a:lnTo>
                <a:lnTo>
                  <a:pt x="308077" y="21742"/>
                </a:lnTo>
                <a:lnTo>
                  <a:pt x="347813" y="46998"/>
                </a:lnTo>
                <a:lnTo>
                  <a:pt x="380961" y="80133"/>
                </a:lnTo>
                <a:lnTo>
                  <a:pt x="406235" y="119867"/>
                </a:lnTo>
                <a:lnTo>
                  <a:pt x="422344" y="164918"/>
                </a:lnTo>
                <a:lnTo>
                  <a:pt x="428000" y="214003"/>
                </a:lnTo>
                <a:lnTo>
                  <a:pt x="422344" y="263046"/>
                </a:lnTo>
                <a:lnTo>
                  <a:pt x="406235" y="308078"/>
                </a:lnTo>
                <a:lnTo>
                  <a:pt x="380961" y="347812"/>
                </a:lnTo>
                <a:lnTo>
                  <a:pt x="347813" y="380959"/>
                </a:lnTo>
                <a:lnTo>
                  <a:pt x="308077" y="406230"/>
                </a:lnTo>
                <a:lnTo>
                  <a:pt x="263043" y="422338"/>
                </a:lnTo>
                <a:lnTo>
                  <a:pt x="214000" y="427994"/>
                </a:lnTo>
                <a:lnTo>
                  <a:pt x="164956" y="422338"/>
                </a:lnTo>
                <a:lnTo>
                  <a:pt x="119922" y="406230"/>
                </a:lnTo>
                <a:lnTo>
                  <a:pt x="80187" y="380959"/>
                </a:lnTo>
                <a:lnTo>
                  <a:pt x="47038" y="347812"/>
                </a:lnTo>
                <a:lnTo>
                  <a:pt x="21765" y="308078"/>
                </a:lnTo>
                <a:lnTo>
                  <a:pt x="5656" y="263046"/>
                </a:lnTo>
                <a:lnTo>
                  <a:pt x="0" y="214003"/>
                </a:lnTo>
                <a:close/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9"/>
          <p:cNvSpPr txBox="1"/>
          <p:nvPr/>
        </p:nvSpPr>
        <p:spPr>
          <a:xfrm>
            <a:off x="6909300" y="2773414"/>
            <a:ext cx="17774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1"/>
          <p:cNvSpPr/>
          <p:nvPr/>
        </p:nvSpPr>
        <p:spPr>
          <a:xfrm>
            <a:off x="6691401" y="3943019"/>
            <a:ext cx="602920" cy="445565"/>
          </a:xfrm>
          <a:custGeom>
            <a:avLst/>
            <a:gdLst/>
            <a:ahLst/>
            <a:cxnLst/>
            <a:rect l="l" t="t" r="r" b="b"/>
            <a:pathLst>
              <a:path w="428625" h="427989">
                <a:moveTo>
                  <a:pt x="0" y="214003"/>
                </a:moveTo>
                <a:lnTo>
                  <a:pt x="5656" y="164918"/>
                </a:lnTo>
                <a:lnTo>
                  <a:pt x="21765" y="119867"/>
                </a:lnTo>
                <a:lnTo>
                  <a:pt x="47038" y="80133"/>
                </a:lnTo>
                <a:lnTo>
                  <a:pt x="80187" y="46998"/>
                </a:lnTo>
                <a:lnTo>
                  <a:pt x="119922" y="21742"/>
                </a:lnTo>
                <a:lnTo>
                  <a:pt x="164956" y="5649"/>
                </a:lnTo>
                <a:lnTo>
                  <a:pt x="214000" y="0"/>
                </a:lnTo>
                <a:lnTo>
                  <a:pt x="263043" y="5649"/>
                </a:lnTo>
                <a:lnTo>
                  <a:pt x="308077" y="21742"/>
                </a:lnTo>
                <a:lnTo>
                  <a:pt x="347813" y="46998"/>
                </a:lnTo>
                <a:lnTo>
                  <a:pt x="380961" y="80133"/>
                </a:lnTo>
                <a:lnTo>
                  <a:pt x="406235" y="119867"/>
                </a:lnTo>
                <a:lnTo>
                  <a:pt x="422344" y="164918"/>
                </a:lnTo>
                <a:lnTo>
                  <a:pt x="428000" y="214003"/>
                </a:lnTo>
                <a:lnTo>
                  <a:pt x="422344" y="263046"/>
                </a:lnTo>
                <a:lnTo>
                  <a:pt x="406235" y="308078"/>
                </a:lnTo>
                <a:lnTo>
                  <a:pt x="380961" y="347812"/>
                </a:lnTo>
                <a:lnTo>
                  <a:pt x="347813" y="380959"/>
                </a:lnTo>
                <a:lnTo>
                  <a:pt x="308077" y="406230"/>
                </a:lnTo>
                <a:lnTo>
                  <a:pt x="263043" y="422338"/>
                </a:lnTo>
                <a:lnTo>
                  <a:pt x="214000" y="427994"/>
                </a:lnTo>
                <a:lnTo>
                  <a:pt x="164956" y="422338"/>
                </a:lnTo>
                <a:lnTo>
                  <a:pt x="119922" y="406230"/>
                </a:lnTo>
                <a:lnTo>
                  <a:pt x="80187" y="380959"/>
                </a:lnTo>
                <a:lnTo>
                  <a:pt x="47038" y="347812"/>
                </a:lnTo>
                <a:lnTo>
                  <a:pt x="21765" y="308078"/>
                </a:lnTo>
                <a:lnTo>
                  <a:pt x="5656" y="263046"/>
                </a:lnTo>
                <a:lnTo>
                  <a:pt x="0" y="214003"/>
                </a:lnTo>
                <a:close/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2"/>
          <p:cNvSpPr txBox="1"/>
          <p:nvPr/>
        </p:nvSpPr>
        <p:spPr>
          <a:xfrm>
            <a:off x="6909300" y="4033001"/>
            <a:ext cx="17774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24"/>
          <p:cNvSpPr/>
          <p:nvPr/>
        </p:nvSpPr>
        <p:spPr>
          <a:xfrm>
            <a:off x="5319801" y="3943019"/>
            <a:ext cx="602920" cy="445565"/>
          </a:xfrm>
          <a:custGeom>
            <a:avLst/>
            <a:gdLst/>
            <a:ahLst/>
            <a:cxnLst/>
            <a:rect l="l" t="t" r="r" b="b"/>
            <a:pathLst>
              <a:path w="428625" h="427989">
                <a:moveTo>
                  <a:pt x="0" y="214003"/>
                </a:moveTo>
                <a:lnTo>
                  <a:pt x="5656" y="164918"/>
                </a:lnTo>
                <a:lnTo>
                  <a:pt x="21765" y="119867"/>
                </a:lnTo>
                <a:lnTo>
                  <a:pt x="47038" y="80133"/>
                </a:lnTo>
                <a:lnTo>
                  <a:pt x="80187" y="46998"/>
                </a:lnTo>
                <a:lnTo>
                  <a:pt x="119922" y="21742"/>
                </a:lnTo>
                <a:lnTo>
                  <a:pt x="164956" y="5649"/>
                </a:lnTo>
                <a:lnTo>
                  <a:pt x="214000" y="0"/>
                </a:lnTo>
                <a:lnTo>
                  <a:pt x="263043" y="5649"/>
                </a:lnTo>
                <a:lnTo>
                  <a:pt x="308077" y="21742"/>
                </a:lnTo>
                <a:lnTo>
                  <a:pt x="347813" y="46998"/>
                </a:lnTo>
                <a:lnTo>
                  <a:pt x="380961" y="80133"/>
                </a:lnTo>
                <a:lnTo>
                  <a:pt x="406235" y="119867"/>
                </a:lnTo>
                <a:lnTo>
                  <a:pt x="422344" y="164918"/>
                </a:lnTo>
                <a:lnTo>
                  <a:pt x="428000" y="214003"/>
                </a:lnTo>
                <a:lnTo>
                  <a:pt x="422344" y="263046"/>
                </a:lnTo>
                <a:lnTo>
                  <a:pt x="406235" y="308078"/>
                </a:lnTo>
                <a:lnTo>
                  <a:pt x="380961" y="347812"/>
                </a:lnTo>
                <a:lnTo>
                  <a:pt x="347813" y="380959"/>
                </a:lnTo>
                <a:lnTo>
                  <a:pt x="308077" y="406230"/>
                </a:lnTo>
                <a:lnTo>
                  <a:pt x="263043" y="422338"/>
                </a:lnTo>
                <a:lnTo>
                  <a:pt x="214000" y="427994"/>
                </a:lnTo>
                <a:lnTo>
                  <a:pt x="164956" y="422338"/>
                </a:lnTo>
                <a:lnTo>
                  <a:pt x="119922" y="406230"/>
                </a:lnTo>
                <a:lnTo>
                  <a:pt x="80187" y="380959"/>
                </a:lnTo>
                <a:lnTo>
                  <a:pt x="47038" y="347812"/>
                </a:lnTo>
                <a:lnTo>
                  <a:pt x="21765" y="308078"/>
                </a:lnTo>
                <a:lnTo>
                  <a:pt x="5656" y="263046"/>
                </a:lnTo>
                <a:lnTo>
                  <a:pt x="0" y="214003"/>
                </a:lnTo>
                <a:close/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5"/>
          <p:cNvSpPr txBox="1"/>
          <p:nvPr/>
        </p:nvSpPr>
        <p:spPr>
          <a:xfrm>
            <a:off x="5536047" y="4033001"/>
            <a:ext cx="17774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26"/>
          <p:cNvSpPr/>
          <p:nvPr/>
        </p:nvSpPr>
        <p:spPr>
          <a:xfrm>
            <a:off x="5479810" y="2938634"/>
            <a:ext cx="1659595" cy="1228279"/>
          </a:xfrm>
          <a:custGeom>
            <a:avLst/>
            <a:gdLst/>
            <a:ahLst/>
            <a:cxnLst/>
            <a:rect l="l" t="t" r="r" b="b"/>
            <a:pathLst>
              <a:path w="1179829" h="1179829">
                <a:moveTo>
                  <a:pt x="582810" y="0"/>
                </a:moveTo>
                <a:lnTo>
                  <a:pt x="544372" y="1137"/>
                </a:lnTo>
                <a:lnTo>
                  <a:pt x="469498" y="10236"/>
                </a:lnTo>
                <a:lnTo>
                  <a:pt x="422440" y="21997"/>
                </a:lnTo>
                <a:lnTo>
                  <a:pt x="376870" y="37475"/>
                </a:lnTo>
                <a:lnTo>
                  <a:pt x="332980" y="56504"/>
                </a:lnTo>
                <a:lnTo>
                  <a:pt x="290960" y="78918"/>
                </a:lnTo>
                <a:lnTo>
                  <a:pt x="251001" y="104553"/>
                </a:lnTo>
                <a:lnTo>
                  <a:pt x="213295" y="133243"/>
                </a:lnTo>
                <a:lnTo>
                  <a:pt x="178032" y="164823"/>
                </a:lnTo>
                <a:lnTo>
                  <a:pt x="145402" y="199126"/>
                </a:lnTo>
                <a:lnTo>
                  <a:pt x="115598" y="235988"/>
                </a:lnTo>
                <a:lnTo>
                  <a:pt x="88810" y="275244"/>
                </a:lnTo>
                <a:lnTo>
                  <a:pt x="65230" y="316727"/>
                </a:lnTo>
                <a:lnTo>
                  <a:pt x="45047" y="360272"/>
                </a:lnTo>
                <a:lnTo>
                  <a:pt x="28453" y="405714"/>
                </a:lnTo>
                <a:lnTo>
                  <a:pt x="9128" y="479052"/>
                </a:lnTo>
                <a:lnTo>
                  <a:pt x="1143" y="554685"/>
                </a:lnTo>
                <a:lnTo>
                  <a:pt x="0" y="595184"/>
                </a:lnTo>
                <a:lnTo>
                  <a:pt x="1143" y="634564"/>
                </a:lnTo>
                <a:lnTo>
                  <a:pt x="4572" y="672802"/>
                </a:lnTo>
                <a:lnTo>
                  <a:pt x="22021" y="756859"/>
                </a:lnTo>
                <a:lnTo>
                  <a:pt x="37476" y="802281"/>
                </a:lnTo>
                <a:lnTo>
                  <a:pt x="56486" y="845971"/>
                </a:lnTo>
                <a:lnTo>
                  <a:pt x="78884" y="887761"/>
                </a:lnTo>
                <a:lnTo>
                  <a:pt x="104506" y="927485"/>
                </a:lnTo>
                <a:lnTo>
                  <a:pt x="133185" y="964975"/>
                </a:lnTo>
                <a:lnTo>
                  <a:pt x="164757" y="1000063"/>
                </a:lnTo>
                <a:lnTo>
                  <a:pt x="199055" y="1032584"/>
                </a:lnTo>
                <a:lnTo>
                  <a:pt x="235914" y="1062370"/>
                </a:lnTo>
                <a:lnTo>
                  <a:pt x="275167" y="1089253"/>
                </a:lnTo>
                <a:lnTo>
                  <a:pt x="316650" y="1113067"/>
                </a:lnTo>
                <a:lnTo>
                  <a:pt x="360197" y="1133645"/>
                </a:lnTo>
                <a:lnTo>
                  <a:pt x="405643" y="1150819"/>
                </a:lnTo>
                <a:lnTo>
                  <a:pt x="477838" y="1169107"/>
                </a:lnTo>
                <a:lnTo>
                  <a:pt x="515975" y="1174822"/>
                </a:lnTo>
                <a:lnTo>
                  <a:pt x="554720" y="1178251"/>
                </a:lnTo>
                <a:lnTo>
                  <a:pt x="594777" y="1179347"/>
                </a:lnTo>
                <a:lnTo>
                  <a:pt x="633404" y="1177870"/>
                </a:lnTo>
                <a:lnTo>
                  <a:pt x="671461" y="1173536"/>
                </a:lnTo>
                <a:lnTo>
                  <a:pt x="709803" y="1166059"/>
                </a:lnTo>
                <a:lnTo>
                  <a:pt x="756211" y="1154376"/>
                </a:lnTo>
                <a:lnTo>
                  <a:pt x="801240" y="1139059"/>
                </a:lnTo>
                <a:lnTo>
                  <a:pt x="844698" y="1120259"/>
                </a:lnTo>
                <a:lnTo>
                  <a:pt x="886394" y="1098127"/>
                </a:lnTo>
                <a:lnTo>
                  <a:pt x="926137" y="1072813"/>
                </a:lnTo>
                <a:lnTo>
                  <a:pt x="963736" y="1044466"/>
                </a:lnTo>
                <a:lnTo>
                  <a:pt x="999001" y="1013238"/>
                </a:lnTo>
                <a:lnTo>
                  <a:pt x="1031741" y="979278"/>
                </a:lnTo>
                <a:lnTo>
                  <a:pt x="1061765" y="942736"/>
                </a:lnTo>
                <a:lnTo>
                  <a:pt x="1088881" y="903764"/>
                </a:lnTo>
                <a:lnTo>
                  <a:pt x="1112899" y="862510"/>
                </a:lnTo>
                <a:lnTo>
                  <a:pt x="1133629" y="819125"/>
                </a:lnTo>
                <a:lnTo>
                  <a:pt x="1150879" y="773760"/>
                </a:lnTo>
                <a:lnTo>
                  <a:pt x="1169033" y="699967"/>
                </a:lnTo>
                <a:lnTo>
                  <a:pt x="1174732" y="661633"/>
                </a:lnTo>
                <a:lnTo>
                  <a:pt x="1178158" y="621610"/>
                </a:lnTo>
                <a:lnTo>
                  <a:pt x="1179254" y="582892"/>
                </a:lnTo>
                <a:lnTo>
                  <a:pt x="1177777" y="544458"/>
                </a:lnTo>
                <a:lnTo>
                  <a:pt x="1173443" y="506595"/>
                </a:lnTo>
                <a:lnTo>
                  <a:pt x="1154289" y="422580"/>
                </a:lnTo>
                <a:lnTo>
                  <a:pt x="1138981" y="377141"/>
                </a:lnTo>
                <a:lnTo>
                  <a:pt x="1120192" y="333441"/>
                </a:lnTo>
                <a:lnTo>
                  <a:pt x="1098071" y="291645"/>
                </a:lnTo>
                <a:lnTo>
                  <a:pt x="1072768" y="251919"/>
                </a:lnTo>
                <a:lnTo>
                  <a:pt x="1044431" y="214429"/>
                </a:lnTo>
                <a:lnTo>
                  <a:pt x="1013211" y="179340"/>
                </a:lnTo>
                <a:lnTo>
                  <a:pt x="979255" y="146818"/>
                </a:lnTo>
                <a:lnTo>
                  <a:pt x="942715" y="117030"/>
                </a:lnTo>
                <a:lnTo>
                  <a:pt x="903739" y="90141"/>
                </a:lnTo>
                <a:lnTo>
                  <a:pt x="862476" y="66316"/>
                </a:lnTo>
                <a:lnTo>
                  <a:pt x="819076" y="45722"/>
                </a:lnTo>
                <a:lnTo>
                  <a:pt x="773689" y="28524"/>
                </a:lnTo>
                <a:lnTo>
                  <a:pt x="736678" y="18237"/>
                </a:lnTo>
                <a:lnTo>
                  <a:pt x="698799" y="10236"/>
                </a:lnTo>
                <a:lnTo>
                  <a:pt x="660326" y="4521"/>
                </a:lnTo>
                <a:lnTo>
                  <a:pt x="621532" y="1092"/>
                </a:lnTo>
                <a:lnTo>
                  <a:pt x="582810" y="0"/>
                </a:lnTo>
                <a:close/>
              </a:path>
            </a:pathLst>
          </a:custGeom>
          <a:solidFill>
            <a:srgbClr val="FDFD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/>
          <p:nvPr/>
        </p:nvSpPr>
        <p:spPr>
          <a:xfrm>
            <a:off x="5757124" y="3136167"/>
            <a:ext cx="1097617" cy="812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27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856522" y="1432161"/>
            <a:ext cx="4321927" cy="4007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52268" y="1432161"/>
            <a:ext cx="6176779" cy="362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b="1" spc="-15" baseline="-3703" dirty="0">
                <a:latin typeface="Arial"/>
                <a:cs typeface="Arial"/>
              </a:rPr>
              <a:t>Entropy(s) </a:t>
            </a:r>
            <a:r>
              <a:rPr baseline="-3703" dirty="0">
                <a:latin typeface="Arial"/>
                <a:cs typeface="Arial"/>
              </a:rPr>
              <a:t>= </a:t>
            </a:r>
            <a:r>
              <a:rPr dirty="0">
                <a:latin typeface="Cambria Math"/>
                <a:cs typeface="Cambria Math"/>
              </a:rPr>
              <a:t>- </a:t>
            </a:r>
            <a:r>
              <a:rPr spc="-5" dirty="0">
                <a:latin typeface="Cambria Math"/>
                <a:cs typeface="Cambria Math"/>
              </a:rPr>
              <a:t>P(yes) </a:t>
            </a:r>
            <a:r>
              <a:rPr spc="30" dirty="0">
                <a:latin typeface="Cambria Math"/>
                <a:cs typeface="Cambria Math"/>
              </a:rPr>
              <a:t>log</a:t>
            </a:r>
            <a:r>
              <a:rPr spc="44" baseline="-15151" dirty="0">
                <a:latin typeface="Cambria Math"/>
                <a:cs typeface="Cambria Math"/>
              </a:rPr>
              <a:t>2 </a:t>
            </a:r>
            <a:r>
              <a:rPr spc="10" dirty="0">
                <a:latin typeface="Cambria Math"/>
                <a:cs typeface="Cambria Math"/>
              </a:rPr>
              <a:t>P(yes) </a:t>
            </a:r>
            <a:r>
              <a:rPr b="0" dirty="0">
                <a:latin typeface="Calibri Light"/>
                <a:cs typeface="Calibri Light"/>
              </a:rPr>
              <a:t>− </a:t>
            </a:r>
            <a:r>
              <a:rPr b="0" spc="-15" dirty="0">
                <a:latin typeface="Calibri Light"/>
                <a:cs typeface="Calibri Light"/>
              </a:rPr>
              <a:t>P(no)</a:t>
            </a:r>
            <a:r>
              <a:rPr b="0" spc="-60" dirty="0">
                <a:latin typeface="Calibri Light"/>
                <a:cs typeface="Calibri Light"/>
              </a:rPr>
              <a:t> </a:t>
            </a:r>
            <a:r>
              <a:rPr spc="30" dirty="0">
                <a:latin typeface="Cambria Math"/>
                <a:cs typeface="Cambria Math"/>
              </a:rPr>
              <a:t>log</a:t>
            </a:r>
            <a:r>
              <a:rPr spc="44" baseline="-15151" dirty="0">
                <a:latin typeface="Cambria Math"/>
                <a:cs typeface="Cambria Math"/>
              </a:rPr>
              <a:t>2 </a:t>
            </a:r>
            <a:r>
              <a:rPr spc="5" dirty="0">
                <a:latin typeface="Cambria Math"/>
                <a:cs typeface="Cambria Math"/>
              </a:rPr>
              <a:t>P(no)</a:t>
            </a:r>
            <a:endParaRPr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dirty="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spc="-5" dirty="0">
                <a:latin typeface="Arial"/>
                <a:cs typeface="Arial"/>
              </a:rPr>
              <a:t>Where,</a:t>
            </a:r>
            <a:endParaRPr dirty="0">
              <a:latin typeface="Arial"/>
              <a:cs typeface="Arial"/>
            </a:endParaRPr>
          </a:p>
          <a:p>
            <a:pPr marL="468630" indent="-286385">
              <a:lnSpc>
                <a:spcPct val="100000"/>
              </a:lnSpc>
              <a:spcBef>
                <a:spcPts val="860"/>
              </a:spcBef>
              <a:buClr>
                <a:srgbClr val="F07F09"/>
              </a:buClr>
              <a:buFont typeface="Wingdings"/>
              <a:buChar char=""/>
              <a:tabLst>
                <a:tab pos="467995" algn="l"/>
                <a:tab pos="468630" algn="l"/>
              </a:tabLst>
            </a:pPr>
            <a:r>
              <a:rPr b="1" dirty="0">
                <a:latin typeface="Arial"/>
                <a:cs typeface="Arial"/>
              </a:rPr>
              <a:t>S </a:t>
            </a:r>
            <a:r>
              <a:rPr spc="-5" dirty="0">
                <a:latin typeface="Arial"/>
                <a:cs typeface="Arial"/>
              </a:rPr>
              <a:t>is the </a:t>
            </a:r>
            <a:r>
              <a:rPr b="1" dirty="0">
                <a:latin typeface="Arial"/>
                <a:cs typeface="Arial"/>
              </a:rPr>
              <a:t>total </a:t>
            </a:r>
            <a:r>
              <a:rPr b="1" spc="10" dirty="0">
                <a:latin typeface="Arial"/>
                <a:cs typeface="Arial"/>
              </a:rPr>
              <a:t>sample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spc="10" dirty="0">
                <a:latin typeface="Arial"/>
                <a:cs typeface="Arial"/>
              </a:rPr>
              <a:t>space</a:t>
            </a:r>
            <a:r>
              <a:rPr spc="10" dirty="0">
                <a:latin typeface="Arial"/>
                <a:cs typeface="Arial"/>
              </a:rPr>
              <a:t>,</a:t>
            </a:r>
            <a:endParaRPr dirty="0">
              <a:latin typeface="Arial"/>
              <a:cs typeface="Arial"/>
            </a:endParaRPr>
          </a:p>
          <a:p>
            <a:pPr marL="468630" indent="-286385">
              <a:lnSpc>
                <a:spcPct val="100000"/>
              </a:lnSpc>
              <a:spcBef>
                <a:spcPts val="785"/>
              </a:spcBef>
              <a:buClr>
                <a:srgbClr val="F07F09"/>
              </a:buClr>
              <a:buFont typeface="Wingdings"/>
              <a:buChar char=""/>
              <a:tabLst>
                <a:tab pos="467995" algn="l"/>
                <a:tab pos="468630" algn="l"/>
              </a:tabLst>
            </a:pPr>
            <a:r>
              <a:rPr b="1" spc="20" dirty="0">
                <a:latin typeface="Arial"/>
                <a:cs typeface="Arial"/>
              </a:rPr>
              <a:t>P(yes) </a:t>
            </a:r>
            <a:r>
              <a:rPr spc="-5" dirty="0">
                <a:latin typeface="Arial"/>
                <a:cs typeface="Arial"/>
              </a:rPr>
              <a:t>is </a:t>
            </a:r>
            <a:r>
              <a:rPr b="1" dirty="0">
                <a:latin typeface="Arial"/>
                <a:cs typeface="Arial"/>
              </a:rPr>
              <a:t>probability of</a:t>
            </a:r>
            <a:r>
              <a:rPr b="1" spc="-180" dirty="0">
                <a:latin typeface="Arial"/>
                <a:cs typeface="Arial"/>
              </a:rPr>
              <a:t> </a:t>
            </a:r>
            <a:r>
              <a:rPr b="1" spc="45" dirty="0">
                <a:latin typeface="Arial"/>
                <a:cs typeface="Arial"/>
              </a:rPr>
              <a:t>yes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dirty="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</a:pPr>
            <a:r>
              <a:rPr b="0" spc="75" dirty="0">
                <a:latin typeface="Segoe UI Semilight"/>
                <a:cs typeface="Segoe UI Semilight"/>
              </a:rPr>
              <a:t>If</a:t>
            </a:r>
            <a:r>
              <a:rPr b="0" spc="-35" dirty="0">
                <a:latin typeface="Segoe UI Semilight"/>
                <a:cs typeface="Segoe UI Semilight"/>
              </a:rPr>
              <a:t> </a:t>
            </a:r>
            <a:r>
              <a:rPr b="0" spc="60" dirty="0">
                <a:latin typeface="Segoe UI Semilight"/>
                <a:cs typeface="Segoe UI Semilight"/>
              </a:rPr>
              <a:t>number</a:t>
            </a:r>
            <a:r>
              <a:rPr b="0" spc="-70" dirty="0">
                <a:latin typeface="Segoe UI Semilight"/>
                <a:cs typeface="Segoe UI Semilight"/>
              </a:rPr>
              <a:t> </a:t>
            </a:r>
            <a:r>
              <a:rPr b="0" spc="50" dirty="0">
                <a:latin typeface="Segoe UI Semilight"/>
                <a:cs typeface="Segoe UI Semilight"/>
              </a:rPr>
              <a:t>of</a:t>
            </a:r>
            <a:r>
              <a:rPr b="0" spc="-20" dirty="0">
                <a:latin typeface="Segoe UI Semilight"/>
                <a:cs typeface="Segoe UI Semilight"/>
              </a:rPr>
              <a:t> </a:t>
            </a:r>
            <a:r>
              <a:rPr b="0" spc="-5" dirty="0">
                <a:latin typeface="Segoe UI Semilight"/>
                <a:cs typeface="Segoe UI Semilight"/>
              </a:rPr>
              <a:t>yes</a:t>
            </a:r>
            <a:r>
              <a:rPr b="0" spc="-25" dirty="0">
                <a:latin typeface="Segoe UI Semilight"/>
                <a:cs typeface="Segoe UI Semilight"/>
              </a:rPr>
              <a:t> </a:t>
            </a:r>
            <a:r>
              <a:rPr b="0" spc="40" dirty="0">
                <a:latin typeface="Segoe UI Semilight"/>
                <a:cs typeface="Segoe UI Semilight"/>
              </a:rPr>
              <a:t>=</a:t>
            </a:r>
            <a:r>
              <a:rPr b="0" spc="-30" dirty="0">
                <a:latin typeface="Segoe UI Semilight"/>
                <a:cs typeface="Segoe UI Semilight"/>
              </a:rPr>
              <a:t> </a:t>
            </a:r>
            <a:r>
              <a:rPr b="0" spc="60" dirty="0">
                <a:latin typeface="Segoe UI Semilight"/>
                <a:cs typeface="Segoe UI Semilight"/>
              </a:rPr>
              <a:t>number</a:t>
            </a:r>
            <a:r>
              <a:rPr b="0" spc="-150" dirty="0">
                <a:latin typeface="Segoe UI Semilight"/>
                <a:cs typeface="Segoe UI Semilight"/>
              </a:rPr>
              <a:t> </a:t>
            </a:r>
            <a:r>
              <a:rPr b="0" spc="50" dirty="0">
                <a:latin typeface="Segoe UI Semilight"/>
                <a:cs typeface="Segoe UI Semilight"/>
              </a:rPr>
              <a:t>of</a:t>
            </a:r>
            <a:r>
              <a:rPr b="0" spc="-10" dirty="0">
                <a:latin typeface="Segoe UI Semilight"/>
                <a:cs typeface="Segoe UI Semilight"/>
              </a:rPr>
              <a:t> </a:t>
            </a:r>
            <a:r>
              <a:rPr b="0" spc="25" dirty="0">
                <a:latin typeface="Segoe UI Semilight"/>
                <a:cs typeface="Segoe UI Semilight"/>
              </a:rPr>
              <a:t>no</a:t>
            </a:r>
            <a:r>
              <a:rPr b="0" spc="-50" dirty="0">
                <a:latin typeface="Segoe UI Semilight"/>
                <a:cs typeface="Segoe UI Semilight"/>
              </a:rPr>
              <a:t> </a:t>
            </a:r>
            <a:r>
              <a:rPr b="0" spc="50" dirty="0">
                <a:latin typeface="Segoe UI Semilight"/>
                <a:cs typeface="Segoe UI Semilight"/>
              </a:rPr>
              <a:t>ie</a:t>
            </a:r>
            <a:r>
              <a:rPr b="0" spc="-105" dirty="0">
                <a:latin typeface="Segoe UI Semilight"/>
                <a:cs typeface="Segoe UI Semilight"/>
              </a:rPr>
              <a:t> </a:t>
            </a:r>
            <a:r>
              <a:rPr b="1" i="1" spc="-10" dirty="0">
                <a:latin typeface="Segoe UI Semibold"/>
                <a:cs typeface="Segoe UI Semibold"/>
              </a:rPr>
              <a:t>P(S)</a:t>
            </a:r>
            <a:r>
              <a:rPr b="1" i="1" spc="-20" dirty="0">
                <a:latin typeface="Segoe UI Semibold"/>
                <a:cs typeface="Segoe UI Semibold"/>
              </a:rPr>
              <a:t> </a:t>
            </a:r>
            <a:r>
              <a:rPr b="1" i="1" dirty="0">
                <a:latin typeface="Segoe UI Semibold"/>
                <a:cs typeface="Segoe UI Semibold"/>
              </a:rPr>
              <a:t>=</a:t>
            </a:r>
            <a:r>
              <a:rPr b="1" i="1" spc="35" dirty="0">
                <a:latin typeface="Segoe UI Semibold"/>
                <a:cs typeface="Segoe UI Semibold"/>
              </a:rPr>
              <a:t> </a:t>
            </a:r>
            <a:r>
              <a:rPr b="1" i="1" spc="-10" dirty="0">
                <a:latin typeface="Segoe UI Semibold"/>
                <a:cs typeface="Segoe UI Semibold"/>
              </a:rPr>
              <a:t>0.5</a:t>
            </a:r>
            <a:endParaRPr dirty="0">
              <a:latin typeface="Segoe UI Semibold"/>
              <a:cs typeface="Segoe UI Semibold"/>
            </a:endParaRPr>
          </a:p>
          <a:p>
            <a:pPr marL="74295">
              <a:lnSpc>
                <a:spcPct val="100000"/>
              </a:lnSpc>
              <a:spcBef>
                <a:spcPts val="894"/>
              </a:spcBef>
            </a:pPr>
            <a:r>
              <a:rPr dirty="0">
                <a:latin typeface="Symbol"/>
                <a:cs typeface="Symbol"/>
              </a:rPr>
              <a:t>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b="1" i="1" spc="-5" dirty="0">
                <a:latin typeface="Segoe UI Semibold"/>
                <a:cs typeface="Segoe UI Semibold"/>
              </a:rPr>
              <a:t>Entropy(s) </a:t>
            </a:r>
            <a:r>
              <a:rPr b="1" i="1" dirty="0">
                <a:latin typeface="Segoe UI Semibold"/>
                <a:cs typeface="Segoe UI Semibold"/>
              </a:rPr>
              <a:t>=</a:t>
            </a:r>
            <a:r>
              <a:rPr b="1" i="1" spc="-45" dirty="0">
                <a:latin typeface="Segoe UI Semibold"/>
                <a:cs typeface="Segoe UI Semibold"/>
              </a:rPr>
              <a:t> </a:t>
            </a:r>
            <a:r>
              <a:rPr b="1" i="1" dirty="0">
                <a:latin typeface="Segoe UI Semibold"/>
                <a:cs typeface="Segoe UI Semibold"/>
              </a:rPr>
              <a:t>1</a:t>
            </a:r>
            <a:endParaRPr dirty="0">
              <a:latin typeface="Segoe UI Semibold"/>
              <a:cs typeface="Segoe UI Semibold"/>
            </a:endParaRPr>
          </a:p>
          <a:p>
            <a:pPr marL="74295">
              <a:lnSpc>
                <a:spcPct val="100000"/>
              </a:lnSpc>
              <a:spcBef>
                <a:spcPts val="905"/>
              </a:spcBef>
            </a:pPr>
            <a:r>
              <a:rPr b="0" spc="75" dirty="0">
                <a:latin typeface="Segoe UI Semilight"/>
                <a:cs typeface="Segoe UI Semilight"/>
              </a:rPr>
              <a:t>If</a:t>
            </a:r>
            <a:r>
              <a:rPr b="0" spc="-280" dirty="0">
                <a:latin typeface="Segoe UI Semilight"/>
                <a:cs typeface="Segoe UI Semilight"/>
              </a:rPr>
              <a:t> </a:t>
            </a:r>
            <a:r>
              <a:rPr b="0" spc="50" dirty="0">
                <a:latin typeface="Segoe UI Semilight"/>
                <a:cs typeface="Segoe UI Semilight"/>
              </a:rPr>
              <a:t>it </a:t>
            </a:r>
            <a:r>
              <a:rPr b="0" spc="35" dirty="0">
                <a:latin typeface="Segoe UI Semilight"/>
                <a:cs typeface="Segoe UI Semilight"/>
              </a:rPr>
              <a:t>contains </a:t>
            </a:r>
            <a:r>
              <a:rPr b="0" spc="30" dirty="0">
                <a:latin typeface="Segoe UI Semilight"/>
                <a:cs typeface="Segoe UI Semilight"/>
              </a:rPr>
              <a:t>all </a:t>
            </a:r>
            <a:r>
              <a:rPr b="0" spc="45" dirty="0">
                <a:latin typeface="Segoe UI Semilight"/>
                <a:cs typeface="Segoe UI Semilight"/>
              </a:rPr>
              <a:t>yes </a:t>
            </a:r>
            <a:r>
              <a:rPr b="0" spc="40" dirty="0">
                <a:latin typeface="Segoe UI Semilight"/>
                <a:cs typeface="Segoe UI Semilight"/>
              </a:rPr>
              <a:t>or </a:t>
            </a:r>
            <a:r>
              <a:rPr b="0" spc="30" dirty="0">
                <a:latin typeface="Segoe UI Semilight"/>
                <a:cs typeface="Segoe UI Semilight"/>
              </a:rPr>
              <a:t>all </a:t>
            </a:r>
            <a:r>
              <a:rPr b="0" spc="50" dirty="0">
                <a:latin typeface="Segoe UI Semilight"/>
                <a:cs typeface="Segoe UI Semilight"/>
              </a:rPr>
              <a:t>no </a:t>
            </a:r>
            <a:r>
              <a:rPr b="0" spc="30" dirty="0">
                <a:latin typeface="Segoe UI Semilight"/>
                <a:cs typeface="Segoe UI Semilight"/>
              </a:rPr>
              <a:t>ie </a:t>
            </a:r>
            <a:r>
              <a:rPr b="1" spc="10" dirty="0">
                <a:latin typeface="Segoe UI Semibold"/>
                <a:cs typeface="Segoe UI Semibold"/>
              </a:rPr>
              <a:t>P(S) </a:t>
            </a:r>
            <a:r>
              <a:rPr b="1" dirty="0">
                <a:latin typeface="Segoe UI Semibold"/>
                <a:cs typeface="Segoe UI Semibold"/>
              </a:rPr>
              <a:t>= 1 </a:t>
            </a:r>
            <a:r>
              <a:rPr b="1" spc="-5" dirty="0">
                <a:latin typeface="Segoe UI Semibold"/>
                <a:cs typeface="Segoe UI Semibold"/>
              </a:rPr>
              <a:t>or </a:t>
            </a:r>
            <a:r>
              <a:rPr b="1" dirty="0">
                <a:latin typeface="Segoe UI Semibold"/>
                <a:cs typeface="Segoe UI Semibold"/>
              </a:rPr>
              <a:t>0</a:t>
            </a:r>
            <a:endParaRPr dirty="0">
              <a:latin typeface="Segoe UI Semibold"/>
              <a:cs typeface="Segoe UI Semibold"/>
            </a:endParaRPr>
          </a:p>
          <a:p>
            <a:pPr marL="74295">
              <a:lnSpc>
                <a:spcPct val="100000"/>
              </a:lnSpc>
              <a:spcBef>
                <a:spcPts val="905"/>
              </a:spcBef>
            </a:pPr>
            <a:r>
              <a:rPr dirty="0">
                <a:latin typeface="Symbol"/>
                <a:cs typeface="Symbol"/>
              </a:rPr>
              <a:t>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b="1" i="1" spc="-5" dirty="0">
                <a:latin typeface="Segoe UI Semibold"/>
                <a:cs typeface="Segoe UI Semibold"/>
              </a:rPr>
              <a:t>Entropy(s) </a:t>
            </a:r>
            <a:r>
              <a:rPr b="1" i="1" dirty="0">
                <a:latin typeface="Segoe UI Semibold"/>
                <a:cs typeface="Segoe UI Semibold"/>
              </a:rPr>
              <a:t>=</a:t>
            </a:r>
            <a:r>
              <a:rPr b="1" i="1" spc="-45" dirty="0">
                <a:latin typeface="Segoe UI Semibold"/>
                <a:cs typeface="Segoe UI Semibold"/>
              </a:rPr>
              <a:t> </a:t>
            </a:r>
            <a:r>
              <a:rPr b="1" i="1" dirty="0">
                <a:latin typeface="Segoe UI Semibold"/>
                <a:cs typeface="Segoe UI Semibold"/>
              </a:rPr>
              <a:t>0</a:t>
            </a:r>
            <a:endParaRPr dirty="0">
              <a:latin typeface="Segoe UI Semibold"/>
              <a:cs typeface="Segoe UI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81293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856522" y="1432161"/>
            <a:ext cx="4321927" cy="4007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33046" y="2270186"/>
            <a:ext cx="6558953" cy="2082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>
              <a:lnSpc>
                <a:spcPct val="100000"/>
              </a:lnSpc>
              <a:spcBef>
                <a:spcPts val="1005"/>
              </a:spcBef>
            </a:pPr>
            <a:r>
              <a:rPr lang="pt-BR" sz="2200" b="0" i="1" dirty="0" smtClean="0">
                <a:latin typeface="Calibri Light"/>
                <a:cs typeface="Calibri Light"/>
              </a:rPr>
              <a:t>E(S) </a:t>
            </a:r>
            <a:r>
              <a:rPr lang="pt-BR" sz="2200" b="0" i="1" spc="-5" dirty="0" smtClean="0">
                <a:latin typeface="Calibri Light"/>
                <a:cs typeface="Calibri Light"/>
              </a:rPr>
              <a:t>= </a:t>
            </a:r>
            <a:r>
              <a:rPr lang="pt-BR" sz="2200" b="0" i="1" spc="-25" dirty="0" smtClean="0">
                <a:latin typeface="Calibri Light"/>
                <a:cs typeface="Calibri Light"/>
              </a:rPr>
              <a:t>-P(Yes) </a:t>
            </a:r>
            <a:r>
              <a:rPr lang="pt-BR" sz="2200" spc="25" dirty="0" smtClean="0">
                <a:latin typeface="Cambria Math"/>
                <a:cs typeface="Cambria Math"/>
              </a:rPr>
              <a:t>log</a:t>
            </a:r>
            <a:r>
              <a:rPr lang="pt-BR" sz="2200" spc="37" baseline="-15151" dirty="0" smtClean="0">
                <a:latin typeface="Cambria Math"/>
                <a:cs typeface="Cambria Math"/>
              </a:rPr>
              <a:t>2 </a:t>
            </a:r>
            <a:r>
              <a:rPr lang="pt-BR" sz="2200" spc="5" dirty="0" smtClean="0">
                <a:latin typeface="Cambria Math"/>
                <a:cs typeface="Cambria Math"/>
              </a:rPr>
              <a:t>𝑃(𝑌𝑒𝑠)</a:t>
            </a:r>
            <a:r>
              <a:rPr lang="pt-BR" sz="2200" spc="5" dirty="0">
                <a:cs typeface="Calibri"/>
              </a:rPr>
              <a:t>− P(no) </a:t>
            </a:r>
            <a:r>
              <a:rPr lang="pt-BR" sz="2200" spc="25" dirty="0" smtClean="0">
                <a:latin typeface="Cambria Math"/>
                <a:cs typeface="Cambria Math"/>
              </a:rPr>
              <a:t>log</a:t>
            </a:r>
            <a:r>
              <a:rPr lang="pt-BR" sz="2200" spc="37" baseline="-15151" dirty="0" smtClean="0">
                <a:latin typeface="Cambria Math"/>
                <a:cs typeface="Cambria Math"/>
              </a:rPr>
              <a:t>2</a:t>
            </a:r>
            <a:r>
              <a:rPr lang="pt-BR" sz="2200" spc="-120" baseline="-15151" dirty="0" smtClean="0">
                <a:latin typeface="Cambria Math"/>
                <a:cs typeface="Cambria Math"/>
              </a:rPr>
              <a:t> </a:t>
            </a:r>
            <a:r>
              <a:rPr lang="pt-BR" sz="2200" dirty="0" smtClean="0">
                <a:latin typeface="Cambria Math"/>
                <a:cs typeface="Cambria Math"/>
              </a:rPr>
              <a:t>P(no)</a:t>
            </a:r>
            <a:r>
              <a:rPr lang="pt-BR" sz="2200" b="0" i="1" dirty="0" smtClean="0">
                <a:latin typeface="Calibri Light"/>
                <a:cs typeface="Calibri Light"/>
              </a:rPr>
              <a:t> </a:t>
            </a:r>
            <a:endParaRPr lang="pt-BR" sz="2200" dirty="0" smtClean="0">
              <a:latin typeface="Calibri Light"/>
              <a:cs typeface="Calibri Light"/>
            </a:endParaRPr>
          </a:p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pt-BR" sz="2200" b="0" i="1" spc="25" dirty="0" smtClean="0">
                <a:latin typeface="Calibri Light"/>
                <a:cs typeface="Calibri Light"/>
              </a:rPr>
              <a:t>When</a:t>
            </a:r>
            <a:r>
              <a:rPr lang="pt-BR" sz="2200" b="0" i="1" spc="-45" dirty="0" smtClean="0">
                <a:latin typeface="Calibri Light"/>
                <a:cs typeface="Calibri Light"/>
              </a:rPr>
              <a:t> </a:t>
            </a:r>
            <a:r>
              <a:rPr lang="pt-BR" sz="2200" b="0" i="1" spc="-25" dirty="0" smtClean="0">
                <a:latin typeface="Calibri Light"/>
                <a:cs typeface="Calibri Light"/>
              </a:rPr>
              <a:t>P(Yes)</a:t>
            </a:r>
            <a:r>
              <a:rPr lang="pt-BR" sz="2200" b="0" i="1" spc="-45" dirty="0" smtClean="0">
                <a:latin typeface="Calibri Light"/>
                <a:cs typeface="Calibri Light"/>
              </a:rPr>
              <a:t> </a:t>
            </a:r>
            <a:r>
              <a:rPr lang="pt-BR" sz="2200" b="0" i="1" spc="-5" dirty="0" smtClean="0">
                <a:latin typeface="Calibri Light"/>
                <a:cs typeface="Calibri Light"/>
              </a:rPr>
              <a:t>=P(No)</a:t>
            </a:r>
            <a:r>
              <a:rPr lang="pt-BR" sz="2200" b="0" i="1" spc="-45" dirty="0" smtClean="0">
                <a:latin typeface="Calibri Light"/>
                <a:cs typeface="Calibri Light"/>
              </a:rPr>
              <a:t> </a:t>
            </a:r>
            <a:r>
              <a:rPr lang="pt-BR" sz="2200" b="0" i="1" spc="-5" dirty="0" smtClean="0">
                <a:latin typeface="Calibri Light"/>
                <a:cs typeface="Calibri Light"/>
              </a:rPr>
              <a:t>=</a:t>
            </a:r>
            <a:r>
              <a:rPr lang="pt-BR" sz="2200" b="0" i="1" spc="-35" dirty="0" smtClean="0">
                <a:latin typeface="Calibri Light"/>
                <a:cs typeface="Calibri Light"/>
              </a:rPr>
              <a:t> </a:t>
            </a:r>
            <a:r>
              <a:rPr lang="pt-BR" sz="2200" b="0" i="1" spc="15" dirty="0" smtClean="0">
                <a:latin typeface="Calibri Light"/>
                <a:cs typeface="Calibri Light"/>
              </a:rPr>
              <a:t>0.5</a:t>
            </a:r>
            <a:r>
              <a:rPr lang="pt-BR" sz="2200" b="0" i="1" spc="-15" dirty="0" smtClean="0">
                <a:latin typeface="Calibri Light"/>
                <a:cs typeface="Calibri Light"/>
              </a:rPr>
              <a:t> </a:t>
            </a:r>
            <a:r>
              <a:rPr lang="pt-BR" sz="2200" b="0" i="1" spc="5" dirty="0" smtClean="0">
                <a:latin typeface="Calibri Light"/>
                <a:cs typeface="Calibri Light"/>
              </a:rPr>
              <a:t>ie</a:t>
            </a:r>
            <a:r>
              <a:rPr lang="pt-BR" sz="2200" b="0" i="1" spc="-45" dirty="0" smtClean="0">
                <a:latin typeface="Calibri Light"/>
                <a:cs typeface="Calibri Light"/>
              </a:rPr>
              <a:t> </a:t>
            </a:r>
            <a:r>
              <a:rPr lang="pt-BR" sz="2200" b="0" i="1" spc="-30" dirty="0" smtClean="0">
                <a:latin typeface="Calibri Light"/>
                <a:cs typeface="Calibri Light"/>
              </a:rPr>
              <a:t>YES</a:t>
            </a:r>
            <a:r>
              <a:rPr lang="pt-BR" sz="2200" b="0" i="1" spc="-45" dirty="0" smtClean="0">
                <a:latin typeface="Calibri Light"/>
                <a:cs typeface="Calibri Light"/>
              </a:rPr>
              <a:t> </a:t>
            </a:r>
            <a:r>
              <a:rPr lang="pt-BR" sz="2200" b="0" i="1" spc="70" dirty="0" smtClean="0">
                <a:latin typeface="Calibri Light"/>
                <a:cs typeface="Calibri Light"/>
              </a:rPr>
              <a:t>+</a:t>
            </a:r>
            <a:r>
              <a:rPr lang="pt-BR" sz="2200" b="0" i="1" spc="-40" dirty="0" smtClean="0">
                <a:latin typeface="Calibri Light"/>
                <a:cs typeface="Calibri Light"/>
              </a:rPr>
              <a:t> </a:t>
            </a:r>
            <a:r>
              <a:rPr lang="pt-BR" sz="2200" b="0" i="1" spc="-30" dirty="0" smtClean="0">
                <a:latin typeface="Calibri Light"/>
                <a:cs typeface="Calibri Light"/>
              </a:rPr>
              <a:t>NO</a:t>
            </a:r>
            <a:r>
              <a:rPr lang="pt-BR" sz="2200" b="0" i="1" spc="-45" dirty="0" smtClean="0">
                <a:latin typeface="Calibri Light"/>
                <a:cs typeface="Calibri Light"/>
              </a:rPr>
              <a:t> </a:t>
            </a:r>
            <a:r>
              <a:rPr lang="pt-BR" sz="2200" b="0" i="1" spc="70" dirty="0" smtClean="0">
                <a:latin typeface="Calibri Light"/>
                <a:cs typeface="Calibri Light"/>
              </a:rPr>
              <a:t>=</a:t>
            </a:r>
            <a:r>
              <a:rPr lang="pt-BR" sz="2200" b="0" i="1" spc="-45" dirty="0" smtClean="0">
                <a:latin typeface="Calibri Light"/>
                <a:cs typeface="Calibri Light"/>
              </a:rPr>
              <a:t> </a:t>
            </a:r>
            <a:r>
              <a:rPr lang="pt-BR" sz="2200" b="0" i="1" spc="-50" dirty="0" smtClean="0">
                <a:latin typeface="Calibri Light"/>
                <a:cs typeface="Calibri Light"/>
              </a:rPr>
              <a:t>Total</a:t>
            </a:r>
            <a:r>
              <a:rPr lang="pt-BR" sz="2200" b="0" i="1" spc="-40" dirty="0" smtClean="0">
                <a:latin typeface="Calibri Light"/>
                <a:cs typeface="Calibri Light"/>
              </a:rPr>
              <a:t> </a:t>
            </a:r>
            <a:r>
              <a:rPr lang="pt-BR" sz="2200" b="0" i="1" spc="-5" dirty="0" smtClean="0">
                <a:latin typeface="Calibri Light"/>
                <a:cs typeface="Calibri Light"/>
              </a:rPr>
              <a:t>Sample(S)</a:t>
            </a:r>
            <a:r>
              <a:rPr lang="pt-BR" sz="2200" b="0" i="1" dirty="0" smtClean="0">
                <a:latin typeface="Calibri Light"/>
                <a:cs typeface="Calibri Light"/>
              </a:rPr>
              <a:t> </a:t>
            </a:r>
            <a:endParaRPr lang="pt-BR" sz="2200" dirty="0" smtClean="0">
              <a:latin typeface="Calibri Light"/>
              <a:cs typeface="Calibri Light"/>
            </a:endParaRPr>
          </a:p>
          <a:p>
            <a:pPr marL="38100">
              <a:lnSpc>
                <a:spcPct val="100000"/>
              </a:lnSpc>
              <a:spcBef>
                <a:spcPts val="855"/>
              </a:spcBef>
            </a:pPr>
            <a:r>
              <a:rPr lang="pt-BR" sz="2200" b="0" i="1" dirty="0" smtClean="0">
                <a:latin typeface="Calibri Light"/>
                <a:cs typeface="Calibri Light"/>
              </a:rPr>
              <a:t>E(S) </a:t>
            </a:r>
            <a:r>
              <a:rPr lang="pt-BR" sz="2200" b="0" i="1" spc="-5" dirty="0" smtClean="0">
                <a:latin typeface="Calibri Light"/>
                <a:cs typeface="Calibri Light"/>
              </a:rPr>
              <a:t>= -0.5 </a:t>
            </a:r>
            <a:r>
              <a:rPr lang="pt-BR" sz="2200" spc="25" dirty="0" smtClean="0">
                <a:latin typeface="Cambria Math"/>
                <a:cs typeface="Cambria Math"/>
              </a:rPr>
              <a:t>log</a:t>
            </a:r>
            <a:r>
              <a:rPr lang="pt-BR" sz="2200" spc="37" baseline="-15151" dirty="0" smtClean="0">
                <a:latin typeface="Cambria Math"/>
                <a:cs typeface="Cambria Math"/>
              </a:rPr>
              <a:t>2 </a:t>
            </a:r>
            <a:r>
              <a:rPr lang="pt-BR" sz="2200" spc="-10" dirty="0" smtClean="0">
                <a:latin typeface="Cambria Math"/>
                <a:cs typeface="Cambria Math"/>
              </a:rPr>
              <a:t>0.5 </a:t>
            </a:r>
            <a:r>
              <a:rPr lang="pt-BR" sz="2200" i="1" spc="-40" dirty="0" smtClean="0">
                <a:latin typeface="Cambria Math"/>
                <a:cs typeface="Cambria Math"/>
              </a:rPr>
              <a:t>− </a:t>
            </a:r>
            <a:r>
              <a:rPr lang="pt-BR" sz="2200" b="0" i="1" spc="40" dirty="0" smtClean="0">
                <a:latin typeface="Segoe UI Semilight"/>
                <a:cs typeface="Segoe UI Semilight"/>
              </a:rPr>
              <a:t>0.5 </a:t>
            </a:r>
            <a:r>
              <a:rPr lang="pt-BR" sz="2200" spc="30" dirty="0" smtClean="0">
                <a:latin typeface="Cambria Math"/>
                <a:cs typeface="Cambria Math"/>
              </a:rPr>
              <a:t>log</a:t>
            </a:r>
            <a:r>
              <a:rPr lang="pt-BR" sz="2200" spc="44" baseline="-15151" dirty="0" smtClean="0">
                <a:latin typeface="Cambria Math"/>
                <a:cs typeface="Cambria Math"/>
              </a:rPr>
              <a:t>2</a:t>
            </a:r>
            <a:r>
              <a:rPr lang="pt-BR" sz="2200" spc="89" baseline="-15151" dirty="0" smtClean="0">
                <a:latin typeface="Cambria Math"/>
                <a:cs typeface="Cambria Math"/>
              </a:rPr>
              <a:t> </a:t>
            </a:r>
            <a:r>
              <a:rPr lang="pt-BR" sz="2200" spc="-10" dirty="0" smtClean="0">
                <a:latin typeface="Cambria Math"/>
                <a:cs typeface="Cambria Math"/>
              </a:rPr>
              <a:t>0.5</a:t>
            </a:r>
            <a:endParaRPr lang="pt-BR" sz="2200" dirty="0" smtClean="0">
              <a:latin typeface="Cambria Math"/>
              <a:cs typeface="Cambria Math"/>
            </a:endParaRPr>
          </a:p>
          <a:p>
            <a:pPr marL="38100" marR="1823085">
              <a:lnSpc>
                <a:spcPts val="2700"/>
              </a:lnSpc>
              <a:spcBef>
                <a:spcPts val="234"/>
              </a:spcBef>
            </a:pPr>
            <a:r>
              <a:rPr lang="pt-BR" sz="2200" b="0" i="1" dirty="0" smtClean="0">
                <a:latin typeface="Calibri Light"/>
                <a:cs typeface="Calibri Light"/>
              </a:rPr>
              <a:t>E(S) </a:t>
            </a:r>
            <a:r>
              <a:rPr lang="pt-BR" sz="2200" b="0" i="1" spc="-5" dirty="0" smtClean="0">
                <a:latin typeface="Calibri Light"/>
                <a:cs typeface="Calibri Light"/>
              </a:rPr>
              <a:t>= </a:t>
            </a:r>
            <a:r>
              <a:rPr lang="pt-BR" sz="2200" b="0" i="1" spc="-10" dirty="0" smtClean="0">
                <a:latin typeface="Calibri Light"/>
                <a:cs typeface="Calibri Light"/>
              </a:rPr>
              <a:t>-0.5( </a:t>
            </a:r>
            <a:r>
              <a:rPr lang="pt-BR" sz="2200" spc="25" dirty="0" smtClean="0">
                <a:latin typeface="Cambria Math"/>
                <a:cs typeface="Cambria Math"/>
              </a:rPr>
              <a:t>log</a:t>
            </a:r>
            <a:r>
              <a:rPr lang="pt-BR" sz="2200" spc="37" baseline="-15151" dirty="0" smtClean="0">
                <a:latin typeface="Cambria Math"/>
                <a:cs typeface="Cambria Math"/>
              </a:rPr>
              <a:t>2 </a:t>
            </a:r>
            <a:r>
              <a:rPr lang="pt-BR" sz="2200" spc="-10" dirty="0" smtClean="0">
                <a:latin typeface="Cambria Math"/>
                <a:cs typeface="Cambria Math"/>
              </a:rPr>
              <a:t>0.5 </a:t>
            </a:r>
            <a:r>
              <a:rPr lang="pt-BR" sz="2200" b="0" i="1" spc="-10" dirty="0" smtClean="0">
                <a:latin typeface="Calibri Light"/>
                <a:cs typeface="Calibri Light"/>
              </a:rPr>
              <a:t>- </a:t>
            </a:r>
            <a:r>
              <a:rPr lang="pt-BR" sz="2200" spc="30" dirty="0" smtClean="0">
                <a:latin typeface="Cambria Math"/>
                <a:cs typeface="Cambria Math"/>
              </a:rPr>
              <a:t>log</a:t>
            </a:r>
            <a:r>
              <a:rPr lang="pt-BR" sz="2200" spc="44" baseline="-15151" dirty="0" smtClean="0">
                <a:latin typeface="Cambria Math"/>
                <a:cs typeface="Cambria Math"/>
              </a:rPr>
              <a:t>2 </a:t>
            </a:r>
            <a:r>
              <a:rPr lang="pt-BR" sz="2200" spc="-10" dirty="0" smtClean="0">
                <a:latin typeface="Cambria Math"/>
                <a:cs typeface="Cambria Math"/>
              </a:rPr>
              <a:t>0.5</a:t>
            </a:r>
            <a:r>
              <a:rPr lang="pt-BR" sz="2200" b="0" i="1" spc="-10" dirty="0" smtClean="0">
                <a:latin typeface="Calibri Light"/>
                <a:cs typeface="Calibri Light"/>
              </a:rPr>
              <a:t>)  </a:t>
            </a:r>
          </a:p>
          <a:p>
            <a:pPr marL="38100" marR="1823085">
              <a:lnSpc>
                <a:spcPts val="2700"/>
              </a:lnSpc>
              <a:spcBef>
                <a:spcPts val="234"/>
              </a:spcBef>
            </a:pPr>
            <a:r>
              <a:rPr lang="pt-BR" sz="2200" b="0" i="1" dirty="0" smtClean="0">
                <a:latin typeface="Calibri Light"/>
                <a:cs typeface="Calibri Light"/>
              </a:rPr>
              <a:t>E(S) </a:t>
            </a:r>
            <a:r>
              <a:rPr lang="pt-BR" sz="2200" b="0" i="1" spc="-5" dirty="0" smtClean="0">
                <a:latin typeface="Calibri Light"/>
                <a:cs typeface="Calibri Light"/>
              </a:rPr>
              <a:t>=</a:t>
            </a:r>
            <a:r>
              <a:rPr lang="pt-BR" sz="2200" b="0" i="1" spc="-10" dirty="0" smtClean="0">
                <a:latin typeface="Calibri Light"/>
                <a:cs typeface="Calibri Light"/>
              </a:rPr>
              <a:t> </a:t>
            </a:r>
            <a:r>
              <a:rPr lang="pt-BR" sz="2200" b="0" i="1" spc="-5" dirty="0" smtClean="0">
                <a:latin typeface="Calibri Light"/>
                <a:cs typeface="Calibri Light"/>
              </a:rPr>
              <a:t>1</a:t>
            </a:r>
            <a:r>
              <a:rPr lang="pt-BR" sz="2200" b="0" i="1" dirty="0" smtClean="0">
                <a:latin typeface="Calibri Light"/>
                <a:cs typeface="Calibri Light"/>
              </a:rPr>
              <a:t> </a:t>
            </a:r>
            <a:endParaRPr lang="pt-BR" sz="2200" dirty="0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5380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856522" y="1432161"/>
            <a:ext cx="4321927" cy="4007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76277" y="1390364"/>
            <a:ext cx="4832498" cy="3847207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0"/>
              </a:spcBef>
            </a:pPr>
            <a:r>
              <a:rPr sz="2000" b="0" i="1" dirty="0">
                <a:latin typeface="Calibri Light"/>
                <a:cs typeface="Calibri Light"/>
              </a:rPr>
              <a:t>E(S) </a:t>
            </a:r>
            <a:r>
              <a:rPr sz="2000" b="0" i="1" spc="-5" dirty="0">
                <a:latin typeface="Calibri Light"/>
                <a:cs typeface="Calibri Light"/>
              </a:rPr>
              <a:t>= </a:t>
            </a:r>
            <a:r>
              <a:rPr sz="2000" b="0" i="1" spc="-25" dirty="0">
                <a:latin typeface="Calibri Light"/>
                <a:cs typeface="Calibri Light"/>
              </a:rPr>
              <a:t>-P(Yes) </a:t>
            </a:r>
            <a:r>
              <a:rPr sz="2000" spc="30" dirty="0">
                <a:latin typeface="Cambria Math"/>
                <a:cs typeface="Cambria Math"/>
              </a:rPr>
              <a:t>log</a:t>
            </a:r>
            <a:r>
              <a:rPr sz="2000" spc="44" baseline="-15151" dirty="0">
                <a:latin typeface="Cambria Math"/>
                <a:cs typeface="Cambria Math"/>
              </a:rPr>
              <a:t>2</a:t>
            </a:r>
            <a:r>
              <a:rPr sz="2000" spc="97" baseline="-15151" dirty="0">
                <a:latin typeface="Cambria Math"/>
                <a:cs typeface="Cambria Math"/>
              </a:rPr>
              <a:t> </a:t>
            </a:r>
            <a:r>
              <a:rPr sz="2000" spc="5" dirty="0">
                <a:latin typeface="Cambria Math"/>
                <a:cs typeface="Cambria Math"/>
              </a:rPr>
              <a:t>𝑃(𝑌𝑒𝑠)</a:t>
            </a:r>
            <a:r>
              <a:rPr sz="2000" b="0" i="1" dirty="0">
                <a:latin typeface="Calibri Light"/>
                <a:cs typeface="Calibri Light"/>
              </a:rPr>
              <a:t> </a:t>
            </a:r>
            <a:endParaRPr sz="2000" dirty="0">
              <a:latin typeface="Calibri Light"/>
              <a:cs typeface="Calibri Light"/>
            </a:endParaRPr>
          </a:p>
          <a:p>
            <a:pPr marL="50800" marR="43180" indent="-635">
              <a:lnSpc>
                <a:spcPts val="2700"/>
              </a:lnSpc>
              <a:spcBef>
                <a:spcPts val="245"/>
              </a:spcBef>
            </a:pPr>
            <a:r>
              <a:rPr sz="2000" b="0" i="1" spc="25" dirty="0">
                <a:latin typeface="Calibri Light"/>
                <a:cs typeface="Calibri Light"/>
              </a:rPr>
              <a:t>When </a:t>
            </a:r>
            <a:r>
              <a:rPr sz="2000" b="0" i="1" spc="-25" dirty="0">
                <a:latin typeface="Calibri Light"/>
                <a:cs typeface="Calibri Light"/>
              </a:rPr>
              <a:t>P(Yes) </a:t>
            </a:r>
            <a:r>
              <a:rPr sz="2000" b="0" i="1" spc="75" dirty="0">
                <a:latin typeface="Calibri Light"/>
                <a:cs typeface="Calibri Light"/>
              </a:rPr>
              <a:t>= </a:t>
            </a:r>
            <a:r>
              <a:rPr sz="2000" b="0" i="1" spc="-15" dirty="0">
                <a:latin typeface="Calibri Light"/>
                <a:cs typeface="Calibri Light"/>
              </a:rPr>
              <a:t>1 </a:t>
            </a:r>
            <a:r>
              <a:rPr sz="2000" b="0" i="1" dirty="0">
                <a:latin typeface="Calibri Light"/>
                <a:cs typeface="Calibri Light"/>
              </a:rPr>
              <a:t>ie </a:t>
            </a:r>
            <a:r>
              <a:rPr sz="2000" b="0" i="1" spc="-10" dirty="0">
                <a:latin typeface="Calibri Light"/>
                <a:cs typeface="Calibri Light"/>
              </a:rPr>
              <a:t>YES </a:t>
            </a:r>
            <a:r>
              <a:rPr sz="2000" b="0" i="1" spc="-5" dirty="0">
                <a:latin typeface="Calibri Light"/>
                <a:cs typeface="Calibri Light"/>
              </a:rPr>
              <a:t>= </a:t>
            </a:r>
            <a:r>
              <a:rPr sz="2000" b="0" i="1" spc="-35" dirty="0">
                <a:latin typeface="Calibri Light"/>
                <a:cs typeface="Calibri Light"/>
              </a:rPr>
              <a:t>Total </a:t>
            </a:r>
            <a:r>
              <a:rPr sz="2000" b="0" i="1" spc="-15" dirty="0">
                <a:latin typeface="Calibri Light"/>
                <a:cs typeface="Calibri Light"/>
              </a:rPr>
              <a:t>Sample(S</a:t>
            </a:r>
            <a:r>
              <a:rPr sz="2000" b="0" i="1" spc="-15" dirty="0" smtClean="0">
                <a:latin typeface="Calibri Light"/>
                <a:cs typeface="Calibri Light"/>
              </a:rPr>
              <a:t>)</a:t>
            </a:r>
            <a:endParaRPr lang="en-US" sz="2000" b="0" i="1" spc="-15" dirty="0" smtClean="0">
              <a:latin typeface="Calibri Light"/>
              <a:cs typeface="Calibri Light"/>
            </a:endParaRPr>
          </a:p>
          <a:p>
            <a:pPr marL="50800" marR="43180" indent="-635">
              <a:lnSpc>
                <a:spcPts val="2700"/>
              </a:lnSpc>
              <a:spcBef>
                <a:spcPts val="245"/>
              </a:spcBef>
            </a:pPr>
            <a:r>
              <a:rPr sz="2000" b="0" i="1" dirty="0" smtClean="0">
                <a:latin typeface="Calibri Light"/>
                <a:cs typeface="Calibri Light"/>
              </a:rPr>
              <a:t>E(S</a:t>
            </a:r>
            <a:r>
              <a:rPr sz="2000" b="0" i="1" dirty="0">
                <a:latin typeface="Calibri Light"/>
                <a:cs typeface="Calibri Light"/>
              </a:rPr>
              <a:t>) </a:t>
            </a:r>
            <a:r>
              <a:rPr sz="2000" b="0" i="1" spc="-5" dirty="0">
                <a:latin typeface="Calibri Light"/>
                <a:cs typeface="Calibri Light"/>
              </a:rPr>
              <a:t>= </a:t>
            </a:r>
            <a:r>
              <a:rPr sz="2000" b="0" i="1" dirty="0">
                <a:latin typeface="Calibri Light"/>
                <a:cs typeface="Calibri Light"/>
              </a:rPr>
              <a:t>1 </a:t>
            </a:r>
            <a:r>
              <a:rPr sz="2000" spc="30" dirty="0">
                <a:latin typeface="Cambria Math"/>
                <a:cs typeface="Cambria Math"/>
              </a:rPr>
              <a:t>log</a:t>
            </a:r>
            <a:r>
              <a:rPr sz="2000" spc="44" baseline="-15151" dirty="0">
                <a:latin typeface="Cambria Math"/>
                <a:cs typeface="Cambria Math"/>
              </a:rPr>
              <a:t>2</a:t>
            </a:r>
            <a:r>
              <a:rPr sz="2000" spc="97" baseline="-15151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1</a:t>
            </a:r>
          </a:p>
          <a:p>
            <a:pPr marL="50800">
              <a:lnSpc>
                <a:spcPct val="100000"/>
              </a:lnSpc>
              <a:spcBef>
                <a:spcPts val="670"/>
              </a:spcBef>
            </a:pPr>
            <a:r>
              <a:rPr sz="2000" b="0" i="1" dirty="0">
                <a:latin typeface="Calibri Light"/>
                <a:cs typeface="Calibri Light"/>
              </a:rPr>
              <a:t>E(S) </a:t>
            </a:r>
            <a:r>
              <a:rPr sz="2000" b="0" i="1" spc="-5" dirty="0">
                <a:latin typeface="Calibri Light"/>
                <a:cs typeface="Calibri Light"/>
              </a:rPr>
              <a:t>=</a:t>
            </a:r>
            <a:r>
              <a:rPr sz="2000" b="0" i="1" spc="-10" dirty="0">
                <a:latin typeface="Calibri Light"/>
                <a:cs typeface="Calibri Light"/>
              </a:rPr>
              <a:t> </a:t>
            </a:r>
            <a:r>
              <a:rPr sz="2000" b="0" i="1" spc="-5" dirty="0">
                <a:latin typeface="Calibri Light"/>
                <a:cs typeface="Calibri Light"/>
              </a:rPr>
              <a:t>0</a:t>
            </a:r>
            <a:r>
              <a:rPr sz="2000" b="0" i="1" dirty="0">
                <a:latin typeface="Calibri Light"/>
                <a:cs typeface="Calibri Light"/>
              </a:rPr>
              <a:t> </a:t>
            </a:r>
            <a:endParaRPr sz="20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000" b="0" i="1" dirty="0">
                <a:latin typeface="Calibri Light"/>
                <a:cs typeface="Calibri Light"/>
              </a:rPr>
              <a:t>E(S) </a:t>
            </a:r>
            <a:r>
              <a:rPr sz="2000" b="0" i="1" spc="-5" dirty="0">
                <a:latin typeface="Calibri Light"/>
                <a:cs typeface="Calibri Light"/>
              </a:rPr>
              <a:t>= -P(No) </a:t>
            </a:r>
            <a:r>
              <a:rPr sz="2000" spc="30" dirty="0">
                <a:latin typeface="Cambria Math"/>
                <a:cs typeface="Cambria Math"/>
              </a:rPr>
              <a:t>log</a:t>
            </a:r>
            <a:r>
              <a:rPr sz="2000" spc="44" baseline="-15151" dirty="0">
                <a:latin typeface="Cambria Math"/>
                <a:cs typeface="Cambria Math"/>
              </a:rPr>
              <a:t>2</a:t>
            </a:r>
            <a:r>
              <a:rPr sz="2000" spc="67" baseline="-15151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𝑃(𝑁𝑜)</a:t>
            </a:r>
            <a:r>
              <a:rPr sz="2000" b="0" i="1" dirty="0">
                <a:latin typeface="Calibri Light"/>
                <a:cs typeface="Calibri Light"/>
              </a:rPr>
              <a:t> </a:t>
            </a:r>
            <a:endParaRPr sz="2000" dirty="0">
              <a:latin typeface="Calibri Light"/>
              <a:cs typeface="Calibri Light"/>
            </a:endParaRPr>
          </a:p>
          <a:p>
            <a:pPr marL="50800" marR="109855">
              <a:lnSpc>
                <a:spcPct val="150300"/>
              </a:lnSpc>
            </a:pPr>
            <a:r>
              <a:rPr sz="2000" b="0" i="1" spc="25" dirty="0">
                <a:latin typeface="Calibri Light"/>
                <a:cs typeface="Calibri Light"/>
              </a:rPr>
              <a:t>When </a:t>
            </a:r>
            <a:r>
              <a:rPr sz="2000" b="0" i="1" spc="-5" dirty="0">
                <a:latin typeface="Calibri Light"/>
                <a:cs typeface="Calibri Light"/>
              </a:rPr>
              <a:t>P(No) = </a:t>
            </a:r>
            <a:r>
              <a:rPr sz="2000" b="0" i="1" spc="60" dirty="0">
                <a:latin typeface="Calibri Light"/>
                <a:cs typeface="Calibri Light"/>
              </a:rPr>
              <a:t>1 </a:t>
            </a:r>
            <a:r>
              <a:rPr sz="2000" b="0" i="1" dirty="0">
                <a:latin typeface="Calibri Light"/>
                <a:cs typeface="Calibri Light"/>
              </a:rPr>
              <a:t>ie </a:t>
            </a:r>
            <a:r>
              <a:rPr sz="2000" b="0" i="1" spc="-5" dirty="0">
                <a:latin typeface="Calibri Light"/>
                <a:cs typeface="Calibri Light"/>
              </a:rPr>
              <a:t>No = </a:t>
            </a:r>
            <a:r>
              <a:rPr sz="2000" b="0" i="1" spc="-35" dirty="0">
                <a:latin typeface="Calibri Light"/>
                <a:cs typeface="Calibri Light"/>
              </a:rPr>
              <a:t>Total </a:t>
            </a:r>
            <a:r>
              <a:rPr sz="2000" b="0" i="1" spc="-15" dirty="0">
                <a:latin typeface="Calibri Light"/>
                <a:cs typeface="Calibri Light"/>
              </a:rPr>
              <a:t>Sample(S</a:t>
            </a:r>
            <a:r>
              <a:rPr sz="2000" b="0" i="1" spc="-15" dirty="0" smtClean="0">
                <a:latin typeface="Calibri Light"/>
                <a:cs typeface="Calibri Light"/>
              </a:rPr>
              <a:t>)</a:t>
            </a:r>
            <a:endParaRPr lang="en-US" sz="2000" b="0" i="1" spc="-15" dirty="0" smtClean="0">
              <a:latin typeface="Calibri Light"/>
              <a:cs typeface="Calibri Light"/>
            </a:endParaRPr>
          </a:p>
          <a:p>
            <a:pPr marL="50800" marR="109855">
              <a:lnSpc>
                <a:spcPct val="150300"/>
              </a:lnSpc>
            </a:pPr>
            <a:r>
              <a:rPr sz="2000" b="0" i="1" dirty="0" smtClean="0">
                <a:latin typeface="Calibri Light"/>
                <a:cs typeface="Calibri Light"/>
              </a:rPr>
              <a:t>E(S</a:t>
            </a:r>
            <a:r>
              <a:rPr sz="2000" b="0" i="1" dirty="0">
                <a:latin typeface="Calibri Light"/>
                <a:cs typeface="Calibri Light"/>
              </a:rPr>
              <a:t>) </a:t>
            </a:r>
            <a:r>
              <a:rPr sz="2000" b="0" i="1" spc="-5" dirty="0">
                <a:latin typeface="Calibri Light"/>
                <a:cs typeface="Calibri Light"/>
              </a:rPr>
              <a:t>= </a:t>
            </a:r>
            <a:r>
              <a:rPr sz="2000" b="0" i="1" dirty="0">
                <a:latin typeface="Calibri Light"/>
                <a:cs typeface="Calibri Light"/>
              </a:rPr>
              <a:t>1 </a:t>
            </a:r>
            <a:r>
              <a:rPr sz="2000" spc="30" dirty="0">
                <a:latin typeface="Cambria Math"/>
                <a:cs typeface="Cambria Math"/>
              </a:rPr>
              <a:t>log</a:t>
            </a:r>
            <a:r>
              <a:rPr sz="2000" spc="44" baseline="-15151" dirty="0">
                <a:latin typeface="Cambria Math"/>
                <a:cs typeface="Cambria Math"/>
              </a:rPr>
              <a:t>2</a:t>
            </a:r>
            <a:r>
              <a:rPr sz="2000" spc="97" baseline="-15151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1</a:t>
            </a:r>
          </a:p>
          <a:p>
            <a:pPr marL="50800">
              <a:lnSpc>
                <a:spcPct val="100000"/>
              </a:lnSpc>
              <a:spcBef>
                <a:spcPts val="905"/>
              </a:spcBef>
            </a:pPr>
            <a:r>
              <a:rPr sz="2000" b="0" i="1" dirty="0">
                <a:latin typeface="Calibri Light"/>
                <a:cs typeface="Calibri Light"/>
              </a:rPr>
              <a:t>E(S) </a:t>
            </a:r>
            <a:r>
              <a:rPr sz="2000" b="0" i="1" spc="-5" dirty="0">
                <a:latin typeface="Calibri Light"/>
                <a:cs typeface="Calibri Light"/>
              </a:rPr>
              <a:t>=</a:t>
            </a:r>
            <a:r>
              <a:rPr sz="2000" b="0" i="1" spc="-10" dirty="0">
                <a:latin typeface="Calibri Light"/>
                <a:cs typeface="Calibri Light"/>
              </a:rPr>
              <a:t> </a:t>
            </a:r>
            <a:r>
              <a:rPr sz="2000" b="0" i="1" spc="-5" dirty="0">
                <a:latin typeface="Calibri Light"/>
                <a:cs typeface="Calibri Light"/>
              </a:rPr>
              <a:t>0</a:t>
            </a:r>
            <a:r>
              <a:rPr sz="2000" b="0" i="1" dirty="0">
                <a:latin typeface="Calibri Light"/>
                <a:cs typeface="Calibri Light"/>
              </a:rPr>
              <a:t> </a:t>
            </a:r>
            <a:endParaRPr sz="2000" dirty="0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12130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856522" y="1432161"/>
            <a:ext cx="4321927" cy="4007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76277" y="1390364"/>
            <a:ext cx="4832498" cy="4365298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0"/>
              </a:spcBef>
            </a:pPr>
            <a:r>
              <a:rPr lang="pt-BR" sz="2000" b="0" i="1" dirty="0" smtClean="0">
                <a:latin typeface="Calibri Light"/>
                <a:cs typeface="Calibri Light"/>
              </a:rPr>
              <a:t>E(S) </a:t>
            </a:r>
            <a:r>
              <a:rPr lang="pt-BR" sz="2000" b="0" i="1" spc="-5" dirty="0" smtClean="0">
                <a:latin typeface="Calibri Light"/>
                <a:cs typeface="Calibri Light"/>
              </a:rPr>
              <a:t>= </a:t>
            </a:r>
            <a:r>
              <a:rPr lang="pt-BR" sz="2000" b="0" i="1" spc="-25" dirty="0" smtClean="0">
                <a:latin typeface="Calibri Light"/>
                <a:cs typeface="Calibri Light"/>
              </a:rPr>
              <a:t>-P(Yes) </a:t>
            </a:r>
            <a:r>
              <a:rPr lang="pt-BR" sz="2000" spc="30" dirty="0" smtClean="0">
                <a:latin typeface="Cambria Math"/>
                <a:cs typeface="Cambria Math"/>
              </a:rPr>
              <a:t>log</a:t>
            </a:r>
            <a:r>
              <a:rPr lang="pt-BR" sz="2400" spc="44" baseline="-15151" dirty="0" smtClean="0">
                <a:latin typeface="Cambria Math"/>
                <a:cs typeface="Cambria Math"/>
              </a:rPr>
              <a:t>2</a:t>
            </a:r>
            <a:r>
              <a:rPr lang="pt-BR" sz="2400" spc="97" baseline="-15151" dirty="0" smtClean="0">
                <a:latin typeface="Cambria Math"/>
                <a:cs typeface="Cambria Math"/>
              </a:rPr>
              <a:t> </a:t>
            </a:r>
            <a:r>
              <a:rPr lang="pt-BR" sz="2000" spc="5" dirty="0" smtClean="0">
                <a:latin typeface="Cambria Math"/>
                <a:cs typeface="Cambria Math"/>
              </a:rPr>
              <a:t>𝑃(𝑌𝑒𝑠)</a:t>
            </a:r>
            <a:r>
              <a:rPr lang="pt-BR" sz="2000" b="0" i="1" dirty="0" smtClean="0">
                <a:latin typeface="Calibri Light"/>
                <a:cs typeface="Calibri Light"/>
              </a:rPr>
              <a:t> </a:t>
            </a:r>
            <a:endParaRPr lang="pt-BR" sz="2000" dirty="0" smtClean="0">
              <a:latin typeface="Calibri Light"/>
              <a:cs typeface="Calibri Light"/>
            </a:endParaRPr>
          </a:p>
          <a:p>
            <a:pPr marL="50800" marR="53975">
              <a:lnSpc>
                <a:spcPts val="2700"/>
              </a:lnSpc>
              <a:spcBef>
                <a:spcPts val="245"/>
              </a:spcBef>
            </a:pPr>
            <a:r>
              <a:rPr lang="pt-BR" sz="2000" b="0" i="1" spc="-5" dirty="0" smtClean="0">
                <a:latin typeface="Calibri Light"/>
                <a:cs typeface="Calibri Light"/>
              </a:rPr>
              <a:t>Total </a:t>
            </a:r>
            <a:r>
              <a:rPr lang="pt-BR" sz="2000" b="0" i="1" spc="-10" dirty="0" smtClean="0">
                <a:latin typeface="Calibri Light"/>
                <a:cs typeface="Calibri Light"/>
              </a:rPr>
              <a:t>Sample(S) </a:t>
            </a:r>
            <a:r>
              <a:rPr lang="pt-BR" sz="2000" b="0" i="1" spc="-5" dirty="0" smtClean="0">
                <a:latin typeface="Calibri Light"/>
                <a:cs typeface="Calibri Light"/>
              </a:rPr>
              <a:t>= all </a:t>
            </a:r>
            <a:r>
              <a:rPr lang="pt-BR" sz="2000" b="0" i="1" spc="-45" dirty="0" smtClean="0">
                <a:latin typeface="Calibri Light"/>
                <a:cs typeface="Calibri Light"/>
              </a:rPr>
              <a:t>Yes </a:t>
            </a:r>
            <a:r>
              <a:rPr lang="pt-BR" sz="2000" b="0" i="1" spc="75" dirty="0" smtClean="0">
                <a:latin typeface="Calibri Light"/>
                <a:cs typeface="Calibri Light"/>
              </a:rPr>
              <a:t>= </a:t>
            </a:r>
            <a:r>
              <a:rPr lang="pt-BR" sz="2000" b="1" i="1" spc="-30" dirty="0">
                <a:cs typeface="Calibri"/>
              </a:rPr>
              <a:t>P(Yes) </a:t>
            </a:r>
            <a:r>
              <a:rPr lang="pt-BR" sz="2000" b="1" i="1" dirty="0">
                <a:cs typeface="Calibri"/>
              </a:rPr>
              <a:t>= 1  </a:t>
            </a:r>
            <a:r>
              <a:rPr lang="pt-BR" sz="2000" b="0" i="1" dirty="0" smtClean="0">
                <a:latin typeface="Calibri Light"/>
                <a:cs typeface="Calibri Light"/>
              </a:rPr>
              <a:t>E(S) </a:t>
            </a:r>
            <a:r>
              <a:rPr lang="pt-BR" sz="2000" b="0" i="1" spc="-5" dirty="0" smtClean="0">
                <a:latin typeface="Calibri Light"/>
                <a:cs typeface="Calibri Light"/>
              </a:rPr>
              <a:t>= </a:t>
            </a:r>
            <a:r>
              <a:rPr lang="pt-BR" sz="2000" b="0" i="1" dirty="0" smtClean="0">
                <a:latin typeface="Calibri Light"/>
                <a:cs typeface="Calibri Light"/>
              </a:rPr>
              <a:t>1 </a:t>
            </a:r>
            <a:r>
              <a:rPr lang="pt-BR" sz="2000" spc="30" dirty="0" smtClean="0">
                <a:latin typeface="Cambria Math"/>
                <a:cs typeface="Cambria Math"/>
              </a:rPr>
              <a:t>log</a:t>
            </a:r>
            <a:r>
              <a:rPr lang="pt-BR" sz="2400" spc="44" baseline="-15151" dirty="0" smtClean="0">
                <a:latin typeface="Cambria Math"/>
                <a:cs typeface="Cambria Math"/>
              </a:rPr>
              <a:t>2</a:t>
            </a:r>
            <a:r>
              <a:rPr lang="pt-BR" sz="2400" spc="89" baseline="-15151" dirty="0" smtClean="0">
                <a:latin typeface="Cambria Math"/>
                <a:cs typeface="Cambria Math"/>
              </a:rPr>
              <a:t> </a:t>
            </a:r>
            <a:r>
              <a:rPr lang="pt-BR" sz="2000" dirty="0" smtClean="0">
                <a:latin typeface="Cambria Math"/>
                <a:cs typeface="Cambria Math"/>
              </a:rPr>
              <a:t>1</a:t>
            </a:r>
          </a:p>
          <a:p>
            <a:pPr marL="50800">
              <a:lnSpc>
                <a:spcPct val="100000"/>
              </a:lnSpc>
              <a:spcBef>
                <a:spcPts val="670"/>
              </a:spcBef>
            </a:pPr>
            <a:r>
              <a:rPr lang="pt-BR" sz="2000" b="0" i="1" dirty="0" smtClean="0">
                <a:latin typeface="Calibri Light"/>
                <a:cs typeface="Calibri Light"/>
              </a:rPr>
              <a:t>E(S) </a:t>
            </a:r>
            <a:r>
              <a:rPr lang="pt-BR" sz="2000" b="0" i="1" spc="-5" dirty="0" smtClean="0">
                <a:latin typeface="Calibri Light"/>
                <a:cs typeface="Calibri Light"/>
              </a:rPr>
              <a:t>=</a:t>
            </a:r>
            <a:r>
              <a:rPr lang="pt-BR" sz="2000" b="0" i="1" spc="-10" dirty="0" smtClean="0">
                <a:latin typeface="Calibri Light"/>
                <a:cs typeface="Calibri Light"/>
              </a:rPr>
              <a:t> </a:t>
            </a:r>
            <a:r>
              <a:rPr lang="pt-BR" sz="2000" b="0" i="1" spc="-5" dirty="0" smtClean="0">
                <a:latin typeface="Calibri Light"/>
                <a:cs typeface="Calibri Light"/>
              </a:rPr>
              <a:t>0</a:t>
            </a:r>
            <a:r>
              <a:rPr lang="pt-BR" sz="2000" b="0" i="1" dirty="0" smtClean="0">
                <a:latin typeface="Calibri Light"/>
                <a:cs typeface="Calibri Light"/>
              </a:rPr>
              <a:t> </a:t>
            </a:r>
            <a:endParaRPr lang="pt-BR" sz="2000" dirty="0" smtClean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lang="pt-BR" sz="2000" dirty="0" smtClean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pt-BR" sz="3200" dirty="0" smtClean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lang="pt-BR" sz="2000" b="0" i="1" dirty="0" smtClean="0">
                <a:latin typeface="Calibri Light"/>
                <a:cs typeface="Calibri Light"/>
              </a:rPr>
              <a:t>E(S) </a:t>
            </a:r>
            <a:r>
              <a:rPr lang="pt-BR" sz="2000" b="0" i="1" spc="-5" dirty="0" smtClean="0">
                <a:latin typeface="Calibri Light"/>
                <a:cs typeface="Calibri Light"/>
              </a:rPr>
              <a:t>= -P(No) </a:t>
            </a:r>
            <a:r>
              <a:rPr lang="pt-BR" sz="2000" spc="30" dirty="0" smtClean="0">
                <a:latin typeface="Cambria Math"/>
                <a:cs typeface="Cambria Math"/>
              </a:rPr>
              <a:t>log</a:t>
            </a:r>
            <a:r>
              <a:rPr lang="pt-BR" sz="2400" spc="44" baseline="-15151" dirty="0" smtClean="0">
                <a:latin typeface="Cambria Math"/>
                <a:cs typeface="Cambria Math"/>
              </a:rPr>
              <a:t>2</a:t>
            </a:r>
            <a:r>
              <a:rPr lang="pt-BR" sz="2400" spc="67" baseline="-15151" dirty="0" smtClean="0">
                <a:latin typeface="Cambria Math"/>
                <a:cs typeface="Cambria Math"/>
              </a:rPr>
              <a:t> </a:t>
            </a:r>
            <a:r>
              <a:rPr lang="pt-BR" sz="2000" dirty="0" smtClean="0">
                <a:latin typeface="Cambria Math"/>
                <a:cs typeface="Cambria Math"/>
              </a:rPr>
              <a:t>𝑃(𝑁𝑜)</a:t>
            </a:r>
            <a:r>
              <a:rPr lang="pt-BR" sz="2000" b="0" i="1" dirty="0" smtClean="0">
                <a:latin typeface="Calibri Light"/>
                <a:cs typeface="Calibri Light"/>
              </a:rPr>
              <a:t> </a:t>
            </a:r>
            <a:endParaRPr lang="pt-BR" sz="2000" dirty="0" smtClean="0">
              <a:latin typeface="Calibri Light"/>
              <a:cs typeface="Calibri Light"/>
            </a:endParaRPr>
          </a:p>
          <a:p>
            <a:pPr marL="50800">
              <a:lnSpc>
                <a:spcPct val="100000"/>
              </a:lnSpc>
              <a:spcBef>
                <a:spcPts val="905"/>
              </a:spcBef>
            </a:pPr>
            <a:r>
              <a:rPr lang="pt-BR" sz="2000" b="1" i="1" dirty="0">
                <a:cs typeface="Calibri"/>
              </a:rPr>
              <a:t>Total Sample(S) = </a:t>
            </a:r>
            <a:r>
              <a:rPr lang="pt-BR" sz="2000" b="1" i="1" spc="10" dirty="0">
                <a:cs typeface="Calibri"/>
              </a:rPr>
              <a:t>all </a:t>
            </a:r>
            <a:r>
              <a:rPr lang="pt-BR" sz="2000" b="1" i="1" spc="-10" dirty="0">
                <a:cs typeface="Calibri"/>
              </a:rPr>
              <a:t>No </a:t>
            </a:r>
            <a:r>
              <a:rPr lang="pt-BR" sz="2000" b="1" i="1" dirty="0">
                <a:cs typeface="Calibri"/>
              </a:rPr>
              <a:t>=</a:t>
            </a:r>
            <a:r>
              <a:rPr lang="pt-BR" sz="2000" b="1" i="1" spc="15" dirty="0">
                <a:cs typeface="Calibri"/>
              </a:rPr>
              <a:t> </a:t>
            </a:r>
            <a:r>
              <a:rPr lang="pt-BR" sz="2000" b="1" i="1" dirty="0">
                <a:cs typeface="Calibri"/>
              </a:rPr>
              <a:t>P(No) = 1</a:t>
            </a:r>
            <a:endParaRPr lang="pt-BR" sz="2000" dirty="0"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905"/>
              </a:spcBef>
            </a:pPr>
            <a:r>
              <a:rPr lang="pt-BR" sz="2000" b="0" i="1" dirty="0" smtClean="0">
                <a:latin typeface="Calibri Light"/>
                <a:cs typeface="Calibri Light"/>
              </a:rPr>
              <a:t>E(S) </a:t>
            </a:r>
            <a:r>
              <a:rPr lang="pt-BR" sz="2000" b="0" i="1" spc="-5" dirty="0" smtClean="0">
                <a:latin typeface="Calibri Light"/>
                <a:cs typeface="Calibri Light"/>
              </a:rPr>
              <a:t>= </a:t>
            </a:r>
            <a:r>
              <a:rPr lang="pt-BR" sz="2000" b="0" i="1" dirty="0" smtClean="0">
                <a:latin typeface="Calibri Light"/>
                <a:cs typeface="Calibri Light"/>
              </a:rPr>
              <a:t>1 </a:t>
            </a:r>
            <a:r>
              <a:rPr lang="pt-BR" sz="2000" spc="30" dirty="0" smtClean="0">
                <a:latin typeface="Cambria Math"/>
                <a:cs typeface="Cambria Math"/>
              </a:rPr>
              <a:t>log</a:t>
            </a:r>
            <a:r>
              <a:rPr lang="pt-BR" sz="2400" spc="44" baseline="-15151" dirty="0" smtClean="0">
                <a:latin typeface="Cambria Math"/>
                <a:cs typeface="Cambria Math"/>
              </a:rPr>
              <a:t>2</a:t>
            </a:r>
            <a:r>
              <a:rPr lang="pt-BR" sz="2400" spc="89" baseline="-15151" dirty="0" smtClean="0">
                <a:latin typeface="Cambria Math"/>
                <a:cs typeface="Cambria Math"/>
              </a:rPr>
              <a:t> </a:t>
            </a:r>
            <a:r>
              <a:rPr lang="pt-BR" sz="2000" dirty="0" smtClean="0">
                <a:latin typeface="Cambria Math"/>
                <a:cs typeface="Cambria Math"/>
              </a:rPr>
              <a:t>1</a:t>
            </a:r>
          </a:p>
          <a:p>
            <a:pPr marL="50800">
              <a:lnSpc>
                <a:spcPct val="100000"/>
              </a:lnSpc>
              <a:spcBef>
                <a:spcPts val="905"/>
              </a:spcBef>
            </a:pPr>
            <a:r>
              <a:rPr lang="pt-BR" sz="2000" b="0" i="1" dirty="0" smtClean="0">
                <a:latin typeface="Calibri Light"/>
                <a:cs typeface="Calibri Light"/>
              </a:rPr>
              <a:t>E(S) </a:t>
            </a:r>
            <a:r>
              <a:rPr lang="pt-BR" sz="2000" b="0" i="1" spc="-5" dirty="0" smtClean="0">
                <a:latin typeface="Calibri Light"/>
                <a:cs typeface="Calibri Light"/>
              </a:rPr>
              <a:t>=</a:t>
            </a:r>
            <a:r>
              <a:rPr lang="pt-BR" sz="2000" b="0" i="1" spc="-10" dirty="0" smtClean="0">
                <a:latin typeface="Calibri Light"/>
                <a:cs typeface="Calibri Light"/>
              </a:rPr>
              <a:t> </a:t>
            </a:r>
            <a:r>
              <a:rPr lang="pt-BR" sz="2000" b="0" i="1" spc="-5" dirty="0" smtClean="0">
                <a:latin typeface="Calibri Light"/>
                <a:cs typeface="Calibri Light"/>
              </a:rPr>
              <a:t>0</a:t>
            </a:r>
            <a:r>
              <a:rPr lang="pt-BR" sz="2000" b="0" i="1" dirty="0" smtClean="0">
                <a:latin typeface="Calibri Light"/>
                <a:cs typeface="Calibri Light"/>
              </a:rPr>
              <a:t> </a:t>
            </a:r>
            <a:endParaRPr lang="pt-BR" sz="2000" dirty="0" smtClean="0">
              <a:latin typeface="Calibri Light"/>
              <a:cs typeface="Calibri Light"/>
            </a:endParaRPr>
          </a:p>
          <a:p>
            <a:pPr marL="50800">
              <a:lnSpc>
                <a:spcPct val="100000"/>
              </a:lnSpc>
              <a:spcBef>
                <a:spcPts val="1000"/>
              </a:spcBef>
            </a:pPr>
            <a:endParaRPr sz="2000" dirty="0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948148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 txBox="1"/>
          <p:nvPr/>
        </p:nvSpPr>
        <p:spPr>
          <a:xfrm>
            <a:off x="4968052" y="2145055"/>
            <a:ext cx="3576320" cy="165417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65"/>
              </a:spcBef>
            </a:pPr>
            <a:r>
              <a:rPr sz="1550" b="1" spc="25" dirty="0">
                <a:solidFill>
                  <a:srgbClr val="3F3F3F"/>
                </a:solidFill>
                <a:latin typeface="Arial"/>
                <a:cs typeface="Arial"/>
              </a:rPr>
              <a:t>14 </a:t>
            </a:r>
            <a:r>
              <a:rPr sz="1550" b="1" spc="20" dirty="0">
                <a:solidFill>
                  <a:srgbClr val="3F3F3F"/>
                </a:solidFill>
                <a:latin typeface="Arial"/>
                <a:cs typeface="Arial"/>
              </a:rPr>
              <a:t>instances</a:t>
            </a:r>
            <a:r>
              <a:rPr sz="1550" b="1" spc="20" dirty="0">
                <a:solidFill>
                  <a:srgbClr val="7F7F7F"/>
                </a:solidFill>
                <a:latin typeface="Arial"/>
                <a:cs typeface="Arial"/>
              </a:rPr>
              <a:t>: </a:t>
            </a:r>
            <a:r>
              <a:rPr sz="1550" b="1" spc="15" dirty="0">
                <a:solidFill>
                  <a:srgbClr val="6B9E24"/>
                </a:solidFill>
                <a:latin typeface="Arial"/>
                <a:cs typeface="Arial"/>
              </a:rPr>
              <a:t>9 </a:t>
            </a:r>
            <a:r>
              <a:rPr sz="1550" b="1" spc="-10" dirty="0">
                <a:solidFill>
                  <a:srgbClr val="6B9E24"/>
                </a:solidFill>
                <a:latin typeface="Arial"/>
                <a:cs typeface="Arial"/>
              </a:rPr>
              <a:t>YES </a:t>
            </a:r>
            <a:r>
              <a:rPr sz="1550" b="1" spc="25" dirty="0">
                <a:solidFill>
                  <a:srgbClr val="3F3F3F"/>
                </a:solidFill>
                <a:latin typeface="Arial"/>
                <a:cs typeface="Arial"/>
              </a:rPr>
              <a:t>and </a:t>
            </a:r>
            <a:r>
              <a:rPr sz="1550" b="1" spc="15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sz="1550" b="1" spc="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FF0000"/>
                </a:solidFill>
                <a:latin typeface="Arial"/>
                <a:cs typeface="Arial"/>
              </a:rPr>
              <a:t>NO</a:t>
            </a:r>
            <a:endParaRPr sz="155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94"/>
              </a:spcBef>
            </a:pPr>
            <a:r>
              <a:rPr sz="1350" i="1" dirty="0">
                <a:latin typeface="Arial"/>
                <a:cs typeface="Arial"/>
              </a:rPr>
              <a:t>So </a:t>
            </a:r>
            <a:r>
              <a:rPr sz="1350" i="1" spc="-5" dirty="0">
                <a:latin typeface="Arial"/>
                <a:cs typeface="Arial"/>
              </a:rPr>
              <a:t>we have </a:t>
            </a:r>
            <a:r>
              <a:rPr sz="1350" i="1" dirty="0">
                <a:latin typeface="Arial"/>
                <a:cs typeface="Arial"/>
              </a:rPr>
              <a:t>the</a:t>
            </a:r>
            <a:r>
              <a:rPr sz="1350" i="1" spc="-5" dirty="0">
                <a:latin typeface="Arial"/>
                <a:cs typeface="Arial"/>
              </a:rPr>
              <a:t> </a:t>
            </a:r>
            <a:r>
              <a:rPr sz="1350" i="1" spc="5" dirty="0">
                <a:latin typeface="Arial"/>
                <a:cs typeface="Arial"/>
              </a:rPr>
              <a:t>formula,</a:t>
            </a:r>
            <a:endParaRPr sz="1350" dirty="0">
              <a:latin typeface="Arial"/>
              <a:cs typeface="Arial"/>
            </a:endParaRPr>
          </a:p>
          <a:p>
            <a:pPr marL="38100" marR="30480" algn="just">
              <a:lnSpc>
                <a:spcPts val="2480"/>
              </a:lnSpc>
              <a:spcBef>
                <a:spcPts val="150"/>
              </a:spcBef>
            </a:pPr>
            <a:r>
              <a:rPr sz="1400" spc="-40" dirty="0">
                <a:latin typeface="Cambria Math"/>
                <a:cs typeface="Cambria Math"/>
              </a:rPr>
              <a:t>E(S) = </a:t>
            </a:r>
            <a:r>
              <a:rPr sz="1400" spc="-55" dirty="0">
                <a:latin typeface="Cambria Math"/>
                <a:cs typeface="Cambria Math"/>
              </a:rPr>
              <a:t>-P(Yes) </a:t>
            </a:r>
            <a:r>
              <a:rPr sz="1350" spc="35" dirty="0">
                <a:latin typeface="Cambria Math"/>
                <a:cs typeface="Cambria Math"/>
              </a:rPr>
              <a:t>log</a:t>
            </a:r>
            <a:r>
              <a:rPr sz="1425" spc="52" baseline="-17543" dirty="0">
                <a:latin typeface="Cambria Math"/>
                <a:cs typeface="Cambria Math"/>
              </a:rPr>
              <a:t>2 </a:t>
            </a:r>
            <a:r>
              <a:rPr sz="1350" dirty="0">
                <a:latin typeface="Cambria Math"/>
                <a:cs typeface="Cambria Math"/>
              </a:rPr>
              <a:t>𝑃(𝑌𝑒𝑠) </a:t>
            </a:r>
            <a:r>
              <a:rPr sz="1400" i="1" spc="-40" dirty="0">
                <a:latin typeface="Cambria Math"/>
                <a:cs typeface="Cambria Math"/>
              </a:rPr>
              <a:t>− </a:t>
            </a:r>
            <a:r>
              <a:rPr sz="1400" i="1" spc="-35" dirty="0">
                <a:latin typeface="Cambria Math"/>
                <a:cs typeface="Cambria Math"/>
              </a:rPr>
              <a:t>P(No) </a:t>
            </a:r>
            <a:r>
              <a:rPr sz="1350" spc="35" dirty="0">
                <a:latin typeface="Cambria Math"/>
                <a:cs typeface="Cambria Math"/>
              </a:rPr>
              <a:t>log</a:t>
            </a:r>
            <a:r>
              <a:rPr sz="1425" spc="52" baseline="-17543" dirty="0">
                <a:latin typeface="Cambria Math"/>
                <a:cs typeface="Cambria Math"/>
              </a:rPr>
              <a:t>2 </a:t>
            </a:r>
            <a:r>
              <a:rPr sz="1350" spc="25" dirty="0">
                <a:latin typeface="Cambria Math"/>
                <a:cs typeface="Cambria Math"/>
              </a:rPr>
              <a:t>𝑃(𝑁𝑜)  </a:t>
            </a:r>
            <a:r>
              <a:rPr sz="1400" spc="-40" dirty="0">
                <a:latin typeface="Cambria Math"/>
                <a:cs typeface="Cambria Math"/>
              </a:rPr>
              <a:t>E(S) = </a:t>
            </a:r>
            <a:r>
              <a:rPr sz="1400" spc="-20" dirty="0">
                <a:latin typeface="Cambria Math"/>
                <a:cs typeface="Cambria Math"/>
              </a:rPr>
              <a:t>- </a:t>
            </a:r>
            <a:r>
              <a:rPr sz="1400" spc="-35" dirty="0">
                <a:latin typeface="Cambria Math"/>
                <a:cs typeface="Cambria Math"/>
              </a:rPr>
              <a:t>(9/14)* </a:t>
            </a:r>
            <a:r>
              <a:rPr sz="1350" spc="35" dirty="0">
                <a:latin typeface="Cambria Math"/>
                <a:cs typeface="Cambria Math"/>
              </a:rPr>
              <a:t>log</a:t>
            </a:r>
            <a:r>
              <a:rPr sz="1425" spc="52" baseline="-17543" dirty="0">
                <a:latin typeface="Cambria Math"/>
                <a:cs typeface="Cambria Math"/>
              </a:rPr>
              <a:t>2 </a:t>
            </a:r>
            <a:r>
              <a:rPr sz="1350" dirty="0">
                <a:latin typeface="Cambria Math"/>
                <a:cs typeface="Cambria Math"/>
              </a:rPr>
              <a:t>9/14 </a:t>
            </a:r>
            <a:r>
              <a:rPr sz="1400" spc="-20" dirty="0">
                <a:latin typeface="Cambria Math"/>
                <a:cs typeface="Cambria Math"/>
              </a:rPr>
              <a:t>- </a:t>
            </a:r>
            <a:r>
              <a:rPr sz="1400" spc="-35" dirty="0">
                <a:latin typeface="Cambria Math"/>
                <a:cs typeface="Cambria Math"/>
              </a:rPr>
              <a:t>(5/14)* </a:t>
            </a:r>
            <a:r>
              <a:rPr sz="1350" spc="35" dirty="0">
                <a:latin typeface="Cambria Math"/>
                <a:cs typeface="Cambria Math"/>
              </a:rPr>
              <a:t>log</a:t>
            </a:r>
            <a:r>
              <a:rPr sz="1425" spc="52" baseline="-17543" dirty="0">
                <a:latin typeface="Cambria Math"/>
                <a:cs typeface="Cambria Math"/>
              </a:rPr>
              <a:t>2 </a:t>
            </a:r>
            <a:r>
              <a:rPr sz="1350" dirty="0">
                <a:latin typeface="Cambria Math"/>
                <a:cs typeface="Cambria Math"/>
              </a:rPr>
              <a:t>5/14  </a:t>
            </a:r>
            <a:r>
              <a:rPr sz="1400" spc="-40" dirty="0">
                <a:latin typeface="Cambria Math"/>
                <a:cs typeface="Cambria Math"/>
              </a:rPr>
              <a:t>E(S) = </a:t>
            </a:r>
            <a:r>
              <a:rPr sz="1400" spc="-25" dirty="0">
                <a:latin typeface="Cambria Math"/>
                <a:cs typeface="Cambria Math"/>
              </a:rPr>
              <a:t>0.41+0.53 </a:t>
            </a:r>
            <a:r>
              <a:rPr sz="1400" spc="-40" dirty="0">
                <a:latin typeface="Cambria Math"/>
                <a:cs typeface="Cambria Math"/>
              </a:rPr>
              <a:t>=</a:t>
            </a:r>
            <a:r>
              <a:rPr sz="1400" spc="105" dirty="0">
                <a:latin typeface="Cambria Math"/>
                <a:cs typeface="Cambria Math"/>
              </a:rPr>
              <a:t> </a:t>
            </a:r>
            <a:r>
              <a:rPr sz="1400" spc="-20" dirty="0">
                <a:latin typeface="Cambria Math"/>
                <a:cs typeface="Cambria Math"/>
              </a:rPr>
              <a:t>0.94</a:t>
            </a:r>
            <a:endParaRPr sz="1400" dirty="0">
              <a:latin typeface="Cambria Math"/>
              <a:cs typeface="Cambria Math"/>
            </a:endParaRPr>
          </a:p>
        </p:txBody>
      </p:sp>
      <p:sp>
        <p:nvSpPr>
          <p:cNvPr id="11" name="object 6"/>
          <p:cNvSpPr/>
          <p:nvPr/>
        </p:nvSpPr>
        <p:spPr>
          <a:xfrm>
            <a:off x="1340922" y="1348818"/>
            <a:ext cx="3354554" cy="4108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9704" y="1592978"/>
            <a:ext cx="651163" cy="396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85"/>
              </a:spcBef>
            </a:pP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D1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D2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D3  D4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D5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D6  D7  D8  D9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0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1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2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4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930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8"/>
          <p:cNvSpPr/>
          <p:nvPr/>
        </p:nvSpPr>
        <p:spPr>
          <a:xfrm>
            <a:off x="6788727" y="1858207"/>
            <a:ext cx="1266825" cy="1115695"/>
          </a:xfrm>
          <a:custGeom>
            <a:avLst/>
            <a:gdLst/>
            <a:ahLst/>
            <a:cxnLst/>
            <a:rect l="l" t="t" r="r" b="b"/>
            <a:pathLst>
              <a:path w="1266825" h="1115695">
                <a:moveTo>
                  <a:pt x="633222" y="0"/>
                </a:moveTo>
                <a:lnTo>
                  <a:pt x="581282" y="1848"/>
                </a:lnTo>
                <a:lnTo>
                  <a:pt x="530500" y="7299"/>
                </a:lnTo>
                <a:lnTo>
                  <a:pt x="481038" y="16207"/>
                </a:lnTo>
                <a:lnTo>
                  <a:pt x="433059" y="28430"/>
                </a:lnTo>
                <a:lnTo>
                  <a:pt x="386726" y="43824"/>
                </a:lnTo>
                <a:lnTo>
                  <a:pt x="342202" y="62245"/>
                </a:lnTo>
                <a:lnTo>
                  <a:pt x="299650" y="83549"/>
                </a:lnTo>
                <a:lnTo>
                  <a:pt x="259232" y="107593"/>
                </a:lnTo>
                <a:lnTo>
                  <a:pt x="221111" y="134234"/>
                </a:lnTo>
                <a:lnTo>
                  <a:pt x="185451" y="163327"/>
                </a:lnTo>
                <a:lnTo>
                  <a:pt x="152414" y="194728"/>
                </a:lnTo>
                <a:lnTo>
                  <a:pt x="122163" y="228295"/>
                </a:lnTo>
                <a:lnTo>
                  <a:pt x="94861" y="263884"/>
                </a:lnTo>
                <a:lnTo>
                  <a:pt x="70671" y="301350"/>
                </a:lnTo>
                <a:lnTo>
                  <a:pt x="49756" y="340551"/>
                </a:lnTo>
                <a:lnTo>
                  <a:pt x="32278" y="381342"/>
                </a:lnTo>
                <a:lnTo>
                  <a:pt x="18400" y="423580"/>
                </a:lnTo>
                <a:lnTo>
                  <a:pt x="8286" y="467121"/>
                </a:lnTo>
                <a:lnTo>
                  <a:pt x="2098" y="511823"/>
                </a:lnTo>
                <a:lnTo>
                  <a:pt x="0" y="557540"/>
                </a:lnTo>
                <a:lnTo>
                  <a:pt x="2098" y="603275"/>
                </a:lnTo>
                <a:lnTo>
                  <a:pt x="8286" y="647993"/>
                </a:lnTo>
                <a:lnTo>
                  <a:pt x="18400" y="691549"/>
                </a:lnTo>
                <a:lnTo>
                  <a:pt x="32278" y="733800"/>
                </a:lnTo>
                <a:lnTo>
                  <a:pt x="49756" y="774602"/>
                </a:lnTo>
                <a:lnTo>
                  <a:pt x="70671" y="813811"/>
                </a:lnTo>
                <a:lnTo>
                  <a:pt x="94861" y="851286"/>
                </a:lnTo>
                <a:lnTo>
                  <a:pt x="122163" y="886880"/>
                </a:lnTo>
                <a:lnTo>
                  <a:pt x="152414" y="920453"/>
                </a:lnTo>
                <a:lnTo>
                  <a:pt x="185451" y="951858"/>
                </a:lnTo>
                <a:lnTo>
                  <a:pt x="221111" y="980954"/>
                </a:lnTo>
                <a:lnTo>
                  <a:pt x="259232" y="1007597"/>
                </a:lnTo>
                <a:lnTo>
                  <a:pt x="299650" y="1031642"/>
                </a:lnTo>
                <a:lnTo>
                  <a:pt x="342202" y="1052948"/>
                </a:lnTo>
                <a:lnTo>
                  <a:pt x="386726" y="1071369"/>
                </a:lnTo>
                <a:lnTo>
                  <a:pt x="433059" y="1086763"/>
                </a:lnTo>
                <a:lnTo>
                  <a:pt x="481038" y="1098986"/>
                </a:lnTo>
                <a:lnTo>
                  <a:pt x="530500" y="1107894"/>
                </a:lnTo>
                <a:lnTo>
                  <a:pt x="581282" y="1113344"/>
                </a:lnTo>
                <a:lnTo>
                  <a:pt x="633222" y="1115193"/>
                </a:lnTo>
                <a:lnTo>
                  <a:pt x="685143" y="1113344"/>
                </a:lnTo>
                <a:lnTo>
                  <a:pt x="735910" y="1107894"/>
                </a:lnTo>
                <a:lnTo>
                  <a:pt x="785358" y="1098986"/>
                </a:lnTo>
                <a:lnTo>
                  <a:pt x="833324" y="1086763"/>
                </a:lnTo>
                <a:lnTo>
                  <a:pt x="879646" y="1071369"/>
                </a:lnTo>
                <a:lnTo>
                  <a:pt x="924161" y="1052948"/>
                </a:lnTo>
                <a:lnTo>
                  <a:pt x="966705" y="1031642"/>
                </a:lnTo>
                <a:lnTo>
                  <a:pt x="1007116" y="1007597"/>
                </a:lnTo>
                <a:lnTo>
                  <a:pt x="1045230" y="980954"/>
                </a:lnTo>
                <a:lnTo>
                  <a:pt x="1080885" y="951858"/>
                </a:lnTo>
                <a:lnTo>
                  <a:pt x="1113918" y="920453"/>
                </a:lnTo>
                <a:lnTo>
                  <a:pt x="1144166" y="886880"/>
                </a:lnTo>
                <a:lnTo>
                  <a:pt x="1171465" y="851286"/>
                </a:lnTo>
                <a:lnTo>
                  <a:pt x="1195653" y="813811"/>
                </a:lnTo>
                <a:lnTo>
                  <a:pt x="1216567" y="774602"/>
                </a:lnTo>
                <a:lnTo>
                  <a:pt x="1234044" y="733800"/>
                </a:lnTo>
                <a:lnTo>
                  <a:pt x="1247921" y="691549"/>
                </a:lnTo>
                <a:lnTo>
                  <a:pt x="1258035" y="647993"/>
                </a:lnTo>
                <a:lnTo>
                  <a:pt x="1264223" y="603275"/>
                </a:lnTo>
                <a:lnTo>
                  <a:pt x="1266322" y="557540"/>
                </a:lnTo>
                <a:lnTo>
                  <a:pt x="1264223" y="511823"/>
                </a:lnTo>
                <a:lnTo>
                  <a:pt x="1258035" y="467121"/>
                </a:lnTo>
                <a:lnTo>
                  <a:pt x="1247921" y="423580"/>
                </a:lnTo>
                <a:lnTo>
                  <a:pt x="1234044" y="381342"/>
                </a:lnTo>
                <a:lnTo>
                  <a:pt x="1216567" y="340551"/>
                </a:lnTo>
                <a:lnTo>
                  <a:pt x="1195653" y="301350"/>
                </a:lnTo>
                <a:lnTo>
                  <a:pt x="1171465" y="263884"/>
                </a:lnTo>
                <a:lnTo>
                  <a:pt x="1144166" y="228295"/>
                </a:lnTo>
                <a:lnTo>
                  <a:pt x="1113918" y="194728"/>
                </a:lnTo>
                <a:lnTo>
                  <a:pt x="1080885" y="163327"/>
                </a:lnTo>
                <a:lnTo>
                  <a:pt x="1045230" y="134234"/>
                </a:lnTo>
                <a:lnTo>
                  <a:pt x="1007116" y="107593"/>
                </a:lnTo>
                <a:lnTo>
                  <a:pt x="966705" y="83549"/>
                </a:lnTo>
                <a:lnTo>
                  <a:pt x="924161" y="62245"/>
                </a:lnTo>
                <a:lnTo>
                  <a:pt x="879646" y="43824"/>
                </a:lnTo>
                <a:lnTo>
                  <a:pt x="833324" y="28430"/>
                </a:lnTo>
                <a:lnTo>
                  <a:pt x="785358" y="16207"/>
                </a:lnTo>
                <a:lnTo>
                  <a:pt x="735910" y="7299"/>
                </a:lnTo>
                <a:lnTo>
                  <a:pt x="685143" y="1848"/>
                </a:lnTo>
                <a:lnTo>
                  <a:pt x="633222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0"/>
          <p:cNvSpPr txBox="1"/>
          <p:nvPr/>
        </p:nvSpPr>
        <p:spPr>
          <a:xfrm>
            <a:off x="6998915" y="2282585"/>
            <a:ext cx="8566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Outlook?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11"/>
          <p:cNvSpPr/>
          <p:nvPr/>
        </p:nvSpPr>
        <p:spPr>
          <a:xfrm>
            <a:off x="8086291" y="2011247"/>
            <a:ext cx="1952625" cy="1762760"/>
          </a:xfrm>
          <a:custGeom>
            <a:avLst/>
            <a:gdLst/>
            <a:ahLst/>
            <a:cxnLst/>
            <a:rect l="l" t="t" r="r" b="b"/>
            <a:pathLst>
              <a:path w="1952625" h="1762760">
                <a:moveTo>
                  <a:pt x="976243" y="0"/>
                </a:moveTo>
                <a:lnTo>
                  <a:pt x="926012" y="1146"/>
                </a:lnTo>
                <a:lnTo>
                  <a:pt x="876439" y="4550"/>
                </a:lnTo>
                <a:lnTo>
                  <a:pt x="827586" y="10155"/>
                </a:lnTo>
                <a:lnTo>
                  <a:pt x="779515" y="17905"/>
                </a:lnTo>
                <a:lnTo>
                  <a:pt x="732287" y="27747"/>
                </a:lnTo>
                <a:lnTo>
                  <a:pt x="685962" y="39623"/>
                </a:lnTo>
                <a:lnTo>
                  <a:pt x="640604" y="53480"/>
                </a:lnTo>
                <a:lnTo>
                  <a:pt x="596273" y="69261"/>
                </a:lnTo>
                <a:lnTo>
                  <a:pt x="553030" y="86911"/>
                </a:lnTo>
                <a:lnTo>
                  <a:pt x="510936" y="106375"/>
                </a:lnTo>
                <a:lnTo>
                  <a:pt x="470054" y="127597"/>
                </a:lnTo>
                <a:lnTo>
                  <a:pt x="430445" y="150522"/>
                </a:lnTo>
                <a:lnTo>
                  <a:pt x="392169" y="175095"/>
                </a:lnTo>
                <a:lnTo>
                  <a:pt x="355289" y="201260"/>
                </a:lnTo>
                <a:lnTo>
                  <a:pt x="319865" y="228962"/>
                </a:lnTo>
                <a:lnTo>
                  <a:pt x="285959" y="258145"/>
                </a:lnTo>
                <a:lnTo>
                  <a:pt x="253633" y="288754"/>
                </a:lnTo>
                <a:lnTo>
                  <a:pt x="222947" y="320735"/>
                </a:lnTo>
                <a:lnTo>
                  <a:pt x="193964" y="354030"/>
                </a:lnTo>
                <a:lnTo>
                  <a:pt x="166744" y="388586"/>
                </a:lnTo>
                <a:lnTo>
                  <a:pt x="141349" y="424346"/>
                </a:lnTo>
                <a:lnTo>
                  <a:pt x="117840" y="461256"/>
                </a:lnTo>
                <a:lnTo>
                  <a:pt x="96279" y="499259"/>
                </a:lnTo>
                <a:lnTo>
                  <a:pt x="76727" y="538302"/>
                </a:lnTo>
                <a:lnTo>
                  <a:pt x="59245" y="578327"/>
                </a:lnTo>
                <a:lnTo>
                  <a:pt x="43895" y="619280"/>
                </a:lnTo>
                <a:lnTo>
                  <a:pt x="30738" y="661105"/>
                </a:lnTo>
                <a:lnTo>
                  <a:pt x="19836" y="703748"/>
                </a:lnTo>
                <a:lnTo>
                  <a:pt x="11250" y="747152"/>
                </a:lnTo>
                <a:lnTo>
                  <a:pt x="5040" y="791262"/>
                </a:lnTo>
                <a:lnTo>
                  <a:pt x="1270" y="836024"/>
                </a:lnTo>
                <a:lnTo>
                  <a:pt x="0" y="881381"/>
                </a:lnTo>
                <a:lnTo>
                  <a:pt x="1270" y="926739"/>
                </a:lnTo>
                <a:lnTo>
                  <a:pt x="5040" y="971501"/>
                </a:lnTo>
                <a:lnTo>
                  <a:pt x="11250" y="1015612"/>
                </a:lnTo>
                <a:lnTo>
                  <a:pt x="19836" y="1059017"/>
                </a:lnTo>
                <a:lnTo>
                  <a:pt x="30738" y="1101660"/>
                </a:lnTo>
                <a:lnTo>
                  <a:pt x="43895" y="1143486"/>
                </a:lnTo>
                <a:lnTo>
                  <a:pt x="59245" y="1184440"/>
                </a:lnTo>
                <a:lnTo>
                  <a:pt x="76727" y="1224465"/>
                </a:lnTo>
                <a:lnTo>
                  <a:pt x="96279" y="1263508"/>
                </a:lnTo>
                <a:lnTo>
                  <a:pt x="117840" y="1301511"/>
                </a:lnTo>
                <a:lnTo>
                  <a:pt x="141349" y="1338421"/>
                </a:lnTo>
                <a:lnTo>
                  <a:pt x="166744" y="1374181"/>
                </a:lnTo>
                <a:lnTo>
                  <a:pt x="193964" y="1408737"/>
                </a:lnTo>
                <a:lnTo>
                  <a:pt x="222947" y="1442033"/>
                </a:lnTo>
                <a:lnTo>
                  <a:pt x="253633" y="1474013"/>
                </a:lnTo>
                <a:lnTo>
                  <a:pt x="285959" y="1504622"/>
                </a:lnTo>
                <a:lnTo>
                  <a:pt x="319865" y="1533805"/>
                </a:lnTo>
                <a:lnTo>
                  <a:pt x="355289" y="1561507"/>
                </a:lnTo>
                <a:lnTo>
                  <a:pt x="392169" y="1587672"/>
                </a:lnTo>
                <a:lnTo>
                  <a:pt x="430445" y="1612244"/>
                </a:lnTo>
                <a:lnTo>
                  <a:pt x="470054" y="1635169"/>
                </a:lnTo>
                <a:lnTo>
                  <a:pt x="510936" y="1656391"/>
                </a:lnTo>
                <a:lnTo>
                  <a:pt x="553030" y="1675855"/>
                </a:lnTo>
                <a:lnTo>
                  <a:pt x="596273" y="1693505"/>
                </a:lnTo>
                <a:lnTo>
                  <a:pt x="640604" y="1709285"/>
                </a:lnTo>
                <a:lnTo>
                  <a:pt x="685962" y="1723141"/>
                </a:lnTo>
                <a:lnTo>
                  <a:pt x="732287" y="1735018"/>
                </a:lnTo>
                <a:lnTo>
                  <a:pt x="779515" y="1744859"/>
                </a:lnTo>
                <a:lnTo>
                  <a:pt x="827586" y="1752610"/>
                </a:lnTo>
                <a:lnTo>
                  <a:pt x="876439" y="1758214"/>
                </a:lnTo>
                <a:lnTo>
                  <a:pt x="926012" y="1761618"/>
                </a:lnTo>
                <a:lnTo>
                  <a:pt x="976243" y="1762765"/>
                </a:lnTo>
                <a:lnTo>
                  <a:pt x="1026489" y="1761618"/>
                </a:lnTo>
                <a:lnTo>
                  <a:pt x="1076075" y="1758214"/>
                </a:lnTo>
                <a:lnTo>
                  <a:pt x="1124939" y="1752610"/>
                </a:lnTo>
                <a:lnTo>
                  <a:pt x="1173021" y="1744859"/>
                </a:lnTo>
                <a:lnTo>
                  <a:pt x="1220259" y="1735018"/>
                </a:lnTo>
                <a:lnTo>
                  <a:pt x="1266592" y="1723141"/>
                </a:lnTo>
                <a:lnTo>
                  <a:pt x="1311959" y="1709285"/>
                </a:lnTo>
                <a:lnTo>
                  <a:pt x="1356298" y="1693505"/>
                </a:lnTo>
                <a:lnTo>
                  <a:pt x="1399547" y="1675855"/>
                </a:lnTo>
                <a:lnTo>
                  <a:pt x="1441646" y="1656391"/>
                </a:lnTo>
                <a:lnTo>
                  <a:pt x="1482534" y="1635169"/>
                </a:lnTo>
                <a:lnTo>
                  <a:pt x="1522148" y="1612244"/>
                </a:lnTo>
                <a:lnTo>
                  <a:pt x="1560427" y="1587672"/>
                </a:lnTo>
                <a:lnTo>
                  <a:pt x="1597311" y="1561507"/>
                </a:lnTo>
                <a:lnTo>
                  <a:pt x="1632738" y="1533805"/>
                </a:lnTo>
                <a:lnTo>
                  <a:pt x="1666646" y="1504622"/>
                </a:lnTo>
                <a:lnTo>
                  <a:pt x="1698974" y="1474013"/>
                </a:lnTo>
                <a:lnTo>
                  <a:pt x="1729661" y="1442033"/>
                </a:lnTo>
                <a:lnTo>
                  <a:pt x="1758646" y="1408737"/>
                </a:lnTo>
                <a:lnTo>
                  <a:pt x="1785867" y="1374181"/>
                </a:lnTo>
                <a:lnTo>
                  <a:pt x="1811262" y="1338421"/>
                </a:lnTo>
                <a:lnTo>
                  <a:pt x="1834771" y="1301511"/>
                </a:lnTo>
                <a:lnTo>
                  <a:pt x="1856332" y="1263508"/>
                </a:lnTo>
                <a:lnTo>
                  <a:pt x="1875884" y="1224465"/>
                </a:lnTo>
                <a:lnTo>
                  <a:pt x="1893366" y="1184440"/>
                </a:lnTo>
                <a:lnTo>
                  <a:pt x="1908716" y="1143486"/>
                </a:lnTo>
                <a:lnTo>
                  <a:pt x="1921872" y="1101660"/>
                </a:lnTo>
                <a:lnTo>
                  <a:pt x="1932774" y="1059017"/>
                </a:lnTo>
                <a:lnTo>
                  <a:pt x="1941360" y="1015612"/>
                </a:lnTo>
                <a:lnTo>
                  <a:pt x="1947569" y="971501"/>
                </a:lnTo>
                <a:lnTo>
                  <a:pt x="1951339" y="926739"/>
                </a:lnTo>
                <a:lnTo>
                  <a:pt x="1952609" y="881381"/>
                </a:lnTo>
                <a:lnTo>
                  <a:pt x="1951339" y="836024"/>
                </a:lnTo>
                <a:lnTo>
                  <a:pt x="1947569" y="791262"/>
                </a:lnTo>
                <a:lnTo>
                  <a:pt x="1941360" y="747152"/>
                </a:lnTo>
                <a:lnTo>
                  <a:pt x="1932774" y="703748"/>
                </a:lnTo>
                <a:lnTo>
                  <a:pt x="1921872" y="661105"/>
                </a:lnTo>
                <a:lnTo>
                  <a:pt x="1908716" y="619280"/>
                </a:lnTo>
                <a:lnTo>
                  <a:pt x="1893366" y="578327"/>
                </a:lnTo>
                <a:lnTo>
                  <a:pt x="1875884" y="538302"/>
                </a:lnTo>
                <a:lnTo>
                  <a:pt x="1856332" y="499259"/>
                </a:lnTo>
                <a:lnTo>
                  <a:pt x="1834771" y="461256"/>
                </a:lnTo>
                <a:lnTo>
                  <a:pt x="1811262" y="424346"/>
                </a:lnTo>
                <a:lnTo>
                  <a:pt x="1785867" y="388586"/>
                </a:lnTo>
                <a:lnTo>
                  <a:pt x="1758646" y="354030"/>
                </a:lnTo>
                <a:lnTo>
                  <a:pt x="1729661" y="320735"/>
                </a:lnTo>
                <a:lnTo>
                  <a:pt x="1698974" y="288754"/>
                </a:lnTo>
                <a:lnTo>
                  <a:pt x="1666646" y="258145"/>
                </a:lnTo>
                <a:lnTo>
                  <a:pt x="1632738" y="228962"/>
                </a:lnTo>
                <a:lnTo>
                  <a:pt x="1597311" y="201260"/>
                </a:lnTo>
                <a:lnTo>
                  <a:pt x="1560427" y="175095"/>
                </a:lnTo>
                <a:lnTo>
                  <a:pt x="1522148" y="150522"/>
                </a:lnTo>
                <a:lnTo>
                  <a:pt x="1482534" y="127597"/>
                </a:lnTo>
                <a:lnTo>
                  <a:pt x="1441646" y="106375"/>
                </a:lnTo>
                <a:lnTo>
                  <a:pt x="1399547" y="86911"/>
                </a:lnTo>
                <a:lnTo>
                  <a:pt x="1356298" y="69261"/>
                </a:lnTo>
                <a:lnTo>
                  <a:pt x="1311959" y="53480"/>
                </a:lnTo>
                <a:lnTo>
                  <a:pt x="1266592" y="39623"/>
                </a:lnTo>
                <a:lnTo>
                  <a:pt x="1220259" y="27747"/>
                </a:lnTo>
                <a:lnTo>
                  <a:pt x="1173021" y="17905"/>
                </a:lnTo>
                <a:lnTo>
                  <a:pt x="1124939" y="10155"/>
                </a:lnTo>
                <a:lnTo>
                  <a:pt x="1076075" y="4550"/>
                </a:lnTo>
                <a:lnTo>
                  <a:pt x="1026489" y="1146"/>
                </a:lnTo>
                <a:lnTo>
                  <a:pt x="97624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3"/>
          <p:cNvSpPr txBox="1"/>
          <p:nvPr/>
        </p:nvSpPr>
        <p:spPr>
          <a:xfrm>
            <a:off x="8427666" y="2760487"/>
            <a:ext cx="12846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Temperature?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4"/>
          <p:cNvSpPr/>
          <p:nvPr/>
        </p:nvSpPr>
        <p:spPr>
          <a:xfrm>
            <a:off x="6792019" y="3068269"/>
            <a:ext cx="1454785" cy="1296670"/>
          </a:xfrm>
          <a:custGeom>
            <a:avLst/>
            <a:gdLst/>
            <a:ahLst/>
            <a:cxnLst/>
            <a:rect l="l" t="t" r="r" b="b"/>
            <a:pathLst>
              <a:path w="1454785" h="1296670">
                <a:moveTo>
                  <a:pt x="727100" y="0"/>
                </a:moveTo>
                <a:lnTo>
                  <a:pt x="677317" y="1494"/>
                </a:lnTo>
                <a:lnTo>
                  <a:pt x="628435" y="5914"/>
                </a:lnTo>
                <a:lnTo>
                  <a:pt x="580562" y="13163"/>
                </a:lnTo>
                <a:lnTo>
                  <a:pt x="533805" y="23143"/>
                </a:lnTo>
                <a:lnTo>
                  <a:pt x="488274" y="35760"/>
                </a:lnTo>
                <a:lnTo>
                  <a:pt x="444076" y="50915"/>
                </a:lnTo>
                <a:lnTo>
                  <a:pt x="401321" y="68514"/>
                </a:lnTo>
                <a:lnTo>
                  <a:pt x="360115" y="88459"/>
                </a:lnTo>
                <a:lnTo>
                  <a:pt x="320568" y="110653"/>
                </a:lnTo>
                <a:lnTo>
                  <a:pt x="282787" y="135001"/>
                </a:lnTo>
                <a:lnTo>
                  <a:pt x="246882" y="161406"/>
                </a:lnTo>
                <a:lnTo>
                  <a:pt x="212959" y="189772"/>
                </a:lnTo>
                <a:lnTo>
                  <a:pt x="181129" y="220001"/>
                </a:lnTo>
                <a:lnTo>
                  <a:pt x="151498" y="251998"/>
                </a:lnTo>
                <a:lnTo>
                  <a:pt x="124175" y="285666"/>
                </a:lnTo>
                <a:lnTo>
                  <a:pt x="99268" y="320909"/>
                </a:lnTo>
                <a:lnTo>
                  <a:pt x="76887" y="357630"/>
                </a:lnTo>
                <a:lnTo>
                  <a:pt x="57138" y="395733"/>
                </a:lnTo>
                <a:lnTo>
                  <a:pt x="40130" y="435120"/>
                </a:lnTo>
                <a:lnTo>
                  <a:pt x="25972" y="475697"/>
                </a:lnTo>
                <a:lnTo>
                  <a:pt x="14771" y="517366"/>
                </a:lnTo>
                <a:lnTo>
                  <a:pt x="6637" y="560031"/>
                </a:lnTo>
                <a:lnTo>
                  <a:pt x="1677" y="603595"/>
                </a:lnTo>
                <a:lnTo>
                  <a:pt x="0" y="647962"/>
                </a:lnTo>
                <a:lnTo>
                  <a:pt x="1677" y="692343"/>
                </a:lnTo>
                <a:lnTo>
                  <a:pt x="6637" y="735920"/>
                </a:lnTo>
                <a:lnTo>
                  <a:pt x="14771" y="778597"/>
                </a:lnTo>
                <a:lnTo>
                  <a:pt x="25972" y="820276"/>
                </a:lnTo>
                <a:lnTo>
                  <a:pt x="40130" y="860863"/>
                </a:lnTo>
                <a:lnTo>
                  <a:pt x="57138" y="900259"/>
                </a:lnTo>
                <a:lnTo>
                  <a:pt x="76887" y="938370"/>
                </a:lnTo>
                <a:lnTo>
                  <a:pt x="99268" y="975098"/>
                </a:lnTo>
                <a:lnTo>
                  <a:pt x="124175" y="1010347"/>
                </a:lnTo>
                <a:lnTo>
                  <a:pt x="151498" y="1044020"/>
                </a:lnTo>
                <a:lnTo>
                  <a:pt x="181129" y="1076022"/>
                </a:lnTo>
                <a:lnTo>
                  <a:pt x="212959" y="1106256"/>
                </a:lnTo>
                <a:lnTo>
                  <a:pt x="246882" y="1134624"/>
                </a:lnTo>
                <a:lnTo>
                  <a:pt x="282787" y="1161032"/>
                </a:lnTo>
                <a:lnTo>
                  <a:pt x="320568" y="1185383"/>
                </a:lnTo>
                <a:lnTo>
                  <a:pt x="360115" y="1207579"/>
                </a:lnTo>
                <a:lnTo>
                  <a:pt x="401321" y="1227525"/>
                </a:lnTo>
                <a:lnTo>
                  <a:pt x="444076" y="1245125"/>
                </a:lnTo>
                <a:lnTo>
                  <a:pt x="488274" y="1260281"/>
                </a:lnTo>
                <a:lnTo>
                  <a:pt x="533805" y="1272898"/>
                </a:lnTo>
                <a:lnTo>
                  <a:pt x="580562" y="1282879"/>
                </a:lnTo>
                <a:lnTo>
                  <a:pt x="628435" y="1290128"/>
                </a:lnTo>
                <a:lnTo>
                  <a:pt x="677317" y="1294548"/>
                </a:lnTo>
                <a:lnTo>
                  <a:pt x="727100" y="1296043"/>
                </a:lnTo>
                <a:lnTo>
                  <a:pt x="776882" y="1294548"/>
                </a:lnTo>
                <a:lnTo>
                  <a:pt x="825764" y="1290128"/>
                </a:lnTo>
                <a:lnTo>
                  <a:pt x="873637" y="1282879"/>
                </a:lnTo>
                <a:lnTo>
                  <a:pt x="920392" y="1272898"/>
                </a:lnTo>
                <a:lnTo>
                  <a:pt x="965922" y="1260281"/>
                </a:lnTo>
                <a:lnTo>
                  <a:pt x="1010119" y="1245125"/>
                </a:lnTo>
                <a:lnTo>
                  <a:pt x="1052873" y="1227525"/>
                </a:lnTo>
                <a:lnTo>
                  <a:pt x="1094077" y="1207579"/>
                </a:lnTo>
                <a:lnTo>
                  <a:pt x="1133622" y="1185383"/>
                </a:lnTo>
                <a:lnTo>
                  <a:pt x="1171401" y="1161032"/>
                </a:lnTo>
                <a:lnTo>
                  <a:pt x="1207305" y="1134624"/>
                </a:lnTo>
                <a:lnTo>
                  <a:pt x="1241225" y="1106256"/>
                </a:lnTo>
                <a:lnTo>
                  <a:pt x="1273054" y="1076022"/>
                </a:lnTo>
                <a:lnTo>
                  <a:pt x="1302683" y="1044020"/>
                </a:lnTo>
                <a:lnTo>
                  <a:pt x="1330004" y="1010347"/>
                </a:lnTo>
                <a:lnTo>
                  <a:pt x="1354909" y="975098"/>
                </a:lnTo>
                <a:lnTo>
                  <a:pt x="1377289" y="938370"/>
                </a:lnTo>
                <a:lnTo>
                  <a:pt x="1397037" y="900259"/>
                </a:lnTo>
                <a:lnTo>
                  <a:pt x="1414043" y="860863"/>
                </a:lnTo>
                <a:lnTo>
                  <a:pt x="1428200" y="820276"/>
                </a:lnTo>
                <a:lnTo>
                  <a:pt x="1439399" y="778597"/>
                </a:lnTo>
                <a:lnTo>
                  <a:pt x="1447533" y="735920"/>
                </a:lnTo>
                <a:lnTo>
                  <a:pt x="1452493" y="692343"/>
                </a:lnTo>
                <a:lnTo>
                  <a:pt x="1454170" y="647962"/>
                </a:lnTo>
                <a:lnTo>
                  <a:pt x="1452493" y="603595"/>
                </a:lnTo>
                <a:lnTo>
                  <a:pt x="1447533" y="560031"/>
                </a:lnTo>
                <a:lnTo>
                  <a:pt x="1439399" y="517366"/>
                </a:lnTo>
                <a:lnTo>
                  <a:pt x="1428200" y="475697"/>
                </a:lnTo>
                <a:lnTo>
                  <a:pt x="1414043" y="435120"/>
                </a:lnTo>
                <a:lnTo>
                  <a:pt x="1397037" y="395733"/>
                </a:lnTo>
                <a:lnTo>
                  <a:pt x="1377289" y="357630"/>
                </a:lnTo>
                <a:lnTo>
                  <a:pt x="1354909" y="320909"/>
                </a:lnTo>
                <a:lnTo>
                  <a:pt x="1330004" y="285666"/>
                </a:lnTo>
                <a:lnTo>
                  <a:pt x="1302683" y="251998"/>
                </a:lnTo>
                <a:lnTo>
                  <a:pt x="1273054" y="220001"/>
                </a:lnTo>
                <a:lnTo>
                  <a:pt x="1241225" y="189772"/>
                </a:lnTo>
                <a:lnTo>
                  <a:pt x="1207305" y="161406"/>
                </a:lnTo>
                <a:lnTo>
                  <a:pt x="1171401" y="135001"/>
                </a:lnTo>
                <a:lnTo>
                  <a:pt x="1133622" y="110653"/>
                </a:lnTo>
                <a:lnTo>
                  <a:pt x="1094077" y="88459"/>
                </a:lnTo>
                <a:lnTo>
                  <a:pt x="1052873" y="68514"/>
                </a:lnTo>
                <a:lnTo>
                  <a:pt x="1010119" y="50915"/>
                </a:lnTo>
                <a:lnTo>
                  <a:pt x="965922" y="35760"/>
                </a:lnTo>
                <a:lnTo>
                  <a:pt x="920392" y="23143"/>
                </a:lnTo>
                <a:lnTo>
                  <a:pt x="873637" y="13163"/>
                </a:lnTo>
                <a:lnTo>
                  <a:pt x="825764" y="5914"/>
                </a:lnTo>
                <a:lnTo>
                  <a:pt x="776882" y="1494"/>
                </a:lnTo>
                <a:lnTo>
                  <a:pt x="72710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6"/>
          <p:cNvSpPr txBox="1"/>
          <p:nvPr/>
        </p:nvSpPr>
        <p:spPr>
          <a:xfrm>
            <a:off x="7058859" y="3585733"/>
            <a:ext cx="9328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500" b="1" spc="-6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500" b="1" spc="-4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500" b="1" spc="-4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00" b="1" spc="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7"/>
          <p:cNvSpPr/>
          <p:nvPr/>
        </p:nvSpPr>
        <p:spPr>
          <a:xfrm>
            <a:off x="8485457" y="3899111"/>
            <a:ext cx="1075055" cy="930910"/>
          </a:xfrm>
          <a:custGeom>
            <a:avLst/>
            <a:gdLst/>
            <a:ahLst/>
            <a:cxnLst/>
            <a:rect l="l" t="t" r="r" b="b"/>
            <a:pathLst>
              <a:path w="1075054" h="930910">
                <a:moveTo>
                  <a:pt x="537453" y="0"/>
                </a:moveTo>
                <a:lnTo>
                  <a:pt x="485700" y="2129"/>
                </a:lnTo>
                <a:lnTo>
                  <a:pt x="435337" y="8388"/>
                </a:lnTo>
                <a:lnTo>
                  <a:pt x="386589" y="18581"/>
                </a:lnTo>
                <a:lnTo>
                  <a:pt x="339683" y="32513"/>
                </a:lnTo>
                <a:lnTo>
                  <a:pt x="294843" y="49989"/>
                </a:lnTo>
                <a:lnTo>
                  <a:pt x="252296" y="70815"/>
                </a:lnTo>
                <a:lnTo>
                  <a:pt x="212265" y="94795"/>
                </a:lnTo>
                <a:lnTo>
                  <a:pt x="174977" y="121734"/>
                </a:lnTo>
                <a:lnTo>
                  <a:pt x="140658" y="151439"/>
                </a:lnTo>
                <a:lnTo>
                  <a:pt x="109532" y="183712"/>
                </a:lnTo>
                <a:lnTo>
                  <a:pt x="81824" y="218360"/>
                </a:lnTo>
                <a:lnTo>
                  <a:pt x="57762" y="255188"/>
                </a:lnTo>
                <a:lnTo>
                  <a:pt x="37568" y="294001"/>
                </a:lnTo>
                <a:lnTo>
                  <a:pt x="21470" y="334604"/>
                </a:lnTo>
                <a:lnTo>
                  <a:pt x="9692" y="376801"/>
                </a:lnTo>
                <a:lnTo>
                  <a:pt x="2460" y="420398"/>
                </a:lnTo>
                <a:lnTo>
                  <a:pt x="0" y="465201"/>
                </a:lnTo>
                <a:lnTo>
                  <a:pt x="2460" y="509999"/>
                </a:lnTo>
                <a:lnTo>
                  <a:pt x="9692" y="553592"/>
                </a:lnTo>
                <a:lnTo>
                  <a:pt x="21470" y="595787"/>
                </a:lnTo>
                <a:lnTo>
                  <a:pt x="37568" y="636386"/>
                </a:lnTo>
                <a:lnTo>
                  <a:pt x="57762" y="675197"/>
                </a:lnTo>
                <a:lnTo>
                  <a:pt x="81824" y="712023"/>
                </a:lnTo>
                <a:lnTo>
                  <a:pt x="109532" y="746669"/>
                </a:lnTo>
                <a:lnTo>
                  <a:pt x="140658" y="778942"/>
                </a:lnTo>
                <a:lnTo>
                  <a:pt x="174977" y="808645"/>
                </a:lnTo>
                <a:lnTo>
                  <a:pt x="212265" y="835583"/>
                </a:lnTo>
                <a:lnTo>
                  <a:pt x="252296" y="859563"/>
                </a:lnTo>
                <a:lnTo>
                  <a:pt x="294843" y="880388"/>
                </a:lnTo>
                <a:lnTo>
                  <a:pt x="339683" y="897864"/>
                </a:lnTo>
                <a:lnTo>
                  <a:pt x="386589" y="911796"/>
                </a:lnTo>
                <a:lnTo>
                  <a:pt x="435337" y="921989"/>
                </a:lnTo>
                <a:lnTo>
                  <a:pt x="485700" y="928248"/>
                </a:lnTo>
                <a:lnTo>
                  <a:pt x="537453" y="930377"/>
                </a:lnTo>
                <a:lnTo>
                  <a:pt x="589210" y="928248"/>
                </a:lnTo>
                <a:lnTo>
                  <a:pt x="639574" y="921989"/>
                </a:lnTo>
                <a:lnTo>
                  <a:pt x="688318" y="911796"/>
                </a:lnTo>
                <a:lnTo>
                  <a:pt x="735219" y="897864"/>
                </a:lnTo>
                <a:lnTo>
                  <a:pt x="780051" y="880388"/>
                </a:lnTo>
                <a:lnTo>
                  <a:pt x="822590" y="859563"/>
                </a:lnTo>
                <a:lnTo>
                  <a:pt x="862610" y="835583"/>
                </a:lnTo>
                <a:lnTo>
                  <a:pt x="899886" y="808645"/>
                </a:lnTo>
                <a:lnTo>
                  <a:pt x="934193" y="778942"/>
                </a:lnTo>
                <a:lnTo>
                  <a:pt x="965307" y="746669"/>
                </a:lnTo>
                <a:lnTo>
                  <a:pt x="993003" y="712023"/>
                </a:lnTo>
                <a:lnTo>
                  <a:pt x="1017054" y="675197"/>
                </a:lnTo>
                <a:lnTo>
                  <a:pt x="1037238" y="636386"/>
                </a:lnTo>
                <a:lnTo>
                  <a:pt x="1053327" y="595787"/>
                </a:lnTo>
                <a:lnTo>
                  <a:pt x="1065098" y="553592"/>
                </a:lnTo>
                <a:lnTo>
                  <a:pt x="1072326" y="509999"/>
                </a:lnTo>
                <a:lnTo>
                  <a:pt x="1074785" y="465201"/>
                </a:lnTo>
                <a:lnTo>
                  <a:pt x="1072326" y="420398"/>
                </a:lnTo>
                <a:lnTo>
                  <a:pt x="1065098" y="376801"/>
                </a:lnTo>
                <a:lnTo>
                  <a:pt x="1053327" y="334604"/>
                </a:lnTo>
                <a:lnTo>
                  <a:pt x="1037238" y="294001"/>
                </a:lnTo>
                <a:lnTo>
                  <a:pt x="1017054" y="255188"/>
                </a:lnTo>
                <a:lnTo>
                  <a:pt x="993003" y="218360"/>
                </a:lnTo>
                <a:lnTo>
                  <a:pt x="965307" y="183712"/>
                </a:lnTo>
                <a:lnTo>
                  <a:pt x="934193" y="151439"/>
                </a:lnTo>
                <a:lnTo>
                  <a:pt x="899886" y="121734"/>
                </a:lnTo>
                <a:lnTo>
                  <a:pt x="862610" y="94795"/>
                </a:lnTo>
                <a:lnTo>
                  <a:pt x="822590" y="70815"/>
                </a:lnTo>
                <a:lnTo>
                  <a:pt x="780051" y="49989"/>
                </a:lnTo>
                <a:lnTo>
                  <a:pt x="735219" y="32513"/>
                </a:lnTo>
                <a:lnTo>
                  <a:pt x="688318" y="18581"/>
                </a:lnTo>
                <a:lnTo>
                  <a:pt x="639574" y="8388"/>
                </a:lnTo>
                <a:lnTo>
                  <a:pt x="589210" y="2129"/>
                </a:lnTo>
                <a:lnTo>
                  <a:pt x="53745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9"/>
          <p:cNvSpPr txBox="1"/>
          <p:nvPr/>
        </p:nvSpPr>
        <p:spPr>
          <a:xfrm>
            <a:off x="8679508" y="4234319"/>
            <a:ext cx="70421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500" b="1" spc="-4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2"/>
          <p:cNvSpPr/>
          <p:nvPr/>
        </p:nvSpPr>
        <p:spPr>
          <a:xfrm>
            <a:off x="8086290" y="2006424"/>
            <a:ext cx="1952625" cy="1762760"/>
          </a:xfrm>
          <a:custGeom>
            <a:avLst/>
            <a:gdLst/>
            <a:ahLst/>
            <a:cxnLst/>
            <a:rect l="l" t="t" r="r" b="b"/>
            <a:pathLst>
              <a:path w="1952625" h="1762760">
                <a:moveTo>
                  <a:pt x="0" y="881380"/>
                </a:moveTo>
                <a:lnTo>
                  <a:pt x="1270" y="836024"/>
                </a:lnTo>
                <a:lnTo>
                  <a:pt x="5040" y="791262"/>
                </a:lnTo>
                <a:lnTo>
                  <a:pt x="11250" y="747152"/>
                </a:lnTo>
                <a:lnTo>
                  <a:pt x="19836" y="703748"/>
                </a:lnTo>
                <a:lnTo>
                  <a:pt x="30738" y="661105"/>
                </a:lnTo>
                <a:lnTo>
                  <a:pt x="43895" y="619280"/>
                </a:lnTo>
                <a:lnTo>
                  <a:pt x="59245" y="578327"/>
                </a:lnTo>
                <a:lnTo>
                  <a:pt x="76727" y="538301"/>
                </a:lnTo>
                <a:lnTo>
                  <a:pt x="96279" y="499259"/>
                </a:lnTo>
                <a:lnTo>
                  <a:pt x="117840" y="461256"/>
                </a:lnTo>
                <a:lnTo>
                  <a:pt x="141349" y="424346"/>
                </a:lnTo>
                <a:lnTo>
                  <a:pt x="166744" y="388586"/>
                </a:lnTo>
                <a:lnTo>
                  <a:pt x="193964" y="354030"/>
                </a:lnTo>
                <a:lnTo>
                  <a:pt x="222947" y="320735"/>
                </a:lnTo>
                <a:lnTo>
                  <a:pt x="253633" y="288754"/>
                </a:lnTo>
                <a:lnTo>
                  <a:pt x="285959" y="258145"/>
                </a:lnTo>
                <a:lnTo>
                  <a:pt x="319865" y="228962"/>
                </a:lnTo>
                <a:lnTo>
                  <a:pt x="355289" y="201260"/>
                </a:lnTo>
                <a:lnTo>
                  <a:pt x="392169" y="175095"/>
                </a:lnTo>
                <a:lnTo>
                  <a:pt x="430445" y="150522"/>
                </a:lnTo>
                <a:lnTo>
                  <a:pt x="470054" y="127597"/>
                </a:lnTo>
                <a:lnTo>
                  <a:pt x="510936" y="106375"/>
                </a:lnTo>
                <a:lnTo>
                  <a:pt x="553030" y="86911"/>
                </a:lnTo>
                <a:lnTo>
                  <a:pt x="596273" y="69261"/>
                </a:lnTo>
                <a:lnTo>
                  <a:pt x="640604" y="53480"/>
                </a:lnTo>
                <a:lnTo>
                  <a:pt x="685962" y="39623"/>
                </a:lnTo>
                <a:lnTo>
                  <a:pt x="732286" y="27747"/>
                </a:lnTo>
                <a:lnTo>
                  <a:pt x="779515" y="17905"/>
                </a:lnTo>
                <a:lnTo>
                  <a:pt x="827586" y="10155"/>
                </a:lnTo>
                <a:lnTo>
                  <a:pt x="876439" y="4550"/>
                </a:lnTo>
                <a:lnTo>
                  <a:pt x="926012" y="1146"/>
                </a:lnTo>
                <a:lnTo>
                  <a:pt x="976243" y="0"/>
                </a:lnTo>
                <a:lnTo>
                  <a:pt x="1026489" y="1146"/>
                </a:lnTo>
                <a:lnTo>
                  <a:pt x="1076074" y="4550"/>
                </a:lnTo>
                <a:lnTo>
                  <a:pt x="1124939" y="10155"/>
                </a:lnTo>
                <a:lnTo>
                  <a:pt x="1173021" y="17905"/>
                </a:lnTo>
                <a:lnTo>
                  <a:pt x="1220259" y="27747"/>
                </a:lnTo>
                <a:lnTo>
                  <a:pt x="1266592" y="39623"/>
                </a:lnTo>
                <a:lnTo>
                  <a:pt x="1311959" y="53480"/>
                </a:lnTo>
                <a:lnTo>
                  <a:pt x="1356298" y="69261"/>
                </a:lnTo>
                <a:lnTo>
                  <a:pt x="1399547" y="86911"/>
                </a:lnTo>
                <a:lnTo>
                  <a:pt x="1441646" y="106375"/>
                </a:lnTo>
                <a:lnTo>
                  <a:pt x="1482534" y="127597"/>
                </a:lnTo>
                <a:lnTo>
                  <a:pt x="1522148" y="150522"/>
                </a:lnTo>
                <a:lnTo>
                  <a:pt x="1560427" y="175095"/>
                </a:lnTo>
                <a:lnTo>
                  <a:pt x="1597311" y="201260"/>
                </a:lnTo>
                <a:lnTo>
                  <a:pt x="1632738" y="228962"/>
                </a:lnTo>
                <a:lnTo>
                  <a:pt x="1666646" y="258145"/>
                </a:lnTo>
                <a:lnTo>
                  <a:pt x="1698974" y="288754"/>
                </a:lnTo>
                <a:lnTo>
                  <a:pt x="1729661" y="320735"/>
                </a:lnTo>
                <a:lnTo>
                  <a:pt x="1758646" y="354030"/>
                </a:lnTo>
                <a:lnTo>
                  <a:pt x="1785867" y="388586"/>
                </a:lnTo>
                <a:lnTo>
                  <a:pt x="1811262" y="424346"/>
                </a:lnTo>
                <a:lnTo>
                  <a:pt x="1834771" y="461256"/>
                </a:lnTo>
                <a:lnTo>
                  <a:pt x="1856332" y="499259"/>
                </a:lnTo>
                <a:lnTo>
                  <a:pt x="1875884" y="538301"/>
                </a:lnTo>
                <a:lnTo>
                  <a:pt x="1893366" y="578327"/>
                </a:lnTo>
                <a:lnTo>
                  <a:pt x="1908715" y="619280"/>
                </a:lnTo>
                <a:lnTo>
                  <a:pt x="1921872" y="661105"/>
                </a:lnTo>
                <a:lnTo>
                  <a:pt x="1932774" y="703748"/>
                </a:lnTo>
                <a:lnTo>
                  <a:pt x="1941360" y="747152"/>
                </a:lnTo>
                <a:lnTo>
                  <a:pt x="1947569" y="791262"/>
                </a:lnTo>
                <a:lnTo>
                  <a:pt x="1951339" y="836024"/>
                </a:lnTo>
                <a:lnTo>
                  <a:pt x="1952609" y="881380"/>
                </a:lnTo>
                <a:lnTo>
                  <a:pt x="1951339" y="926739"/>
                </a:lnTo>
                <a:lnTo>
                  <a:pt x="1947569" y="971501"/>
                </a:lnTo>
                <a:lnTo>
                  <a:pt x="1941360" y="1015612"/>
                </a:lnTo>
                <a:lnTo>
                  <a:pt x="1932774" y="1059017"/>
                </a:lnTo>
                <a:lnTo>
                  <a:pt x="1921872" y="1101660"/>
                </a:lnTo>
                <a:lnTo>
                  <a:pt x="1908715" y="1143486"/>
                </a:lnTo>
                <a:lnTo>
                  <a:pt x="1893366" y="1184440"/>
                </a:lnTo>
                <a:lnTo>
                  <a:pt x="1875884" y="1224465"/>
                </a:lnTo>
                <a:lnTo>
                  <a:pt x="1856332" y="1263507"/>
                </a:lnTo>
                <a:lnTo>
                  <a:pt x="1834771" y="1301511"/>
                </a:lnTo>
                <a:lnTo>
                  <a:pt x="1811262" y="1338421"/>
                </a:lnTo>
                <a:lnTo>
                  <a:pt x="1785867" y="1374181"/>
                </a:lnTo>
                <a:lnTo>
                  <a:pt x="1758646" y="1408737"/>
                </a:lnTo>
                <a:lnTo>
                  <a:pt x="1729661" y="1442033"/>
                </a:lnTo>
                <a:lnTo>
                  <a:pt x="1698974" y="1474013"/>
                </a:lnTo>
                <a:lnTo>
                  <a:pt x="1666646" y="1504622"/>
                </a:lnTo>
                <a:lnTo>
                  <a:pt x="1632738" y="1533805"/>
                </a:lnTo>
                <a:lnTo>
                  <a:pt x="1597311" y="1561507"/>
                </a:lnTo>
                <a:lnTo>
                  <a:pt x="1560427" y="1587672"/>
                </a:lnTo>
                <a:lnTo>
                  <a:pt x="1522148" y="1612244"/>
                </a:lnTo>
                <a:lnTo>
                  <a:pt x="1482534" y="1635169"/>
                </a:lnTo>
                <a:lnTo>
                  <a:pt x="1441646" y="1656391"/>
                </a:lnTo>
                <a:lnTo>
                  <a:pt x="1399547" y="1675855"/>
                </a:lnTo>
                <a:lnTo>
                  <a:pt x="1356298" y="1693504"/>
                </a:lnTo>
                <a:lnTo>
                  <a:pt x="1311959" y="1709285"/>
                </a:lnTo>
                <a:lnTo>
                  <a:pt x="1266592" y="1723141"/>
                </a:lnTo>
                <a:lnTo>
                  <a:pt x="1220259" y="1735018"/>
                </a:lnTo>
                <a:lnTo>
                  <a:pt x="1173021" y="1744859"/>
                </a:lnTo>
                <a:lnTo>
                  <a:pt x="1124939" y="1752610"/>
                </a:lnTo>
                <a:lnTo>
                  <a:pt x="1076074" y="1758214"/>
                </a:lnTo>
                <a:lnTo>
                  <a:pt x="1026489" y="1761618"/>
                </a:lnTo>
                <a:lnTo>
                  <a:pt x="976243" y="1762765"/>
                </a:lnTo>
                <a:lnTo>
                  <a:pt x="926012" y="1761618"/>
                </a:lnTo>
                <a:lnTo>
                  <a:pt x="876439" y="1758214"/>
                </a:lnTo>
                <a:lnTo>
                  <a:pt x="827586" y="1752610"/>
                </a:lnTo>
                <a:lnTo>
                  <a:pt x="779515" y="1744859"/>
                </a:lnTo>
                <a:lnTo>
                  <a:pt x="732286" y="1735018"/>
                </a:lnTo>
                <a:lnTo>
                  <a:pt x="685962" y="1723141"/>
                </a:lnTo>
                <a:lnTo>
                  <a:pt x="640604" y="1709285"/>
                </a:lnTo>
                <a:lnTo>
                  <a:pt x="596273" y="1693504"/>
                </a:lnTo>
                <a:lnTo>
                  <a:pt x="553030" y="1675855"/>
                </a:lnTo>
                <a:lnTo>
                  <a:pt x="510936" y="1656391"/>
                </a:lnTo>
                <a:lnTo>
                  <a:pt x="470054" y="1635169"/>
                </a:lnTo>
                <a:lnTo>
                  <a:pt x="430445" y="1612244"/>
                </a:lnTo>
                <a:lnTo>
                  <a:pt x="392169" y="1587672"/>
                </a:lnTo>
                <a:lnTo>
                  <a:pt x="355289" y="1561507"/>
                </a:lnTo>
                <a:lnTo>
                  <a:pt x="319865" y="1533805"/>
                </a:lnTo>
                <a:lnTo>
                  <a:pt x="285959" y="1504622"/>
                </a:lnTo>
                <a:lnTo>
                  <a:pt x="253633" y="1474013"/>
                </a:lnTo>
                <a:lnTo>
                  <a:pt x="222947" y="1442033"/>
                </a:lnTo>
                <a:lnTo>
                  <a:pt x="193964" y="1408737"/>
                </a:lnTo>
                <a:lnTo>
                  <a:pt x="166744" y="1374181"/>
                </a:lnTo>
                <a:lnTo>
                  <a:pt x="141349" y="1338421"/>
                </a:lnTo>
                <a:lnTo>
                  <a:pt x="117840" y="1301511"/>
                </a:lnTo>
                <a:lnTo>
                  <a:pt x="96279" y="1263507"/>
                </a:lnTo>
                <a:lnTo>
                  <a:pt x="76727" y="1224465"/>
                </a:lnTo>
                <a:lnTo>
                  <a:pt x="59245" y="1184440"/>
                </a:lnTo>
                <a:lnTo>
                  <a:pt x="43895" y="1143486"/>
                </a:lnTo>
                <a:lnTo>
                  <a:pt x="30738" y="1101660"/>
                </a:lnTo>
                <a:lnTo>
                  <a:pt x="19836" y="1059017"/>
                </a:lnTo>
                <a:lnTo>
                  <a:pt x="11250" y="1015612"/>
                </a:lnTo>
                <a:lnTo>
                  <a:pt x="5040" y="971501"/>
                </a:lnTo>
                <a:lnTo>
                  <a:pt x="1270" y="926739"/>
                </a:lnTo>
                <a:lnTo>
                  <a:pt x="0" y="88138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9"/>
          <p:cNvSpPr/>
          <p:nvPr/>
        </p:nvSpPr>
        <p:spPr>
          <a:xfrm>
            <a:off x="6788727" y="1852054"/>
            <a:ext cx="1266825" cy="1115695"/>
          </a:xfrm>
          <a:custGeom>
            <a:avLst/>
            <a:gdLst/>
            <a:ahLst/>
            <a:cxnLst/>
            <a:rect l="l" t="t" r="r" b="b"/>
            <a:pathLst>
              <a:path w="1266825" h="1115695">
                <a:moveTo>
                  <a:pt x="0" y="557540"/>
                </a:moveTo>
                <a:lnTo>
                  <a:pt x="2098" y="511823"/>
                </a:lnTo>
                <a:lnTo>
                  <a:pt x="8286" y="467121"/>
                </a:lnTo>
                <a:lnTo>
                  <a:pt x="18400" y="423580"/>
                </a:lnTo>
                <a:lnTo>
                  <a:pt x="32278" y="381342"/>
                </a:lnTo>
                <a:lnTo>
                  <a:pt x="49756" y="340551"/>
                </a:lnTo>
                <a:lnTo>
                  <a:pt x="70671" y="301350"/>
                </a:lnTo>
                <a:lnTo>
                  <a:pt x="94861" y="263884"/>
                </a:lnTo>
                <a:lnTo>
                  <a:pt x="122163" y="228295"/>
                </a:lnTo>
                <a:lnTo>
                  <a:pt x="152414" y="194728"/>
                </a:lnTo>
                <a:lnTo>
                  <a:pt x="185451" y="163327"/>
                </a:lnTo>
                <a:lnTo>
                  <a:pt x="221111" y="134234"/>
                </a:lnTo>
                <a:lnTo>
                  <a:pt x="259232" y="107593"/>
                </a:lnTo>
                <a:lnTo>
                  <a:pt x="299650" y="83549"/>
                </a:lnTo>
                <a:lnTo>
                  <a:pt x="342202" y="62245"/>
                </a:lnTo>
                <a:lnTo>
                  <a:pt x="386726" y="43824"/>
                </a:lnTo>
                <a:lnTo>
                  <a:pt x="433059" y="28430"/>
                </a:lnTo>
                <a:lnTo>
                  <a:pt x="481038" y="16207"/>
                </a:lnTo>
                <a:lnTo>
                  <a:pt x="530500" y="7299"/>
                </a:lnTo>
                <a:lnTo>
                  <a:pt x="581282" y="1848"/>
                </a:lnTo>
                <a:lnTo>
                  <a:pt x="633221" y="0"/>
                </a:lnTo>
                <a:lnTo>
                  <a:pt x="685143" y="1848"/>
                </a:lnTo>
                <a:lnTo>
                  <a:pt x="735910" y="7299"/>
                </a:lnTo>
                <a:lnTo>
                  <a:pt x="785358" y="16207"/>
                </a:lnTo>
                <a:lnTo>
                  <a:pt x="833324" y="28430"/>
                </a:lnTo>
                <a:lnTo>
                  <a:pt x="879646" y="43824"/>
                </a:lnTo>
                <a:lnTo>
                  <a:pt x="924161" y="62245"/>
                </a:lnTo>
                <a:lnTo>
                  <a:pt x="966705" y="83549"/>
                </a:lnTo>
                <a:lnTo>
                  <a:pt x="1007115" y="107593"/>
                </a:lnTo>
                <a:lnTo>
                  <a:pt x="1045230" y="134234"/>
                </a:lnTo>
                <a:lnTo>
                  <a:pt x="1080885" y="163327"/>
                </a:lnTo>
                <a:lnTo>
                  <a:pt x="1113918" y="194728"/>
                </a:lnTo>
                <a:lnTo>
                  <a:pt x="1144166" y="228295"/>
                </a:lnTo>
                <a:lnTo>
                  <a:pt x="1171465" y="263884"/>
                </a:lnTo>
                <a:lnTo>
                  <a:pt x="1195653" y="301350"/>
                </a:lnTo>
                <a:lnTo>
                  <a:pt x="1216567" y="340551"/>
                </a:lnTo>
                <a:lnTo>
                  <a:pt x="1234044" y="381342"/>
                </a:lnTo>
                <a:lnTo>
                  <a:pt x="1247921" y="423580"/>
                </a:lnTo>
                <a:lnTo>
                  <a:pt x="1258035" y="467121"/>
                </a:lnTo>
                <a:lnTo>
                  <a:pt x="1264223" y="511823"/>
                </a:lnTo>
                <a:lnTo>
                  <a:pt x="1266322" y="557540"/>
                </a:lnTo>
                <a:lnTo>
                  <a:pt x="1264223" y="603275"/>
                </a:lnTo>
                <a:lnTo>
                  <a:pt x="1258035" y="647993"/>
                </a:lnTo>
                <a:lnTo>
                  <a:pt x="1247921" y="691549"/>
                </a:lnTo>
                <a:lnTo>
                  <a:pt x="1234044" y="733800"/>
                </a:lnTo>
                <a:lnTo>
                  <a:pt x="1216567" y="774602"/>
                </a:lnTo>
                <a:lnTo>
                  <a:pt x="1195653" y="813811"/>
                </a:lnTo>
                <a:lnTo>
                  <a:pt x="1171465" y="851286"/>
                </a:lnTo>
                <a:lnTo>
                  <a:pt x="1144166" y="886880"/>
                </a:lnTo>
                <a:lnTo>
                  <a:pt x="1113918" y="920453"/>
                </a:lnTo>
                <a:lnTo>
                  <a:pt x="1080885" y="951858"/>
                </a:lnTo>
                <a:lnTo>
                  <a:pt x="1045230" y="980954"/>
                </a:lnTo>
                <a:lnTo>
                  <a:pt x="1007115" y="1007597"/>
                </a:lnTo>
                <a:lnTo>
                  <a:pt x="966705" y="1031642"/>
                </a:lnTo>
                <a:lnTo>
                  <a:pt x="924161" y="1052948"/>
                </a:lnTo>
                <a:lnTo>
                  <a:pt x="879646" y="1071369"/>
                </a:lnTo>
                <a:lnTo>
                  <a:pt x="833324" y="1086763"/>
                </a:lnTo>
                <a:lnTo>
                  <a:pt x="785358" y="1098985"/>
                </a:lnTo>
                <a:lnTo>
                  <a:pt x="735910" y="1107894"/>
                </a:lnTo>
                <a:lnTo>
                  <a:pt x="685143" y="1113344"/>
                </a:lnTo>
                <a:lnTo>
                  <a:pt x="633221" y="1115193"/>
                </a:lnTo>
                <a:lnTo>
                  <a:pt x="581282" y="1113344"/>
                </a:lnTo>
                <a:lnTo>
                  <a:pt x="530500" y="1107894"/>
                </a:lnTo>
                <a:lnTo>
                  <a:pt x="481038" y="1098985"/>
                </a:lnTo>
                <a:lnTo>
                  <a:pt x="433059" y="1086763"/>
                </a:lnTo>
                <a:lnTo>
                  <a:pt x="386726" y="1071369"/>
                </a:lnTo>
                <a:lnTo>
                  <a:pt x="342202" y="1052948"/>
                </a:lnTo>
                <a:lnTo>
                  <a:pt x="299650" y="1031642"/>
                </a:lnTo>
                <a:lnTo>
                  <a:pt x="259232" y="1007597"/>
                </a:lnTo>
                <a:lnTo>
                  <a:pt x="221111" y="980954"/>
                </a:lnTo>
                <a:lnTo>
                  <a:pt x="185451" y="951858"/>
                </a:lnTo>
                <a:lnTo>
                  <a:pt x="152414" y="920453"/>
                </a:lnTo>
                <a:lnTo>
                  <a:pt x="122163" y="886880"/>
                </a:lnTo>
                <a:lnTo>
                  <a:pt x="94861" y="851286"/>
                </a:lnTo>
                <a:lnTo>
                  <a:pt x="70671" y="813811"/>
                </a:lnTo>
                <a:lnTo>
                  <a:pt x="49756" y="774602"/>
                </a:lnTo>
                <a:lnTo>
                  <a:pt x="32278" y="733800"/>
                </a:lnTo>
                <a:lnTo>
                  <a:pt x="18400" y="691549"/>
                </a:lnTo>
                <a:lnTo>
                  <a:pt x="8286" y="647993"/>
                </a:lnTo>
                <a:lnTo>
                  <a:pt x="2098" y="603275"/>
                </a:lnTo>
                <a:lnTo>
                  <a:pt x="0" y="55754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/>
          <p:cNvSpPr/>
          <p:nvPr/>
        </p:nvSpPr>
        <p:spPr>
          <a:xfrm>
            <a:off x="6788727" y="3081347"/>
            <a:ext cx="1454785" cy="1296670"/>
          </a:xfrm>
          <a:custGeom>
            <a:avLst/>
            <a:gdLst/>
            <a:ahLst/>
            <a:cxnLst/>
            <a:rect l="l" t="t" r="r" b="b"/>
            <a:pathLst>
              <a:path w="1454785" h="1296670">
                <a:moveTo>
                  <a:pt x="0" y="647962"/>
                </a:moveTo>
                <a:lnTo>
                  <a:pt x="1677" y="603595"/>
                </a:lnTo>
                <a:lnTo>
                  <a:pt x="6637" y="560031"/>
                </a:lnTo>
                <a:lnTo>
                  <a:pt x="14771" y="517366"/>
                </a:lnTo>
                <a:lnTo>
                  <a:pt x="25972" y="475697"/>
                </a:lnTo>
                <a:lnTo>
                  <a:pt x="40130" y="435120"/>
                </a:lnTo>
                <a:lnTo>
                  <a:pt x="57138" y="395733"/>
                </a:lnTo>
                <a:lnTo>
                  <a:pt x="76886" y="357630"/>
                </a:lnTo>
                <a:lnTo>
                  <a:pt x="99268" y="320909"/>
                </a:lnTo>
                <a:lnTo>
                  <a:pt x="124175" y="285666"/>
                </a:lnTo>
                <a:lnTo>
                  <a:pt x="151498" y="251998"/>
                </a:lnTo>
                <a:lnTo>
                  <a:pt x="181129" y="220001"/>
                </a:lnTo>
                <a:lnTo>
                  <a:pt x="212959" y="189772"/>
                </a:lnTo>
                <a:lnTo>
                  <a:pt x="246882" y="161406"/>
                </a:lnTo>
                <a:lnTo>
                  <a:pt x="282787" y="135001"/>
                </a:lnTo>
                <a:lnTo>
                  <a:pt x="320568" y="110653"/>
                </a:lnTo>
                <a:lnTo>
                  <a:pt x="360115" y="88459"/>
                </a:lnTo>
                <a:lnTo>
                  <a:pt x="401321" y="68514"/>
                </a:lnTo>
                <a:lnTo>
                  <a:pt x="444076" y="50915"/>
                </a:lnTo>
                <a:lnTo>
                  <a:pt x="488274" y="35760"/>
                </a:lnTo>
                <a:lnTo>
                  <a:pt x="533805" y="23143"/>
                </a:lnTo>
                <a:lnTo>
                  <a:pt x="580562" y="13163"/>
                </a:lnTo>
                <a:lnTo>
                  <a:pt x="628435" y="5914"/>
                </a:lnTo>
                <a:lnTo>
                  <a:pt x="677317" y="1494"/>
                </a:lnTo>
                <a:lnTo>
                  <a:pt x="727100" y="0"/>
                </a:lnTo>
                <a:lnTo>
                  <a:pt x="776882" y="1494"/>
                </a:lnTo>
                <a:lnTo>
                  <a:pt x="825764" y="5914"/>
                </a:lnTo>
                <a:lnTo>
                  <a:pt x="873637" y="13163"/>
                </a:lnTo>
                <a:lnTo>
                  <a:pt x="920392" y="23143"/>
                </a:lnTo>
                <a:lnTo>
                  <a:pt x="965922" y="35760"/>
                </a:lnTo>
                <a:lnTo>
                  <a:pt x="1010119" y="50915"/>
                </a:lnTo>
                <a:lnTo>
                  <a:pt x="1052873" y="68514"/>
                </a:lnTo>
                <a:lnTo>
                  <a:pt x="1094077" y="88459"/>
                </a:lnTo>
                <a:lnTo>
                  <a:pt x="1133622" y="110653"/>
                </a:lnTo>
                <a:lnTo>
                  <a:pt x="1171401" y="135001"/>
                </a:lnTo>
                <a:lnTo>
                  <a:pt x="1207305" y="161406"/>
                </a:lnTo>
                <a:lnTo>
                  <a:pt x="1241225" y="189772"/>
                </a:lnTo>
                <a:lnTo>
                  <a:pt x="1273054" y="220001"/>
                </a:lnTo>
                <a:lnTo>
                  <a:pt x="1302683" y="251998"/>
                </a:lnTo>
                <a:lnTo>
                  <a:pt x="1330004" y="285666"/>
                </a:lnTo>
                <a:lnTo>
                  <a:pt x="1354909" y="320909"/>
                </a:lnTo>
                <a:lnTo>
                  <a:pt x="1377289" y="357630"/>
                </a:lnTo>
                <a:lnTo>
                  <a:pt x="1397036" y="395733"/>
                </a:lnTo>
                <a:lnTo>
                  <a:pt x="1414043" y="435120"/>
                </a:lnTo>
                <a:lnTo>
                  <a:pt x="1428200" y="475697"/>
                </a:lnTo>
                <a:lnTo>
                  <a:pt x="1439399" y="517366"/>
                </a:lnTo>
                <a:lnTo>
                  <a:pt x="1447533" y="560031"/>
                </a:lnTo>
                <a:lnTo>
                  <a:pt x="1452493" y="603595"/>
                </a:lnTo>
                <a:lnTo>
                  <a:pt x="1454170" y="647962"/>
                </a:lnTo>
                <a:lnTo>
                  <a:pt x="1452493" y="692343"/>
                </a:lnTo>
                <a:lnTo>
                  <a:pt x="1447533" y="735920"/>
                </a:lnTo>
                <a:lnTo>
                  <a:pt x="1439399" y="778597"/>
                </a:lnTo>
                <a:lnTo>
                  <a:pt x="1428200" y="820276"/>
                </a:lnTo>
                <a:lnTo>
                  <a:pt x="1414043" y="860863"/>
                </a:lnTo>
                <a:lnTo>
                  <a:pt x="1397036" y="900259"/>
                </a:lnTo>
                <a:lnTo>
                  <a:pt x="1377289" y="938370"/>
                </a:lnTo>
                <a:lnTo>
                  <a:pt x="1354909" y="975098"/>
                </a:lnTo>
                <a:lnTo>
                  <a:pt x="1330004" y="1010347"/>
                </a:lnTo>
                <a:lnTo>
                  <a:pt x="1302683" y="1044020"/>
                </a:lnTo>
                <a:lnTo>
                  <a:pt x="1273054" y="1076022"/>
                </a:lnTo>
                <a:lnTo>
                  <a:pt x="1241225" y="1106255"/>
                </a:lnTo>
                <a:lnTo>
                  <a:pt x="1207305" y="1134624"/>
                </a:lnTo>
                <a:lnTo>
                  <a:pt x="1171401" y="1161032"/>
                </a:lnTo>
                <a:lnTo>
                  <a:pt x="1133622" y="1185383"/>
                </a:lnTo>
                <a:lnTo>
                  <a:pt x="1094077" y="1207579"/>
                </a:lnTo>
                <a:lnTo>
                  <a:pt x="1052873" y="1227525"/>
                </a:lnTo>
                <a:lnTo>
                  <a:pt x="1010119" y="1245125"/>
                </a:lnTo>
                <a:lnTo>
                  <a:pt x="965922" y="1260281"/>
                </a:lnTo>
                <a:lnTo>
                  <a:pt x="920392" y="1272898"/>
                </a:lnTo>
                <a:lnTo>
                  <a:pt x="873637" y="1282879"/>
                </a:lnTo>
                <a:lnTo>
                  <a:pt x="825764" y="1290128"/>
                </a:lnTo>
                <a:lnTo>
                  <a:pt x="776882" y="1294548"/>
                </a:lnTo>
                <a:lnTo>
                  <a:pt x="727100" y="1296043"/>
                </a:lnTo>
                <a:lnTo>
                  <a:pt x="677317" y="1294548"/>
                </a:lnTo>
                <a:lnTo>
                  <a:pt x="628435" y="1290128"/>
                </a:lnTo>
                <a:lnTo>
                  <a:pt x="580562" y="1282879"/>
                </a:lnTo>
                <a:lnTo>
                  <a:pt x="533805" y="1272898"/>
                </a:lnTo>
                <a:lnTo>
                  <a:pt x="488274" y="1260281"/>
                </a:lnTo>
                <a:lnTo>
                  <a:pt x="444076" y="1245125"/>
                </a:lnTo>
                <a:lnTo>
                  <a:pt x="401321" y="1227525"/>
                </a:lnTo>
                <a:lnTo>
                  <a:pt x="360115" y="1207579"/>
                </a:lnTo>
                <a:lnTo>
                  <a:pt x="320568" y="1185383"/>
                </a:lnTo>
                <a:lnTo>
                  <a:pt x="282787" y="1161032"/>
                </a:lnTo>
                <a:lnTo>
                  <a:pt x="246882" y="1134624"/>
                </a:lnTo>
                <a:lnTo>
                  <a:pt x="212959" y="1106255"/>
                </a:lnTo>
                <a:lnTo>
                  <a:pt x="181129" y="1076022"/>
                </a:lnTo>
                <a:lnTo>
                  <a:pt x="151498" y="1044020"/>
                </a:lnTo>
                <a:lnTo>
                  <a:pt x="124175" y="1010347"/>
                </a:lnTo>
                <a:lnTo>
                  <a:pt x="99268" y="975098"/>
                </a:lnTo>
                <a:lnTo>
                  <a:pt x="76886" y="938370"/>
                </a:lnTo>
                <a:lnTo>
                  <a:pt x="57138" y="900259"/>
                </a:lnTo>
                <a:lnTo>
                  <a:pt x="40130" y="860863"/>
                </a:lnTo>
                <a:lnTo>
                  <a:pt x="25972" y="820276"/>
                </a:lnTo>
                <a:lnTo>
                  <a:pt x="14771" y="778597"/>
                </a:lnTo>
                <a:lnTo>
                  <a:pt x="6637" y="735920"/>
                </a:lnTo>
                <a:lnTo>
                  <a:pt x="1677" y="692343"/>
                </a:lnTo>
                <a:lnTo>
                  <a:pt x="0" y="64796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/>
          <p:nvPr/>
        </p:nvSpPr>
        <p:spPr>
          <a:xfrm>
            <a:off x="8494087" y="3912562"/>
            <a:ext cx="1075055" cy="930910"/>
          </a:xfrm>
          <a:custGeom>
            <a:avLst/>
            <a:gdLst/>
            <a:ahLst/>
            <a:cxnLst/>
            <a:rect l="l" t="t" r="r" b="b"/>
            <a:pathLst>
              <a:path w="1075054" h="930910">
                <a:moveTo>
                  <a:pt x="0" y="465200"/>
                </a:moveTo>
                <a:lnTo>
                  <a:pt x="2460" y="420398"/>
                </a:lnTo>
                <a:lnTo>
                  <a:pt x="9692" y="376801"/>
                </a:lnTo>
                <a:lnTo>
                  <a:pt x="21470" y="334604"/>
                </a:lnTo>
                <a:lnTo>
                  <a:pt x="37568" y="294001"/>
                </a:lnTo>
                <a:lnTo>
                  <a:pt x="57762" y="255188"/>
                </a:lnTo>
                <a:lnTo>
                  <a:pt x="81824" y="218360"/>
                </a:lnTo>
                <a:lnTo>
                  <a:pt x="109532" y="183712"/>
                </a:lnTo>
                <a:lnTo>
                  <a:pt x="140658" y="151439"/>
                </a:lnTo>
                <a:lnTo>
                  <a:pt x="174977" y="121734"/>
                </a:lnTo>
                <a:lnTo>
                  <a:pt x="212265" y="94795"/>
                </a:lnTo>
                <a:lnTo>
                  <a:pt x="252296" y="70815"/>
                </a:lnTo>
                <a:lnTo>
                  <a:pt x="294843" y="49989"/>
                </a:lnTo>
                <a:lnTo>
                  <a:pt x="339683" y="32513"/>
                </a:lnTo>
                <a:lnTo>
                  <a:pt x="386589" y="18581"/>
                </a:lnTo>
                <a:lnTo>
                  <a:pt x="435337" y="8388"/>
                </a:lnTo>
                <a:lnTo>
                  <a:pt x="485700" y="2129"/>
                </a:lnTo>
                <a:lnTo>
                  <a:pt x="537453" y="0"/>
                </a:lnTo>
                <a:lnTo>
                  <a:pt x="589210" y="2129"/>
                </a:lnTo>
                <a:lnTo>
                  <a:pt x="639574" y="8388"/>
                </a:lnTo>
                <a:lnTo>
                  <a:pt x="688318" y="18581"/>
                </a:lnTo>
                <a:lnTo>
                  <a:pt x="735219" y="32513"/>
                </a:lnTo>
                <a:lnTo>
                  <a:pt x="780051" y="49989"/>
                </a:lnTo>
                <a:lnTo>
                  <a:pt x="822590" y="70815"/>
                </a:lnTo>
                <a:lnTo>
                  <a:pt x="862610" y="94795"/>
                </a:lnTo>
                <a:lnTo>
                  <a:pt x="899886" y="121734"/>
                </a:lnTo>
                <a:lnTo>
                  <a:pt x="934193" y="151439"/>
                </a:lnTo>
                <a:lnTo>
                  <a:pt x="965307" y="183712"/>
                </a:lnTo>
                <a:lnTo>
                  <a:pt x="993002" y="218360"/>
                </a:lnTo>
                <a:lnTo>
                  <a:pt x="1017054" y="255188"/>
                </a:lnTo>
                <a:lnTo>
                  <a:pt x="1037237" y="294001"/>
                </a:lnTo>
                <a:lnTo>
                  <a:pt x="1053327" y="334604"/>
                </a:lnTo>
                <a:lnTo>
                  <a:pt x="1065098" y="376801"/>
                </a:lnTo>
                <a:lnTo>
                  <a:pt x="1072326" y="420398"/>
                </a:lnTo>
                <a:lnTo>
                  <a:pt x="1074785" y="465200"/>
                </a:lnTo>
                <a:lnTo>
                  <a:pt x="1072326" y="509999"/>
                </a:lnTo>
                <a:lnTo>
                  <a:pt x="1065098" y="553592"/>
                </a:lnTo>
                <a:lnTo>
                  <a:pt x="1053327" y="595787"/>
                </a:lnTo>
                <a:lnTo>
                  <a:pt x="1037237" y="636386"/>
                </a:lnTo>
                <a:lnTo>
                  <a:pt x="1017054" y="675197"/>
                </a:lnTo>
                <a:lnTo>
                  <a:pt x="993002" y="712023"/>
                </a:lnTo>
                <a:lnTo>
                  <a:pt x="965307" y="746669"/>
                </a:lnTo>
                <a:lnTo>
                  <a:pt x="934193" y="778942"/>
                </a:lnTo>
                <a:lnTo>
                  <a:pt x="899886" y="808645"/>
                </a:lnTo>
                <a:lnTo>
                  <a:pt x="862610" y="835583"/>
                </a:lnTo>
                <a:lnTo>
                  <a:pt x="822590" y="859563"/>
                </a:lnTo>
                <a:lnTo>
                  <a:pt x="780051" y="880388"/>
                </a:lnTo>
                <a:lnTo>
                  <a:pt x="735219" y="897864"/>
                </a:lnTo>
                <a:lnTo>
                  <a:pt x="688318" y="911796"/>
                </a:lnTo>
                <a:lnTo>
                  <a:pt x="639574" y="921989"/>
                </a:lnTo>
                <a:lnTo>
                  <a:pt x="589210" y="928248"/>
                </a:lnTo>
                <a:lnTo>
                  <a:pt x="537453" y="930377"/>
                </a:lnTo>
                <a:lnTo>
                  <a:pt x="485700" y="928248"/>
                </a:lnTo>
                <a:lnTo>
                  <a:pt x="435337" y="921989"/>
                </a:lnTo>
                <a:lnTo>
                  <a:pt x="386589" y="911796"/>
                </a:lnTo>
                <a:lnTo>
                  <a:pt x="339683" y="897864"/>
                </a:lnTo>
                <a:lnTo>
                  <a:pt x="294843" y="880388"/>
                </a:lnTo>
                <a:lnTo>
                  <a:pt x="252296" y="859563"/>
                </a:lnTo>
                <a:lnTo>
                  <a:pt x="212265" y="835583"/>
                </a:lnTo>
                <a:lnTo>
                  <a:pt x="174977" y="808645"/>
                </a:lnTo>
                <a:lnTo>
                  <a:pt x="140658" y="778942"/>
                </a:lnTo>
                <a:lnTo>
                  <a:pt x="109532" y="746669"/>
                </a:lnTo>
                <a:lnTo>
                  <a:pt x="81824" y="712023"/>
                </a:lnTo>
                <a:lnTo>
                  <a:pt x="57762" y="675197"/>
                </a:lnTo>
                <a:lnTo>
                  <a:pt x="37568" y="636386"/>
                </a:lnTo>
                <a:lnTo>
                  <a:pt x="21470" y="595787"/>
                </a:lnTo>
                <a:lnTo>
                  <a:pt x="9692" y="553592"/>
                </a:lnTo>
                <a:lnTo>
                  <a:pt x="2460" y="509999"/>
                </a:lnTo>
                <a:lnTo>
                  <a:pt x="0" y="46520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/>
          <p:cNvSpPr/>
          <p:nvPr/>
        </p:nvSpPr>
        <p:spPr>
          <a:xfrm>
            <a:off x="1534892" y="1348818"/>
            <a:ext cx="3354554" cy="4108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3674" y="1592978"/>
            <a:ext cx="651163" cy="396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85"/>
              </a:spcBef>
            </a:pP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D1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D2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D3  D4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D5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D6  D7  D8  D9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0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1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2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4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4438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3"/>
          <p:cNvSpPr txBox="1"/>
          <p:nvPr/>
        </p:nvSpPr>
        <p:spPr>
          <a:xfrm>
            <a:off x="8427666" y="2760487"/>
            <a:ext cx="12846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Temperature?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8"/>
          <p:cNvSpPr/>
          <p:nvPr/>
        </p:nvSpPr>
        <p:spPr>
          <a:xfrm>
            <a:off x="6784330" y="1216345"/>
            <a:ext cx="1214120" cy="1099820"/>
          </a:xfrm>
          <a:custGeom>
            <a:avLst/>
            <a:gdLst/>
            <a:ahLst/>
            <a:cxnLst/>
            <a:rect l="l" t="t" r="r" b="b"/>
            <a:pathLst>
              <a:path w="1214120" h="1099820">
                <a:moveTo>
                  <a:pt x="606795" y="0"/>
                </a:moveTo>
                <a:lnTo>
                  <a:pt x="557024" y="1822"/>
                </a:lnTo>
                <a:lnTo>
                  <a:pt x="508362" y="7195"/>
                </a:lnTo>
                <a:lnTo>
                  <a:pt x="460964" y="15977"/>
                </a:lnTo>
                <a:lnTo>
                  <a:pt x="414988" y="28026"/>
                </a:lnTo>
                <a:lnTo>
                  <a:pt x="370589" y="43202"/>
                </a:lnTo>
                <a:lnTo>
                  <a:pt x="327923" y="61362"/>
                </a:lnTo>
                <a:lnTo>
                  <a:pt x="287146" y="82365"/>
                </a:lnTo>
                <a:lnTo>
                  <a:pt x="248415" y="106071"/>
                </a:lnTo>
                <a:lnTo>
                  <a:pt x="211885" y="132337"/>
                </a:lnTo>
                <a:lnTo>
                  <a:pt x="177713" y="161022"/>
                </a:lnTo>
                <a:lnTo>
                  <a:pt x="146055" y="191984"/>
                </a:lnTo>
                <a:lnTo>
                  <a:pt x="117066" y="225082"/>
                </a:lnTo>
                <a:lnTo>
                  <a:pt x="90903" y="260175"/>
                </a:lnTo>
                <a:lnTo>
                  <a:pt x="67723" y="297122"/>
                </a:lnTo>
                <a:lnTo>
                  <a:pt x="47680" y="335780"/>
                </a:lnTo>
                <a:lnTo>
                  <a:pt x="30931" y="376009"/>
                </a:lnTo>
                <a:lnTo>
                  <a:pt x="17633" y="417666"/>
                </a:lnTo>
                <a:lnTo>
                  <a:pt x="7941" y="460611"/>
                </a:lnTo>
                <a:lnTo>
                  <a:pt x="2011" y="504702"/>
                </a:lnTo>
                <a:lnTo>
                  <a:pt x="0" y="549798"/>
                </a:lnTo>
                <a:lnTo>
                  <a:pt x="2011" y="594872"/>
                </a:lnTo>
                <a:lnTo>
                  <a:pt x="7941" y="638943"/>
                </a:lnTo>
                <a:lnTo>
                  <a:pt x="17633" y="681871"/>
                </a:lnTo>
                <a:lnTo>
                  <a:pt x="30931" y="723513"/>
                </a:lnTo>
                <a:lnTo>
                  <a:pt x="47680" y="763727"/>
                </a:lnTo>
                <a:lnTo>
                  <a:pt x="67723" y="802374"/>
                </a:lnTo>
                <a:lnTo>
                  <a:pt x="90903" y="839309"/>
                </a:lnTo>
                <a:lnTo>
                  <a:pt x="117066" y="874394"/>
                </a:lnTo>
                <a:lnTo>
                  <a:pt x="146055" y="907485"/>
                </a:lnTo>
                <a:lnTo>
                  <a:pt x="177713" y="938441"/>
                </a:lnTo>
                <a:lnTo>
                  <a:pt x="211885" y="967120"/>
                </a:lnTo>
                <a:lnTo>
                  <a:pt x="248415" y="993382"/>
                </a:lnTo>
                <a:lnTo>
                  <a:pt x="287146" y="1017084"/>
                </a:lnTo>
                <a:lnTo>
                  <a:pt x="327923" y="1038085"/>
                </a:lnTo>
                <a:lnTo>
                  <a:pt x="370589" y="1056244"/>
                </a:lnTo>
                <a:lnTo>
                  <a:pt x="414988" y="1071418"/>
                </a:lnTo>
                <a:lnTo>
                  <a:pt x="460964" y="1083467"/>
                </a:lnTo>
                <a:lnTo>
                  <a:pt x="508362" y="1092249"/>
                </a:lnTo>
                <a:lnTo>
                  <a:pt x="557024" y="1097621"/>
                </a:lnTo>
                <a:lnTo>
                  <a:pt x="606795" y="1099444"/>
                </a:lnTo>
                <a:lnTo>
                  <a:pt x="656568" y="1097621"/>
                </a:lnTo>
                <a:lnTo>
                  <a:pt x="705233" y="1092249"/>
                </a:lnTo>
                <a:lnTo>
                  <a:pt x="752636" y="1083467"/>
                </a:lnTo>
                <a:lnTo>
                  <a:pt x="798619" y="1071418"/>
                </a:lnTo>
                <a:lnTo>
                  <a:pt x="843026" y="1056244"/>
                </a:lnTo>
                <a:lnTo>
                  <a:pt x="885701" y="1038085"/>
                </a:lnTo>
                <a:lnTo>
                  <a:pt x="926488" y="1017084"/>
                </a:lnTo>
                <a:lnTo>
                  <a:pt x="965229" y="993382"/>
                </a:lnTo>
                <a:lnTo>
                  <a:pt x="1001770" y="967120"/>
                </a:lnTo>
                <a:lnTo>
                  <a:pt x="1035954" y="938441"/>
                </a:lnTo>
                <a:lnTo>
                  <a:pt x="1067624" y="907485"/>
                </a:lnTo>
                <a:lnTo>
                  <a:pt x="1096623" y="874394"/>
                </a:lnTo>
                <a:lnTo>
                  <a:pt x="1122797" y="839309"/>
                </a:lnTo>
                <a:lnTo>
                  <a:pt x="1145988" y="802374"/>
                </a:lnTo>
                <a:lnTo>
                  <a:pt x="1166040" y="763727"/>
                </a:lnTo>
                <a:lnTo>
                  <a:pt x="1182796" y="723513"/>
                </a:lnTo>
                <a:lnTo>
                  <a:pt x="1196101" y="681871"/>
                </a:lnTo>
                <a:lnTo>
                  <a:pt x="1205798" y="638943"/>
                </a:lnTo>
                <a:lnTo>
                  <a:pt x="1211731" y="594872"/>
                </a:lnTo>
                <a:lnTo>
                  <a:pt x="1213744" y="549798"/>
                </a:lnTo>
                <a:lnTo>
                  <a:pt x="1211731" y="504702"/>
                </a:lnTo>
                <a:lnTo>
                  <a:pt x="1205798" y="460611"/>
                </a:lnTo>
                <a:lnTo>
                  <a:pt x="1196101" y="417666"/>
                </a:lnTo>
                <a:lnTo>
                  <a:pt x="1182796" y="376009"/>
                </a:lnTo>
                <a:lnTo>
                  <a:pt x="1166040" y="335780"/>
                </a:lnTo>
                <a:lnTo>
                  <a:pt x="1145988" y="297122"/>
                </a:lnTo>
                <a:lnTo>
                  <a:pt x="1122797" y="260175"/>
                </a:lnTo>
                <a:lnTo>
                  <a:pt x="1096623" y="225082"/>
                </a:lnTo>
                <a:lnTo>
                  <a:pt x="1067624" y="191984"/>
                </a:lnTo>
                <a:lnTo>
                  <a:pt x="1035954" y="161022"/>
                </a:lnTo>
                <a:lnTo>
                  <a:pt x="1001770" y="132337"/>
                </a:lnTo>
                <a:lnTo>
                  <a:pt x="965229" y="106071"/>
                </a:lnTo>
                <a:lnTo>
                  <a:pt x="926488" y="82365"/>
                </a:lnTo>
                <a:lnTo>
                  <a:pt x="885701" y="61362"/>
                </a:lnTo>
                <a:lnTo>
                  <a:pt x="843026" y="43202"/>
                </a:lnTo>
                <a:lnTo>
                  <a:pt x="798619" y="28026"/>
                </a:lnTo>
                <a:lnTo>
                  <a:pt x="752636" y="15977"/>
                </a:lnTo>
                <a:lnTo>
                  <a:pt x="705233" y="7195"/>
                </a:lnTo>
                <a:lnTo>
                  <a:pt x="656568" y="1822"/>
                </a:lnTo>
                <a:lnTo>
                  <a:pt x="60679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9"/>
          <p:cNvSpPr/>
          <p:nvPr/>
        </p:nvSpPr>
        <p:spPr>
          <a:xfrm>
            <a:off x="6784330" y="1216346"/>
            <a:ext cx="1214120" cy="1099820"/>
          </a:xfrm>
          <a:custGeom>
            <a:avLst/>
            <a:gdLst/>
            <a:ahLst/>
            <a:cxnLst/>
            <a:rect l="l" t="t" r="r" b="b"/>
            <a:pathLst>
              <a:path w="1214120" h="1099820">
                <a:moveTo>
                  <a:pt x="0" y="549798"/>
                </a:moveTo>
                <a:lnTo>
                  <a:pt x="2011" y="504702"/>
                </a:lnTo>
                <a:lnTo>
                  <a:pt x="7941" y="460611"/>
                </a:lnTo>
                <a:lnTo>
                  <a:pt x="17633" y="417666"/>
                </a:lnTo>
                <a:lnTo>
                  <a:pt x="30931" y="376009"/>
                </a:lnTo>
                <a:lnTo>
                  <a:pt x="47680" y="335780"/>
                </a:lnTo>
                <a:lnTo>
                  <a:pt x="67723" y="297122"/>
                </a:lnTo>
                <a:lnTo>
                  <a:pt x="90903" y="260175"/>
                </a:lnTo>
                <a:lnTo>
                  <a:pt x="117066" y="225082"/>
                </a:lnTo>
                <a:lnTo>
                  <a:pt x="146055" y="191984"/>
                </a:lnTo>
                <a:lnTo>
                  <a:pt x="177713" y="161022"/>
                </a:lnTo>
                <a:lnTo>
                  <a:pt x="211885" y="132337"/>
                </a:lnTo>
                <a:lnTo>
                  <a:pt x="248415" y="106071"/>
                </a:lnTo>
                <a:lnTo>
                  <a:pt x="287146" y="82365"/>
                </a:lnTo>
                <a:lnTo>
                  <a:pt x="327923" y="61362"/>
                </a:lnTo>
                <a:lnTo>
                  <a:pt x="370589" y="43202"/>
                </a:lnTo>
                <a:lnTo>
                  <a:pt x="414988" y="28026"/>
                </a:lnTo>
                <a:lnTo>
                  <a:pt x="460964" y="15977"/>
                </a:lnTo>
                <a:lnTo>
                  <a:pt x="508362" y="7195"/>
                </a:lnTo>
                <a:lnTo>
                  <a:pt x="557024" y="1822"/>
                </a:lnTo>
                <a:lnTo>
                  <a:pt x="606795" y="0"/>
                </a:lnTo>
                <a:lnTo>
                  <a:pt x="656568" y="1822"/>
                </a:lnTo>
                <a:lnTo>
                  <a:pt x="705233" y="7195"/>
                </a:lnTo>
                <a:lnTo>
                  <a:pt x="752636" y="15977"/>
                </a:lnTo>
                <a:lnTo>
                  <a:pt x="798619" y="28026"/>
                </a:lnTo>
                <a:lnTo>
                  <a:pt x="843026" y="43202"/>
                </a:lnTo>
                <a:lnTo>
                  <a:pt x="885701" y="61362"/>
                </a:lnTo>
                <a:lnTo>
                  <a:pt x="926487" y="82365"/>
                </a:lnTo>
                <a:lnTo>
                  <a:pt x="965229" y="106071"/>
                </a:lnTo>
                <a:lnTo>
                  <a:pt x="1001770" y="132337"/>
                </a:lnTo>
                <a:lnTo>
                  <a:pt x="1035954" y="161022"/>
                </a:lnTo>
                <a:lnTo>
                  <a:pt x="1067624" y="191984"/>
                </a:lnTo>
                <a:lnTo>
                  <a:pt x="1096623" y="225082"/>
                </a:lnTo>
                <a:lnTo>
                  <a:pt x="1122797" y="260175"/>
                </a:lnTo>
                <a:lnTo>
                  <a:pt x="1145988" y="297122"/>
                </a:lnTo>
                <a:lnTo>
                  <a:pt x="1166039" y="335780"/>
                </a:lnTo>
                <a:lnTo>
                  <a:pt x="1182796" y="376009"/>
                </a:lnTo>
                <a:lnTo>
                  <a:pt x="1196101" y="417666"/>
                </a:lnTo>
                <a:lnTo>
                  <a:pt x="1205798" y="460611"/>
                </a:lnTo>
                <a:lnTo>
                  <a:pt x="1211731" y="504702"/>
                </a:lnTo>
                <a:lnTo>
                  <a:pt x="1213744" y="549798"/>
                </a:lnTo>
                <a:lnTo>
                  <a:pt x="1211731" y="594872"/>
                </a:lnTo>
                <a:lnTo>
                  <a:pt x="1205798" y="638943"/>
                </a:lnTo>
                <a:lnTo>
                  <a:pt x="1196101" y="681871"/>
                </a:lnTo>
                <a:lnTo>
                  <a:pt x="1182796" y="723513"/>
                </a:lnTo>
                <a:lnTo>
                  <a:pt x="1166039" y="763727"/>
                </a:lnTo>
                <a:lnTo>
                  <a:pt x="1145988" y="802373"/>
                </a:lnTo>
                <a:lnTo>
                  <a:pt x="1122797" y="839309"/>
                </a:lnTo>
                <a:lnTo>
                  <a:pt x="1096623" y="874394"/>
                </a:lnTo>
                <a:lnTo>
                  <a:pt x="1067624" y="907485"/>
                </a:lnTo>
                <a:lnTo>
                  <a:pt x="1035954" y="938441"/>
                </a:lnTo>
                <a:lnTo>
                  <a:pt x="1001770" y="967120"/>
                </a:lnTo>
                <a:lnTo>
                  <a:pt x="965229" y="993382"/>
                </a:lnTo>
                <a:lnTo>
                  <a:pt x="926487" y="1017084"/>
                </a:lnTo>
                <a:lnTo>
                  <a:pt x="885701" y="1038085"/>
                </a:lnTo>
                <a:lnTo>
                  <a:pt x="843026" y="1056244"/>
                </a:lnTo>
                <a:lnTo>
                  <a:pt x="798619" y="1071418"/>
                </a:lnTo>
                <a:lnTo>
                  <a:pt x="752636" y="1083467"/>
                </a:lnTo>
                <a:lnTo>
                  <a:pt x="705233" y="1092249"/>
                </a:lnTo>
                <a:lnTo>
                  <a:pt x="656568" y="1097621"/>
                </a:lnTo>
                <a:lnTo>
                  <a:pt x="606795" y="1099444"/>
                </a:lnTo>
                <a:lnTo>
                  <a:pt x="557024" y="1097621"/>
                </a:lnTo>
                <a:lnTo>
                  <a:pt x="508362" y="1092249"/>
                </a:lnTo>
                <a:lnTo>
                  <a:pt x="460964" y="1083467"/>
                </a:lnTo>
                <a:lnTo>
                  <a:pt x="414988" y="1071418"/>
                </a:lnTo>
                <a:lnTo>
                  <a:pt x="370589" y="1056244"/>
                </a:lnTo>
                <a:lnTo>
                  <a:pt x="327923" y="1038085"/>
                </a:lnTo>
                <a:lnTo>
                  <a:pt x="287146" y="1017084"/>
                </a:lnTo>
                <a:lnTo>
                  <a:pt x="248415" y="993382"/>
                </a:lnTo>
                <a:lnTo>
                  <a:pt x="211885" y="967120"/>
                </a:lnTo>
                <a:lnTo>
                  <a:pt x="177713" y="938441"/>
                </a:lnTo>
                <a:lnTo>
                  <a:pt x="146055" y="907485"/>
                </a:lnTo>
                <a:lnTo>
                  <a:pt x="117066" y="874394"/>
                </a:lnTo>
                <a:lnTo>
                  <a:pt x="90903" y="839309"/>
                </a:lnTo>
                <a:lnTo>
                  <a:pt x="67723" y="802373"/>
                </a:lnTo>
                <a:lnTo>
                  <a:pt x="47680" y="763727"/>
                </a:lnTo>
                <a:lnTo>
                  <a:pt x="30931" y="723513"/>
                </a:lnTo>
                <a:lnTo>
                  <a:pt x="17633" y="681871"/>
                </a:lnTo>
                <a:lnTo>
                  <a:pt x="7941" y="638943"/>
                </a:lnTo>
                <a:lnTo>
                  <a:pt x="2011" y="594872"/>
                </a:lnTo>
                <a:lnTo>
                  <a:pt x="0" y="549798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0"/>
          <p:cNvSpPr txBox="1"/>
          <p:nvPr/>
        </p:nvSpPr>
        <p:spPr>
          <a:xfrm>
            <a:off x="7084299" y="1664975"/>
            <a:ext cx="6159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Outlook?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4" name="object 11"/>
          <p:cNvSpPr/>
          <p:nvPr/>
        </p:nvSpPr>
        <p:spPr>
          <a:xfrm>
            <a:off x="6362304" y="2304228"/>
            <a:ext cx="1016635" cy="687070"/>
          </a:xfrm>
          <a:custGeom>
            <a:avLst/>
            <a:gdLst/>
            <a:ahLst/>
            <a:cxnLst/>
            <a:rect l="l" t="t" r="r" b="b"/>
            <a:pathLst>
              <a:path w="1016634" h="687069">
                <a:moveTo>
                  <a:pt x="42031" y="612910"/>
                </a:moveTo>
                <a:lnTo>
                  <a:pt x="0" y="686943"/>
                </a:lnTo>
                <a:lnTo>
                  <a:pt x="84460" y="676156"/>
                </a:lnTo>
                <a:lnTo>
                  <a:pt x="73293" y="659511"/>
                </a:lnTo>
                <a:lnTo>
                  <a:pt x="58033" y="659511"/>
                </a:lnTo>
                <a:lnTo>
                  <a:pt x="47365" y="643640"/>
                </a:lnTo>
                <a:lnTo>
                  <a:pt x="57900" y="636565"/>
                </a:lnTo>
                <a:lnTo>
                  <a:pt x="42031" y="612910"/>
                </a:lnTo>
                <a:close/>
              </a:path>
              <a:path w="1016634" h="687069">
                <a:moveTo>
                  <a:pt x="57900" y="636565"/>
                </a:moveTo>
                <a:lnTo>
                  <a:pt x="47365" y="643640"/>
                </a:lnTo>
                <a:lnTo>
                  <a:pt x="58033" y="659511"/>
                </a:lnTo>
                <a:lnTo>
                  <a:pt x="68554" y="652446"/>
                </a:lnTo>
                <a:lnTo>
                  <a:pt x="57900" y="636565"/>
                </a:lnTo>
                <a:close/>
              </a:path>
              <a:path w="1016634" h="687069">
                <a:moveTo>
                  <a:pt x="68554" y="652446"/>
                </a:moveTo>
                <a:lnTo>
                  <a:pt x="58033" y="659511"/>
                </a:lnTo>
                <a:lnTo>
                  <a:pt x="73293" y="659511"/>
                </a:lnTo>
                <a:lnTo>
                  <a:pt x="68554" y="652446"/>
                </a:lnTo>
                <a:close/>
              </a:path>
              <a:path w="1016634" h="687069">
                <a:moveTo>
                  <a:pt x="1005840" y="0"/>
                </a:moveTo>
                <a:lnTo>
                  <a:pt x="57900" y="636565"/>
                </a:lnTo>
                <a:lnTo>
                  <a:pt x="68554" y="652446"/>
                </a:lnTo>
                <a:lnTo>
                  <a:pt x="1016508" y="15883"/>
                </a:lnTo>
                <a:lnTo>
                  <a:pt x="1005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2"/>
          <p:cNvSpPr/>
          <p:nvPr/>
        </p:nvSpPr>
        <p:spPr>
          <a:xfrm>
            <a:off x="7402434" y="2304228"/>
            <a:ext cx="958850" cy="642620"/>
          </a:xfrm>
          <a:custGeom>
            <a:avLst/>
            <a:gdLst/>
            <a:ahLst/>
            <a:cxnLst/>
            <a:rect l="l" t="t" r="r" b="b"/>
            <a:pathLst>
              <a:path w="958850" h="642619">
                <a:moveTo>
                  <a:pt x="889849" y="607770"/>
                </a:moveTo>
                <a:lnTo>
                  <a:pt x="874014" y="631579"/>
                </a:lnTo>
                <a:lnTo>
                  <a:pt x="958596" y="642116"/>
                </a:lnTo>
                <a:lnTo>
                  <a:pt x="942924" y="614815"/>
                </a:lnTo>
                <a:lnTo>
                  <a:pt x="900440" y="614815"/>
                </a:lnTo>
                <a:lnTo>
                  <a:pt x="889849" y="607770"/>
                </a:lnTo>
                <a:close/>
              </a:path>
              <a:path w="958850" h="642619">
                <a:moveTo>
                  <a:pt x="900399" y="591909"/>
                </a:moveTo>
                <a:lnTo>
                  <a:pt x="889849" y="607770"/>
                </a:lnTo>
                <a:lnTo>
                  <a:pt x="900440" y="614815"/>
                </a:lnTo>
                <a:lnTo>
                  <a:pt x="910955" y="598932"/>
                </a:lnTo>
                <a:lnTo>
                  <a:pt x="900399" y="591909"/>
                </a:lnTo>
                <a:close/>
              </a:path>
              <a:path w="958850" h="642619">
                <a:moveTo>
                  <a:pt x="916167" y="568202"/>
                </a:moveTo>
                <a:lnTo>
                  <a:pt x="900399" y="591909"/>
                </a:lnTo>
                <a:lnTo>
                  <a:pt x="910955" y="598932"/>
                </a:lnTo>
                <a:lnTo>
                  <a:pt x="900440" y="614815"/>
                </a:lnTo>
                <a:lnTo>
                  <a:pt x="942924" y="614815"/>
                </a:lnTo>
                <a:lnTo>
                  <a:pt x="916167" y="568202"/>
                </a:lnTo>
                <a:close/>
              </a:path>
              <a:path w="958850" h="642619">
                <a:moveTo>
                  <a:pt x="10546" y="0"/>
                </a:moveTo>
                <a:lnTo>
                  <a:pt x="0" y="15883"/>
                </a:lnTo>
                <a:lnTo>
                  <a:pt x="889849" y="607770"/>
                </a:lnTo>
                <a:lnTo>
                  <a:pt x="900399" y="591909"/>
                </a:lnTo>
                <a:lnTo>
                  <a:pt x="10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3"/>
          <p:cNvSpPr/>
          <p:nvPr/>
        </p:nvSpPr>
        <p:spPr>
          <a:xfrm>
            <a:off x="7334860" y="2315540"/>
            <a:ext cx="76200" cy="574040"/>
          </a:xfrm>
          <a:custGeom>
            <a:avLst/>
            <a:gdLst/>
            <a:ahLst/>
            <a:cxnLst/>
            <a:rect l="l" t="t" r="r" b="b"/>
            <a:pathLst>
              <a:path w="76200" h="574039">
                <a:moveTo>
                  <a:pt x="0" y="495930"/>
                </a:moveTo>
                <a:lnTo>
                  <a:pt x="35326" y="573523"/>
                </a:lnTo>
                <a:lnTo>
                  <a:pt x="69817" y="510408"/>
                </a:lnTo>
                <a:lnTo>
                  <a:pt x="47122" y="510408"/>
                </a:lnTo>
                <a:lnTo>
                  <a:pt x="28072" y="509778"/>
                </a:lnTo>
                <a:lnTo>
                  <a:pt x="28541" y="496978"/>
                </a:lnTo>
                <a:lnTo>
                  <a:pt x="0" y="495930"/>
                </a:lnTo>
                <a:close/>
              </a:path>
              <a:path w="76200" h="574039">
                <a:moveTo>
                  <a:pt x="28541" y="496978"/>
                </a:moveTo>
                <a:lnTo>
                  <a:pt x="28072" y="509778"/>
                </a:lnTo>
                <a:lnTo>
                  <a:pt x="47122" y="510408"/>
                </a:lnTo>
                <a:lnTo>
                  <a:pt x="47588" y="497678"/>
                </a:lnTo>
                <a:lnTo>
                  <a:pt x="28541" y="496978"/>
                </a:lnTo>
                <a:close/>
              </a:path>
              <a:path w="76200" h="574039">
                <a:moveTo>
                  <a:pt x="47588" y="497678"/>
                </a:moveTo>
                <a:lnTo>
                  <a:pt x="47122" y="510408"/>
                </a:lnTo>
                <a:lnTo>
                  <a:pt x="69817" y="510408"/>
                </a:lnTo>
                <a:lnTo>
                  <a:pt x="76200" y="498729"/>
                </a:lnTo>
                <a:lnTo>
                  <a:pt x="47588" y="497678"/>
                </a:lnTo>
                <a:close/>
              </a:path>
              <a:path w="76200" h="574039">
                <a:moveTo>
                  <a:pt x="46756" y="0"/>
                </a:moveTo>
                <a:lnTo>
                  <a:pt x="28541" y="496978"/>
                </a:lnTo>
                <a:lnTo>
                  <a:pt x="47588" y="497678"/>
                </a:lnTo>
                <a:lnTo>
                  <a:pt x="65806" y="630"/>
                </a:lnTo>
                <a:lnTo>
                  <a:pt x="46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4"/>
          <p:cNvSpPr txBox="1"/>
          <p:nvPr/>
        </p:nvSpPr>
        <p:spPr>
          <a:xfrm>
            <a:off x="5631805" y="3038154"/>
            <a:ext cx="916940" cy="258445"/>
          </a:xfrm>
          <a:prstGeom prst="rect">
            <a:avLst/>
          </a:prstGeom>
          <a:solidFill>
            <a:srgbClr val="F07F09"/>
          </a:solidFill>
        </p:spPr>
        <p:txBody>
          <a:bodyPr vert="horz" wrap="square" lIns="0" tIns="4318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340"/>
              </a:spcBef>
            </a:pP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Sunny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15"/>
          <p:cNvSpPr/>
          <p:nvPr/>
        </p:nvSpPr>
        <p:spPr>
          <a:xfrm>
            <a:off x="5622280" y="3325702"/>
            <a:ext cx="935990" cy="1236345"/>
          </a:xfrm>
          <a:custGeom>
            <a:avLst/>
            <a:gdLst/>
            <a:ahLst/>
            <a:cxnLst/>
            <a:rect l="l" t="t" r="r" b="b"/>
            <a:pathLst>
              <a:path w="935989" h="1236345">
                <a:moveTo>
                  <a:pt x="0" y="1236250"/>
                </a:moveTo>
                <a:lnTo>
                  <a:pt x="935748" y="1236250"/>
                </a:lnTo>
                <a:lnTo>
                  <a:pt x="935748" y="0"/>
                </a:lnTo>
                <a:lnTo>
                  <a:pt x="0" y="0"/>
                </a:lnTo>
                <a:lnTo>
                  <a:pt x="0" y="123625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6"/>
          <p:cNvSpPr txBox="1"/>
          <p:nvPr/>
        </p:nvSpPr>
        <p:spPr>
          <a:xfrm>
            <a:off x="5631805" y="3293680"/>
            <a:ext cx="91694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marR="327660" algn="just">
              <a:lnSpc>
                <a:spcPct val="120000"/>
              </a:lnSpc>
              <a:spcBef>
                <a:spcPts val="100"/>
              </a:spcBef>
            </a:pPr>
            <a:r>
              <a:rPr sz="1200" spc="-204" dirty="0">
                <a:latin typeface="Arial"/>
                <a:cs typeface="Arial"/>
              </a:rPr>
              <a:t>Y</a:t>
            </a:r>
            <a:r>
              <a:rPr sz="1200" spc="5" dirty="0">
                <a:latin typeface="Arial"/>
                <a:cs typeface="Arial"/>
              </a:rPr>
              <a:t>e</a:t>
            </a:r>
            <a:r>
              <a:rPr sz="1200" dirty="0">
                <a:latin typeface="Arial"/>
                <a:cs typeface="Arial"/>
              </a:rPr>
              <a:t>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4" dirty="0">
                <a:latin typeface="Arial"/>
                <a:cs typeface="Arial"/>
              </a:rPr>
              <a:t>Y</a:t>
            </a:r>
            <a:r>
              <a:rPr sz="1200" spc="5" dirty="0">
                <a:latin typeface="Arial"/>
                <a:cs typeface="Arial"/>
              </a:rPr>
              <a:t>e</a:t>
            </a:r>
            <a:r>
              <a:rPr sz="1200" dirty="0">
                <a:latin typeface="Arial"/>
                <a:cs typeface="Arial"/>
              </a:rPr>
              <a:t>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45" dirty="0">
                <a:latin typeface="Arial"/>
                <a:cs typeface="Arial"/>
              </a:rPr>
              <a:t>No  No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17"/>
          <p:cNvSpPr txBox="1"/>
          <p:nvPr/>
        </p:nvSpPr>
        <p:spPr>
          <a:xfrm>
            <a:off x="6836130" y="3017961"/>
            <a:ext cx="916940" cy="269240"/>
          </a:xfrm>
          <a:prstGeom prst="rect">
            <a:avLst/>
          </a:prstGeom>
          <a:solidFill>
            <a:srgbClr val="F07F09"/>
          </a:solidFill>
        </p:spPr>
        <p:txBody>
          <a:bodyPr vert="horz" wrap="square" lIns="0" tIns="4318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40"/>
              </a:spcBef>
            </a:pP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Overcast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18"/>
          <p:cNvSpPr/>
          <p:nvPr/>
        </p:nvSpPr>
        <p:spPr>
          <a:xfrm>
            <a:off x="6826605" y="3307426"/>
            <a:ext cx="935990" cy="989965"/>
          </a:xfrm>
          <a:custGeom>
            <a:avLst/>
            <a:gdLst/>
            <a:ahLst/>
            <a:cxnLst/>
            <a:rect l="l" t="t" r="r" b="b"/>
            <a:pathLst>
              <a:path w="935990" h="989964">
                <a:moveTo>
                  <a:pt x="0" y="989956"/>
                </a:moveTo>
                <a:lnTo>
                  <a:pt x="935748" y="989956"/>
                </a:lnTo>
                <a:lnTo>
                  <a:pt x="935748" y="0"/>
                </a:lnTo>
                <a:lnTo>
                  <a:pt x="0" y="0"/>
                </a:lnTo>
                <a:lnTo>
                  <a:pt x="0" y="98995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9"/>
          <p:cNvSpPr txBox="1"/>
          <p:nvPr/>
        </p:nvSpPr>
        <p:spPr>
          <a:xfrm>
            <a:off x="6836130" y="3275844"/>
            <a:ext cx="91694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170" marR="326390" algn="just">
              <a:lnSpc>
                <a:spcPct val="120000"/>
              </a:lnSpc>
              <a:spcBef>
                <a:spcPts val="100"/>
              </a:spcBef>
            </a:pPr>
            <a:r>
              <a:rPr sz="1200" spc="-204" dirty="0">
                <a:latin typeface="Arial"/>
                <a:cs typeface="Arial"/>
              </a:rPr>
              <a:t>Y</a:t>
            </a:r>
            <a:r>
              <a:rPr sz="1200" dirty="0">
                <a:latin typeface="Arial"/>
                <a:cs typeface="Arial"/>
              </a:rPr>
              <a:t>es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4" dirty="0">
                <a:latin typeface="Arial"/>
                <a:cs typeface="Arial"/>
              </a:rPr>
              <a:t>Y</a:t>
            </a:r>
            <a:r>
              <a:rPr sz="1200" dirty="0">
                <a:latin typeface="Arial"/>
                <a:cs typeface="Arial"/>
              </a:rPr>
              <a:t>es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4" dirty="0">
                <a:latin typeface="Arial"/>
                <a:cs typeface="Arial"/>
              </a:rPr>
              <a:t>Y</a:t>
            </a:r>
            <a:r>
              <a:rPr sz="1200" dirty="0">
                <a:latin typeface="Arial"/>
                <a:cs typeface="Arial"/>
              </a:rPr>
              <a:t>es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4" dirty="0">
                <a:latin typeface="Arial"/>
                <a:cs typeface="Arial"/>
              </a:rPr>
              <a:t>Y</a:t>
            </a:r>
            <a:r>
              <a:rPr sz="1200" dirty="0">
                <a:latin typeface="Arial"/>
                <a:cs typeface="Arial"/>
              </a:rPr>
              <a:t>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20"/>
          <p:cNvSpPr txBox="1"/>
          <p:nvPr/>
        </p:nvSpPr>
        <p:spPr>
          <a:xfrm>
            <a:off x="8007598" y="2990398"/>
            <a:ext cx="924560" cy="258445"/>
          </a:xfrm>
          <a:prstGeom prst="rect">
            <a:avLst/>
          </a:prstGeom>
          <a:solidFill>
            <a:srgbClr val="F07F09"/>
          </a:solidFill>
        </p:spPr>
        <p:txBody>
          <a:bodyPr vert="horz" wrap="square" lIns="0" tIns="43180" rIns="0" bIns="0" rtlCol="0">
            <a:spAutoFit/>
          </a:bodyPr>
          <a:lstStyle/>
          <a:p>
            <a:pPr marL="280035">
              <a:lnSpc>
                <a:spcPct val="100000"/>
              </a:lnSpc>
              <a:spcBef>
                <a:spcPts val="340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Rainy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21"/>
          <p:cNvSpPr/>
          <p:nvPr/>
        </p:nvSpPr>
        <p:spPr>
          <a:xfrm>
            <a:off x="7998073" y="3277860"/>
            <a:ext cx="943610" cy="1238885"/>
          </a:xfrm>
          <a:custGeom>
            <a:avLst/>
            <a:gdLst/>
            <a:ahLst/>
            <a:cxnLst/>
            <a:rect l="l" t="t" r="r" b="b"/>
            <a:pathLst>
              <a:path w="943609" h="1238885">
                <a:moveTo>
                  <a:pt x="0" y="1238405"/>
                </a:moveTo>
                <a:lnTo>
                  <a:pt x="943605" y="1238405"/>
                </a:lnTo>
                <a:lnTo>
                  <a:pt x="943605" y="0"/>
                </a:lnTo>
                <a:lnTo>
                  <a:pt x="0" y="0"/>
                </a:lnTo>
                <a:lnTo>
                  <a:pt x="0" y="1238405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2"/>
          <p:cNvSpPr txBox="1"/>
          <p:nvPr/>
        </p:nvSpPr>
        <p:spPr>
          <a:xfrm>
            <a:off x="8007598" y="3245555"/>
            <a:ext cx="92456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 marR="333375" algn="just">
              <a:lnSpc>
                <a:spcPct val="120000"/>
              </a:lnSpc>
              <a:spcBef>
                <a:spcPts val="100"/>
              </a:spcBef>
            </a:pPr>
            <a:r>
              <a:rPr sz="1200" spc="-204" dirty="0">
                <a:latin typeface="Arial"/>
                <a:cs typeface="Arial"/>
              </a:rPr>
              <a:t>Y</a:t>
            </a:r>
            <a:r>
              <a:rPr sz="1200" spc="5" dirty="0">
                <a:latin typeface="Arial"/>
                <a:cs typeface="Arial"/>
              </a:rPr>
              <a:t>e</a:t>
            </a:r>
            <a:r>
              <a:rPr sz="1200" dirty="0">
                <a:latin typeface="Arial"/>
                <a:cs typeface="Arial"/>
              </a:rPr>
              <a:t>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4" dirty="0">
                <a:latin typeface="Arial"/>
                <a:cs typeface="Arial"/>
              </a:rPr>
              <a:t>Y</a:t>
            </a:r>
            <a:r>
              <a:rPr sz="1200" spc="5" dirty="0">
                <a:latin typeface="Arial"/>
                <a:cs typeface="Arial"/>
              </a:rPr>
              <a:t>e</a:t>
            </a:r>
            <a:r>
              <a:rPr sz="1200" dirty="0">
                <a:latin typeface="Arial"/>
                <a:cs typeface="Arial"/>
              </a:rPr>
              <a:t>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4" dirty="0">
                <a:latin typeface="Arial"/>
                <a:cs typeface="Arial"/>
              </a:rPr>
              <a:t>Y</a:t>
            </a:r>
            <a:r>
              <a:rPr sz="1200" dirty="0">
                <a:latin typeface="Arial"/>
                <a:cs typeface="Arial"/>
              </a:rPr>
              <a:t>es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45" dirty="0">
                <a:latin typeface="Arial"/>
                <a:cs typeface="Arial"/>
              </a:rPr>
              <a:t>No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23"/>
          <p:cNvSpPr txBox="1"/>
          <p:nvPr/>
        </p:nvSpPr>
        <p:spPr>
          <a:xfrm>
            <a:off x="8368905" y="4174616"/>
            <a:ext cx="21018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spc="-45" dirty="0">
                <a:latin typeface="Arial"/>
                <a:cs typeface="Arial"/>
              </a:rPr>
              <a:t>No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25"/>
          <p:cNvSpPr txBox="1"/>
          <p:nvPr/>
        </p:nvSpPr>
        <p:spPr>
          <a:xfrm>
            <a:off x="5981303" y="4222563"/>
            <a:ext cx="21018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spc="-45" dirty="0">
                <a:latin typeface="Arial"/>
                <a:cs typeface="Arial"/>
              </a:rPr>
              <a:t>No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6"/>
          <p:cNvSpPr/>
          <p:nvPr/>
        </p:nvSpPr>
        <p:spPr>
          <a:xfrm>
            <a:off x="1701136" y="1348818"/>
            <a:ext cx="3354554" cy="4108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918" y="1592978"/>
            <a:ext cx="651163" cy="396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85"/>
              </a:spcBef>
            </a:pP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D1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D2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D3  D4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D5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D6  D7  D8  D9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0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1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2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4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2417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 txBox="1"/>
          <p:nvPr/>
        </p:nvSpPr>
        <p:spPr>
          <a:xfrm>
            <a:off x="6046969" y="4774011"/>
            <a:ext cx="1670685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5"/>
              </a:lnSpc>
            </a:pPr>
            <a:r>
              <a:rPr sz="1500" b="0" i="1" spc="45" dirty="0">
                <a:latin typeface="Calibri Light"/>
                <a:cs typeface="Calibri Light"/>
              </a:rPr>
              <a:t>0.94 </a:t>
            </a:r>
            <a:r>
              <a:rPr sz="1500" b="1" i="1" spc="15" dirty="0">
                <a:latin typeface="Calibri Light"/>
                <a:cs typeface="Calibri Light"/>
              </a:rPr>
              <a:t>– </a:t>
            </a:r>
            <a:r>
              <a:rPr sz="1500" b="0" i="1" spc="-10" dirty="0">
                <a:latin typeface="Calibri Light"/>
                <a:cs typeface="Calibri Light"/>
              </a:rPr>
              <a:t>0.693 </a:t>
            </a:r>
            <a:r>
              <a:rPr sz="1500" b="0" i="1" spc="75" dirty="0">
                <a:latin typeface="Calibri Light"/>
                <a:cs typeface="Calibri Light"/>
              </a:rPr>
              <a:t>=</a:t>
            </a:r>
            <a:r>
              <a:rPr sz="1500" b="0" i="1" spc="-245" dirty="0">
                <a:latin typeface="Calibri Light"/>
                <a:cs typeface="Calibri Light"/>
              </a:rPr>
              <a:t> </a:t>
            </a:r>
            <a:r>
              <a:rPr sz="1500" b="0" i="1" spc="-10" dirty="0">
                <a:latin typeface="Calibri Light"/>
                <a:cs typeface="Calibri Light"/>
              </a:rPr>
              <a:t>0.247</a:t>
            </a:r>
            <a:r>
              <a:rPr sz="1500" b="0" i="1" spc="-114" dirty="0">
                <a:latin typeface="Calibri Light"/>
                <a:cs typeface="Calibri Light"/>
              </a:rPr>
              <a:t> </a:t>
            </a:r>
            <a:r>
              <a:rPr sz="1500" b="0" i="1" dirty="0">
                <a:latin typeface="Calibri Light"/>
                <a:cs typeface="Calibri Light"/>
              </a:rPr>
              <a:t> </a:t>
            </a:r>
            <a:endParaRPr sz="1500">
              <a:latin typeface="Calibri Light"/>
              <a:cs typeface="Calibri Light"/>
            </a:endParaRPr>
          </a:p>
        </p:txBody>
      </p:sp>
      <p:sp>
        <p:nvSpPr>
          <p:cNvPr id="39" name="object 8"/>
          <p:cNvSpPr txBox="1"/>
          <p:nvPr/>
        </p:nvSpPr>
        <p:spPr>
          <a:xfrm>
            <a:off x="6018013" y="1594805"/>
            <a:ext cx="44577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b="0" i="1" spc="-5" dirty="0">
                <a:latin typeface="Calibri Light"/>
                <a:cs typeface="Calibri Light"/>
              </a:rPr>
              <a:t>E(Outlook = Sunny) = </a:t>
            </a:r>
            <a:r>
              <a:rPr sz="1500" b="0" i="1" spc="-15" dirty="0">
                <a:latin typeface="Calibri Light"/>
                <a:cs typeface="Calibri Light"/>
              </a:rPr>
              <a:t>-2/5 </a:t>
            </a:r>
            <a:r>
              <a:rPr sz="1500" spc="30" dirty="0">
                <a:latin typeface="Cambria Math"/>
                <a:cs typeface="Cambria Math"/>
              </a:rPr>
              <a:t>log</a:t>
            </a:r>
            <a:r>
              <a:rPr sz="1650" spc="44" baseline="-15151" dirty="0">
                <a:latin typeface="Cambria Math"/>
                <a:cs typeface="Cambria Math"/>
              </a:rPr>
              <a:t>2 </a:t>
            </a:r>
            <a:r>
              <a:rPr sz="1500" dirty="0">
                <a:latin typeface="Cambria Math"/>
                <a:cs typeface="Cambria Math"/>
              </a:rPr>
              <a:t>2/5 </a:t>
            </a:r>
            <a:r>
              <a:rPr sz="1500" i="1" dirty="0">
                <a:latin typeface="Calibri"/>
                <a:cs typeface="Calibri"/>
              </a:rPr>
              <a:t>−3/5 </a:t>
            </a:r>
            <a:r>
              <a:rPr sz="1500" spc="30" dirty="0">
                <a:latin typeface="Cambria Math"/>
                <a:cs typeface="Cambria Math"/>
              </a:rPr>
              <a:t>log</a:t>
            </a:r>
            <a:r>
              <a:rPr sz="1650" spc="44" baseline="-15151" dirty="0">
                <a:latin typeface="Cambria Math"/>
                <a:cs typeface="Cambria Math"/>
              </a:rPr>
              <a:t>2</a:t>
            </a:r>
            <a:r>
              <a:rPr sz="1650" spc="-127" baseline="-15151" dirty="0">
                <a:latin typeface="Cambria Math"/>
                <a:cs typeface="Cambria Math"/>
              </a:rPr>
              <a:t> </a:t>
            </a:r>
            <a:r>
              <a:rPr sz="1500" spc="-15" dirty="0">
                <a:latin typeface="Cambria Math"/>
                <a:cs typeface="Cambria Math"/>
              </a:rPr>
              <a:t>3/5</a:t>
            </a:r>
            <a:r>
              <a:rPr sz="1500" b="0" i="1" spc="-15" dirty="0">
                <a:latin typeface="Calibri Light"/>
                <a:cs typeface="Calibri Light"/>
              </a:rPr>
              <a:t>=0.971</a:t>
            </a:r>
            <a:r>
              <a:rPr sz="1500" b="0" i="1" dirty="0">
                <a:latin typeface="Calibri Light"/>
                <a:cs typeface="Calibri Light"/>
              </a:rPr>
              <a:t> </a:t>
            </a:r>
            <a:endParaRPr sz="1500">
              <a:latin typeface="Calibri Light"/>
              <a:cs typeface="Calibri Light"/>
            </a:endParaRPr>
          </a:p>
        </p:txBody>
      </p:sp>
      <p:sp>
        <p:nvSpPr>
          <p:cNvPr id="40" name="object 9"/>
          <p:cNvSpPr txBox="1"/>
          <p:nvPr/>
        </p:nvSpPr>
        <p:spPr>
          <a:xfrm>
            <a:off x="6018008" y="2647378"/>
            <a:ext cx="45053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b="0" i="1" spc="-5" dirty="0">
                <a:latin typeface="Calibri Light"/>
                <a:cs typeface="Calibri Light"/>
              </a:rPr>
              <a:t>E(Outlook = Rainy) = </a:t>
            </a:r>
            <a:r>
              <a:rPr sz="1500" b="0" i="1" spc="-15" dirty="0">
                <a:latin typeface="Calibri Light"/>
                <a:cs typeface="Calibri Light"/>
              </a:rPr>
              <a:t>-3/5 </a:t>
            </a:r>
            <a:r>
              <a:rPr sz="1500" spc="30" dirty="0">
                <a:latin typeface="Cambria Math"/>
                <a:cs typeface="Cambria Math"/>
              </a:rPr>
              <a:t>log</a:t>
            </a:r>
            <a:r>
              <a:rPr sz="1650" spc="44" baseline="-15151" dirty="0">
                <a:latin typeface="Cambria Math"/>
                <a:cs typeface="Cambria Math"/>
              </a:rPr>
              <a:t>2 </a:t>
            </a:r>
            <a:r>
              <a:rPr sz="1500" spc="-5" dirty="0">
                <a:latin typeface="Cambria Math"/>
                <a:cs typeface="Cambria Math"/>
              </a:rPr>
              <a:t>3/5</a:t>
            </a:r>
            <a:r>
              <a:rPr sz="1500" i="1" spc="-5" dirty="0">
                <a:latin typeface="Calibri"/>
                <a:cs typeface="Calibri"/>
              </a:rPr>
              <a:t>−2/5 </a:t>
            </a:r>
            <a:r>
              <a:rPr sz="1500" spc="30" dirty="0">
                <a:latin typeface="Cambria Math"/>
                <a:cs typeface="Cambria Math"/>
              </a:rPr>
              <a:t>log</a:t>
            </a:r>
            <a:r>
              <a:rPr sz="1650" spc="44" baseline="-15151" dirty="0">
                <a:latin typeface="Cambria Math"/>
                <a:cs typeface="Cambria Math"/>
              </a:rPr>
              <a:t>2 </a:t>
            </a:r>
            <a:r>
              <a:rPr sz="1500" dirty="0">
                <a:latin typeface="Cambria Math"/>
                <a:cs typeface="Cambria Math"/>
              </a:rPr>
              <a:t>2/5 </a:t>
            </a:r>
            <a:r>
              <a:rPr sz="1500" i="1" dirty="0">
                <a:latin typeface="Calibri"/>
                <a:cs typeface="Calibri"/>
              </a:rPr>
              <a:t>=</a:t>
            </a:r>
            <a:r>
              <a:rPr sz="1500" i="1" spc="-140" dirty="0">
                <a:latin typeface="Calibri"/>
                <a:cs typeface="Calibri"/>
              </a:rPr>
              <a:t> </a:t>
            </a:r>
            <a:r>
              <a:rPr sz="1500" i="1" spc="-15" dirty="0">
                <a:latin typeface="Calibri"/>
                <a:cs typeface="Calibri"/>
              </a:rPr>
              <a:t>0.971</a:t>
            </a:r>
            <a:r>
              <a:rPr sz="1500" b="0" i="1" dirty="0">
                <a:latin typeface="Calibri Light"/>
                <a:cs typeface="Calibri Light"/>
              </a:rPr>
              <a:t> </a:t>
            </a:r>
            <a:endParaRPr sz="1500">
              <a:latin typeface="Calibri Light"/>
              <a:cs typeface="Calibri Light"/>
            </a:endParaRPr>
          </a:p>
        </p:txBody>
      </p:sp>
      <p:sp>
        <p:nvSpPr>
          <p:cNvPr id="41" name="object 10"/>
          <p:cNvSpPr txBox="1"/>
          <p:nvPr/>
        </p:nvSpPr>
        <p:spPr>
          <a:xfrm>
            <a:off x="6018013" y="2108991"/>
            <a:ext cx="371856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250" b="0" i="1" spc="-7" baseline="1851" dirty="0">
                <a:latin typeface="Calibri Light"/>
                <a:cs typeface="Calibri Light"/>
              </a:rPr>
              <a:t>E(Outlook = </a:t>
            </a:r>
            <a:r>
              <a:rPr sz="2250" b="0" i="1" baseline="1851" dirty="0">
                <a:latin typeface="Calibri Light"/>
                <a:cs typeface="Calibri Light"/>
              </a:rPr>
              <a:t>Overcast) </a:t>
            </a:r>
            <a:r>
              <a:rPr sz="2250" b="0" i="1" spc="-7" baseline="1851" dirty="0">
                <a:latin typeface="Calibri Light"/>
                <a:cs typeface="Calibri Light"/>
              </a:rPr>
              <a:t>= </a:t>
            </a:r>
            <a:r>
              <a:rPr sz="2250" b="0" i="1" spc="-15" baseline="1851" dirty="0">
                <a:latin typeface="Calibri Light"/>
                <a:cs typeface="Calibri Light"/>
              </a:rPr>
              <a:t>-</a:t>
            </a:r>
            <a:r>
              <a:rPr sz="2250" spc="-15" baseline="1851" dirty="0">
                <a:latin typeface="Cambria Math"/>
                <a:cs typeface="Cambria Math"/>
              </a:rPr>
              <a:t>1 </a:t>
            </a:r>
            <a:r>
              <a:rPr sz="2250" spc="37" baseline="1851" dirty="0">
                <a:latin typeface="Cambria Math"/>
                <a:cs typeface="Cambria Math"/>
              </a:rPr>
              <a:t>log</a:t>
            </a:r>
            <a:r>
              <a:rPr sz="1650" spc="37" baseline="-12626" dirty="0">
                <a:latin typeface="Cambria Math"/>
                <a:cs typeface="Cambria Math"/>
              </a:rPr>
              <a:t>2 </a:t>
            </a:r>
            <a:r>
              <a:rPr sz="2250" spc="-15" baseline="1851" dirty="0">
                <a:latin typeface="Cambria Math"/>
                <a:cs typeface="Cambria Math"/>
              </a:rPr>
              <a:t>1 </a:t>
            </a:r>
            <a:r>
              <a:rPr sz="1500" i="1" dirty="0">
                <a:latin typeface="Arial"/>
                <a:cs typeface="Arial"/>
              </a:rPr>
              <a:t>− </a:t>
            </a:r>
            <a:r>
              <a:rPr sz="1500" dirty="0">
                <a:latin typeface="Cambria Math"/>
                <a:cs typeface="Cambria Math"/>
              </a:rPr>
              <a:t>0 </a:t>
            </a:r>
            <a:r>
              <a:rPr sz="1500" spc="30" dirty="0">
                <a:latin typeface="Cambria Math"/>
                <a:cs typeface="Cambria Math"/>
              </a:rPr>
              <a:t>log</a:t>
            </a:r>
            <a:r>
              <a:rPr sz="1650" spc="44" baseline="-15151" dirty="0">
                <a:latin typeface="Cambria Math"/>
                <a:cs typeface="Cambria Math"/>
              </a:rPr>
              <a:t>2 </a:t>
            </a:r>
            <a:r>
              <a:rPr sz="1500" dirty="0">
                <a:latin typeface="Cambria Math"/>
                <a:cs typeface="Cambria Math"/>
              </a:rPr>
              <a:t>0 </a:t>
            </a:r>
            <a:r>
              <a:rPr sz="1550" spc="-25" dirty="0">
                <a:latin typeface="Gill Sans MT Ext Condensed Bold"/>
                <a:cs typeface="Gill Sans MT Ext Condensed Bold"/>
              </a:rPr>
              <a:t>=</a:t>
            </a:r>
            <a:r>
              <a:rPr sz="1550" spc="40" dirty="0">
                <a:latin typeface="Gill Sans MT Ext Condensed Bold"/>
                <a:cs typeface="Gill Sans MT Ext Condensed Bold"/>
              </a:rPr>
              <a:t> </a:t>
            </a:r>
            <a:r>
              <a:rPr sz="1550" spc="-20" dirty="0">
                <a:latin typeface="Gill Sans MT Ext Condensed Bold"/>
                <a:cs typeface="Gill Sans MT Ext Condensed Bold"/>
              </a:rPr>
              <a:t>0</a:t>
            </a:r>
            <a:endParaRPr sz="1550">
              <a:latin typeface="Gill Sans MT Ext Condensed Bold"/>
              <a:cs typeface="Gill Sans MT Ext Condensed Bold"/>
            </a:endParaRPr>
          </a:p>
        </p:txBody>
      </p:sp>
      <p:sp>
        <p:nvSpPr>
          <p:cNvPr id="42" name="object 11"/>
          <p:cNvSpPr txBox="1"/>
          <p:nvPr/>
        </p:nvSpPr>
        <p:spPr>
          <a:xfrm>
            <a:off x="6046969" y="3489647"/>
            <a:ext cx="45402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i="1" spc="-5" dirty="0">
                <a:latin typeface="Calibri Light"/>
                <a:cs typeface="Calibri Light"/>
              </a:rPr>
              <a:t>I(Outlook) = </a:t>
            </a:r>
            <a:r>
              <a:rPr sz="1500" b="0" i="1" spc="-10" dirty="0">
                <a:latin typeface="Calibri Light"/>
                <a:cs typeface="Calibri Light"/>
              </a:rPr>
              <a:t>5/</a:t>
            </a:r>
            <a:r>
              <a:rPr sz="1500" spc="-10" dirty="0">
                <a:latin typeface="Cambria Math"/>
                <a:cs typeface="Cambria Math"/>
              </a:rPr>
              <a:t>14 </a:t>
            </a:r>
            <a:r>
              <a:rPr sz="1500" b="0" i="1" spc="-30" dirty="0">
                <a:latin typeface="Calibri Light"/>
                <a:cs typeface="Calibri Light"/>
              </a:rPr>
              <a:t>x </a:t>
            </a:r>
            <a:r>
              <a:rPr sz="1500" b="0" i="1" spc="-10" dirty="0">
                <a:latin typeface="Calibri Light"/>
                <a:cs typeface="Calibri Light"/>
              </a:rPr>
              <a:t>0.971 </a:t>
            </a:r>
            <a:r>
              <a:rPr sz="1500" b="0" i="1" spc="-5" dirty="0">
                <a:latin typeface="Calibri Light"/>
                <a:cs typeface="Calibri Light"/>
              </a:rPr>
              <a:t>+ </a:t>
            </a:r>
            <a:r>
              <a:rPr sz="1500" b="0" i="1" spc="-20" dirty="0">
                <a:latin typeface="Calibri Light"/>
                <a:cs typeface="Calibri Light"/>
              </a:rPr>
              <a:t>4/14 </a:t>
            </a:r>
            <a:r>
              <a:rPr sz="1500" b="0" i="1" spc="-30" dirty="0">
                <a:latin typeface="Calibri Light"/>
                <a:cs typeface="Calibri Light"/>
              </a:rPr>
              <a:t>x </a:t>
            </a:r>
            <a:r>
              <a:rPr sz="1500" b="0" i="1" spc="-15" dirty="0">
                <a:latin typeface="Calibri Light"/>
                <a:cs typeface="Calibri Light"/>
              </a:rPr>
              <a:t>0 </a:t>
            </a:r>
            <a:r>
              <a:rPr sz="1500" b="0" i="1" spc="-5" dirty="0">
                <a:latin typeface="Calibri Light"/>
                <a:cs typeface="Calibri Light"/>
              </a:rPr>
              <a:t>+</a:t>
            </a:r>
            <a:r>
              <a:rPr sz="1500" b="0" i="1" spc="100" dirty="0">
                <a:latin typeface="Calibri Light"/>
                <a:cs typeface="Calibri Light"/>
              </a:rPr>
              <a:t> </a:t>
            </a:r>
            <a:r>
              <a:rPr sz="1500" b="0" i="1" spc="-20" dirty="0">
                <a:latin typeface="Calibri Light"/>
                <a:cs typeface="Calibri Light"/>
              </a:rPr>
              <a:t>5/14 </a:t>
            </a:r>
            <a:r>
              <a:rPr sz="1500" b="0" i="1" spc="-30" dirty="0">
                <a:latin typeface="Calibri Light"/>
                <a:cs typeface="Calibri Light"/>
              </a:rPr>
              <a:t>x </a:t>
            </a:r>
            <a:r>
              <a:rPr sz="1500" b="0" i="1" spc="-10" dirty="0">
                <a:latin typeface="Calibri Light"/>
                <a:cs typeface="Calibri Light"/>
              </a:rPr>
              <a:t>0.971 </a:t>
            </a:r>
            <a:r>
              <a:rPr sz="1500" b="0" i="1" spc="-5" dirty="0">
                <a:latin typeface="Calibri Light"/>
                <a:cs typeface="Calibri Light"/>
              </a:rPr>
              <a:t>= 0.693</a:t>
            </a:r>
            <a:r>
              <a:rPr sz="1500" b="0" i="1" dirty="0">
                <a:latin typeface="Calibri Light"/>
                <a:cs typeface="Calibri Light"/>
              </a:rPr>
              <a:t> </a:t>
            </a:r>
            <a:endParaRPr sz="1500">
              <a:latin typeface="Calibri Light"/>
              <a:cs typeface="Calibri Light"/>
            </a:endParaRPr>
          </a:p>
        </p:txBody>
      </p:sp>
      <p:sp>
        <p:nvSpPr>
          <p:cNvPr id="43" name="object 12"/>
          <p:cNvSpPr txBox="1"/>
          <p:nvPr/>
        </p:nvSpPr>
        <p:spPr>
          <a:xfrm>
            <a:off x="6043404" y="3092764"/>
            <a:ext cx="2042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i="1" spc="-5" dirty="0">
                <a:latin typeface="Calibri Light"/>
                <a:cs typeface="Calibri Light"/>
              </a:rPr>
              <a:t>Information </a:t>
            </a:r>
            <a:r>
              <a:rPr sz="1500" b="0" i="1" spc="5" dirty="0">
                <a:latin typeface="Calibri Light"/>
                <a:cs typeface="Calibri Light"/>
              </a:rPr>
              <a:t>from</a:t>
            </a:r>
            <a:r>
              <a:rPr sz="1500" b="0" i="1" spc="-100" dirty="0">
                <a:latin typeface="Calibri Light"/>
                <a:cs typeface="Calibri Light"/>
              </a:rPr>
              <a:t> </a:t>
            </a:r>
            <a:r>
              <a:rPr sz="1500" b="0" i="1" spc="-5" dirty="0">
                <a:latin typeface="Calibri Light"/>
                <a:cs typeface="Calibri Light"/>
              </a:rPr>
              <a:t>outlook,</a:t>
            </a:r>
            <a:r>
              <a:rPr sz="1500" b="0" i="1" dirty="0">
                <a:latin typeface="Calibri Light"/>
                <a:cs typeface="Calibri Light"/>
              </a:rPr>
              <a:t> </a:t>
            </a:r>
            <a:endParaRPr sz="1500">
              <a:latin typeface="Calibri Light"/>
              <a:cs typeface="Calibri Light"/>
            </a:endParaRPr>
          </a:p>
        </p:txBody>
      </p:sp>
      <p:sp>
        <p:nvSpPr>
          <p:cNvPr id="44" name="object 13"/>
          <p:cNvSpPr txBox="1"/>
          <p:nvPr/>
        </p:nvSpPr>
        <p:spPr>
          <a:xfrm>
            <a:off x="6043404" y="3936048"/>
            <a:ext cx="260477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i="1" spc="-5" dirty="0">
                <a:latin typeface="Calibri Light"/>
                <a:cs typeface="Calibri Light"/>
              </a:rPr>
              <a:t>Information </a:t>
            </a:r>
            <a:r>
              <a:rPr sz="1500" b="0" i="1" spc="-25" dirty="0">
                <a:latin typeface="Calibri Light"/>
                <a:cs typeface="Calibri Light"/>
              </a:rPr>
              <a:t>gained </a:t>
            </a:r>
            <a:r>
              <a:rPr sz="1500" b="0" i="1" spc="5" dirty="0">
                <a:latin typeface="Calibri Light"/>
                <a:cs typeface="Calibri Light"/>
              </a:rPr>
              <a:t>from</a:t>
            </a:r>
            <a:r>
              <a:rPr sz="1500" b="0" i="1" spc="45" dirty="0">
                <a:latin typeface="Calibri Light"/>
                <a:cs typeface="Calibri Light"/>
              </a:rPr>
              <a:t> </a:t>
            </a:r>
            <a:r>
              <a:rPr sz="1500" b="0" i="1" spc="-5" dirty="0">
                <a:latin typeface="Calibri Light"/>
                <a:cs typeface="Calibri Light"/>
              </a:rPr>
              <a:t>outlook,</a:t>
            </a:r>
            <a:r>
              <a:rPr sz="1500" b="0" i="1" dirty="0">
                <a:latin typeface="Calibri Light"/>
                <a:cs typeface="Calibri Light"/>
              </a:rPr>
              <a:t> </a:t>
            </a:r>
            <a:endParaRPr sz="1500">
              <a:latin typeface="Calibri Light"/>
              <a:cs typeface="Calibri Light"/>
            </a:endParaRPr>
          </a:p>
        </p:txBody>
      </p:sp>
      <p:sp>
        <p:nvSpPr>
          <p:cNvPr id="45" name="object 14"/>
          <p:cNvSpPr txBox="1"/>
          <p:nvPr/>
        </p:nvSpPr>
        <p:spPr>
          <a:xfrm>
            <a:off x="6046969" y="4382457"/>
            <a:ext cx="255714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0" i="1" spc="-5" dirty="0">
                <a:latin typeface="Calibri Light"/>
                <a:cs typeface="Calibri Light"/>
              </a:rPr>
              <a:t>Gain(Outlook) = </a:t>
            </a:r>
            <a:r>
              <a:rPr sz="1500" b="0" i="1" dirty="0">
                <a:latin typeface="Calibri Light"/>
                <a:cs typeface="Calibri Light"/>
              </a:rPr>
              <a:t>E(S) –</a:t>
            </a:r>
            <a:r>
              <a:rPr sz="1500" b="0" i="1" spc="-10" dirty="0">
                <a:latin typeface="Calibri Light"/>
                <a:cs typeface="Calibri Light"/>
              </a:rPr>
              <a:t> </a:t>
            </a:r>
            <a:r>
              <a:rPr sz="1500" b="0" i="1" spc="-5" dirty="0">
                <a:latin typeface="Calibri Light"/>
                <a:cs typeface="Calibri Light"/>
              </a:rPr>
              <a:t>I(Outlook)</a:t>
            </a:r>
            <a:r>
              <a:rPr sz="1500" b="0" i="1" dirty="0">
                <a:latin typeface="Calibri Light"/>
                <a:cs typeface="Calibri Light"/>
              </a:rPr>
              <a:t> </a:t>
            </a:r>
            <a:endParaRPr sz="1500">
              <a:latin typeface="Calibri Light"/>
              <a:cs typeface="Calibri Light"/>
            </a:endParaRPr>
          </a:p>
        </p:txBody>
      </p:sp>
      <p:sp>
        <p:nvSpPr>
          <p:cNvPr id="46" name="object 6"/>
          <p:cNvSpPr/>
          <p:nvPr/>
        </p:nvSpPr>
        <p:spPr>
          <a:xfrm>
            <a:off x="2102923" y="1348818"/>
            <a:ext cx="3354554" cy="4108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551705" y="1592978"/>
            <a:ext cx="651163" cy="396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85"/>
              </a:spcBef>
            </a:pP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D1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D2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D3  D4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D5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D6  D7  D8  D9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0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1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2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4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2365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/>
          <p:cNvSpPr/>
          <p:nvPr/>
        </p:nvSpPr>
        <p:spPr>
          <a:xfrm>
            <a:off x="5683829" y="2311113"/>
            <a:ext cx="2209800" cy="800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/>
          <p:cNvSpPr/>
          <p:nvPr/>
        </p:nvSpPr>
        <p:spPr>
          <a:xfrm>
            <a:off x="5645729" y="2273013"/>
            <a:ext cx="2143125" cy="914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0"/>
          <p:cNvSpPr/>
          <p:nvPr/>
        </p:nvSpPr>
        <p:spPr>
          <a:xfrm>
            <a:off x="8198429" y="2311113"/>
            <a:ext cx="2200275" cy="8001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1"/>
          <p:cNvSpPr/>
          <p:nvPr/>
        </p:nvSpPr>
        <p:spPr>
          <a:xfrm>
            <a:off x="8160329" y="2273013"/>
            <a:ext cx="2143125" cy="914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2"/>
          <p:cNvSpPr/>
          <p:nvPr/>
        </p:nvSpPr>
        <p:spPr>
          <a:xfrm>
            <a:off x="5683829" y="3320763"/>
            <a:ext cx="2209800" cy="8001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3"/>
          <p:cNvSpPr/>
          <p:nvPr/>
        </p:nvSpPr>
        <p:spPr>
          <a:xfrm>
            <a:off x="5645729" y="3292188"/>
            <a:ext cx="2143125" cy="914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5"/>
          <p:cNvSpPr txBox="1"/>
          <p:nvPr/>
        </p:nvSpPr>
        <p:spPr>
          <a:xfrm>
            <a:off x="5729549" y="3327559"/>
            <a:ext cx="2117725" cy="71564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4064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320"/>
              </a:spcBef>
            </a:pPr>
            <a:r>
              <a:rPr sz="1350" b="1" dirty="0">
                <a:latin typeface="Gill Sans MT"/>
                <a:cs typeface="Gill Sans MT"/>
              </a:rPr>
              <a:t>Humidity:</a:t>
            </a:r>
            <a:endParaRPr sz="1350">
              <a:latin typeface="Gill Sans MT"/>
              <a:cs typeface="Gill Sans MT"/>
            </a:endParaRPr>
          </a:p>
          <a:p>
            <a:pPr marL="95250">
              <a:lnSpc>
                <a:spcPct val="100000"/>
              </a:lnSpc>
              <a:spcBef>
                <a:spcPts val="35"/>
              </a:spcBef>
              <a:tabLst>
                <a:tab pos="1468120" algn="l"/>
              </a:tabLst>
            </a:pPr>
            <a:r>
              <a:rPr sz="1350" spc="15" dirty="0">
                <a:latin typeface="Gill Sans MT"/>
                <a:cs typeface="Gill Sans MT"/>
              </a:rPr>
              <a:t>Info</a:t>
            </a:r>
            <a:r>
              <a:rPr sz="1350" spc="15" dirty="0">
                <a:latin typeface="Times New Roman"/>
                <a:cs typeface="Times New Roman"/>
              </a:rPr>
              <a:t>	</a:t>
            </a:r>
            <a:r>
              <a:rPr sz="1350" dirty="0">
                <a:latin typeface="Gill Sans MT"/>
                <a:cs typeface="Gill Sans MT"/>
              </a:rPr>
              <a:t>0.788</a:t>
            </a:r>
            <a:endParaRPr sz="1350">
              <a:latin typeface="Gill Sans MT"/>
              <a:cs typeface="Gill Sans MT"/>
            </a:endParaRPr>
          </a:p>
          <a:p>
            <a:pPr marL="95250">
              <a:lnSpc>
                <a:spcPct val="100000"/>
              </a:lnSpc>
              <a:spcBef>
                <a:spcPts val="30"/>
              </a:spcBef>
              <a:tabLst>
                <a:tab pos="1468120" algn="l"/>
              </a:tabLst>
            </a:pPr>
            <a:r>
              <a:rPr sz="1350" spc="-5" dirty="0">
                <a:latin typeface="Gill Sans MT"/>
                <a:cs typeface="Gill Sans MT"/>
              </a:rPr>
              <a:t>Gain:</a:t>
            </a:r>
            <a:r>
              <a:rPr sz="1350" spc="-140" dirty="0">
                <a:latin typeface="Gill Sans MT"/>
                <a:cs typeface="Gill Sans MT"/>
              </a:rPr>
              <a:t> </a:t>
            </a:r>
            <a:r>
              <a:rPr sz="1350" dirty="0">
                <a:latin typeface="Gill Sans MT"/>
                <a:cs typeface="Gill Sans MT"/>
              </a:rPr>
              <a:t>0.940-0.788</a:t>
            </a:r>
            <a:r>
              <a:rPr sz="1350" dirty="0">
                <a:latin typeface="Times New Roman"/>
                <a:cs typeface="Times New Roman"/>
              </a:rPr>
              <a:t>	</a:t>
            </a:r>
            <a:r>
              <a:rPr sz="1350" dirty="0">
                <a:latin typeface="Gill Sans MT"/>
                <a:cs typeface="Gill Sans MT"/>
              </a:rPr>
              <a:t>0.152</a:t>
            </a:r>
            <a:endParaRPr sz="1350">
              <a:latin typeface="Gill Sans MT"/>
              <a:cs typeface="Gill Sans MT"/>
            </a:endParaRPr>
          </a:p>
        </p:txBody>
      </p:sp>
      <p:sp>
        <p:nvSpPr>
          <p:cNvPr id="26" name="object 16"/>
          <p:cNvSpPr/>
          <p:nvPr/>
        </p:nvSpPr>
        <p:spPr>
          <a:xfrm>
            <a:off x="7064954" y="4444713"/>
            <a:ext cx="2362200" cy="8001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7"/>
          <p:cNvSpPr txBox="1"/>
          <p:nvPr/>
        </p:nvSpPr>
        <p:spPr>
          <a:xfrm>
            <a:off x="7138121" y="4504066"/>
            <a:ext cx="2215515" cy="68389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635" rIns="0" bIns="0" rtlCol="0">
            <a:spAutoFit/>
          </a:bodyPr>
          <a:lstStyle/>
          <a:p>
            <a:pPr marL="96520" marR="243204">
              <a:lnSpc>
                <a:spcPct val="153100"/>
              </a:lnSpc>
              <a:spcBef>
                <a:spcPts val="5"/>
              </a:spcBef>
            </a:pPr>
            <a:r>
              <a:rPr sz="1350" b="1" spc="10" dirty="0">
                <a:latin typeface="Gill Sans MT"/>
                <a:cs typeface="Gill Sans MT"/>
              </a:rPr>
              <a:t>Since Max gain </a:t>
            </a:r>
            <a:r>
              <a:rPr sz="1350" b="1" dirty="0">
                <a:latin typeface="Gill Sans MT"/>
                <a:cs typeface="Gill Sans MT"/>
              </a:rPr>
              <a:t>=</a:t>
            </a:r>
            <a:r>
              <a:rPr sz="1350" b="1" spc="-245" dirty="0">
                <a:latin typeface="Gill Sans MT"/>
                <a:cs typeface="Gill Sans MT"/>
              </a:rPr>
              <a:t> </a:t>
            </a:r>
            <a:r>
              <a:rPr sz="1350" b="1" dirty="0">
                <a:latin typeface="Gill Sans MT"/>
                <a:cs typeface="Gill Sans MT"/>
              </a:rPr>
              <a:t>0.247,  </a:t>
            </a:r>
            <a:r>
              <a:rPr sz="1350" b="1" spc="-15" dirty="0">
                <a:latin typeface="Gill Sans MT"/>
                <a:cs typeface="Gill Sans MT"/>
              </a:rPr>
              <a:t>ROOT</a:t>
            </a:r>
            <a:r>
              <a:rPr sz="1350" b="1" spc="-80" dirty="0">
                <a:latin typeface="Gill Sans MT"/>
                <a:cs typeface="Gill Sans MT"/>
              </a:rPr>
              <a:t> </a:t>
            </a:r>
            <a:r>
              <a:rPr sz="1350" b="1" spc="5" dirty="0">
                <a:latin typeface="Gill Sans MT"/>
                <a:cs typeface="Gill Sans MT"/>
              </a:rPr>
              <a:t>Node:</a:t>
            </a:r>
            <a:endParaRPr sz="1350">
              <a:latin typeface="Gill Sans MT"/>
              <a:cs typeface="Gill Sans MT"/>
            </a:endParaRPr>
          </a:p>
        </p:txBody>
      </p:sp>
      <p:sp>
        <p:nvSpPr>
          <p:cNvPr id="28" name="object 18"/>
          <p:cNvSpPr txBox="1"/>
          <p:nvPr/>
        </p:nvSpPr>
        <p:spPr>
          <a:xfrm>
            <a:off x="7222438" y="5221317"/>
            <a:ext cx="97916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5" dirty="0">
                <a:latin typeface="Gill Sans MT"/>
                <a:cs typeface="Gill Sans MT"/>
              </a:rPr>
              <a:t>OUTLOOK</a:t>
            </a:r>
            <a:endParaRPr sz="1350">
              <a:latin typeface="Gill Sans MT"/>
              <a:cs typeface="Gill Sans M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308529"/>
              </p:ext>
            </p:extLst>
          </p:nvPr>
        </p:nvGraphicFramePr>
        <p:xfrm>
          <a:off x="2106876" y="2356070"/>
          <a:ext cx="8291828" cy="936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/>
                <a:gridCol w="1393825"/>
                <a:gridCol w="534035"/>
                <a:gridCol w="561974"/>
                <a:gridCol w="25400"/>
                <a:gridCol w="1390649"/>
                <a:gridCol w="728345"/>
              </a:tblGrid>
              <a:tr h="460146"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 dirty="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50" b="1" spc="5" dirty="0">
                          <a:latin typeface="Gill Sans MT"/>
                          <a:cs typeface="Gill Sans MT"/>
                        </a:rPr>
                        <a:t>Outlook:</a:t>
                      </a:r>
                      <a:endParaRPr sz="1350" dirty="0">
                        <a:latin typeface="Gill Sans MT"/>
                        <a:cs typeface="Gill Sans MT"/>
                      </a:endParaRPr>
                    </a:p>
                    <a:p>
                      <a:pPr marL="95250">
                        <a:lnSpc>
                          <a:spcPts val="1560"/>
                        </a:lnSpc>
                        <a:spcBef>
                          <a:spcPts val="35"/>
                        </a:spcBef>
                      </a:pPr>
                      <a:r>
                        <a:rPr sz="1350" spc="15" dirty="0">
                          <a:latin typeface="Gill Sans MT"/>
                          <a:cs typeface="Gill Sans MT"/>
                        </a:rPr>
                        <a:t>Info</a:t>
                      </a:r>
                      <a:endParaRPr sz="1350" dirty="0">
                        <a:latin typeface="Gill Sans MT"/>
                        <a:cs typeface="Gill Sans MT"/>
                      </a:endParaRPr>
                    </a:p>
                  </a:txBody>
                  <a:tcPr marL="0" marR="0" marT="38735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470"/>
                        </a:lnSpc>
                      </a:pPr>
                      <a:r>
                        <a:rPr sz="1350" dirty="0">
                          <a:latin typeface="Gill Sans MT"/>
                          <a:cs typeface="Gill Sans MT"/>
                        </a:rPr>
                        <a:t>0.693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635" marB="0"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50" b="1" spc="-15" dirty="0">
                          <a:latin typeface="Gill Sans MT"/>
                          <a:cs typeface="Gill Sans MT"/>
                        </a:rPr>
                        <a:t>Temperature: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  <a:p>
                      <a:pPr marL="97790">
                        <a:lnSpc>
                          <a:spcPts val="1560"/>
                        </a:lnSpc>
                        <a:spcBef>
                          <a:spcPts val="35"/>
                        </a:spcBef>
                      </a:pPr>
                      <a:r>
                        <a:rPr sz="1350" spc="15" dirty="0">
                          <a:latin typeface="Gill Sans MT"/>
                          <a:cs typeface="Gill Sans MT"/>
                        </a:rPr>
                        <a:t>Info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38735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ts val="1560"/>
                        </a:lnSpc>
                      </a:pPr>
                      <a:r>
                        <a:rPr sz="1350" dirty="0">
                          <a:latin typeface="Gill Sans MT"/>
                          <a:cs typeface="Gill Sans MT"/>
                        </a:rPr>
                        <a:t>0.911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635" marB="0">
                    <a:solidFill>
                      <a:srgbClr val="F2F2F2"/>
                    </a:solidFill>
                  </a:tcPr>
                </a:tc>
              </a:tr>
              <a:tr h="209462">
                <a:tc>
                  <a:txBody>
                    <a:bodyPr/>
                    <a:lstStyle/>
                    <a:p>
                      <a:pPr marL="31750">
                        <a:lnSpc>
                          <a:spcPts val="1080"/>
                        </a:lnSpc>
                        <a:spcBef>
                          <a:spcPts val="470"/>
                        </a:spcBef>
                      </a:pP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50"/>
                        </a:lnSpc>
                      </a:pPr>
                      <a:r>
                        <a:rPr sz="1350" spc="-5" dirty="0">
                          <a:latin typeface="Gill Sans MT"/>
                          <a:cs typeface="Gill Sans MT"/>
                        </a:rPr>
                        <a:t>Gain:</a:t>
                      </a:r>
                      <a:r>
                        <a:rPr sz="1350" spc="-16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dirty="0">
                          <a:latin typeface="Gill Sans MT"/>
                          <a:cs typeface="Gill Sans MT"/>
                        </a:rPr>
                        <a:t>0.940-0.693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80"/>
                        </a:spcBef>
                      </a:pPr>
                      <a:r>
                        <a:rPr sz="1350" dirty="0">
                          <a:latin typeface="Gill Sans MT"/>
                          <a:cs typeface="Gill Sans MT"/>
                        </a:rPr>
                        <a:t>0.247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0"/>
                        </a:lnSpc>
                      </a:pPr>
                      <a:r>
                        <a:rPr sz="1350" spc="-5" dirty="0">
                          <a:latin typeface="Gill Sans MT"/>
                          <a:cs typeface="Gill Sans MT"/>
                        </a:rPr>
                        <a:t>Gain:</a:t>
                      </a:r>
                      <a:r>
                        <a:rPr sz="1350" spc="-16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dirty="0">
                          <a:latin typeface="Gill Sans MT"/>
                          <a:cs typeface="Gill Sans MT"/>
                        </a:rPr>
                        <a:t>0.940-0.911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550"/>
                        </a:lnSpc>
                      </a:pPr>
                      <a:r>
                        <a:rPr sz="1350" dirty="0">
                          <a:latin typeface="Gill Sans MT"/>
                          <a:cs typeface="Gill Sans MT"/>
                        </a:rPr>
                        <a:t>0.029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solidFill>
                      <a:srgbClr val="F2F2F2"/>
                    </a:solidFill>
                  </a:tcPr>
                </a:tc>
              </a:tr>
              <a:tr h="459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0000"/>
                      </a:solidFill>
                      <a:prstDash val="soli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2F2F2"/>
                    </a:solidFill>
                  </a:tcPr>
                </a:tc>
              </a:tr>
              <a:tr h="213874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  <a:spcBef>
                          <a:spcPts val="409"/>
                        </a:spcBef>
                      </a:pP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9" name="object 6"/>
          <p:cNvSpPr/>
          <p:nvPr/>
        </p:nvSpPr>
        <p:spPr>
          <a:xfrm>
            <a:off x="2102923" y="1348818"/>
            <a:ext cx="3354554" cy="41089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551705" y="1592978"/>
            <a:ext cx="651163" cy="396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85"/>
              </a:spcBef>
            </a:pP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D1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D2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D3  D4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D5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D6  D7  D8  D9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0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1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2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4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95064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2241473" y="1348818"/>
            <a:ext cx="3354554" cy="4108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/>
          <p:nvPr/>
        </p:nvSpPr>
        <p:spPr>
          <a:xfrm>
            <a:off x="5982768" y="1455257"/>
            <a:ext cx="3702676" cy="28648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4"/>
          <p:cNvSpPr txBox="1"/>
          <p:nvPr/>
        </p:nvSpPr>
        <p:spPr>
          <a:xfrm>
            <a:off x="6713630" y="4831305"/>
            <a:ext cx="2426635" cy="626417"/>
          </a:xfrm>
          <a:prstGeom prst="rect">
            <a:avLst/>
          </a:prstGeom>
          <a:solidFill>
            <a:srgbClr val="7F7F7F"/>
          </a:solidFill>
          <a:ln w="19049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450215" marR="391160" indent="-38100">
              <a:lnSpc>
                <a:spcPct val="120700"/>
              </a:lnSpc>
              <a:spcBef>
                <a:spcPts val="9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Outlook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40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overcast 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Contains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yes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0" name="object 15"/>
          <p:cNvSpPr/>
          <p:nvPr/>
        </p:nvSpPr>
        <p:spPr>
          <a:xfrm>
            <a:off x="7926947" y="4114123"/>
            <a:ext cx="0" cy="717182"/>
          </a:xfrm>
          <a:custGeom>
            <a:avLst/>
            <a:gdLst/>
            <a:ahLst/>
            <a:cxnLst/>
            <a:rect l="l" t="t" r="r" b="b"/>
            <a:pathLst>
              <a:path h="662304">
                <a:moveTo>
                  <a:pt x="0" y="0"/>
                </a:moveTo>
                <a:lnTo>
                  <a:pt x="0" y="661940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90255" y="1592978"/>
            <a:ext cx="651163" cy="396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85"/>
              </a:spcBef>
            </a:pP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D1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D2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D3  D4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D5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D6  D7  D8  D9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0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1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2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4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2520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2241473" y="1348818"/>
            <a:ext cx="3354554" cy="4108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90255" y="1592978"/>
            <a:ext cx="651163" cy="396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85"/>
              </a:spcBef>
            </a:pP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D1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D2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D3  D4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D5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D6  D7  D8  D9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0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1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2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4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11" name="object 9"/>
          <p:cNvSpPr/>
          <p:nvPr/>
        </p:nvSpPr>
        <p:spPr>
          <a:xfrm>
            <a:off x="7910981" y="1277873"/>
            <a:ext cx="1032510" cy="979169"/>
          </a:xfrm>
          <a:custGeom>
            <a:avLst/>
            <a:gdLst/>
            <a:ahLst/>
            <a:cxnLst/>
            <a:rect l="l" t="t" r="r" b="b"/>
            <a:pathLst>
              <a:path w="1032509" h="979169">
                <a:moveTo>
                  <a:pt x="0" y="489325"/>
                </a:moveTo>
                <a:lnTo>
                  <a:pt x="2363" y="442202"/>
                </a:lnTo>
                <a:lnTo>
                  <a:pt x="9309" y="396345"/>
                </a:lnTo>
                <a:lnTo>
                  <a:pt x="20621" y="351961"/>
                </a:lnTo>
                <a:lnTo>
                  <a:pt x="36083" y="309253"/>
                </a:lnTo>
                <a:lnTo>
                  <a:pt x="55477" y="268428"/>
                </a:lnTo>
                <a:lnTo>
                  <a:pt x="78588" y="229690"/>
                </a:lnTo>
                <a:lnTo>
                  <a:pt x="105199" y="193245"/>
                </a:lnTo>
                <a:lnTo>
                  <a:pt x="135093" y="159297"/>
                </a:lnTo>
                <a:lnTo>
                  <a:pt x="168053" y="128052"/>
                </a:lnTo>
                <a:lnTo>
                  <a:pt x="203864" y="99715"/>
                </a:lnTo>
                <a:lnTo>
                  <a:pt x="242308" y="74490"/>
                </a:lnTo>
                <a:lnTo>
                  <a:pt x="283169" y="52584"/>
                </a:lnTo>
                <a:lnTo>
                  <a:pt x="326230" y="34200"/>
                </a:lnTo>
                <a:lnTo>
                  <a:pt x="371275" y="19545"/>
                </a:lnTo>
                <a:lnTo>
                  <a:pt x="418088" y="8823"/>
                </a:lnTo>
                <a:lnTo>
                  <a:pt x="466451" y="2240"/>
                </a:lnTo>
                <a:lnTo>
                  <a:pt x="516148" y="0"/>
                </a:lnTo>
                <a:lnTo>
                  <a:pt x="565865" y="2240"/>
                </a:lnTo>
                <a:lnTo>
                  <a:pt x="614245" y="8823"/>
                </a:lnTo>
                <a:lnTo>
                  <a:pt x="661072" y="19545"/>
                </a:lnTo>
                <a:lnTo>
                  <a:pt x="706129" y="34200"/>
                </a:lnTo>
                <a:lnTo>
                  <a:pt x="749200" y="52584"/>
                </a:lnTo>
                <a:lnTo>
                  <a:pt x="790068" y="74490"/>
                </a:lnTo>
                <a:lnTo>
                  <a:pt x="828518" y="99715"/>
                </a:lnTo>
                <a:lnTo>
                  <a:pt x="864332" y="128052"/>
                </a:lnTo>
                <a:lnTo>
                  <a:pt x="897296" y="159297"/>
                </a:lnTo>
                <a:lnTo>
                  <a:pt x="927191" y="193245"/>
                </a:lnTo>
                <a:lnTo>
                  <a:pt x="953802" y="229690"/>
                </a:lnTo>
                <a:lnTo>
                  <a:pt x="976913" y="268428"/>
                </a:lnTo>
                <a:lnTo>
                  <a:pt x="996307" y="309253"/>
                </a:lnTo>
                <a:lnTo>
                  <a:pt x="1011768" y="351961"/>
                </a:lnTo>
                <a:lnTo>
                  <a:pt x="1023079" y="396345"/>
                </a:lnTo>
                <a:lnTo>
                  <a:pt x="1030024" y="442202"/>
                </a:lnTo>
                <a:lnTo>
                  <a:pt x="1032388" y="489325"/>
                </a:lnTo>
                <a:lnTo>
                  <a:pt x="1030024" y="536455"/>
                </a:lnTo>
                <a:lnTo>
                  <a:pt x="1023079" y="582320"/>
                </a:lnTo>
                <a:lnTo>
                  <a:pt x="1011768" y="626714"/>
                </a:lnTo>
                <a:lnTo>
                  <a:pt x="996307" y="669431"/>
                </a:lnTo>
                <a:lnTo>
                  <a:pt x="976913" y="710268"/>
                </a:lnTo>
                <a:lnTo>
                  <a:pt x="953802" y="749017"/>
                </a:lnTo>
                <a:lnTo>
                  <a:pt x="927191" y="785475"/>
                </a:lnTo>
                <a:lnTo>
                  <a:pt x="897296" y="819435"/>
                </a:lnTo>
                <a:lnTo>
                  <a:pt x="864332" y="850692"/>
                </a:lnTo>
                <a:lnTo>
                  <a:pt x="828518" y="879041"/>
                </a:lnTo>
                <a:lnTo>
                  <a:pt x="790068" y="904277"/>
                </a:lnTo>
                <a:lnTo>
                  <a:pt x="749200" y="926193"/>
                </a:lnTo>
                <a:lnTo>
                  <a:pt x="706129" y="944585"/>
                </a:lnTo>
                <a:lnTo>
                  <a:pt x="661072" y="959248"/>
                </a:lnTo>
                <a:lnTo>
                  <a:pt x="614245" y="969975"/>
                </a:lnTo>
                <a:lnTo>
                  <a:pt x="565865" y="976562"/>
                </a:lnTo>
                <a:lnTo>
                  <a:pt x="516148" y="978804"/>
                </a:lnTo>
                <a:lnTo>
                  <a:pt x="466451" y="976562"/>
                </a:lnTo>
                <a:lnTo>
                  <a:pt x="418088" y="969975"/>
                </a:lnTo>
                <a:lnTo>
                  <a:pt x="371275" y="959248"/>
                </a:lnTo>
                <a:lnTo>
                  <a:pt x="326230" y="944585"/>
                </a:lnTo>
                <a:lnTo>
                  <a:pt x="283169" y="926193"/>
                </a:lnTo>
                <a:lnTo>
                  <a:pt x="242308" y="904277"/>
                </a:lnTo>
                <a:lnTo>
                  <a:pt x="203864" y="879041"/>
                </a:lnTo>
                <a:lnTo>
                  <a:pt x="168053" y="850692"/>
                </a:lnTo>
                <a:lnTo>
                  <a:pt x="135093" y="819435"/>
                </a:lnTo>
                <a:lnTo>
                  <a:pt x="105199" y="785475"/>
                </a:lnTo>
                <a:lnTo>
                  <a:pt x="78588" y="749017"/>
                </a:lnTo>
                <a:lnTo>
                  <a:pt x="55477" y="710268"/>
                </a:lnTo>
                <a:lnTo>
                  <a:pt x="36083" y="669431"/>
                </a:lnTo>
                <a:lnTo>
                  <a:pt x="20621" y="626714"/>
                </a:lnTo>
                <a:lnTo>
                  <a:pt x="9309" y="582320"/>
                </a:lnTo>
                <a:lnTo>
                  <a:pt x="2363" y="536455"/>
                </a:lnTo>
                <a:lnTo>
                  <a:pt x="0" y="489325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 txBox="1"/>
          <p:nvPr/>
        </p:nvSpPr>
        <p:spPr>
          <a:xfrm>
            <a:off x="8116609" y="1640910"/>
            <a:ext cx="6311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Windy?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1"/>
          <p:cNvSpPr/>
          <p:nvPr/>
        </p:nvSpPr>
        <p:spPr>
          <a:xfrm>
            <a:off x="7458872" y="2228209"/>
            <a:ext cx="976630" cy="640080"/>
          </a:xfrm>
          <a:custGeom>
            <a:avLst/>
            <a:gdLst/>
            <a:ahLst/>
            <a:cxnLst/>
            <a:rect l="l" t="t" r="r" b="b"/>
            <a:pathLst>
              <a:path w="976629" h="640080">
                <a:moveTo>
                  <a:pt x="48524" y="557168"/>
                </a:moveTo>
                <a:lnTo>
                  <a:pt x="0" y="639714"/>
                </a:lnTo>
                <a:lnTo>
                  <a:pt x="95250" y="629046"/>
                </a:lnTo>
                <a:lnTo>
                  <a:pt x="84762" y="612913"/>
                </a:lnTo>
                <a:lnTo>
                  <a:pt x="67696" y="612913"/>
                </a:lnTo>
                <a:lnTo>
                  <a:pt x="52059" y="588910"/>
                </a:lnTo>
                <a:lnTo>
                  <a:pt x="64089" y="581112"/>
                </a:lnTo>
                <a:lnTo>
                  <a:pt x="48524" y="557168"/>
                </a:lnTo>
                <a:close/>
              </a:path>
              <a:path w="976629" h="640080">
                <a:moveTo>
                  <a:pt x="64089" y="581112"/>
                </a:moveTo>
                <a:lnTo>
                  <a:pt x="52059" y="588910"/>
                </a:lnTo>
                <a:lnTo>
                  <a:pt x="67696" y="612913"/>
                </a:lnTo>
                <a:lnTo>
                  <a:pt x="79702" y="605129"/>
                </a:lnTo>
                <a:lnTo>
                  <a:pt x="64089" y="581112"/>
                </a:lnTo>
                <a:close/>
              </a:path>
              <a:path w="976629" h="640080">
                <a:moveTo>
                  <a:pt x="79702" y="605129"/>
                </a:moveTo>
                <a:lnTo>
                  <a:pt x="67696" y="612913"/>
                </a:lnTo>
                <a:lnTo>
                  <a:pt x="84762" y="612913"/>
                </a:lnTo>
                <a:lnTo>
                  <a:pt x="79702" y="605129"/>
                </a:lnTo>
                <a:close/>
              </a:path>
              <a:path w="976629" h="640080">
                <a:moveTo>
                  <a:pt x="960516" y="0"/>
                </a:moveTo>
                <a:lnTo>
                  <a:pt x="64089" y="581112"/>
                </a:lnTo>
                <a:lnTo>
                  <a:pt x="79702" y="605129"/>
                </a:lnTo>
                <a:lnTo>
                  <a:pt x="976122" y="24018"/>
                </a:lnTo>
                <a:lnTo>
                  <a:pt x="9605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2"/>
          <p:cNvSpPr/>
          <p:nvPr/>
        </p:nvSpPr>
        <p:spPr>
          <a:xfrm>
            <a:off x="8419510" y="2228209"/>
            <a:ext cx="920750" cy="598805"/>
          </a:xfrm>
          <a:custGeom>
            <a:avLst/>
            <a:gdLst/>
            <a:ahLst/>
            <a:cxnLst/>
            <a:rect l="l" t="t" r="r" b="b"/>
            <a:pathLst>
              <a:path w="920750" h="598805">
                <a:moveTo>
                  <a:pt x="840712" y="563961"/>
                </a:moveTo>
                <a:lnTo>
                  <a:pt x="825246" y="588029"/>
                </a:lnTo>
                <a:lnTo>
                  <a:pt x="920496" y="598316"/>
                </a:lnTo>
                <a:lnTo>
                  <a:pt x="904677" y="571646"/>
                </a:lnTo>
                <a:lnTo>
                  <a:pt x="852678" y="571646"/>
                </a:lnTo>
                <a:lnTo>
                  <a:pt x="840712" y="563961"/>
                </a:lnTo>
                <a:close/>
              </a:path>
              <a:path w="920750" h="598805">
                <a:moveTo>
                  <a:pt x="856154" y="539932"/>
                </a:moveTo>
                <a:lnTo>
                  <a:pt x="840712" y="563961"/>
                </a:lnTo>
                <a:lnTo>
                  <a:pt x="852678" y="571646"/>
                </a:lnTo>
                <a:lnTo>
                  <a:pt x="868161" y="547643"/>
                </a:lnTo>
                <a:lnTo>
                  <a:pt x="856154" y="539932"/>
                </a:lnTo>
                <a:close/>
              </a:path>
              <a:path w="920750" h="598805">
                <a:moveTo>
                  <a:pt x="871606" y="515889"/>
                </a:moveTo>
                <a:lnTo>
                  <a:pt x="856154" y="539932"/>
                </a:lnTo>
                <a:lnTo>
                  <a:pt x="868161" y="547643"/>
                </a:lnTo>
                <a:lnTo>
                  <a:pt x="852678" y="571646"/>
                </a:lnTo>
                <a:lnTo>
                  <a:pt x="904677" y="571646"/>
                </a:lnTo>
                <a:lnTo>
                  <a:pt x="871606" y="515889"/>
                </a:lnTo>
                <a:close/>
              </a:path>
              <a:path w="920750" h="598805">
                <a:moveTo>
                  <a:pt x="15361" y="0"/>
                </a:moveTo>
                <a:lnTo>
                  <a:pt x="0" y="24018"/>
                </a:lnTo>
                <a:lnTo>
                  <a:pt x="840712" y="563961"/>
                </a:lnTo>
                <a:lnTo>
                  <a:pt x="856154" y="539932"/>
                </a:lnTo>
                <a:lnTo>
                  <a:pt x="153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3"/>
          <p:cNvSpPr txBox="1"/>
          <p:nvPr/>
        </p:nvSpPr>
        <p:spPr>
          <a:xfrm>
            <a:off x="6746851" y="2902965"/>
            <a:ext cx="868044" cy="317500"/>
          </a:xfrm>
          <a:prstGeom prst="rect">
            <a:avLst/>
          </a:prstGeom>
          <a:solidFill>
            <a:srgbClr val="F07F09"/>
          </a:solidFill>
        </p:spPr>
        <p:txBody>
          <a:bodyPr vert="horz" wrap="square" lIns="0" tIns="2984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235"/>
              </a:spcBef>
            </a:pP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4"/>
          <p:cNvSpPr/>
          <p:nvPr/>
        </p:nvSpPr>
        <p:spPr>
          <a:xfrm>
            <a:off x="6691026" y="3206195"/>
            <a:ext cx="993979" cy="2365503"/>
          </a:xfrm>
          <a:custGeom>
            <a:avLst/>
            <a:gdLst/>
            <a:ahLst/>
            <a:cxnLst/>
            <a:rect l="l" t="t" r="r" b="b"/>
            <a:pathLst>
              <a:path w="896620" h="2080260">
                <a:moveTo>
                  <a:pt x="0" y="2080259"/>
                </a:moveTo>
                <a:lnTo>
                  <a:pt x="896063" y="2080259"/>
                </a:lnTo>
                <a:lnTo>
                  <a:pt x="896063" y="0"/>
                </a:lnTo>
                <a:lnTo>
                  <a:pt x="0" y="0"/>
                </a:lnTo>
                <a:lnTo>
                  <a:pt x="0" y="208025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5"/>
          <p:cNvSpPr txBox="1"/>
          <p:nvPr/>
        </p:nvSpPr>
        <p:spPr>
          <a:xfrm>
            <a:off x="6732564" y="3188659"/>
            <a:ext cx="910905" cy="23771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0195" marR="278130" algn="just">
              <a:lnSpc>
                <a:spcPct val="120100"/>
              </a:lnSpc>
              <a:spcBef>
                <a:spcPts val="105"/>
              </a:spcBef>
            </a:pPr>
            <a:r>
              <a:rPr sz="1600" spc="-185" dirty="0">
                <a:latin typeface="Arial"/>
                <a:cs typeface="Arial"/>
              </a:rPr>
              <a:t>Y</a:t>
            </a:r>
            <a:r>
              <a:rPr sz="1600" spc="45" dirty="0">
                <a:latin typeface="Arial"/>
                <a:cs typeface="Arial"/>
              </a:rPr>
              <a:t>e</a:t>
            </a:r>
            <a:r>
              <a:rPr sz="1600" spc="10" dirty="0">
                <a:latin typeface="Arial"/>
                <a:cs typeface="Arial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85" dirty="0">
                <a:latin typeface="Arial"/>
                <a:cs typeface="Arial"/>
              </a:rPr>
              <a:t>Y</a:t>
            </a:r>
            <a:r>
              <a:rPr sz="1600" spc="45" dirty="0">
                <a:latin typeface="Arial"/>
                <a:cs typeface="Arial"/>
              </a:rPr>
              <a:t>e</a:t>
            </a:r>
            <a:r>
              <a:rPr sz="1600" spc="10" dirty="0">
                <a:latin typeface="Arial"/>
                <a:cs typeface="Arial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85" dirty="0">
                <a:latin typeface="Arial"/>
                <a:cs typeface="Arial"/>
              </a:rPr>
              <a:t>Y</a:t>
            </a:r>
            <a:r>
              <a:rPr sz="1600" spc="45" dirty="0">
                <a:latin typeface="Arial"/>
                <a:cs typeface="Arial"/>
              </a:rPr>
              <a:t>e</a:t>
            </a:r>
            <a:r>
              <a:rPr sz="1600" spc="10" dirty="0">
                <a:latin typeface="Arial"/>
                <a:cs typeface="Arial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85" dirty="0">
                <a:latin typeface="Arial"/>
                <a:cs typeface="Arial"/>
              </a:rPr>
              <a:t>Y</a:t>
            </a:r>
            <a:r>
              <a:rPr sz="1600" spc="45" dirty="0">
                <a:latin typeface="Arial"/>
                <a:cs typeface="Arial"/>
              </a:rPr>
              <a:t>e</a:t>
            </a:r>
            <a:r>
              <a:rPr sz="1600" spc="10" dirty="0">
                <a:latin typeface="Arial"/>
                <a:cs typeface="Arial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85" dirty="0">
                <a:latin typeface="Arial"/>
                <a:cs typeface="Arial"/>
              </a:rPr>
              <a:t>Y</a:t>
            </a:r>
            <a:r>
              <a:rPr sz="1600" spc="45" dirty="0">
                <a:latin typeface="Arial"/>
                <a:cs typeface="Arial"/>
              </a:rPr>
              <a:t>e</a:t>
            </a:r>
            <a:r>
              <a:rPr sz="1600" spc="10" dirty="0">
                <a:latin typeface="Arial"/>
                <a:cs typeface="Arial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85" dirty="0">
                <a:latin typeface="Arial"/>
                <a:cs typeface="Arial"/>
              </a:rPr>
              <a:t>Y</a:t>
            </a:r>
            <a:r>
              <a:rPr sz="1600" spc="45" dirty="0">
                <a:latin typeface="Arial"/>
                <a:cs typeface="Arial"/>
              </a:rPr>
              <a:t>e</a:t>
            </a:r>
            <a:r>
              <a:rPr sz="1600" spc="10" dirty="0">
                <a:latin typeface="Arial"/>
                <a:cs typeface="Arial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Arial"/>
                <a:cs typeface="Arial"/>
              </a:rPr>
              <a:t>No  No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8" name="object 16"/>
          <p:cNvSpPr txBox="1"/>
          <p:nvPr/>
        </p:nvSpPr>
        <p:spPr>
          <a:xfrm>
            <a:off x="9029406" y="2858638"/>
            <a:ext cx="868044" cy="319405"/>
          </a:xfrm>
          <a:prstGeom prst="rect">
            <a:avLst/>
          </a:prstGeom>
          <a:solidFill>
            <a:srgbClr val="F07F09"/>
          </a:solidFill>
        </p:spPr>
        <p:txBody>
          <a:bodyPr vert="horz" wrap="square" lIns="0" tIns="2984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235"/>
              </a:spcBef>
            </a:pP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7"/>
          <p:cNvSpPr/>
          <p:nvPr/>
        </p:nvSpPr>
        <p:spPr>
          <a:xfrm>
            <a:off x="9015119" y="3192334"/>
            <a:ext cx="896619" cy="1853374"/>
          </a:xfrm>
          <a:custGeom>
            <a:avLst/>
            <a:gdLst/>
            <a:ahLst/>
            <a:cxnLst/>
            <a:rect l="l" t="t" r="r" b="b"/>
            <a:pathLst>
              <a:path w="896620" h="1597025">
                <a:moveTo>
                  <a:pt x="0" y="1596521"/>
                </a:moveTo>
                <a:lnTo>
                  <a:pt x="896063" y="1596521"/>
                </a:lnTo>
                <a:lnTo>
                  <a:pt x="896063" y="0"/>
                </a:lnTo>
                <a:lnTo>
                  <a:pt x="0" y="0"/>
                </a:lnTo>
                <a:lnTo>
                  <a:pt x="0" y="1596521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/>
          <p:cNvSpPr txBox="1"/>
          <p:nvPr/>
        </p:nvSpPr>
        <p:spPr>
          <a:xfrm>
            <a:off x="8954462" y="3220465"/>
            <a:ext cx="1199466" cy="18252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marR="276225" algn="just">
              <a:lnSpc>
                <a:spcPct val="120700"/>
              </a:lnSpc>
              <a:spcBef>
                <a:spcPts val="95"/>
              </a:spcBef>
            </a:pPr>
            <a:r>
              <a:rPr sz="1600" spc="-190" dirty="0">
                <a:latin typeface="Arial"/>
                <a:cs typeface="Arial"/>
              </a:rPr>
              <a:t>Y</a:t>
            </a:r>
            <a:r>
              <a:rPr sz="1600" spc="40" dirty="0">
                <a:latin typeface="Arial"/>
                <a:cs typeface="Arial"/>
              </a:rPr>
              <a:t>e</a:t>
            </a:r>
            <a:r>
              <a:rPr sz="1600" spc="10" dirty="0">
                <a:latin typeface="Arial"/>
                <a:cs typeface="Arial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90" dirty="0">
                <a:latin typeface="Arial"/>
                <a:cs typeface="Arial"/>
              </a:rPr>
              <a:t>Y</a:t>
            </a:r>
            <a:r>
              <a:rPr sz="1600" spc="40" dirty="0">
                <a:latin typeface="Arial"/>
                <a:cs typeface="Arial"/>
              </a:rPr>
              <a:t>e</a:t>
            </a:r>
            <a:r>
              <a:rPr sz="1600" spc="10" dirty="0">
                <a:latin typeface="Arial"/>
                <a:cs typeface="Arial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90" dirty="0">
                <a:latin typeface="Arial"/>
                <a:cs typeface="Arial"/>
              </a:rPr>
              <a:t>Y</a:t>
            </a:r>
            <a:r>
              <a:rPr sz="1600" spc="40" dirty="0">
                <a:latin typeface="Arial"/>
                <a:cs typeface="Arial"/>
              </a:rPr>
              <a:t>e</a:t>
            </a:r>
            <a:r>
              <a:rPr sz="1600" spc="10" dirty="0">
                <a:latin typeface="Arial"/>
                <a:cs typeface="Arial"/>
              </a:rPr>
              <a:t>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Arial"/>
                <a:cs typeface="Arial"/>
              </a:rPr>
              <a:t>No </a:t>
            </a:r>
            <a:endParaRPr lang="en-US" sz="1600" spc="-45" dirty="0" smtClean="0">
              <a:latin typeface="Arial"/>
              <a:cs typeface="Arial"/>
            </a:endParaRPr>
          </a:p>
          <a:p>
            <a:pPr marL="292100" marR="276225" algn="just">
              <a:lnSpc>
                <a:spcPct val="120700"/>
              </a:lnSpc>
              <a:spcBef>
                <a:spcPts val="95"/>
              </a:spcBef>
            </a:pPr>
            <a:r>
              <a:rPr sz="1600" spc="-45" dirty="0" smtClean="0">
                <a:latin typeface="Arial"/>
                <a:cs typeface="Arial"/>
              </a:rPr>
              <a:t>No</a:t>
            </a:r>
            <a:endParaRPr lang="en-US" sz="1600" spc="-45" dirty="0" smtClean="0">
              <a:latin typeface="Arial"/>
              <a:cs typeface="Arial"/>
            </a:endParaRPr>
          </a:p>
          <a:p>
            <a:pPr marL="292100" marR="276225" algn="just">
              <a:lnSpc>
                <a:spcPct val="120700"/>
              </a:lnSpc>
              <a:spcBef>
                <a:spcPts val="95"/>
              </a:spcBef>
            </a:pPr>
            <a:r>
              <a:rPr sz="1600" spc="-45" dirty="0" smtClean="0">
                <a:latin typeface="Arial"/>
                <a:cs typeface="Arial"/>
              </a:rPr>
              <a:t>No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2" name="object 8"/>
          <p:cNvSpPr/>
          <p:nvPr/>
        </p:nvSpPr>
        <p:spPr>
          <a:xfrm>
            <a:off x="7909775" y="1279830"/>
            <a:ext cx="1032510" cy="979169"/>
          </a:xfrm>
          <a:custGeom>
            <a:avLst/>
            <a:gdLst/>
            <a:ahLst/>
            <a:cxnLst/>
            <a:rect l="l" t="t" r="r" b="b"/>
            <a:pathLst>
              <a:path w="1032509" h="979169">
                <a:moveTo>
                  <a:pt x="516148" y="0"/>
                </a:moveTo>
                <a:lnTo>
                  <a:pt x="466451" y="2240"/>
                </a:lnTo>
                <a:lnTo>
                  <a:pt x="418088" y="8823"/>
                </a:lnTo>
                <a:lnTo>
                  <a:pt x="371275" y="19545"/>
                </a:lnTo>
                <a:lnTo>
                  <a:pt x="326230" y="34200"/>
                </a:lnTo>
                <a:lnTo>
                  <a:pt x="283169" y="52584"/>
                </a:lnTo>
                <a:lnTo>
                  <a:pt x="242308" y="74490"/>
                </a:lnTo>
                <a:lnTo>
                  <a:pt x="203864" y="99715"/>
                </a:lnTo>
                <a:lnTo>
                  <a:pt x="168053" y="128052"/>
                </a:lnTo>
                <a:lnTo>
                  <a:pt x="135093" y="159297"/>
                </a:lnTo>
                <a:lnTo>
                  <a:pt x="105199" y="193245"/>
                </a:lnTo>
                <a:lnTo>
                  <a:pt x="78588" y="229690"/>
                </a:lnTo>
                <a:lnTo>
                  <a:pt x="55477" y="268428"/>
                </a:lnTo>
                <a:lnTo>
                  <a:pt x="36083" y="309253"/>
                </a:lnTo>
                <a:lnTo>
                  <a:pt x="20621" y="351961"/>
                </a:lnTo>
                <a:lnTo>
                  <a:pt x="9309" y="396345"/>
                </a:lnTo>
                <a:lnTo>
                  <a:pt x="2363" y="442202"/>
                </a:lnTo>
                <a:lnTo>
                  <a:pt x="0" y="489325"/>
                </a:lnTo>
                <a:lnTo>
                  <a:pt x="2363" y="536455"/>
                </a:lnTo>
                <a:lnTo>
                  <a:pt x="9309" y="582320"/>
                </a:lnTo>
                <a:lnTo>
                  <a:pt x="20621" y="626714"/>
                </a:lnTo>
                <a:lnTo>
                  <a:pt x="36083" y="669431"/>
                </a:lnTo>
                <a:lnTo>
                  <a:pt x="55477" y="710268"/>
                </a:lnTo>
                <a:lnTo>
                  <a:pt x="78588" y="749018"/>
                </a:lnTo>
                <a:lnTo>
                  <a:pt x="105199" y="785475"/>
                </a:lnTo>
                <a:lnTo>
                  <a:pt x="135093" y="819435"/>
                </a:lnTo>
                <a:lnTo>
                  <a:pt x="168053" y="850692"/>
                </a:lnTo>
                <a:lnTo>
                  <a:pt x="203864" y="879041"/>
                </a:lnTo>
                <a:lnTo>
                  <a:pt x="242308" y="904277"/>
                </a:lnTo>
                <a:lnTo>
                  <a:pt x="283169" y="926193"/>
                </a:lnTo>
                <a:lnTo>
                  <a:pt x="326230" y="944585"/>
                </a:lnTo>
                <a:lnTo>
                  <a:pt x="371275" y="959248"/>
                </a:lnTo>
                <a:lnTo>
                  <a:pt x="418088" y="969975"/>
                </a:lnTo>
                <a:lnTo>
                  <a:pt x="466451" y="976562"/>
                </a:lnTo>
                <a:lnTo>
                  <a:pt x="516148" y="978804"/>
                </a:lnTo>
                <a:lnTo>
                  <a:pt x="565865" y="976562"/>
                </a:lnTo>
                <a:lnTo>
                  <a:pt x="614245" y="969975"/>
                </a:lnTo>
                <a:lnTo>
                  <a:pt x="661072" y="959248"/>
                </a:lnTo>
                <a:lnTo>
                  <a:pt x="706129" y="944585"/>
                </a:lnTo>
                <a:lnTo>
                  <a:pt x="749200" y="926193"/>
                </a:lnTo>
                <a:lnTo>
                  <a:pt x="790068" y="904277"/>
                </a:lnTo>
                <a:lnTo>
                  <a:pt x="828518" y="879041"/>
                </a:lnTo>
                <a:lnTo>
                  <a:pt x="864332" y="850692"/>
                </a:lnTo>
                <a:lnTo>
                  <a:pt x="897296" y="819435"/>
                </a:lnTo>
                <a:lnTo>
                  <a:pt x="927191" y="785475"/>
                </a:lnTo>
                <a:lnTo>
                  <a:pt x="953802" y="749018"/>
                </a:lnTo>
                <a:lnTo>
                  <a:pt x="976913" y="710268"/>
                </a:lnTo>
                <a:lnTo>
                  <a:pt x="996307" y="669431"/>
                </a:lnTo>
                <a:lnTo>
                  <a:pt x="1011768" y="626714"/>
                </a:lnTo>
                <a:lnTo>
                  <a:pt x="1023079" y="582320"/>
                </a:lnTo>
                <a:lnTo>
                  <a:pt x="1030024" y="536455"/>
                </a:lnTo>
                <a:lnTo>
                  <a:pt x="1032388" y="489325"/>
                </a:lnTo>
                <a:lnTo>
                  <a:pt x="1030024" y="442202"/>
                </a:lnTo>
                <a:lnTo>
                  <a:pt x="1023079" y="396345"/>
                </a:lnTo>
                <a:lnTo>
                  <a:pt x="1011768" y="351961"/>
                </a:lnTo>
                <a:lnTo>
                  <a:pt x="996307" y="309253"/>
                </a:lnTo>
                <a:lnTo>
                  <a:pt x="976913" y="268428"/>
                </a:lnTo>
                <a:lnTo>
                  <a:pt x="953802" y="229690"/>
                </a:lnTo>
                <a:lnTo>
                  <a:pt x="927191" y="193245"/>
                </a:lnTo>
                <a:lnTo>
                  <a:pt x="897296" y="159297"/>
                </a:lnTo>
                <a:lnTo>
                  <a:pt x="864332" y="128052"/>
                </a:lnTo>
                <a:lnTo>
                  <a:pt x="828518" y="99715"/>
                </a:lnTo>
                <a:lnTo>
                  <a:pt x="790068" y="74490"/>
                </a:lnTo>
                <a:lnTo>
                  <a:pt x="749200" y="52584"/>
                </a:lnTo>
                <a:lnTo>
                  <a:pt x="706129" y="34200"/>
                </a:lnTo>
                <a:lnTo>
                  <a:pt x="661072" y="19545"/>
                </a:lnTo>
                <a:lnTo>
                  <a:pt x="614245" y="8823"/>
                </a:lnTo>
                <a:lnTo>
                  <a:pt x="565865" y="2240"/>
                </a:lnTo>
                <a:lnTo>
                  <a:pt x="51614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0"/>
          <p:cNvSpPr txBox="1"/>
          <p:nvPr/>
        </p:nvSpPr>
        <p:spPr>
          <a:xfrm>
            <a:off x="8115402" y="1642867"/>
            <a:ext cx="6311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Windy?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5638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2241473" y="1348818"/>
            <a:ext cx="3354554" cy="4108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90255" y="1592978"/>
            <a:ext cx="651163" cy="396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85"/>
              </a:spcBef>
            </a:pP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D1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D2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D3  D4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D5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D6  D7  D8  D9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0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1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2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4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4177" y="1592978"/>
            <a:ext cx="202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5" dirty="0">
                <a:latin typeface="Calibri Light"/>
                <a:cs typeface="Calibri Light"/>
              </a:rPr>
              <a:t>E(Windy = </a:t>
            </a:r>
            <a:r>
              <a:rPr lang="en-US" i="1" spc="-20" dirty="0">
                <a:latin typeface="Calibri Light"/>
                <a:cs typeface="Calibri Light"/>
              </a:rPr>
              <a:t>True) </a:t>
            </a:r>
            <a:r>
              <a:rPr lang="en-US" i="1" spc="-5" dirty="0">
                <a:latin typeface="Calibri Light"/>
                <a:cs typeface="Calibri Light"/>
              </a:rPr>
              <a:t>=</a:t>
            </a:r>
            <a:r>
              <a:rPr lang="en-US" i="1" spc="-15" dirty="0">
                <a:latin typeface="Calibri Light"/>
                <a:cs typeface="Calibri Light"/>
              </a:rPr>
              <a:t> </a:t>
            </a:r>
            <a:r>
              <a:rPr lang="en-US" i="1" spc="5" dirty="0">
                <a:latin typeface="Calibri Light"/>
                <a:cs typeface="Calibri Light"/>
              </a:rPr>
              <a:t>1</a:t>
            </a:r>
            <a:r>
              <a:rPr lang="en-US" i="1" dirty="0">
                <a:latin typeface="Calibri Light"/>
                <a:cs typeface="Calibri Light"/>
              </a:rPr>
              <a:t> </a:t>
            </a:r>
            <a:endParaRPr lang="en-US" dirty="0">
              <a:latin typeface="Calibri Light"/>
              <a:cs typeface="Calibri Ligh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04177" y="2259374"/>
            <a:ext cx="24988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5" dirty="0">
                <a:latin typeface="Calibri Light"/>
                <a:cs typeface="Calibri Light"/>
              </a:rPr>
              <a:t>E(Windy = </a:t>
            </a:r>
            <a:r>
              <a:rPr lang="en-US" i="1" spc="-15" dirty="0">
                <a:latin typeface="Calibri Light"/>
                <a:cs typeface="Calibri Light"/>
              </a:rPr>
              <a:t>False) </a:t>
            </a:r>
            <a:r>
              <a:rPr lang="en-US" i="1" spc="-5" dirty="0">
                <a:latin typeface="Calibri Light"/>
                <a:cs typeface="Calibri Light"/>
              </a:rPr>
              <a:t>=</a:t>
            </a:r>
            <a:r>
              <a:rPr lang="en-US" i="1" spc="-30" dirty="0">
                <a:latin typeface="Calibri Light"/>
                <a:cs typeface="Calibri Light"/>
              </a:rPr>
              <a:t> </a:t>
            </a:r>
            <a:r>
              <a:rPr lang="en-US" i="1" spc="-5" dirty="0">
                <a:latin typeface="Calibri Light"/>
                <a:cs typeface="Calibri Light"/>
              </a:rPr>
              <a:t>0.811</a:t>
            </a:r>
            <a:r>
              <a:rPr lang="en-US" i="1" dirty="0">
                <a:latin typeface="Calibri Light"/>
                <a:cs typeface="Calibri Light"/>
              </a:rPr>
              <a:t> </a:t>
            </a:r>
            <a:endParaRPr lang="en-US" dirty="0">
              <a:latin typeface="Calibri Light"/>
              <a:cs typeface="Calibri Ligh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47893" y="2777238"/>
            <a:ext cx="2453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5" dirty="0">
                <a:latin typeface="Calibri Light"/>
                <a:cs typeface="Calibri Light"/>
              </a:rPr>
              <a:t>Information </a:t>
            </a:r>
            <a:r>
              <a:rPr lang="en-US" i="1" spc="5" dirty="0">
                <a:latin typeface="Calibri Light"/>
                <a:cs typeface="Calibri Light"/>
              </a:rPr>
              <a:t>from</a:t>
            </a:r>
            <a:r>
              <a:rPr lang="en-US" i="1" spc="-114" dirty="0">
                <a:latin typeface="Calibri Light"/>
                <a:cs typeface="Calibri Light"/>
              </a:rPr>
              <a:t> </a:t>
            </a:r>
            <a:r>
              <a:rPr lang="en-US" i="1" spc="-15" dirty="0">
                <a:latin typeface="Calibri Light"/>
                <a:cs typeface="Calibri Light"/>
              </a:rPr>
              <a:t>windy,</a:t>
            </a:r>
            <a:r>
              <a:rPr lang="en-US" i="1" dirty="0">
                <a:latin typeface="Calibri Light"/>
                <a:cs typeface="Calibri Light"/>
              </a:rPr>
              <a:t> </a:t>
            </a:r>
            <a:endParaRPr lang="en-US" dirty="0">
              <a:latin typeface="Calibri Light"/>
              <a:cs typeface="Calibri Ligh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04177" y="3295102"/>
            <a:ext cx="4039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l-PL" i="1" spc="-5" dirty="0">
                <a:latin typeface="Calibri Light"/>
                <a:cs typeface="Calibri Light"/>
              </a:rPr>
              <a:t>I(Windy) = </a:t>
            </a:r>
            <a:r>
              <a:rPr lang="pl-PL" i="1" spc="-10" dirty="0">
                <a:latin typeface="Calibri Light"/>
                <a:cs typeface="Calibri Light"/>
              </a:rPr>
              <a:t>8/</a:t>
            </a:r>
            <a:r>
              <a:rPr lang="pl-PL" spc="-10" dirty="0">
                <a:latin typeface="Cambria Math"/>
                <a:cs typeface="Cambria Math"/>
              </a:rPr>
              <a:t>14 </a:t>
            </a:r>
            <a:r>
              <a:rPr lang="pl-PL" i="1" spc="-30" dirty="0">
                <a:latin typeface="Calibri Light"/>
                <a:cs typeface="Calibri Light"/>
              </a:rPr>
              <a:t>x </a:t>
            </a:r>
            <a:r>
              <a:rPr lang="pl-PL" i="1" spc="-10" dirty="0">
                <a:latin typeface="Calibri Light"/>
                <a:cs typeface="Calibri Light"/>
              </a:rPr>
              <a:t>0.811+ </a:t>
            </a:r>
            <a:r>
              <a:rPr lang="pl-PL" i="1" spc="-20" dirty="0">
                <a:latin typeface="Calibri Light"/>
                <a:cs typeface="Calibri Light"/>
              </a:rPr>
              <a:t>6/14 </a:t>
            </a:r>
            <a:r>
              <a:rPr lang="pl-PL" i="1" spc="-30" dirty="0">
                <a:latin typeface="Calibri Light"/>
                <a:cs typeface="Calibri Light"/>
              </a:rPr>
              <a:t>x </a:t>
            </a:r>
            <a:r>
              <a:rPr lang="pl-PL" i="1" spc="-15" dirty="0">
                <a:latin typeface="Calibri Light"/>
                <a:cs typeface="Calibri Light"/>
              </a:rPr>
              <a:t>1 </a:t>
            </a:r>
            <a:r>
              <a:rPr lang="pl-PL" i="1" spc="-5" dirty="0">
                <a:latin typeface="Calibri Light"/>
                <a:cs typeface="Calibri Light"/>
              </a:rPr>
              <a:t>=</a:t>
            </a:r>
            <a:r>
              <a:rPr lang="pl-PL" i="1" spc="-50" dirty="0">
                <a:latin typeface="Calibri Light"/>
                <a:cs typeface="Calibri Light"/>
              </a:rPr>
              <a:t> </a:t>
            </a:r>
            <a:r>
              <a:rPr lang="pl-PL" i="1" spc="-5" dirty="0">
                <a:latin typeface="Calibri Light"/>
                <a:cs typeface="Calibri Light"/>
              </a:rPr>
              <a:t>0.892</a:t>
            </a:r>
            <a:r>
              <a:rPr lang="pl-PL" i="1" dirty="0">
                <a:latin typeface="Calibri Light"/>
                <a:cs typeface="Calibri Light"/>
              </a:rPr>
              <a:t> </a:t>
            </a:r>
            <a:endParaRPr lang="pl-PL" dirty="0">
              <a:latin typeface="Calibri Light"/>
              <a:cs typeface="Calibri Ligh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547893" y="3703718"/>
            <a:ext cx="3131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5" dirty="0">
                <a:latin typeface="Calibri Light"/>
                <a:cs typeface="Calibri Light"/>
              </a:rPr>
              <a:t>Information </a:t>
            </a:r>
            <a:r>
              <a:rPr lang="en-US" i="1" spc="-25" dirty="0">
                <a:latin typeface="Calibri Light"/>
                <a:cs typeface="Calibri Light"/>
              </a:rPr>
              <a:t>gained </a:t>
            </a:r>
            <a:r>
              <a:rPr lang="en-US" i="1" spc="5" dirty="0">
                <a:latin typeface="Calibri Light"/>
                <a:cs typeface="Calibri Light"/>
              </a:rPr>
              <a:t>from</a:t>
            </a:r>
            <a:r>
              <a:rPr lang="en-US" i="1" spc="35" dirty="0">
                <a:latin typeface="Calibri Light"/>
                <a:cs typeface="Calibri Light"/>
              </a:rPr>
              <a:t> </a:t>
            </a:r>
            <a:r>
              <a:rPr lang="en-US" i="1" spc="-15" dirty="0">
                <a:latin typeface="Calibri Light"/>
                <a:cs typeface="Calibri Light"/>
              </a:rPr>
              <a:t>windy,</a:t>
            </a:r>
            <a:r>
              <a:rPr lang="en-US" i="1" dirty="0">
                <a:latin typeface="Calibri Light"/>
                <a:cs typeface="Calibri Light"/>
              </a:rPr>
              <a:t> </a:t>
            </a:r>
            <a:endParaRPr lang="en-US" dirty="0">
              <a:latin typeface="Calibri Light"/>
              <a:cs typeface="Calibri Ligh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47893" y="4225446"/>
            <a:ext cx="2924840" cy="9361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>
              <a:lnSpc>
                <a:spcPct val="150300"/>
              </a:lnSpc>
              <a:spcBef>
                <a:spcPts val="100"/>
              </a:spcBef>
            </a:pPr>
            <a:r>
              <a:rPr lang="en-US" i="1" spc="-5" dirty="0">
                <a:latin typeface="Calibri Light"/>
                <a:cs typeface="Calibri Light"/>
              </a:rPr>
              <a:t>Gain(Windy) = </a:t>
            </a:r>
            <a:r>
              <a:rPr lang="en-US" i="1" dirty="0">
                <a:latin typeface="Calibri Light"/>
                <a:cs typeface="Calibri Light"/>
              </a:rPr>
              <a:t>E(S) – </a:t>
            </a:r>
            <a:r>
              <a:rPr lang="en-US" i="1" spc="-5" dirty="0">
                <a:latin typeface="Calibri Light"/>
                <a:cs typeface="Calibri Light"/>
              </a:rPr>
              <a:t>I(Windy</a:t>
            </a:r>
            <a:r>
              <a:rPr lang="en-US" i="1" spc="-5" dirty="0" smtClean="0">
                <a:latin typeface="Calibri Light"/>
                <a:cs typeface="Calibri Light"/>
              </a:rPr>
              <a:t>)</a:t>
            </a:r>
          </a:p>
          <a:p>
            <a:pPr marL="12700" marR="5080">
              <a:lnSpc>
                <a:spcPct val="150300"/>
              </a:lnSpc>
              <a:spcBef>
                <a:spcPts val="100"/>
              </a:spcBef>
            </a:pPr>
            <a:r>
              <a:rPr lang="en-US" i="1" spc="45" dirty="0" smtClean="0">
                <a:latin typeface="Calibri Light"/>
                <a:cs typeface="Calibri Light"/>
              </a:rPr>
              <a:t>0.94 </a:t>
            </a:r>
            <a:r>
              <a:rPr lang="en-US" b="1" i="1" spc="15" dirty="0">
                <a:latin typeface="Calibri Light"/>
                <a:cs typeface="Calibri Light"/>
              </a:rPr>
              <a:t>– </a:t>
            </a:r>
            <a:r>
              <a:rPr lang="en-US" i="1" spc="-10" dirty="0">
                <a:latin typeface="Calibri Light"/>
                <a:cs typeface="Calibri Light"/>
              </a:rPr>
              <a:t>0.892 </a:t>
            </a:r>
            <a:r>
              <a:rPr lang="en-US" i="1" spc="75" dirty="0">
                <a:latin typeface="Calibri Light"/>
                <a:cs typeface="Calibri Light"/>
              </a:rPr>
              <a:t>=</a:t>
            </a:r>
            <a:r>
              <a:rPr lang="en-US" i="1" spc="-215" dirty="0">
                <a:latin typeface="Calibri Light"/>
                <a:cs typeface="Calibri Light"/>
              </a:rPr>
              <a:t> </a:t>
            </a:r>
            <a:r>
              <a:rPr lang="en-US" i="1" spc="-10" dirty="0">
                <a:latin typeface="Calibri Light"/>
                <a:cs typeface="Calibri Light"/>
              </a:rPr>
              <a:t>0.048</a:t>
            </a:r>
            <a:r>
              <a:rPr lang="en-US" i="1" spc="-114" dirty="0">
                <a:latin typeface="Calibri Light"/>
                <a:cs typeface="Calibri Light"/>
              </a:rPr>
              <a:t> </a:t>
            </a:r>
            <a:r>
              <a:rPr lang="en-US" i="1" dirty="0">
                <a:latin typeface="Calibri Light"/>
                <a:cs typeface="Calibri Light"/>
              </a:rPr>
              <a:t> </a:t>
            </a:r>
            <a:endParaRPr lang="en-US" dirty="0"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1402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63" y="385455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Calculating Entropy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2241473" y="1348818"/>
            <a:ext cx="3354554" cy="4108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90255" y="1592978"/>
            <a:ext cx="651163" cy="3961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500"/>
              </a:lnSpc>
              <a:spcBef>
                <a:spcPts val="85"/>
              </a:spcBef>
            </a:pP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D1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D2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D3  D4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D5  </a:t>
            </a:r>
            <a:r>
              <a:rPr lang="en-US" sz="1200" b="1" spc="-15" dirty="0" smtClean="0">
                <a:solidFill>
                  <a:srgbClr val="5F4778"/>
                </a:solidFill>
                <a:latin typeface="Arial"/>
                <a:cs typeface="Arial"/>
              </a:rPr>
              <a:t>D6  D7  D8  D9 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0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1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2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lang="en-US" sz="1200" dirty="0" smtClean="0">
                <a:solidFill>
                  <a:srgbClr val="5F4778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solidFill>
                  <a:srgbClr val="5F4778"/>
                </a:solidFill>
                <a:latin typeface="Arial"/>
                <a:cs typeface="Arial"/>
              </a:rPr>
              <a:t>D</a:t>
            </a:r>
            <a:r>
              <a:rPr lang="en-US" sz="1200" b="1" spc="10" dirty="0" smtClean="0">
                <a:solidFill>
                  <a:srgbClr val="5F4778"/>
                </a:solidFill>
                <a:latin typeface="Arial"/>
                <a:cs typeface="Arial"/>
              </a:rPr>
              <a:t>1</a:t>
            </a:r>
            <a:r>
              <a:rPr lang="en-US" sz="1200" b="1" dirty="0" smtClean="0">
                <a:solidFill>
                  <a:srgbClr val="5F4778"/>
                </a:solidFill>
                <a:latin typeface="Arial"/>
                <a:cs typeface="Arial"/>
              </a:rPr>
              <a:t>4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7" name="object 10"/>
          <p:cNvSpPr txBox="1"/>
          <p:nvPr/>
        </p:nvSpPr>
        <p:spPr>
          <a:xfrm>
            <a:off x="6147245" y="5230343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latin typeface="Arial"/>
                <a:cs typeface="Arial"/>
              </a:rPr>
              <a:t>No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12"/>
          <p:cNvSpPr txBox="1"/>
          <p:nvPr/>
        </p:nvSpPr>
        <p:spPr>
          <a:xfrm>
            <a:off x="7589458" y="4606134"/>
            <a:ext cx="5067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Normal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13"/>
          <p:cNvSpPr txBox="1"/>
          <p:nvPr/>
        </p:nvSpPr>
        <p:spPr>
          <a:xfrm>
            <a:off x="6522276" y="4649949"/>
            <a:ext cx="3390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latin typeface="Arial"/>
                <a:cs typeface="Arial"/>
              </a:rPr>
              <a:t>H</a:t>
            </a:r>
            <a:r>
              <a:rPr sz="1200" spc="30" dirty="0">
                <a:latin typeface="Arial"/>
                <a:cs typeface="Arial"/>
              </a:rPr>
              <a:t>i</a:t>
            </a:r>
            <a:r>
              <a:rPr sz="1200" dirty="0">
                <a:latin typeface="Arial"/>
                <a:cs typeface="Arial"/>
              </a:rPr>
              <a:t>gh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4"/>
          <p:cNvSpPr/>
          <p:nvPr/>
        </p:nvSpPr>
        <p:spPr>
          <a:xfrm>
            <a:off x="6292656" y="4898614"/>
            <a:ext cx="316865" cy="337185"/>
          </a:xfrm>
          <a:custGeom>
            <a:avLst/>
            <a:gdLst/>
            <a:ahLst/>
            <a:cxnLst/>
            <a:rect l="l" t="t" r="r" b="b"/>
            <a:pathLst>
              <a:path w="316864" h="337185">
                <a:moveTo>
                  <a:pt x="27310" y="245019"/>
                </a:moveTo>
                <a:lnTo>
                  <a:pt x="0" y="336925"/>
                </a:lnTo>
                <a:lnTo>
                  <a:pt x="89916" y="303586"/>
                </a:lnTo>
                <a:lnTo>
                  <a:pt x="80206" y="294503"/>
                </a:lnTo>
                <a:lnTo>
                  <a:pt x="59314" y="294503"/>
                </a:lnTo>
                <a:lnTo>
                  <a:pt x="38343" y="274975"/>
                </a:lnTo>
                <a:lnTo>
                  <a:pt x="48137" y="264503"/>
                </a:lnTo>
                <a:lnTo>
                  <a:pt x="27310" y="245019"/>
                </a:lnTo>
                <a:close/>
              </a:path>
              <a:path w="316864" h="337185">
                <a:moveTo>
                  <a:pt x="48137" y="264503"/>
                </a:moveTo>
                <a:lnTo>
                  <a:pt x="38343" y="274975"/>
                </a:lnTo>
                <a:lnTo>
                  <a:pt x="59314" y="294503"/>
                </a:lnTo>
                <a:lnTo>
                  <a:pt x="69060" y="284076"/>
                </a:lnTo>
                <a:lnTo>
                  <a:pt x="48137" y="264503"/>
                </a:lnTo>
                <a:close/>
              </a:path>
              <a:path w="316864" h="337185">
                <a:moveTo>
                  <a:pt x="69060" y="284076"/>
                </a:moveTo>
                <a:lnTo>
                  <a:pt x="59314" y="294503"/>
                </a:lnTo>
                <a:lnTo>
                  <a:pt x="80206" y="294503"/>
                </a:lnTo>
                <a:lnTo>
                  <a:pt x="69060" y="284076"/>
                </a:lnTo>
                <a:close/>
              </a:path>
              <a:path w="316864" h="337185">
                <a:moveTo>
                  <a:pt x="295534" y="0"/>
                </a:moveTo>
                <a:lnTo>
                  <a:pt x="48137" y="264503"/>
                </a:lnTo>
                <a:lnTo>
                  <a:pt x="69060" y="284076"/>
                </a:lnTo>
                <a:lnTo>
                  <a:pt x="316351" y="19516"/>
                </a:lnTo>
                <a:lnTo>
                  <a:pt x="2955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5"/>
          <p:cNvSpPr txBox="1"/>
          <p:nvPr/>
        </p:nvSpPr>
        <p:spPr>
          <a:xfrm>
            <a:off x="8104316" y="5095716"/>
            <a:ext cx="264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0" dirty="0">
                <a:latin typeface="Arial"/>
                <a:cs typeface="Arial"/>
              </a:rPr>
              <a:t>Y</a:t>
            </a:r>
            <a:r>
              <a:rPr sz="1200" spc="5" dirty="0">
                <a:latin typeface="Arial"/>
                <a:cs typeface="Arial"/>
              </a:rPr>
              <a:t>e</a:t>
            </a:r>
            <a:r>
              <a:rPr sz="1200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6"/>
          <p:cNvSpPr/>
          <p:nvPr/>
        </p:nvSpPr>
        <p:spPr>
          <a:xfrm>
            <a:off x="7861096" y="4830034"/>
            <a:ext cx="219710" cy="262255"/>
          </a:xfrm>
          <a:custGeom>
            <a:avLst/>
            <a:gdLst/>
            <a:ahLst/>
            <a:cxnLst/>
            <a:rect l="l" t="t" r="r" b="b"/>
            <a:pathLst>
              <a:path w="219710" h="262254">
                <a:moveTo>
                  <a:pt x="153596" y="204944"/>
                </a:moveTo>
                <a:lnTo>
                  <a:pt x="131460" y="223113"/>
                </a:lnTo>
                <a:lnTo>
                  <a:pt x="219090" y="262140"/>
                </a:lnTo>
                <a:lnTo>
                  <a:pt x="208558" y="216017"/>
                </a:lnTo>
                <a:lnTo>
                  <a:pt x="162702" y="216017"/>
                </a:lnTo>
                <a:lnTo>
                  <a:pt x="153596" y="204944"/>
                </a:lnTo>
                <a:close/>
              </a:path>
              <a:path w="219710" h="262254">
                <a:moveTo>
                  <a:pt x="175631" y="186859"/>
                </a:moveTo>
                <a:lnTo>
                  <a:pt x="153596" y="204944"/>
                </a:lnTo>
                <a:lnTo>
                  <a:pt x="162702" y="216017"/>
                </a:lnTo>
                <a:lnTo>
                  <a:pt x="184678" y="197870"/>
                </a:lnTo>
                <a:lnTo>
                  <a:pt x="175631" y="186859"/>
                </a:lnTo>
                <a:close/>
              </a:path>
              <a:path w="219710" h="262254">
                <a:moveTo>
                  <a:pt x="197754" y="168700"/>
                </a:moveTo>
                <a:lnTo>
                  <a:pt x="175631" y="186859"/>
                </a:lnTo>
                <a:lnTo>
                  <a:pt x="184678" y="197870"/>
                </a:lnTo>
                <a:lnTo>
                  <a:pt x="162702" y="216017"/>
                </a:lnTo>
                <a:lnTo>
                  <a:pt x="208558" y="216017"/>
                </a:lnTo>
                <a:lnTo>
                  <a:pt x="197754" y="168700"/>
                </a:lnTo>
                <a:close/>
              </a:path>
              <a:path w="219710" h="262254">
                <a:moveTo>
                  <a:pt x="22098" y="0"/>
                </a:moveTo>
                <a:lnTo>
                  <a:pt x="0" y="18147"/>
                </a:lnTo>
                <a:lnTo>
                  <a:pt x="153596" y="204944"/>
                </a:lnTo>
                <a:lnTo>
                  <a:pt x="175631" y="186859"/>
                </a:lnTo>
                <a:lnTo>
                  <a:pt x="220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7"/>
          <p:cNvSpPr txBox="1"/>
          <p:nvPr/>
        </p:nvSpPr>
        <p:spPr>
          <a:xfrm>
            <a:off x="10495855" y="4559461"/>
            <a:ext cx="41655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W</a:t>
            </a:r>
            <a:r>
              <a:rPr sz="1200" dirty="0">
                <a:latin typeface="Arial"/>
                <a:cs typeface="Arial"/>
              </a:rPr>
              <a:t>eak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8"/>
          <p:cNvSpPr txBox="1"/>
          <p:nvPr/>
        </p:nvSpPr>
        <p:spPr>
          <a:xfrm>
            <a:off x="9256580" y="4559461"/>
            <a:ext cx="4629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latin typeface="Arial"/>
                <a:cs typeface="Arial"/>
              </a:rPr>
              <a:t>S</a:t>
            </a:r>
            <a:r>
              <a:rPr sz="1200" spc="-35" dirty="0">
                <a:latin typeface="Arial"/>
                <a:cs typeface="Arial"/>
              </a:rPr>
              <a:t>t</a:t>
            </a:r>
            <a:r>
              <a:rPr sz="1200" spc="-30" dirty="0">
                <a:latin typeface="Arial"/>
                <a:cs typeface="Arial"/>
              </a:rPr>
              <a:t>r</a:t>
            </a:r>
            <a:r>
              <a:rPr sz="1200" dirty="0">
                <a:latin typeface="Arial"/>
                <a:cs typeface="Arial"/>
              </a:rPr>
              <a:t>o</a:t>
            </a:r>
            <a:r>
              <a:rPr sz="1200" spc="-70" dirty="0">
                <a:latin typeface="Arial"/>
                <a:cs typeface="Arial"/>
              </a:rPr>
              <a:t>n</a:t>
            </a:r>
            <a:r>
              <a:rPr sz="1200" dirty="0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9"/>
          <p:cNvSpPr/>
          <p:nvPr/>
        </p:nvSpPr>
        <p:spPr>
          <a:xfrm>
            <a:off x="9162745" y="4808153"/>
            <a:ext cx="316865" cy="337185"/>
          </a:xfrm>
          <a:custGeom>
            <a:avLst/>
            <a:gdLst/>
            <a:ahLst/>
            <a:cxnLst/>
            <a:rect l="l" t="t" r="r" b="b"/>
            <a:pathLst>
              <a:path w="316865" h="337185">
                <a:moveTo>
                  <a:pt x="27157" y="245019"/>
                </a:moveTo>
                <a:lnTo>
                  <a:pt x="0" y="336922"/>
                </a:lnTo>
                <a:lnTo>
                  <a:pt x="89763" y="303583"/>
                </a:lnTo>
                <a:lnTo>
                  <a:pt x="80053" y="294500"/>
                </a:lnTo>
                <a:lnTo>
                  <a:pt x="59161" y="294500"/>
                </a:lnTo>
                <a:lnTo>
                  <a:pt x="38343" y="274987"/>
                </a:lnTo>
                <a:lnTo>
                  <a:pt x="48072" y="264584"/>
                </a:lnTo>
                <a:lnTo>
                  <a:pt x="27157" y="245019"/>
                </a:lnTo>
                <a:close/>
              </a:path>
              <a:path w="316865" h="337185">
                <a:moveTo>
                  <a:pt x="48072" y="264584"/>
                </a:moveTo>
                <a:lnTo>
                  <a:pt x="38343" y="274987"/>
                </a:lnTo>
                <a:lnTo>
                  <a:pt x="59161" y="294500"/>
                </a:lnTo>
                <a:lnTo>
                  <a:pt x="68910" y="284077"/>
                </a:lnTo>
                <a:lnTo>
                  <a:pt x="48072" y="264584"/>
                </a:lnTo>
                <a:close/>
              </a:path>
              <a:path w="316865" h="337185">
                <a:moveTo>
                  <a:pt x="68910" y="284077"/>
                </a:moveTo>
                <a:lnTo>
                  <a:pt x="59161" y="294500"/>
                </a:lnTo>
                <a:lnTo>
                  <a:pt x="80053" y="294500"/>
                </a:lnTo>
                <a:lnTo>
                  <a:pt x="68910" y="284077"/>
                </a:lnTo>
                <a:close/>
              </a:path>
              <a:path w="316865" h="337185">
                <a:moveTo>
                  <a:pt x="295503" y="0"/>
                </a:moveTo>
                <a:lnTo>
                  <a:pt x="48072" y="264584"/>
                </a:lnTo>
                <a:lnTo>
                  <a:pt x="68910" y="284077"/>
                </a:lnTo>
                <a:lnTo>
                  <a:pt x="316351" y="19525"/>
                </a:lnTo>
                <a:lnTo>
                  <a:pt x="2955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0"/>
          <p:cNvSpPr txBox="1"/>
          <p:nvPr/>
        </p:nvSpPr>
        <p:spPr>
          <a:xfrm>
            <a:off x="9033068" y="517795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latin typeface="Arial"/>
                <a:cs typeface="Arial"/>
              </a:rPr>
              <a:t>No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21"/>
          <p:cNvSpPr/>
          <p:nvPr/>
        </p:nvSpPr>
        <p:spPr>
          <a:xfrm>
            <a:off x="10761787" y="4747180"/>
            <a:ext cx="266700" cy="336550"/>
          </a:xfrm>
          <a:custGeom>
            <a:avLst/>
            <a:gdLst/>
            <a:ahLst/>
            <a:cxnLst/>
            <a:rect l="l" t="t" r="r" b="b"/>
            <a:pathLst>
              <a:path w="266700" h="336550">
                <a:moveTo>
                  <a:pt x="202705" y="277214"/>
                </a:moveTo>
                <a:lnTo>
                  <a:pt x="180228" y="294775"/>
                </a:lnTo>
                <a:lnTo>
                  <a:pt x="266700" y="335959"/>
                </a:lnTo>
                <a:lnTo>
                  <a:pt x="257126" y="288441"/>
                </a:lnTo>
                <a:lnTo>
                  <a:pt x="211470" y="288441"/>
                </a:lnTo>
                <a:lnTo>
                  <a:pt x="202705" y="277214"/>
                </a:lnTo>
                <a:close/>
              </a:path>
              <a:path w="266700" h="336550">
                <a:moveTo>
                  <a:pt x="225259" y="259593"/>
                </a:moveTo>
                <a:lnTo>
                  <a:pt x="202705" y="277214"/>
                </a:lnTo>
                <a:lnTo>
                  <a:pt x="211470" y="288441"/>
                </a:lnTo>
                <a:lnTo>
                  <a:pt x="234055" y="270854"/>
                </a:lnTo>
                <a:lnTo>
                  <a:pt x="225259" y="259593"/>
                </a:lnTo>
                <a:close/>
              </a:path>
              <a:path w="266700" h="336550">
                <a:moveTo>
                  <a:pt x="247771" y="242005"/>
                </a:moveTo>
                <a:lnTo>
                  <a:pt x="225259" y="259593"/>
                </a:lnTo>
                <a:lnTo>
                  <a:pt x="234055" y="270854"/>
                </a:lnTo>
                <a:lnTo>
                  <a:pt x="211470" y="288441"/>
                </a:lnTo>
                <a:lnTo>
                  <a:pt x="257126" y="288441"/>
                </a:lnTo>
                <a:lnTo>
                  <a:pt x="247771" y="242005"/>
                </a:lnTo>
                <a:close/>
              </a:path>
              <a:path w="266700" h="336550">
                <a:moveTo>
                  <a:pt x="22494" y="0"/>
                </a:moveTo>
                <a:lnTo>
                  <a:pt x="0" y="17583"/>
                </a:lnTo>
                <a:lnTo>
                  <a:pt x="202705" y="277214"/>
                </a:lnTo>
                <a:lnTo>
                  <a:pt x="225259" y="259593"/>
                </a:lnTo>
                <a:lnTo>
                  <a:pt x="224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2"/>
          <p:cNvSpPr txBox="1"/>
          <p:nvPr/>
        </p:nvSpPr>
        <p:spPr>
          <a:xfrm>
            <a:off x="10918384" y="5176047"/>
            <a:ext cx="263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4" dirty="0">
                <a:latin typeface="Arial"/>
                <a:cs typeface="Arial"/>
              </a:rPr>
              <a:t>Y</a:t>
            </a:r>
            <a:r>
              <a:rPr sz="1200" spc="5" dirty="0">
                <a:latin typeface="Arial"/>
                <a:cs typeface="Arial"/>
              </a:rPr>
              <a:t>e</a:t>
            </a:r>
            <a:r>
              <a:rPr sz="1200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23"/>
          <p:cNvSpPr/>
          <p:nvPr/>
        </p:nvSpPr>
        <p:spPr>
          <a:xfrm>
            <a:off x="6652336" y="1672499"/>
            <a:ext cx="4028039" cy="28887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352" y="1928152"/>
            <a:ext cx="10829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15" dirty="0">
                <a:solidFill>
                  <a:srgbClr val="FFFFFF"/>
                </a:solidFill>
                <a:latin typeface="Arial"/>
                <a:cs typeface="Arial"/>
              </a:rPr>
              <a:t>Outlook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29018" y="3573841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Humidity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29976" y="3403270"/>
            <a:ext cx="891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-4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lang="en-US" b="1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b="1" spc="4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lang="en-US" b="1" spc="1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5952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37</a:t>
            </a:fld>
            <a:endParaRPr lang="en-IN"/>
          </a:p>
        </p:txBody>
      </p:sp>
      <p:sp>
        <p:nvSpPr>
          <p:cNvPr id="7" name="object 3"/>
          <p:cNvSpPr/>
          <p:nvPr/>
        </p:nvSpPr>
        <p:spPr>
          <a:xfrm>
            <a:off x="3208325" y="2830958"/>
            <a:ext cx="8591789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>
            <a:spLocks noGrp="1"/>
          </p:cNvSpPr>
          <p:nvPr>
            <p:ph type="title"/>
          </p:nvPr>
        </p:nvSpPr>
        <p:spPr>
          <a:xfrm>
            <a:off x="4451928" y="2997108"/>
            <a:ext cx="6385296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25" dirty="0" smtClean="0">
                <a:solidFill>
                  <a:schemeClr val="bg1"/>
                </a:solidFill>
              </a:rPr>
              <a:t>Understanding Confusion</a:t>
            </a:r>
            <a:r>
              <a:rPr lang="en-US" sz="2800" spc="-25" dirty="0" smtClean="0">
                <a:solidFill>
                  <a:schemeClr val="bg1"/>
                </a:solidFill>
              </a:rPr>
              <a:t> </a:t>
            </a:r>
            <a:r>
              <a:rPr lang="en-US" sz="2800" spc="5" dirty="0">
                <a:solidFill>
                  <a:schemeClr val="bg1"/>
                </a:solidFill>
              </a:rPr>
              <a:t>Matrix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250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38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3" y="290957"/>
            <a:ext cx="9144000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395972" y="546627"/>
            <a:ext cx="5647690" cy="331501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sz="2100" spc="5" dirty="0">
                <a:solidFill>
                  <a:schemeClr val="bg1"/>
                </a:solidFill>
              </a:rPr>
              <a:t>Things you </a:t>
            </a:r>
            <a:r>
              <a:rPr sz="2100" spc="25" dirty="0">
                <a:solidFill>
                  <a:schemeClr val="bg1"/>
                </a:solidFill>
              </a:rPr>
              <a:t>will </a:t>
            </a:r>
            <a:r>
              <a:rPr sz="2100" spc="15" dirty="0">
                <a:solidFill>
                  <a:schemeClr val="bg1"/>
                </a:solidFill>
              </a:rPr>
              <a:t>learn </a:t>
            </a:r>
            <a:r>
              <a:rPr sz="2100" dirty="0">
                <a:solidFill>
                  <a:schemeClr val="bg1"/>
                </a:solidFill>
              </a:rPr>
              <a:t>after </a:t>
            </a:r>
            <a:r>
              <a:rPr sz="2100" spc="-10" dirty="0">
                <a:solidFill>
                  <a:schemeClr val="bg1"/>
                </a:solidFill>
              </a:rPr>
              <a:t>this</a:t>
            </a:r>
            <a:r>
              <a:rPr sz="2100" spc="-370" dirty="0">
                <a:solidFill>
                  <a:schemeClr val="bg1"/>
                </a:solidFill>
              </a:rPr>
              <a:t> </a:t>
            </a:r>
            <a:r>
              <a:rPr sz="2100" spc="-5" dirty="0">
                <a:solidFill>
                  <a:schemeClr val="bg1"/>
                </a:solidFill>
              </a:rPr>
              <a:t>Session</a:t>
            </a:r>
            <a:endParaRPr sz="2100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7998" y="1768288"/>
            <a:ext cx="7121237" cy="2828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595959"/>
                </a:solidFill>
                <a:latin typeface="Arial"/>
                <a:cs typeface="Arial"/>
              </a:rPr>
              <a:t>Understanding </a:t>
            </a:r>
            <a:r>
              <a:rPr lang="en-US" sz="3200" b="1" spc="-15" dirty="0" smtClean="0">
                <a:solidFill>
                  <a:srgbClr val="595959"/>
                </a:solidFill>
                <a:latin typeface="Arial"/>
                <a:cs typeface="Arial"/>
              </a:rPr>
              <a:t>Confusion </a:t>
            </a:r>
            <a:r>
              <a:rPr lang="en-US" sz="3200" b="1" spc="20" dirty="0" smtClean="0">
                <a:solidFill>
                  <a:srgbClr val="595959"/>
                </a:solidFill>
                <a:latin typeface="Arial"/>
                <a:cs typeface="Arial"/>
              </a:rPr>
              <a:t>Matrix</a:t>
            </a:r>
            <a:endParaRPr lang="en-US" sz="3200" dirty="0">
              <a:latin typeface="Arial"/>
              <a:cs typeface="Arial"/>
            </a:endParaRPr>
          </a:p>
          <a:p>
            <a:pPr marL="628015" indent="-219710">
              <a:lnSpc>
                <a:spcPct val="100000"/>
              </a:lnSpc>
              <a:spcBef>
                <a:spcPts val="1910"/>
              </a:spcBef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lang="en-US" spc="10" dirty="0">
                <a:solidFill>
                  <a:srgbClr val="595959"/>
                </a:solidFill>
                <a:latin typeface="Arial"/>
                <a:cs typeface="Arial"/>
              </a:rPr>
              <a:t>What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Confusion</a:t>
            </a:r>
            <a:r>
              <a:rPr lang="en-US" spc="-3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Matrix?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Wingdings"/>
              <a:buChar char=""/>
            </a:pPr>
            <a:endParaRPr lang="en-US" dirty="0">
              <a:latin typeface="Times New Roman"/>
              <a:cs typeface="Times New Roman"/>
            </a:endParaRPr>
          </a:p>
          <a:p>
            <a:pPr marL="628015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lang="en-US" spc="5" dirty="0">
                <a:solidFill>
                  <a:srgbClr val="595959"/>
                </a:solidFill>
                <a:latin typeface="Arial"/>
                <a:cs typeface="Arial"/>
              </a:rPr>
              <a:t>How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to calculate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a Confusion</a:t>
            </a:r>
            <a:r>
              <a:rPr lang="en-US" spc="-3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Matrix?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95959"/>
              </a:buClr>
              <a:buFont typeface="Wingdings"/>
              <a:buChar char=""/>
            </a:pPr>
            <a:endParaRPr lang="en-US" sz="2000" dirty="0">
              <a:latin typeface="Times New Roman"/>
              <a:cs typeface="Times New Roman"/>
            </a:endParaRPr>
          </a:p>
          <a:p>
            <a:pPr marL="628015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Interpreting</a:t>
            </a:r>
            <a:r>
              <a:rPr lang="en-US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lang="en-US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Confusion</a:t>
            </a:r>
            <a:r>
              <a:rPr lang="en-US" spc="-2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Matrix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595959"/>
              </a:buClr>
              <a:buFont typeface="Wingdings"/>
              <a:buChar char=""/>
            </a:pPr>
            <a:endParaRPr lang="en-US" sz="2000" dirty="0">
              <a:latin typeface="Times New Roman"/>
              <a:cs typeface="Times New Roman"/>
            </a:endParaRPr>
          </a:p>
          <a:p>
            <a:pPr marL="628015" indent="-21971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Creating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a Confusion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Matrix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lang="en-US" spc="-2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766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163" y="272134"/>
            <a:ext cx="5010273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Confusion 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39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250554" y="1360116"/>
            <a:ext cx="31040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5" dirty="0">
                <a:solidFill>
                  <a:srgbClr val="535353"/>
                </a:solidFill>
                <a:latin typeface="Arial"/>
                <a:cs typeface="Arial"/>
              </a:rPr>
              <a:t>What </a:t>
            </a:r>
            <a:r>
              <a:rPr lang="en-US" b="1" spc="35" dirty="0">
                <a:solidFill>
                  <a:srgbClr val="535353"/>
                </a:solidFill>
                <a:latin typeface="Arial"/>
                <a:cs typeface="Arial"/>
              </a:rPr>
              <a:t>is </a:t>
            </a:r>
            <a:r>
              <a:rPr lang="en-US" b="1" spc="-10" dirty="0">
                <a:solidFill>
                  <a:srgbClr val="535353"/>
                </a:solidFill>
                <a:latin typeface="Arial"/>
                <a:cs typeface="Arial"/>
              </a:rPr>
              <a:t>Confusion</a:t>
            </a:r>
            <a:r>
              <a:rPr lang="en-US" b="1" spc="-25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lang="en-US" b="1" spc="25" dirty="0">
                <a:solidFill>
                  <a:srgbClr val="535353"/>
                </a:solidFill>
                <a:latin typeface="Arial"/>
                <a:cs typeface="Arial"/>
              </a:rPr>
              <a:t>Matrix?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059382" y="2166279"/>
            <a:ext cx="60960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-US" spc="40" dirty="0">
                <a:solidFill>
                  <a:srgbClr val="535353"/>
                </a:solidFill>
              </a:rPr>
              <a:t>“The </a:t>
            </a:r>
            <a:r>
              <a:rPr lang="en-US" spc="5" dirty="0">
                <a:solidFill>
                  <a:srgbClr val="535353"/>
                </a:solidFill>
              </a:rPr>
              <a:t>confusion </a:t>
            </a:r>
            <a:r>
              <a:rPr lang="en-US" spc="15" dirty="0">
                <a:solidFill>
                  <a:srgbClr val="535353"/>
                </a:solidFill>
              </a:rPr>
              <a:t>matrix </a:t>
            </a:r>
            <a:r>
              <a:rPr lang="en-US" spc="30" dirty="0">
                <a:solidFill>
                  <a:srgbClr val="535353"/>
                </a:solidFill>
              </a:rPr>
              <a:t>shows </a:t>
            </a:r>
            <a:r>
              <a:rPr lang="en-US" spc="10" dirty="0">
                <a:solidFill>
                  <a:srgbClr val="535353"/>
                </a:solidFill>
              </a:rPr>
              <a:t>the </a:t>
            </a:r>
            <a:r>
              <a:rPr lang="en-US" spc="30" dirty="0">
                <a:solidFill>
                  <a:srgbClr val="535353"/>
                </a:solidFill>
              </a:rPr>
              <a:t>ways </a:t>
            </a:r>
            <a:r>
              <a:rPr lang="en-US" spc="-5" dirty="0">
                <a:solidFill>
                  <a:srgbClr val="535353"/>
                </a:solidFill>
              </a:rPr>
              <a:t>in </a:t>
            </a:r>
            <a:r>
              <a:rPr lang="en-US" spc="20" dirty="0">
                <a:solidFill>
                  <a:srgbClr val="535353"/>
                </a:solidFill>
              </a:rPr>
              <a:t>which </a:t>
            </a:r>
            <a:r>
              <a:rPr lang="en-US" spc="30" dirty="0">
                <a:solidFill>
                  <a:srgbClr val="535353"/>
                </a:solidFill>
              </a:rPr>
              <a:t>your  </a:t>
            </a:r>
            <a:r>
              <a:rPr lang="en-US" spc="5" dirty="0">
                <a:solidFill>
                  <a:srgbClr val="535353"/>
                </a:solidFill>
              </a:rPr>
              <a:t>classification</a:t>
            </a:r>
            <a:r>
              <a:rPr lang="en-US" spc="-140" dirty="0">
                <a:solidFill>
                  <a:srgbClr val="535353"/>
                </a:solidFill>
              </a:rPr>
              <a:t> </a:t>
            </a:r>
            <a:r>
              <a:rPr lang="en-US" spc="15" dirty="0">
                <a:solidFill>
                  <a:srgbClr val="535353"/>
                </a:solidFill>
              </a:rPr>
              <a:t>model</a:t>
            </a:r>
            <a:r>
              <a:rPr lang="en-US" spc="-190" dirty="0">
                <a:solidFill>
                  <a:srgbClr val="535353"/>
                </a:solidFill>
              </a:rPr>
              <a:t> </a:t>
            </a:r>
            <a:r>
              <a:rPr lang="en-US" spc="-5" dirty="0">
                <a:solidFill>
                  <a:srgbClr val="535353"/>
                </a:solidFill>
              </a:rPr>
              <a:t>is</a:t>
            </a:r>
            <a:r>
              <a:rPr lang="en-US" spc="-60" dirty="0">
                <a:solidFill>
                  <a:srgbClr val="535353"/>
                </a:solidFill>
              </a:rPr>
              <a:t> </a:t>
            </a:r>
            <a:r>
              <a:rPr lang="en-US" spc="30" dirty="0">
                <a:solidFill>
                  <a:srgbClr val="535353"/>
                </a:solidFill>
              </a:rPr>
              <a:t>confused</a:t>
            </a:r>
            <a:r>
              <a:rPr lang="en-US" spc="-215" dirty="0">
                <a:solidFill>
                  <a:srgbClr val="535353"/>
                </a:solidFill>
              </a:rPr>
              <a:t> </a:t>
            </a:r>
            <a:r>
              <a:rPr lang="en-US" spc="30" dirty="0">
                <a:solidFill>
                  <a:srgbClr val="535353"/>
                </a:solidFill>
              </a:rPr>
              <a:t>when</a:t>
            </a:r>
            <a:r>
              <a:rPr lang="en-US" spc="-140" dirty="0">
                <a:solidFill>
                  <a:srgbClr val="535353"/>
                </a:solidFill>
              </a:rPr>
              <a:t> </a:t>
            </a:r>
            <a:r>
              <a:rPr lang="en-US" spc="-5" dirty="0">
                <a:solidFill>
                  <a:srgbClr val="535353"/>
                </a:solidFill>
              </a:rPr>
              <a:t>it</a:t>
            </a:r>
            <a:r>
              <a:rPr lang="en-US" spc="-114" dirty="0">
                <a:solidFill>
                  <a:srgbClr val="535353"/>
                </a:solidFill>
              </a:rPr>
              <a:t> </a:t>
            </a:r>
            <a:r>
              <a:rPr lang="en-US" spc="30" dirty="0">
                <a:solidFill>
                  <a:srgbClr val="535353"/>
                </a:solidFill>
              </a:rPr>
              <a:t>makes</a:t>
            </a:r>
            <a:r>
              <a:rPr lang="en-US" spc="-135" dirty="0">
                <a:solidFill>
                  <a:srgbClr val="535353"/>
                </a:solidFill>
              </a:rPr>
              <a:t> </a:t>
            </a:r>
            <a:r>
              <a:rPr lang="en-US" spc="15" dirty="0">
                <a:solidFill>
                  <a:srgbClr val="535353"/>
                </a:solidFill>
              </a:rPr>
              <a:t>predictions.”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706581" y="3070606"/>
            <a:ext cx="6096000" cy="19650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marL="412115" indent="-362585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412115" algn="l"/>
                <a:tab pos="412750" algn="l"/>
              </a:tabLst>
            </a:pPr>
            <a:r>
              <a:rPr lang="en-US" spc="70" dirty="0"/>
              <a:t>Is</a:t>
            </a:r>
            <a:r>
              <a:rPr lang="en-US" spc="-30" dirty="0"/>
              <a:t> </a:t>
            </a:r>
            <a:r>
              <a:rPr lang="en-US" spc="40" dirty="0"/>
              <a:t>a</a:t>
            </a:r>
            <a:r>
              <a:rPr lang="en-US" spc="-80" dirty="0"/>
              <a:t> </a:t>
            </a:r>
            <a:r>
              <a:rPr lang="en-US" spc="70" dirty="0"/>
              <a:t>summary</a:t>
            </a:r>
            <a:r>
              <a:rPr lang="en-US" spc="-140" dirty="0"/>
              <a:t> </a:t>
            </a:r>
            <a:r>
              <a:rPr lang="en-US" spc="50" dirty="0"/>
              <a:t>of</a:t>
            </a:r>
            <a:r>
              <a:rPr lang="en-US" spc="25" dirty="0"/>
              <a:t> </a:t>
            </a:r>
            <a:r>
              <a:rPr lang="en-US" spc="40" dirty="0"/>
              <a:t>prediction</a:t>
            </a:r>
            <a:r>
              <a:rPr lang="en-US" spc="-95" dirty="0"/>
              <a:t> </a:t>
            </a:r>
            <a:r>
              <a:rPr lang="en-US" spc="45" dirty="0"/>
              <a:t>results</a:t>
            </a:r>
            <a:r>
              <a:rPr lang="en-US" spc="-100" dirty="0"/>
              <a:t> </a:t>
            </a:r>
            <a:r>
              <a:rPr lang="en-US" spc="40" dirty="0"/>
              <a:t>on</a:t>
            </a:r>
            <a:r>
              <a:rPr lang="en-US" spc="-15" dirty="0"/>
              <a:t> </a:t>
            </a:r>
            <a:r>
              <a:rPr lang="en-US" spc="40" dirty="0"/>
              <a:t>a</a:t>
            </a:r>
            <a:r>
              <a:rPr lang="en-US" spc="-5" dirty="0"/>
              <a:t> </a:t>
            </a:r>
            <a:r>
              <a:rPr lang="en-US" spc="50" dirty="0"/>
              <a:t>classification</a:t>
            </a:r>
          </a:p>
          <a:p>
            <a:pPr marL="412115">
              <a:lnSpc>
                <a:spcPct val="100000"/>
              </a:lnSpc>
              <a:spcBef>
                <a:spcPts val="1625"/>
              </a:spcBef>
            </a:pPr>
            <a:r>
              <a:rPr lang="en-US" spc="40" dirty="0"/>
              <a:t>problem.</a:t>
            </a:r>
          </a:p>
          <a:p>
            <a:pPr marL="412115" marR="17780" indent="-362585">
              <a:lnSpc>
                <a:spcPct val="201200"/>
              </a:lnSpc>
              <a:spcBef>
                <a:spcPts val="5"/>
              </a:spcBef>
              <a:buFont typeface="Wingdings"/>
              <a:buChar char=""/>
              <a:tabLst>
                <a:tab pos="412115" algn="l"/>
                <a:tab pos="412750" algn="l"/>
              </a:tabLst>
            </a:pPr>
            <a:r>
              <a:rPr lang="en-US" b="1" spc="20" dirty="0">
                <a:latin typeface="Segoe UI Semibold"/>
                <a:cs typeface="Segoe UI Semibold"/>
              </a:rPr>
              <a:t>Key</a:t>
            </a:r>
            <a:r>
              <a:rPr lang="en-US" b="1" spc="-65" dirty="0">
                <a:latin typeface="Segoe UI Semibold"/>
                <a:cs typeface="Segoe UI Semibold"/>
              </a:rPr>
              <a:t> </a:t>
            </a:r>
            <a:r>
              <a:rPr lang="en-US" b="1" spc="15" dirty="0">
                <a:latin typeface="Segoe UI Semibold"/>
                <a:cs typeface="Segoe UI Semibold"/>
              </a:rPr>
              <a:t>to</a:t>
            </a:r>
            <a:r>
              <a:rPr lang="en-US" b="1" spc="-30" dirty="0">
                <a:latin typeface="Segoe UI Semibold"/>
                <a:cs typeface="Segoe UI Semibold"/>
              </a:rPr>
              <a:t> </a:t>
            </a:r>
            <a:r>
              <a:rPr lang="en-US" b="1" spc="5" dirty="0">
                <a:latin typeface="Segoe UI Semibold"/>
                <a:cs typeface="Segoe UI Semibold"/>
              </a:rPr>
              <a:t>Confusion</a:t>
            </a:r>
            <a:r>
              <a:rPr lang="en-US" b="1" spc="-90" dirty="0">
                <a:latin typeface="Segoe UI Semibold"/>
                <a:cs typeface="Segoe UI Semibold"/>
              </a:rPr>
              <a:t> </a:t>
            </a:r>
            <a:r>
              <a:rPr lang="en-US" b="1" spc="20" dirty="0">
                <a:latin typeface="Segoe UI Semibold"/>
                <a:cs typeface="Segoe UI Semibold"/>
              </a:rPr>
              <a:t>Matrix:</a:t>
            </a:r>
            <a:r>
              <a:rPr lang="en-US" b="1" spc="-125" dirty="0">
                <a:latin typeface="Segoe UI Semibold"/>
                <a:cs typeface="Segoe UI Semibold"/>
              </a:rPr>
              <a:t> </a:t>
            </a:r>
            <a:r>
              <a:rPr lang="en-US" spc="50" dirty="0"/>
              <a:t>Summarize</a:t>
            </a:r>
            <a:r>
              <a:rPr lang="en-US" spc="-165" dirty="0"/>
              <a:t> </a:t>
            </a:r>
            <a:r>
              <a:rPr lang="en-US" spc="55" dirty="0"/>
              <a:t>the</a:t>
            </a:r>
            <a:r>
              <a:rPr lang="en-US" spc="-95" dirty="0"/>
              <a:t> </a:t>
            </a:r>
            <a:r>
              <a:rPr lang="en-US" spc="45" dirty="0"/>
              <a:t>count</a:t>
            </a:r>
            <a:r>
              <a:rPr lang="en-US" spc="-75" dirty="0"/>
              <a:t> </a:t>
            </a:r>
            <a:r>
              <a:rPr lang="en-US" spc="55" dirty="0"/>
              <a:t>value</a:t>
            </a:r>
            <a:r>
              <a:rPr lang="en-US" spc="-95" dirty="0"/>
              <a:t> </a:t>
            </a:r>
            <a:r>
              <a:rPr lang="en-US" spc="50" dirty="0"/>
              <a:t>of  </a:t>
            </a:r>
            <a:r>
              <a:rPr lang="en-US" spc="40" dirty="0"/>
              <a:t>correct </a:t>
            </a:r>
            <a:r>
              <a:rPr lang="en-US" spc="50" dirty="0"/>
              <a:t>and</a:t>
            </a:r>
            <a:r>
              <a:rPr lang="en-US" spc="-160" dirty="0"/>
              <a:t> </a:t>
            </a:r>
            <a:r>
              <a:rPr lang="en-US" spc="50" dirty="0" smtClean="0"/>
              <a:t>incorrect (broken down by class</a:t>
            </a:r>
          </a:p>
        </p:txBody>
      </p:sp>
      <p:sp>
        <p:nvSpPr>
          <p:cNvPr id="26" name="object 16"/>
          <p:cNvSpPr/>
          <p:nvPr/>
        </p:nvSpPr>
        <p:spPr>
          <a:xfrm>
            <a:off x="7107382" y="5295009"/>
            <a:ext cx="368935" cy="231775"/>
          </a:xfrm>
          <a:custGeom>
            <a:avLst/>
            <a:gdLst/>
            <a:ahLst/>
            <a:cxnLst/>
            <a:rect l="l" t="t" r="r" b="b"/>
            <a:pathLst>
              <a:path w="368935" h="231775">
                <a:moveTo>
                  <a:pt x="252618" y="0"/>
                </a:moveTo>
                <a:lnTo>
                  <a:pt x="252618" y="57817"/>
                </a:lnTo>
                <a:lnTo>
                  <a:pt x="0" y="57817"/>
                </a:lnTo>
                <a:lnTo>
                  <a:pt x="0" y="173461"/>
                </a:lnTo>
                <a:lnTo>
                  <a:pt x="252618" y="173461"/>
                </a:lnTo>
                <a:lnTo>
                  <a:pt x="252618" y="231291"/>
                </a:lnTo>
                <a:lnTo>
                  <a:pt x="368320" y="115635"/>
                </a:lnTo>
                <a:lnTo>
                  <a:pt x="25261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68856"/>
              </p:ext>
            </p:extLst>
          </p:nvPr>
        </p:nvGraphicFramePr>
        <p:xfrm>
          <a:off x="7786567" y="4088418"/>
          <a:ext cx="3892815" cy="2318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678"/>
                <a:gridCol w="1011286"/>
                <a:gridCol w="1177732"/>
                <a:gridCol w="709119"/>
              </a:tblGrid>
              <a:tr h="6956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N=150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  <a:tc>
                  <a:txBody>
                    <a:bodyPr/>
                    <a:lstStyle/>
                    <a:p>
                      <a:pPr marL="334645" marR="154305" indent="-161925">
                        <a:lnSpc>
                          <a:spcPts val="1050"/>
                        </a:lnSpc>
                      </a:pPr>
                      <a:endParaRPr lang="en-US" sz="800" b="0" dirty="0" smtClean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334645" marR="154305" indent="-161925">
                        <a:lnSpc>
                          <a:spcPts val="1050"/>
                        </a:lnSpc>
                      </a:pPr>
                      <a:r>
                        <a:rPr sz="1050" b="1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050" b="1" spc="2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</a:t>
                      </a:r>
                      <a:r>
                        <a:rPr sz="1050" b="1" spc="-25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050" b="1" spc="-3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050" b="1" spc="2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050" b="1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b="1" spc="2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lang="en-US" sz="1050" b="1" spc="2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050" b="1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 smtClean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Fire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9E24"/>
                    </a:solidFill>
                  </a:tcPr>
                </a:tc>
                <a:tc>
                  <a:txBody>
                    <a:bodyPr/>
                    <a:lstStyle/>
                    <a:p>
                      <a:pPr marL="165100" marR="139065" indent="2540" algn="ctr">
                        <a:lnSpc>
                          <a:spcPts val="1050"/>
                        </a:lnSpc>
                        <a:spcBef>
                          <a:spcPts val="425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05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</a:t>
                      </a:r>
                      <a:r>
                        <a:rPr sz="105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</a:t>
                      </a:r>
                      <a:r>
                        <a:rPr sz="105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Fire  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200" b="1" kern="120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Arial"/>
                        </a:rPr>
                        <a:t>Negative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A55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50" dirty="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Actual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522422"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  <a:spcBef>
                          <a:spcPts val="375"/>
                        </a:spcBef>
                      </a:pPr>
                      <a:r>
                        <a:rPr sz="10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Actual</a:t>
                      </a:r>
                      <a:r>
                        <a:rPr sz="105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Alarm</a:t>
                      </a:r>
                      <a:endParaRPr sz="1050" dirty="0">
                        <a:latin typeface="Arial"/>
                        <a:cs typeface="Arial"/>
                      </a:endParaRPr>
                    </a:p>
                    <a:p>
                      <a:pPr marL="2540" algn="ctr">
                        <a:lnSpc>
                          <a:spcPts val="1065"/>
                        </a:lnSpc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(True)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B9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 dirty="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TP:</a:t>
                      </a:r>
                      <a:r>
                        <a:rPr sz="900" b="1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9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FP:</a:t>
                      </a:r>
                      <a:r>
                        <a:rPr sz="900" b="1" spc="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 dirty="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9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</a:tr>
              <a:tr h="522331">
                <a:tc>
                  <a:txBody>
                    <a:bodyPr/>
                    <a:lstStyle/>
                    <a:p>
                      <a:pPr marL="410209" marR="212090" indent="-190500">
                        <a:lnSpc>
                          <a:spcPts val="1050"/>
                        </a:lnSpc>
                        <a:spcBef>
                          <a:spcPts val="434"/>
                        </a:spcBef>
                      </a:pPr>
                      <a:r>
                        <a:rPr sz="10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Actual</a:t>
                      </a:r>
                      <a:r>
                        <a:rPr sz="10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endParaRPr lang="en-US" sz="1050" b="1" spc="-50" dirty="0" smtClean="0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  <a:p>
                      <a:pPr marL="410209" marR="212090" indent="-190500">
                        <a:lnSpc>
                          <a:spcPts val="1050"/>
                        </a:lnSpc>
                        <a:spcBef>
                          <a:spcPts val="434"/>
                        </a:spcBef>
                      </a:pPr>
                      <a:r>
                        <a:rPr sz="1050" b="1" spc="-1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Alarm</a:t>
                      </a:r>
                      <a:endParaRPr lang="en-US" sz="1050" b="1" spc="-10" dirty="0" smtClean="0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  <a:p>
                      <a:pPr marL="410209" marR="212090" indent="-190500">
                        <a:lnSpc>
                          <a:spcPts val="1050"/>
                        </a:lnSpc>
                        <a:spcBef>
                          <a:spcPts val="434"/>
                        </a:spcBef>
                      </a:pPr>
                      <a:r>
                        <a:rPr sz="1050" b="1" spc="-1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(False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050" dirty="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55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4604" algn="ctr">
                        <a:lnSpc>
                          <a:spcPct val="100000"/>
                        </a:lnSpc>
                      </a:pPr>
                      <a:r>
                        <a:rPr sz="9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FN:</a:t>
                      </a:r>
                      <a:r>
                        <a:rPr sz="900" b="1" spc="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9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TN:</a:t>
                      </a:r>
                      <a:r>
                        <a:rPr sz="900" b="1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0320" algn="ctr">
                        <a:lnSpc>
                          <a:spcPct val="100000"/>
                        </a:lnSpc>
                      </a:pPr>
                      <a:r>
                        <a:rPr sz="9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</a:tr>
              <a:tr h="5241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Predicted</a:t>
                      </a:r>
                      <a:r>
                        <a:rPr sz="9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Fire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415" algn="ctr">
                        <a:lnSpc>
                          <a:spcPct val="100000"/>
                        </a:lnSpc>
                      </a:pPr>
                      <a:r>
                        <a:rPr sz="9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415" algn="ctr">
                        <a:lnSpc>
                          <a:spcPct val="100000"/>
                        </a:lnSpc>
                      </a:pPr>
                      <a:r>
                        <a:rPr sz="9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20320" algn="ctr">
                        <a:lnSpc>
                          <a:spcPct val="100000"/>
                        </a:lnSpc>
                      </a:pPr>
                      <a:r>
                        <a:rPr sz="900" b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150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4867603" y="5293627"/>
            <a:ext cx="6096000" cy="3046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2250" marR="3978910" indent="-171450">
              <a:lnSpc>
                <a:spcPts val="1580"/>
              </a:lnSpc>
              <a:spcBef>
                <a:spcPts val="5"/>
              </a:spcBef>
            </a:pPr>
            <a:r>
              <a:rPr lang="en-US" sz="2000" b="1" spc="-220" dirty="0">
                <a:solidFill>
                  <a:srgbClr val="595959"/>
                </a:solidFill>
                <a:latin typeface="Arial"/>
                <a:cs typeface="Arial"/>
              </a:rPr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3623410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163" y="272134"/>
            <a:ext cx="5010273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Confusion 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40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3029" y="1415534"/>
            <a:ext cx="365099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pc="-30" dirty="0" smtClean="0">
                <a:solidFill>
                  <a:srgbClr val="535353"/>
                </a:solidFill>
              </a:rPr>
              <a:t>How to</a:t>
            </a:r>
            <a:r>
              <a:rPr lang="en-US" spc="10" dirty="0" smtClean="0">
                <a:solidFill>
                  <a:srgbClr val="535353"/>
                </a:solidFill>
              </a:rPr>
              <a:t> </a:t>
            </a:r>
            <a:r>
              <a:rPr lang="en-US" spc="-10" dirty="0">
                <a:solidFill>
                  <a:srgbClr val="535353"/>
                </a:solidFill>
              </a:rPr>
              <a:t>calculate </a:t>
            </a:r>
            <a:r>
              <a:rPr lang="en-US" dirty="0">
                <a:solidFill>
                  <a:srgbClr val="535353"/>
                </a:solidFill>
              </a:rPr>
              <a:t>a </a:t>
            </a:r>
            <a:r>
              <a:rPr lang="en-US" spc="5" dirty="0">
                <a:solidFill>
                  <a:srgbClr val="535353"/>
                </a:solidFill>
              </a:rPr>
              <a:t>Confusion</a:t>
            </a:r>
            <a:r>
              <a:rPr lang="en-US" spc="-30" dirty="0">
                <a:solidFill>
                  <a:srgbClr val="535353"/>
                </a:solidFill>
              </a:rPr>
              <a:t> </a:t>
            </a:r>
            <a:r>
              <a:rPr lang="en-US" dirty="0">
                <a:solidFill>
                  <a:srgbClr val="535353"/>
                </a:solidFill>
              </a:rPr>
              <a:t>Matrix?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117273" y="2274630"/>
            <a:ext cx="6096000" cy="34406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marL="374650" indent="-362585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374650" algn="l"/>
                <a:tab pos="375285" algn="l"/>
              </a:tabLst>
            </a:pPr>
            <a:r>
              <a:rPr lang="en-US" spc="-5" dirty="0">
                <a:latin typeface="Segoe UI Semilight"/>
                <a:cs typeface="Segoe UI Semilight"/>
              </a:rPr>
              <a:t>You</a:t>
            </a:r>
            <a:r>
              <a:rPr lang="en-US" spc="-15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need</a:t>
            </a:r>
            <a:r>
              <a:rPr lang="en-US" spc="35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a</a:t>
            </a:r>
            <a:r>
              <a:rPr lang="en-US" spc="-80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test</a:t>
            </a:r>
            <a:r>
              <a:rPr lang="en-US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dataset</a:t>
            </a:r>
            <a:r>
              <a:rPr lang="en-US" spc="-80" dirty="0">
                <a:latin typeface="Segoe UI Semilight"/>
                <a:cs typeface="Segoe UI Semilight"/>
              </a:rPr>
              <a:t> </a:t>
            </a:r>
            <a:r>
              <a:rPr lang="en-US" spc="35" dirty="0">
                <a:latin typeface="Segoe UI Semilight"/>
                <a:cs typeface="Segoe UI Semilight"/>
              </a:rPr>
              <a:t>or</a:t>
            </a:r>
            <a:r>
              <a:rPr lang="en-US" spc="-10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a</a:t>
            </a:r>
            <a:r>
              <a:rPr lang="en-US" spc="-5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validation</a:t>
            </a:r>
            <a:r>
              <a:rPr lang="en-US" spc="-160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dataset</a:t>
            </a:r>
            <a:r>
              <a:rPr lang="en-US" spc="-80" dirty="0">
                <a:latin typeface="Segoe UI Semilight"/>
                <a:cs typeface="Segoe UI Semilight"/>
              </a:rPr>
              <a:t> </a:t>
            </a:r>
            <a:r>
              <a:rPr lang="en-US" spc="65" dirty="0">
                <a:latin typeface="Segoe UI Semilight"/>
                <a:cs typeface="Segoe UI Semilight"/>
              </a:rPr>
              <a:t>with</a:t>
            </a:r>
            <a:endParaRPr lang="en-US" dirty="0">
              <a:latin typeface="Segoe UI Semilight"/>
              <a:cs typeface="Segoe UI Semilight"/>
            </a:endParaRPr>
          </a:p>
          <a:p>
            <a:pPr marL="374650">
              <a:lnSpc>
                <a:spcPct val="100000"/>
              </a:lnSpc>
              <a:spcBef>
                <a:spcPts val="1625"/>
              </a:spcBef>
            </a:pPr>
            <a:r>
              <a:rPr lang="en-US" spc="50" dirty="0">
                <a:latin typeface="Segoe UI Semilight"/>
                <a:cs typeface="Segoe UI Semilight"/>
              </a:rPr>
              <a:t>expected outcome</a:t>
            </a:r>
            <a:r>
              <a:rPr lang="en-US" spc="-265" dirty="0">
                <a:latin typeface="Segoe UI Semilight"/>
                <a:cs typeface="Segoe UI Semilight"/>
              </a:rPr>
              <a:t> </a:t>
            </a:r>
            <a:r>
              <a:rPr lang="en-US" spc="45" dirty="0">
                <a:latin typeface="Segoe UI Semilight"/>
                <a:cs typeface="Segoe UI Semilight"/>
              </a:rPr>
              <a:t>values.</a:t>
            </a:r>
            <a:endParaRPr lang="en-US" dirty="0">
              <a:latin typeface="Segoe UI Semilight"/>
              <a:cs typeface="Segoe UI Semilight"/>
            </a:endParaRPr>
          </a:p>
          <a:p>
            <a:pPr marL="374650" indent="-362585">
              <a:lnSpc>
                <a:spcPct val="100000"/>
              </a:lnSpc>
              <a:spcBef>
                <a:spcPts val="1705"/>
              </a:spcBef>
              <a:buFont typeface="Wingdings"/>
              <a:buChar char=""/>
              <a:tabLst>
                <a:tab pos="374650" algn="l"/>
                <a:tab pos="375285" algn="l"/>
              </a:tabLst>
            </a:pPr>
            <a:r>
              <a:rPr lang="en-US" spc="75" dirty="0">
                <a:latin typeface="Segoe UI Semilight"/>
                <a:cs typeface="Segoe UI Semilight"/>
              </a:rPr>
              <a:t>Make</a:t>
            </a:r>
            <a:r>
              <a:rPr lang="en-US" spc="-95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a</a:t>
            </a:r>
            <a:r>
              <a:rPr lang="en-US" spc="-10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prediction</a:t>
            </a:r>
            <a:r>
              <a:rPr lang="en-US" spc="-90" dirty="0">
                <a:latin typeface="Segoe UI Semilight"/>
                <a:cs typeface="Segoe UI Semilight"/>
              </a:rPr>
              <a:t> </a:t>
            </a:r>
            <a:r>
              <a:rPr lang="en-US" spc="60" dirty="0">
                <a:latin typeface="Segoe UI Semilight"/>
                <a:cs typeface="Segoe UI Semilight"/>
              </a:rPr>
              <a:t>for</a:t>
            </a:r>
            <a:r>
              <a:rPr lang="en-US" spc="-15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each</a:t>
            </a:r>
            <a:r>
              <a:rPr lang="en-US" spc="-80" dirty="0">
                <a:latin typeface="Segoe UI Semilight"/>
                <a:cs typeface="Segoe UI Semilight"/>
              </a:rPr>
              <a:t> </a:t>
            </a:r>
            <a:r>
              <a:rPr lang="en-US" spc="55" dirty="0">
                <a:latin typeface="Segoe UI Semilight"/>
                <a:cs typeface="Segoe UI Semilight"/>
              </a:rPr>
              <a:t>row</a:t>
            </a:r>
            <a:r>
              <a:rPr lang="en-US" spc="-40" dirty="0">
                <a:latin typeface="Segoe UI Semilight"/>
                <a:cs typeface="Segoe UI Semilight"/>
              </a:rPr>
              <a:t> </a:t>
            </a:r>
            <a:r>
              <a:rPr lang="en-US" spc="55" dirty="0">
                <a:latin typeface="Segoe UI Semilight"/>
                <a:cs typeface="Segoe UI Semilight"/>
              </a:rPr>
              <a:t>in</a:t>
            </a:r>
            <a:r>
              <a:rPr lang="en-US" spc="-10" dirty="0">
                <a:latin typeface="Segoe UI Semilight"/>
                <a:cs typeface="Segoe UI Semilight"/>
              </a:rPr>
              <a:t> </a:t>
            </a:r>
            <a:r>
              <a:rPr lang="en-US" spc="55" dirty="0">
                <a:latin typeface="Segoe UI Semilight"/>
                <a:cs typeface="Segoe UI Semilight"/>
              </a:rPr>
              <a:t>your</a:t>
            </a:r>
            <a:r>
              <a:rPr lang="en-US" spc="-90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test</a:t>
            </a:r>
            <a:r>
              <a:rPr lang="en-US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dataset.</a:t>
            </a:r>
            <a:endParaRPr lang="en-US" dirty="0">
              <a:latin typeface="Segoe UI Semilight"/>
              <a:cs typeface="Segoe UI Semilight"/>
            </a:endParaRPr>
          </a:p>
          <a:p>
            <a:pPr marL="374650" indent="-362585">
              <a:lnSpc>
                <a:spcPct val="100000"/>
              </a:lnSpc>
              <a:spcBef>
                <a:spcPts val="1700"/>
              </a:spcBef>
              <a:buFont typeface="Wingdings"/>
              <a:buChar char=""/>
              <a:tabLst>
                <a:tab pos="374650" algn="l"/>
                <a:tab pos="375285" algn="l"/>
              </a:tabLst>
            </a:pPr>
            <a:r>
              <a:rPr lang="en-US" spc="55" dirty="0">
                <a:latin typeface="Segoe UI Semilight"/>
                <a:cs typeface="Segoe UI Semilight"/>
              </a:rPr>
              <a:t>From</a:t>
            </a:r>
            <a:r>
              <a:rPr lang="en-US" spc="-75" dirty="0">
                <a:latin typeface="Segoe UI Semilight"/>
                <a:cs typeface="Segoe UI Semilight"/>
              </a:rPr>
              <a:t> </a:t>
            </a:r>
            <a:r>
              <a:rPr lang="en-US" spc="55" dirty="0">
                <a:latin typeface="Segoe UI Semilight"/>
                <a:cs typeface="Segoe UI Semilight"/>
              </a:rPr>
              <a:t>the</a:t>
            </a:r>
            <a:r>
              <a:rPr lang="en-US" spc="-100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expected</a:t>
            </a:r>
            <a:r>
              <a:rPr lang="en-US" spc="-45" dirty="0">
                <a:latin typeface="Segoe UI Semilight"/>
                <a:cs typeface="Segoe UI Semilight"/>
              </a:rPr>
              <a:t> </a:t>
            </a:r>
            <a:r>
              <a:rPr lang="en-US" spc="45" dirty="0">
                <a:latin typeface="Segoe UI Semilight"/>
                <a:cs typeface="Segoe UI Semilight"/>
              </a:rPr>
              <a:t>outcomes</a:t>
            </a:r>
            <a:r>
              <a:rPr lang="en-US" spc="-105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and</a:t>
            </a:r>
            <a:r>
              <a:rPr lang="en-US" spc="-45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predictions,</a:t>
            </a:r>
            <a:r>
              <a:rPr lang="en-US" spc="-45" dirty="0">
                <a:latin typeface="Segoe UI Semilight"/>
                <a:cs typeface="Segoe UI Semilight"/>
              </a:rPr>
              <a:t> </a:t>
            </a:r>
            <a:r>
              <a:rPr lang="en-US" b="1" spc="10" dirty="0">
                <a:latin typeface="Segoe UI Semibold"/>
                <a:cs typeface="Segoe UI Semibold"/>
              </a:rPr>
              <a:t>count</a:t>
            </a:r>
            <a:r>
              <a:rPr lang="en-US" spc="10" dirty="0">
                <a:latin typeface="Segoe UI Semilight"/>
                <a:cs typeface="Segoe UI Semilight"/>
              </a:rPr>
              <a:t>:</a:t>
            </a:r>
            <a:endParaRPr lang="en-US" dirty="0">
              <a:latin typeface="Segoe UI Semilight"/>
              <a:cs typeface="Segoe UI Semilight"/>
            </a:endParaRPr>
          </a:p>
          <a:p>
            <a:pPr marL="718185" lvl="1" indent="-362585">
              <a:lnSpc>
                <a:spcPct val="100000"/>
              </a:lnSpc>
              <a:spcBef>
                <a:spcPts val="1700"/>
              </a:spcBef>
              <a:buFont typeface="Wingdings"/>
              <a:buChar char=""/>
              <a:tabLst>
                <a:tab pos="717550" algn="l"/>
                <a:tab pos="718185" algn="l"/>
              </a:tabLst>
            </a:pPr>
            <a:r>
              <a:rPr lang="en-US" spc="40" dirty="0">
                <a:latin typeface="Segoe UI Semilight"/>
                <a:cs typeface="Segoe UI Semilight"/>
              </a:rPr>
              <a:t>The</a:t>
            </a:r>
            <a:r>
              <a:rPr lang="en-US" spc="-25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number</a:t>
            </a:r>
            <a:r>
              <a:rPr lang="en-US" spc="-15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of</a:t>
            </a:r>
            <a:r>
              <a:rPr lang="en-US" spc="-55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correct</a:t>
            </a:r>
            <a:r>
              <a:rPr lang="en-US" spc="-75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predictions</a:t>
            </a:r>
            <a:r>
              <a:rPr lang="en-US" spc="-25" dirty="0">
                <a:latin typeface="Segoe UI Semilight"/>
                <a:cs typeface="Segoe UI Semilight"/>
              </a:rPr>
              <a:t> </a:t>
            </a:r>
            <a:r>
              <a:rPr lang="en-US" spc="60" dirty="0">
                <a:latin typeface="Segoe UI Semilight"/>
                <a:cs typeface="Segoe UI Semilight"/>
              </a:rPr>
              <a:t>for</a:t>
            </a:r>
            <a:r>
              <a:rPr lang="en-US" spc="-90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each</a:t>
            </a:r>
            <a:r>
              <a:rPr lang="en-US" spc="-15" dirty="0">
                <a:latin typeface="Segoe UI Semilight"/>
                <a:cs typeface="Segoe UI Semilight"/>
              </a:rPr>
              <a:t> </a:t>
            </a:r>
            <a:r>
              <a:rPr lang="en-US" spc="35" dirty="0">
                <a:latin typeface="Segoe UI Semilight"/>
                <a:cs typeface="Segoe UI Semilight"/>
              </a:rPr>
              <a:t>class.</a:t>
            </a:r>
            <a:endParaRPr lang="en-US" dirty="0">
              <a:latin typeface="Segoe UI Semilight"/>
              <a:cs typeface="Segoe UI Semilight"/>
            </a:endParaRPr>
          </a:p>
          <a:p>
            <a:pPr marL="718185" marR="5080" lvl="1" indent="-362585">
              <a:lnSpc>
                <a:spcPct val="196700"/>
              </a:lnSpc>
              <a:spcBef>
                <a:spcPts val="75"/>
              </a:spcBef>
              <a:buFont typeface="Wingdings"/>
              <a:buChar char=""/>
              <a:tabLst>
                <a:tab pos="717550" algn="l"/>
                <a:tab pos="718185" algn="l"/>
              </a:tabLst>
            </a:pPr>
            <a:r>
              <a:rPr lang="en-US" spc="40" dirty="0">
                <a:latin typeface="Segoe UI Semilight"/>
                <a:cs typeface="Segoe UI Semilight"/>
              </a:rPr>
              <a:t>The</a:t>
            </a:r>
            <a:r>
              <a:rPr lang="en-US" spc="-20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number</a:t>
            </a:r>
            <a:r>
              <a:rPr lang="en-US" spc="-10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of</a:t>
            </a:r>
            <a:r>
              <a:rPr lang="en-US" spc="-50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incorrect</a:t>
            </a:r>
            <a:r>
              <a:rPr lang="en-US" spc="-70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predictions</a:t>
            </a:r>
            <a:r>
              <a:rPr lang="en-US" spc="-100" dirty="0">
                <a:latin typeface="Segoe UI Semilight"/>
                <a:cs typeface="Segoe UI Semilight"/>
              </a:rPr>
              <a:t> </a:t>
            </a:r>
            <a:r>
              <a:rPr lang="en-US" spc="60" dirty="0">
                <a:latin typeface="Segoe UI Semilight"/>
                <a:cs typeface="Segoe UI Semilight"/>
              </a:rPr>
              <a:t>for</a:t>
            </a:r>
            <a:r>
              <a:rPr lang="en-US" spc="-10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each</a:t>
            </a:r>
            <a:r>
              <a:rPr lang="en-US" spc="-10" dirty="0">
                <a:latin typeface="Segoe UI Semilight"/>
                <a:cs typeface="Segoe UI Semilight"/>
              </a:rPr>
              <a:t> </a:t>
            </a:r>
            <a:r>
              <a:rPr lang="en-US" spc="35" dirty="0">
                <a:latin typeface="Segoe UI Semilight"/>
                <a:cs typeface="Segoe UI Semilight"/>
              </a:rPr>
              <a:t>class,  </a:t>
            </a:r>
            <a:r>
              <a:rPr lang="en-US" spc="40" dirty="0">
                <a:latin typeface="Segoe UI Semilight"/>
                <a:cs typeface="Segoe UI Semilight"/>
              </a:rPr>
              <a:t>organized</a:t>
            </a:r>
            <a:r>
              <a:rPr lang="en-US" spc="-120" dirty="0">
                <a:latin typeface="Segoe UI Semilight"/>
                <a:cs typeface="Segoe UI Semilight"/>
              </a:rPr>
              <a:t> </a:t>
            </a:r>
            <a:r>
              <a:rPr lang="en-US" spc="45" dirty="0">
                <a:latin typeface="Segoe UI Semilight"/>
                <a:cs typeface="Segoe UI Semilight"/>
              </a:rPr>
              <a:t>by</a:t>
            </a:r>
            <a:r>
              <a:rPr lang="en-US" spc="10" dirty="0">
                <a:latin typeface="Segoe UI Semilight"/>
                <a:cs typeface="Segoe UI Semilight"/>
              </a:rPr>
              <a:t> </a:t>
            </a:r>
            <a:r>
              <a:rPr lang="en-US" spc="55" dirty="0">
                <a:latin typeface="Segoe UI Semilight"/>
                <a:cs typeface="Segoe UI Semilight"/>
              </a:rPr>
              <a:t>the</a:t>
            </a:r>
            <a:r>
              <a:rPr lang="en-US" spc="-25" dirty="0">
                <a:latin typeface="Segoe UI Semilight"/>
                <a:cs typeface="Segoe UI Semilight"/>
              </a:rPr>
              <a:t> </a:t>
            </a:r>
            <a:r>
              <a:rPr lang="en-US" spc="40" dirty="0">
                <a:latin typeface="Segoe UI Semilight"/>
                <a:cs typeface="Segoe UI Semilight"/>
              </a:rPr>
              <a:t>class</a:t>
            </a:r>
            <a:r>
              <a:rPr lang="en-US" spc="-105" dirty="0">
                <a:latin typeface="Segoe UI Semilight"/>
                <a:cs typeface="Segoe UI Semilight"/>
              </a:rPr>
              <a:t> </a:t>
            </a:r>
            <a:r>
              <a:rPr lang="en-US" spc="60" dirty="0">
                <a:latin typeface="Segoe UI Semilight"/>
                <a:cs typeface="Segoe UI Semilight"/>
              </a:rPr>
              <a:t>that</a:t>
            </a:r>
            <a:r>
              <a:rPr lang="en-US" spc="-80" dirty="0">
                <a:latin typeface="Segoe UI Semilight"/>
                <a:cs typeface="Segoe UI Semilight"/>
              </a:rPr>
              <a:t> </a:t>
            </a:r>
            <a:r>
              <a:rPr lang="en-US" spc="50" dirty="0">
                <a:latin typeface="Segoe UI Semilight"/>
                <a:cs typeface="Segoe UI Semilight"/>
              </a:rPr>
              <a:t>was</a:t>
            </a:r>
            <a:r>
              <a:rPr lang="en-US" spc="-30" dirty="0">
                <a:latin typeface="Segoe UI Semilight"/>
                <a:cs typeface="Segoe UI Semilight"/>
              </a:rPr>
              <a:t> </a:t>
            </a:r>
            <a:r>
              <a:rPr lang="en-US" spc="35" dirty="0">
                <a:latin typeface="Segoe UI Semilight"/>
                <a:cs typeface="Segoe UI Semilight"/>
              </a:rPr>
              <a:t>predicted.</a:t>
            </a:r>
            <a:endParaRPr lang="en-US" dirty="0">
              <a:latin typeface="Segoe UI Semilight"/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8470386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163" y="272134"/>
            <a:ext cx="5010273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Confusion 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41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3029" y="1415534"/>
            <a:ext cx="365099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pc="-30" dirty="0" smtClean="0">
                <a:solidFill>
                  <a:srgbClr val="535353"/>
                </a:solidFill>
              </a:rPr>
              <a:t>How to</a:t>
            </a:r>
            <a:r>
              <a:rPr lang="en-US" spc="10" dirty="0" smtClean="0">
                <a:solidFill>
                  <a:srgbClr val="535353"/>
                </a:solidFill>
              </a:rPr>
              <a:t> </a:t>
            </a:r>
            <a:r>
              <a:rPr lang="en-US" spc="-10" dirty="0">
                <a:solidFill>
                  <a:srgbClr val="535353"/>
                </a:solidFill>
              </a:rPr>
              <a:t>calculate </a:t>
            </a:r>
            <a:r>
              <a:rPr lang="en-US" dirty="0">
                <a:solidFill>
                  <a:srgbClr val="535353"/>
                </a:solidFill>
              </a:rPr>
              <a:t>a </a:t>
            </a:r>
            <a:r>
              <a:rPr lang="en-US" spc="5" dirty="0">
                <a:solidFill>
                  <a:srgbClr val="535353"/>
                </a:solidFill>
              </a:rPr>
              <a:t>Confusion</a:t>
            </a:r>
            <a:r>
              <a:rPr lang="en-US" spc="-30" dirty="0">
                <a:solidFill>
                  <a:srgbClr val="535353"/>
                </a:solidFill>
              </a:rPr>
              <a:t> </a:t>
            </a:r>
            <a:r>
              <a:rPr lang="en-US" dirty="0">
                <a:solidFill>
                  <a:srgbClr val="535353"/>
                </a:solidFill>
              </a:rPr>
              <a:t>Matrix?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08701" y="2897975"/>
            <a:ext cx="2800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Correct</a:t>
            </a:r>
            <a:r>
              <a:rPr lang="en-US" b="1" spc="-30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5" dirty="0">
                <a:solidFill>
                  <a:srgbClr val="545454"/>
                </a:solidFill>
                <a:latin typeface="Arial"/>
                <a:cs typeface="Arial"/>
              </a:rPr>
              <a:t>Prediction: </a:t>
            </a:r>
            <a:r>
              <a:rPr lang="en-US" spc="15" dirty="0">
                <a:solidFill>
                  <a:srgbClr val="545454"/>
                </a:solidFill>
                <a:latin typeface="Arial"/>
                <a:cs typeface="Arial"/>
              </a:rPr>
              <a:t>7/10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58833" y="3872534"/>
            <a:ext cx="1849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20" dirty="0">
                <a:solidFill>
                  <a:srgbClr val="545454"/>
                </a:solidFill>
                <a:latin typeface="Arial"/>
                <a:cs typeface="Arial"/>
              </a:rPr>
              <a:t>Accuracy:</a:t>
            </a:r>
            <a:r>
              <a:rPr lang="en-US" b="1" spc="-229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45" dirty="0">
                <a:solidFill>
                  <a:srgbClr val="545454"/>
                </a:solidFill>
                <a:latin typeface="Arial"/>
                <a:cs typeface="Arial"/>
              </a:rPr>
              <a:t>70%</a:t>
            </a:r>
            <a:endParaRPr lang="en-US" dirty="0">
              <a:latin typeface="Arial"/>
              <a:cs typeface="Arial"/>
            </a:endParaRPr>
          </a:p>
        </p:txBody>
      </p:sp>
      <p:graphicFrame>
        <p:nvGraphicFramePr>
          <p:cNvPr id="8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77841"/>
              </p:ext>
            </p:extLst>
          </p:nvPr>
        </p:nvGraphicFramePr>
        <p:xfrm>
          <a:off x="7013656" y="2103182"/>
          <a:ext cx="2310454" cy="4000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381"/>
                <a:gridCol w="1136073"/>
              </a:tblGrid>
              <a:tr h="314482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Expected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200" b="1" spc="-5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Predicted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1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04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04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19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98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71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7836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163" y="272134"/>
            <a:ext cx="5010273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Confusion 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42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3029" y="1415534"/>
            <a:ext cx="365099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pc="-30" dirty="0" smtClean="0">
                <a:solidFill>
                  <a:srgbClr val="535353"/>
                </a:solidFill>
              </a:rPr>
              <a:t>How to</a:t>
            </a:r>
            <a:r>
              <a:rPr lang="en-US" spc="10" dirty="0" smtClean="0">
                <a:solidFill>
                  <a:srgbClr val="535353"/>
                </a:solidFill>
              </a:rPr>
              <a:t> </a:t>
            </a:r>
            <a:r>
              <a:rPr lang="en-US" spc="-10" dirty="0">
                <a:solidFill>
                  <a:srgbClr val="535353"/>
                </a:solidFill>
              </a:rPr>
              <a:t>calculate </a:t>
            </a:r>
            <a:r>
              <a:rPr lang="en-US" dirty="0">
                <a:solidFill>
                  <a:srgbClr val="535353"/>
                </a:solidFill>
              </a:rPr>
              <a:t>a </a:t>
            </a:r>
            <a:r>
              <a:rPr lang="en-US" spc="5" dirty="0">
                <a:solidFill>
                  <a:srgbClr val="535353"/>
                </a:solidFill>
              </a:rPr>
              <a:t>Confusion</a:t>
            </a:r>
            <a:r>
              <a:rPr lang="en-US" spc="-30" dirty="0">
                <a:solidFill>
                  <a:srgbClr val="535353"/>
                </a:solidFill>
              </a:rPr>
              <a:t> </a:t>
            </a:r>
            <a:r>
              <a:rPr lang="en-US" dirty="0">
                <a:solidFill>
                  <a:srgbClr val="535353"/>
                </a:solidFill>
              </a:rPr>
              <a:t>Matrix?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08701" y="2897975"/>
            <a:ext cx="2893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men</a:t>
            </a:r>
            <a:r>
              <a:rPr lang="en-US" b="1" spc="-1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0" dirty="0">
                <a:solidFill>
                  <a:srgbClr val="545454"/>
                </a:solidFill>
                <a:latin typeface="Arial"/>
                <a:cs typeface="Arial"/>
              </a:rPr>
              <a:t>classified</a:t>
            </a:r>
            <a:r>
              <a:rPr lang="en-US" b="1" spc="-1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as</a:t>
            </a:r>
            <a:r>
              <a:rPr lang="en-US" b="1" spc="-1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30" dirty="0">
                <a:solidFill>
                  <a:srgbClr val="545454"/>
                </a:solidFill>
                <a:latin typeface="Arial"/>
                <a:cs typeface="Arial"/>
              </a:rPr>
              <a:t>men:</a:t>
            </a:r>
            <a:r>
              <a:rPr lang="en-US" b="1" spc="-10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5" dirty="0">
                <a:solidFill>
                  <a:srgbClr val="6B9E24"/>
                </a:solidFill>
                <a:latin typeface="Arial"/>
                <a:cs typeface="Arial"/>
              </a:rPr>
              <a:t>3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08701" y="3757071"/>
            <a:ext cx="3536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30" dirty="0">
                <a:solidFill>
                  <a:srgbClr val="545454"/>
                </a:solidFill>
                <a:latin typeface="Arial"/>
                <a:cs typeface="Arial"/>
              </a:rPr>
              <a:t>women</a:t>
            </a:r>
            <a:r>
              <a:rPr lang="en-US" b="1" spc="-1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0" dirty="0">
                <a:solidFill>
                  <a:srgbClr val="545454"/>
                </a:solidFill>
                <a:latin typeface="Arial"/>
                <a:cs typeface="Arial"/>
              </a:rPr>
              <a:t>classified</a:t>
            </a:r>
            <a:r>
              <a:rPr lang="en-US" b="1" spc="-2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as</a:t>
            </a:r>
            <a:r>
              <a:rPr lang="en-US" b="1" spc="-1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30" dirty="0">
                <a:solidFill>
                  <a:srgbClr val="545454"/>
                </a:solidFill>
                <a:latin typeface="Arial"/>
                <a:cs typeface="Arial"/>
              </a:rPr>
              <a:t>women:</a:t>
            </a:r>
            <a:r>
              <a:rPr lang="en-US" b="1" spc="-1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5" dirty="0">
                <a:solidFill>
                  <a:srgbClr val="6B9E24"/>
                </a:solidFill>
                <a:latin typeface="Arial"/>
                <a:cs typeface="Arial"/>
              </a:rPr>
              <a:t>4</a:t>
            </a:r>
            <a:endParaRPr lang="en-US" dirty="0">
              <a:latin typeface="Arial"/>
              <a:cs typeface="Arial"/>
            </a:endParaRPr>
          </a:p>
        </p:txBody>
      </p:sp>
      <p:graphicFrame>
        <p:nvGraphicFramePr>
          <p:cNvPr id="8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77841"/>
              </p:ext>
            </p:extLst>
          </p:nvPr>
        </p:nvGraphicFramePr>
        <p:xfrm>
          <a:off x="7013656" y="2103182"/>
          <a:ext cx="2310454" cy="4000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381"/>
                <a:gridCol w="1136073"/>
              </a:tblGrid>
              <a:tr h="314482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Expected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200" b="1" spc="-5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Predicted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1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04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04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19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98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71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739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163" y="272134"/>
            <a:ext cx="5010273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Confusion 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43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3029" y="1415534"/>
            <a:ext cx="365099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pc="-30" dirty="0" smtClean="0">
                <a:solidFill>
                  <a:srgbClr val="535353"/>
                </a:solidFill>
              </a:rPr>
              <a:t>How to</a:t>
            </a:r>
            <a:r>
              <a:rPr lang="en-US" spc="10" dirty="0" smtClean="0">
                <a:solidFill>
                  <a:srgbClr val="535353"/>
                </a:solidFill>
              </a:rPr>
              <a:t> </a:t>
            </a:r>
            <a:r>
              <a:rPr lang="en-US" spc="-10" dirty="0">
                <a:solidFill>
                  <a:srgbClr val="535353"/>
                </a:solidFill>
              </a:rPr>
              <a:t>calculate </a:t>
            </a:r>
            <a:r>
              <a:rPr lang="en-US" dirty="0">
                <a:solidFill>
                  <a:srgbClr val="535353"/>
                </a:solidFill>
              </a:rPr>
              <a:t>a </a:t>
            </a:r>
            <a:r>
              <a:rPr lang="en-US" spc="5" dirty="0">
                <a:solidFill>
                  <a:srgbClr val="535353"/>
                </a:solidFill>
              </a:rPr>
              <a:t>Confusion</a:t>
            </a:r>
            <a:r>
              <a:rPr lang="en-US" spc="-30" dirty="0">
                <a:solidFill>
                  <a:srgbClr val="535353"/>
                </a:solidFill>
              </a:rPr>
              <a:t> </a:t>
            </a:r>
            <a:r>
              <a:rPr lang="en-US" dirty="0">
                <a:solidFill>
                  <a:srgbClr val="535353"/>
                </a:solidFill>
              </a:rPr>
              <a:t>Matrix?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08701" y="2897975"/>
            <a:ext cx="3234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men</a:t>
            </a:r>
            <a:r>
              <a:rPr lang="en-US" b="1" spc="-1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0" dirty="0">
                <a:solidFill>
                  <a:srgbClr val="545454"/>
                </a:solidFill>
                <a:latin typeface="Arial"/>
                <a:cs typeface="Arial"/>
              </a:rPr>
              <a:t>classified</a:t>
            </a:r>
            <a:r>
              <a:rPr lang="en-US" b="1" spc="-1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as</a:t>
            </a:r>
            <a:r>
              <a:rPr lang="en-US" b="1" spc="-1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30" dirty="0">
                <a:solidFill>
                  <a:srgbClr val="545454"/>
                </a:solidFill>
                <a:latin typeface="Arial"/>
                <a:cs typeface="Arial"/>
              </a:rPr>
              <a:t>women:</a:t>
            </a:r>
            <a:r>
              <a:rPr lang="en-US" b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7937" y="3757071"/>
            <a:ext cx="3214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30" dirty="0">
                <a:solidFill>
                  <a:srgbClr val="545454"/>
                </a:solidFill>
                <a:latin typeface="Arial"/>
                <a:cs typeface="Arial"/>
              </a:rPr>
              <a:t>woman</a:t>
            </a:r>
            <a:r>
              <a:rPr lang="en-US" b="1" spc="-1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0" dirty="0">
                <a:solidFill>
                  <a:srgbClr val="545454"/>
                </a:solidFill>
                <a:latin typeface="Arial"/>
                <a:cs typeface="Arial"/>
              </a:rPr>
              <a:t>classified</a:t>
            </a:r>
            <a:r>
              <a:rPr lang="en-US" b="1" spc="-2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as</a:t>
            </a:r>
            <a:r>
              <a:rPr lang="en-US" b="1" spc="-1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30" dirty="0">
                <a:solidFill>
                  <a:srgbClr val="545454"/>
                </a:solidFill>
                <a:latin typeface="Arial"/>
                <a:cs typeface="Arial"/>
              </a:rPr>
              <a:t>men:</a:t>
            </a:r>
            <a:r>
              <a:rPr lang="en-US" b="1" spc="-9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lang="en-US" dirty="0">
              <a:latin typeface="Arial"/>
              <a:cs typeface="Arial"/>
            </a:endParaRPr>
          </a:p>
        </p:txBody>
      </p:sp>
      <p:graphicFrame>
        <p:nvGraphicFramePr>
          <p:cNvPr id="8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77841"/>
              </p:ext>
            </p:extLst>
          </p:nvPr>
        </p:nvGraphicFramePr>
        <p:xfrm>
          <a:off x="7013656" y="2103182"/>
          <a:ext cx="2310454" cy="4000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381"/>
                <a:gridCol w="1136073"/>
              </a:tblGrid>
              <a:tr h="314482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Expected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200" b="1" spc="-5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Predicted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1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04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04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19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98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71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506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163" y="272134"/>
            <a:ext cx="5010273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Confusion 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44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3029" y="1415534"/>
            <a:ext cx="365099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pc="-30" dirty="0" smtClean="0">
                <a:solidFill>
                  <a:srgbClr val="535353"/>
                </a:solidFill>
              </a:rPr>
              <a:t>How to</a:t>
            </a:r>
            <a:r>
              <a:rPr lang="en-US" spc="10" dirty="0" smtClean="0">
                <a:solidFill>
                  <a:srgbClr val="535353"/>
                </a:solidFill>
              </a:rPr>
              <a:t> </a:t>
            </a:r>
            <a:r>
              <a:rPr lang="en-US" spc="-10" dirty="0">
                <a:solidFill>
                  <a:srgbClr val="535353"/>
                </a:solidFill>
              </a:rPr>
              <a:t>calculate </a:t>
            </a:r>
            <a:r>
              <a:rPr lang="en-US" dirty="0">
                <a:solidFill>
                  <a:srgbClr val="535353"/>
                </a:solidFill>
              </a:rPr>
              <a:t>a </a:t>
            </a:r>
            <a:r>
              <a:rPr lang="en-US" spc="5" dirty="0">
                <a:solidFill>
                  <a:srgbClr val="535353"/>
                </a:solidFill>
              </a:rPr>
              <a:t>Confusion</a:t>
            </a:r>
            <a:r>
              <a:rPr lang="en-US" spc="-30" dirty="0">
                <a:solidFill>
                  <a:srgbClr val="535353"/>
                </a:solidFill>
              </a:rPr>
              <a:t> </a:t>
            </a:r>
            <a:r>
              <a:rPr lang="en-US" dirty="0">
                <a:solidFill>
                  <a:srgbClr val="535353"/>
                </a:solidFill>
              </a:rPr>
              <a:t>Matrix?</a:t>
            </a:r>
            <a:endParaRPr lang="en-US" dirty="0"/>
          </a:p>
        </p:txBody>
      </p:sp>
      <p:graphicFrame>
        <p:nvGraphicFramePr>
          <p:cNvPr id="8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77841"/>
              </p:ext>
            </p:extLst>
          </p:nvPr>
        </p:nvGraphicFramePr>
        <p:xfrm>
          <a:off x="7013656" y="2103182"/>
          <a:ext cx="2310454" cy="4000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381"/>
                <a:gridCol w="1136073"/>
              </a:tblGrid>
              <a:tr h="314482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Expected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200" b="1" spc="-5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Predicted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1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04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04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19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2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98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71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239876" y="2246992"/>
            <a:ext cx="668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men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840089" y="2226030"/>
            <a:ext cx="1431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27990">
              <a:lnSpc>
                <a:spcPct val="100000"/>
              </a:lnSpc>
              <a:spcBef>
                <a:spcPts val="1345"/>
              </a:spcBef>
              <a:tabLst>
                <a:tab pos="1114425" algn="l"/>
              </a:tabLst>
            </a:pPr>
            <a:r>
              <a:rPr lang="en-US" b="1" spc="30" dirty="0">
                <a:solidFill>
                  <a:srgbClr val="545454"/>
                </a:solidFill>
                <a:latin typeface="Arial"/>
                <a:cs typeface="Arial"/>
              </a:rPr>
              <a:t>women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8180" y="2884116"/>
            <a:ext cx="682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m</a:t>
            </a:r>
            <a:r>
              <a:rPr lang="en-US" b="1" spc="40" dirty="0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lang="en-US" b="1" spc="15" dirty="0">
                <a:solidFill>
                  <a:srgbClr val="545454"/>
                </a:solidFill>
                <a:latin typeface="Arial"/>
                <a:cs typeface="Arial"/>
              </a:rPr>
              <a:t>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52760" y="3568214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42010" algn="l"/>
              </a:tabLst>
            </a:pPr>
            <a:r>
              <a:rPr lang="en-US" b="1" spc="30" dirty="0" smtClean="0">
                <a:solidFill>
                  <a:srgbClr val="545454"/>
                </a:solidFill>
                <a:latin typeface="Arial"/>
                <a:cs typeface="Arial"/>
              </a:rPr>
              <a:t>w</a:t>
            </a:r>
            <a:r>
              <a:rPr lang="en-US" b="1" spc="40" dirty="0" smtClean="0">
                <a:solidFill>
                  <a:srgbClr val="545454"/>
                </a:solidFill>
                <a:latin typeface="Arial"/>
                <a:cs typeface="Arial"/>
              </a:rPr>
              <a:t>o</a:t>
            </a:r>
            <a:r>
              <a:rPr lang="en-US" b="1" spc="25" dirty="0" smtClean="0">
                <a:solidFill>
                  <a:srgbClr val="545454"/>
                </a:solidFill>
                <a:latin typeface="Arial"/>
                <a:cs typeface="Arial"/>
              </a:rPr>
              <a:t>m</a:t>
            </a:r>
            <a:r>
              <a:rPr lang="en-US" b="1" spc="40" dirty="0" smtClean="0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lang="en-US" b="1" spc="15" dirty="0" smtClean="0">
                <a:solidFill>
                  <a:srgbClr val="545454"/>
                </a:solidFill>
                <a:latin typeface="Arial"/>
                <a:cs typeface="Arial"/>
              </a:rPr>
              <a:t>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4508168" y="2949590"/>
            <a:ext cx="126364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15" dirty="0">
                <a:solidFill>
                  <a:srgbClr val="545454"/>
                </a:solidFill>
                <a:latin typeface="Arial"/>
                <a:cs typeface="Arial"/>
              </a:rPr>
              <a:t>3</a:t>
            </a:r>
            <a:endParaRPr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5555669" y="2947180"/>
            <a:ext cx="126364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15" dirty="0">
                <a:solidFill>
                  <a:srgbClr val="545454"/>
                </a:solidFill>
                <a:latin typeface="Arial"/>
                <a:cs typeface="Arial"/>
              </a:rPr>
              <a:t>1</a:t>
            </a:r>
            <a:endParaRPr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00742" y="3618411"/>
            <a:ext cx="314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15" dirty="0">
                <a:solidFill>
                  <a:srgbClr val="545454"/>
                </a:solidFill>
                <a:latin typeface="Arial"/>
                <a:cs typeface="Arial"/>
              </a:rPr>
              <a:t>2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433407" y="3604548"/>
            <a:ext cx="327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15" dirty="0">
                <a:solidFill>
                  <a:srgbClr val="545454"/>
                </a:solidFill>
                <a:latin typeface="Arial"/>
                <a:cs typeface="Arial"/>
              </a:rPr>
              <a:t>4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95986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163" y="272134"/>
            <a:ext cx="5010273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Confusion 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45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3029" y="1180000"/>
            <a:ext cx="365099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pc="-30" dirty="0" smtClean="0">
                <a:solidFill>
                  <a:srgbClr val="535353"/>
                </a:solidFill>
              </a:rPr>
              <a:t>How to</a:t>
            </a:r>
            <a:r>
              <a:rPr lang="en-US" spc="10" dirty="0" smtClean="0">
                <a:solidFill>
                  <a:srgbClr val="535353"/>
                </a:solidFill>
              </a:rPr>
              <a:t> </a:t>
            </a:r>
            <a:r>
              <a:rPr lang="en-US" spc="-10" dirty="0">
                <a:solidFill>
                  <a:srgbClr val="535353"/>
                </a:solidFill>
              </a:rPr>
              <a:t>calculate </a:t>
            </a:r>
            <a:r>
              <a:rPr lang="en-US" dirty="0">
                <a:solidFill>
                  <a:srgbClr val="535353"/>
                </a:solidFill>
              </a:rPr>
              <a:t>a </a:t>
            </a:r>
            <a:r>
              <a:rPr lang="en-US" spc="5" dirty="0">
                <a:solidFill>
                  <a:srgbClr val="535353"/>
                </a:solidFill>
              </a:rPr>
              <a:t>Confusion</a:t>
            </a:r>
            <a:r>
              <a:rPr lang="en-US" spc="-30" dirty="0">
                <a:solidFill>
                  <a:srgbClr val="535353"/>
                </a:solidFill>
              </a:rPr>
              <a:t> </a:t>
            </a:r>
            <a:r>
              <a:rPr lang="en-US" dirty="0">
                <a:solidFill>
                  <a:srgbClr val="535353"/>
                </a:solidFill>
              </a:rPr>
              <a:t>Matrix?</a:t>
            </a:r>
            <a:endParaRPr lang="en-US" dirty="0"/>
          </a:p>
        </p:txBody>
      </p:sp>
      <p:graphicFrame>
        <p:nvGraphicFramePr>
          <p:cNvPr id="8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876010"/>
              </p:ext>
            </p:extLst>
          </p:nvPr>
        </p:nvGraphicFramePr>
        <p:xfrm>
          <a:off x="7012133" y="1803562"/>
          <a:ext cx="2310454" cy="4000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381"/>
                <a:gridCol w="1136073"/>
              </a:tblGrid>
              <a:tr h="314482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Expected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200" b="1" spc="-5" dirty="0">
                          <a:solidFill>
                            <a:srgbClr val="00AFF0"/>
                          </a:solidFill>
                          <a:latin typeface="Arial"/>
                          <a:cs typeface="Arial"/>
                        </a:rPr>
                        <a:t>Predicted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1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04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04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lang="en-US" sz="1200" b="1" spc="-5" dirty="0" smtClean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spc="-5" dirty="0" smtClean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319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lang="en-US" sz="1200" b="1" spc="5" dirty="0" smtClean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1200" b="1" spc="5" dirty="0" smtClean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oman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lang="en-US" sz="1200" b="1" spc="-5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spc="-5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85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198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spc="-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232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b="1" spc="-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b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71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200" b="1" spc="5" dirty="0">
                          <a:solidFill>
                            <a:srgbClr val="7F7F7F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200" b="1" spc="5" dirty="0">
                          <a:solidFill>
                            <a:srgbClr val="6B9E24"/>
                          </a:solidFill>
                          <a:latin typeface="Arial"/>
                          <a:cs typeface="Arial"/>
                        </a:rPr>
                        <a:t>woman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239876" y="1969892"/>
            <a:ext cx="668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men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840089" y="1948930"/>
            <a:ext cx="1431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27990">
              <a:lnSpc>
                <a:spcPct val="100000"/>
              </a:lnSpc>
              <a:spcBef>
                <a:spcPts val="1345"/>
              </a:spcBef>
              <a:tabLst>
                <a:tab pos="1114425" algn="l"/>
              </a:tabLst>
            </a:pPr>
            <a:r>
              <a:rPr lang="en-US" b="1" spc="30" dirty="0">
                <a:solidFill>
                  <a:srgbClr val="545454"/>
                </a:solidFill>
                <a:latin typeface="Arial"/>
                <a:cs typeface="Arial"/>
              </a:rPr>
              <a:t>women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8180" y="2607016"/>
            <a:ext cx="682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25" dirty="0">
                <a:solidFill>
                  <a:srgbClr val="545454"/>
                </a:solidFill>
                <a:latin typeface="Arial"/>
                <a:cs typeface="Arial"/>
              </a:rPr>
              <a:t>m</a:t>
            </a:r>
            <a:r>
              <a:rPr lang="en-US" b="1" spc="40" dirty="0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lang="en-US" b="1" spc="15" dirty="0">
                <a:solidFill>
                  <a:srgbClr val="545454"/>
                </a:solidFill>
                <a:latin typeface="Arial"/>
                <a:cs typeface="Arial"/>
              </a:rPr>
              <a:t>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52760" y="3291114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42010" algn="l"/>
              </a:tabLst>
            </a:pPr>
            <a:r>
              <a:rPr lang="en-US" b="1" spc="30" dirty="0" smtClean="0">
                <a:solidFill>
                  <a:srgbClr val="545454"/>
                </a:solidFill>
                <a:latin typeface="Arial"/>
                <a:cs typeface="Arial"/>
              </a:rPr>
              <a:t>w</a:t>
            </a:r>
            <a:r>
              <a:rPr lang="en-US" b="1" spc="40" dirty="0" smtClean="0">
                <a:solidFill>
                  <a:srgbClr val="545454"/>
                </a:solidFill>
                <a:latin typeface="Arial"/>
                <a:cs typeface="Arial"/>
              </a:rPr>
              <a:t>o</a:t>
            </a:r>
            <a:r>
              <a:rPr lang="en-US" b="1" spc="25" dirty="0" smtClean="0">
                <a:solidFill>
                  <a:srgbClr val="545454"/>
                </a:solidFill>
                <a:latin typeface="Arial"/>
                <a:cs typeface="Arial"/>
              </a:rPr>
              <a:t>m</a:t>
            </a:r>
            <a:r>
              <a:rPr lang="en-US" b="1" spc="40" dirty="0" smtClean="0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lang="en-US" b="1" spc="15" dirty="0" smtClean="0">
                <a:solidFill>
                  <a:srgbClr val="545454"/>
                </a:solidFill>
                <a:latin typeface="Arial"/>
                <a:cs typeface="Arial"/>
              </a:rPr>
              <a:t>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4508168" y="2672490"/>
            <a:ext cx="126364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15" dirty="0">
                <a:solidFill>
                  <a:srgbClr val="545454"/>
                </a:solidFill>
                <a:latin typeface="Arial"/>
                <a:cs typeface="Arial"/>
              </a:rPr>
              <a:t>3</a:t>
            </a:r>
            <a:endParaRPr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5555669" y="2670080"/>
            <a:ext cx="126364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15" dirty="0">
                <a:solidFill>
                  <a:srgbClr val="545454"/>
                </a:solidFill>
                <a:latin typeface="Arial"/>
                <a:cs typeface="Arial"/>
              </a:rPr>
              <a:t>1</a:t>
            </a:r>
            <a:endParaRPr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00742" y="3341311"/>
            <a:ext cx="314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15" dirty="0">
                <a:solidFill>
                  <a:srgbClr val="545454"/>
                </a:solidFill>
                <a:latin typeface="Arial"/>
                <a:cs typeface="Arial"/>
              </a:rPr>
              <a:t>2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433407" y="3327448"/>
            <a:ext cx="327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15" dirty="0">
                <a:solidFill>
                  <a:srgbClr val="545454"/>
                </a:solidFill>
                <a:latin typeface="Arial"/>
                <a:cs typeface="Arial"/>
              </a:rPr>
              <a:t>4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60168" y="3710643"/>
            <a:ext cx="361286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indent="-286385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lang="en-US" b="1" spc="20" dirty="0">
                <a:solidFill>
                  <a:srgbClr val="545454"/>
                </a:solidFill>
                <a:latin typeface="Arial"/>
                <a:cs typeface="Arial"/>
              </a:rPr>
              <a:t>Total</a:t>
            </a:r>
            <a:r>
              <a:rPr lang="en-US" b="1" spc="-1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20" dirty="0">
                <a:solidFill>
                  <a:srgbClr val="545454"/>
                </a:solidFill>
                <a:latin typeface="Arial"/>
                <a:cs typeface="Arial"/>
              </a:rPr>
              <a:t>actual</a:t>
            </a:r>
            <a:r>
              <a:rPr lang="en-US" b="1" spc="-1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30" dirty="0">
                <a:solidFill>
                  <a:srgbClr val="545454"/>
                </a:solidFill>
                <a:latin typeface="Arial"/>
                <a:cs typeface="Arial"/>
              </a:rPr>
              <a:t>men:</a:t>
            </a:r>
            <a:r>
              <a:rPr lang="en-US" b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45454"/>
                </a:solidFill>
                <a:latin typeface="Arial"/>
                <a:cs typeface="Arial"/>
              </a:rPr>
              <a:t>(3</a:t>
            </a:r>
            <a:r>
              <a:rPr lang="en-US" spc="-1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15" dirty="0">
                <a:solidFill>
                  <a:srgbClr val="545454"/>
                </a:solidFill>
                <a:latin typeface="Arial"/>
                <a:cs typeface="Arial"/>
              </a:rPr>
              <a:t>+</a:t>
            </a:r>
            <a:r>
              <a:rPr lang="en-US" spc="-10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20" dirty="0">
                <a:solidFill>
                  <a:srgbClr val="545454"/>
                </a:solidFill>
                <a:latin typeface="Arial"/>
                <a:cs typeface="Arial"/>
              </a:rPr>
              <a:t>2)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45454"/>
              </a:buClr>
              <a:buFont typeface="Wingdings"/>
              <a:buChar char=""/>
            </a:pPr>
            <a:endParaRPr lang="en-US" dirty="0">
              <a:latin typeface="Times New Roman"/>
              <a:cs typeface="Times New Roman"/>
            </a:endParaRPr>
          </a:p>
          <a:p>
            <a:pPr marL="298450" indent="-286385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lang="en-US" b="1" spc="20" dirty="0">
                <a:solidFill>
                  <a:srgbClr val="545454"/>
                </a:solidFill>
                <a:latin typeface="Arial"/>
                <a:cs typeface="Arial"/>
              </a:rPr>
              <a:t>Total</a:t>
            </a:r>
            <a:r>
              <a:rPr lang="en-US" b="1" spc="-1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20" dirty="0">
                <a:solidFill>
                  <a:srgbClr val="545454"/>
                </a:solidFill>
                <a:latin typeface="Arial"/>
                <a:cs typeface="Arial"/>
              </a:rPr>
              <a:t>actual</a:t>
            </a:r>
            <a:r>
              <a:rPr lang="en-US" b="1" spc="-1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5" dirty="0">
                <a:solidFill>
                  <a:srgbClr val="545454"/>
                </a:solidFill>
                <a:latin typeface="Arial"/>
                <a:cs typeface="Arial"/>
              </a:rPr>
              <a:t>women:</a:t>
            </a:r>
            <a:r>
              <a:rPr lang="en-US" b="1" spc="-1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45454"/>
                </a:solidFill>
                <a:latin typeface="Arial"/>
                <a:cs typeface="Arial"/>
              </a:rPr>
              <a:t>(1</a:t>
            </a:r>
            <a:r>
              <a:rPr lang="en-US" spc="-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5" dirty="0">
                <a:solidFill>
                  <a:srgbClr val="545454"/>
                </a:solidFill>
                <a:latin typeface="Arial"/>
                <a:cs typeface="Arial"/>
              </a:rPr>
              <a:t>+4).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45454"/>
              </a:buClr>
              <a:buFont typeface="Wingdings"/>
              <a:buChar char=""/>
            </a:pPr>
            <a:endParaRPr lang="en-US" sz="2000" dirty="0">
              <a:latin typeface="Times New Roman"/>
              <a:cs typeface="Times New Roman"/>
            </a:endParaRPr>
          </a:p>
          <a:p>
            <a:pPr marL="298450" indent="-286385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lang="en-US" b="1" spc="20" dirty="0">
                <a:solidFill>
                  <a:srgbClr val="545454"/>
                </a:solidFill>
                <a:latin typeface="Arial"/>
                <a:cs typeface="Arial"/>
              </a:rPr>
              <a:t>Total</a:t>
            </a:r>
            <a:r>
              <a:rPr lang="en-US" b="1" spc="-1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5" dirty="0">
                <a:solidFill>
                  <a:srgbClr val="545454"/>
                </a:solidFill>
                <a:latin typeface="Arial"/>
                <a:cs typeface="Arial"/>
              </a:rPr>
              <a:t>Correct</a:t>
            </a:r>
            <a:r>
              <a:rPr lang="en-US" b="1" spc="-19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b="1" spc="15" dirty="0">
                <a:solidFill>
                  <a:srgbClr val="545454"/>
                </a:solidFill>
                <a:latin typeface="Arial"/>
                <a:cs typeface="Arial"/>
              </a:rPr>
              <a:t>values:</a:t>
            </a:r>
            <a:r>
              <a:rPr lang="en-US" b="1" spc="-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45454"/>
                </a:solidFill>
                <a:latin typeface="Arial"/>
                <a:cs typeface="Arial"/>
              </a:rPr>
              <a:t>(3</a:t>
            </a:r>
            <a:r>
              <a:rPr lang="en-US" spc="-1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15" dirty="0">
                <a:solidFill>
                  <a:srgbClr val="545454"/>
                </a:solidFill>
                <a:latin typeface="Arial"/>
                <a:cs typeface="Arial"/>
              </a:rPr>
              <a:t>+</a:t>
            </a:r>
            <a:r>
              <a:rPr lang="en-US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5" dirty="0">
                <a:solidFill>
                  <a:srgbClr val="545454"/>
                </a:solidFill>
                <a:latin typeface="Arial"/>
                <a:cs typeface="Arial"/>
              </a:rPr>
              <a:t>4).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9492" y="5299556"/>
            <a:ext cx="6400800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gradFill flip="none" rotWithShape="1">
              <a:gsLst>
                <a:gs pos="0">
                  <a:schemeClr val="accent6">
                    <a:lumMod val="5000"/>
                    <a:lumOff val="95000"/>
                  </a:schemeClr>
                </a:gs>
                <a:gs pos="74000">
                  <a:schemeClr val="accent6">
                    <a:lumMod val="45000"/>
                    <a:lumOff val="55000"/>
                  </a:schemeClr>
                </a:gs>
                <a:gs pos="83000">
                  <a:schemeClr val="accent6">
                    <a:lumMod val="45000"/>
                    <a:lumOff val="55000"/>
                  </a:schemeClr>
                </a:gs>
                <a:gs pos="100000">
                  <a:schemeClr val="accent6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>
            <a:spAutoFit/>
          </a:bodyPr>
          <a:lstStyle/>
          <a:p>
            <a:pPr marL="12700"/>
            <a:r>
              <a:rPr lang="en-US" b="1" spc="10" dirty="0">
                <a:solidFill>
                  <a:srgbClr val="FF0000"/>
                </a:solidFill>
                <a:latin typeface="Arial"/>
                <a:cs typeface="Arial"/>
              </a:rPr>
              <a:t>Conclusion</a:t>
            </a:r>
            <a:r>
              <a:rPr lang="en-US" b="1" spc="10" dirty="0">
                <a:solidFill>
                  <a:srgbClr val="545454"/>
                </a:solidFill>
                <a:latin typeface="Arial"/>
                <a:cs typeface="Arial"/>
              </a:rPr>
              <a:t>:</a:t>
            </a:r>
            <a:r>
              <a:rPr lang="en-US" b="1" spc="-17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45454"/>
                </a:solidFill>
                <a:latin typeface="Arial"/>
                <a:cs typeface="Arial"/>
              </a:rPr>
              <a:t>More</a:t>
            </a:r>
            <a:r>
              <a:rPr lang="en-US" spc="-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5" dirty="0">
                <a:solidFill>
                  <a:srgbClr val="545454"/>
                </a:solidFill>
                <a:latin typeface="Arial"/>
                <a:cs typeface="Arial"/>
              </a:rPr>
              <a:t>errors</a:t>
            </a:r>
            <a:r>
              <a:rPr lang="en-US" spc="-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-20" dirty="0">
                <a:solidFill>
                  <a:srgbClr val="545454"/>
                </a:solidFill>
                <a:latin typeface="Arial"/>
                <a:cs typeface="Arial"/>
              </a:rPr>
              <a:t>while</a:t>
            </a:r>
            <a:r>
              <a:rPr lang="en-US" spc="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5" dirty="0">
                <a:solidFill>
                  <a:srgbClr val="545454"/>
                </a:solidFill>
                <a:latin typeface="Arial"/>
                <a:cs typeface="Arial"/>
              </a:rPr>
              <a:t>predicting</a:t>
            </a:r>
            <a:r>
              <a:rPr lang="en-US" spc="-1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25" dirty="0">
                <a:solidFill>
                  <a:srgbClr val="545454"/>
                </a:solidFill>
                <a:latin typeface="Arial"/>
                <a:cs typeface="Arial"/>
              </a:rPr>
              <a:t>men</a:t>
            </a:r>
            <a:r>
              <a:rPr lang="en-US" spc="-1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45454"/>
                </a:solidFill>
                <a:latin typeface="Arial"/>
                <a:cs typeface="Arial"/>
              </a:rPr>
              <a:t>as</a:t>
            </a:r>
            <a:r>
              <a:rPr lang="en-US" spc="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15" dirty="0">
                <a:solidFill>
                  <a:srgbClr val="545454"/>
                </a:solidFill>
                <a:latin typeface="Arial"/>
                <a:cs typeface="Arial"/>
              </a:rPr>
              <a:t>women</a:t>
            </a:r>
            <a:r>
              <a:rPr lang="en-US" spc="-1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-20" dirty="0" smtClean="0">
                <a:solidFill>
                  <a:srgbClr val="545454"/>
                </a:solidFill>
                <a:latin typeface="Arial"/>
                <a:cs typeface="Arial"/>
              </a:rPr>
              <a:t>than </a:t>
            </a:r>
            <a:r>
              <a:rPr lang="en-US" spc="5" dirty="0">
                <a:solidFill>
                  <a:srgbClr val="545454"/>
                </a:solidFill>
                <a:latin typeface="Arial"/>
                <a:cs typeface="Arial"/>
              </a:rPr>
              <a:t>predicting </a:t>
            </a:r>
            <a:r>
              <a:rPr lang="en-US" spc="15" dirty="0">
                <a:solidFill>
                  <a:srgbClr val="545454"/>
                </a:solidFill>
                <a:latin typeface="Arial"/>
                <a:cs typeface="Arial"/>
              </a:rPr>
              <a:t>women</a:t>
            </a:r>
            <a:r>
              <a:rPr lang="en-US" spc="-2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45454"/>
                </a:solidFill>
                <a:latin typeface="Arial"/>
                <a:cs typeface="Arial"/>
              </a:rPr>
              <a:t>as </a:t>
            </a:r>
            <a:r>
              <a:rPr lang="en-US" spc="10" dirty="0">
                <a:solidFill>
                  <a:srgbClr val="545454"/>
                </a:solidFill>
                <a:latin typeface="Arial"/>
                <a:cs typeface="Arial"/>
              </a:rPr>
              <a:t>men</a:t>
            </a:r>
            <a:r>
              <a:rPr lang="en-US" spc="10" dirty="0" smtClean="0">
                <a:solidFill>
                  <a:srgbClr val="545454"/>
                </a:solidFill>
                <a:latin typeface="Arial"/>
                <a:cs typeface="Arial"/>
              </a:rPr>
              <a:t>.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8862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163" y="272134"/>
            <a:ext cx="5010273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Confusion 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46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54435" y="1226848"/>
            <a:ext cx="3655621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spc="-10" dirty="0">
                <a:solidFill>
                  <a:srgbClr val="535353"/>
                </a:solidFill>
              </a:rPr>
              <a:t>Interpreting a Confusion Matrix</a:t>
            </a:r>
          </a:p>
        </p:txBody>
      </p:sp>
      <p:graphicFrame>
        <p:nvGraphicFramePr>
          <p:cNvPr id="7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6136"/>
              </p:ext>
            </p:extLst>
          </p:nvPr>
        </p:nvGraphicFramePr>
        <p:xfrm>
          <a:off x="5765921" y="2264229"/>
          <a:ext cx="4794249" cy="20029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6430"/>
                <a:gridCol w="1444624"/>
                <a:gridCol w="1433195"/>
              </a:tblGrid>
              <a:tr h="6584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4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Predicted</a:t>
                      </a:r>
                      <a:r>
                        <a:rPr sz="1400" b="1" spc="-2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Fire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9E24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4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Predicted</a:t>
                      </a:r>
                      <a:r>
                        <a:rPr sz="1400" b="1" spc="-1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Fire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A554E"/>
                    </a:solidFill>
                  </a:tcPr>
                </a:tc>
              </a:tr>
              <a:tr h="721047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Alarm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B9E24"/>
                    </a:solidFill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Positive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False</a:t>
                      </a:r>
                      <a:r>
                        <a:rPr sz="1400" b="1" spc="-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Positive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</a:tr>
              <a:tr h="623466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4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400" b="1" spc="-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Alarm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554E"/>
                    </a:solidFill>
                  </a:tcPr>
                </a:tc>
                <a:tc>
                  <a:txBody>
                    <a:bodyPr/>
                    <a:lstStyle/>
                    <a:p>
                      <a:pPr marR="149225" algn="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4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False</a:t>
                      </a:r>
                      <a:r>
                        <a:rPr sz="1400" b="1" spc="-1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Negative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Negative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</a:tr>
            </a:tbl>
          </a:graphicData>
        </a:graphic>
      </p:graphicFrame>
      <p:sp>
        <p:nvSpPr>
          <p:cNvPr id="8" name="object 10"/>
          <p:cNvSpPr/>
          <p:nvPr/>
        </p:nvSpPr>
        <p:spPr>
          <a:xfrm>
            <a:off x="4271888" y="4418065"/>
            <a:ext cx="1364861" cy="1888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25715" y="2106545"/>
            <a:ext cx="6096000" cy="207492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US" b="1" spc="-70" dirty="0">
                <a:solidFill>
                  <a:srgbClr val="545454"/>
                </a:solidFill>
                <a:latin typeface="Times New Roman"/>
                <a:cs typeface="Times New Roman"/>
              </a:rPr>
              <a:t>True </a:t>
            </a:r>
            <a:r>
              <a:rPr lang="en-US" b="1" spc="-5" dirty="0">
                <a:solidFill>
                  <a:srgbClr val="545454"/>
                </a:solidFill>
                <a:latin typeface="Times New Roman"/>
                <a:cs typeface="Times New Roman"/>
              </a:rPr>
              <a:t>Positive: </a:t>
            </a:r>
            <a:r>
              <a:rPr lang="en-US" spc="-40" dirty="0">
                <a:solidFill>
                  <a:srgbClr val="545454"/>
                </a:solidFill>
                <a:latin typeface="Times New Roman"/>
                <a:cs typeface="Times New Roman"/>
              </a:rPr>
              <a:t>Alarm </a:t>
            </a:r>
            <a:r>
              <a:rPr lang="en-US" spc="-25" dirty="0">
                <a:solidFill>
                  <a:srgbClr val="545454"/>
                </a:solidFill>
                <a:latin typeface="Times New Roman"/>
                <a:cs typeface="Times New Roman"/>
              </a:rPr>
              <a:t>goes </a:t>
            </a:r>
            <a:r>
              <a:rPr lang="en-US" dirty="0">
                <a:solidFill>
                  <a:srgbClr val="545454"/>
                </a:solidFill>
                <a:latin typeface="Times New Roman"/>
                <a:cs typeface="Times New Roman"/>
              </a:rPr>
              <a:t>on </a:t>
            </a:r>
            <a:r>
              <a:rPr lang="en-US" spc="-55" dirty="0">
                <a:solidFill>
                  <a:srgbClr val="545454"/>
                </a:solidFill>
                <a:latin typeface="Times New Roman"/>
                <a:cs typeface="Times New Roman"/>
              </a:rPr>
              <a:t>in </a:t>
            </a:r>
            <a:r>
              <a:rPr lang="en-US" spc="-10" dirty="0">
                <a:solidFill>
                  <a:srgbClr val="545454"/>
                </a:solidFill>
                <a:latin typeface="Times New Roman"/>
                <a:cs typeface="Times New Roman"/>
              </a:rPr>
              <a:t>case </a:t>
            </a:r>
            <a:r>
              <a:rPr lang="en-US" dirty="0">
                <a:solidFill>
                  <a:srgbClr val="545454"/>
                </a:solidFill>
                <a:latin typeface="Times New Roman"/>
                <a:cs typeface="Times New Roman"/>
              </a:rPr>
              <a:t>of</a:t>
            </a:r>
            <a:r>
              <a:rPr lang="en-US" spc="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lang="en-US" spc="-65" dirty="0">
                <a:solidFill>
                  <a:srgbClr val="545454"/>
                </a:solidFill>
                <a:latin typeface="Times New Roman"/>
                <a:cs typeface="Times New Roman"/>
              </a:rPr>
              <a:t>fire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45454"/>
              </a:buClr>
              <a:buFont typeface="Wingdings"/>
              <a:buChar char=""/>
            </a:pPr>
            <a:endParaRPr lang="en-US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US" b="1" spc="-10" dirty="0">
                <a:solidFill>
                  <a:srgbClr val="545454"/>
                </a:solidFill>
                <a:latin typeface="Times New Roman"/>
                <a:cs typeface="Times New Roman"/>
              </a:rPr>
              <a:t>False </a:t>
            </a:r>
            <a:r>
              <a:rPr lang="en-US" b="1" spc="-5" dirty="0">
                <a:solidFill>
                  <a:srgbClr val="545454"/>
                </a:solidFill>
                <a:latin typeface="Times New Roman"/>
                <a:cs typeface="Times New Roman"/>
              </a:rPr>
              <a:t>Positive: </a:t>
            </a:r>
            <a:r>
              <a:rPr lang="en-US" spc="-40" dirty="0">
                <a:solidFill>
                  <a:srgbClr val="545454"/>
                </a:solidFill>
                <a:latin typeface="Times New Roman"/>
                <a:cs typeface="Times New Roman"/>
              </a:rPr>
              <a:t>Alarm  </a:t>
            </a:r>
            <a:r>
              <a:rPr lang="en-US" spc="-25" dirty="0">
                <a:solidFill>
                  <a:srgbClr val="545454"/>
                </a:solidFill>
                <a:latin typeface="Times New Roman"/>
                <a:cs typeface="Times New Roman"/>
              </a:rPr>
              <a:t>goes  </a:t>
            </a:r>
            <a:r>
              <a:rPr lang="en-US" dirty="0">
                <a:solidFill>
                  <a:srgbClr val="545454"/>
                </a:solidFill>
                <a:latin typeface="Times New Roman"/>
                <a:cs typeface="Times New Roman"/>
              </a:rPr>
              <a:t>on </a:t>
            </a:r>
            <a:r>
              <a:rPr lang="en-US" spc="-30" dirty="0">
                <a:solidFill>
                  <a:srgbClr val="545454"/>
                </a:solidFill>
                <a:latin typeface="Times New Roman"/>
                <a:cs typeface="Times New Roman"/>
              </a:rPr>
              <a:t>but </a:t>
            </a:r>
            <a:r>
              <a:rPr lang="en-US" spc="-40" dirty="0">
                <a:solidFill>
                  <a:srgbClr val="545454"/>
                </a:solidFill>
                <a:latin typeface="Times New Roman"/>
                <a:cs typeface="Times New Roman"/>
              </a:rPr>
              <a:t>no</a:t>
            </a:r>
            <a:r>
              <a:rPr lang="en-US" spc="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lang="en-US" spc="-65" dirty="0">
                <a:solidFill>
                  <a:srgbClr val="545454"/>
                </a:solidFill>
                <a:latin typeface="Times New Roman"/>
                <a:cs typeface="Times New Roman"/>
              </a:rPr>
              <a:t>fire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545454"/>
              </a:buClr>
              <a:buFont typeface="Wingdings"/>
              <a:buChar char=""/>
            </a:pPr>
            <a:endParaRPr lang="en-US" sz="20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US" b="1" spc="-10" dirty="0">
                <a:solidFill>
                  <a:srgbClr val="545454"/>
                </a:solidFill>
                <a:latin typeface="Times New Roman"/>
                <a:cs typeface="Times New Roman"/>
              </a:rPr>
              <a:t>False </a:t>
            </a:r>
            <a:r>
              <a:rPr lang="en-US" b="1" spc="10" dirty="0">
                <a:solidFill>
                  <a:srgbClr val="545454"/>
                </a:solidFill>
                <a:latin typeface="Times New Roman"/>
                <a:cs typeface="Times New Roman"/>
              </a:rPr>
              <a:t>Negative: </a:t>
            </a:r>
            <a:r>
              <a:rPr lang="en-US" spc="10" dirty="0">
                <a:solidFill>
                  <a:srgbClr val="545454"/>
                </a:solidFill>
                <a:latin typeface="Times New Roman"/>
                <a:cs typeface="Times New Roman"/>
              </a:rPr>
              <a:t>No </a:t>
            </a:r>
            <a:r>
              <a:rPr lang="en-US" spc="-40" dirty="0">
                <a:solidFill>
                  <a:srgbClr val="545454"/>
                </a:solidFill>
                <a:latin typeface="Times New Roman"/>
                <a:cs typeface="Times New Roman"/>
              </a:rPr>
              <a:t>Alarm  </a:t>
            </a:r>
            <a:r>
              <a:rPr lang="en-US" spc="-55" dirty="0">
                <a:solidFill>
                  <a:srgbClr val="545454"/>
                </a:solidFill>
                <a:latin typeface="Times New Roman"/>
                <a:cs typeface="Times New Roman"/>
              </a:rPr>
              <a:t>in </a:t>
            </a:r>
            <a:r>
              <a:rPr lang="en-US" spc="-10" dirty="0">
                <a:solidFill>
                  <a:srgbClr val="545454"/>
                </a:solidFill>
                <a:latin typeface="Times New Roman"/>
                <a:cs typeface="Times New Roman"/>
              </a:rPr>
              <a:t>case </a:t>
            </a:r>
            <a:r>
              <a:rPr lang="en-US" dirty="0">
                <a:solidFill>
                  <a:srgbClr val="545454"/>
                </a:solidFill>
                <a:latin typeface="Times New Roman"/>
                <a:cs typeface="Times New Roman"/>
              </a:rPr>
              <a:t>of</a:t>
            </a:r>
            <a:r>
              <a:rPr lang="en-US" spc="-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lang="en-US" spc="-65" dirty="0">
                <a:solidFill>
                  <a:srgbClr val="545454"/>
                </a:solidFill>
                <a:latin typeface="Times New Roman"/>
                <a:cs typeface="Times New Roman"/>
              </a:rPr>
              <a:t>fire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45454"/>
              </a:buClr>
              <a:buFont typeface="Wingdings"/>
              <a:buChar char=""/>
            </a:pPr>
            <a:endParaRPr lang="en-US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US" b="1" spc="-70" dirty="0">
                <a:solidFill>
                  <a:srgbClr val="545454"/>
                </a:solidFill>
                <a:latin typeface="Times New Roman"/>
                <a:cs typeface="Times New Roman"/>
              </a:rPr>
              <a:t>True </a:t>
            </a:r>
            <a:r>
              <a:rPr lang="en-US" b="1" spc="10" dirty="0">
                <a:solidFill>
                  <a:srgbClr val="545454"/>
                </a:solidFill>
                <a:latin typeface="Times New Roman"/>
                <a:cs typeface="Times New Roman"/>
              </a:rPr>
              <a:t>Negative: </a:t>
            </a:r>
            <a:r>
              <a:rPr lang="en-US" spc="10" dirty="0">
                <a:solidFill>
                  <a:srgbClr val="545454"/>
                </a:solidFill>
                <a:latin typeface="Times New Roman"/>
                <a:cs typeface="Times New Roman"/>
              </a:rPr>
              <a:t>No </a:t>
            </a:r>
            <a:r>
              <a:rPr lang="en-US" spc="-40" dirty="0">
                <a:solidFill>
                  <a:srgbClr val="545454"/>
                </a:solidFill>
                <a:latin typeface="Times New Roman"/>
                <a:cs typeface="Times New Roman"/>
              </a:rPr>
              <a:t>Alarm no</a:t>
            </a:r>
            <a:r>
              <a:rPr lang="en-US" spc="6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lang="en-US" spc="-35" dirty="0">
                <a:solidFill>
                  <a:srgbClr val="545454"/>
                </a:solidFill>
                <a:latin typeface="Times New Roman"/>
                <a:cs typeface="Times New Roman"/>
              </a:rPr>
              <a:t>Fire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87906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163" y="272134"/>
            <a:ext cx="5010273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20" dirty="0">
                <a:solidFill>
                  <a:schemeClr val="accent1"/>
                </a:solidFill>
                <a:latin typeface="Arial"/>
                <a:cs typeface="Arial"/>
              </a:rPr>
              <a:t>Confusion 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47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54435" y="1226848"/>
            <a:ext cx="3655621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spc="-10" dirty="0">
                <a:solidFill>
                  <a:srgbClr val="535353"/>
                </a:solidFill>
              </a:rPr>
              <a:t>Interpreting a Confusion Matrix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5324" y="1982148"/>
            <a:ext cx="8356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" dirty="0">
                <a:solidFill>
                  <a:srgbClr val="535353"/>
                </a:solidFill>
                <a:latin typeface="Times New Roman"/>
                <a:cs typeface="Times New Roman"/>
              </a:rPr>
              <a:t>Example:</a:t>
            </a:r>
            <a:endParaRPr sz="1550" dirty="0">
              <a:latin typeface="Times New Roman"/>
              <a:cs typeface="Times New Roman"/>
            </a:endParaRPr>
          </a:p>
        </p:txBody>
      </p:sp>
      <p:graphicFrame>
        <p:nvGraphicFramePr>
          <p:cNvPr id="9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572862"/>
              </p:ext>
            </p:extLst>
          </p:nvPr>
        </p:nvGraphicFramePr>
        <p:xfrm>
          <a:off x="1705324" y="2484479"/>
          <a:ext cx="4852668" cy="22832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885"/>
                <a:gridCol w="1125855"/>
                <a:gridCol w="1116964"/>
                <a:gridCol w="1116964"/>
              </a:tblGrid>
              <a:tr h="5707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N=150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  <a:tc>
                  <a:txBody>
                    <a:bodyPr/>
                    <a:lstStyle/>
                    <a:p>
                      <a:pPr marL="280035" marR="116839" indent="-152400">
                        <a:lnSpc>
                          <a:spcPct val="102400"/>
                        </a:lnSpc>
                        <a:spcBef>
                          <a:spcPts val="490"/>
                        </a:spcBef>
                      </a:pPr>
                      <a:r>
                        <a:rPr sz="11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Predicted</a:t>
                      </a:r>
                      <a:r>
                        <a:rPr sz="1100" b="1" spc="-1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Fire  </a:t>
                      </a:r>
                      <a:r>
                        <a:rPr sz="11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(Positive)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9E24"/>
                    </a:solidFill>
                  </a:tcPr>
                </a:tc>
                <a:tc>
                  <a:txBody>
                    <a:bodyPr/>
                    <a:lstStyle/>
                    <a:p>
                      <a:pPr marL="242570" marR="116839" indent="-124460">
                        <a:lnSpc>
                          <a:spcPct val="102400"/>
                        </a:lnSpc>
                        <a:spcBef>
                          <a:spcPts val="490"/>
                        </a:spcBef>
                      </a:pPr>
                      <a:r>
                        <a:rPr sz="11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Predicted</a:t>
                      </a:r>
                      <a:r>
                        <a:rPr sz="1100" b="1" spc="-1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Fire  </a:t>
                      </a:r>
                      <a:r>
                        <a:rPr sz="11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(Negative)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A55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604" algn="ctr">
                        <a:lnSpc>
                          <a:spcPct val="100000"/>
                        </a:lnSpc>
                      </a:pPr>
                      <a:r>
                        <a:rPr sz="11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sz="1100" b="1" spc="-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Alarm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570792">
                <a:tc>
                  <a:txBody>
                    <a:bodyPr/>
                    <a:lstStyle/>
                    <a:p>
                      <a:pPr marL="611505" marR="321945" indent="-267335">
                        <a:lnSpc>
                          <a:spcPct val="102499"/>
                        </a:lnSpc>
                        <a:spcBef>
                          <a:spcPts val="500"/>
                        </a:spcBef>
                      </a:pPr>
                      <a:r>
                        <a:rPr sz="11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sz="1100" b="1" spc="-1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Alarm  YES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B9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1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TP:</a:t>
                      </a:r>
                      <a:r>
                        <a:rPr sz="11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FP:</a:t>
                      </a:r>
                      <a:r>
                        <a:rPr sz="11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9685" algn="ctr">
                        <a:lnSpc>
                          <a:spcPct val="100000"/>
                        </a:lnSpc>
                      </a:pPr>
                      <a:r>
                        <a:rPr sz="11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</a:tr>
              <a:tr h="570773">
                <a:tc>
                  <a:txBody>
                    <a:bodyPr/>
                    <a:lstStyle/>
                    <a:p>
                      <a:pPr marL="640080" marR="321945" indent="-295910">
                        <a:lnSpc>
                          <a:spcPct val="102499"/>
                        </a:lnSpc>
                        <a:spcBef>
                          <a:spcPts val="505"/>
                        </a:spcBef>
                      </a:pPr>
                      <a:r>
                        <a:rPr sz="11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sz="1100" b="1" spc="-1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Alarm  </a:t>
                      </a:r>
                      <a:r>
                        <a:rPr sz="1100" b="1" spc="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41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55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FN: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TN:</a:t>
                      </a:r>
                      <a:r>
                        <a:rPr sz="11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9898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968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</a:tr>
              <a:tr h="5709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Predicte</a:t>
                      </a:r>
                      <a:r>
                        <a:rPr sz="1100" b="1" spc="-1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100" b="1" spc="-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Fire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11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11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9685" algn="ctr">
                        <a:lnSpc>
                          <a:spcPct val="100000"/>
                        </a:lnSpc>
                      </a:pPr>
                      <a:r>
                        <a:rPr sz="11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0" name="object 12"/>
          <p:cNvSpPr txBox="1"/>
          <p:nvPr/>
        </p:nvSpPr>
        <p:spPr>
          <a:xfrm>
            <a:off x="7435291" y="2720745"/>
            <a:ext cx="3928405" cy="18107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1600" b="1" spc="-70" dirty="0">
                <a:solidFill>
                  <a:srgbClr val="545454"/>
                </a:solidFill>
                <a:latin typeface="Times New Roman"/>
                <a:cs typeface="Times New Roman"/>
              </a:rPr>
              <a:t>True </a:t>
            </a:r>
            <a:r>
              <a:rPr sz="1600" b="1" spc="-5" dirty="0">
                <a:solidFill>
                  <a:srgbClr val="545454"/>
                </a:solidFill>
                <a:latin typeface="Times New Roman"/>
                <a:cs typeface="Times New Roman"/>
              </a:rPr>
              <a:t>Positive: </a:t>
            </a:r>
            <a:r>
              <a:rPr sz="1600" spc="-40" dirty="0">
                <a:solidFill>
                  <a:srgbClr val="545454"/>
                </a:solidFill>
                <a:latin typeface="Times New Roman"/>
                <a:cs typeface="Times New Roman"/>
              </a:rPr>
              <a:t>Alarm </a:t>
            </a:r>
            <a:r>
              <a:rPr sz="1600" spc="-25" dirty="0">
                <a:solidFill>
                  <a:srgbClr val="545454"/>
                </a:solidFill>
                <a:latin typeface="Times New Roman"/>
                <a:cs typeface="Times New Roman"/>
              </a:rPr>
              <a:t>goes </a:t>
            </a:r>
            <a:r>
              <a:rPr sz="1600" dirty="0">
                <a:solidFill>
                  <a:srgbClr val="545454"/>
                </a:solidFill>
                <a:latin typeface="Times New Roman"/>
                <a:cs typeface="Times New Roman"/>
              </a:rPr>
              <a:t>on </a:t>
            </a:r>
            <a:r>
              <a:rPr sz="1600" spc="-55" dirty="0">
                <a:solidFill>
                  <a:srgbClr val="545454"/>
                </a:solidFill>
                <a:latin typeface="Times New Roman"/>
                <a:cs typeface="Times New Roman"/>
              </a:rPr>
              <a:t>in </a:t>
            </a:r>
            <a:r>
              <a:rPr sz="1600" spc="-10" dirty="0">
                <a:solidFill>
                  <a:srgbClr val="545454"/>
                </a:solidFill>
                <a:latin typeface="Times New Roman"/>
                <a:cs typeface="Times New Roman"/>
              </a:rPr>
              <a:t>case </a:t>
            </a:r>
            <a:r>
              <a:rPr sz="1600" dirty="0">
                <a:solidFill>
                  <a:srgbClr val="545454"/>
                </a:solidFill>
                <a:latin typeface="Times New Roman"/>
                <a:cs typeface="Times New Roman"/>
              </a:rPr>
              <a:t>of</a:t>
            </a:r>
            <a:r>
              <a:rPr sz="1600" spc="15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600" spc="-65" dirty="0">
                <a:solidFill>
                  <a:srgbClr val="545454"/>
                </a:solidFill>
                <a:latin typeface="Times New Roman"/>
                <a:cs typeface="Times New Roman"/>
              </a:rPr>
              <a:t>fire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45454"/>
              </a:buClr>
              <a:buFont typeface="Wingdings"/>
              <a:buChar char=""/>
            </a:pPr>
            <a:endParaRPr sz="16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1600" b="1" spc="-10" dirty="0">
                <a:solidFill>
                  <a:srgbClr val="545454"/>
                </a:solidFill>
                <a:latin typeface="Times New Roman"/>
                <a:cs typeface="Times New Roman"/>
              </a:rPr>
              <a:t>False </a:t>
            </a:r>
            <a:r>
              <a:rPr sz="1600" b="1" spc="-5" dirty="0">
                <a:solidFill>
                  <a:srgbClr val="545454"/>
                </a:solidFill>
                <a:latin typeface="Times New Roman"/>
                <a:cs typeface="Times New Roman"/>
              </a:rPr>
              <a:t>Positive: </a:t>
            </a:r>
            <a:r>
              <a:rPr sz="1600" spc="-40" dirty="0">
                <a:solidFill>
                  <a:srgbClr val="545454"/>
                </a:solidFill>
                <a:latin typeface="Times New Roman"/>
                <a:cs typeface="Times New Roman"/>
              </a:rPr>
              <a:t>Alarm  </a:t>
            </a:r>
            <a:r>
              <a:rPr sz="1600" spc="-25" dirty="0">
                <a:solidFill>
                  <a:srgbClr val="545454"/>
                </a:solidFill>
                <a:latin typeface="Times New Roman"/>
                <a:cs typeface="Times New Roman"/>
              </a:rPr>
              <a:t>goes  </a:t>
            </a:r>
            <a:r>
              <a:rPr sz="1600" dirty="0">
                <a:solidFill>
                  <a:srgbClr val="545454"/>
                </a:solidFill>
                <a:latin typeface="Times New Roman"/>
                <a:cs typeface="Times New Roman"/>
              </a:rPr>
              <a:t>on </a:t>
            </a:r>
            <a:r>
              <a:rPr sz="1600" spc="-30" dirty="0">
                <a:solidFill>
                  <a:srgbClr val="545454"/>
                </a:solidFill>
                <a:latin typeface="Times New Roman"/>
                <a:cs typeface="Times New Roman"/>
              </a:rPr>
              <a:t>but </a:t>
            </a:r>
            <a:r>
              <a:rPr sz="1600" spc="-40" dirty="0">
                <a:solidFill>
                  <a:srgbClr val="545454"/>
                </a:solidFill>
                <a:latin typeface="Times New Roman"/>
                <a:cs typeface="Times New Roman"/>
              </a:rPr>
              <a:t>no</a:t>
            </a:r>
            <a:r>
              <a:rPr sz="1600" spc="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600" spc="-65" dirty="0">
                <a:solidFill>
                  <a:srgbClr val="545454"/>
                </a:solidFill>
                <a:latin typeface="Times New Roman"/>
                <a:cs typeface="Times New Roman"/>
              </a:rPr>
              <a:t>fire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545454"/>
              </a:buClr>
              <a:buFont typeface="Wingdings"/>
              <a:buChar char=""/>
            </a:pPr>
            <a:endParaRPr sz="16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1600" b="1" spc="-10" dirty="0">
                <a:solidFill>
                  <a:srgbClr val="545454"/>
                </a:solidFill>
                <a:latin typeface="Times New Roman"/>
                <a:cs typeface="Times New Roman"/>
              </a:rPr>
              <a:t>False </a:t>
            </a:r>
            <a:r>
              <a:rPr sz="1600" b="1" spc="10" dirty="0">
                <a:solidFill>
                  <a:srgbClr val="545454"/>
                </a:solidFill>
                <a:latin typeface="Times New Roman"/>
                <a:cs typeface="Times New Roman"/>
              </a:rPr>
              <a:t>Negative: </a:t>
            </a:r>
            <a:r>
              <a:rPr sz="1600" spc="10" dirty="0">
                <a:solidFill>
                  <a:srgbClr val="545454"/>
                </a:solidFill>
                <a:latin typeface="Times New Roman"/>
                <a:cs typeface="Times New Roman"/>
              </a:rPr>
              <a:t>No </a:t>
            </a:r>
            <a:r>
              <a:rPr sz="1600" spc="-40" dirty="0">
                <a:solidFill>
                  <a:srgbClr val="545454"/>
                </a:solidFill>
                <a:latin typeface="Times New Roman"/>
                <a:cs typeface="Times New Roman"/>
              </a:rPr>
              <a:t>Alarm  </a:t>
            </a:r>
            <a:r>
              <a:rPr sz="1600" spc="-55" dirty="0">
                <a:solidFill>
                  <a:srgbClr val="545454"/>
                </a:solidFill>
                <a:latin typeface="Times New Roman"/>
                <a:cs typeface="Times New Roman"/>
              </a:rPr>
              <a:t>in </a:t>
            </a:r>
            <a:r>
              <a:rPr sz="1600" spc="-10" dirty="0">
                <a:solidFill>
                  <a:srgbClr val="545454"/>
                </a:solidFill>
                <a:latin typeface="Times New Roman"/>
                <a:cs typeface="Times New Roman"/>
              </a:rPr>
              <a:t>case </a:t>
            </a:r>
            <a:r>
              <a:rPr sz="1600" dirty="0">
                <a:solidFill>
                  <a:srgbClr val="545454"/>
                </a:solidFill>
                <a:latin typeface="Times New Roman"/>
                <a:cs typeface="Times New Roman"/>
              </a:rPr>
              <a:t>of</a:t>
            </a:r>
            <a:r>
              <a:rPr sz="1600" spc="-2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600" spc="-65" dirty="0">
                <a:solidFill>
                  <a:srgbClr val="545454"/>
                </a:solidFill>
                <a:latin typeface="Times New Roman"/>
                <a:cs typeface="Times New Roman"/>
              </a:rPr>
              <a:t>fire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45454"/>
              </a:buClr>
              <a:buFont typeface="Wingdings"/>
              <a:buChar char=""/>
            </a:pPr>
            <a:endParaRPr sz="16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1600" b="1" spc="-70" dirty="0">
                <a:solidFill>
                  <a:srgbClr val="545454"/>
                </a:solidFill>
                <a:latin typeface="Times New Roman"/>
                <a:cs typeface="Times New Roman"/>
              </a:rPr>
              <a:t>True </a:t>
            </a:r>
            <a:r>
              <a:rPr sz="1600" b="1" spc="10" dirty="0">
                <a:solidFill>
                  <a:srgbClr val="545454"/>
                </a:solidFill>
                <a:latin typeface="Times New Roman"/>
                <a:cs typeface="Times New Roman"/>
              </a:rPr>
              <a:t>Negative: </a:t>
            </a:r>
            <a:r>
              <a:rPr sz="1600" spc="10" dirty="0">
                <a:solidFill>
                  <a:srgbClr val="545454"/>
                </a:solidFill>
                <a:latin typeface="Times New Roman"/>
                <a:cs typeface="Times New Roman"/>
              </a:rPr>
              <a:t>No </a:t>
            </a:r>
            <a:r>
              <a:rPr sz="1600" spc="-40" dirty="0">
                <a:solidFill>
                  <a:srgbClr val="545454"/>
                </a:solidFill>
                <a:latin typeface="Times New Roman"/>
                <a:cs typeface="Times New Roman"/>
              </a:rPr>
              <a:t>Alarm no</a:t>
            </a:r>
            <a:r>
              <a:rPr sz="1600" spc="6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600" spc="-35" dirty="0">
                <a:solidFill>
                  <a:srgbClr val="545454"/>
                </a:solidFill>
                <a:latin typeface="Times New Roman"/>
                <a:cs typeface="Times New Roman"/>
              </a:rPr>
              <a:t>Fire</a:t>
            </a:r>
            <a:endParaRPr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0703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48</a:t>
            </a:fld>
            <a:endParaRPr lang="en-IN"/>
          </a:p>
        </p:txBody>
      </p:sp>
      <p:sp>
        <p:nvSpPr>
          <p:cNvPr id="7" name="object 3"/>
          <p:cNvSpPr/>
          <p:nvPr/>
        </p:nvSpPr>
        <p:spPr>
          <a:xfrm>
            <a:off x="3208325" y="2830958"/>
            <a:ext cx="8591789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>
            <a:spLocks noGrp="1"/>
          </p:cNvSpPr>
          <p:nvPr>
            <p:ph type="title"/>
          </p:nvPr>
        </p:nvSpPr>
        <p:spPr>
          <a:xfrm>
            <a:off x="4451928" y="2997108"/>
            <a:ext cx="6385296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30" dirty="0">
                <a:solidFill>
                  <a:schemeClr val="bg1"/>
                </a:solidFill>
              </a:rPr>
              <a:t>Hands-on: </a:t>
            </a:r>
            <a:r>
              <a:rPr lang="en-US" sz="2800" spc="20" dirty="0">
                <a:solidFill>
                  <a:schemeClr val="bg1"/>
                </a:solidFill>
              </a:rPr>
              <a:t>Decision</a:t>
            </a:r>
            <a:r>
              <a:rPr lang="en-US" sz="2800" spc="-85" dirty="0">
                <a:solidFill>
                  <a:schemeClr val="bg1"/>
                </a:solidFill>
              </a:rPr>
              <a:t> </a:t>
            </a:r>
            <a:r>
              <a:rPr lang="en-US" sz="2800" spc="15" dirty="0">
                <a:solidFill>
                  <a:schemeClr val="bg1"/>
                </a:solidFill>
              </a:rPr>
              <a:t>Tree(Regression)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77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249" y="329201"/>
            <a:ext cx="5255037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5" dirty="0">
                <a:solidFill>
                  <a:schemeClr val="accent1"/>
                </a:solidFill>
                <a:latin typeface="Arial"/>
                <a:cs typeface="Arial"/>
              </a:rPr>
              <a:t>Demo-  Decision</a:t>
            </a:r>
            <a:r>
              <a:rPr lang="en-US" spc="15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spc="-55" dirty="0" smtClean="0">
                <a:solidFill>
                  <a:schemeClr val="accent1"/>
                </a:solidFill>
                <a:latin typeface="Arial"/>
                <a:cs typeface="Arial"/>
              </a:rPr>
              <a:t>Tree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49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33485" y="1295272"/>
            <a:ext cx="7373258" cy="1598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765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will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using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Boston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dataset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implement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lang="en-US" spc="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1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endParaRPr lang="en-US" dirty="0">
              <a:latin typeface="Arial"/>
              <a:cs typeface="Arial"/>
            </a:endParaRPr>
          </a:p>
          <a:p>
            <a:pPr marL="250825">
              <a:lnSpc>
                <a:spcPct val="100000"/>
              </a:lnSpc>
              <a:spcBef>
                <a:spcPts val="665"/>
              </a:spcBef>
            </a:pP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tree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regression</a:t>
            </a:r>
            <a:r>
              <a:rPr lang="en-US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lang="en-US" dirty="0">
              <a:latin typeface="Arial"/>
              <a:cs typeface="Arial"/>
            </a:endParaRPr>
          </a:p>
          <a:p>
            <a:pPr marL="250825" marR="240665" indent="-238760">
              <a:lnSpc>
                <a:spcPct val="151300"/>
              </a:lnSpc>
              <a:spcBef>
                <a:spcPts val="225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This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dataset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contains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information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collected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30" dirty="0">
                <a:solidFill>
                  <a:srgbClr val="595959"/>
                </a:solidFill>
                <a:latin typeface="Arial"/>
                <a:cs typeface="Arial"/>
              </a:rPr>
              <a:t>U.S 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Census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Service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concerning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housing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area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of Boston 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Mass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3758767" y="3437289"/>
            <a:ext cx="6647976" cy="3018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87853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125" y="222680"/>
            <a:ext cx="8186923" cy="54839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-15" dirty="0" err="1" smtClean="0">
                <a:solidFill>
                  <a:schemeClr val="accent1"/>
                </a:solidFill>
              </a:rPr>
              <a:t>Regressor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50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/>
          <p:cNvSpPr txBox="1"/>
          <p:nvPr/>
        </p:nvSpPr>
        <p:spPr>
          <a:xfrm>
            <a:off x="2212725" y="1475656"/>
            <a:ext cx="438628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5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Loading </a:t>
            </a:r>
            <a:r>
              <a:rPr sz="1400" i="1" spc="-10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the </a:t>
            </a:r>
            <a:r>
              <a:rPr sz="1400" i="1" spc="-5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required </a:t>
            </a:r>
            <a:r>
              <a:rPr sz="1400" i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packages and </a:t>
            </a:r>
            <a:r>
              <a:rPr sz="1400" i="1" spc="-10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the </a:t>
            </a:r>
            <a:r>
              <a:rPr sz="1400" i="1" spc="-5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Boston</a:t>
            </a:r>
            <a:r>
              <a:rPr sz="1400" i="1" spc="-140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dataset:</a:t>
            </a:r>
            <a:endParaRPr sz="14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object 8"/>
          <p:cNvSpPr/>
          <p:nvPr/>
        </p:nvSpPr>
        <p:spPr>
          <a:xfrm>
            <a:off x="1692738" y="2220721"/>
            <a:ext cx="556968" cy="5514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/>
          <p:cNvSpPr/>
          <p:nvPr/>
        </p:nvSpPr>
        <p:spPr>
          <a:xfrm>
            <a:off x="1855326" y="2347951"/>
            <a:ext cx="301864" cy="29887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100"/>
                </a:lnTo>
                <a:lnTo>
                  <a:pt x="56994" y="26869"/>
                </a:lnTo>
                <a:lnTo>
                  <a:pt x="26859" y="57008"/>
                </a:lnTo>
                <a:lnTo>
                  <a:pt x="7097" y="95218"/>
                </a:lnTo>
                <a:lnTo>
                  <a:pt x="0" y="139202"/>
                </a:lnTo>
                <a:lnTo>
                  <a:pt x="7097" y="183245"/>
                </a:lnTo>
                <a:lnTo>
                  <a:pt x="26859" y="221491"/>
                </a:lnTo>
                <a:lnTo>
                  <a:pt x="56994" y="251649"/>
                </a:lnTo>
                <a:lnTo>
                  <a:pt x="95208" y="271424"/>
                </a:lnTo>
                <a:lnTo>
                  <a:pt x="139208" y="278526"/>
                </a:lnTo>
                <a:lnTo>
                  <a:pt x="183212" y="271424"/>
                </a:lnTo>
                <a:lnTo>
                  <a:pt x="221428" y="251649"/>
                </a:lnTo>
                <a:lnTo>
                  <a:pt x="251565" y="221491"/>
                </a:lnTo>
                <a:lnTo>
                  <a:pt x="271328" y="183245"/>
                </a:lnTo>
                <a:lnTo>
                  <a:pt x="278425" y="139202"/>
                </a:lnTo>
                <a:lnTo>
                  <a:pt x="271328" y="95218"/>
                </a:lnTo>
                <a:lnTo>
                  <a:pt x="251565" y="57008"/>
                </a:lnTo>
                <a:lnTo>
                  <a:pt x="221428" y="26869"/>
                </a:lnTo>
                <a:lnTo>
                  <a:pt x="183212" y="7100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/>
          <p:nvPr/>
        </p:nvSpPr>
        <p:spPr>
          <a:xfrm>
            <a:off x="1855326" y="2347952"/>
            <a:ext cx="301864" cy="29887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02"/>
                </a:moveTo>
                <a:lnTo>
                  <a:pt x="7097" y="95218"/>
                </a:lnTo>
                <a:lnTo>
                  <a:pt x="26859" y="57008"/>
                </a:lnTo>
                <a:lnTo>
                  <a:pt x="56994" y="26869"/>
                </a:lnTo>
                <a:lnTo>
                  <a:pt x="95208" y="7100"/>
                </a:lnTo>
                <a:lnTo>
                  <a:pt x="139208" y="0"/>
                </a:lnTo>
                <a:lnTo>
                  <a:pt x="183212" y="7100"/>
                </a:lnTo>
                <a:lnTo>
                  <a:pt x="221428" y="26869"/>
                </a:lnTo>
                <a:lnTo>
                  <a:pt x="251565" y="57008"/>
                </a:lnTo>
                <a:lnTo>
                  <a:pt x="271328" y="95218"/>
                </a:lnTo>
                <a:lnTo>
                  <a:pt x="278425" y="139202"/>
                </a:lnTo>
                <a:lnTo>
                  <a:pt x="271328" y="183245"/>
                </a:lnTo>
                <a:lnTo>
                  <a:pt x="251565" y="221491"/>
                </a:lnTo>
                <a:lnTo>
                  <a:pt x="221428" y="251649"/>
                </a:lnTo>
                <a:lnTo>
                  <a:pt x="183212" y="271424"/>
                </a:lnTo>
                <a:lnTo>
                  <a:pt x="139208" y="278526"/>
                </a:lnTo>
                <a:lnTo>
                  <a:pt x="95208" y="271424"/>
                </a:lnTo>
                <a:lnTo>
                  <a:pt x="56994" y="251649"/>
                </a:lnTo>
                <a:lnTo>
                  <a:pt x="26859" y="221491"/>
                </a:lnTo>
                <a:lnTo>
                  <a:pt x="7097" y="183245"/>
                </a:lnTo>
                <a:lnTo>
                  <a:pt x="0" y="139202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/>
          <p:cNvSpPr txBox="1"/>
          <p:nvPr/>
        </p:nvSpPr>
        <p:spPr>
          <a:xfrm>
            <a:off x="1945614" y="2367204"/>
            <a:ext cx="121708" cy="247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2"/>
          <p:cNvSpPr/>
          <p:nvPr/>
        </p:nvSpPr>
        <p:spPr>
          <a:xfrm>
            <a:off x="2454655" y="1740251"/>
            <a:ext cx="3713116" cy="15113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3"/>
          <p:cNvSpPr/>
          <p:nvPr/>
        </p:nvSpPr>
        <p:spPr>
          <a:xfrm>
            <a:off x="2517532" y="1901418"/>
            <a:ext cx="3577399" cy="12925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4"/>
          <p:cNvSpPr/>
          <p:nvPr/>
        </p:nvSpPr>
        <p:spPr>
          <a:xfrm>
            <a:off x="2632097" y="1913897"/>
            <a:ext cx="3343868" cy="1166902"/>
          </a:xfrm>
          <a:custGeom>
            <a:avLst/>
            <a:gdLst/>
            <a:ahLst/>
            <a:cxnLst/>
            <a:rect l="l" t="t" r="r" b="b"/>
            <a:pathLst>
              <a:path w="3088004" h="1088389">
                <a:moveTo>
                  <a:pt x="0" y="1088123"/>
                </a:moveTo>
                <a:lnTo>
                  <a:pt x="3087867" y="1088123"/>
                </a:lnTo>
                <a:lnTo>
                  <a:pt x="3087867" y="0"/>
                </a:lnTo>
                <a:lnTo>
                  <a:pt x="0" y="0"/>
                </a:lnTo>
                <a:lnTo>
                  <a:pt x="0" y="1088123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5"/>
          <p:cNvSpPr txBox="1"/>
          <p:nvPr/>
        </p:nvSpPr>
        <p:spPr>
          <a:xfrm>
            <a:off x="2067322" y="3311923"/>
            <a:ext cx="343332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i="1" spc="10" dirty="0">
                <a:solidFill>
                  <a:srgbClr val="1B577B"/>
                </a:solidFill>
                <a:latin typeface="Arial"/>
                <a:cs typeface="Arial"/>
              </a:rPr>
              <a:t>Having </a:t>
            </a:r>
            <a:r>
              <a:rPr sz="1400" i="1" dirty="0">
                <a:solidFill>
                  <a:srgbClr val="1B577B"/>
                </a:solidFill>
                <a:latin typeface="Arial"/>
                <a:cs typeface="Arial"/>
              </a:rPr>
              <a:t>a </a:t>
            </a:r>
            <a:r>
              <a:rPr sz="1400" i="1" spc="5" dirty="0">
                <a:solidFill>
                  <a:srgbClr val="1B577B"/>
                </a:solidFill>
                <a:latin typeface="Arial"/>
                <a:cs typeface="Arial"/>
              </a:rPr>
              <a:t>glance </a:t>
            </a:r>
            <a:r>
              <a:rPr sz="1400" i="1" dirty="0">
                <a:solidFill>
                  <a:srgbClr val="1B577B"/>
                </a:solidFill>
                <a:latin typeface="Arial"/>
                <a:cs typeface="Arial"/>
              </a:rPr>
              <a:t>at </a:t>
            </a:r>
            <a:r>
              <a:rPr sz="1400" i="1" spc="-10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sz="1400" i="1" spc="15" dirty="0">
                <a:solidFill>
                  <a:srgbClr val="1B577B"/>
                </a:solidFill>
                <a:latin typeface="Arial"/>
                <a:cs typeface="Arial"/>
              </a:rPr>
              <a:t>1</a:t>
            </a:r>
            <a:r>
              <a:rPr sz="1400" i="1" spc="22" baseline="24305" dirty="0">
                <a:solidFill>
                  <a:srgbClr val="1B577B"/>
                </a:solidFill>
                <a:latin typeface="Arial"/>
                <a:cs typeface="Arial"/>
              </a:rPr>
              <a:t>st </a:t>
            </a:r>
            <a:r>
              <a:rPr sz="1400" i="1" spc="-5" dirty="0">
                <a:solidFill>
                  <a:srgbClr val="1B577B"/>
                </a:solidFill>
                <a:latin typeface="Arial"/>
                <a:cs typeface="Arial"/>
              </a:rPr>
              <a:t>five</a:t>
            </a:r>
            <a:r>
              <a:rPr sz="1400" i="1" spc="-170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sz="1400" i="1" spc="-5" dirty="0">
                <a:solidFill>
                  <a:srgbClr val="1B577B"/>
                </a:solidFill>
                <a:latin typeface="Arial"/>
                <a:cs typeface="Arial"/>
              </a:rPr>
              <a:t>records: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8" name="object 16"/>
          <p:cNvSpPr/>
          <p:nvPr/>
        </p:nvSpPr>
        <p:spPr>
          <a:xfrm>
            <a:off x="1692738" y="4030471"/>
            <a:ext cx="556968" cy="55145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7"/>
          <p:cNvSpPr/>
          <p:nvPr/>
        </p:nvSpPr>
        <p:spPr>
          <a:xfrm>
            <a:off x="1855326" y="4156183"/>
            <a:ext cx="301864" cy="29887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100"/>
                </a:lnTo>
                <a:lnTo>
                  <a:pt x="56994" y="26869"/>
                </a:lnTo>
                <a:lnTo>
                  <a:pt x="26859" y="57008"/>
                </a:lnTo>
                <a:lnTo>
                  <a:pt x="7097" y="95216"/>
                </a:lnTo>
                <a:lnTo>
                  <a:pt x="0" y="139196"/>
                </a:lnTo>
                <a:lnTo>
                  <a:pt x="7097" y="183175"/>
                </a:lnTo>
                <a:lnTo>
                  <a:pt x="26859" y="221384"/>
                </a:lnTo>
                <a:lnTo>
                  <a:pt x="56994" y="251522"/>
                </a:lnTo>
                <a:lnTo>
                  <a:pt x="95208" y="271291"/>
                </a:lnTo>
                <a:lnTo>
                  <a:pt x="139208" y="278392"/>
                </a:lnTo>
                <a:lnTo>
                  <a:pt x="183212" y="271291"/>
                </a:lnTo>
                <a:lnTo>
                  <a:pt x="221428" y="251522"/>
                </a:lnTo>
                <a:lnTo>
                  <a:pt x="251565" y="221384"/>
                </a:lnTo>
                <a:lnTo>
                  <a:pt x="271328" y="183175"/>
                </a:lnTo>
                <a:lnTo>
                  <a:pt x="278425" y="139196"/>
                </a:lnTo>
                <a:lnTo>
                  <a:pt x="271328" y="95216"/>
                </a:lnTo>
                <a:lnTo>
                  <a:pt x="251565" y="57008"/>
                </a:lnTo>
                <a:lnTo>
                  <a:pt x="221428" y="26869"/>
                </a:lnTo>
                <a:lnTo>
                  <a:pt x="183212" y="7100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/>
          <p:cNvSpPr/>
          <p:nvPr/>
        </p:nvSpPr>
        <p:spPr>
          <a:xfrm>
            <a:off x="1855326" y="4156183"/>
            <a:ext cx="301864" cy="29887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196"/>
                </a:moveTo>
                <a:lnTo>
                  <a:pt x="7097" y="95216"/>
                </a:lnTo>
                <a:lnTo>
                  <a:pt x="26859" y="57008"/>
                </a:lnTo>
                <a:lnTo>
                  <a:pt x="56994" y="26869"/>
                </a:lnTo>
                <a:lnTo>
                  <a:pt x="95208" y="7100"/>
                </a:lnTo>
                <a:lnTo>
                  <a:pt x="139208" y="0"/>
                </a:lnTo>
                <a:lnTo>
                  <a:pt x="183212" y="7100"/>
                </a:lnTo>
                <a:lnTo>
                  <a:pt x="221428" y="26869"/>
                </a:lnTo>
                <a:lnTo>
                  <a:pt x="251565" y="57008"/>
                </a:lnTo>
                <a:lnTo>
                  <a:pt x="271328" y="95216"/>
                </a:lnTo>
                <a:lnTo>
                  <a:pt x="278425" y="139196"/>
                </a:lnTo>
                <a:lnTo>
                  <a:pt x="271328" y="183175"/>
                </a:lnTo>
                <a:lnTo>
                  <a:pt x="251565" y="221384"/>
                </a:lnTo>
                <a:lnTo>
                  <a:pt x="221428" y="251522"/>
                </a:lnTo>
                <a:lnTo>
                  <a:pt x="183212" y="271291"/>
                </a:lnTo>
                <a:lnTo>
                  <a:pt x="139208" y="278392"/>
                </a:lnTo>
                <a:lnTo>
                  <a:pt x="95208" y="271291"/>
                </a:lnTo>
                <a:lnTo>
                  <a:pt x="56994" y="251522"/>
                </a:lnTo>
                <a:lnTo>
                  <a:pt x="26859" y="221384"/>
                </a:lnTo>
                <a:lnTo>
                  <a:pt x="7097" y="183175"/>
                </a:lnTo>
                <a:lnTo>
                  <a:pt x="0" y="139196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/>
          <p:cNvSpPr txBox="1"/>
          <p:nvPr/>
        </p:nvSpPr>
        <p:spPr>
          <a:xfrm>
            <a:off x="1945588" y="4178519"/>
            <a:ext cx="122396" cy="248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0"/>
          <p:cNvSpPr/>
          <p:nvPr/>
        </p:nvSpPr>
        <p:spPr>
          <a:xfrm>
            <a:off x="2364354" y="3868465"/>
            <a:ext cx="2176755" cy="8783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1"/>
          <p:cNvSpPr/>
          <p:nvPr/>
        </p:nvSpPr>
        <p:spPr>
          <a:xfrm>
            <a:off x="2551253" y="4050652"/>
            <a:ext cx="2018884" cy="5096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2"/>
          <p:cNvSpPr/>
          <p:nvPr/>
        </p:nvSpPr>
        <p:spPr>
          <a:xfrm>
            <a:off x="2536415" y="4082305"/>
            <a:ext cx="1671590" cy="388741"/>
          </a:xfrm>
          <a:custGeom>
            <a:avLst/>
            <a:gdLst/>
            <a:ahLst/>
            <a:cxnLst/>
            <a:rect l="l" t="t" r="r" b="b"/>
            <a:pathLst>
              <a:path w="1543685" h="362585">
                <a:moveTo>
                  <a:pt x="0" y="361998"/>
                </a:moveTo>
                <a:lnTo>
                  <a:pt x="1543299" y="361998"/>
                </a:lnTo>
                <a:lnTo>
                  <a:pt x="1543299" y="0"/>
                </a:lnTo>
                <a:lnTo>
                  <a:pt x="0" y="0"/>
                </a:lnTo>
                <a:lnTo>
                  <a:pt x="0" y="361998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3"/>
          <p:cNvSpPr/>
          <p:nvPr/>
        </p:nvSpPr>
        <p:spPr>
          <a:xfrm>
            <a:off x="4784900" y="4224157"/>
            <a:ext cx="505396" cy="1736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4"/>
          <p:cNvSpPr/>
          <p:nvPr/>
        </p:nvSpPr>
        <p:spPr>
          <a:xfrm>
            <a:off x="4767462" y="4270433"/>
            <a:ext cx="408443" cy="81697"/>
          </a:xfrm>
          <a:custGeom>
            <a:avLst/>
            <a:gdLst/>
            <a:ahLst/>
            <a:cxnLst/>
            <a:rect l="l" t="t" r="r" b="b"/>
            <a:pathLst>
              <a:path w="377189" h="76200">
                <a:moveTo>
                  <a:pt x="152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52400" y="47625"/>
                </a:lnTo>
                <a:lnTo>
                  <a:pt x="152400" y="28575"/>
                </a:lnTo>
                <a:close/>
              </a:path>
              <a:path w="377189" h="76200">
                <a:moveTo>
                  <a:pt x="228600" y="28575"/>
                </a:moveTo>
                <a:lnTo>
                  <a:pt x="209550" y="28575"/>
                </a:lnTo>
                <a:lnTo>
                  <a:pt x="209550" y="47625"/>
                </a:lnTo>
                <a:lnTo>
                  <a:pt x="228600" y="47625"/>
                </a:lnTo>
                <a:lnTo>
                  <a:pt x="228600" y="28575"/>
                </a:lnTo>
                <a:close/>
              </a:path>
              <a:path w="377189" h="76200">
                <a:moveTo>
                  <a:pt x="300365" y="0"/>
                </a:moveTo>
                <a:lnTo>
                  <a:pt x="300365" y="76200"/>
                </a:lnTo>
                <a:lnTo>
                  <a:pt x="357515" y="47625"/>
                </a:lnTo>
                <a:lnTo>
                  <a:pt x="304815" y="47625"/>
                </a:lnTo>
                <a:lnTo>
                  <a:pt x="304815" y="28575"/>
                </a:lnTo>
                <a:lnTo>
                  <a:pt x="357515" y="28575"/>
                </a:lnTo>
                <a:lnTo>
                  <a:pt x="300365" y="0"/>
                </a:lnTo>
                <a:close/>
              </a:path>
              <a:path w="377189" h="76200">
                <a:moveTo>
                  <a:pt x="300365" y="28575"/>
                </a:moveTo>
                <a:lnTo>
                  <a:pt x="285765" y="28575"/>
                </a:lnTo>
                <a:lnTo>
                  <a:pt x="285765" y="47625"/>
                </a:lnTo>
                <a:lnTo>
                  <a:pt x="300365" y="47625"/>
                </a:lnTo>
                <a:lnTo>
                  <a:pt x="300365" y="28575"/>
                </a:lnTo>
                <a:close/>
              </a:path>
              <a:path w="377189" h="76200">
                <a:moveTo>
                  <a:pt x="357515" y="28575"/>
                </a:moveTo>
                <a:lnTo>
                  <a:pt x="304815" y="28575"/>
                </a:lnTo>
                <a:lnTo>
                  <a:pt x="304815" y="47625"/>
                </a:lnTo>
                <a:lnTo>
                  <a:pt x="357515" y="47625"/>
                </a:lnTo>
                <a:lnTo>
                  <a:pt x="376565" y="38100"/>
                </a:lnTo>
                <a:lnTo>
                  <a:pt x="357515" y="28575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5"/>
          <p:cNvSpPr/>
          <p:nvPr/>
        </p:nvSpPr>
        <p:spPr>
          <a:xfrm>
            <a:off x="5632342" y="3537198"/>
            <a:ext cx="5693445" cy="16237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6"/>
          <p:cNvSpPr/>
          <p:nvPr/>
        </p:nvSpPr>
        <p:spPr>
          <a:xfrm>
            <a:off x="5754794" y="3630962"/>
            <a:ext cx="5469394" cy="177331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/>
          <p:cNvSpPr/>
          <p:nvPr/>
        </p:nvSpPr>
        <p:spPr>
          <a:xfrm>
            <a:off x="5762968" y="3597868"/>
            <a:ext cx="5583672" cy="1806412"/>
          </a:xfrm>
          <a:custGeom>
            <a:avLst/>
            <a:gdLst/>
            <a:ahLst/>
            <a:cxnLst/>
            <a:rect l="l" t="t" r="r" b="b"/>
            <a:pathLst>
              <a:path w="4970145" h="1269364">
                <a:moveTo>
                  <a:pt x="0" y="1269205"/>
                </a:moveTo>
                <a:lnTo>
                  <a:pt x="4969520" y="1269205"/>
                </a:lnTo>
                <a:lnTo>
                  <a:pt x="4969520" y="0"/>
                </a:lnTo>
                <a:lnTo>
                  <a:pt x="0" y="0"/>
                </a:lnTo>
                <a:lnTo>
                  <a:pt x="0" y="1269205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0691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51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76803" y="105878"/>
            <a:ext cx="7794626" cy="65405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-15" dirty="0" err="1" smtClean="0">
                <a:solidFill>
                  <a:schemeClr val="accent1"/>
                </a:solidFill>
              </a:rPr>
              <a:t>Regressor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9096" y="1091125"/>
            <a:ext cx="422547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0" dirty="0">
                <a:solidFill>
                  <a:srgbClr val="1B577B"/>
                </a:solidFill>
                <a:latin typeface="Times New Roman"/>
                <a:cs typeface="Times New Roman"/>
              </a:rPr>
              <a:t>Building </a:t>
            </a:r>
            <a:r>
              <a:rPr sz="1600" i="1" dirty="0">
                <a:solidFill>
                  <a:srgbClr val="1B577B"/>
                </a:solidFill>
                <a:latin typeface="Times New Roman"/>
                <a:cs typeface="Times New Roman"/>
              </a:rPr>
              <a:t>a </a:t>
            </a:r>
            <a:r>
              <a:rPr sz="1600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scatter-plot </a:t>
            </a:r>
            <a:r>
              <a:rPr sz="1600" i="1" dirty="0">
                <a:solidFill>
                  <a:srgbClr val="1B577B"/>
                </a:solidFill>
                <a:latin typeface="Times New Roman"/>
                <a:cs typeface="Times New Roman"/>
              </a:rPr>
              <a:t>between </a:t>
            </a:r>
            <a:r>
              <a:rPr sz="1600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‘medv’&amp;</a:t>
            </a:r>
            <a:r>
              <a:rPr sz="1600" i="1" spc="-4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sz="1600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‘rm’: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68270" y="1352550"/>
            <a:ext cx="4686300" cy="1009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3490" y="1516471"/>
            <a:ext cx="4958244" cy="9656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68270" y="1511770"/>
            <a:ext cx="4969329" cy="979923"/>
          </a:xfrm>
          <a:custGeom>
            <a:avLst/>
            <a:gdLst/>
            <a:ahLst/>
            <a:cxnLst/>
            <a:rect l="l" t="t" r="r" b="b"/>
            <a:pathLst>
              <a:path w="4331970" h="687069">
                <a:moveTo>
                  <a:pt x="0" y="686598"/>
                </a:moveTo>
                <a:lnTo>
                  <a:pt x="4331847" y="686598"/>
                </a:lnTo>
                <a:lnTo>
                  <a:pt x="4331847" y="0"/>
                </a:lnTo>
                <a:lnTo>
                  <a:pt x="0" y="0"/>
                </a:lnTo>
                <a:lnTo>
                  <a:pt x="0" y="686598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16170" y="2803071"/>
            <a:ext cx="304800" cy="552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30470" y="2872373"/>
            <a:ext cx="76200" cy="310515"/>
          </a:xfrm>
          <a:custGeom>
            <a:avLst/>
            <a:gdLst/>
            <a:ahLst/>
            <a:cxnLst/>
            <a:rect l="l" t="t" r="r" b="b"/>
            <a:pathLst>
              <a:path w="76200" h="310514">
                <a:moveTo>
                  <a:pt x="47640" y="0"/>
                </a:moveTo>
                <a:lnTo>
                  <a:pt x="28590" y="0"/>
                </a:lnTo>
                <a:lnTo>
                  <a:pt x="28590" y="152400"/>
                </a:lnTo>
                <a:lnTo>
                  <a:pt x="47640" y="152400"/>
                </a:lnTo>
                <a:lnTo>
                  <a:pt x="47640" y="0"/>
                </a:lnTo>
                <a:close/>
              </a:path>
              <a:path w="76200" h="310514">
                <a:moveTo>
                  <a:pt x="47640" y="209550"/>
                </a:moveTo>
                <a:lnTo>
                  <a:pt x="28590" y="209550"/>
                </a:lnTo>
                <a:lnTo>
                  <a:pt x="28590" y="228600"/>
                </a:lnTo>
                <a:lnTo>
                  <a:pt x="47640" y="228600"/>
                </a:lnTo>
                <a:lnTo>
                  <a:pt x="47640" y="209550"/>
                </a:lnTo>
                <a:close/>
              </a:path>
              <a:path w="76200" h="310514">
                <a:moveTo>
                  <a:pt x="76200" y="234315"/>
                </a:moveTo>
                <a:lnTo>
                  <a:pt x="0" y="234315"/>
                </a:lnTo>
                <a:lnTo>
                  <a:pt x="38100" y="310515"/>
                </a:lnTo>
                <a:lnTo>
                  <a:pt x="76200" y="234315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3768270" y="3355521"/>
            <a:ext cx="4963464" cy="27480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/>
          <p:nvPr/>
        </p:nvSpPr>
        <p:spPr>
          <a:xfrm>
            <a:off x="4335066" y="3994555"/>
            <a:ext cx="3667125" cy="2113915"/>
          </a:xfrm>
          <a:custGeom>
            <a:avLst/>
            <a:gdLst/>
            <a:ahLst/>
            <a:cxnLst/>
            <a:rect l="l" t="t" r="r" b="b"/>
            <a:pathLst>
              <a:path w="3667125" h="2113915">
                <a:moveTo>
                  <a:pt x="0" y="2113787"/>
                </a:moveTo>
                <a:lnTo>
                  <a:pt x="3666865" y="2113787"/>
                </a:lnTo>
                <a:lnTo>
                  <a:pt x="3666865" y="0"/>
                </a:lnTo>
                <a:lnTo>
                  <a:pt x="0" y="0"/>
                </a:lnTo>
                <a:lnTo>
                  <a:pt x="0" y="2113787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270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52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76803" y="105878"/>
            <a:ext cx="7794626" cy="65405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-15" dirty="0" err="1" smtClean="0">
                <a:solidFill>
                  <a:schemeClr val="accent1"/>
                </a:solidFill>
              </a:rPr>
              <a:t>Regressor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66395" y="1924050"/>
            <a:ext cx="514350" cy="514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15977" y="2038106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139314" y="0"/>
                </a:moveTo>
                <a:lnTo>
                  <a:pt x="95272" y="7086"/>
                </a:lnTo>
                <a:lnTo>
                  <a:pt x="57028" y="26825"/>
                </a:lnTo>
                <a:lnTo>
                  <a:pt x="26873" y="56939"/>
                </a:lnTo>
                <a:lnTo>
                  <a:pt x="7100" y="95149"/>
                </a:lnTo>
                <a:lnTo>
                  <a:pt x="0" y="139177"/>
                </a:lnTo>
                <a:lnTo>
                  <a:pt x="7100" y="183161"/>
                </a:lnTo>
                <a:lnTo>
                  <a:pt x="26873" y="221371"/>
                </a:lnTo>
                <a:lnTo>
                  <a:pt x="57028" y="251507"/>
                </a:lnTo>
                <a:lnTo>
                  <a:pt x="95272" y="271274"/>
                </a:lnTo>
                <a:lnTo>
                  <a:pt x="139314" y="278373"/>
                </a:lnTo>
                <a:lnTo>
                  <a:pt x="183294" y="271274"/>
                </a:lnTo>
                <a:lnTo>
                  <a:pt x="221502" y="251507"/>
                </a:lnTo>
                <a:lnTo>
                  <a:pt x="251641" y="221371"/>
                </a:lnTo>
                <a:lnTo>
                  <a:pt x="271410" y="183161"/>
                </a:lnTo>
                <a:lnTo>
                  <a:pt x="278511" y="139177"/>
                </a:lnTo>
                <a:lnTo>
                  <a:pt x="271410" y="95149"/>
                </a:lnTo>
                <a:lnTo>
                  <a:pt x="251641" y="56939"/>
                </a:lnTo>
                <a:lnTo>
                  <a:pt x="221502" y="26825"/>
                </a:lnTo>
                <a:lnTo>
                  <a:pt x="183294" y="7086"/>
                </a:lnTo>
                <a:lnTo>
                  <a:pt x="1393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5027" y="2038106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177"/>
                </a:moveTo>
                <a:lnTo>
                  <a:pt x="7100" y="95149"/>
                </a:lnTo>
                <a:lnTo>
                  <a:pt x="26873" y="56939"/>
                </a:lnTo>
                <a:lnTo>
                  <a:pt x="57028" y="26825"/>
                </a:lnTo>
                <a:lnTo>
                  <a:pt x="95272" y="7086"/>
                </a:lnTo>
                <a:lnTo>
                  <a:pt x="139314" y="0"/>
                </a:lnTo>
                <a:lnTo>
                  <a:pt x="183294" y="7086"/>
                </a:lnTo>
                <a:lnTo>
                  <a:pt x="221502" y="26825"/>
                </a:lnTo>
                <a:lnTo>
                  <a:pt x="251641" y="56939"/>
                </a:lnTo>
                <a:lnTo>
                  <a:pt x="271410" y="95149"/>
                </a:lnTo>
                <a:lnTo>
                  <a:pt x="278510" y="139177"/>
                </a:lnTo>
                <a:lnTo>
                  <a:pt x="271410" y="183161"/>
                </a:lnTo>
                <a:lnTo>
                  <a:pt x="251641" y="221371"/>
                </a:lnTo>
                <a:lnTo>
                  <a:pt x="221502" y="251507"/>
                </a:lnTo>
                <a:lnTo>
                  <a:pt x="183294" y="271274"/>
                </a:lnTo>
                <a:lnTo>
                  <a:pt x="139314" y="278373"/>
                </a:lnTo>
                <a:lnTo>
                  <a:pt x="95272" y="271274"/>
                </a:lnTo>
                <a:lnTo>
                  <a:pt x="57028" y="251507"/>
                </a:lnTo>
                <a:lnTo>
                  <a:pt x="26873" y="221371"/>
                </a:lnTo>
                <a:lnTo>
                  <a:pt x="7100" y="183161"/>
                </a:lnTo>
                <a:lnTo>
                  <a:pt x="0" y="139177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23771" y="1259997"/>
            <a:ext cx="64533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4184">
              <a:lnSpc>
                <a:spcPct val="100000"/>
              </a:lnSpc>
              <a:spcBef>
                <a:spcPts val="100"/>
              </a:spcBef>
            </a:pPr>
            <a:r>
              <a:rPr i="1" spc="5" dirty="0">
                <a:solidFill>
                  <a:srgbClr val="1B577B"/>
                </a:solidFill>
                <a:latin typeface="Times New Roman"/>
                <a:cs typeface="Times New Roman"/>
              </a:rPr>
              <a:t>Getting </a:t>
            </a:r>
            <a:r>
              <a:rPr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i="1" spc="-5" dirty="0">
                <a:solidFill>
                  <a:srgbClr val="1B577B"/>
                </a:solidFill>
                <a:latin typeface="Times New Roman"/>
                <a:cs typeface="Times New Roman"/>
              </a:rPr>
              <a:t>features </a:t>
            </a:r>
            <a:r>
              <a:rPr i="1" dirty="0">
                <a:solidFill>
                  <a:srgbClr val="1B577B"/>
                </a:solidFill>
                <a:latin typeface="Times New Roman"/>
                <a:cs typeface="Times New Roman"/>
              </a:rPr>
              <a:t>&amp; </a:t>
            </a:r>
            <a:r>
              <a:rPr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target from </a:t>
            </a:r>
            <a:r>
              <a:rPr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original</a:t>
            </a:r>
            <a:r>
              <a:rPr i="1" spc="2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Data</a:t>
            </a:r>
            <a:r>
              <a:rPr lang="en-US"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frame: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42123" y="1825331"/>
            <a:ext cx="4182411" cy="9988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40651" y="1825331"/>
            <a:ext cx="4183884" cy="10116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35947" y="1820631"/>
            <a:ext cx="4197362" cy="1025376"/>
          </a:xfrm>
          <a:custGeom>
            <a:avLst/>
            <a:gdLst/>
            <a:ahLst/>
            <a:cxnLst/>
            <a:rect l="l" t="t" r="r" b="b"/>
            <a:pathLst>
              <a:path w="3080385" h="718185">
                <a:moveTo>
                  <a:pt x="0" y="718102"/>
                </a:moveTo>
                <a:lnTo>
                  <a:pt x="3080003" y="718102"/>
                </a:lnTo>
                <a:lnTo>
                  <a:pt x="3080003" y="0"/>
                </a:lnTo>
                <a:lnTo>
                  <a:pt x="0" y="0"/>
                </a:lnTo>
                <a:lnTo>
                  <a:pt x="0" y="71810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79050" y="3297380"/>
            <a:ext cx="6344516" cy="17318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21992" y="3482833"/>
            <a:ext cx="5993326" cy="12630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17288" y="3478076"/>
            <a:ext cx="6004815" cy="1280187"/>
          </a:xfrm>
          <a:custGeom>
            <a:avLst/>
            <a:gdLst/>
            <a:ahLst/>
            <a:cxnLst/>
            <a:rect l="l" t="t" r="r" b="b"/>
            <a:pathLst>
              <a:path w="5174615" h="718185">
                <a:moveTo>
                  <a:pt x="0" y="718090"/>
                </a:moveTo>
                <a:lnTo>
                  <a:pt x="5174254" y="718090"/>
                </a:lnTo>
                <a:lnTo>
                  <a:pt x="5174254" y="0"/>
                </a:lnTo>
                <a:lnTo>
                  <a:pt x="0" y="0"/>
                </a:lnTo>
                <a:lnTo>
                  <a:pt x="0" y="71809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17457" y="3797020"/>
            <a:ext cx="600075" cy="6000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45222" y="3833812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139314" y="0"/>
                </a:moveTo>
                <a:lnTo>
                  <a:pt x="95272" y="7101"/>
                </a:lnTo>
                <a:lnTo>
                  <a:pt x="57028" y="26878"/>
                </a:lnTo>
                <a:lnTo>
                  <a:pt x="26873" y="57036"/>
                </a:lnTo>
                <a:lnTo>
                  <a:pt x="7100" y="95283"/>
                </a:lnTo>
                <a:lnTo>
                  <a:pt x="0" y="139327"/>
                </a:lnTo>
                <a:lnTo>
                  <a:pt x="7100" y="183296"/>
                </a:lnTo>
                <a:lnTo>
                  <a:pt x="26873" y="221492"/>
                </a:lnTo>
                <a:lnTo>
                  <a:pt x="57028" y="251618"/>
                </a:lnTo>
                <a:lnTo>
                  <a:pt x="95272" y="271377"/>
                </a:lnTo>
                <a:lnTo>
                  <a:pt x="139314" y="278474"/>
                </a:lnTo>
                <a:lnTo>
                  <a:pt x="183294" y="271377"/>
                </a:lnTo>
                <a:lnTo>
                  <a:pt x="221502" y="251618"/>
                </a:lnTo>
                <a:lnTo>
                  <a:pt x="251641" y="221492"/>
                </a:lnTo>
                <a:lnTo>
                  <a:pt x="271410" y="183296"/>
                </a:lnTo>
                <a:lnTo>
                  <a:pt x="278511" y="139327"/>
                </a:lnTo>
                <a:lnTo>
                  <a:pt x="271410" y="95283"/>
                </a:lnTo>
                <a:lnTo>
                  <a:pt x="251641" y="57036"/>
                </a:lnTo>
                <a:lnTo>
                  <a:pt x="221502" y="26878"/>
                </a:lnTo>
                <a:lnTo>
                  <a:pt x="183294" y="7101"/>
                </a:lnTo>
                <a:lnTo>
                  <a:pt x="1393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85644" y="3944182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327"/>
                </a:moveTo>
                <a:lnTo>
                  <a:pt x="7100" y="95283"/>
                </a:lnTo>
                <a:lnTo>
                  <a:pt x="26873" y="57036"/>
                </a:lnTo>
                <a:lnTo>
                  <a:pt x="57028" y="26878"/>
                </a:lnTo>
                <a:lnTo>
                  <a:pt x="95272" y="7101"/>
                </a:lnTo>
                <a:lnTo>
                  <a:pt x="139314" y="0"/>
                </a:lnTo>
                <a:lnTo>
                  <a:pt x="183294" y="7101"/>
                </a:lnTo>
                <a:lnTo>
                  <a:pt x="221502" y="26878"/>
                </a:lnTo>
                <a:lnTo>
                  <a:pt x="251641" y="57036"/>
                </a:lnTo>
                <a:lnTo>
                  <a:pt x="271410" y="95283"/>
                </a:lnTo>
                <a:lnTo>
                  <a:pt x="278510" y="139327"/>
                </a:lnTo>
                <a:lnTo>
                  <a:pt x="271410" y="183296"/>
                </a:lnTo>
                <a:lnTo>
                  <a:pt x="251641" y="221492"/>
                </a:lnTo>
                <a:lnTo>
                  <a:pt x="221502" y="251618"/>
                </a:lnTo>
                <a:lnTo>
                  <a:pt x="183294" y="271377"/>
                </a:lnTo>
                <a:lnTo>
                  <a:pt x="139314" y="278474"/>
                </a:lnTo>
                <a:lnTo>
                  <a:pt x="95272" y="271377"/>
                </a:lnTo>
                <a:lnTo>
                  <a:pt x="57028" y="251618"/>
                </a:lnTo>
                <a:lnTo>
                  <a:pt x="26873" y="221492"/>
                </a:lnTo>
                <a:lnTo>
                  <a:pt x="7100" y="183296"/>
                </a:lnTo>
                <a:lnTo>
                  <a:pt x="0" y="139327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664409" y="2974096"/>
            <a:ext cx="56913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solidFill>
                  <a:srgbClr val="1B577B"/>
                </a:solidFill>
                <a:latin typeface="Times New Roman"/>
                <a:cs typeface="Times New Roman"/>
              </a:rPr>
              <a:t>Splitting </a:t>
            </a:r>
            <a:r>
              <a:rPr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i="1" spc="5" dirty="0">
                <a:solidFill>
                  <a:srgbClr val="1B577B"/>
                </a:solidFill>
                <a:latin typeface="Times New Roman"/>
                <a:cs typeface="Times New Roman"/>
              </a:rPr>
              <a:t>data </a:t>
            </a:r>
            <a:r>
              <a:rPr i="1" spc="-5" dirty="0">
                <a:solidFill>
                  <a:srgbClr val="1B577B"/>
                </a:solidFill>
                <a:latin typeface="Times New Roman"/>
                <a:cs typeface="Times New Roman"/>
              </a:rPr>
              <a:t>into train </a:t>
            </a:r>
            <a:r>
              <a:rPr i="1" dirty="0">
                <a:solidFill>
                  <a:srgbClr val="1B577B"/>
                </a:solidFill>
                <a:latin typeface="Times New Roman"/>
                <a:cs typeface="Times New Roman"/>
              </a:rPr>
              <a:t>&amp; test</a:t>
            </a:r>
            <a:r>
              <a:rPr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i="1" spc="-5" dirty="0" smtClean="0">
                <a:solidFill>
                  <a:srgbClr val="1B577B"/>
                </a:solidFill>
                <a:latin typeface="Times New Roman"/>
                <a:cs typeface="Times New Roman"/>
              </a:rPr>
              <a:t>sets: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11366" y="2023465"/>
            <a:ext cx="27283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cs typeface="Calibri"/>
              </a:rPr>
              <a:t>1</a:t>
            </a:r>
            <a:endParaRPr lang="en-US" sz="1350" dirty="0"/>
          </a:p>
        </p:txBody>
      </p:sp>
      <p:sp>
        <p:nvSpPr>
          <p:cNvPr id="4" name="Rectangle 3"/>
          <p:cNvSpPr/>
          <p:nvPr/>
        </p:nvSpPr>
        <p:spPr>
          <a:xfrm>
            <a:off x="1374183" y="3912391"/>
            <a:ext cx="31130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cs typeface="Calibri"/>
              </a:rPr>
              <a:t> </a:t>
            </a:r>
            <a:r>
              <a:rPr lang="en-US" sz="1350" dirty="0" smtClean="0">
                <a:cs typeface="Calibri"/>
              </a:rPr>
              <a:t>2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96087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53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76803" y="105878"/>
            <a:ext cx="7794626" cy="65405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-15" dirty="0" err="1" smtClean="0">
                <a:solidFill>
                  <a:schemeClr val="accent1"/>
                </a:solidFill>
              </a:rPr>
              <a:t>Regressor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40966" y="1664287"/>
            <a:ext cx="5327383" cy="201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32072" y="1821426"/>
            <a:ext cx="4972673" cy="15670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27372" y="1816594"/>
            <a:ext cx="4984808" cy="1584559"/>
          </a:xfrm>
          <a:custGeom>
            <a:avLst/>
            <a:gdLst/>
            <a:ahLst/>
            <a:cxnLst/>
            <a:rect l="l" t="t" r="r" b="b"/>
            <a:pathLst>
              <a:path w="4019550" h="919480">
                <a:moveTo>
                  <a:pt x="0" y="918865"/>
                </a:moveTo>
                <a:lnTo>
                  <a:pt x="4019306" y="918865"/>
                </a:lnTo>
                <a:lnTo>
                  <a:pt x="4019306" y="0"/>
                </a:lnTo>
                <a:lnTo>
                  <a:pt x="0" y="0"/>
                </a:lnTo>
                <a:lnTo>
                  <a:pt x="0" y="918865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18071" y="1195040"/>
            <a:ext cx="30863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Building </a:t>
            </a:r>
            <a:r>
              <a:rPr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i="1" spc="-30" dirty="0">
                <a:solidFill>
                  <a:srgbClr val="1B577B"/>
                </a:solidFill>
                <a:latin typeface="Times New Roman"/>
                <a:cs typeface="Times New Roman"/>
              </a:rPr>
              <a:t>regressor</a:t>
            </a:r>
            <a:r>
              <a:rPr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1B577B"/>
                </a:solidFill>
                <a:latin typeface="Times New Roman"/>
                <a:cs typeface="Times New Roman"/>
              </a:rPr>
              <a:t>model: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05299" y="3403028"/>
            <a:ext cx="377995" cy="10177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18715" y="3501716"/>
            <a:ext cx="94499" cy="606247"/>
          </a:xfrm>
          <a:custGeom>
            <a:avLst/>
            <a:gdLst/>
            <a:ahLst/>
            <a:cxnLst/>
            <a:rect l="l" t="t" r="r" b="b"/>
            <a:pathLst>
              <a:path w="76200" h="351789">
                <a:moveTo>
                  <a:pt x="47609" y="0"/>
                </a:moveTo>
                <a:lnTo>
                  <a:pt x="28559" y="0"/>
                </a:lnTo>
                <a:lnTo>
                  <a:pt x="28559" y="152400"/>
                </a:lnTo>
                <a:lnTo>
                  <a:pt x="47609" y="152400"/>
                </a:lnTo>
                <a:lnTo>
                  <a:pt x="47609" y="0"/>
                </a:lnTo>
                <a:close/>
              </a:path>
              <a:path w="76200" h="351789">
                <a:moveTo>
                  <a:pt x="47609" y="209550"/>
                </a:moveTo>
                <a:lnTo>
                  <a:pt x="28559" y="209550"/>
                </a:lnTo>
                <a:lnTo>
                  <a:pt x="28559" y="228600"/>
                </a:lnTo>
                <a:lnTo>
                  <a:pt x="47609" y="228600"/>
                </a:lnTo>
                <a:lnTo>
                  <a:pt x="47609" y="209550"/>
                </a:lnTo>
                <a:close/>
              </a:path>
              <a:path w="76200" h="351789">
                <a:moveTo>
                  <a:pt x="76200" y="275082"/>
                </a:moveTo>
                <a:lnTo>
                  <a:pt x="0" y="275082"/>
                </a:lnTo>
                <a:lnTo>
                  <a:pt x="38100" y="351282"/>
                </a:lnTo>
                <a:lnTo>
                  <a:pt x="69847" y="287786"/>
                </a:lnTo>
                <a:lnTo>
                  <a:pt x="28559" y="287786"/>
                </a:lnTo>
                <a:lnTo>
                  <a:pt x="28559" y="285750"/>
                </a:lnTo>
                <a:lnTo>
                  <a:pt x="70865" y="285750"/>
                </a:lnTo>
                <a:lnTo>
                  <a:pt x="76200" y="275082"/>
                </a:lnTo>
                <a:close/>
              </a:path>
              <a:path w="76200" h="351789">
                <a:moveTo>
                  <a:pt x="47609" y="285750"/>
                </a:moveTo>
                <a:lnTo>
                  <a:pt x="28559" y="285750"/>
                </a:lnTo>
                <a:lnTo>
                  <a:pt x="28559" y="287786"/>
                </a:lnTo>
                <a:lnTo>
                  <a:pt x="47609" y="287786"/>
                </a:lnTo>
                <a:lnTo>
                  <a:pt x="47609" y="285750"/>
                </a:lnTo>
                <a:close/>
              </a:path>
              <a:path w="76200" h="351789">
                <a:moveTo>
                  <a:pt x="70865" y="285750"/>
                </a:moveTo>
                <a:lnTo>
                  <a:pt x="47609" y="285750"/>
                </a:lnTo>
                <a:lnTo>
                  <a:pt x="47609" y="287786"/>
                </a:lnTo>
                <a:lnTo>
                  <a:pt x="69847" y="287786"/>
                </a:lnTo>
                <a:lnTo>
                  <a:pt x="70865" y="28575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41790" y="4000513"/>
            <a:ext cx="7229639" cy="21647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55366" y="4276822"/>
            <a:ext cx="6734282" cy="15092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50541" y="4272061"/>
            <a:ext cx="6746856" cy="1528509"/>
          </a:xfrm>
          <a:custGeom>
            <a:avLst/>
            <a:gdLst/>
            <a:ahLst/>
            <a:cxnLst/>
            <a:rect l="l" t="t" r="r" b="b"/>
            <a:pathLst>
              <a:path w="5182234" h="773429">
                <a:moveTo>
                  <a:pt x="0" y="773192"/>
                </a:moveTo>
                <a:lnTo>
                  <a:pt x="5182118" y="773192"/>
                </a:lnTo>
                <a:lnTo>
                  <a:pt x="5182118" y="0"/>
                </a:lnTo>
                <a:lnTo>
                  <a:pt x="0" y="0"/>
                </a:lnTo>
                <a:lnTo>
                  <a:pt x="0" y="77319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89925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54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76803" y="105878"/>
            <a:ext cx="7794626" cy="65405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-15" dirty="0" err="1" smtClean="0">
                <a:solidFill>
                  <a:schemeClr val="accent1"/>
                </a:solidFill>
              </a:rPr>
              <a:t>Regressor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5752" y="2408097"/>
            <a:ext cx="514350" cy="514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5280" y="2596868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5" y="7100"/>
                </a:lnTo>
                <a:lnTo>
                  <a:pt x="56990" y="26869"/>
                </a:lnTo>
                <a:lnTo>
                  <a:pt x="26857" y="57008"/>
                </a:lnTo>
                <a:lnTo>
                  <a:pt x="7096" y="95218"/>
                </a:lnTo>
                <a:lnTo>
                  <a:pt x="0" y="139202"/>
                </a:lnTo>
                <a:lnTo>
                  <a:pt x="7096" y="183231"/>
                </a:lnTo>
                <a:lnTo>
                  <a:pt x="26857" y="221446"/>
                </a:lnTo>
                <a:lnTo>
                  <a:pt x="56990" y="251566"/>
                </a:lnTo>
                <a:lnTo>
                  <a:pt x="95205" y="271310"/>
                </a:lnTo>
                <a:lnTo>
                  <a:pt x="139208" y="278398"/>
                </a:lnTo>
                <a:lnTo>
                  <a:pt x="183213" y="271310"/>
                </a:lnTo>
                <a:lnTo>
                  <a:pt x="221431" y="251566"/>
                </a:lnTo>
                <a:lnTo>
                  <a:pt x="251567" y="221446"/>
                </a:lnTo>
                <a:lnTo>
                  <a:pt x="271331" y="183231"/>
                </a:lnTo>
                <a:lnTo>
                  <a:pt x="278428" y="139202"/>
                </a:lnTo>
                <a:lnTo>
                  <a:pt x="271331" y="95218"/>
                </a:lnTo>
                <a:lnTo>
                  <a:pt x="251567" y="57008"/>
                </a:lnTo>
                <a:lnTo>
                  <a:pt x="221431" y="26869"/>
                </a:lnTo>
                <a:lnTo>
                  <a:pt x="183213" y="7100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7570" y="2527593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02"/>
                </a:moveTo>
                <a:lnTo>
                  <a:pt x="7096" y="95218"/>
                </a:lnTo>
                <a:lnTo>
                  <a:pt x="26857" y="57008"/>
                </a:lnTo>
                <a:lnTo>
                  <a:pt x="56990" y="26869"/>
                </a:lnTo>
                <a:lnTo>
                  <a:pt x="95205" y="7100"/>
                </a:lnTo>
                <a:lnTo>
                  <a:pt x="139208" y="0"/>
                </a:lnTo>
                <a:lnTo>
                  <a:pt x="183213" y="7100"/>
                </a:lnTo>
                <a:lnTo>
                  <a:pt x="221431" y="26869"/>
                </a:lnTo>
                <a:lnTo>
                  <a:pt x="251567" y="57008"/>
                </a:lnTo>
                <a:lnTo>
                  <a:pt x="271331" y="95218"/>
                </a:lnTo>
                <a:lnTo>
                  <a:pt x="278428" y="139202"/>
                </a:lnTo>
                <a:lnTo>
                  <a:pt x="271331" y="183231"/>
                </a:lnTo>
                <a:lnTo>
                  <a:pt x="251567" y="221446"/>
                </a:lnTo>
                <a:lnTo>
                  <a:pt x="221431" y="251566"/>
                </a:lnTo>
                <a:lnTo>
                  <a:pt x="183213" y="271310"/>
                </a:lnTo>
                <a:lnTo>
                  <a:pt x="139208" y="278398"/>
                </a:lnTo>
                <a:lnTo>
                  <a:pt x="95205" y="271310"/>
                </a:lnTo>
                <a:lnTo>
                  <a:pt x="56990" y="251566"/>
                </a:lnTo>
                <a:lnTo>
                  <a:pt x="26857" y="221446"/>
                </a:lnTo>
                <a:lnTo>
                  <a:pt x="7096" y="183231"/>
                </a:lnTo>
                <a:lnTo>
                  <a:pt x="0" y="139202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4511" y="1703141"/>
            <a:ext cx="409739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1334">
              <a:lnSpc>
                <a:spcPct val="100000"/>
              </a:lnSpc>
              <a:spcBef>
                <a:spcPts val="100"/>
              </a:spcBef>
            </a:pPr>
            <a:r>
              <a:rPr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Predicting </a:t>
            </a:r>
            <a:r>
              <a:rPr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</a:t>
            </a:r>
            <a:r>
              <a:rPr i="1" spc="1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values:</a:t>
            </a:r>
            <a:r>
              <a:rPr lang="en-US"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endParaRPr dirty="0" smtClean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9520" y="2264077"/>
            <a:ext cx="3524250" cy="819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31157" y="2286142"/>
            <a:ext cx="4300306" cy="7779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54228" y="2357549"/>
            <a:ext cx="4995390" cy="629082"/>
          </a:xfrm>
          <a:custGeom>
            <a:avLst/>
            <a:gdLst/>
            <a:ahLst/>
            <a:cxnLst/>
            <a:rect l="l" t="t" r="r" b="b"/>
            <a:pathLst>
              <a:path w="3179445" h="494664">
                <a:moveTo>
                  <a:pt x="0" y="494501"/>
                </a:moveTo>
                <a:lnTo>
                  <a:pt x="3179185" y="494501"/>
                </a:lnTo>
                <a:lnTo>
                  <a:pt x="3179185" y="0"/>
                </a:lnTo>
                <a:lnTo>
                  <a:pt x="0" y="0"/>
                </a:lnTo>
                <a:lnTo>
                  <a:pt x="0" y="494501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8692" y="3281906"/>
            <a:ext cx="592092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Finding </a:t>
            </a:r>
            <a:r>
              <a:rPr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RMSE</a:t>
            </a:r>
            <a:r>
              <a:rPr i="1" spc="10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i="1" spc="5" dirty="0">
                <a:solidFill>
                  <a:srgbClr val="1B577B"/>
                </a:solidFill>
                <a:latin typeface="Times New Roman"/>
                <a:cs typeface="Times New Roman"/>
              </a:rPr>
              <a:t>value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5752" y="4035355"/>
            <a:ext cx="514350" cy="5143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1425" y="4150797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5" y="7099"/>
                </a:lnTo>
                <a:lnTo>
                  <a:pt x="56990" y="26866"/>
                </a:lnTo>
                <a:lnTo>
                  <a:pt x="26857" y="57002"/>
                </a:lnTo>
                <a:lnTo>
                  <a:pt x="7096" y="95211"/>
                </a:lnTo>
                <a:lnTo>
                  <a:pt x="0" y="139196"/>
                </a:lnTo>
                <a:lnTo>
                  <a:pt x="7096" y="183238"/>
                </a:lnTo>
                <a:lnTo>
                  <a:pt x="26857" y="221482"/>
                </a:lnTo>
                <a:lnTo>
                  <a:pt x="56990" y="251637"/>
                </a:lnTo>
                <a:lnTo>
                  <a:pt x="95205" y="271410"/>
                </a:lnTo>
                <a:lnTo>
                  <a:pt x="139208" y="278511"/>
                </a:lnTo>
                <a:lnTo>
                  <a:pt x="183212" y="271410"/>
                </a:lnTo>
                <a:lnTo>
                  <a:pt x="221426" y="251637"/>
                </a:lnTo>
                <a:lnTo>
                  <a:pt x="251560" y="221482"/>
                </a:lnTo>
                <a:lnTo>
                  <a:pt x="271320" y="183238"/>
                </a:lnTo>
                <a:lnTo>
                  <a:pt x="278416" y="139196"/>
                </a:lnTo>
                <a:lnTo>
                  <a:pt x="271320" y="95211"/>
                </a:lnTo>
                <a:lnTo>
                  <a:pt x="251560" y="57002"/>
                </a:lnTo>
                <a:lnTo>
                  <a:pt x="221426" y="26866"/>
                </a:lnTo>
                <a:lnTo>
                  <a:pt x="183212" y="7099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1425" y="4150797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196"/>
                </a:moveTo>
                <a:lnTo>
                  <a:pt x="7096" y="95211"/>
                </a:lnTo>
                <a:lnTo>
                  <a:pt x="26857" y="57002"/>
                </a:lnTo>
                <a:lnTo>
                  <a:pt x="56990" y="26866"/>
                </a:lnTo>
                <a:lnTo>
                  <a:pt x="95205" y="7099"/>
                </a:lnTo>
                <a:lnTo>
                  <a:pt x="139208" y="0"/>
                </a:lnTo>
                <a:lnTo>
                  <a:pt x="183212" y="7099"/>
                </a:lnTo>
                <a:lnTo>
                  <a:pt x="221426" y="26866"/>
                </a:lnTo>
                <a:lnTo>
                  <a:pt x="251560" y="57002"/>
                </a:lnTo>
                <a:lnTo>
                  <a:pt x="271320" y="95211"/>
                </a:lnTo>
                <a:lnTo>
                  <a:pt x="278416" y="139196"/>
                </a:lnTo>
                <a:lnTo>
                  <a:pt x="271320" y="183238"/>
                </a:lnTo>
                <a:lnTo>
                  <a:pt x="251560" y="221482"/>
                </a:lnTo>
                <a:lnTo>
                  <a:pt x="221426" y="251637"/>
                </a:lnTo>
                <a:lnTo>
                  <a:pt x="183212" y="271410"/>
                </a:lnTo>
                <a:lnTo>
                  <a:pt x="139208" y="278510"/>
                </a:lnTo>
                <a:lnTo>
                  <a:pt x="95205" y="271410"/>
                </a:lnTo>
                <a:lnTo>
                  <a:pt x="56990" y="251637"/>
                </a:lnTo>
                <a:lnTo>
                  <a:pt x="26857" y="221482"/>
                </a:lnTo>
                <a:lnTo>
                  <a:pt x="7096" y="183238"/>
                </a:lnTo>
                <a:lnTo>
                  <a:pt x="0" y="139196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4833" y="4170925"/>
            <a:ext cx="1130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31157" y="3522089"/>
            <a:ext cx="3990418" cy="12391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67554" y="3670185"/>
            <a:ext cx="4187172" cy="11631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4228" y="3673777"/>
            <a:ext cx="4318914" cy="1094921"/>
          </a:xfrm>
          <a:custGeom>
            <a:avLst/>
            <a:gdLst/>
            <a:ahLst/>
            <a:cxnLst/>
            <a:rect l="l" t="t" r="r" b="b"/>
            <a:pathLst>
              <a:path w="3757295" h="828675">
                <a:moveTo>
                  <a:pt x="0" y="828318"/>
                </a:moveTo>
                <a:lnTo>
                  <a:pt x="3757056" y="828318"/>
                </a:lnTo>
                <a:lnTo>
                  <a:pt x="3757056" y="0"/>
                </a:lnTo>
                <a:lnTo>
                  <a:pt x="0" y="0"/>
                </a:lnTo>
                <a:lnTo>
                  <a:pt x="0" y="828318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16461" y="3979722"/>
            <a:ext cx="428625" cy="1619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69775" y="4035355"/>
            <a:ext cx="332105" cy="76200"/>
          </a:xfrm>
          <a:custGeom>
            <a:avLst/>
            <a:gdLst/>
            <a:ahLst/>
            <a:cxnLst/>
            <a:rect l="l" t="t" r="r" b="b"/>
            <a:pathLst>
              <a:path w="332104" h="76200">
                <a:moveTo>
                  <a:pt x="152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52400" y="47625"/>
                </a:lnTo>
                <a:lnTo>
                  <a:pt x="152400" y="28575"/>
                </a:lnTo>
                <a:close/>
              </a:path>
              <a:path w="332104" h="76200">
                <a:moveTo>
                  <a:pt x="228600" y="28575"/>
                </a:moveTo>
                <a:lnTo>
                  <a:pt x="209550" y="28575"/>
                </a:lnTo>
                <a:lnTo>
                  <a:pt x="209550" y="47625"/>
                </a:lnTo>
                <a:lnTo>
                  <a:pt x="228600" y="47625"/>
                </a:lnTo>
                <a:lnTo>
                  <a:pt x="228600" y="28575"/>
                </a:lnTo>
                <a:close/>
              </a:path>
              <a:path w="332104" h="76200">
                <a:moveTo>
                  <a:pt x="255513" y="0"/>
                </a:moveTo>
                <a:lnTo>
                  <a:pt x="255513" y="76200"/>
                </a:lnTo>
                <a:lnTo>
                  <a:pt x="331713" y="38100"/>
                </a:lnTo>
                <a:lnTo>
                  <a:pt x="255513" y="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66714" y="3670186"/>
            <a:ext cx="3165760" cy="8795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70279" y="3882103"/>
            <a:ext cx="2851786" cy="43152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46564" y="3944550"/>
            <a:ext cx="2875501" cy="226375"/>
          </a:xfrm>
          <a:custGeom>
            <a:avLst/>
            <a:gdLst/>
            <a:ahLst/>
            <a:cxnLst/>
            <a:rect l="l" t="t" r="r" b="b"/>
            <a:pathLst>
              <a:path w="2515234" h="257810">
                <a:moveTo>
                  <a:pt x="0" y="257210"/>
                </a:moveTo>
                <a:lnTo>
                  <a:pt x="2514980" y="257210"/>
                </a:lnTo>
                <a:lnTo>
                  <a:pt x="2514980" y="0"/>
                </a:lnTo>
                <a:lnTo>
                  <a:pt x="0" y="0"/>
                </a:lnTo>
                <a:lnTo>
                  <a:pt x="0" y="25721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29535" y="2549881"/>
            <a:ext cx="2856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1350" dirty="0" smtClean="0">
                <a:cs typeface="Calibri"/>
              </a:rPr>
              <a:t>1</a:t>
            </a:r>
            <a:endParaRPr lang="en-US" sz="135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20305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55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76803" y="105878"/>
            <a:ext cx="7794626" cy="65405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-15" dirty="0" err="1" smtClean="0">
                <a:solidFill>
                  <a:schemeClr val="accent1"/>
                </a:solidFill>
              </a:rPr>
              <a:t>Regressor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76803" y="99235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57530">
              <a:lnSpc>
                <a:spcPct val="100000"/>
              </a:lnSpc>
              <a:spcBef>
                <a:spcPts val="100"/>
              </a:spcBef>
            </a:pPr>
            <a:r>
              <a:rPr lang="en-US"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Building </a:t>
            </a:r>
            <a:r>
              <a:rPr lang="en-US" i="1" spc="20" dirty="0">
                <a:solidFill>
                  <a:srgbClr val="1B577B"/>
                </a:solidFill>
                <a:latin typeface="Times New Roman"/>
                <a:cs typeface="Times New Roman"/>
              </a:rPr>
              <a:t>2</a:t>
            </a:r>
            <a:r>
              <a:rPr lang="en-US" i="1" spc="30" baseline="24305" dirty="0">
                <a:solidFill>
                  <a:srgbClr val="1B577B"/>
                </a:solidFill>
                <a:latin typeface="Times New Roman"/>
                <a:cs typeface="Times New Roman"/>
              </a:rPr>
              <a:t>nd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model </a:t>
            </a:r>
            <a:r>
              <a:rPr lang="en-US" i="1" spc="-20" dirty="0">
                <a:solidFill>
                  <a:srgbClr val="1B577B"/>
                </a:solidFill>
                <a:latin typeface="Times New Roman"/>
                <a:cs typeface="Times New Roman"/>
              </a:rPr>
              <a:t>where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features </a:t>
            </a:r>
            <a:r>
              <a:rPr lang="en-US" i="1" spc="-35" dirty="0">
                <a:solidFill>
                  <a:srgbClr val="1B577B"/>
                </a:solidFill>
                <a:latin typeface="Times New Roman"/>
                <a:cs typeface="Times New Roman"/>
              </a:rPr>
              <a:t>are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‘</a:t>
            </a:r>
            <a:r>
              <a:rPr lang="en-US" i="1" spc="-5" dirty="0" err="1">
                <a:solidFill>
                  <a:srgbClr val="1B577B"/>
                </a:solidFill>
                <a:latin typeface="Times New Roman"/>
                <a:cs typeface="Times New Roman"/>
              </a:rPr>
              <a:t>lstat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’, </a:t>
            </a:r>
            <a:r>
              <a:rPr lang="en-US" i="1" spc="20" dirty="0">
                <a:solidFill>
                  <a:srgbClr val="1B577B"/>
                </a:solidFill>
                <a:latin typeface="Times New Roman"/>
                <a:cs typeface="Times New Roman"/>
              </a:rPr>
              <a:t>‘</a:t>
            </a:r>
            <a:r>
              <a:rPr lang="en-US" i="1" spc="20" dirty="0" err="1">
                <a:solidFill>
                  <a:srgbClr val="1B577B"/>
                </a:solidFill>
                <a:latin typeface="Times New Roman"/>
                <a:cs typeface="Times New Roman"/>
              </a:rPr>
              <a:t>rm</a:t>
            </a:r>
            <a:r>
              <a:rPr lang="en-US" i="1" spc="20" dirty="0">
                <a:solidFill>
                  <a:srgbClr val="1B577B"/>
                </a:solidFill>
                <a:latin typeface="Times New Roman"/>
                <a:cs typeface="Times New Roman"/>
              </a:rPr>
              <a:t>’&amp;</a:t>
            </a:r>
            <a:r>
              <a:rPr lang="en-US" i="1" spc="-114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‘age</a:t>
            </a:r>
            <a:r>
              <a:rPr lang="en-US" i="1" spc="-15" dirty="0" smtClean="0">
                <a:solidFill>
                  <a:srgbClr val="1B577B"/>
                </a:solidFill>
                <a:latin typeface="Times New Roman"/>
                <a:cs typeface="Times New Roman"/>
              </a:rPr>
              <a:t>’: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7" name="object 14"/>
          <p:cNvSpPr/>
          <p:nvPr/>
        </p:nvSpPr>
        <p:spPr>
          <a:xfrm>
            <a:off x="1184488" y="1754413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097"/>
                </a:lnTo>
                <a:lnTo>
                  <a:pt x="56994" y="26858"/>
                </a:lnTo>
                <a:lnTo>
                  <a:pt x="26859" y="56988"/>
                </a:lnTo>
                <a:lnTo>
                  <a:pt x="7097" y="95191"/>
                </a:lnTo>
                <a:lnTo>
                  <a:pt x="0" y="139171"/>
                </a:lnTo>
                <a:lnTo>
                  <a:pt x="7097" y="183155"/>
                </a:lnTo>
                <a:lnTo>
                  <a:pt x="26859" y="221365"/>
                </a:lnTo>
                <a:lnTo>
                  <a:pt x="56994" y="251504"/>
                </a:lnTo>
                <a:lnTo>
                  <a:pt x="95208" y="271273"/>
                </a:lnTo>
                <a:lnTo>
                  <a:pt x="139208" y="278373"/>
                </a:lnTo>
                <a:lnTo>
                  <a:pt x="183207" y="271273"/>
                </a:lnTo>
                <a:lnTo>
                  <a:pt x="221421" y="251504"/>
                </a:lnTo>
                <a:lnTo>
                  <a:pt x="251556" y="221365"/>
                </a:lnTo>
                <a:lnTo>
                  <a:pt x="271319" y="183155"/>
                </a:lnTo>
                <a:lnTo>
                  <a:pt x="278416" y="139171"/>
                </a:lnTo>
                <a:lnTo>
                  <a:pt x="271319" y="95191"/>
                </a:lnTo>
                <a:lnTo>
                  <a:pt x="251556" y="56988"/>
                </a:lnTo>
                <a:lnTo>
                  <a:pt x="221421" y="26858"/>
                </a:lnTo>
                <a:lnTo>
                  <a:pt x="183207" y="7097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/>
          <p:cNvSpPr/>
          <p:nvPr/>
        </p:nvSpPr>
        <p:spPr>
          <a:xfrm>
            <a:off x="1184488" y="1754413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171"/>
                </a:moveTo>
                <a:lnTo>
                  <a:pt x="7097" y="95191"/>
                </a:lnTo>
                <a:lnTo>
                  <a:pt x="26859" y="56988"/>
                </a:lnTo>
                <a:lnTo>
                  <a:pt x="56994" y="26858"/>
                </a:lnTo>
                <a:lnTo>
                  <a:pt x="95208" y="7097"/>
                </a:lnTo>
                <a:lnTo>
                  <a:pt x="139208" y="0"/>
                </a:lnTo>
                <a:lnTo>
                  <a:pt x="183207" y="7097"/>
                </a:lnTo>
                <a:lnTo>
                  <a:pt x="221421" y="26858"/>
                </a:lnTo>
                <a:lnTo>
                  <a:pt x="251556" y="56988"/>
                </a:lnTo>
                <a:lnTo>
                  <a:pt x="271319" y="95191"/>
                </a:lnTo>
                <a:lnTo>
                  <a:pt x="278416" y="139171"/>
                </a:lnTo>
                <a:lnTo>
                  <a:pt x="271319" y="183155"/>
                </a:lnTo>
                <a:lnTo>
                  <a:pt x="251556" y="221365"/>
                </a:lnTo>
                <a:lnTo>
                  <a:pt x="221421" y="251504"/>
                </a:lnTo>
                <a:lnTo>
                  <a:pt x="183207" y="271273"/>
                </a:lnTo>
                <a:lnTo>
                  <a:pt x="139208" y="278373"/>
                </a:lnTo>
                <a:lnTo>
                  <a:pt x="95208" y="271273"/>
                </a:lnTo>
                <a:lnTo>
                  <a:pt x="56994" y="251504"/>
                </a:lnTo>
                <a:lnTo>
                  <a:pt x="26859" y="221365"/>
                </a:lnTo>
                <a:lnTo>
                  <a:pt x="7097" y="183155"/>
                </a:lnTo>
                <a:lnTo>
                  <a:pt x="0" y="139171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4488" y="1733096"/>
            <a:ext cx="29848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lang="en-US" sz="1350" dirty="0">
                <a:cs typeface="Calibri"/>
              </a:rPr>
              <a:t>1</a:t>
            </a:r>
          </a:p>
        </p:txBody>
      </p:sp>
      <p:sp>
        <p:nvSpPr>
          <p:cNvPr id="9" name="object 6"/>
          <p:cNvSpPr/>
          <p:nvPr/>
        </p:nvSpPr>
        <p:spPr>
          <a:xfrm>
            <a:off x="1938338" y="1538368"/>
            <a:ext cx="5616847" cy="9064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1933574" y="1533531"/>
            <a:ext cx="5631007" cy="918704"/>
          </a:xfrm>
          <a:custGeom>
            <a:avLst/>
            <a:gdLst/>
            <a:ahLst/>
            <a:cxnLst/>
            <a:rect l="l" t="t" r="r" b="b"/>
            <a:pathLst>
              <a:path w="3985895" h="718185">
                <a:moveTo>
                  <a:pt x="0" y="718102"/>
                </a:moveTo>
                <a:lnTo>
                  <a:pt x="3985381" y="718102"/>
                </a:lnTo>
                <a:lnTo>
                  <a:pt x="3985381" y="0"/>
                </a:lnTo>
                <a:lnTo>
                  <a:pt x="0" y="0"/>
                </a:lnTo>
                <a:lnTo>
                  <a:pt x="0" y="71810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82968" y="266737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53720">
              <a:lnSpc>
                <a:spcPct val="100000"/>
              </a:lnSpc>
              <a:spcBef>
                <a:spcPts val="100"/>
              </a:spcBef>
            </a:pP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Splitting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5" dirty="0">
                <a:solidFill>
                  <a:srgbClr val="1B577B"/>
                </a:solidFill>
                <a:latin typeface="Times New Roman"/>
                <a:cs typeface="Times New Roman"/>
              </a:rPr>
              <a:t>data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into train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&amp; test</a:t>
            </a:r>
            <a:r>
              <a:rPr lang="en-US" i="1" spc="-3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set:</a:t>
            </a:r>
            <a:endParaRPr lang="en-US" sz="2000" dirty="0">
              <a:cs typeface="Calibri"/>
            </a:endParaRPr>
          </a:p>
        </p:txBody>
      </p:sp>
      <p:sp>
        <p:nvSpPr>
          <p:cNvPr id="12" name="object 3"/>
          <p:cNvSpPr/>
          <p:nvPr/>
        </p:nvSpPr>
        <p:spPr>
          <a:xfrm>
            <a:off x="1750325" y="3194438"/>
            <a:ext cx="5980511" cy="9896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/>
          <p:nvPr/>
        </p:nvSpPr>
        <p:spPr>
          <a:xfrm>
            <a:off x="1750324" y="3259304"/>
            <a:ext cx="5980511" cy="924758"/>
          </a:xfrm>
          <a:custGeom>
            <a:avLst/>
            <a:gdLst/>
            <a:ahLst/>
            <a:cxnLst/>
            <a:rect l="l" t="t" r="r" b="b"/>
            <a:pathLst>
              <a:path w="5158740" h="702945">
                <a:moveTo>
                  <a:pt x="0" y="702350"/>
                </a:moveTo>
                <a:lnTo>
                  <a:pt x="5158496" y="702350"/>
                </a:lnTo>
                <a:lnTo>
                  <a:pt x="5158496" y="0"/>
                </a:lnTo>
                <a:lnTo>
                  <a:pt x="0" y="0"/>
                </a:lnTo>
                <a:lnTo>
                  <a:pt x="0" y="70235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91177" y="4406661"/>
            <a:ext cx="4056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Building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model on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top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of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train</a:t>
            </a:r>
            <a:r>
              <a:rPr lang="en-US" i="1" spc="4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set: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5" name="object 25"/>
          <p:cNvSpPr/>
          <p:nvPr/>
        </p:nvSpPr>
        <p:spPr>
          <a:xfrm>
            <a:off x="885818" y="5036983"/>
            <a:ext cx="600075" cy="6000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/>
          <p:cNvSpPr/>
          <p:nvPr/>
        </p:nvSpPr>
        <p:spPr>
          <a:xfrm>
            <a:off x="1059788" y="5212619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097"/>
                </a:lnTo>
                <a:lnTo>
                  <a:pt x="56994" y="26860"/>
                </a:lnTo>
                <a:lnTo>
                  <a:pt x="26859" y="56997"/>
                </a:lnTo>
                <a:lnTo>
                  <a:pt x="7097" y="95215"/>
                </a:lnTo>
                <a:lnTo>
                  <a:pt x="0" y="139220"/>
                </a:lnTo>
                <a:lnTo>
                  <a:pt x="7097" y="183219"/>
                </a:lnTo>
                <a:lnTo>
                  <a:pt x="26859" y="221433"/>
                </a:lnTo>
                <a:lnTo>
                  <a:pt x="56994" y="251568"/>
                </a:lnTo>
                <a:lnTo>
                  <a:pt x="95208" y="271331"/>
                </a:lnTo>
                <a:lnTo>
                  <a:pt x="139208" y="278428"/>
                </a:lnTo>
                <a:lnTo>
                  <a:pt x="183207" y="271331"/>
                </a:lnTo>
                <a:lnTo>
                  <a:pt x="221421" y="251568"/>
                </a:lnTo>
                <a:lnTo>
                  <a:pt x="251556" y="221433"/>
                </a:lnTo>
                <a:lnTo>
                  <a:pt x="271319" y="183219"/>
                </a:lnTo>
                <a:lnTo>
                  <a:pt x="278416" y="139220"/>
                </a:lnTo>
                <a:lnTo>
                  <a:pt x="271319" y="95215"/>
                </a:lnTo>
                <a:lnTo>
                  <a:pt x="251556" y="56997"/>
                </a:lnTo>
                <a:lnTo>
                  <a:pt x="221421" y="26860"/>
                </a:lnTo>
                <a:lnTo>
                  <a:pt x="183207" y="7097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7"/>
          <p:cNvSpPr/>
          <p:nvPr/>
        </p:nvSpPr>
        <p:spPr>
          <a:xfrm>
            <a:off x="1059788" y="5212619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20"/>
                </a:moveTo>
                <a:lnTo>
                  <a:pt x="7097" y="95215"/>
                </a:lnTo>
                <a:lnTo>
                  <a:pt x="26859" y="56997"/>
                </a:lnTo>
                <a:lnTo>
                  <a:pt x="56994" y="26860"/>
                </a:lnTo>
                <a:lnTo>
                  <a:pt x="95208" y="7097"/>
                </a:lnTo>
                <a:lnTo>
                  <a:pt x="139208" y="0"/>
                </a:lnTo>
                <a:lnTo>
                  <a:pt x="183207" y="7097"/>
                </a:lnTo>
                <a:lnTo>
                  <a:pt x="221421" y="26860"/>
                </a:lnTo>
                <a:lnTo>
                  <a:pt x="251556" y="56997"/>
                </a:lnTo>
                <a:lnTo>
                  <a:pt x="271319" y="95215"/>
                </a:lnTo>
                <a:lnTo>
                  <a:pt x="278416" y="139220"/>
                </a:lnTo>
                <a:lnTo>
                  <a:pt x="271319" y="183219"/>
                </a:lnTo>
                <a:lnTo>
                  <a:pt x="251556" y="221433"/>
                </a:lnTo>
                <a:lnTo>
                  <a:pt x="221421" y="251568"/>
                </a:lnTo>
                <a:lnTo>
                  <a:pt x="183207" y="271331"/>
                </a:lnTo>
                <a:lnTo>
                  <a:pt x="139208" y="278428"/>
                </a:lnTo>
                <a:lnTo>
                  <a:pt x="95208" y="271331"/>
                </a:lnTo>
                <a:lnTo>
                  <a:pt x="56994" y="251568"/>
                </a:lnTo>
                <a:lnTo>
                  <a:pt x="26859" y="221433"/>
                </a:lnTo>
                <a:lnTo>
                  <a:pt x="7097" y="183219"/>
                </a:lnTo>
                <a:lnTo>
                  <a:pt x="0" y="139220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8"/>
          <p:cNvSpPr txBox="1"/>
          <p:nvPr/>
        </p:nvSpPr>
        <p:spPr>
          <a:xfrm>
            <a:off x="1143219" y="5234673"/>
            <a:ext cx="1123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7"/>
          <p:cNvSpPr/>
          <p:nvPr/>
        </p:nvSpPr>
        <p:spPr>
          <a:xfrm>
            <a:off x="885836" y="3452369"/>
            <a:ext cx="600075" cy="6000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/>
          <p:cNvSpPr/>
          <p:nvPr/>
        </p:nvSpPr>
        <p:spPr>
          <a:xfrm>
            <a:off x="1087516" y="3609590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100"/>
                </a:lnTo>
                <a:lnTo>
                  <a:pt x="56994" y="26869"/>
                </a:lnTo>
                <a:lnTo>
                  <a:pt x="26859" y="57008"/>
                </a:lnTo>
                <a:lnTo>
                  <a:pt x="7097" y="95216"/>
                </a:lnTo>
                <a:lnTo>
                  <a:pt x="0" y="139196"/>
                </a:lnTo>
                <a:lnTo>
                  <a:pt x="7097" y="183238"/>
                </a:lnTo>
                <a:lnTo>
                  <a:pt x="26859" y="221482"/>
                </a:lnTo>
                <a:lnTo>
                  <a:pt x="56994" y="251637"/>
                </a:lnTo>
                <a:lnTo>
                  <a:pt x="95208" y="271410"/>
                </a:lnTo>
                <a:lnTo>
                  <a:pt x="139208" y="278511"/>
                </a:lnTo>
                <a:lnTo>
                  <a:pt x="183207" y="271410"/>
                </a:lnTo>
                <a:lnTo>
                  <a:pt x="221421" y="251637"/>
                </a:lnTo>
                <a:lnTo>
                  <a:pt x="251556" y="221482"/>
                </a:lnTo>
                <a:lnTo>
                  <a:pt x="271319" y="183238"/>
                </a:lnTo>
                <a:lnTo>
                  <a:pt x="278416" y="139196"/>
                </a:lnTo>
                <a:lnTo>
                  <a:pt x="271319" y="95216"/>
                </a:lnTo>
                <a:lnTo>
                  <a:pt x="251556" y="57008"/>
                </a:lnTo>
                <a:lnTo>
                  <a:pt x="221421" y="26869"/>
                </a:lnTo>
                <a:lnTo>
                  <a:pt x="183207" y="7100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/>
          <p:cNvSpPr/>
          <p:nvPr/>
        </p:nvSpPr>
        <p:spPr>
          <a:xfrm>
            <a:off x="1087516" y="3609590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196"/>
                </a:moveTo>
                <a:lnTo>
                  <a:pt x="7097" y="95216"/>
                </a:lnTo>
                <a:lnTo>
                  <a:pt x="26859" y="57008"/>
                </a:lnTo>
                <a:lnTo>
                  <a:pt x="56994" y="26869"/>
                </a:lnTo>
                <a:lnTo>
                  <a:pt x="95208" y="7100"/>
                </a:lnTo>
                <a:lnTo>
                  <a:pt x="139208" y="0"/>
                </a:lnTo>
                <a:lnTo>
                  <a:pt x="183207" y="7100"/>
                </a:lnTo>
                <a:lnTo>
                  <a:pt x="221421" y="26869"/>
                </a:lnTo>
                <a:lnTo>
                  <a:pt x="251556" y="57008"/>
                </a:lnTo>
                <a:lnTo>
                  <a:pt x="271319" y="95216"/>
                </a:lnTo>
                <a:lnTo>
                  <a:pt x="278416" y="139196"/>
                </a:lnTo>
                <a:lnTo>
                  <a:pt x="271319" y="183238"/>
                </a:lnTo>
                <a:lnTo>
                  <a:pt x="251556" y="221482"/>
                </a:lnTo>
                <a:lnTo>
                  <a:pt x="221421" y="251637"/>
                </a:lnTo>
                <a:lnTo>
                  <a:pt x="183207" y="271410"/>
                </a:lnTo>
                <a:lnTo>
                  <a:pt x="139208" y="278510"/>
                </a:lnTo>
                <a:lnTo>
                  <a:pt x="95208" y="271410"/>
                </a:lnTo>
                <a:lnTo>
                  <a:pt x="56994" y="251637"/>
                </a:lnTo>
                <a:lnTo>
                  <a:pt x="26859" y="221482"/>
                </a:lnTo>
                <a:lnTo>
                  <a:pt x="7097" y="183238"/>
                </a:lnTo>
                <a:lnTo>
                  <a:pt x="0" y="139196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51771" y="3576225"/>
            <a:ext cx="2856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350" dirty="0">
                <a:cs typeface="Calibri"/>
              </a:rPr>
              <a:t>2</a:t>
            </a:r>
          </a:p>
        </p:txBody>
      </p:sp>
      <p:sp>
        <p:nvSpPr>
          <p:cNvPr id="24" name="object 22"/>
          <p:cNvSpPr/>
          <p:nvPr/>
        </p:nvSpPr>
        <p:spPr>
          <a:xfrm>
            <a:off x="1750323" y="4792173"/>
            <a:ext cx="5828645" cy="10229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3"/>
          <p:cNvSpPr/>
          <p:nvPr/>
        </p:nvSpPr>
        <p:spPr>
          <a:xfrm>
            <a:off x="1745560" y="4842835"/>
            <a:ext cx="6151531" cy="960899"/>
          </a:xfrm>
          <a:custGeom>
            <a:avLst/>
            <a:gdLst/>
            <a:ahLst/>
            <a:cxnLst/>
            <a:rect l="l" t="t" r="r" b="b"/>
            <a:pathLst>
              <a:path w="3127375" h="868045">
                <a:moveTo>
                  <a:pt x="0" y="867668"/>
                </a:moveTo>
                <a:lnTo>
                  <a:pt x="3127247" y="867668"/>
                </a:lnTo>
                <a:lnTo>
                  <a:pt x="3127247" y="0"/>
                </a:lnTo>
                <a:lnTo>
                  <a:pt x="0" y="0"/>
                </a:lnTo>
                <a:lnTo>
                  <a:pt x="0" y="867668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95682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56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76803" y="105878"/>
            <a:ext cx="7794626" cy="65405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-15" dirty="0" err="1" smtClean="0">
                <a:solidFill>
                  <a:schemeClr val="accent1"/>
                </a:solidFill>
              </a:rPr>
              <a:t>Regressor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62545" y="98306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58800">
              <a:lnSpc>
                <a:spcPct val="100000"/>
              </a:lnSpc>
              <a:spcBef>
                <a:spcPts val="100"/>
              </a:spcBef>
            </a:pP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Predicting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values on test</a:t>
            </a:r>
            <a:r>
              <a:rPr lang="en-US" i="1" spc="-4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set:</a:t>
            </a:r>
            <a:endParaRPr lang="en-US" sz="2000" dirty="0"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2290" y="1742215"/>
            <a:ext cx="514350" cy="504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2490" y="1841135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101"/>
                </a:lnTo>
                <a:lnTo>
                  <a:pt x="56994" y="26877"/>
                </a:lnTo>
                <a:lnTo>
                  <a:pt x="26859" y="57034"/>
                </a:lnTo>
                <a:lnTo>
                  <a:pt x="7097" y="95280"/>
                </a:lnTo>
                <a:lnTo>
                  <a:pt x="0" y="139324"/>
                </a:lnTo>
                <a:lnTo>
                  <a:pt x="7097" y="183304"/>
                </a:lnTo>
                <a:lnTo>
                  <a:pt x="26859" y="221507"/>
                </a:lnTo>
                <a:lnTo>
                  <a:pt x="56994" y="251637"/>
                </a:lnTo>
                <a:lnTo>
                  <a:pt x="95208" y="271398"/>
                </a:lnTo>
                <a:lnTo>
                  <a:pt x="139208" y="278495"/>
                </a:lnTo>
                <a:lnTo>
                  <a:pt x="183207" y="271398"/>
                </a:lnTo>
                <a:lnTo>
                  <a:pt x="221421" y="251637"/>
                </a:lnTo>
                <a:lnTo>
                  <a:pt x="251556" y="221507"/>
                </a:lnTo>
                <a:lnTo>
                  <a:pt x="271319" y="183304"/>
                </a:lnTo>
                <a:lnTo>
                  <a:pt x="278416" y="139324"/>
                </a:lnTo>
                <a:lnTo>
                  <a:pt x="271319" y="95280"/>
                </a:lnTo>
                <a:lnTo>
                  <a:pt x="251556" y="57034"/>
                </a:lnTo>
                <a:lnTo>
                  <a:pt x="221421" y="26877"/>
                </a:lnTo>
                <a:lnTo>
                  <a:pt x="183207" y="7101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2490" y="1841136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324"/>
                </a:moveTo>
                <a:lnTo>
                  <a:pt x="7097" y="95280"/>
                </a:lnTo>
                <a:lnTo>
                  <a:pt x="26859" y="57034"/>
                </a:lnTo>
                <a:lnTo>
                  <a:pt x="56994" y="26877"/>
                </a:lnTo>
                <a:lnTo>
                  <a:pt x="95208" y="7101"/>
                </a:lnTo>
                <a:lnTo>
                  <a:pt x="139208" y="0"/>
                </a:lnTo>
                <a:lnTo>
                  <a:pt x="183207" y="7101"/>
                </a:lnTo>
                <a:lnTo>
                  <a:pt x="221421" y="26877"/>
                </a:lnTo>
                <a:lnTo>
                  <a:pt x="251556" y="57034"/>
                </a:lnTo>
                <a:lnTo>
                  <a:pt x="271319" y="95280"/>
                </a:lnTo>
                <a:lnTo>
                  <a:pt x="278416" y="139324"/>
                </a:lnTo>
                <a:lnTo>
                  <a:pt x="271319" y="183304"/>
                </a:lnTo>
                <a:lnTo>
                  <a:pt x="251556" y="221507"/>
                </a:lnTo>
                <a:lnTo>
                  <a:pt x="221421" y="251637"/>
                </a:lnTo>
                <a:lnTo>
                  <a:pt x="183207" y="271398"/>
                </a:lnTo>
                <a:lnTo>
                  <a:pt x="139208" y="278495"/>
                </a:lnTo>
                <a:lnTo>
                  <a:pt x="95208" y="271398"/>
                </a:lnTo>
                <a:lnTo>
                  <a:pt x="56994" y="251637"/>
                </a:lnTo>
                <a:lnTo>
                  <a:pt x="26859" y="221507"/>
                </a:lnTo>
                <a:lnTo>
                  <a:pt x="7097" y="183304"/>
                </a:lnTo>
                <a:lnTo>
                  <a:pt x="0" y="139324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/>
          <p:cNvSpPr/>
          <p:nvPr/>
        </p:nvSpPr>
        <p:spPr>
          <a:xfrm>
            <a:off x="1522703" y="1618403"/>
            <a:ext cx="4769456" cy="6577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3"/>
          <p:cNvSpPr/>
          <p:nvPr/>
        </p:nvSpPr>
        <p:spPr>
          <a:xfrm>
            <a:off x="1517939" y="1613697"/>
            <a:ext cx="4785879" cy="672303"/>
          </a:xfrm>
          <a:custGeom>
            <a:avLst/>
            <a:gdLst/>
            <a:ahLst/>
            <a:cxnLst/>
            <a:rect l="l" t="t" r="r" b="b"/>
            <a:pathLst>
              <a:path w="2812415" h="442594">
                <a:moveTo>
                  <a:pt x="0" y="442542"/>
                </a:moveTo>
                <a:lnTo>
                  <a:pt x="2812292" y="442542"/>
                </a:lnTo>
                <a:lnTo>
                  <a:pt x="2812292" y="0"/>
                </a:lnTo>
                <a:lnTo>
                  <a:pt x="0" y="0"/>
                </a:lnTo>
                <a:lnTo>
                  <a:pt x="0" y="44254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4617" y="1823561"/>
            <a:ext cx="2856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1350" dirty="0">
                <a:cs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6803" y="295510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36575">
              <a:lnSpc>
                <a:spcPct val="100000"/>
              </a:lnSpc>
              <a:spcBef>
                <a:spcPts val="100"/>
              </a:spcBef>
            </a:pP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Finding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RMSE</a:t>
            </a:r>
            <a:r>
              <a:rPr lang="en-US" i="1" spc="3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value</a:t>
            </a:r>
            <a:r>
              <a:rPr lang="en-US"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object 15"/>
          <p:cNvSpPr/>
          <p:nvPr/>
        </p:nvSpPr>
        <p:spPr>
          <a:xfrm>
            <a:off x="1398014" y="3828273"/>
            <a:ext cx="4850389" cy="10988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6"/>
          <p:cNvSpPr/>
          <p:nvPr/>
        </p:nvSpPr>
        <p:spPr>
          <a:xfrm>
            <a:off x="1393250" y="3823515"/>
            <a:ext cx="4855153" cy="1103623"/>
          </a:xfrm>
          <a:custGeom>
            <a:avLst/>
            <a:gdLst/>
            <a:ahLst/>
            <a:cxnLst/>
            <a:rect l="l" t="t" r="r" b="b"/>
            <a:pathLst>
              <a:path w="3552825" h="836295">
                <a:moveTo>
                  <a:pt x="0" y="836188"/>
                </a:moveTo>
                <a:lnTo>
                  <a:pt x="3552322" y="836188"/>
                </a:lnTo>
                <a:lnTo>
                  <a:pt x="3552322" y="0"/>
                </a:lnTo>
                <a:lnTo>
                  <a:pt x="0" y="0"/>
                </a:lnTo>
                <a:lnTo>
                  <a:pt x="0" y="836188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8"/>
          <p:cNvSpPr/>
          <p:nvPr/>
        </p:nvSpPr>
        <p:spPr>
          <a:xfrm>
            <a:off x="469310" y="4177837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196" y="0"/>
                </a:moveTo>
                <a:lnTo>
                  <a:pt x="95202" y="7099"/>
                </a:lnTo>
                <a:lnTo>
                  <a:pt x="56992" y="26866"/>
                </a:lnTo>
                <a:lnTo>
                  <a:pt x="26859" y="57002"/>
                </a:lnTo>
                <a:lnTo>
                  <a:pt x="7097" y="95211"/>
                </a:lnTo>
                <a:lnTo>
                  <a:pt x="0" y="139196"/>
                </a:lnTo>
                <a:lnTo>
                  <a:pt x="7097" y="183174"/>
                </a:lnTo>
                <a:lnTo>
                  <a:pt x="26859" y="221379"/>
                </a:lnTo>
                <a:lnTo>
                  <a:pt x="56992" y="251514"/>
                </a:lnTo>
                <a:lnTo>
                  <a:pt x="95202" y="271280"/>
                </a:lnTo>
                <a:lnTo>
                  <a:pt x="139196" y="278379"/>
                </a:lnTo>
                <a:lnTo>
                  <a:pt x="183201" y="271280"/>
                </a:lnTo>
                <a:lnTo>
                  <a:pt x="221418" y="251514"/>
                </a:lnTo>
                <a:lnTo>
                  <a:pt x="251555" y="221379"/>
                </a:lnTo>
                <a:lnTo>
                  <a:pt x="271319" y="183174"/>
                </a:lnTo>
                <a:lnTo>
                  <a:pt x="278416" y="139196"/>
                </a:lnTo>
                <a:lnTo>
                  <a:pt x="271319" y="95211"/>
                </a:lnTo>
                <a:lnTo>
                  <a:pt x="251555" y="57002"/>
                </a:lnTo>
                <a:lnTo>
                  <a:pt x="221418" y="26866"/>
                </a:lnTo>
                <a:lnTo>
                  <a:pt x="183201" y="7099"/>
                </a:lnTo>
                <a:lnTo>
                  <a:pt x="1391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9"/>
          <p:cNvSpPr/>
          <p:nvPr/>
        </p:nvSpPr>
        <p:spPr>
          <a:xfrm>
            <a:off x="469310" y="4177838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196"/>
                </a:moveTo>
                <a:lnTo>
                  <a:pt x="7097" y="95211"/>
                </a:lnTo>
                <a:lnTo>
                  <a:pt x="26859" y="57002"/>
                </a:lnTo>
                <a:lnTo>
                  <a:pt x="56992" y="26866"/>
                </a:lnTo>
                <a:lnTo>
                  <a:pt x="95202" y="7099"/>
                </a:lnTo>
                <a:lnTo>
                  <a:pt x="139196" y="0"/>
                </a:lnTo>
                <a:lnTo>
                  <a:pt x="183201" y="7099"/>
                </a:lnTo>
                <a:lnTo>
                  <a:pt x="221418" y="26866"/>
                </a:lnTo>
                <a:lnTo>
                  <a:pt x="251555" y="57002"/>
                </a:lnTo>
                <a:lnTo>
                  <a:pt x="271319" y="95211"/>
                </a:lnTo>
                <a:lnTo>
                  <a:pt x="278416" y="139196"/>
                </a:lnTo>
                <a:lnTo>
                  <a:pt x="271319" y="183174"/>
                </a:lnTo>
                <a:lnTo>
                  <a:pt x="251555" y="221379"/>
                </a:lnTo>
                <a:lnTo>
                  <a:pt x="221418" y="251514"/>
                </a:lnTo>
                <a:lnTo>
                  <a:pt x="183201" y="271280"/>
                </a:lnTo>
                <a:lnTo>
                  <a:pt x="139196" y="278379"/>
                </a:lnTo>
                <a:lnTo>
                  <a:pt x="95202" y="271280"/>
                </a:lnTo>
                <a:lnTo>
                  <a:pt x="56992" y="251514"/>
                </a:lnTo>
                <a:lnTo>
                  <a:pt x="26859" y="221379"/>
                </a:lnTo>
                <a:lnTo>
                  <a:pt x="7097" y="183174"/>
                </a:lnTo>
                <a:lnTo>
                  <a:pt x="0" y="139196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9310" y="4173276"/>
            <a:ext cx="2856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lang="en-US" sz="1350" dirty="0">
                <a:cs typeface="Calibri"/>
              </a:rPr>
              <a:t>1</a:t>
            </a:r>
          </a:p>
        </p:txBody>
      </p:sp>
      <p:sp>
        <p:nvSpPr>
          <p:cNvPr id="18" name="object 21"/>
          <p:cNvSpPr/>
          <p:nvPr/>
        </p:nvSpPr>
        <p:spPr>
          <a:xfrm>
            <a:off x="6580923" y="4328677"/>
            <a:ext cx="428625" cy="1619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2"/>
          <p:cNvSpPr/>
          <p:nvPr/>
        </p:nvSpPr>
        <p:spPr>
          <a:xfrm>
            <a:off x="6634248" y="4370205"/>
            <a:ext cx="332105" cy="76200"/>
          </a:xfrm>
          <a:custGeom>
            <a:avLst/>
            <a:gdLst/>
            <a:ahLst/>
            <a:cxnLst/>
            <a:rect l="l" t="t" r="r" b="b"/>
            <a:pathLst>
              <a:path w="332104" h="76200">
                <a:moveTo>
                  <a:pt x="152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52400" y="47625"/>
                </a:lnTo>
                <a:lnTo>
                  <a:pt x="152400" y="28575"/>
                </a:lnTo>
                <a:close/>
              </a:path>
              <a:path w="332104" h="76200">
                <a:moveTo>
                  <a:pt x="228600" y="28575"/>
                </a:moveTo>
                <a:lnTo>
                  <a:pt x="209550" y="28575"/>
                </a:lnTo>
                <a:lnTo>
                  <a:pt x="209550" y="47625"/>
                </a:lnTo>
                <a:lnTo>
                  <a:pt x="228600" y="47625"/>
                </a:lnTo>
                <a:lnTo>
                  <a:pt x="228600" y="28575"/>
                </a:lnTo>
                <a:close/>
              </a:path>
              <a:path w="332104" h="76200">
                <a:moveTo>
                  <a:pt x="255513" y="0"/>
                </a:moveTo>
                <a:lnTo>
                  <a:pt x="255513" y="76200"/>
                </a:lnTo>
                <a:lnTo>
                  <a:pt x="331713" y="38100"/>
                </a:lnTo>
                <a:lnTo>
                  <a:pt x="255513" y="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3"/>
          <p:cNvSpPr/>
          <p:nvPr/>
        </p:nvSpPr>
        <p:spPr>
          <a:xfrm>
            <a:off x="7891014" y="4092293"/>
            <a:ext cx="3472682" cy="8348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4"/>
          <p:cNvSpPr/>
          <p:nvPr/>
        </p:nvSpPr>
        <p:spPr>
          <a:xfrm>
            <a:off x="8077339" y="4220016"/>
            <a:ext cx="3090112" cy="4394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5"/>
          <p:cNvSpPr/>
          <p:nvPr/>
        </p:nvSpPr>
        <p:spPr>
          <a:xfrm>
            <a:off x="8072643" y="4215319"/>
            <a:ext cx="3103847" cy="455015"/>
          </a:xfrm>
          <a:custGeom>
            <a:avLst/>
            <a:gdLst/>
            <a:ahLst/>
            <a:cxnLst/>
            <a:rect l="l" t="t" r="r" b="b"/>
            <a:pathLst>
              <a:path w="2239009" h="295910">
                <a:moveTo>
                  <a:pt x="0" y="295310"/>
                </a:moveTo>
                <a:lnTo>
                  <a:pt x="2238637" y="295310"/>
                </a:lnTo>
                <a:lnTo>
                  <a:pt x="2238637" y="0"/>
                </a:lnTo>
                <a:lnTo>
                  <a:pt x="0" y="0"/>
                </a:lnTo>
                <a:lnTo>
                  <a:pt x="0" y="29531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02681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57</a:t>
            </a:fld>
            <a:endParaRPr lang="en-IN"/>
          </a:p>
        </p:txBody>
      </p:sp>
      <p:sp>
        <p:nvSpPr>
          <p:cNvPr id="7" name="object 3"/>
          <p:cNvSpPr/>
          <p:nvPr/>
        </p:nvSpPr>
        <p:spPr>
          <a:xfrm>
            <a:off x="3208325" y="2830958"/>
            <a:ext cx="8591789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>
            <a:spLocks noGrp="1"/>
          </p:cNvSpPr>
          <p:nvPr>
            <p:ph type="title"/>
          </p:nvPr>
        </p:nvSpPr>
        <p:spPr>
          <a:xfrm>
            <a:off x="4451928" y="2997108"/>
            <a:ext cx="6385296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30" dirty="0">
                <a:solidFill>
                  <a:schemeClr val="bg1"/>
                </a:solidFill>
              </a:rPr>
              <a:t>Hands-on: </a:t>
            </a:r>
            <a:r>
              <a:rPr lang="en-US" sz="2800" spc="20" dirty="0">
                <a:solidFill>
                  <a:schemeClr val="bg1"/>
                </a:solidFill>
              </a:rPr>
              <a:t>Decision</a:t>
            </a:r>
            <a:r>
              <a:rPr lang="en-US" sz="2800" spc="-85" dirty="0">
                <a:solidFill>
                  <a:schemeClr val="bg1"/>
                </a:solidFill>
              </a:rPr>
              <a:t> </a:t>
            </a:r>
            <a:r>
              <a:rPr lang="en-US" sz="2800" spc="15" dirty="0" smtClean="0">
                <a:solidFill>
                  <a:schemeClr val="bg1"/>
                </a:solidFill>
              </a:rPr>
              <a:t>Tree(</a:t>
            </a:r>
            <a:r>
              <a:rPr lang="en-US" sz="2800" dirty="0">
                <a:solidFill>
                  <a:schemeClr val="bg1"/>
                </a:solidFill>
              </a:rPr>
              <a:t>Classifier</a:t>
            </a:r>
            <a:r>
              <a:rPr lang="en-US" sz="2800" spc="15" dirty="0" smtClean="0">
                <a:solidFill>
                  <a:schemeClr val="bg1"/>
                </a:solidFill>
              </a:rPr>
              <a:t>)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970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249" y="329201"/>
            <a:ext cx="5255037" cy="6536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5" dirty="0">
                <a:solidFill>
                  <a:schemeClr val="accent1"/>
                </a:solidFill>
                <a:latin typeface="Arial"/>
                <a:cs typeface="Arial"/>
              </a:rPr>
              <a:t>Demo-  Decision</a:t>
            </a:r>
            <a:r>
              <a:rPr lang="en-US" spc="15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spc="-55" dirty="0" smtClean="0">
                <a:solidFill>
                  <a:schemeClr val="accent1"/>
                </a:solidFill>
                <a:latin typeface="Arial"/>
                <a:cs typeface="Arial"/>
              </a:rPr>
              <a:t>Tree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58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/>
          <p:cNvSpPr txBox="1"/>
          <p:nvPr/>
        </p:nvSpPr>
        <p:spPr>
          <a:xfrm>
            <a:off x="4552949" y="1300895"/>
            <a:ext cx="6599959" cy="1449499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765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will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using 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600" spc="5" dirty="0">
                <a:solidFill>
                  <a:srgbClr val="595959"/>
                </a:solidFill>
                <a:latin typeface="Arial"/>
                <a:cs typeface="Arial"/>
              </a:rPr>
              <a:t>iris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dataset 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implement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600" spc="1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z="16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tree</a:t>
            </a:r>
            <a:endParaRPr sz="1600" dirty="0">
              <a:latin typeface="Arial"/>
              <a:cs typeface="Arial"/>
            </a:endParaRPr>
          </a:p>
          <a:p>
            <a:pPr marL="250825">
              <a:lnSpc>
                <a:spcPct val="100000"/>
              </a:lnSpc>
              <a:spcBef>
                <a:spcPts val="665"/>
              </a:spcBef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regression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600" dirty="0">
              <a:latin typeface="Arial"/>
              <a:cs typeface="Arial"/>
            </a:endParaRPr>
          </a:p>
          <a:p>
            <a:pPr marL="250825" marR="432434" indent="-238760">
              <a:lnSpc>
                <a:spcPct val="151300"/>
              </a:lnSpc>
              <a:spcBef>
                <a:spcPts val="225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This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dataset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consists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 50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samples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each of 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three  </a:t>
            </a:r>
            <a:r>
              <a:rPr sz="1600" spc="5" dirty="0">
                <a:solidFill>
                  <a:srgbClr val="595959"/>
                </a:solidFill>
                <a:latin typeface="Arial"/>
                <a:cs typeface="Arial"/>
              </a:rPr>
              <a:t>species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Iris (Iris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setosa, 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Iris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virginica, 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Iris</a:t>
            </a:r>
            <a:r>
              <a:rPr sz="1600" spc="2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versicolor)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6"/>
          <p:cNvSpPr/>
          <p:nvPr/>
        </p:nvSpPr>
        <p:spPr>
          <a:xfrm>
            <a:off x="4572000" y="3043020"/>
            <a:ext cx="5843533" cy="3412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/>
          <p:cNvSpPr/>
          <p:nvPr/>
        </p:nvSpPr>
        <p:spPr>
          <a:xfrm>
            <a:off x="4552950" y="3023968"/>
            <a:ext cx="5907232" cy="3472936"/>
          </a:xfrm>
          <a:custGeom>
            <a:avLst/>
            <a:gdLst/>
            <a:ahLst/>
            <a:cxnLst/>
            <a:rect l="l" t="t" r="r" b="b"/>
            <a:pathLst>
              <a:path w="3581400" h="2219325">
                <a:moveTo>
                  <a:pt x="0" y="2218943"/>
                </a:moveTo>
                <a:lnTo>
                  <a:pt x="3580881" y="2218943"/>
                </a:lnTo>
                <a:lnTo>
                  <a:pt x="3580881" y="0"/>
                </a:lnTo>
                <a:lnTo>
                  <a:pt x="0" y="0"/>
                </a:lnTo>
                <a:lnTo>
                  <a:pt x="0" y="2218943"/>
                </a:lnTo>
                <a:close/>
              </a:path>
            </a:pathLst>
          </a:custGeom>
          <a:ln w="38099">
            <a:solidFill>
              <a:srgbClr val="13425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57872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125" y="222680"/>
            <a:ext cx="8186923" cy="54839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10" dirty="0">
                <a:solidFill>
                  <a:schemeClr val="accent1"/>
                </a:solidFill>
              </a:rPr>
              <a:t>Classifier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59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952" y="1041461"/>
            <a:ext cx="5415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5" dirty="0">
                <a:solidFill>
                  <a:srgbClr val="1B577B"/>
                </a:solidFill>
                <a:latin typeface="Arial"/>
                <a:cs typeface="Arial"/>
              </a:rPr>
              <a:t>Loading </a:t>
            </a:r>
            <a:r>
              <a:rPr lang="en-US" i="1" spc="-10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lang="en-US" i="1" spc="-5" dirty="0">
                <a:solidFill>
                  <a:srgbClr val="1B577B"/>
                </a:solidFill>
                <a:latin typeface="Arial"/>
                <a:cs typeface="Arial"/>
              </a:rPr>
              <a:t>required </a:t>
            </a:r>
            <a:r>
              <a:rPr lang="en-US" i="1" dirty="0">
                <a:solidFill>
                  <a:srgbClr val="1B577B"/>
                </a:solidFill>
                <a:latin typeface="Arial"/>
                <a:cs typeface="Arial"/>
              </a:rPr>
              <a:t>packages and </a:t>
            </a:r>
            <a:r>
              <a:rPr lang="en-US" i="1" spc="-10" dirty="0">
                <a:solidFill>
                  <a:srgbClr val="1B577B"/>
                </a:solidFill>
                <a:latin typeface="Arial"/>
                <a:cs typeface="Arial"/>
              </a:rPr>
              <a:t>the Iris</a:t>
            </a:r>
            <a:r>
              <a:rPr lang="en-US" i="1" spc="-10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i="1" spc="-10" dirty="0">
                <a:solidFill>
                  <a:srgbClr val="1B577B"/>
                </a:solidFill>
                <a:latin typeface="Arial"/>
                <a:cs typeface="Arial"/>
              </a:rPr>
              <a:t>dataset: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0" name="object 15"/>
          <p:cNvSpPr/>
          <p:nvPr/>
        </p:nvSpPr>
        <p:spPr>
          <a:xfrm>
            <a:off x="371904" y="1718069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100"/>
                </a:lnTo>
                <a:lnTo>
                  <a:pt x="56994" y="26869"/>
                </a:lnTo>
                <a:lnTo>
                  <a:pt x="26859" y="57008"/>
                </a:lnTo>
                <a:lnTo>
                  <a:pt x="7097" y="95218"/>
                </a:lnTo>
                <a:lnTo>
                  <a:pt x="0" y="139202"/>
                </a:lnTo>
                <a:lnTo>
                  <a:pt x="7097" y="183245"/>
                </a:lnTo>
                <a:lnTo>
                  <a:pt x="26859" y="221491"/>
                </a:lnTo>
                <a:lnTo>
                  <a:pt x="56994" y="251649"/>
                </a:lnTo>
                <a:lnTo>
                  <a:pt x="95208" y="271424"/>
                </a:lnTo>
                <a:lnTo>
                  <a:pt x="139208" y="278526"/>
                </a:lnTo>
                <a:lnTo>
                  <a:pt x="183212" y="271424"/>
                </a:lnTo>
                <a:lnTo>
                  <a:pt x="221428" y="251649"/>
                </a:lnTo>
                <a:lnTo>
                  <a:pt x="251565" y="221491"/>
                </a:lnTo>
                <a:lnTo>
                  <a:pt x="271328" y="183245"/>
                </a:lnTo>
                <a:lnTo>
                  <a:pt x="278425" y="139202"/>
                </a:lnTo>
                <a:lnTo>
                  <a:pt x="271328" y="95218"/>
                </a:lnTo>
                <a:lnTo>
                  <a:pt x="251565" y="57008"/>
                </a:lnTo>
                <a:lnTo>
                  <a:pt x="221428" y="26869"/>
                </a:lnTo>
                <a:lnTo>
                  <a:pt x="183212" y="7100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6"/>
          <p:cNvSpPr/>
          <p:nvPr/>
        </p:nvSpPr>
        <p:spPr>
          <a:xfrm>
            <a:off x="371904" y="1718070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02"/>
                </a:moveTo>
                <a:lnTo>
                  <a:pt x="7097" y="95218"/>
                </a:lnTo>
                <a:lnTo>
                  <a:pt x="26859" y="57008"/>
                </a:lnTo>
                <a:lnTo>
                  <a:pt x="56994" y="26869"/>
                </a:lnTo>
                <a:lnTo>
                  <a:pt x="95208" y="7100"/>
                </a:lnTo>
                <a:lnTo>
                  <a:pt x="139208" y="0"/>
                </a:lnTo>
                <a:lnTo>
                  <a:pt x="183212" y="7100"/>
                </a:lnTo>
                <a:lnTo>
                  <a:pt x="221428" y="26869"/>
                </a:lnTo>
                <a:lnTo>
                  <a:pt x="251565" y="57008"/>
                </a:lnTo>
                <a:lnTo>
                  <a:pt x="271328" y="95218"/>
                </a:lnTo>
                <a:lnTo>
                  <a:pt x="278425" y="139202"/>
                </a:lnTo>
                <a:lnTo>
                  <a:pt x="271328" y="183245"/>
                </a:lnTo>
                <a:lnTo>
                  <a:pt x="251565" y="221491"/>
                </a:lnTo>
                <a:lnTo>
                  <a:pt x="221428" y="251649"/>
                </a:lnTo>
                <a:lnTo>
                  <a:pt x="183212" y="271424"/>
                </a:lnTo>
                <a:lnTo>
                  <a:pt x="139208" y="278526"/>
                </a:lnTo>
                <a:lnTo>
                  <a:pt x="95208" y="271424"/>
                </a:lnTo>
                <a:lnTo>
                  <a:pt x="56994" y="251649"/>
                </a:lnTo>
                <a:lnTo>
                  <a:pt x="26859" y="221491"/>
                </a:lnTo>
                <a:lnTo>
                  <a:pt x="7097" y="183245"/>
                </a:lnTo>
                <a:lnTo>
                  <a:pt x="0" y="139202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7"/>
          <p:cNvSpPr txBox="1"/>
          <p:nvPr/>
        </p:nvSpPr>
        <p:spPr>
          <a:xfrm>
            <a:off x="455299" y="1735603"/>
            <a:ext cx="1123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3" name="object 6"/>
          <p:cNvSpPr/>
          <p:nvPr/>
        </p:nvSpPr>
        <p:spPr>
          <a:xfrm>
            <a:off x="1237588" y="1511062"/>
            <a:ext cx="5536138" cy="15142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7"/>
          <p:cNvSpPr/>
          <p:nvPr/>
        </p:nvSpPr>
        <p:spPr>
          <a:xfrm>
            <a:off x="1232829" y="1506231"/>
            <a:ext cx="5555898" cy="1527910"/>
          </a:xfrm>
          <a:custGeom>
            <a:avLst/>
            <a:gdLst/>
            <a:ahLst/>
            <a:cxnLst/>
            <a:rect l="l" t="t" r="r" b="b"/>
            <a:pathLst>
              <a:path w="2749550" h="1120139">
                <a:moveTo>
                  <a:pt x="0" y="1119627"/>
                </a:moveTo>
                <a:lnTo>
                  <a:pt x="2749295" y="1119627"/>
                </a:lnTo>
                <a:lnTo>
                  <a:pt x="2749295" y="0"/>
                </a:lnTo>
                <a:lnTo>
                  <a:pt x="0" y="0"/>
                </a:lnTo>
                <a:lnTo>
                  <a:pt x="0" y="1119627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4063" y="3521428"/>
            <a:ext cx="4117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i="1" spc="10" dirty="0">
                <a:solidFill>
                  <a:srgbClr val="1B577B"/>
                </a:solidFill>
                <a:latin typeface="Arial"/>
                <a:cs typeface="Arial"/>
              </a:rPr>
              <a:t>Having </a:t>
            </a:r>
            <a:r>
              <a:rPr lang="en-US" i="1" dirty="0">
                <a:solidFill>
                  <a:srgbClr val="1B577B"/>
                </a:solidFill>
                <a:latin typeface="Arial"/>
                <a:cs typeface="Arial"/>
              </a:rPr>
              <a:t>a </a:t>
            </a:r>
            <a:r>
              <a:rPr lang="en-US" i="1" spc="5" dirty="0">
                <a:solidFill>
                  <a:srgbClr val="1B577B"/>
                </a:solidFill>
                <a:latin typeface="Arial"/>
                <a:cs typeface="Arial"/>
              </a:rPr>
              <a:t>glance </a:t>
            </a:r>
            <a:r>
              <a:rPr lang="en-US" i="1" dirty="0">
                <a:solidFill>
                  <a:srgbClr val="1B577B"/>
                </a:solidFill>
                <a:latin typeface="Arial"/>
                <a:cs typeface="Arial"/>
              </a:rPr>
              <a:t>at </a:t>
            </a:r>
            <a:r>
              <a:rPr lang="en-US" i="1" spc="-10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lang="en-US" i="1" spc="15" dirty="0">
                <a:solidFill>
                  <a:srgbClr val="1B577B"/>
                </a:solidFill>
                <a:latin typeface="Arial"/>
                <a:cs typeface="Arial"/>
              </a:rPr>
              <a:t>1</a:t>
            </a:r>
            <a:r>
              <a:rPr lang="en-US" i="1" spc="22" baseline="24305" dirty="0">
                <a:solidFill>
                  <a:srgbClr val="1B577B"/>
                </a:solidFill>
                <a:latin typeface="Arial"/>
                <a:cs typeface="Arial"/>
              </a:rPr>
              <a:t>st </a:t>
            </a:r>
            <a:r>
              <a:rPr lang="en-US" i="1" spc="-5" dirty="0">
                <a:solidFill>
                  <a:srgbClr val="1B577B"/>
                </a:solidFill>
                <a:latin typeface="Arial"/>
                <a:cs typeface="Arial"/>
              </a:rPr>
              <a:t>five</a:t>
            </a:r>
            <a:r>
              <a:rPr lang="en-US" i="1" spc="-170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i="1" spc="-5" dirty="0">
                <a:solidFill>
                  <a:srgbClr val="1B577B"/>
                </a:solidFill>
                <a:latin typeface="Arial"/>
                <a:cs typeface="Arial"/>
              </a:rPr>
              <a:t>records: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5" name="object 20"/>
          <p:cNvSpPr/>
          <p:nvPr/>
        </p:nvSpPr>
        <p:spPr>
          <a:xfrm>
            <a:off x="371904" y="4523837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100"/>
                </a:lnTo>
                <a:lnTo>
                  <a:pt x="56994" y="26869"/>
                </a:lnTo>
                <a:lnTo>
                  <a:pt x="26859" y="57008"/>
                </a:lnTo>
                <a:lnTo>
                  <a:pt x="7097" y="95216"/>
                </a:lnTo>
                <a:lnTo>
                  <a:pt x="0" y="139196"/>
                </a:lnTo>
                <a:lnTo>
                  <a:pt x="7097" y="183175"/>
                </a:lnTo>
                <a:lnTo>
                  <a:pt x="26859" y="221384"/>
                </a:lnTo>
                <a:lnTo>
                  <a:pt x="56994" y="251522"/>
                </a:lnTo>
                <a:lnTo>
                  <a:pt x="95208" y="271291"/>
                </a:lnTo>
                <a:lnTo>
                  <a:pt x="139208" y="278392"/>
                </a:lnTo>
                <a:lnTo>
                  <a:pt x="183212" y="271291"/>
                </a:lnTo>
                <a:lnTo>
                  <a:pt x="221428" y="251522"/>
                </a:lnTo>
                <a:lnTo>
                  <a:pt x="251565" y="221384"/>
                </a:lnTo>
                <a:lnTo>
                  <a:pt x="271328" y="183175"/>
                </a:lnTo>
                <a:lnTo>
                  <a:pt x="278425" y="139196"/>
                </a:lnTo>
                <a:lnTo>
                  <a:pt x="271328" y="95216"/>
                </a:lnTo>
                <a:lnTo>
                  <a:pt x="251565" y="57008"/>
                </a:lnTo>
                <a:lnTo>
                  <a:pt x="221428" y="26869"/>
                </a:lnTo>
                <a:lnTo>
                  <a:pt x="183212" y="7100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1"/>
          <p:cNvSpPr/>
          <p:nvPr/>
        </p:nvSpPr>
        <p:spPr>
          <a:xfrm>
            <a:off x="371904" y="4523837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196"/>
                </a:moveTo>
                <a:lnTo>
                  <a:pt x="7097" y="95216"/>
                </a:lnTo>
                <a:lnTo>
                  <a:pt x="26859" y="57008"/>
                </a:lnTo>
                <a:lnTo>
                  <a:pt x="56994" y="26869"/>
                </a:lnTo>
                <a:lnTo>
                  <a:pt x="95208" y="7100"/>
                </a:lnTo>
                <a:lnTo>
                  <a:pt x="139208" y="0"/>
                </a:lnTo>
                <a:lnTo>
                  <a:pt x="183212" y="7100"/>
                </a:lnTo>
                <a:lnTo>
                  <a:pt x="221428" y="26869"/>
                </a:lnTo>
                <a:lnTo>
                  <a:pt x="251565" y="57008"/>
                </a:lnTo>
                <a:lnTo>
                  <a:pt x="271328" y="95216"/>
                </a:lnTo>
                <a:lnTo>
                  <a:pt x="278425" y="139196"/>
                </a:lnTo>
                <a:lnTo>
                  <a:pt x="271328" y="183175"/>
                </a:lnTo>
                <a:lnTo>
                  <a:pt x="251565" y="221384"/>
                </a:lnTo>
                <a:lnTo>
                  <a:pt x="221428" y="251522"/>
                </a:lnTo>
                <a:lnTo>
                  <a:pt x="183212" y="271291"/>
                </a:lnTo>
                <a:lnTo>
                  <a:pt x="139208" y="278392"/>
                </a:lnTo>
                <a:lnTo>
                  <a:pt x="95208" y="271291"/>
                </a:lnTo>
                <a:lnTo>
                  <a:pt x="56994" y="251522"/>
                </a:lnTo>
                <a:lnTo>
                  <a:pt x="26859" y="221384"/>
                </a:lnTo>
                <a:lnTo>
                  <a:pt x="7097" y="183175"/>
                </a:lnTo>
                <a:lnTo>
                  <a:pt x="0" y="139196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2"/>
          <p:cNvSpPr txBox="1"/>
          <p:nvPr/>
        </p:nvSpPr>
        <p:spPr>
          <a:xfrm>
            <a:off x="455299" y="4544478"/>
            <a:ext cx="1130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8" name="object 2"/>
          <p:cNvSpPr/>
          <p:nvPr/>
        </p:nvSpPr>
        <p:spPr>
          <a:xfrm>
            <a:off x="647700" y="4378047"/>
            <a:ext cx="1901536" cy="5541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"/>
          <p:cNvSpPr/>
          <p:nvPr/>
        </p:nvSpPr>
        <p:spPr>
          <a:xfrm>
            <a:off x="819872" y="4505757"/>
            <a:ext cx="1596112" cy="3167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"/>
          <p:cNvSpPr/>
          <p:nvPr/>
        </p:nvSpPr>
        <p:spPr>
          <a:xfrm>
            <a:off x="815114" y="4501060"/>
            <a:ext cx="1607461" cy="326058"/>
          </a:xfrm>
          <a:custGeom>
            <a:avLst/>
            <a:gdLst/>
            <a:ahLst/>
            <a:cxnLst/>
            <a:rect l="l" t="t" r="r" b="b"/>
            <a:pathLst>
              <a:path w="1384935" h="353060">
                <a:moveTo>
                  <a:pt x="0" y="352473"/>
                </a:moveTo>
                <a:lnTo>
                  <a:pt x="1384672" y="352473"/>
                </a:lnTo>
                <a:lnTo>
                  <a:pt x="1384672" y="0"/>
                </a:lnTo>
                <a:lnTo>
                  <a:pt x="0" y="0"/>
                </a:lnTo>
                <a:lnTo>
                  <a:pt x="0" y="352473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3"/>
          <p:cNvSpPr/>
          <p:nvPr/>
        </p:nvSpPr>
        <p:spPr>
          <a:xfrm>
            <a:off x="2743200" y="4587596"/>
            <a:ext cx="466725" cy="1619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4"/>
          <p:cNvSpPr/>
          <p:nvPr/>
        </p:nvSpPr>
        <p:spPr>
          <a:xfrm>
            <a:off x="2794635" y="4630780"/>
            <a:ext cx="377190" cy="76200"/>
          </a:xfrm>
          <a:custGeom>
            <a:avLst/>
            <a:gdLst/>
            <a:ahLst/>
            <a:cxnLst/>
            <a:rect l="l" t="t" r="r" b="b"/>
            <a:pathLst>
              <a:path w="377189" h="76200">
                <a:moveTo>
                  <a:pt x="152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52400" y="47625"/>
                </a:lnTo>
                <a:lnTo>
                  <a:pt x="152400" y="28575"/>
                </a:lnTo>
                <a:close/>
              </a:path>
              <a:path w="377189" h="76200">
                <a:moveTo>
                  <a:pt x="228600" y="28575"/>
                </a:moveTo>
                <a:lnTo>
                  <a:pt x="209550" y="28575"/>
                </a:lnTo>
                <a:lnTo>
                  <a:pt x="209550" y="47625"/>
                </a:lnTo>
                <a:lnTo>
                  <a:pt x="228600" y="47625"/>
                </a:lnTo>
                <a:lnTo>
                  <a:pt x="228600" y="28575"/>
                </a:lnTo>
                <a:close/>
              </a:path>
              <a:path w="377189" h="76200">
                <a:moveTo>
                  <a:pt x="300365" y="0"/>
                </a:moveTo>
                <a:lnTo>
                  <a:pt x="300365" y="76200"/>
                </a:lnTo>
                <a:lnTo>
                  <a:pt x="357515" y="47625"/>
                </a:lnTo>
                <a:lnTo>
                  <a:pt x="304815" y="47625"/>
                </a:lnTo>
                <a:lnTo>
                  <a:pt x="304815" y="28575"/>
                </a:lnTo>
                <a:lnTo>
                  <a:pt x="357515" y="28575"/>
                </a:lnTo>
                <a:lnTo>
                  <a:pt x="300365" y="0"/>
                </a:lnTo>
                <a:close/>
              </a:path>
              <a:path w="377189" h="76200">
                <a:moveTo>
                  <a:pt x="300365" y="28575"/>
                </a:moveTo>
                <a:lnTo>
                  <a:pt x="285765" y="28575"/>
                </a:lnTo>
                <a:lnTo>
                  <a:pt x="285765" y="47625"/>
                </a:lnTo>
                <a:lnTo>
                  <a:pt x="300365" y="47625"/>
                </a:lnTo>
                <a:lnTo>
                  <a:pt x="300365" y="28575"/>
                </a:lnTo>
                <a:close/>
              </a:path>
              <a:path w="377189" h="76200">
                <a:moveTo>
                  <a:pt x="357515" y="28575"/>
                </a:moveTo>
                <a:lnTo>
                  <a:pt x="304815" y="28575"/>
                </a:lnTo>
                <a:lnTo>
                  <a:pt x="304815" y="47625"/>
                </a:lnTo>
                <a:lnTo>
                  <a:pt x="357515" y="47625"/>
                </a:lnTo>
                <a:lnTo>
                  <a:pt x="376565" y="38100"/>
                </a:lnTo>
                <a:lnTo>
                  <a:pt x="357515" y="28575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5"/>
          <p:cNvSpPr/>
          <p:nvPr/>
        </p:nvSpPr>
        <p:spPr>
          <a:xfrm>
            <a:off x="4217311" y="3761041"/>
            <a:ext cx="6062761" cy="200245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6"/>
          <p:cNvSpPr/>
          <p:nvPr/>
        </p:nvSpPr>
        <p:spPr>
          <a:xfrm>
            <a:off x="4418724" y="3890760"/>
            <a:ext cx="5643373" cy="16842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7"/>
          <p:cNvSpPr/>
          <p:nvPr/>
        </p:nvSpPr>
        <p:spPr>
          <a:xfrm>
            <a:off x="4413907" y="3885996"/>
            <a:ext cx="5657649" cy="1696425"/>
          </a:xfrm>
          <a:custGeom>
            <a:avLst/>
            <a:gdLst/>
            <a:ahLst/>
            <a:cxnLst/>
            <a:rect l="l" t="t" r="r" b="b"/>
            <a:pathLst>
              <a:path w="3875404" h="1379854">
                <a:moveTo>
                  <a:pt x="0" y="1379469"/>
                </a:moveTo>
                <a:lnTo>
                  <a:pt x="3875166" y="1379469"/>
                </a:lnTo>
                <a:lnTo>
                  <a:pt x="3875166" y="0"/>
                </a:lnTo>
                <a:lnTo>
                  <a:pt x="0" y="0"/>
                </a:lnTo>
                <a:lnTo>
                  <a:pt x="0" y="1379469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03702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125" y="222680"/>
            <a:ext cx="8186923" cy="54839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10" dirty="0">
                <a:solidFill>
                  <a:schemeClr val="accent1"/>
                </a:solidFill>
              </a:rPr>
              <a:t>Classifier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60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5636" y="103541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lang="en-US" i="1" spc="5" dirty="0">
                <a:solidFill>
                  <a:srgbClr val="1B577B"/>
                </a:solidFill>
                <a:latin typeface="Times New Roman"/>
                <a:cs typeface="Times New Roman"/>
              </a:rPr>
              <a:t>Extracting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features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&amp; </a:t>
            </a: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target from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original</a:t>
            </a:r>
            <a:r>
              <a:rPr lang="en-US" i="1" spc="4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5" dirty="0" smtClean="0">
                <a:solidFill>
                  <a:srgbClr val="1B577B"/>
                </a:solidFill>
                <a:latin typeface="Times New Roman"/>
                <a:cs typeface="Times New Roman"/>
              </a:rPr>
              <a:t>data frame:</a:t>
            </a:r>
            <a:endParaRPr lang="en-US" sz="2000" dirty="0">
              <a:cs typeface="Calibri"/>
            </a:endParaRPr>
          </a:p>
        </p:txBody>
      </p:sp>
      <p:sp>
        <p:nvSpPr>
          <p:cNvPr id="7" name="object 11"/>
          <p:cNvSpPr/>
          <p:nvPr/>
        </p:nvSpPr>
        <p:spPr>
          <a:xfrm>
            <a:off x="371904" y="1839192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100"/>
                </a:lnTo>
                <a:lnTo>
                  <a:pt x="56994" y="26869"/>
                </a:lnTo>
                <a:lnTo>
                  <a:pt x="26859" y="57008"/>
                </a:lnTo>
                <a:lnTo>
                  <a:pt x="7097" y="95218"/>
                </a:lnTo>
                <a:lnTo>
                  <a:pt x="0" y="139202"/>
                </a:lnTo>
                <a:lnTo>
                  <a:pt x="7097" y="183170"/>
                </a:lnTo>
                <a:lnTo>
                  <a:pt x="26859" y="221372"/>
                </a:lnTo>
                <a:lnTo>
                  <a:pt x="56994" y="251506"/>
                </a:lnTo>
                <a:lnTo>
                  <a:pt x="95208" y="271273"/>
                </a:lnTo>
                <a:lnTo>
                  <a:pt x="139208" y="278373"/>
                </a:lnTo>
                <a:lnTo>
                  <a:pt x="183212" y="271273"/>
                </a:lnTo>
                <a:lnTo>
                  <a:pt x="221428" y="251506"/>
                </a:lnTo>
                <a:lnTo>
                  <a:pt x="251565" y="221372"/>
                </a:lnTo>
                <a:lnTo>
                  <a:pt x="271328" y="183170"/>
                </a:lnTo>
                <a:lnTo>
                  <a:pt x="278425" y="139202"/>
                </a:lnTo>
                <a:lnTo>
                  <a:pt x="271328" y="95218"/>
                </a:lnTo>
                <a:lnTo>
                  <a:pt x="251565" y="57008"/>
                </a:lnTo>
                <a:lnTo>
                  <a:pt x="221428" y="26869"/>
                </a:lnTo>
                <a:lnTo>
                  <a:pt x="183212" y="7100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2"/>
          <p:cNvSpPr/>
          <p:nvPr/>
        </p:nvSpPr>
        <p:spPr>
          <a:xfrm>
            <a:off x="371904" y="1839193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02"/>
                </a:moveTo>
                <a:lnTo>
                  <a:pt x="7097" y="95218"/>
                </a:lnTo>
                <a:lnTo>
                  <a:pt x="26859" y="57008"/>
                </a:lnTo>
                <a:lnTo>
                  <a:pt x="56994" y="26869"/>
                </a:lnTo>
                <a:lnTo>
                  <a:pt x="95208" y="7100"/>
                </a:lnTo>
                <a:lnTo>
                  <a:pt x="139208" y="0"/>
                </a:lnTo>
                <a:lnTo>
                  <a:pt x="183212" y="7100"/>
                </a:lnTo>
                <a:lnTo>
                  <a:pt x="221428" y="26869"/>
                </a:lnTo>
                <a:lnTo>
                  <a:pt x="251565" y="57008"/>
                </a:lnTo>
                <a:lnTo>
                  <a:pt x="271328" y="95218"/>
                </a:lnTo>
                <a:lnTo>
                  <a:pt x="278425" y="139202"/>
                </a:lnTo>
                <a:lnTo>
                  <a:pt x="271328" y="183170"/>
                </a:lnTo>
                <a:lnTo>
                  <a:pt x="251565" y="221372"/>
                </a:lnTo>
                <a:lnTo>
                  <a:pt x="221428" y="251506"/>
                </a:lnTo>
                <a:lnTo>
                  <a:pt x="183212" y="271273"/>
                </a:lnTo>
                <a:lnTo>
                  <a:pt x="139208" y="278373"/>
                </a:lnTo>
                <a:lnTo>
                  <a:pt x="95208" y="271273"/>
                </a:lnTo>
                <a:lnTo>
                  <a:pt x="56994" y="251506"/>
                </a:lnTo>
                <a:lnTo>
                  <a:pt x="26859" y="221372"/>
                </a:lnTo>
                <a:lnTo>
                  <a:pt x="7097" y="183170"/>
                </a:lnTo>
                <a:lnTo>
                  <a:pt x="0" y="139202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013" y="1817875"/>
            <a:ext cx="2856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350" dirty="0">
                <a:cs typeface="Calibri"/>
              </a:rPr>
              <a:t>1</a:t>
            </a:r>
          </a:p>
        </p:txBody>
      </p:sp>
      <p:sp>
        <p:nvSpPr>
          <p:cNvPr id="9" name="object 15"/>
          <p:cNvSpPr/>
          <p:nvPr/>
        </p:nvSpPr>
        <p:spPr>
          <a:xfrm>
            <a:off x="1137125" y="1669191"/>
            <a:ext cx="6296715" cy="6491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/>
          <p:cNvSpPr/>
          <p:nvPr/>
        </p:nvSpPr>
        <p:spPr>
          <a:xfrm>
            <a:off x="1132367" y="1664368"/>
            <a:ext cx="6307524" cy="663195"/>
          </a:xfrm>
          <a:custGeom>
            <a:avLst/>
            <a:gdLst/>
            <a:ahLst/>
            <a:cxnLst/>
            <a:rect l="l" t="t" r="r" b="b"/>
            <a:pathLst>
              <a:path w="5638800" h="458469">
                <a:moveTo>
                  <a:pt x="0" y="458282"/>
                </a:moveTo>
                <a:lnTo>
                  <a:pt x="5638677" y="458282"/>
                </a:lnTo>
                <a:lnTo>
                  <a:pt x="5638677" y="0"/>
                </a:lnTo>
                <a:lnTo>
                  <a:pt x="0" y="0"/>
                </a:lnTo>
                <a:lnTo>
                  <a:pt x="0" y="45828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7841" y="274069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92759">
              <a:lnSpc>
                <a:spcPct val="100000"/>
              </a:lnSpc>
              <a:spcBef>
                <a:spcPts val="100"/>
              </a:spcBef>
            </a:pP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Splitting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5" dirty="0">
                <a:solidFill>
                  <a:srgbClr val="1B577B"/>
                </a:solidFill>
                <a:latin typeface="Times New Roman"/>
                <a:cs typeface="Times New Roman"/>
              </a:rPr>
              <a:t>data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into train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&amp; test</a:t>
            </a:r>
            <a:r>
              <a:rPr lang="en-US" i="1" spc="-2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sets</a:t>
            </a:r>
            <a:r>
              <a:rPr lang="en-US" i="1" spc="-5" dirty="0" smtClean="0">
                <a:solidFill>
                  <a:srgbClr val="1B577B"/>
                </a:solidFill>
                <a:latin typeface="Times New Roman"/>
                <a:cs typeface="Times New Roman"/>
              </a:rPr>
              <a:t>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2" name="object 18"/>
          <p:cNvSpPr/>
          <p:nvPr/>
        </p:nvSpPr>
        <p:spPr>
          <a:xfrm>
            <a:off x="365013" y="3468563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088"/>
                </a:lnTo>
                <a:lnTo>
                  <a:pt x="56994" y="26831"/>
                </a:lnTo>
                <a:lnTo>
                  <a:pt x="26859" y="56951"/>
                </a:lnTo>
                <a:lnTo>
                  <a:pt x="7097" y="95166"/>
                </a:lnTo>
                <a:lnTo>
                  <a:pt x="0" y="139196"/>
                </a:lnTo>
                <a:lnTo>
                  <a:pt x="7097" y="183175"/>
                </a:lnTo>
                <a:lnTo>
                  <a:pt x="26859" y="221384"/>
                </a:lnTo>
                <a:lnTo>
                  <a:pt x="56994" y="251522"/>
                </a:lnTo>
                <a:lnTo>
                  <a:pt x="95208" y="271291"/>
                </a:lnTo>
                <a:lnTo>
                  <a:pt x="139208" y="278392"/>
                </a:lnTo>
                <a:lnTo>
                  <a:pt x="183212" y="271291"/>
                </a:lnTo>
                <a:lnTo>
                  <a:pt x="221428" y="251522"/>
                </a:lnTo>
                <a:lnTo>
                  <a:pt x="251565" y="221384"/>
                </a:lnTo>
                <a:lnTo>
                  <a:pt x="271328" y="183175"/>
                </a:lnTo>
                <a:lnTo>
                  <a:pt x="278425" y="139196"/>
                </a:lnTo>
                <a:lnTo>
                  <a:pt x="271328" y="95166"/>
                </a:lnTo>
                <a:lnTo>
                  <a:pt x="251565" y="56951"/>
                </a:lnTo>
                <a:lnTo>
                  <a:pt x="221428" y="26831"/>
                </a:lnTo>
                <a:lnTo>
                  <a:pt x="183212" y="7088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9"/>
          <p:cNvSpPr/>
          <p:nvPr/>
        </p:nvSpPr>
        <p:spPr>
          <a:xfrm>
            <a:off x="365013" y="3468564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196"/>
                </a:moveTo>
                <a:lnTo>
                  <a:pt x="7097" y="95166"/>
                </a:lnTo>
                <a:lnTo>
                  <a:pt x="26859" y="56951"/>
                </a:lnTo>
                <a:lnTo>
                  <a:pt x="56994" y="26831"/>
                </a:lnTo>
                <a:lnTo>
                  <a:pt x="95208" y="7088"/>
                </a:lnTo>
                <a:lnTo>
                  <a:pt x="139208" y="0"/>
                </a:lnTo>
                <a:lnTo>
                  <a:pt x="183212" y="7088"/>
                </a:lnTo>
                <a:lnTo>
                  <a:pt x="221428" y="26831"/>
                </a:lnTo>
                <a:lnTo>
                  <a:pt x="251565" y="56951"/>
                </a:lnTo>
                <a:lnTo>
                  <a:pt x="271328" y="95166"/>
                </a:lnTo>
                <a:lnTo>
                  <a:pt x="278425" y="139196"/>
                </a:lnTo>
                <a:lnTo>
                  <a:pt x="271328" y="183175"/>
                </a:lnTo>
                <a:lnTo>
                  <a:pt x="251565" y="221384"/>
                </a:lnTo>
                <a:lnTo>
                  <a:pt x="221428" y="251522"/>
                </a:lnTo>
                <a:lnTo>
                  <a:pt x="183212" y="271291"/>
                </a:lnTo>
                <a:lnTo>
                  <a:pt x="139208" y="278392"/>
                </a:lnTo>
                <a:lnTo>
                  <a:pt x="95208" y="271291"/>
                </a:lnTo>
                <a:lnTo>
                  <a:pt x="56994" y="251522"/>
                </a:lnTo>
                <a:lnTo>
                  <a:pt x="26859" y="221384"/>
                </a:lnTo>
                <a:lnTo>
                  <a:pt x="7097" y="183175"/>
                </a:lnTo>
                <a:lnTo>
                  <a:pt x="0" y="139196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8458" y="3447247"/>
            <a:ext cx="2856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350" dirty="0">
                <a:cs typeface="Calibri"/>
              </a:rPr>
              <a:t>2</a:t>
            </a:r>
          </a:p>
        </p:txBody>
      </p:sp>
      <p:sp>
        <p:nvSpPr>
          <p:cNvPr id="15" name="object 3"/>
          <p:cNvSpPr/>
          <p:nvPr/>
        </p:nvSpPr>
        <p:spPr>
          <a:xfrm>
            <a:off x="1132367" y="3218280"/>
            <a:ext cx="6294098" cy="735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4"/>
          <p:cNvSpPr/>
          <p:nvPr/>
        </p:nvSpPr>
        <p:spPr>
          <a:xfrm>
            <a:off x="1127608" y="3213575"/>
            <a:ext cx="6306231" cy="748825"/>
          </a:xfrm>
          <a:custGeom>
            <a:avLst/>
            <a:gdLst/>
            <a:ahLst/>
            <a:cxnLst/>
            <a:rect l="l" t="t" r="r" b="b"/>
            <a:pathLst>
              <a:path w="5080000" h="584835">
                <a:moveTo>
                  <a:pt x="0" y="584252"/>
                </a:moveTo>
                <a:lnTo>
                  <a:pt x="5079735" y="584252"/>
                </a:lnTo>
                <a:lnTo>
                  <a:pt x="5079735" y="0"/>
                </a:lnTo>
                <a:lnTo>
                  <a:pt x="0" y="0"/>
                </a:lnTo>
                <a:lnTo>
                  <a:pt x="0" y="58425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5636" y="437475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99745">
              <a:lnSpc>
                <a:spcPct val="100000"/>
              </a:lnSpc>
              <a:spcBef>
                <a:spcPts val="100"/>
              </a:spcBef>
            </a:pPr>
            <a:r>
              <a:rPr lang="en-US"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Building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model on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train</a:t>
            </a:r>
            <a:r>
              <a:rPr lang="en-US" i="1" spc="-204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set</a:t>
            </a:r>
            <a:r>
              <a:rPr lang="en-US"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8" name="object 22"/>
          <p:cNvSpPr/>
          <p:nvPr/>
        </p:nvSpPr>
        <p:spPr>
          <a:xfrm>
            <a:off x="371904" y="5131760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102"/>
                </a:lnTo>
                <a:lnTo>
                  <a:pt x="56994" y="26877"/>
                </a:lnTo>
                <a:lnTo>
                  <a:pt x="26859" y="57028"/>
                </a:lnTo>
                <a:lnTo>
                  <a:pt x="7097" y="95257"/>
                </a:lnTo>
                <a:lnTo>
                  <a:pt x="0" y="139266"/>
                </a:lnTo>
                <a:lnTo>
                  <a:pt x="7097" y="183259"/>
                </a:lnTo>
                <a:lnTo>
                  <a:pt x="26859" y="221469"/>
                </a:lnTo>
                <a:lnTo>
                  <a:pt x="56994" y="251603"/>
                </a:lnTo>
                <a:lnTo>
                  <a:pt x="95208" y="271365"/>
                </a:lnTo>
                <a:lnTo>
                  <a:pt x="139208" y="278462"/>
                </a:lnTo>
                <a:lnTo>
                  <a:pt x="183212" y="271365"/>
                </a:lnTo>
                <a:lnTo>
                  <a:pt x="221428" y="251603"/>
                </a:lnTo>
                <a:lnTo>
                  <a:pt x="251565" y="221469"/>
                </a:lnTo>
                <a:lnTo>
                  <a:pt x="271328" y="183259"/>
                </a:lnTo>
                <a:lnTo>
                  <a:pt x="278425" y="139266"/>
                </a:lnTo>
                <a:lnTo>
                  <a:pt x="271328" y="95257"/>
                </a:lnTo>
                <a:lnTo>
                  <a:pt x="251565" y="57028"/>
                </a:lnTo>
                <a:lnTo>
                  <a:pt x="221428" y="26877"/>
                </a:lnTo>
                <a:lnTo>
                  <a:pt x="183212" y="7102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3"/>
          <p:cNvSpPr/>
          <p:nvPr/>
        </p:nvSpPr>
        <p:spPr>
          <a:xfrm>
            <a:off x="371904" y="5131760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66"/>
                </a:moveTo>
                <a:lnTo>
                  <a:pt x="7097" y="95257"/>
                </a:lnTo>
                <a:lnTo>
                  <a:pt x="26859" y="57028"/>
                </a:lnTo>
                <a:lnTo>
                  <a:pt x="56994" y="26877"/>
                </a:lnTo>
                <a:lnTo>
                  <a:pt x="95208" y="7102"/>
                </a:lnTo>
                <a:lnTo>
                  <a:pt x="139208" y="0"/>
                </a:lnTo>
                <a:lnTo>
                  <a:pt x="183212" y="7102"/>
                </a:lnTo>
                <a:lnTo>
                  <a:pt x="221428" y="26877"/>
                </a:lnTo>
                <a:lnTo>
                  <a:pt x="251565" y="57028"/>
                </a:lnTo>
                <a:lnTo>
                  <a:pt x="271328" y="95257"/>
                </a:lnTo>
                <a:lnTo>
                  <a:pt x="278425" y="139266"/>
                </a:lnTo>
                <a:lnTo>
                  <a:pt x="271328" y="183259"/>
                </a:lnTo>
                <a:lnTo>
                  <a:pt x="251565" y="221469"/>
                </a:lnTo>
                <a:lnTo>
                  <a:pt x="221428" y="251603"/>
                </a:lnTo>
                <a:lnTo>
                  <a:pt x="183212" y="271365"/>
                </a:lnTo>
                <a:lnTo>
                  <a:pt x="139208" y="278462"/>
                </a:lnTo>
                <a:lnTo>
                  <a:pt x="95208" y="271365"/>
                </a:lnTo>
                <a:lnTo>
                  <a:pt x="56994" y="251603"/>
                </a:lnTo>
                <a:lnTo>
                  <a:pt x="26859" y="221469"/>
                </a:lnTo>
                <a:lnTo>
                  <a:pt x="7097" y="183259"/>
                </a:lnTo>
                <a:lnTo>
                  <a:pt x="0" y="139266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77837" y="5122006"/>
            <a:ext cx="27283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cs typeface="Calibri"/>
              </a:rPr>
              <a:t>3</a:t>
            </a:r>
            <a:endParaRPr lang="en-US" sz="1350" dirty="0"/>
          </a:p>
        </p:txBody>
      </p:sp>
      <p:sp>
        <p:nvSpPr>
          <p:cNvPr id="21" name="object 26"/>
          <p:cNvSpPr/>
          <p:nvPr/>
        </p:nvSpPr>
        <p:spPr>
          <a:xfrm>
            <a:off x="861435" y="4853176"/>
            <a:ext cx="3622424" cy="10258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7"/>
          <p:cNvSpPr/>
          <p:nvPr/>
        </p:nvSpPr>
        <p:spPr>
          <a:xfrm>
            <a:off x="856677" y="4848412"/>
            <a:ext cx="3632196" cy="1039770"/>
          </a:xfrm>
          <a:custGeom>
            <a:avLst/>
            <a:gdLst/>
            <a:ahLst/>
            <a:cxnLst/>
            <a:rect l="l" t="t" r="r" b="b"/>
            <a:pathLst>
              <a:path w="3583940" h="718185">
                <a:moveTo>
                  <a:pt x="0" y="718090"/>
                </a:moveTo>
                <a:lnTo>
                  <a:pt x="3583807" y="718090"/>
                </a:lnTo>
                <a:lnTo>
                  <a:pt x="3583807" y="0"/>
                </a:lnTo>
                <a:lnTo>
                  <a:pt x="0" y="0"/>
                </a:lnTo>
                <a:lnTo>
                  <a:pt x="0" y="71809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8"/>
          <p:cNvSpPr/>
          <p:nvPr/>
        </p:nvSpPr>
        <p:spPr>
          <a:xfrm>
            <a:off x="4963886" y="5156440"/>
            <a:ext cx="533400" cy="304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9"/>
          <p:cNvSpPr/>
          <p:nvPr/>
        </p:nvSpPr>
        <p:spPr>
          <a:xfrm>
            <a:off x="5043060" y="5246774"/>
            <a:ext cx="297180" cy="76200"/>
          </a:xfrm>
          <a:custGeom>
            <a:avLst/>
            <a:gdLst/>
            <a:ahLst/>
            <a:cxnLst/>
            <a:rect l="l" t="t" r="r" b="b"/>
            <a:pathLst>
              <a:path w="297179" h="76200">
                <a:moveTo>
                  <a:pt x="0" y="28562"/>
                </a:moveTo>
                <a:lnTo>
                  <a:pt x="0" y="47612"/>
                </a:lnTo>
                <a:lnTo>
                  <a:pt x="152400" y="47625"/>
                </a:lnTo>
                <a:lnTo>
                  <a:pt x="152400" y="28575"/>
                </a:lnTo>
                <a:lnTo>
                  <a:pt x="0" y="28562"/>
                </a:lnTo>
                <a:close/>
              </a:path>
              <a:path w="297179" h="76200">
                <a:moveTo>
                  <a:pt x="220614" y="0"/>
                </a:moveTo>
                <a:lnTo>
                  <a:pt x="220614" y="76200"/>
                </a:lnTo>
                <a:lnTo>
                  <a:pt x="277764" y="47625"/>
                </a:lnTo>
                <a:lnTo>
                  <a:pt x="228600" y="47625"/>
                </a:lnTo>
                <a:lnTo>
                  <a:pt x="228600" y="28575"/>
                </a:lnTo>
                <a:lnTo>
                  <a:pt x="277764" y="28575"/>
                </a:lnTo>
                <a:lnTo>
                  <a:pt x="220614" y="0"/>
                </a:lnTo>
                <a:close/>
              </a:path>
              <a:path w="297179" h="76200">
                <a:moveTo>
                  <a:pt x="220614" y="28575"/>
                </a:moveTo>
                <a:lnTo>
                  <a:pt x="209550" y="28575"/>
                </a:lnTo>
                <a:lnTo>
                  <a:pt x="209550" y="47625"/>
                </a:lnTo>
                <a:lnTo>
                  <a:pt x="220614" y="47625"/>
                </a:lnTo>
                <a:lnTo>
                  <a:pt x="220614" y="28575"/>
                </a:lnTo>
                <a:close/>
              </a:path>
              <a:path w="297179" h="76200">
                <a:moveTo>
                  <a:pt x="277764" y="28575"/>
                </a:moveTo>
                <a:lnTo>
                  <a:pt x="228600" y="28575"/>
                </a:lnTo>
                <a:lnTo>
                  <a:pt x="228600" y="47625"/>
                </a:lnTo>
                <a:lnTo>
                  <a:pt x="277764" y="47625"/>
                </a:lnTo>
                <a:lnTo>
                  <a:pt x="296814" y="38100"/>
                </a:lnTo>
                <a:lnTo>
                  <a:pt x="277764" y="28575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1"/>
          <p:cNvSpPr/>
          <p:nvPr/>
        </p:nvSpPr>
        <p:spPr>
          <a:xfrm>
            <a:off x="5683912" y="4881058"/>
            <a:ext cx="4727496" cy="9980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2"/>
          <p:cNvSpPr/>
          <p:nvPr/>
        </p:nvSpPr>
        <p:spPr>
          <a:xfrm>
            <a:off x="5679096" y="4876294"/>
            <a:ext cx="5684600" cy="1011888"/>
          </a:xfrm>
          <a:custGeom>
            <a:avLst/>
            <a:gdLst/>
            <a:ahLst/>
            <a:cxnLst/>
            <a:rect l="l" t="t" r="r" b="b"/>
            <a:pathLst>
              <a:path w="3902075" h="701675">
                <a:moveTo>
                  <a:pt x="0" y="701588"/>
                </a:moveTo>
                <a:lnTo>
                  <a:pt x="3901683" y="701588"/>
                </a:lnTo>
                <a:lnTo>
                  <a:pt x="3901683" y="0"/>
                </a:lnTo>
                <a:lnTo>
                  <a:pt x="0" y="0"/>
                </a:lnTo>
                <a:lnTo>
                  <a:pt x="0" y="701588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69066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125" y="222680"/>
            <a:ext cx="8186923" cy="54839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-10" dirty="0">
                <a:solidFill>
                  <a:schemeClr val="accent1"/>
                </a:solidFill>
              </a:rPr>
              <a:t>Implementing </a:t>
            </a:r>
            <a:r>
              <a:rPr lang="en-US" spc="15" dirty="0">
                <a:solidFill>
                  <a:schemeClr val="accent1"/>
                </a:solidFill>
              </a:rPr>
              <a:t>Decision </a:t>
            </a:r>
            <a:r>
              <a:rPr lang="en-US" spc="-20" dirty="0">
                <a:solidFill>
                  <a:schemeClr val="accent1"/>
                </a:solidFill>
              </a:rPr>
              <a:t>Tree</a:t>
            </a:r>
            <a:r>
              <a:rPr lang="en-US" spc="-150" dirty="0">
                <a:solidFill>
                  <a:schemeClr val="accent1"/>
                </a:solidFill>
              </a:rPr>
              <a:t> </a:t>
            </a:r>
            <a:r>
              <a:rPr lang="en-US" spc="10" dirty="0">
                <a:solidFill>
                  <a:schemeClr val="accent1"/>
                </a:solidFill>
              </a:rPr>
              <a:t>Classifier</a:t>
            </a:r>
            <a:endParaRPr lang="en-US" spc="-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61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3459" y="143413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06730">
              <a:lnSpc>
                <a:spcPct val="100000"/>
              </a:lnSpc>
              <a:spcBef>
                <a:spcPts val="100"/>
              </a:spcBef>
            </a:pP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Predicting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values on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test</a:t>
            </a:r>
            <a:r>
              <a:rPr lang="en-US" i="1" spc="-4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set</a:t>
            </a:r>
            <a:r>
              <a:rPr lang="en-US" i="1" dirty="0" smtClean="0">
                <a:solidFill>
                  <a:srgbClr val="1B577B"/>
                </a:solidFill>
                <a:latin typeface="Times New Roman"/>
                <a:cs typeface="Times New Roman"/>
              </a:rPr>
              <a:t>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7" name="object 11"/>
          <p:cNvSpPr/>
          <p:nvPr/>
        </p:nvSpPr>
        <p:spPr>
          <a:xfrm>
            <a:off x="484076" y="1980766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100"/>
                </a:lnTo>
                <a:lnTo>
                  <a:pt x="56994" y="26869"/>
                </a:lnTo>
                <a:lnTo>
                  <a:pt x="26859" y="57008"/>
                </a:lnTo>
                <a:lnTo>
                  <a:pt x="7097" y="95218"/>
                </a:lnTo>
                <a:lnTo>
                  <a:pt x="0" y="139202"/>
                </a:lnTo>
                <a:lnTo>
                  <a:pt x="7097" y="183170"/>
                </a:lnTo>
                <a:lnTo>
                  <a:pt x="26859" y="221372"/>
                </a:lnTo>
                <a:lnTo>
                  <a:pt x="56994" y="251506"/>
                </a:lnTo>
                <a:lnTo>
                  <a:pt x="95208" y="271273"/>
                </a:lnTo>
                <a:lnTo>
                  <a:pt x="139208" y="278373"/>
                </a:lnTo>
                <a:lnTo>
                  <a:pt x="183212" y="271273"/>
                </a:lnTo>
                <a:lnTo>
                  <a:pt x="221428" y="251506"/>
                </a:lnTo>
                <a:lnTo>
                  <a:pt x="251565" y="221372"/>
                </a:lnTo>
                <a:lnTo>
                  <a:pt x="271328" y="183170"/>
                </a:lnTo>
                <a:lnTo>
                  <a:pt x="278425" y="139202"/>
                </a:lnTo>
                <a:lnTo>
                  <a:pt x="271328" y="95218"/>
                </a:lnTo>
                <a:lnTo>
                  <a:pt x="251565" y="57008"/>
                </a:lnTo>
                <a:lnTo>
                  <a:pt x="221428" y="26869"/>
                </a:lnTo>
                <a:lnTo>
                  <a:pt x="183212" y="7100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2"/>
          <p:cNvSpPr/>
          <p:nvPr/>
        </p:nvSpPr>
        <p:spPr>
          <a:xfrm>
            <a:off x="484076" y="1980767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02"/>
                </a:moveTo>
                <a:lnTo>
                  <a:pt x="7097" y="95218"/>
                </a:lnTo>
                <a:lnTo>
                  <a:pt x="26859" y="57008"/>
                </a:lnTo>
                <a:lnTo>
                  <a:pt x="56994" y="26869"/>
                </a:lnTo>
                <a:lnTo>
                  <a:pt x="95208" y="7100"/>
                </a:lnTo>
                <a:lnTo>
                  <a:pt x="139208" y="0"/>
                </a:lnTo>
                <a:lnTo>
                  <a:pt x="183212" y="7100"/>
                </a:lnTo>
                <a:lnTo>
                  <a:pt x="221428" y="26869"/>
                </a:lnTo>
                <a:lnTo>
                  <a:pt x="251565" y="57008"/>
                </a:lnTo>
                <a:lnTo>
                  <a:pt x="271328" y="95218"/>
                </a:lnTo>
                <a:lnTo>
                  <a:pt x="278425" y="139202"/>
                </a:lnTo>
                <a:lnTo>
                  <a:pt x="271328" y="183170"/>
                </a:lnTo>
                <a:lnTo>
                  <a:pt x="251565" y="221372"/>
                </a:lnTo>
                <a:lnTo>
                  <a:pt x="221428" y="251506"/>
                </a:lnTo>
                <a:lnTo>
                  <a:pt x="183212" y="271273"/>
                </a:lnTo>
                <a:lnTo>
                  <a:pt x="139208" y="278373"/>
                </a:lnTo>
                <a:lnTo>
                  <a:pt x="95208" y="271273"/>
                </a:lnTo>
                <a:lnTo>
                  <a:pt x="56994" y="251506"/>
                </a:lnTo>
                <a:lnTo>
                  <a:pt x="26859" y="221372"/>
                </a:lnTo>
                <a:lnTo>
                  <a:pt x="7097" y="183170"/>
                </a:lnTo>
                <a:lnTo>
                  <a:pt x="0" y="139202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7185" y="1959449"/>
            <a:ext cx="2856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350" dirty="0">
                <a:cs typeface="Calibri"/>
              </a:rPr>
              <a:t>1</a:t>
            </a:r>
          </a:p>
        </p:txBody>
      </p:sp>
      <p:sp>
        <p:nvSpPr>
          <p:cNvPr id="9" name="object 15"/>
          <p:cNvSpPr/>
          <p:nvPr/>
        </p:nvSpPr>
        <p:spPr>
          <a:xfrm>
            <a:off x="1110822" y="1921776"/>
            <a:ext cx="3758663" cy="4397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/>
          <p:cNvSpPr/>
          <p:nvPr/>
        </p:nvSpPr>
        <p:spPr>
          <a:xfrm>
            <a:off x="1106064" y="1916943"/>
            <a:ext cx="3770740" cy="452187"/>
          </a:xfrm>
          <a:custGeom>
            <a:avLst/>
            <a:gdLst/>
            <a:ahLst/>
            <a:cxnLst/>
            <a:rect l="l" t="t" r="r" b="b"/>
            <a:pathLst>
              <a:path w="3058160" h="347344">
                <a:moveTo>
                  <a:pt x="0" y="347283"/>
                </a:moveTo>
                <a:lnTo>
                  <a:pt x="3057905" y="347283"/>
                </a:lnTo>
                <a:lnTo>
                  <a:pt x="3057905" y="0"/>
                </a:lnTo>
                <a:lnTo>
                  <a:pt x="0" y="0"/>
                </a:lnTo>
                <a:lnTo>
                  <a:pt x="0" y="347283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6145" y="272490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06095">
              <a:lnSpc>
                <a:spcPct val="100000"/>
              </a:lnSpc>
              <a:spcBef>
                <a:spcPts val="100"/>
              </a:spcBef>
            </a:pP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Creating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confusion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matrix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for the</a:t>
            </a:r>
            <a:r>
              <a:rPr lang="en-US" i="1" spc="-6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model</a:t>
            </a:r>
            <a:r>
              <a:rPr lang="en-US" i="1" spc="-5" dirty="0" smtClean="0">
                <a:solidFill>
                  <a:srgbClr val="1B577B"/>
                </a:solidFill>
                <a:latin typeface="Times New Roman"/>
                <a:cs typeface="Times New Roman"/>
              </a:rPr>
              <a:t>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4076" y="3479916"/>
            <a:ext cx="2856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350" dirty="0">
                <a:cs typeface="Calibri"/>
              </a:rPr>
              <a:t>2</a:t>
            </a:r>
          </a:p>
        </p:txBody>
      </p:sp>
      <p:sp>
        <p:nvSpPr>
          <p:cNvPr id="14" name="object 19"/>
          <p:cNvSpPr/>
          <p:nvPr/>
        </p:nvSpPr>
        <p:spPr>
          <a:xfrm>
            <a:off x="477185" y="3501234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196"/>
                </a:moveTo>
                <a:lnTo>
                  <a:pt x="7097" y="95216"/>
                </a:lnTo>
                <a:lnTo>
                  <a:pt x="26859" y="57008"/>
                </a:lnTo>
                <a:lnTo>
                  <a:pt x="56994" y="26869"/>
                </a:lnTo>
                <a:lnTo>
                  <a:pt x="95208" y="7100"/>
                </a:lnTo>
                <a:lnTo>
                  <a:pt x="139208" y="0"/>
                </a:lnTo>
                <a:lnTo>
                  <a:pt x="183212" y="7100"/>
                </a:lnTo>
                <a:lnTo>
                  <a:pt x="221428" y="26869"/>
                </a:lnTo>
                <a:lnTo>
                  <a:pt x="251565" y="57008"/>
                </a:lnTo>
                <a:lnTo>
                  <a:pt x="271328" y="95216"/>
                </a:lnTo>
                <a:lnTo>
                  <a:pt x="278425" y="139196"/>
                </a:lnTo>
                <a:lnTo>
                  <a:pt x="271328" y="183238"/>
                </a:lnTo>
                <a:lnTo>
                  <a:pt x="251565" y="221482"/>
                </a:lnTo>
                <a:lnTo>
                  <a:pt x="221428" y="251637"/>
                </a:lnTo>
                <a:lnTo>
                  <a:pt x="183212" y="271410"/>
                </a:lnTo>
                <a:lnTo>
                  <a:pt x="139208" y="278510"/>
                </a:lnTo>
                <a:lnTo>
                  <a:pt x="95208" y="271410"/>
                </a:lnTo>
                <a:lnTo>
                  <a:pt x="56994" y="251637"/>
                </a:lnTo>
                <a:lnTo>
                  <a:pt x="26859" y="221482"/>
                </a:lnTo>
                <a:lnTo>
                  <a:pt x="7097" y="183238"/>
                </a:lnTo>
                <a:lnTo>
                  <a:pt x="0" y="139196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/>
          <p:cNvSpPr/>
          <p:nvPr/>
        </p:nvSpPr>
        <p:spPr>
          <a:xfrm>
            <a:off x="958421" y="3263235"/>
            <a:ext cx="4588884" cy="6750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/>
          <p:cNvSpPr/>
          <p:nvPr/>
        </p:nvSpPr>
        <p:spPr>
          <a:xfrm>
            <a:off x="953663" y="3258544"/>
            <a:ext cx="4602014" cy="690003"/>
          </a:xfrm>
          <a:custGeom>
            <a:avLst/>
            <a:gdLst/>
            <a:ahLst/>
            <a:cxnLst/>
            <a:rect l="l" t="t" r="r" b="b"/>
            <a:pathLst>
              <a:path w="3474085" h="442594">
                <a:moveTo>
                  <a:pt x="0" y="442542"/>
                </a:moveTo>
                <a:lnTo>
                  <a:pt x="3473683" y="442542"/>
                </a:lnTo>
                <a:lnTo>
                  <a:pt x="3473683" y="0"/>
                </a:lnTo>
                <a:lnTo>
                  <a:pt x="0" y="0"/>
                </a:lnTo>
                <a:lnTo>
                  <a:pt x="0" y="44254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/>
          <p:cNvSpPr/>
          <p:nvPr/>
        </p:nvSpPr>
        <p:spPr>
          <a:xfrm>
            <a:off x="6001620" y="3479916"/>
            <a:ext cx="390525" cy="1619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/>
          <p:cNvSpPr/>
          <p:nvPr/>
        </p:nvSpPr>
        <p:spPr>
          <a:xfrm>
            <a:off x="6048239" y="3525004"/>
            <a:ext cx="297180" cy="76200"/>
          </a:xfrm>
          <a:custGeom>
            <a:avLst/>
            <a:gdLst/>
            <a:ahLst/>
            <a:cxnLst/>
            <a:rect l="l" t="t" r="r" b="b"/>
            <a:pathLst>
              <a:path w="297179" h="76200">
                <a:moveTo>
                  <a:pt x="152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52400" y="47625"/>
                </a:lnTo>
                <a:lnTo>
                  <a:pt x="152400" y="28575"/>
                </a:lnTo>
                <a:close/>
              </a:path>
              <a:path w="297179" h="76200">
                <a:moveTo>
                  <a:pt x="220583" y="0"/>
                </a:moveTo>
                <a:lnTo>
                  <a:pt x="220583" y="76200"/>
                </a:lnTo>
                <a:lnTo>
                  <a:pt x="277733" y="47625"/>
                </a:lnTo>
                <a:lnTo>
                  <a:pt x="228600" y="47625"/>
                </a:lnTo>
                <a:lnTo>
                  <a:pt x="228600" y="28575"/>
                </a:lnTo>
                <a:lnTo>
                  <a:pt x="277733" y="28575"/>
                </a:lnTo>
                <a:lnTo>
                  <a:pt x="220583" y="0"/>
                </a:lnTo>
                <a:close/>
              </a:path>
              <a:path w="297179" h="76200">
                <a:moveTo>
                  <a:pt x="220583" y="28575"/>
                </a:moveTo>
                <a:lnTo>
                  <a:pt x="209550" y="28575"/>
                </a:lnTo>
                <a:lnTo>
                  <a:pt x="209550" y="47625"/>
                </a:lnTo>
                <a:lnTo>
                  <a:pt x="220583" y="47625"/>
                </a:lnTo>
                <a:lnTo>
                  <a:pt x="220583" y="28575"/>
                </a:lnTo>
                <a:close/>
              </a:path>
              <a:path w="297179" h="76200">
                <a:moveTo>
                  <a:pt x="277733" y="28575"/>
                </a:moveTo>
                <a:lnTo>
                  <a:pt x="228600" y="28575"/>
                </a:lnTo>
                <a:lnTo>
                  <a:pt x="228600" y="47625"/>
                </a:lnTo>
                <a:lnTo>
                  <a:pt x="277733" y="47625"/>
                </a:lnTo>
                <a:lnTo>
                  <a:pt x="296783" y="38100"/>
                </a:lnTo>
                <a:lnTo>
                  <a:pt x="277733" y="28575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6"/>
          <p:cNvSpPr/>
          <p:nvPr/>
        </p:nvSpPr>
        <p:spPr>
          <a:xfrm>
            <a:off x="6782816" y="3086366"/>
            <a:ext cx="1879022" cy="10288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7"/>
          <p:cNvSpPr/>
          <p:nvPr/>
        </p:nvSpPr>
        <p:spPr>
          <a:xfrm>
            <a:off x="6897904" y="3187221"/>
            <a:ext cx="1586052" cy="7454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8"/>
          <p:cNvSpPr/>
          <p:nvPr/>
        </p:nvSpPr>
        <p:spPr>
          <a:xfrm>
            <a:off x="6893088" y="3182521"/>
            <a:ext cx="1597350" cy="756563"/>
          </a:xfrm>
          <a:custGeom>
            <a:avLst/>
            <a:gdLst/>
            <a:ahLst/>
            <a:cxnLst/>
            <a:rect l="l" t="t" r="r" b="b"/>
            <a:pathLst>
              <a:path w="1400809" h="686435">
                <a:moveTo>
                  <a:pt x="0" y="685894"/>
                </a:moveTo>
                <a:lnTo>
                  <a:pt x="1400424" y="685894"/>
                </a:lnTo>
                <a:lnTo>
                  <a:pt x="1400424" y="0"/>
                </a:lnTo>
                <a:lnTo>
                  <a:pt x="0" y="0"/>
                </a:lnTo>
                <a:lnTo>
                  <a:pt x="0" y="685894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04863" y="402712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658495">
              <a:lnSpc>
                <a:spcPct val="100000"/>
              </a:lnSpc>
              <a:spcBef>
                <a:spcPts val="100"/>
              </a:spcBef>
            </a:pP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Finding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accuracy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for the</a:t>
            </a:r>
            <a:r>
              <a:rPr lang="en-US" i="1" spc="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model</a:t>
            </a:r>
            <a:r>
              <a:rPr lang="en-US" i="1" spc="-5" dirty="0" smtClean="0">
                <a:solidFill>
                  <a:srgbClr val="1B577B"/>
                </a:solidFill>
                <a:latin typeface="Times New Roman"/>
                <a:cs typeface="Times New Roman"/>
              </a:rPr>
              <a:t>: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3" name="object 30"/>
          <p:cNvSpPr/>
          <p:nvPr/>
        </p:nvSpPr>
        <p:spPr>
          <a:xfrm>
            <a:off x="413468" y="4865208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8" y="7096"/>
                </a:lnTo>
                <a:lnTo>
                  <a:pt x="56994" y="26856"/>
                </a:lnTo>
                <a:lnTo>
                  <a:pt x="26859" y="56989"/>
                </a:lnTo>
                <a:lnTo>
                  <a:pt x="7097" y="95204"/>
                </a:lnTo>
                <a:lnTo>
                  <a:pt x="0" y="139208"/>
                </a:lnTo>
                <a:lnTo>
                  <a:pt x="7097" y="183201"/>
                </a:lnTo>
                <a:lnTo>
                  <a:pt x="26859" y="221412"/>
                </a:lnTo>
                <a:lnTo>
                  <a:pt x="56994" y="251545"/>
                </a:lnTo>
                <a:lnTo>
                  <a:pt x="95208" y="271307"/>
                </a:lnTo>
                <a:lnTo>
                  <a:pt x="139208" y="278404"/>
                </a:lnTo>
                <a:lnTo>
                  <a:pt x="183212" y="271307"/>
                </a:lnTo>
                <a:lnTo>
                  <a:pt x="221428" y="251545"/>
                </a:lnTo>
                <a:lnTo>
                  <a:pt x="251565" y="221412"/>
                </a:lnTo>
                <a:lnTo>
                  <a:pt x="271328" y="183201"/>
                </a:lnTo>
                <a:lnTo>
                  <a:pt x="278425" y="139208"/>
                </a:lnTo>
                <a:lnTo>
                  <a:pt x="271328" y="95204"/>
                </a:lnTo>
                <a:lnTo>
                  <a:pt x="251565" y="56989"/>
                </a:lnTo>
                <a:lnTo>
                  <a:pt x="221428" y="26856"/>
                </a:lnTo>
                <a:lnTo>
                  <a:pt x="183212" y="7096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1"/>
          <p:cNvSpPr/>
          <p:nvPr/>
        </p:nvSpPr>
        <p:spPr>
          <a:xfrm>
            <a:off x="455033" y="4851354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08"/>
                </a:moveTo>
                <a:lnTo>
                  <a:pt x="7097" y="95204"/>
                </a:lnTo>
                <a:lnTo>
                  <a:pt x="26859" y="56989"/>
                </a:lnTo>
                <a:lnTo>
                  <a:pt x="56994" y="26856"/>
                </a:lnTo>
                <a:lnTo>
                  <a:pt x="95208" y="7096"/>
                </a:lnTo>
                <a:lnTo>
                  <a:pt x="139208" y="0"/>
                </a:lnTo>
                <a:lnTo>
                  <a:pt x="183212" y="7096"/>
                </a:lnTo>
                <a:lnTo>
                  <a:pt x="221428" y="26856"/>
                </a:lnTo>
                <a:lnTo>
                  <a:pt x="251565" y="56989"/>
                </a:lnTo>
                <a:lnTo>
                  <a:pt x="271328" y="95204"/>
                </a:lnTo>
                <a:lnTo>
                  <a:pt x="278425" y="139208"/>
                </a:lnTo>
                <a:lnTo>
                  <a:pt x="271328" y="183201"/>
                </a:lnTo>
                <a:lnTo>
                  <a:pt x="251565" y="221412"/>
                </a:lnTo>
                <a:lnTo>
                  <a:pt x="221428" y="251545"/>
                </a:lnTo>
                <a:lnTo>
                  <a:pt x="183212" y="271307"/>
                </a:lnTo>
                <a:lnTo>
                  <a:pt x="139208" y="278404"/>
                </a:lnTo>
                <a:lnTo>
                  <a:pt x="95208" y="271307"/>
                </a:lnTo>
                <a:lnTo>
                  <a:pt x="56994" y="251545"/>
                </a:lnTo>
                <a:lnTo>
                  <a:pt x="26859" y="221412"/>
                </a:lnTo>
                <a:lnTo>
                  <a:pt x="7097" y="183201"/>
                </a:lnTo>
                <a:lnTo>
                  <a:pt x="0" y="139208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6204" y="4838365"/>
            <a:ext cx="2856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350" dirty="0">
                <a:cs typeface="Calibri"/>
              </a:rPr>
              <a:t>3</a:t>
            </a:r>
          </a:p>
        </p:txBody>
      </p:sp>
      <p:sp>
        <p:nvSpPr>
          <p:cNvPr id="26" name="object 3"/>
          <p:cNvSpPr/>
          <p:nvPr/>
        </p:nvSpPr>
        <p:spPr>
          <a:xfrm>
            <a:off x="958421" y="4674752"/>
            <a:ext cx="4250892" cy="811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/>
          <p:cNvSpPr/>
          <p:nvPr/>
        </p:nvSpPr>
        <p:spPr>
          <a:xfrm>
            <a:off x="953663" y="4669992"/>
            <a:ext cx="4408050" cy="816410"/>
          </a:xfrm>
          <a:custGeom>
            <a:avLst/>
            <a:gdLst/>
            <a:ahLst/>
            <a:cxnLst/>
            <a:rect l="l" t="t" r="r" b="b"/>
            <a:pathLst>
              <a:path w="3261360" h="434975">
                <a:moveTo>
                  <a:pt x="0" y="434672"/>
                </a:moveTo>
                <a:lnTo>
                  <a:pt x="3261085" y="434672"/>
                </a:lnTo>
                <a:lnTo>
                  <a:pt x="3261085" y="0"/>
                </a:lnTo>
                <a:lnTo>
                  <a:pt x="0" y="0"/>
                </a:lnTo>
                <a:lnTo>
                  <a:pt x="0" y="43467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3"/>
          <p:cNvSpPr/>
          <p:nvPr/>
        </p:nvSpPr>
        <p:spPr>
          <a:xfrm>
            <a:off x="5533450" y="4886824"/>
            <a:ext cx="381000" cy="1714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4"/>
          <p:cNvSpPr/>
          <p:nvPr/>
        </p:nvSpPr>
        <p:spPr>
          <a:xfrm>
            <a:off x="5580069" y="4933543"/>
            <a:ext cx="297180" cy="76200"/>
          </a:xfrm>
          <a:custGeom>
            <a:avLst/>
            <a:gdLst/>
            <a:ahLst/>
            <a:cxnLst/>
            <a:rect l="l" t="t" r="r" b="b"/>
            <a:pathLst>
              <a:path w="297179" h="76200">
                <a:moveTo>
                  <a:pt x="152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52400" y="47625"/>
                </a:lnTo>
                <a:lnTo>
                  <a:pt x="152400" y="28575"/>
                </a:lnTo>
                <a:close/>
              </a:path>
              <a:path w="297179" h="76200">
                <a:moveTo>
                  <a:pt x="220583" y="0"/>
                </a:moveTo>
                <a:lnTo>
                  <a:pt x="220583" y="76200"/>
                </a:lnTo>
                <a:lnTo>
                  <a:pt x="277733" y="47625"/>
                </a:lnTo>
                <a:lnTo>
                  <a:pt x="228600" y="47625"/>
                </a:lnTo>
                <a:lnTo>
                  <a:pt x="228600" y="28575"/>
                </a:lnTo>
                <a:lnTo>
                  <a:pt x="277733" y="28575"/>
                </a:lnTo>
                <a:lnTo>
                  <a:pt x="220583" y="0"/>
                </a:lnTo>
                <a:close/>
              </a:path>
              <a:path w="297179" h="76200">
                <a:moveTo>
                  <a:pt x="220583" y="28575"/>
                </a:moveTo>
                <a:lnTo>
                  <a:pt x="209550" y="28575"/>
                </a:lnTo>
                <a:lnTo>
                  <a:pt x="209550" y="47625"/>
                </a:lnTo>
                <a:lnTo>
                  <a:pt x="220583" y="47625"/>
                </a:lnTo>
                <a:lnTo>
                  <a:pt x="220583" y="28575"/>
                </a:lnTo>
                <a:close/>
              </a:path>
              <a:path w="297179" h="76200">
                <a:moveTo>
                  <a:pt x="277733" y="28575"/>
                </a:moveTo>
                <a:lnTo>
                  <a:pt x="228600" y="28575"/>
                </a:lnTo>
                <a:lnTo>
                  <a:pt x="228600" y="47625"/>
                </a:lnTo>
                <a:lnTo>
                  <a:pt x="277733" y="47625"/>
                </a:lnTo>
                <a:lnTo>
                  <a:pt x="296783" y="38100"/>
                </a:lnTo>
                <a:lnTo>
                  <a:pt x="277733" y="28575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6"/>
          <p:cNvSpPr/>
          <p:nvPr/>
        </p:nvSpPr>
        <p:spPr>
          <a:xfrm>
            <a:off x="6787632" y="4723752"/>
            <a:ext cx="2112659" cy="5358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7"/>
          <p:cNvSpPr/>
          <p:nvPr/>
        </p:nvSpPr>
        <p:spPr>
          <a:xfrm>
            <a:off x="6782816" y="4718984"/>
            <a:ext cx="2125661" cy="559599"/>
          </a:xfrm>
          <a:custGeom>
            <a:avLst/>
            <a:gdLst/>
            <a:ahLst/>
            <a:cxnLst/>
            <a:rect l="l" t="t" r="r" b="b"/>
            <a:pathLst>
              <a:path w="1619884" h="238760">
                <a:moveTo>
                  <a:pt x="0" y="238160"/>
                </a:moveTo>
                <a:lnTo>
                  <a:pt x="1619499" y="238160"/>
                </a:lnTo>
                <a:lnTo>
                  <a:pt x="1619499" y="0"/>
                </a:lnTo>
                <a:lnTo>
                  <a:pt x="0" y="0"/>
                </a:lnTo>
                <a:lnTo>
                  <a:pt x="0" y="23816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65768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62</a:t>
            </a:fld>
            <a:endParaRPr lang="en-IN"/>
          </a:p>
        </p:txBody>
      </p:sp>
      <p:sp>
        <p:nvSpPr>
          <p:cNvPr id="7" name="object 3"/>
          <p:cNvSpPr/>
          <p:nvPr/>
        </p:nvSpPr>
        <p:spPr>
          <a:xfrm>
            <a:off x="3208325" y="2830958"/>
            <a:ext cx="8591789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>
            <a:spLocks noGrp="1"/>
          </p:cNvSpPr>
          <p:nvPr>
            <p:ph type="title"/>
          </p:nvPr>
        </p:nvSpPr>
        <p:spPr>
          <a:xfrm>
            <a:off x="4451928" y="2997108"/>
            <a:ext cx="6385296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25" dirty="0">
                <a:solidFill>
                  <a:schemeClr val="bg1"/>
                </a:solidFill>
              </a:rPr>
              <a:t>Understanding </a:t>
            </a:r>
            <a:r>
              <a:rPr lang="en-US" sz="2800" spc="35" dirty="0">
                <a:solidFill>
                  <a:schemeClr val="bg1"/>
                </a:solidFill>
              </a:rPr>
              <a:t>Random</a:t>
            </a:r>
            <a:r>
              <a:rPr lang="en-US" sz="2800" spc="-40" dirty="0">
                <a:solidFill>
                  <a:schemeClr val="bg1"/>
                </a:solidFill>
              </a:rPr>
              <a:t> </a:t>
            </a:r>
            <a:r>
              <a:rPr lang="en-US" sz="2800" spc="25" dirty="0">
                <a:solidFill>
                  <a:schemeClr val="bg1"/>
                </a:solidFill>
              </a:rPr>
              <a:t>Forest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3258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63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87087" y="522509"/>
            <a:ext cx="3545204" cy="1188720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3110894"/>
            <a:ext cx="3545204" cy="2209165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87087" y="1710978"/>
            <a:ext cx="3545204" cy="1727139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27940" rIns="0" bIns="0" rtlCol="0">
            <a:spAutoFit/>
          </a:bodyPr>
          <a:lstStyle/>
          <a:p>
            <a:pPr marR="1446530" algn="ctr">
              <a:lnSpc>
                <a:spcPct val="92000"/>
              </a:lnSpc>
              <a:spcBef>
                <a:spcPts val="220"/>
              </a:spcBef>
            </a:pPr>
            <a:r>
              <a:rPr lang="en-US" sz="4000" spc="10" dirty="0">
                <a:solidFill>
                  <a:schemeClr val="bg1"/>
                </a:solidFill>
              </a:rPr>
              <a:t>Did </a:t>
            </a:r>
            <a:r>
              <a:rPr lang="en-US" sz="4000" spc="-114" dirty="0">
                <a:solidFill>
                  <a:schemeClr val="bg1"/>
                </a:solidFill>
              </a:rPr>
              <a:t>You </a:t>
            </a:r>
            <a:r>
              <a:rPr lang="en-US" sz="4000" spc="-5" dirty="0">
                <a:solidFill>
                  <a:schemeClr val="bg1"/>
                </a:solidFill>
              </a:rPr>
              <a:t>Know  </a:t>
            </a:r>
            <a:r>
              <a:rPr lang="en-US" sz="4000" dirty="0">
                <a:solidFill>
                  <a:schemeClr val="bg1"/>
                </a:solidFill>
              </a:rPr>
              <a:t>That?</a:t>
            </a:r>
            <a:endParaRPr sz="395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4205642" y="1402420"/>
            <a:ext cx="6781012" cy="106272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5080" algn="ctr">
              <a:lnSpc>
                <a:spcPct val="148700"/>
              </a:lnSpc>
              <a:spcBef>
                <a:spcPts val="55"/>
              </a:spcBef>
            </a:pPr>
            <a:r>
              <a:rPr sz="1600" spc="10" dirty="0">
                <a:solidFill>
                  <a:srgbClr val="F07F09"/>
                </a:solidFill>
                <a:latin typeface="Arial"/>
                <a:cs typeface="Arial"/>
              </a:rPr>
              <a:t>‘</a:t>
            </a:r>
            <a:r>
              <a:rPr sz="1600" i="1" spc="10" dirty="0">
                <a:solidFill>
                  <a:srgbClr val="F07F09"/>
                </a:solidFill>
                <a:latin typeface="Arial"/>
                <a:cs typeface="Arial"/>
              </a:rPr>
              <a:t>Decision </a:t>
            </a:r>
            <a:r>
              <a:rPr sz="1600" i="1" spc="-15" dirty="0">
                <a:solidFill>
                  <a:srgbClr val="F07F09"/>
                </a:solidFill>
                <a:latin typeface="Arial"/>
                <a:cs typeface="Arial"/>
              </a:rPr>
              <a:t>trees </a:t>
            </a:r>
            <a:r>
              <a:rPr sz="1600" i="1" dirty="0">
                <a:solidFill>
                  <a:srgbClr val="F07F09"/>
                </a:solidFill>
                <a:latin typeface="Arial"/>
                <a:cs typeface="Arial"/>
              </a:rPr>
              <a:t>have been </a:t>
            </a:r>
            <a:r>
              <a:rPr sz="1600" i="1" spc="-5" dirty="0">
                <a:solidFill>
                  <a:srgbClr val="F07F09"/>
                </a:solidFill>
                <a:latin typeface="Arial"/>
                <a:cs typeface="Arial"/>
              </a:rPr>
              <a:t>around </a:t>
            </a:r>
            <a:r>
              <a:rPr sz="1600" i="1" spc="-10" dirty="0">
                <a:solidFill>
                  <a:srgbClr val="F07F09"/>
                </a:solidFill>
                <a:latin typeface="Arial"/>
                <a:cs typeface="Arial"/>
              </a:rPr>
              <a:t>for </a:t>
            </a:r>
            <a:r>
              <a:rPr sz="1600" i="1" dirty="0">
                <a:solidFill>
                  <a:srgbClr val="F07F09"/>
                </a:solidFill>
                <a:latin typeface="Arial"/>
                <a:cs typeface="Arial"/>
              </a:rPr>
              <a:t>a </a:t>
            </a:r>
            <a:r>
              <a:rPr sz="1600" i="1" spc="10" dirty="0">
                <a:solidFill>
                  <a:srgbClr val="F07F09"/>
                </a:solidFill>
                <a:latin typeface="Arial"/>
                <a:cs typeface="Arial"/>
              </a:rPr>
              <a:t>long time </a:t>
            </a:r>
            <a:r>
              <a:rPr sz="1600" i="1" dirty="0">
                <a:solidFill>
                  <a:srgbClr val="F07F09"/>
                </a:solidFill>
                <a:latin typeface="Arial"/>
                <a:cs typeface="Arial"/>
              </a:rPr>
              <a:t>and </a:t>
            </a:r>
            <a:r>
              <a:rPr sz="1600" i="1" spc="5" dirty="0">
                <a:solidFill>
                  <a:srgbClr val="F07F09"/>
                </a:solidFill>
                <a:latin typeface="Arial"/>
                <a:cs typeface="Arial"/>
              </a:rPr>
              <a:t>also </a:t>
            </a:r>
            <a:r>
              <a:rPr sz="1600" i="1" spc="-40" dirty="0">
                <a:solidFill>
                  <a:srgbClr val="F07F09"/>
                </a:solidFill>
                <a:latin typeface="Arial"/>
                <a:cs typeface="Arial"/>
              </a:rPr>
              <a:t>known </a:t>
            </a:r>
            <a:r>
              <a:rPr sz="1600" i="1" spc="-20" dirty="0">
                <a:solidFill>
                  <a:srgbClr val="F07F09"/>
                </a:solidFill>
                <a:latin typeface="Arial"/>
                <a:cs typeface="Arial"/>
              </a:rPr>
              <a:t>to  </a:t>
            </a:r>
            <a:r>
              <a:rPr sz="1600" i="1" spc="-15" dirty="0">
                <a:solidFill>
                  <a:srgbClr val="F07F09"/>
                </a:solidFill>
                <a:latin typeface="Arial"/>
                <a:cs typeface="Arial"/>
              </a:rPr>
              <a:t>suffer from </a:t>
            </a:r>
            <a:r>
              <a:rPr sz="1600" i="1" spc="5" dirty="0">
                <a:solidFill>
                  <a:srgbClr val="F07F09"/>
                </a:solidFill>
                <a:latin typeface="Arial"/>
                <a:cs typeface="Arial"/>
              </a:rPr>
              <a:t>bias </a:t>
            </a:r>
            <a:r>
              <a:rPr sz="1600" i="1" dirty="0">
                <a:solidFill>
                  <a:srgbClr val="F07F09"/>
                </a:solidFill>
                <a:latin typeface="Arial"/>
                <a:cs typeface="Arial"/>
              </a:rPr>
              <a:t>and variance. </a:t>
            </a:r>
            <a:r>
              <a:rPr sz="1600" i="1" spc="-20" dirty="0">
                <a:solidFill>
                  <a:srgbClr val="F07F09"/>
                </a:solidFill>
                <a:latin typeface="Arial"/>
                <a:cs typeface="Arial"/>
              </a:rPr>
              <a:t>You </a:t>
            </a:r>
            <a:r>
              <a:rPr sz="1600" i="1" spc="-35" dirty="0">
                <a:solidFill>
                  <a:srgbClr val="F07F09"/>
                </a:solidFill>
                <a:latin typeface="Arial"/>
                <a:cs typeface="Arial"/>
              </a:rPr>
              <a:t>will </a:t>
            </a:r>
            <a:r>
              <a:rPr sz="1600" i="1" dirty="0">
                <a:solidFill>
                  <a:srgbClr val="F07F09"/>
                </a:solidFill>
                <a:latin typeface="Arial"/>
                <a:cs typeface="Arial"/>
              </a:rPr>
              <a:t>have a large </a:t>
            </a:r>
            <a:r>
              <a:rPr sz="1600" i="1" spc="5" dirty="0">
                <a:solidFill>
                  <a:srgbClr val="F07F09"/>
                </a:solidFill>
                <a:latin typeface="Arial"/>
                <a:cs typeface="Arial"/>
              </a:rPr>
              <a:t>bias </a:t>
            </a:r>
            <a:r>
              <a:rPr sz="1600" i="1" spc="-50" dirty="0">
                <a:solidFill>
                  <a:srgbClr val="F07F09"/>
                </a:solidFill>
                <a:latin typeface="Arial"/>
                <a:cs typeface="Arial"/>
              </a:rPr>
              <a:t>with </a:t>
            </a:r>
            <a:r>
              <a:rPr sz="1600" i="1" spc="15" dirty="0">
                <a:solidFill>
                  <a:srgbClr val="F07F09"/>
                </a:solidFill>
                <a:latin typeface="Arial"/>
                <a:cs typeface="Arial"/>
              </a:rPr>
              <a:t>simple  </a:t>
            </a:r>
            <a:r>
              <a:rPr sz="1600" i="1" spc="-15" dirty="0">
                <a:solidFill>
                  <a:srgbClr val="F07F09"/>
                </a:solidFill>
                <a:latin typeface="Arial"/>
                <a:cs typeface="Arial"/>
              </a:rPr>
              <a:t>trees </a:t>
            </a:r>
            <a:r>
              <a:rPr sz="1600" i="1" dirty="0">
                <a:solidFill>
                  <a:srgbClr val="F07F09"/>
                </a:solidFill>
                <a:latin typeface="Arial"/>
                <a:cs typeface="Arial"/>
              </a:rPr>
              <a:t>and a large variance </a:t>
            </a:r>
            <a:r>
              <a:rPr sz="1600" i="1" spc="-50" dirty="0">
                <a:solidFill>
                  <a:srgbClr val="F07F09"/>
                </a:solidFill>
                <a:latin typeface="Arial"/>
                <a:cs typeface="Arial"/>
              </a:rPr>
              <a:t>with </a:t>
            </a:r>
            <a:r>
              <a:rPr sz="1600" i="1" spc="10" dirty="0">
                <a:solidFill>
                  <a:srgbClr val="F07F09"/>
                </a:solidFill>
                <a:latin typeface="Arial"/>
                <a:cs typeface="Arial"/>
              </a:rPr>
              <a:t>complex</a:t>
            </a:r>
            <a:r>
              <a:rPr sz="1600" i="1" spc="-250" dirty="0">
                <a:solidFill>
                  <a:srgbClr val="F07F09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F07F09"/>
                </a:solidFill>
                <a:latin typeface="Arial"/>
                <a:cs typeface="Arial"/>
              </a:rPr>
              <a:t>trees.</a:t>
            </a:r>
            <a:r>
              <a:rPr sz="1600" spc="-5" dirty="0">
                <a:solidFill>
                  <a:srgbClr val="F07F09"/>
                </a:solidFill>
                <a:latin typeface="Arial"/>
                <a:cs typeface="Arial"/>
              </a:rPr>
              <a:t>’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4" name="object 10"/>
          <p:cNvSpPr/>
          <p:nvPr/>
        </p:nvSpPr>
        <p:spPr>
          <a:xfrm>
            <a:off x="4205642" y="3055952"/>
            <a:ext cx="5880600" cy="13082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4244246" y="3110894"/>
            <a:ext cx="5747470" cy="1184811"/>
          </a:xfrm>
          <a:custGeom>
            <a:avLst/>
            <a:gdLst/>
            <a:ahLst/>
            <a:cxnLst/>
            <a:rect l="l" t="t" r="r" b="b"/>
            <a:pathLst>
              <a:path w="4468495" h="914400">
                <a:moveTo>
                  <a:pt x="0" y="152399"/>
                </a:moveTo>
                <a:lnTo>
                  <a:pt x="7776" y="104217"/>
                </a:lnTo>
                <a:lnTo>
                  <a:pt x="29425" y="62380"/>
                </a:lnTo>
                <a:lnTo>
                  <a:pt x="62426" y="29394"/>
                </a:lnTo>
                <a:lnTo>
                  <a:pt x="104258" y="7766"/>
                </a:lnTo>
                <a:lnTo>
                  <a:pt x="152399" y="0"/>
                </a:lnTo>
                <a:lnTo>
                  <a:pt x="4316089" y="0"/>
                </a:lnTo>
                <a:lnTo>
                  <a:pt x="4364266" y="7766"/>
                </a:lnTo>
                <a:lnTo>
                  <a:pt x="4406102" y="29394"/>
                </a:lnTo>
                <a:lnTo>
                  <a:pt x="4439090" y="62380"/>
                </a:lnTo>
                <a:lnTo>
                  <a:pt x="4460722" y="104217"/>
                </a:lnTo>
                <a:lnTo>
                  <a:pt x="4468489" y="152399"/>
                </a:lnTo>
                <a:lnTo>
                  <a:pt x="4468489" y="761999"/>
                </a:lnTo>
                <a:lnTo>
                  <a:pt x="4460722" y="810182"/>
                </a:lnTo>
                <a:lnTo>
                  <a:pt x="4439090" y="852019"/>
                </a:lnTo>
                <a:lnTo>
                  <a:pt x="4406102" y="885005"/>
                </a:lnTo>
                <a:lnTo>
                  <a:pt x="4364266" y="906633"/>
                </a:lnTo>
                <a:lnTo>
                  <a:pt x="4316089" y="914399"/>
                </a:lnTo>
                <a:lnTo>
                  <a:pt x="152399" y="914399"/>
                </a:lnTo>
                <a:lnTo>
                  <a:pt x="104258" y="906633"/>
                </a:lnTo>
                <a:lnTo>
                  <a:pt x="62426" y="885005"/>
                </a:lnTo>
                <a:lnTo>
                  <a:pt x="29425" y="852019"/>
                </a:lnTo>
                <a:lnTo>
                  <a:pt x="7776" y="810182"/>
                </a:lnTo>
                <a:lnTo>
                  <a:pt x="0" y="761999"/>
                </a:lnTo>
                <a:lnTo>
                  <a:pt x="0" y="152399"/>
                </a:lnTo>
                <a:close/>
              </a:path>
            </a:pathLst>
          </a:custGeom>
          <a:ln w="12700">
            <a:solidFill>
              <a:srgbClr val="1B577B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/>
          <p:nvPr/>
        </p:nvSpPr>
        <p:spPr>
          <a:xfrm>
            <a:off x="4229484" y="3202950"/>
            <a:ext cx="5299073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99800"/>
              </a:lnSpc>
              <a:spcBef>
                <a:spcPts val="105"/>
              </a:spcBef>
            </a:pPr>
            <a:r>
              <a:rPr sz="2000" b="1" i="1" dirty="0">
                <a:solidFill>
                  <a:srgbClr val="595959"/>
                </a:solidFill>
                <a:latin typeface="Calibri"/>
                <a:cs typeface="Calibri"/>
              </a:rPr>
              <a:t>Ensemble </a:t>
            </a:r>
            <a:r>
              <a:rPr sz="2000" b="1" i="1" spc="5" dirty="0">
                <a:solidFill>
                  <a:srgbClr val="595959"/>
                </a:solidFill>
                <a:latin typeface="Calibri"/>
                <a:cs typeface="Calibri"/>
              </a:rPr>
              <a:t>methods</a:t>
            </a:r>
            <a:r>
              <a:rPr sz="2000" spc="5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sz="2000" spc="-5" dirty="0">
                <a:solidFill>
                  <a:srgbClr val="595959"/>
                </a:solidFill>
                <a:latin typeface="Calibri"/>
                <a:cs typeface="Calibri"/>
              </a:rPr>
              <a:t>which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combines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several decision</a:t>
            </a:r>
            <a:r>
              <a:rPr sz="20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Calibri"/>
                <a:cs typeface="Calibri"/>
              </a:rPr>
              <a:t>trees 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to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produce better </a:t>
            </a:r>
            <a:r>
              <a:rPr sz="2000" spc="-15" dirty="0">
                <a:solidFill>
                  <a:srgbClr val="595959"/>
                </a:solidFill>
                <a:latin typeface="Calibri"/>
                <a:cs typeface="Calibri"/>
              </a:rPr>
              <a:t>predictive </a:t>
            </a:r>
            <a:r>
              <a:rPr lang="en-US" sz="2000" spc="-15" dirty="0" smtClean="0">
                <a:solidFill>
                  <a:srgbClr val="595959"/>
                </a:solidFill>
                <a:latin typeface="Calibri"/>
                <a:cs typeface="Calibri"/>
              </a:rPr>
              <a:t>   </a:t>
            </a:r>
            <a:r>
              <a:rPr sz="2000" spc="-5" dirty="0" smtClean="0">
                <a:solidFill>
                  <a:srgbClr val="595959"/>
                </a:solidFill>
                <a:latin typeface="Calibri"/>
                <a:cs typeface="Calibri"/>
              </a:rPr>
              <a:t>performance </a:t>
            </a:r>
            <a:r>
              <a:rPr sz="2000" spc="-5" dirty="0">
                <a:solidFill>
                  <a:srgbClr val="595959"/>
                </a:solidFill>
                <a:latin typeface="Calibri"/>
                <a:cs typeface="Calibri"/>
              </a:rPr>
              <a:t>than </a:t>
            </a:r>
            <a:r>
              <a:rPr sz="2000" spc="-20" dirty="0">
                <a:solidFill>
                  <a:srgbClr val="595959"/>
                </a:solidFill>
                <a:latin typeface="Calibri"/>
                <a:cs typeface="Calibri"/>
              </a:rPr>
              <a:t>utilizing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  </a:t>
            </a:r>
            <a:r>
              <a:rPr sz="2000" spc="-20" dirty="0">
                <a:solidFill>
                  <a:srgbClr val="595959"/>
                </a:solidFill>
                <a:latin typeface="Calibri"/>
                <a:cs typeface="Calibri"/>
              </a:rPr>
              <a:t>single 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decision</a:t>
            </a:r>
            <a:r>
              <a:rPr sz="2000" spc="-1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tree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45236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64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87087" y="522509"/>
            <a:ext cx="3545204" cy="1188720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3110894"/>
            <a:ext cx="3545204" cy="2209165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87087" y="1710978"/>
            <a:ext cx="3545204" cy="1727139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27940" rIns="0" bIns="0" rtlCol="0">
            <a:spAutoFit/>
          </a:bodyPr>
          <a:lstStyle/>
          <a:p>
            <a:pPr marR="1446530" algn="ctr">
              <a:lnSpc>
                <a:spcPct val="92000"/>
              </a:lnSpc>
              <a:spcBef>
                <a:spcPts val="220"/>
              </a:spcBef>
            </a:pPr>
            <a:r>
              <a:rPr lang="en-US" sz="4000" spc="10" dirty="0">
                <a:solidFill>
                  <a:schemeClr val="bg1"/>
                </a:solidFill>
              </a:rPr>
              <a:t>Did </a:t>
            </a:r>
            <a:r>
              <a:rPr lang="en-US" sz="4000" spc="-114" dirty="0">
                <a:solidFill>
                  <a:schemeClr val="bg1"/>
                </a:solidFill>
              </a:rPr>
              <a:t>You </a:t>
            </a:r>
            <a:r>
              <a:rPr lang="en-US" sz="4000" spc="-5" dirty="0">
                <a:solidFill>
                  <a:schemeClr val="bg1"/>
                </a:solidFill>
              </a:rPr>
              <a:t>Know  </a:t>
            </a:r>
            <a:r>
              <a:rPr lang="en-US" sz="4000" dirty="0">
                <a:solidFill>
                  <a:schemeClr val="bg1"/>
                </a:solidFill>
              </a:rPr>
              <a:t>That?</a:t>
            </a:r>
            <a:endParaRPr sz="395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0"/>
          <p:cNvSpPr/>
          <p:nvPr/>
        </p:nvSpPr>
        <p:spPr>
          <a:xfrm>
            <a:off x="4274915" y="963916"/>
            <a:ext cx="5880600" cy="13082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4313519" y="1018858"/>
            <a:ext cx="5747470" cy="1184811"/>
          </a:xfrm>
          <a:custGeom>
            <a:avLst/>
            <a:gdLst/>
            <a:ahLst/>
            <a:cxnLst/>
            <a:rect l="l" t="t" r="r" b="b"/>
            <a:pathLst>
              <a:path w="4468495" h="914400">
                <a:moveTo>
                  <a:pt x="0" y="152399"/>
                </a:moveTo>
                <a:lnTo>
                  <a:pt x="7776" y="104217"/>
                </a:lnTo>
                <a:lnTo>
                  <a:pt x="29425" y="62380"/>
                </a:lnTo>
                <a:lnTo>
                  <a:pt x="62426" y="29394"/>
                </a:lnTo>
                <a:lnTo>
                  <a:pt x="104258" y="7766"/>
                </a:lnTo>
                <a:lnTo>
                  <a:pt x="152399" y="0"/>
                </a:lnTo>
                <a:lnTo>
                  <a:pt x="4316089" y="0"/>
                </a:lnTo>
                <a:lnTo>
                  <a:pt x="4364266" y="7766"/>
                </a:lnTo>
                <a:lnTo>
                  <a:pt x="4406102" y="29394"/>
                </a:lnTo>
                <a:lnTo>
                  <a:pt x="4439090" y="62380"/>
                </a:lnTo>
                <a:lnTo>
                  <a:pt x="4460722" y="104217"/>
                </a:lnTo>
                <a:lnTo>
                  <a:pt x="4468489" y="152399"/>
                </a:lnTo>
                <a:lnTo>
                  <a:pt x="4468489" y="761999"/>
                </a:lnTo>
                <a:lnTo>
                  <a:pt x="4460722" y="810182"/>
                </a:lnTo>
                <a:lnTo>
                  <a:pt x="4439090" y="852019"/>
                </a:lnTo>
                <a:lnTo>
                  <a:pt x="4406102" y="885005"/>
                </a:lnTo>
                <a:lnTo>
                  <a:pt x="4364266" y="906633"/>
                </a:lnTo>
                <a:lnTo>
                  <a:pt x="4316089" y="914399"/>
                </a:lnTo>
                <a:lnTo>
                  <a:pt x="152399" y="914399"/>
                </a:lnTo>
                <a:lnTo>
                  <a:pt x="104258" y="906633"/>
                </a:lnTo>
                <a:lnTo>
                  <a:pt x="62426" y="885005"/>
                </a:lnTo>
                <a:lnTo>
                  <a:pt x="29425" y="852019"/>
                </a:lnTo>
                <a:lnTo>
                  <a:pt x="7776" y="810182"/>
                </a:lnTo>
                <a:lnTo>
                  <a:pt x="0" y="761999"/>
                </a:lnTo>
                <a:lnTo>
                  <a:pt x="0" y="152399"/>
                </a:lnTo>
                <a:close/>
              </a:path>
            </a:pathLst>
          </a:custGeom>
          <a:ln w="12700">
            <a:solidFill>
              <a:srgbClr val="1B577B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/>
          <p:nvPr/>
        </p:nvSpPr>
        <p:spPr>
          <a:xfrm>
            <a:off x="4298757" y="1110914"/>
            <a:ext cx="5299073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99800"/>
              </a:lnSpc>
              <a:spcBef>
                <a:spcPts val="105"/>
              </a:spcBef>
            </a:pPr>
            <a:r>
              <a:rPr sz="2000" b="1" i="1" dirty="0">
                <a:solidFill>
                  <a:srgbClr val="595959"/>
                </a:solidFill>
                <a:latin typeface="Calibri"/>
                <a:cs typeface="Calibri"/>
              </a:rPr>
              <a:t>Ensemble </a:t>
            </a:r>
            <a:r>
              <a:rPr sz="2000" b="1" i="1" spc="5" dirty="0">
                <a:solidFill>
                  <a:srgbClr val="595959"/>
                </a:solidFill>
                <a:latin typeface="Calibri"/>
                <a:cs typeface="Calibri"/>
              </a:rPr>
              <a:t>methods</a:t>
            </a:r>
            <a:r>
              <a:rPr sz="2000" spc="5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sz="2000" spc="-5" dirty="0">
                <a:solidFill>
                  <a:srgbClr val="595959"/>
                </a:solidFill>
                <a:latin typeface="Calibri"/>
                <a:cs typeface="Calibri"/>
              </a:rPr>
              <a:t>which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combines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several decision</a:t>
            </a:r>
            <a:r>
              <a:rPr sz="20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Calibri"/>
                <a:cs typeface="Calibri"/>
              </a:rPr>
              <a:t>trees 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to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produce better </a:t>
            </a:r>
            <a:r>
              <a:rPr sz="2000" spc="-15" dirty="0">
                <a:solidFill>
                  <a:srgbClr val="595959"/>
                </a:solidFill>
                <a:latin typeface="Calibri"/>
                <a:cs typeface="Calibri"/>
              </a:rPr>
              <a:t>predictive </a:t>
            </a:r>
            <a:r>
              <a:rPr lang="en-US" sz="2000" spc="-15" dirty="0" smtClean="0">
                <a:solidFill>
                  <a:srgbClr val="595959"/>
                </a:solidFill>
                <a:latin typeface="Calibri"/>
                <a:cs typeface="Calibri"/>
              </a:rPr>
              <a:t>   </a:t>
            </a:r>
            <a:r>
              <a:rPr sz="2000" spc="-5" dirty="0" smtClean="0">
                <a:solidFill>
                  <a:srgbClr val="595959"/>
                </a:solidFill>
                <a:latin typeface="Calibri"/>
                <a:cs typeface="Calibri"/>
              </a:rPr>
              <a:t>performance </a:t>
            </a:r>
            <a:r>
              <a:rPr sz="2000" spc="-5" dirty="0">
                <a:solidFill>
                  <a:srgbClr val="595959"/>
                </a:solidFill>
                <a:latin typeface="Calibri"/>
                <a:cs typeface="Calibri"/>
              </a:rPr>
              <a:t>than </a:t>
            </a:r>
            <a:r>
              <a:rPr sz="2000" spc="-20" dirty="0">
                <a:solidFill>
                  <a:srgbClr val="595959"/>
                </a:solidFill>
                <a:latin typeface="Calibri"/>
                <a:cs typeface="Calibri"/>
              </a:rPr>
              <a:t>utilizing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  </a:t>
            </a:r>
            <a:r>
              <a:rPr sz="2000" spc="-20" dirty="0">
                <a:solidFill>
                  <a:srgbClr val="595959"/>
                </a:solidFill>
                <a:latin typeface="Calibri"/>
                <a:cs typeface="Calibri"/>
              </a:rPr>
              <a:t>single 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decision</a:t>
            </a:r>
            <a:r>
              <a:rPr sz="2000" spc="-1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tree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50476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65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87087" y="522509"/>
            <a:ext cx="3545204" cy="1188720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3110894"/>
            <a:ext cx="3545204" cy="2209165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87087" y="1710978"/>
            <a:ext cx="3545204" cy="1727139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27940" rIns="0" bIns="0" rtlCol="0">
            <a:spAutoFit/>
          </a:bodyPr>
          <a:lstStyle/>
          <a:p>
            <a:pPr marR="1446530" algn="ctr">
              <a:lnSpc>
                <a:spcPct val="92000"/>
              </a:lnSpc>
              <a:spcBef>
                <a:spcPts val="220"/>
              </a:spcBef>
            </a:pPr>
            <a:r>
              <a:rPr lang="en-US" sz="4000" spc="10" dirty="0">
                <a:solidFill>
                  <a:schemeClr val="bg1"/>
                </a:solidFill>
              </a:rPr>
              <a:t>Did </a:t>
            </a:r>
            <a:r>
              <a:rPr lang="en-US" sz="4000" spc="-114" dirty="0">
                <a:solidFill>
                  <a:schemeClr val="bg1"/>
                </a:solidFill>
              </a:rPr>
              <a:t>You </a:t>
            </a:r>
            <a:r>
              <a:rPr lang="en-US" sz="4000" spc="-5" dirty="0">
                <a:solidFill>
                  <a:schemeClr val="bg1"/>
                </a:solidFill>
              </a:rPr>
              <a:t>Know  </a:t>
            </a:r>
            <a:r>
              <a:rPr lang="en-US" sz="4000" dirty="0">
                <a:solidFill>
                  <a:schemeClr val="bg1"/>
                </a:solidFill>
              </a:rPr>
              <a:t>That?</a:t>
            </a:r>
            <a:endParaRPr sz="395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0"/>
          <p:cNvSpPr/>
          <p:nvPr/>
        </p:nvSpPr>
        <p:spPr>
          <a:xfrm>
            <a:off x="4274915" y="963916"/>
            <a:ext cx="5880600" cy="13082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4313519" y="1018858"/>
            <a:ext cx="5747470" cy="1184811"/>
          </a:xfrm>
          <a:custGeom>
            <a:avLst/>
            <a:gdLst/>
            <a:ahLst/>
            <a:cxnLst/>
            <a:rect l="l" t="t" r="r" b="b"/>
            <a:pathLst>
              <a:path w="4468495" h="914400">
                <a:moveTo>
                  <a:pt x="0" y="152399"/>
                </a:moveTo>
                <a:lnTo>
                  <a:pt x="7776" y="104217"/>
                </a:lnTo>
                <a:lnTo>
                  <a:pt x="29425" y="62380"/>
                </a:lnTo>
                <a:lnTo>
                  <a:pt x="62426" y="29394"/>
                </a:lnTo>
                <a:lnTo>
                  <a:pt x="104258" y="7766"/>
                </a:lnTo>
                <a:lnTo>
                  <a:pt x="152399" y="0"/>
                </a:lnTo>
                <a:lnTo>
                  <a:pt x="4316089" y="0"/>
                </a:lnTo>
                <a:lnTo>
                  <a:pt x="4364266" y="7766"/>
                </a:lnTo>
                <a:lnTo>
                  <a:pt x="4406102" y="29394"/>
                </a:lnTo>
                <a:lnTo>
                  <a:pt x="4439090" y="62380"/>
                </a:lnTo>
                <a:lnTo>
                  <a:pt x="4460722" y="104217"/>
                </a:lnTo>
                <a:lnTo>
                  <a:pt x="4468489" y="152399"/>
                </a:lnTo>
                <a:lnTo>
                  <a:pt x="4468489" y="761999"/>
                </a:lnTo>
                <a:lnTo>
                  <a:pt x="4460722" y="810182"/>
                </a:lnTo>
                <a:lnTo>
                  <a:pt x="4439090" y="852019"/>
                </a:lnTo>
                <a:lnTo>
                  <a:pt x="4406102" y="885005"/>
                </a:lnTo>
                <a:lnTo>
                  <a:pt x="4364266" y="906633"/>
                </a:lnTo>
                <a:lnTo>
                  <a:pt x="4316089" y="914399"/>
                </a:lnTo>
                <a:lnTo>
                  <a:pt x="152399" y="914399"/>
                </a:lnTo>
                <a:lnTo>
                  <a:pt x="104258" y="906633"/>
                </a:lnTo>
                <a:lnTo>
                  <a:pt x="62426" y="885005"/>
                </a:lnTo>
                <a:lnTo>
                  <a:pt x="29425" y="852019"/>
                </a:lnTo>
                <a:lnTo>
                  <a:pt x="7776" y="810182"/>
                </a:lnTo>
                <a:lnTo>
                  <a:pt x="0" y="761999"/>
                </a:lnTo>
                <a:lnTo>
                  <a:pt x="0" y="152399"/>
                </a:lnTo>
                <a:close/>
              </a:path>
            </a:pathLst>
          </a:custGeom>
          <a:ln w="12700">
            <a:solidFill>
              <a:srgbClr val="1B577B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/>
          <p:nvPr/>
        </p:nvSpPr>
        <p:spPr>
          <a:xfrm>
            <a:off x="4298757" y="1110914"/>
            <a:ext cx="5299073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99800"/>
              </a:lnSpc>
              <a:spcBef>
                <a:spcPts val="105"/>
              </a:spcBef>
            </a:pPr>
            <a:r>
              <a:rPr sz="2000" b="1" i="1" dirty="0">
                <a:solidFill>
                  <a:srgbClr val="595959"/>
                </a:solidFill>
                <a:latin typeface="Calibri"/>
                <a:cs typeface="Calibri"/>
              </a:rPr>
              <a:t>Ensemble </a:t>
            </a:r>
            <a:r>
              <a:rPr sz="2000" b="1" i="1" spc="5" dirty="0">
                <a:solidFill>
                  <a:srgbClr val="595959"/>
                </a:solidFill>
                <a:latin typeface="Calibri"/>
                <a:cs typeface="Calibri"/>
              </a:rPr>
              <a:t>methods</a:t>
            </a:r>
            <a:r>
              <a:rPr sz="2000" spc="5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sz="2000" spc="-5" dirty="0">
                <a:solidFill>
                  <a:srgbClr val="595959"/>
                </a:solidFill>
                <a:latin typeface="Calibri"/>
                <a:cs typeface="Calibri"/>
              </a:rPr>
              <a:t>which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combines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several decision</a:t>
            </a:r>
            <a:r>
              <a:rPr sz="20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Calibri"/>
                <a:cs typeface="Calibri"/>
              </a:rPr>
              <a:t>trees 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to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produce better </a:t>
            </a:r>
            <a:r>
              <a:rPr sz="2000" spc="-15" dirty="0">
                <a:solidFill>
                  <a:srgbClr val="595959"/>
                </a:solidFill>
                <a:latin typeface="Calibri"/>
                <a:cs typeface="Calibri"/>
              </a:rPr>
              <a:t>predictive </a:t>
            </a:r>
            <a:r>
              <a:rPr lang="en-US" sz="2000" spc="-15" dirty="0" smtClean="0">
                <a:solidFill>
                  <a:srgbClr val="595959"/>
                </a:solidFill>
                <a:latin typeface="Calibri"/>
                <a:cs typeface="Calibri"/>
              </a:rPr>
              <a:t>   </a:t>
            </a:r>
            <a:r>
              <a:rPr sz="2000" spc="-5" dirty="0" smtClean="0">
                <a:solidFill>
                  <a:srgbClr val="595959"/>
                </a:solidFill>
                <a:latin typeface="Calibri"/>
                <a:cs typeface="Calibri"/>
              </a:rPr>
              <a:t>performance </a:t>
            </a:r>
            <a:r>
              <a:rPr sz="2000" spc="-5" dirty="0">
                <a:solidFill>
                  <a:srgbClr val="595959"/>
                </a:solidFill>
                <a:latin typeface="Calibri"/>
                <a:cs typeface="Calibri"/>
              </a:rPr>
              <a:t>than </a:t>
            </a:r>
            <a:r>
              <a:rPr sz="2000" spc="-20" dirty="0">
                <a:solidFill>
                  <a:srgbClr val="595959"/>
                </a:solidFill>
                <a:latin typeface="Calibri"/>
                <a:cs typeface="Calibri"/>
              </a:rPr>
              <a:t>utilizing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  </a:t>
            </a:r>
            <a:r>
              <a:rPr sz="2000" spc="-20" dirty="0">
                <a:solidFill>
                  <a:srgbClr val="595959"/>
                </a:solidFill>
                <a:latin typeface="Calibri"/>
                <a:cs typeface="Calibri"/>
              </a:rPr>
              <a:t>single 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decision</a:t>
            </a:r>
            <a:r>
              <a:rPr sz="2000" spc="-1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tree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25145" y="2574547"/>
            <a:ext cx="4730369" cy="32859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5828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66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3" y="290957"/>
            <a:ext cx="9144000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395972" y="438905"/>
            <a:ext cx="5647690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30" dirty="0">
                <a:solidFill>
                  <a:schemeClr val="bg1"/>
                </a:solidFill>
              </a:rPr>
              <a:t>Bagging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308873" y="1711328"/>
            <a:ext cx="4734182" cy="3890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100"/>
              </a:spcBef>
              <a:buChar char="•"/>
              <a:tabLst>
                <a:tab pos="250825" algn="l"/>
                <a:tab pos="251460" algn="l"/>
              </a:tabLst>
            </a:pP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It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technique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perform ensemble</a:t>
            </a:r>
            <a:r>
              <a:rPr sz="14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95959"/>
              </a:buClr>
              <a:buFont typeface="Arial"/>
              <a:buChar char="•"/>
            </a:pPr>
            <a:endParaRPr sz="1400" dirty="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trees</a:t>
            </a:r>
            <a:endParaRPr sz="1400" dirty="0">
              <a:latin typeface="Arial"/>
              <a:cs typeface="Arial"/>
            </a:endParaRPr>
          </a:p>
          <a:p>
            <a:pPr marL="250825" marR="5080" indent="-238760">
              <a:lnSpc>
                <a:spcPct val="198300"/>
              </a:lnSpc>
              <a:spcBef>
                <a:spcPts val="75"/>
              </a:spcBef>
              <a:buChar char="•"/>
              <a:tabLst>
                <a:tab pos="250825" algn="l"/>
                <a:tab pos="25146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Used 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when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our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goal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reduce 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variance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 a 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tree</a:t>
            </a:r>
            <a:endParaRPr sz="1400" dirty="0">
              <a:latin typeface="Arial"/>
              <a:cs typeface="Arial"/>
            </a:endParaRPr>
          </a:p>
          <a:p>
            <a:pPr marL="250825" marR="313055" indent="-238760">
              <a:lnSpc>
                <a:spcPts val="2930"/>
              </a:lnSpc>
              <a:spcBef>
                <a:spcPts val="270"/>
              </a:spcBef>
              <a:buChar char="•"/>
              <a:tabLst>
                <a:tab pos="250825" algn="l"/>
                <a:tab pos="251460" algn="l"/>
              </a:tabLst>
            </a:pP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Idea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create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several subsets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from 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training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sample chosen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randomly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endParaRPr sz="1400" dirty="0">
              <a:latin typeface="Arial"/>
              <a:cs typeface="Arial"/>
            </a:endParaRPr>
          </a:p>
          <a:p>
            <a:pPr marL="250825">
              <a:lnSpc>
                <a:spcPct val="100000"/>
              </a:lnSpc>
              <a:spcBef>
                <a:spcPts val="1070"/>
              </a:spcBef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replacement</a:t>
            </a:r>
            <a:endParaRPr sz="1400" dirty="0">
              <a:latin typeface="Arial"/>
              <a:cs typeface="Arial"/>
            </a:endParaRPr>
          </a:p>
          <a:p>
            <a:pPr marL="250825" marR="147955" indent="-238760">
              <a:lnSpc>
                <a:spcPct val="198400"/>
              </a:lnSpc>
              <a:spcBef>
                <a:spcPts val="75"/>
              </a:spcBef>
              <a:buChar char="•"/>
              <a:tabLst>
                <a:tab pos="250825" algn="l"/>
                <a:tab pos="251460" algn="l"/>
              </a:tabLst>
            </a:pP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collection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subset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used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train 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their 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decision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trees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ending 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up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ensemble 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40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7"/>
          <p:cNvSpPr/>
          <p:nvPr/>
        </p:nvSpPr>
        <p:spPr>
          <a:xfrm>
            <a:off x="5043055" y="1711328"/>
            <a:ext cx="6040581" cy="33040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375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67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87087" y="522509"/>
            <a:ext cx="3545204" cy="1525200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2790761"/>
            <a:ext cx="3545204" cy="2209165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01849" y="2047709"/>
            <a:ext cx="3545204" cy="107978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27940" rIns="0" bIns="0" rtlCol="0">
            <a:spAutoFit/>
          </a:bodyPr>
          <a:lstStyle/>
          <a:p>
            <a:pPr marR="1607820">
              <a:lnSpc>
                <a:spcPts val="4130"/>
              </a:lnSpc>
              <a:spcBef>
                <a:spcPts val="2720"/>
              </a:spcBef>
            </a:pPr>
            <a:r>
              <a:rPr lang="en-US" sz="3650" b="1" spc="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650" b="1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650" b="1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650" b="1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lang="en-US" sz="3650" b="1" spc="15" dirty="0">
                <a:solidFill>
                  <a:srgbClr val="FFFFFF"/>
                </a:solidFill>
                <a:latin typeface="Arial"/>
                <a:cs typeface="Arial"/>
              </a:rPr>
              <a:t>m </a:t>
            </a:r>
            <a:r>
              <a:rPr lang="en-US" sz="3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650" b="1" dirty="0">
                <a:solidFill>
                  <a:srgbClr val="FFFFFF"/>
                </a:solidFill>
                <a:latin typeface="Arial"/>
                <a:cs typeface="Arial"/>
              </a:rPr>
              <a:t>Forest</a:t>
            </a:r>
            <a:endParaRPr lang="en-US" sz="3650" dirty="0">
              <a:latin typeface="Arial"/>
              <a:cs typeface="Arial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0"/>
          <p:cNvSpPr/>
          <p:nvPr/>
        </p:nvSpPr>
        <p:spPr>
          <a:xfrm>
            <a:off x="4274915" y="963916"/>
            <a:ext cx="5880600" cy="13082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4313519" y="1018858"/>
            <a:ext cx="5747470" cy="1184811"/>
          </a:xfrm>
          <a:custGeom>
            <a:avLst/>
            <a:gdLst/>
            <a:ahLst/>
            <a:cxnLst/>
            <a:rect l="l" t="t" r="r" b="b"/>
            <a:pathLst>
              <a:path w="4468495" h="914400">
                <a:moveTo>
                  <a:pt x="0" y="152399"/>
                </a:moveTo>
                <a:lnTo>
                  <a:pt x="7776" y="104217"/>
                </a:lnTo>
                <a:lnTo>
                  <a:pt x="29425" y="62380"/>
                </a:lnTo>
                <a:lnTo>
                  <a:pt x="62426" y="29394"/>
                </a:lnTo>
                <a:lnTo>
                  <a:pt x="104258" y="7766"/>
                </a:lnTo>
                <a:lnTo>
                  <a:pt x="152399" y="0"/>
                </a:lnTo>
                <a:lnTo>
                  <a:pt x="4316089" y="0"/>
                </a:lnTo>
                <a:lnTo>
                  <a:pt x="4364266" y="7766"/>
                </a:lnTo>
                <a:lnTo>
                  <a:pt x="4406102" y="29394"/>
                </a:lnTo>
                <a:lnTo>
                  <a:pt x="4439090" y="62380"/>
                </a:lnTo>
                <a:lnTo>
                  <a:pt x="4460722" y="104217"/>
                </a:lnTo>
                <a:lnTo>
                  <a:pt x="4468489" y="152399"/>
                </a:lnTo>
                <a:lnTo>
                  <a:pt x="4468489" y="761999"/>
                </a:lnTo>
                <a:lnTo>
                  <a:pt x="4460722" y="810182"/>
                </a:lnTo>
                <a:lnTo>
                  <a:pt x="4439090" y="852019"/>
                </a:lnTo>
                <a:lnTo>
                  <a:pt x="4406102" y="885005"/>
                </a:lnTo>
                <a:lnTo>
                  <a:pt x="4364266" y="906633"/>
                </a:lnTo>
                <a:lnTo>
                  <a:pt x="4316089" y="914399"/>
                </a:lnTo>
                <a:lnTo>
                  <a:pt x="152399" y="914399"/>
                </a:lnTo>
                <a:lnTo>
                  <a:pt x="104258" y="906633"/>
                </a:lnTo>
                <a:lnTo>
                  <a:pt x="62426" y="885005"/>
                </a:lnTo>
                <a:lnTo>
                  <a:pt x="29425" y="852019"/>
                </a:lnTo>
                <a:lnTo>
                  <a:pt x="7776" y="810182"/>
                </a:lnTo>
                <a:lnTo>
                  <a:pt x="0" y="761999"/>
                </a:lnTo>
                <a:lnTo>
                  <a:pt x="0" y="152399"/>
                </a:lnTo>
                <a:close/>
              </a:path>
            </a:pathLst>
          </a:custGeom>
          <a:ln w="12700">
            <a:solidFill>
              <a:srgbClr val="1B577B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/>
          <p:nvPr/>
        </p:nvSpPr>
        <p:spPr>
          <a:xfrm>
            <a:off x="4298757" y="1110914"/>
            <a:ext cx="5299073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99800"/>
              </a:lnSpc>
              <a:spcBef>
                <a:spcPts val="105"/>
              </a:spcBef>
            </a:pPr>
            <a:r>
              <a:rPr lang="en-US" sz="2000" i="1" dirty="0">
                <a:solidFill>
                  <a:srgbClr val="1B577B"/>
                </a:solidFill>
                <a:latin typeface="Arial"/>
                <a:cs typeface="Arial"/>
              </a:rPr>
              <a:t>“Random</a:t>
            </a:r>
            <a:r>
              <a:rPr lang="en-US" sz="2000" i="1" spc="-60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2000" i="1" spc="-10" dirty="0">
                <a:solidFill>
                  <a:srgbClr val="1B577B"/>
                </a:solidFill>
                <a:latin typeface="Arial"/>
                <a:cs typeface="Arial"/>
              </a:rPr>
              <a:t>forest</a:t>
            </a:r>
            <a:r>
              <a:rPr lang="en-US" sz="2000" i="1" spc="10" dirty="0">
                <a:solidFill>
                  <a:srgbClr val="1B577B"/>
                </a:solidFill>
                <a:latin typeface="Arial"/>
                <a:cs typeface="Arial"/>
              </a:rPr>
              <a:t> builds</a:t>
            </a:r>
            <a:r>
              <a:rPr lang="en-US" sz="2000" i="1" spc="-10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2000" i="1" spc="10" dirty="0">
                <a:solidFill>
                  <a:srgbClr val="1B577B"/>
                </a:solidFill>
                <a:latin typeface="Arial"/>
                <a:cs typeface="Arial"/>
              </a:rPr>
              <a:t>multiple</a:t>
            </a:r>
            <a:r>
              <a:rPr lang="en-US" sz="2000" i="1" spc="-10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2000" i="1" spc="10" dirty="0">
                <a:solidFill>
                  <a:srgbClr val="1B577B"/>
                </a:solidFill>
                <a:latin typeface="Arial"/>
                <a:cs typeface="Arial"/>
              </a:rPr>
              <a:t>decision</a:t>
            </a:r>
            <a:r>
              <a:rPr lang="en-US" sz="2000" i="1" spc="-100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2000" i="1" spc="-10" dirty="0">
                <a:solidFill>
                  <a:srgbClr val="1B577B"/>
                </a:solidFill>
                <a:latin typeface="Arial"/>
                <a:cs typeface="Arial"/>
              </a:rPr>
              <a:t>trees</a:t>
            </a:r>
            <a:r>
              <a:rPr lang="en-US" sz="2000" i="1" spc="50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2000" i="1" dirty="0">
                <a:solidFill>
                  <a:srgbClr val="1B577B"/>
                </a:solidFill>
                <a:latin typeface="Arial"/>
                <a:cs typeface="Arial"/>
              </a:rPr>
              <a:t>and</a:t>
            </a:r>
            <a:r>
              <a:rPr lang="en-US" sz="2000" i="1" spc="-2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2000" i="1" spc="5" dirty="0">
                <a:solidFill>
                  <a:srgbClr val="1B577B"/>
                </a:solidFill>
                <a:latin typeface="Arial"/>
                <a:cs typeface="Arial"/>
              </a:rPr>
              <a:t>merges</a:t>
            </a:r>
            <a:r>
              <a:rPr lang="en-US" sz="2000" i="1" spc="-10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2000" i="1" spc="-5" dirty="0">
                <a:solidFill>
                  <a:srgbClr val="1B577B"/>
                </a:solidFill>
                <a:latin typeface="Arial"/>
                <a:cs typeface="Arial"/>
              </a:rPr>
              <a:t>them</a:t>
            </a:r>
            <a:r>
              <a:rPr lang="en-US" sz="2000" i="1" spc="1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2000" i="1" spc="-5" dirty="0">
                <a:solidFill>
                  <a:srgbClr val="1B577B"/>
                </a:solidFill>
                <a:latin typeface="Arial"/>
                <a:cs typeface="Arial"/>
              </a:rPr>
              <a:t>together  </a:t>
            </a:r>
            <a:r>
              <a:rPr lang="en-US" sz="2000" i="1" spc="-20" dirty="0">
                <a:solidFill>
                  <a:srgbClr val="1B577B"/>
                </a:solidFill>
                <a:latin typeface="Arial"/>
                <a:cs typeface="Arial"/>
              </a:rPr>
              <a:t>to </a:t>
            </a:r>
            <a:r>
              <a:rPr lang="en-US" sz="2000" i="1" dirty="0">
                <a:solidFill>
                  <a:srgbClr val="1B577B"/>
                </a:solidFill>
                <a:latin typeface="Arial"/>
                <a:cs typeface="Arial"/>
              </a:rPr>
              <a:t>get a </a:t>
            </a:r>
            <a:r>
              <a:rPr lang="en-US" sz="2000" i="1" spc="5" dirty="0">
                <a:solidFill>
                  <a:srgbClr val="1B577B"/>
                </a:solidFill>
                <a:latin typeface="Arial"/>
                <a:cs typeface="Arial"/>
              </a:rPr>
              <a:t>more </a:t>
            </a:r>
            <a:r>
              <a:rPr lang="en-US" sz="2000" i="1" spc="-10" dirty="0">
                <a:solidFill>
                  <a:srgbClr val="1B577B"/>
                </a:solidFill>
                <a:latin typeface="Arial"/>
                <a:cs typeface="Arial"/>
              </a:rPr>
              <a:t>accurate </a:t>
            </a:r>
            <a:r>
              <a:rPr lang="en-US" sz="2000" i="1" dirty="0">
                <a:solidFill>
                  <a:srgbClr val="1B577B"/>
                </a:solidFill>
                <a:latin typeface="Arial"/>
                <a:cs typeface="Arial"/>
              </a:rPr>
              <a:t>and stable</a:t>
            </a:r>
            <a:r>
              <a:rPr lang="en-US" sz="2000" i="1" spc="-6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2000" i="1" dirty="0">
                <a:solidFill>
                  <a:srgbClr val="1B577B"/>
                </a:solidFill>
                <a:latin typeface="Arial"/>
                <a:cs typeface="Arial"/>
              </a:rPr>
              <a:t>prediction”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44291" y="2350667"/>
            <a:ext cx="6096000" cy="101053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770"/>
              </a:spcBef>
              <a:buChar char="•"/>
              <a:tabLst>
                <a:tab pos="250825" algn="l"/>
                <a:tab pos="251460" algn="l"/>
              </a:tabLst>
            </a:pPr>
            <a:r>
              <a:rPr lang="en-US" sz="1600" spc="-55" dirty="0">
                <a:solidFill>
                  <a:srgbClr val="595959"/>
                </a:solidFill>
                <a:latin typeface="Arial"/>
                <a:cs typeface="Arial"/>
              </a:rPr>
              <a:t>It </a:t>
            </a:r>
            <a:r>
              <a:rPr lang="en-US" sz="1600" spc="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lang="en-US" sz="1600" spc="-30" dirty="0">
                <a:solidFill>
                  <a:srgbClr val="595959"/>
                </a:solidFill>
                <a:latin typeface="Arial"/>
                <a:cs typeface="Arial"/>
              </a:rPr>
              <a:t>type </a:t>
            </a: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lang="en-US" sz="1600" spc="-20" dirty="0">
                <a:solidFill>
                  <a:srgbClr val="595959"/>
                </a:solidFill>
                <a:latin typeface="Arial"/>
                <a:cs typeface="Arial"/>
              </a:rPr>
              <a:t>ensemble </a:t>
            </a:r>
            <a:r>
              <a:rPr lang="en-US" sz="1600" spc="-25" dirty="0">
                <a:solidFill>
                  <a:srgbClr val="595959"/>
                </a:solidFill>
                <a:latin typeface="Arial"/>
                <a:cs typeface="Arial"/>
              </a:rPr>
              <a:t>learning </a:t>
            </a:r>
            <a:r>
              <a:rPr lang="en-US" sz="1600" spc="-20" dirty="0">
                <a:solidFill>
                  <a:srgbClr val="595959"/>
                </a:solidFill>
                <a:latin typeface="Arial"/>
                <a:cs typeface="Arial"/>
              </a:rPr>
              <a:t>method, </a:t>
            </a:r>
            <a:r>
              <a:rPr lang="en-US" sz="1600" spc="-30" dirty="0">
                <a:solidFill>
                  <a:srgbClr val="595959"/>
                </a:solidFill>
                <a:latin typeface="Arial"/>
                <a:cs typeface="Arial"/>
              </a:rPr>
              <a:t>where </a:t>
            </a: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lang="en-US" sz="1600" spc="-20" dirty="0">
                <a:solidFill>
                  <a:srgbClr val="595959"/>
                </a:solidFill>
                <a:latin typeface="Arial"/>
                <a:cs typeface="Arial"/>
              </a:rPr>
              <a:t>group </a:t>
            </a: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lang="en-US" sz="16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595959"/>
                </a:solidFill>
                <a:latin typeface="Arial"/>
                <a:cs typeface="Arial"/>
              </a:rPr>
              <a:t>weak</a:t>
            </a:r>
            <a:endParaRPr lang="en-US" sz="1600" dirty="0">
              <a:latin typeface="Arial"/>
              <a:cs typeface="Arial"/>
            </a:endParaRPr>
          </a:p>
          <a:p>
            <a:pPr marL="250825">
              <a:lnSpc>
                <a:spcPct val="100000"/>
              </a:lnSpc>
              <a:spcBef>
                <a:spcPts val="665"/>
              </a:spcBef>
            </a:pPr>
            <a:r>
              <a:rPr lang="en-US" sz="1600" spc="-10" dirty="0">
                <a:solidFill>
                  <a:srgbClr val="595959"/>
                </a:solidFill>
                <a:latin typeface="Arial"/>
                <a:cs typeface="Arial"/>
              </a:rPr>
              <a:t>models combine </a:t>
            </a:r>
            <a:r>
              <a:rPr lang="en-US" sz="1600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z="1600" spc="-15" dirty="0">
                <a:solidFill>
                  <a:srgbClr val="595959"/>
                </a:solidFill>
                <a:latin typeface="Arial"/>
                <a:cs typeface="Arial"/>
              </a:rPr>
              <a:t>form </a:t>
            </a: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lang="en-US" sz="1600" spc="-25" dirty="0">
                <a:solidFill>
                  <a:srgbClr val="595959"/>
                </a:solidFill>
                <a:latin typeface="Arial"/>
                <a:cs typeface="Arial"/>
              </a:rPr>
              <a:t>powerful</a:t>
            </a:r>
            <a:r>
              <a:rPr lang="en-US" sz="1600" spc="-5" dirty="0">
                <a:solidFill>
                  <a:srgbClr val="595959"/>
                </a:solidFill>
                <a:latin typeface="Arial"/>
                <a:cs typeface="Arial"/>
              </a:rPr>
              <a:t> model</a:t>
            </a:r>
            <a:endParaRPr lang="en-US" sz="1600" dirty="0">
              <a:latin typeface="Arial"/>
              <a:cs typeface="Arial"/>
            </a:endParaRPr>
          </a:p>
          <a:p>
            <a:pPr marL="250825" indent="-238760">
              <a:lnSpc>
                <a:spcPct val="100000"/>
              </a:lnSpc>
              <a:spcBef>
                <a:spcPts val="735"/>
              </a:spcBef>
              <a:buChar char="•"/>
              <a:tabLst>
                <a:tab pos="250825" algn="l"/>
                <a:tab pos="251460" algn="l"/>
              </a:tabLst>
            </a:pPr>
            <a:r>
              <a:rPr lang="en-US" sz="1600" spc="-30" dirty="0">
                <a:solidFill>
                  <a:srgbClr val="595959"/>
                </a:solidFill>
                <a:latin typeface="Arial"/>
                <a:cs typeface="Arial"/>
              </a:rPr>
              <a:t>Trained </a:t>
            </a:r>
            <a:r>
              <a:rPr lang="en-US" sz="1600" spc="-1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lang="en-US" sz="1600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z="1600" spc="-10" dirty="0">
                <a:solidFill>
                  <a:srgbClr val="595959"/>
                </a:solidFill>
                <a:latin typeface="Arial"/>
                <a:cs typeface="Arial"/>
              </a:rPr>
              <a:t>“bagging”</a:t>
            </a:r>
            <a:r>
              <a:rPr lang="en-US" sz="16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595959"/>
                </a:solidFill>
                <a:latin typeface="Arial"/>
                <a:cs typeface="Arial"/>
              </a:rPr>
              <a:t>method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12" name="object 2"/>
          <p:cNvSpPr/>
          <p:nvPr/>
        </p:nvSpPr>
        <p:spPr>
          <a:xfrm>
            <a:off x="5043337" y="3439722"/>
            <a:ext cx="5112178" cy="290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29746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68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87087" y="436579"/>
            <a:ext cx="3545204" cy="2012915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3192546"/>
            <a:ext cx="3545204" cy="2737199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5"/>
          <p:cNvSpPr/>
          <p:nvPr/>
        </p:nvSpPr>
        <p:spPr>
          <a:xfrm>
            <a:off x="83130" y="2046020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6"/>
          <p:cNvSpPr txBox="1"/>
          <p:nvPr/>
        </p:nvSpPr>
        <p:spPr>
          <a:xfrm>
            <a:off x="70430" y="2050911"/>
            <a:ext cx="3259454" cy="165925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sz="3800" b="1" spc="-5" dirty="0">
                <a:solidFill>
                  <a:srgbClr val="FFFFFF"/>
                </a:solidFill>
                <a:latin typeface="Arial"/>
                <a:cs typeface="Arial"/>
              </a:rPr>
              <a:t>Random  </a:t>
            </a:r>
            <a:r>
              <a:rPr sz="3800" b="1" dirty="0">
                <a:solidFill>
                  <a:srgbClr val="FFFFFF"/>
                </a:solidFill>
                <a:latin typeface="Arial"/>
                <a:cs typeface="Arial"/>
              </a:rPr>
              <a:t>Forest- </a:t>
            </a:r>
            <a:r>
              <a:rPr sz="3800" b="1" spc="15" dirty="0">
                <a:solidFill>
                  <a:srgbClr val="FFFFFF"/>
                </a:solidFill>
                <a:latin typeface="Arial"/>
                <a:cs typeface="Arial"/>
              </a:rPr>
              <a:t>How  </a:t>
            </a:r>
            <a:r>
              <a:rPr sz="3800" b="1" spc="5" dirty="0">
                <a:solidFill>
                  <a:srgbClr val="FFFFFF"/>
                </a:solidFill>
                <a:latin typeface="Arial"/>
                <a:cs typeface="Arial"/>
              </a:rPr>
              <a:t>Does </a:t>
            </a:r>
            <a:r>
              <a:rPr sz="3800" b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3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b="1" spc="-25" dirty="0">
                <a:solidFill>
                  <a:srgbClr val="FFFFFF"/>
                </a:solidFill>
                <a:latin typeface="Arial"/>
                <a:cs typeface="Arial"/>
              </a:rPr>
              <a:t>Work?</a:t>
            </a:r>
            <a:endParaRPr sz="3800" dirty="0">
              <a:latin typeface="Arial"/>
              <a:cs typeface="Arial"/>
            </a:endParaRPr>
          </a:p>
        </p:txBody>
      </p:sp>
      <p:sp>
        <p:nvSpPr>
          <p:cNvPr id="18" name="object 10"/>
          <p:cNvSpPr/>
          <p:nvPr/>
        </p:nvSpPr>
        <p:spPr>
          <a:xfrm>
            <a:off x="5431002" y="1876432"/>
            <a:ext cx="4552950" cy="10001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1"/>
          <p:cNvSpPr/>
          <p:nvPr/>
        </p:nvSpPr>
        <p:spPr>
          <a:xfrm>
            <a:off x="5592927" y="2085982"/>
            <a:ext cx="4305300" cy="6191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2"/>
          <p:cNvSpPr/>
          <p:nvPr/>
        </p:nvSpPr>
        <p:spPr>
          <a:xfrm>
            <a:off x="5515457" y="1905007"/>
            <a:ext cx="4468495" cy="914400"/>
          </a:xfrm>
          <a:custGeom>
            <a:avLst/>
            <a:gdLst/>
            <a:ahLst/>
            <a:cxnLst/>
            <a:rect l="l" t="t" r="r" b="b"/>
            <a:pathLst>
              <a:path w="4468495" h="914400">
                <a:moveTo>
                  <a:pt x="4316090" y="0"/>
                </a:moveTo>
                <a:lnTo>
                  <a:pt x="152400" y="0"/>
                </a:lnTo>
                <a:lnTo>
                  <a:pt x="104258" y="7764"/>
                </a:lnTo>
                <a:lnTo>
                  <a:pt x="62426" y="29390"/>
                </a:lnTo>
                <a:lnTo>
                  <a:pt x="29425" y="62373"/>
                </a:lnTo>
                <a:lnTo>
                  <a:pt x="7776" y="104211"/>
                </a:lnTo>
                <a:lnTo>
                  <a:pt x="0" y="152400"/>
                </a:lnTo>
                <a:lnTo>
                  <a:pt x="0" y="762000"/>
                </a:lnTo>
                <a:lnTo>
                  <a:pt x="7776" y="810176"/>
                </a:lnTo>
                <a:lnTo>
                  <a:pt x="29425" y="852013"/>
                </a:lnTo>
                <a:lnTo>
                  <a:pt x="62426" y="885000"/>
                </a:lnTo>
                <a:lnTo>
                  <a:pt x="104258" y="906632"/>
                </a:lnTo>
                <a:lnTo>
                  <a:pt x="152400" y="914400"/>
                </a:lnTo>
                <a:lnTo>
                  <a:pt x="4316090" y="914400"/>
                </a:lnTo>
                <a:lnTo>
                  <a:pt x="4364266" y="906632"/>
                </a:lnTo>
                <a:lnTo>
                  <a:pt x="4406103" y="885000"/>
                </a:lnTo>
                <a:lnTo>
                  <a:pt x="4439090" y="852013"/>
                </a:lnTo>
                <a:lnTo>
                  <a:pt x="4460722" y="810176"/>
                </a:lnTo>
                <a:lnTo>
                  <a:pt x="4468490" y="762000"/>
                </a:lnTo>
                <a:lnTo>
                  <a:pt x="4468490" y="152400"/>
                </a:lnTo>
                <a:lnTo>
                  <a:pt x="4460722" y="104211"/>
                </a:lnTo>
                <a:lnTo>
                  <a:pt x="4439090" y="62373"/>
                </a:lnTo>
                <a:lnTo>
                  <a:pt x="4406103" y="29390"/>
                </a:lnTo>
                <a:lnTo>
                  <a:pt x="4364266" y="7764"/>
                </a:lnTo>
                <a:lnTo>
                  <a:pt x="4316090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3"/>
          <p:cNvSpPr txBox="1">
            <a:spLocks noGrp="1"/>
          </p:cNvSpPr>
          <p:nvPr>
            <p:ph type="title"/>
          </p:nvPr>
        </p:nvSpPr>
        <p:spPr>
          <a:xfrm>
            <a:off x="5761444" y="2167721"/>
            <a:ext cx="3959225" cy="37895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794385" marR="5080" indent="-782320">
              <a:lnSpc>
                <a:spcPts val="1430"/>
              </a:lnSpc>
              <a:spcBef>
                <a:spcPts val="155"/>
              </a:spcBef>
            </a:pPr>
            <a:r>
              <a:rPr lang="en-US" sz="1400" b="0" cap="none" spc="-45" dirty="0" smtClean="0">
                <a:solidFill>
                  <a:schemeClr val="bg1"/>
                </a:solidFill>
                <a:latin typeface="Arial"/>
                <a:cs typeface="Arial"/>
              </a:rPr>
              <a:t>The </a:t>
            </a:r>
            <a:r>
              <a:rPr lang="en-US" sz="1400" b="0" cap="none" spc="-15" dirty="0" smtClean="0">
                <a:solidFill>
                  <a:schemeClr val="bg1"/>
                </a:solidFill>
                <a:latin typeface="Arial"/>
                <a:cs typeface="Arial"/>
              </a:rPr>
              <a:t>algorithm </a:t>
            </a:r>
            <a:r>
              <a:rPr lang="en-US" sz="1400" b="0" cap="none" spc="-10" dirty="0" smtClean="0">
                <a:solidFill>
                  <a:schemeClr val="bg1"/>
                </a:solidFill>
                <a:latin typeface="Arial"/>
                <a:cs typeface="Arial"/>
              </a:rPr>
              <a:t>creates </a:t>
            </a:r>
            <a:r>
              <a:rPr lang="en-US" sz="1400" b="0" cap="none" spc="-15" dirty="0" smtClean="0">
                <a:solidFill>
                  <a:schemeClr val="bg1"/>
                </a:solidFill>
                <a:latin typeface="Arial"/>
                <a:cs typeface="Arial"/>
              </a:rPr>
              <a:t>random subsets with random </a:t>
            </a:r>
            <a:r>
              <a:rPr lang="en-US" sz="1400" b="0" cap="none" spc="-30" dirty="0" smtClean="0">
                <a:solidFill>
                  <a:schemeClr val="bg1"/>
                </a:solidFill>
                <a:latin typeface="Arial"/>
                <a:cs typeface="Arial"/>
              </a:rPr>
              <a:t>values  </a:t>
            </a:r>
            <a:r>
              <a:rPr lang="en-US" sz="1400" b="0" cap="none" spc="-15" dirty="0" smtClean="0">
                <a:solidFill>
                  <a:schemeClr val="bg1"/>
                </a:solidFill>
                <a:latin typeface="Arial"/>
                <a:cs typeface="Arial"/>
              </a:rPr>
              <a:t>from </a:t>
            </a:r>
            <a:r>
              <a:rPr lang="en-US" sz="1400" b="0" cap="none" spc="-35" dirty="0" smtClean="0">
                <a:solidFill>
                  <a:schemeClr val="bg1"/>
                </a:solidFill>
                <a:latin typeface="Arial"/>
                <a:cs typeface="Arial"/>
              </a:rPr>
              <a:t>the </a:t>
            </a:r>
            <a:r>
              <a:rPr lang="en-US" sz="1400" b="0" cap="none" spc="-10" dirty="0" smtClean="0">
                <a:solidFill>
                  <a:schemeClr val="bg1"/>
                </a:solidFill>
                <a:latin typeface="Arial"/>
                <a:cs typeface="Arial"/>
              </a:rPr>
              <a:t>complete</a:t>
            </a:r>
            <a:r>
              <a:rPr lang="en-US" sz="1400" b="0" cap="none" spc="-70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400" b="0" cap="none" spc="-5" dirty="0" smtClean="0">
                <a:solidFill>
                  <a:schemeClr val="bg1"/>
                </a:solidFill>
                <a:latin typeface="Arial"/>
                <a:cs typeface="Arial"/>
              </a:rPr>
              <a:t>dataset</a:t>
            </a:r>
            <a:endParaRPr lang="en-US" sz="1400" cap="none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2" name="object 14"/>
          <p:cNvSpPr/>
          <p:nvPr/>
        </p:nvSpPr>
        <p:spPr>
          <a:xfrm>
            <a:off x="5431002" y="3171832"/>
            <a:ext cx="4552950" cy="10001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5"/>
          <p:cNvSpPr/>
          <p:nvPr/>
        </p:nvSpPr>
        <p:spPr>
          <a:xfrm>
            <a:off x="5478627" y="3381382"/>
            <a:ext cx="4514850" cy="6191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6"/>
          <p:cNvSpPr/>
          <p:nvPr/>
        </p:nvSpPr>
        <p:spPr>
          <a:xfrm>
            <a:off x="5499963" y="3183130"/>
            <a:ext cx="4468495" cy="914400"/>
          </a:xfrm>
          <a:custGeom>
            <a:avLst/>
            <a:gdLst/>
            <a:ahLst/>
            <a:cxnLst/>
            <a:rect l="l" t="t" r="r" b="b"/>
            <a:pathLst>
              <a:path w="4468495" h="914400">
                <a:moveTo>
                  <a:pt x="4316090" y="0"/>
                </a:moveTo>
                <a:lnTo>
                  <a:pt x="152400" y="0"/>
                </a:lnTo>
                <a:lnTo>
                  <a:pt x="104258" y="7766"/>
                </a:lnTo>
                <a:lnTo>
                  <a:pt x="62426" y="29394"/>
                </a:lnTo>
                <a:lnTo>
                  <a:pt x="29425" y="62380"/>
                </a:lnTo>
                <a:lnTo>
                  <a:pt x="7776" y="104217"/>
                </a:lnTo>
                <a:lnTo>
                  <a:pt x="0" y="152400"/>
                </a:lnTo>
                <a:lnTo>
                  <a:pt x="0" y="762000"/>
                </a:lnTo>
                <a:lnTo>
                  <a:pt x="7776" y="810182"/>
                </a:lnTo>
                <a:lnTo>
                  <a:pt x="29425" y="852019"/>
                </a:lnTo>
                <a:lnTo>
                  <a:pt x="62426" y="885005"/>
                </a:lnTo>
                <a:lnTo>
                  <a:pt x="104258" y="906633"/>
                </a:lnTo>
                <a:lnTo>
                  <a:pt x="152400" y="914400"/>
                </a:lnTo>
                <a:lnTo>
                  <a:pt x="4316090" y="914400"/>
                </a:lnTo>
                <a:lnTo>
                  <a:pt x="4364266" y="906633"/>
                </a:lnTo>
                <a:lnTo>
                  <a:pt x="4406103" y="885005"/>
                </a:lnTo>
                <a:lnTo>
                  <a:pt x="4439090" y="852019"/>
                </a:lnTo>
                <a:lnTo>
                  <a:pt x="4460722" y="810182"/>
                </a:lnTo>
                <a:lnTo>
                  <a:pt x="4468490" y="762000"/>
                </a:lnTo>
                <a:lnTo>
                  <a:pt x="4468490" y="152400"/>
                </a:lnTo>
                <a:lnTo>
                  <a:pt x="4460722" y="104217"/>
                </a:lnTo>
                <a:lnTo>
                  <a:pt x="4439090" y="62380"/>
                </a:lnTo>
                <a:lnTo>
                  <a:pt x="4406103" y="29394"/>
                </a:lnTo>
                <a:lnTo>
                  <a:pt x="4364266" y="7766"/>
                </a:lnTo>
                <a:lnTo>
                  <a:pt x="4316090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/>
          <p:cNvSpPr txBox="1"/>
          <p:nvPr/>
        </p:nvSpPr>
        <p:spPr>
          <a:xfrm>
            <a:off x="5646890" y="3449642"/>
            <a:ext cx="419100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614805" marR="5080" indent="-1602105">
              <a:lnSpc>
                <a:spcPts val="1430"/>
              </a:lnSpc>
              <a:spcBef>
                <a:spcPts val="155"/>
              </a:spcBef>
            </a:pPr>
            <a:r>
              <a:rPr sz="1400" dirty="0" smtClean="0">
                <a:solidFill>
                  <a:srgbClr val="FFFFFF"/>
                </a:solidFill>
                <a:latin typeface="Arial"/>
                <a:cs typeface="Arial"/>
              </a:rPr>
              <a:t>From each </a:t>
            </a:r>
            <a:r>
              <a:rPr sz="1400" spc="-15" dirty="0" smtClean="0">
                <a:solidFill>
                  <a:srgbClr val="FFFFFF"/>
                </a:solidFill>
                <a:latin typeface="Arial"/>
                <a:cs typeface="Arial"/>
              </a:rPr>
              <a:t>subset, </a:t>
            </a:r>
            <a:r>
              <a:rPr sz="1400" spc="15" dirty="0" smtClean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400" spc="-10" dirty="0" smtClean="0">
                <a:solidFill>
                  <a:srgbClr val="FFFFFF"/>
                </a:solidFill>
                <a:latin typeface="Arial"/>
                <a:cs typeface="Arial"/>
              </a:rPr>
              <a:t>creates </a:t>
            </a:r>
            <a:r>
              <a:rPr sz="1400" dirty="0" smtClean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10" dirty="0" smtClean="0">
                <a:solidFill>
                  <a:srgbClr val="FFFFFF"/>
                </a:solidFill>
                <a:latin typeface="Arial"/>
                <a:cs typeface="Arial"/>
              </a:rPr>
              <a:t>decision </a:t>
            </a:r>
            <a:r>
              <a:rPr sz="1400" spc="-10" dirty="0" smtClean="0">
                <a:solidFill>
                  <a:srgbClr val="FFFFFF"/>
                </a:solidFill>
                <a:latin typeface="Arial"/>
                <a:cs typeface="Arial"/>
              </a:rPr>
              <a:t>tree. </a:t>
            </a:r>
            <a:r>
              <a:rPr sz="1400" spc="5" dirty="0" smtClean="0">
                <a:solidFill>
                  <a:srgbClr val="FFFFFF"/>
                </a:solidFill>
                <a:latin typeface="Arial"/>
                <a:cs typeface="Arial"/>
              </a:rPr>
              <a:t>Each </a:t>
            </a:r>
            <a:r>
              <a:rPr sz="1400" spc="-15" dirty="0" smtClean="0">
                <a:solidFill>
                  <a:srgbClr val="FFFFFF"/>
                </a:solidFill>
                <a:latin typeface="Arial"/>
                <a:cs typeface="Arial"/>
              </a:rPr>
              <a:t>tree </a:t>
            </a:r>
            <a:r>
              <a:rPr sz="1400" spc="15" dirty="0" smtClean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400" spc="-20" dirty="0" smtClean="0">
                <a:solidFill>
                  <a:srgbClr val="FFFFFF"/>
                </a:solidFill>
                <a:latin typeface="Arial"/>
                <a:cs typeface="Arial"/>
              </a:rPr>
              <a:t>built  </a:t>
            </a:r>
            <a:r>
              <a:rPr sz="1400" spc="-15" dirty="0" smtClean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1400" dirty="0" smtClean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7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 smtClean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6" name="object 18"/>
          <p:cNvSpPr/>
          <p:nvPr/>
        </p:nvSpPr>
        <p:spPr>
          <a:xfrm>
            <a:off x="5431002" y="4457707"/>
            <a:ext cx="4552950" cy="10001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/>
          <p:nvPr/>
        </p:nvSpPr>
        <p:spPr>
          <a:xfrm>
            <a:off x="5669127" y="4667257"/>
            <a:ext cx="4152900" cy="6191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0"/>
          <p:cNvSpPr/>
          <p:nvPr/>
        </p:nvSpPr>
        <p:spPr>
          <a:xfrm>
            <a:off x="5499963" y="4474221"/>
            <a:ext cx="4468495" cy="915035"/>
          </a:xfrm>
          <a:custGeom>
            <a:avLst/>
            <a:gdLst/>
            <a:ahLst/>
            <a:cxnLst/>
            <a:rect l="l" t="t" r="r" b="b"/>
            <a:pathLst>
              <a:path w="4468495" h="915035">
                <a:moveTo>
                  <a:pt x="4316090" y="0"/>
                </a:moveTo>
                <a:lnTo>
                  <a:pt x="152400" y="0"/>
                </a:lnTo>
                <a:lnTo>
                  <a:pt x="104258" y="7766"/>
                </a:lnTo>
                <a:lnTo>
                  <a:pt x="62426" y="29394"/>
                </a:lnTo>
                <a:lnTo>
                  <a:pt x="29425" y="62380"/>
                </a:lnTo>
                <a:lnTo>
                  <a:pt x="7776" y="104217"/>
                </a:lnTo>
                <a:lnTo>
                  <a:pt x="0" y="152400"/>
                </a:lnTo>
                <a:lnTo>
                  <a:pt x="0" y="762024"/>
                </a:lnTo>
                <a:lnTo>
                  <a:pt x="7776" y="810193"/>
                </a:lnTo>
                <a:lnTo>
                  <a:pt x="29425" y="852028"/>
                </a:lnTo>
                <a:lnTo>
                  <a:pt x="62426" y="885018"/>
                </a:lnTo>
                <a:lnTo>
                  <a:pt x="104258" y="906654"/>
                </a:lnTo>
                <a:lnTo>
                  <a:pt x="152400" y="914424"/>
                </a:lnTo>
                <a:lnTo>
                  <a:pt x="4316090" y="914424"/>
                </a:lnTo>
                <a:lnTo>
                  <a:pt x="4364266" y="906654"/>
                </a:lnTo>
                <a:lnTo>
                  <a:pt x="4406103" y="885018"/>
                </a:lnTo>
                <a:lnTo>
                  <a:pt x="4439090" y="852028"/>
                </a:lnTo>
                <a:lnTo>
                  <a:pt x="4460722" y="810193"/>
                </a:lnTo>
                <a:lnTo>
                  <a:pt x="4468490" y="762024"/>
                </a:lnTo>
                <a:lnTo>
                  <a:pt x="4468490" y="152400"/>
                </a:lnTo>
                <a:lnTo>
                  <a:pt x="4460722" y="104217"/>
                </a:lnTo>
                <a:lnTo>
                  <a:pt x="4439090" y="62380"/>
                </a:lnTo>
                <a:lnTo>
                  <a:pt x="4406103" y="29394"/>
                </a:lnTo>
                <a:lnTo>
                  <a:pt x="4364266" y="7766"/>
                </a:lnTo>
                <a:lnTo>
                  <a:pt x="4316090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1"/>
          <p:cNvSpPr txBox="1"/>
          <p:nvPr/>
        </p:nvSpPr>
        <p:spPr>
          <a:xfrm>
            <a:off x="5837644" y="4743142"/>
            <a:ext cx="3810000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690370" marR="5080" indent="-1678305">
              <a:lnSpc>
                <a:spcPts val="1430"/>
              </a:lnSpc>
              <a:spcBef>
                <a:spcPts val="155"/>
              </a:spcBef>
            </a:pP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So,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creates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multiple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decision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trees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and then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merge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43451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69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87087" y="374073"/>
            <a:ext cx="3545204" cy="1885488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2790761"/>
            <a:ext cx="3545204" cy="2792621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5"/>
          <p:cNvSpPr/>
          <p:nvPr/>
        </p:nvSpPr>
        <p:spPr>
          <a:xfrm>
            <a:off x="77557" y="1987323"/>
            <a:ext cx="354520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6"/>
          <p:cNvSpPr txBox="1"/>
          <p:nvPr/>
        </p:nvSpPr>
        <p:spPr>
          <a:xfrm>
            <a:off x="229962" y="1848085"/>
            <a:ext cx="3259454" cy="165925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sz="3800" b="1" spc="-5" dirty="0">
                <a:solidFill>
                  <a:srgbClr val="FFFFFF"/>
                </a:solidFill>
                <a:latin typeface="Arial"/>
                <a:cs typeface="Arial"/>
              </a:rPr>
              <a:t>Random  </a:t>
            </a:r>
            <a:r>
              <a:rPr sz="3800" b="1" dirty="0">
                <a:solidFill>
                  <a:srgbClr val="FFFFFF"/>
                </a:solidFill>
                <a:latin typeface="Arial"/>
                <a:cs typeface="Arial"/>
              </a:rPr>
              <a:t>Forest- </a:t>
            </a:r>
            <a:r>
              <a:rPr sz="3800" b="1" spc="15" dirty="0">
                <a:solidFill>
                  <a:srgbClr val="FFFFFF"/>
                </a:solidFill>
                <a:latin typeface="Arial"/>
                <a:cs typeface="Arial"/>
              </a:rPr>
              <a:t>How  </a:t>
            </a:r>
            <a:r>
              <a:rPr sz="3800" b="1" spc="5" dirty="0">
                <a:solidFill>
                  <a:srgbClr val="FFFFFF"/>
                </a:solidFill>
                <a:latin typeface="Arial"/>
                <a:cs typeface="Arial"/>
              </a:rPr>
              <a:t>Does </a:t>
            </a:r>
            <a:r>
              <a:rPr sz="3800" b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3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b="1" spc="-25" dirty="0">
                <a:solidFill>
                  <a:srgbClr val="FFFFFF"/>
                </a:solidFill>
                <a:latin typeface="Arial"/>
                <a:cs typeface="Arial"/>
              </a:rPr>
              <a:t>Work?</a:t>
            </a:r>
            <a:endParaRPr sz="3800" dirty="0">
              <a:latin typeface="Arial"/>
              <a:cs typeface="Arial"/>
            </a:endParaRPr>
          </a:p>
        </p:txBody>
      </p:sp>
      <p:sp>
        <p:nvSpPr>
          <p:cNvPr id="8" name="object 10"/>
          <p:cNvSpPr/>
          <p:nvPr/>
        </p:nvSpPr>
        <p:spPr>
          <a:xfrm>
            <a:off x="4599728" y="1114425"/>
            <a:ext cx="5886836" cy="12274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1"/>
          <p:cNvSpPr/>
          <p:nvPr/>
        </p:nvSpPr>
        <p:spPr>
          <a:xfrm>
            <a:off x="4675913" y="1143000"/>
            <a:ext cx="5751384" cy="12040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/>
          <p:cNvSpPr/>
          <p:nvPr/>
        </p:nvSpPr>
        <p:spPr>
          <a:xfrm>
            <a:off x="4668689" y="1130044"/>
            <a:ext cx="5777638" cy="1122243"/>
          </a:xfrm>
          <a:custGeom>
            <a:avLst/>
            <a:gdLst/>
            <a:ahLst/>
            <a:cxnLst/>
            <a:rect l="l" t="t" r="r" b="b"/>
            <a:pathLst>
              <a:path w="4468495" h="914400">
                <a:moveTo>
                  <a:pt x="4316090" y="0"/>
                </a:moveTo>
                <a:lnTo>
                  <a:pt x="152400" y="0"/>
                </a:lnTo>
                <a:lnTo>
                  <a:pt x="104258" y="7764"/>
                </a:lnTo>
                <a:lnTo>
                  <a:pt x="62426" y="29390"/>
                </a:lnTo>
                <a:lnTo>
                  <a:pt x="29425" y="62373"/>
                </a:lnTo>
                <a:lnTo>
                  <a:pt x="7776" y="104211"/>
                </a:lnTo>
                <a:lnTo>
                  <a:pt x="0" y="152400"/>
                </a:lnTo>
                <a:lnTo>
                  <a:pt x="0" y="762000"/>
                </a:lnTo>
                <a:lnTo>
                  <a:pt x="7776" y="810176"/>
                </a:lnTo>
                <a:lnTo>
                  <a:pt x="29425" y="852013"/>
                </a:lnTo>
                <a:lnTo>
                  <a:pt x="62426" y="885000"/>
                </a:lnTo>
                <a:lnTo>
                  <a:pt x="104258" y="906632"/>
                </a:lnTo>
                <a:lnTo>
                  <a:pt x="152400" y="914400"/>
                </a:lnTo>
                <a:lnTo>
                  <a:pt x="4316090" y="914400"/>
                </a:lnTo>
                <a:lnTo>
                  <a:pt x="4364266" y="906632"/>
                </a:lnTo>
                <a:lnTo>
                  <a:pt x="4406103" y="885000"/>
                </a:lnTo>
                <a:lnTo>
                  <a:pt x="4439090" y="852013"/>
                </a:lnTo>
                <a:lnTo>
                  <a:pt x="4460722" y="810176"/>
                </a:lnTo>
                <a:lnTo>
                  <a:pt x="4468490" y="762000"/>
                </a:lnTo>
                <a:lnTo>
                  <a:pt x="4468490" y="152400"/>
                </a:lnTo>
                <a:lnTo>
                  <a:pt x="4460722" y="104211"/>
                </a:lnTo>
                <a:lnTo>
                  <a:pt x="4439090" y="62373"/>
                </a:lnTo>
                <a:lnTo>
                  <a:pt x="4406103" y="29390"/>
                </a:lnTo>
                <a:lnTo>
                  <a:pt x="4364266" y="7764"/>
                </a:lnTo>
                <a:lnTo>
                  <a:pt x="4316090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3"/>
          <p:cNvSpPr txBox="1">
            <a:spLocks noGrp="1"/>
          </p:cNvSpPr>
          <p:nvPr>
            <p:ph type="title"/>
          </p:nvPr>
        </p:nvSpPr>
        <p:spPr>
          <a:xfrm>
            <a:off x="4763951" y="1428837"/>
            <a:ext cx="5343308" cy="558486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8255" algn="ctr">
              <a:lnSpc>
                <a:spcPts val="1430"/>
              </a:lnSpc>
              <a:spcBef>
                <a:spcPts val="155"/>
              </a:spcBef>
            </a:pPr>
            <a:r>
              <a:rPr lang="en-US" sz="1400" b="0" cap="none" spc="-10" dirty="0" smtClean="0">
                <a:solidFill>
                  <a:schemeClr val="bg1"/>
                </a:solidFill>
                <a:latin typeface="Arial"/>
                <a:cs typeface="Arial"/>
              </a:rPr>
              <a:t>Sampling </a:t>
            </a:r>
            <a:r>
              <a:rPr lang="en-US" sz="1400" b="0" cap="none" spc="15" dirty="0" smtClean="0">
                <a:solidFill>
                  <a:schemeClr val="bg1"/>
                </a:solidFill>
                <a:latin typeface="Arial"/>
                <a:cs typeface="Arial"/>
              </a:rPr>
              <a:t>is </a:t>
            </a:r>
            <a:r>
              <a:rPr lang="en-US" sz="1400" b="0" cap="none" spc="-15" dirty="0" smtClean="0">
                <a:solidFill>
                  <a:schemeClr val="bg1"/>
                </a:solidFill>
                <a:latin typeface="Arial"/>
                <a:cs typeface="Arial"/>
              </a:rPr>
              <a:t>done </a:t>
            </a:r>
            <a:r>
              <a:rPr lang="en-US" sz="1400" b="0" cap="none" dirty="0" smtClean="0">
                <a:solidFill>
                  <a:schemeClr val="bg1"/>
                </a:solidFill>
                <a:latin typeface="Arial"/>
                <a:cs typeface="Arial"/>
              </a:rPr>
              <a:t>on </a:t>
            </a:r>
            <a:r>
              <a:rPr lang="en-US" sz="1400" b="0" cap="none" spc="-35" dirty="0" smtClean="0">
                <a:solidFill>
                  <a:schemeClr val="bg1"/>
                </a:solidFill>
                <a:latin typeface="Arial"/>
                <a:cs typeface="Arial"/>
              </a:rPr>
              <a:t>the </a:t>
            </a:r>
            <a:r>
              <a:rPr lang="en-US" sz="1400" b="0" cap="none" spc="-20" dirty="0" smtClean="0">
                <a:solidFill>
                  <a:schemeClr val="bg1"/>
                </a:solidFill>
                <a:latin typeface="Arial"/>
                <a:cs typeface="Arial"/>
              </a:rPr>
              <a:t>training </a:t>
            </a:r>
            <a:r>
              <a:rPr lang="en-US" sz="1400" b="0" cap="none" spc="-10" dirty="0" smtClean="0">
                <a:solidFill>
                  <a:schemeClr val="bg1"/>
                </a:solidFill>
                <a:latin typeface="Arial"/>
                <a:cs typeface="Arial"/>
              </a:rPr>
              <a:t>dataset. </a:t>
            </a:r>
            <a:r>
              <a:rPr lang="en-US" sz="1400" b="0" cap="none" spc="-15" dirty="0" smtClean="0">
                <a:solidFill>
                  <a:schemeClr val="bg1"/>
                </a:solidFill>
                <a:latin typeface="Arial"/>
                <a:cs typeface="Arial"/>
              </a:rPr>
              <a:t>every </a:t>
            </a:r>
            <a:r>
              <a:rPr lang="en-US" sz="1400" b="0" cap="none" spc="-5" dirty="0" smtClean="0">
                <a:solidFill>
                  <a:schemeClr val="bg1"/>
                </a:solidFill>
                <a:latin typeface="Arial"/>
                <a:cs typeface="Arial"/>
              </a:rPr>
              <a:t>time, </a:t>
            </a:r>
            <a:r>
              <a:rPr lang="en-US" sz="1400" b="0" cap="none" dirty="0" smtClean="0">
                <a:solidFill>
                  <a:schemeClr val="bg1"/>
                </a:solidFill>
                <a:latin typeface="Arial"/>
                <a:cs typeface="Arial"/>
              </a:rPr>
              <a:t>a </a:t>
            </a:r>
            <a:r>
              <a:rPr lang="en-US" sz="1400" b="0" cap="none" spc="-25" dirty="0" smtClean="0">
                <a:solidFill>
                  <a:schemeClr val="bg1"/>
                </a:solidFill>
                <a:latin typeface="Arial"/>
                <a:cs typeface="Arial"/>
              </a:rPr>
              <a:t>new  </a:t>
            </a:r>
            <a:r>
              <a:rPr lang="en-US" sz="1400" b="0" cap="none" spc="-10" dirty="0" smtClean="0">
                <a:solidFill>
                  <a:schemeClr val="bg1"/>
                </a:solidFill>
                <a:latin typeface="Arial"/>
                <a:cs typeface="Arial"/>
              </a:rPr>
              <a:t>sample </a:t>
            </a:r>
            <a:r>
              <a:rPr lang="en-US" sz="1400" b="0" cap="none" spc="15" dirty="0" smtClean="0">
                <a:solidFill>
                  <a:schemeClr val="bg1"/>
                </a:solidFill>
                <a:latin typeface="Arial"/>
                <a:cs typeface="Arial"/>
              </a:rPr>
              <a:t>is </a:t>
            </a:r>
            <a:r>
              <a:rPr lang="en-US" sz="1400" b="0" cap="none" spc="-10" dirty="0" smtClean="0">
                <a:solidFill>
                  <a:schemeClr val="bg1"/>
                </a:solidFill>
                <a:latin typeface="Arial"/>
                <a:cs typeface="Arial"/>
              </a:rPr>
              <a:t>chosen </a:t>
            </a:r>
            <a:r>
              <a:rPr lang="en-US" sz="1400" b="0" cap="none" spc="-20" dirty="0" smtClean="0">
                <a:solidFill>
                  <a:schemeClr val="bg1"/>
                </a:solidFill>
                <a:latin typeface="Arial"/>
                <a:cs typeface="Arial"/>
              </a:rPr>
              <a:t>to </a:t>
            </a:r>
            <a:r>
              <a:rPr lang="en-US" sz="1400" b="0" cap="none" spc="-15" dirty="0" smtClean="0">
                <a:solidFill>
                  <a:schemeClr val="bg1"/>
                </a:solidFill>
                <a:latin typeface="Arial"/>
                <a:cs typeface="Arial"/>
              </a:rPr>
              <a:t>build </a:t>
            </a:r>
            <a:r>
              <a:rPr lang="en-US" sz="1400" b="0" cap="none" spc="-35" dirty="0" smtClean="0">
                <a:solidFill>
                  <a:schemeClr val="bg1"/>
                </a:solidFill>
                <a:latin typeface="Arial"/>
                <a:cs typeface="Arial"/>
              </a:rPr>
              <a:t>the </a:t>
            </a:r>
            <a:r>
              <a:rPr lang="en-US" sz="1400" b="0" cap="none" spc="-10" dirty="0" smtClean="0">
                <a:solidFill>
                  <a:schemeClr val="bg1"/>
                </a:solidFill>
                <a:latin typeface="Arial"/>
                <a:cs typeface="Arial"/>
              </a:rPr>
              <a:t>tree. </a:t>
            </a:r>
            <a:r>
              <a:rPr lang="en-US" sz="1400" b="0" cap="none" spc="-25" dirty="0" smtClean="0">
                <a:solidFill>
                  <a:schemeClr val="bg1"/>
                </a:solidFill>
                <a:latin typeface="Arial"/>
                <a:cs typeface="Arial"/>
              </a:rPr>
              <a:t>this </a:t>
            </a:r>
            <a:r>
              <a:rPr lang="en-US" sz="1400" b="0" cap="none" spc="-15" dirty="0" smtClean="0">
                <a:solidFill>
                  <a:schemeClr val="bg1"/>
                </a:solidFill>
                <a:latin typeface="Arial"/>
                <a:cs typeface="Arial"/>
              </a:rPr>
              <a:t>introduction </a:t>
            </a:r>
            <a:r>
              <a:rPr lang="en-US" sz="1400" b="0" cap="none" dirty="0" smtClean="0">
                <a:solidFill>
                  <a:schemeClr val="bg1"/>
                </a:solidFill>
                <a:latin typeface="Arial"/>
                <a:cs typeface="Arial"/>
              </a:rPr>
              <a:t>of  </a:t>
            </a:r>
            <a:r>
              <a:rPr lang="en-US" sz="1400" b="0" cap="none" spc="-20" dirty="0" smtClean="0">
                <a:solidFill>
                  <a:schemeClr val="bg1"/>
                </a:solidFill>
                <a:latin typeface="Arial"/>
                <a:cs typeface="Arial"/>
              </a:rPr>
              <a:t>randomness </a:t>
            </a:r>
            <a:r>
              <a:rPr lang="en-US" sz="1400" b="0" cap="none" spc="-5" dirty="0" smtClean="0">
                <a:solidFill>
                  <a:schemeClr val="bg1"/>
                </a:solidFill>
                <a:latin typeface="Arial"/>
                <a:cs typeface="Arial"/>
              </a:rPr>
              <a:t>increases </a:t>
            </a:r>
            <a:r>
              <a:rPr lang="en-US" sz="1400" b="0" cap="none" spc="-35" dirty="0" smtClean="0">
                <a:solidFill>
                  <a:schemeClr val="bg1"/>
                </a:solidFill>
                <a:latin typeface="Arial"/>
                <a:cs typeface="Arial"/>
              </a:rPr>
              <a:t>the </a:t>
            </a:r>
            <a:r>
              <a:rPr lang="en-US" sz="1400" b="0" cap="none" spc="10" dirty="0" smtClean="0">
                <a:solidFill>
                  <a:schemeClr val="bg1"/>
                </a:solidFill>
                <a:latin typeface="Arial"/>
                <a:cs typeface="Arial"/>
              </a:rPr>
              <a:t>bias </a:t>
            </a:r>
            <a:r>
              <a:rPr lang="en-US" sz="1400" b="0" cap="none" spc="-25" dirty="0" smtClean="0">
                <a:solidFill>
                  <a:schemeClr val="bg1"/>
                </a:solidFill>
                <a:latin typeface="Arial"/>
                <a:cs typeface="Arial"/>
              </a:rPr>
              <a:t>and </a:t>
            </a:r>
            <a:r>
              <a:rPr lang="en-US" sz="1400" b="0" cap="none" spc="-15" dirty="0" smtClean="0">
                <a:solidFill>
                  <a:schemeClr val="bg1"/>
                </a:solidFill>
                <a:latin typeface="Arial"/>
                <a:cs typeface="Arial"/>
              </a:rPr>
              <a:t>reduces </a:t>
            </a:r>
            <a:r>
              <a:rPr lang="en-US" sz="1400" b="0" cap="none" spc="-35" dirty="0" smtClean="0">
                <a:solidFill>
                  <a:schemeClr val="bg1"/>
                </a:solidFill>
                <a:latin typeface="Arial"/>
                <a:cs typeface="Arial"/>
              </a:rPr>
              <a:t>the </a:t>
            </a:r>
            <a:r>
              <a:rPr lang="en-US" sz="1400" b="0" cap="none" spc="-15" dirty="0" smtClean="0">
                <a:solidFill>
                  <a:schemeClr val="bg1"/>
                </a:solidFill>
                <a:latin typeface="Arial"/>
                <a:cs typeface="Arial"/>
              </a:rPr>
              <a:t>variances </a:t>
            </a:r>
            <a:r>
              <a:rPr lang="en-US" sz="1400" b="0" cap="none" dirty="0" smtClean="0">
                <a:solidFill>
                  <a:schemeClr val="bg1"/>
                </a:solidFill>
                <a:latin typeface="Arial"/>
                <a:cs typeface="Arial"/>
              </a:rPr>
              <a:t>of  </a:t>
            </a:r>
            <a:r>
              <a:rPr lang="en-US" sz="1400" b="0" cap="none" spc="-35" dirty="0" smtClean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lang="en-US" sz="1400" b="0" cap="none" spc="114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400" b="0" cap="none" spc="-5" dirty="0" smtClean="0">
                <a:solidFill>
                  <a:schemeClr val="bg1"/>
                </a:solidFill>
                <a:latin typeface="Arial"/>
                <a:cs typeface="Arial"/>
              </a:rPr>
              <a:t>model</a:t>
            </a:r>
            <a:endParaRPr lang="en-US" sz="1400" cap="none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object 14"/>
          <p:cNvSpPr/>
          <p:nvPr/>
        </p:nvSpPr>
        <p:spPr>
          <a:xfrm>
            <a:off x="4599728" y="2409825"/>
            <a:ext cx="5886836" cy="12274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/>
          <p:nvPr/>
        </p:nvSpPr>
        <p:spPr>
          <a:xfrm>
            <a:off x="4733063" y="2619375"/>
            <a:ext cx="5615894" cy="7598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/>
          <p:cNvSpPr/>
          <p:nvPr/>
        </p:nvSpPr>
        <p:spPr>
          <a:xfrm>
            <a:off x="4668689" y="2421122"/>
            <a:ext cx="5777638" cy="1122243"/>
          </a:xfrm>
          <a:custGeom>
            <a:avLst/>
            <a:gdLst/>
            <a:ahLst/>
            <a:cxnLst/>
            <a:rect l="l" t="t" r="r" b="b"/>
            <a:pathLst>
              <a:path w="4468495" h="914400">
                <a:moveTo>
                  <a:pt x="4316090" y="0"/>
                </a:moveTo>
                <a:lnTo>
                  <a:pt x="152400" y="0"/>
                </a:lnTo>
                <a:lnTo>
                  <a:pt x="104258" y="7766"/>
                </a:lnTo>
                <a:lnTo>
                  <a:pt x="62426" y="29394"/>
                </a:lnTo>
                <a:lnTo>
                  <a:pt x="29425" y="62380"/>
                </a:lnTo>
                <a:lnTo>
                  <a:pt x="7776" y="104217"/>
                </a:lnTo>
                <a:lnTo>
                  <a:pt x="0" y="152400"/>
                </a:lnTo>
                <a:lnTo>
                  <a:pt x="0" y="762000"/>
                </a:lnTo>
                <a:lnTo>
                  <a:pt x="7776" y="810182"/>
                </a:lnTo>
                <a:lnTo>
                  <a:pt x="29425" y="852019"/>
                </a:lnTo>
                <a:lnTo>
                  <a:pt x="62426" y="885005"/>
                </a:lnTo>
                <a:lnTo>
                  <a:pt x="104258" y="906633"/>
                </a:lnTo>
                <a:lnTo>
                  <a:pt x="152400" y="914400"/>
                </a:lnTo>
                <a:lnTo>
                  <a:pt x="4316090" y="914400"/>
                </a:lnTo>
                <a:lnTo>
                  <a:pt x="4364266" y="906633"/>
                </a:lnTo>
                <a:lnTo>
                  <a:pt x="4406103" y="885005"/>
                </a:lnTo>
                <a:lnTo>
                  <a:pt x="4439090" y="852019"/>
                </a:lnTo>
                <a:lnTo>
                  <a:pt x="4460722" y="810182"/>
                </a:lnTo>
                <a:lnTo>
                  <a:pt x="4468490" y="762000"/>
                </a:lnTo>
                <a:lnTo>
                  <a:pt x="4468490" y="152400"/>
                </a:lnTo>
                <a:lnTo>
                  <a:pt x="4460722" y="104217"/>
                </a:lnTo>
                <a:lnTo>
                  <a:pt x="4439090" y="62380"/>
                </a:lnTo>
                <a:lnTo>
                  <a:pt x="4406103" y="29394"/>
                </a:lnTo>
                <a:lnTo>
                  <a:pt x="4364266" y="7766"/>
                </a:lnTo>
                <a:lnTo>
                  <a:pt x="4316090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 txBox="1"/>
          <p:nvPr/>
        </p:nvSpPr>
        <p:spPr>
          <a:xfrm>
            <a:off x="4901595" y="2687635"/>
            <a:ext cx="5190596" cy="37895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775335" marR="5080" indent="-763270">
              <a:lnSpc>
                <a:spcPts val="1430"/>
              </a:lnSpc>
              <a:spcBef>
                <a:spcPts val="155"/>
              </a:spcBef>
            </a:pP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This prevents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overfitting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model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serious 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concern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case of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decision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trees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99728" y="3695700"/>
            <a:ext cx="5886836" cy="122745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85463" y="4000499"/>
            <a:ext cx="5221796" cy="5377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68689" y="3712214"/>
            <a:ext cx="5777638" cy="1123022"/>
          </a:xfrm>
          <a:custGeom>
            <a:avLst/>
            <a:gdLst/>
            <a:ahLst/>
            <a:cxnLst/>
            <a:rect l="l" t="t" r="r" b="b"/>
            <a:pathLst>
              <a:path w="4468495" h="915035">
                <a:moveTo>
                  <a:pt x="4316090" y="0"/>
                </a:moveTo>
                <a:lnTo>
                  <a:pt x="152400" y="0"/>
                </a:lnTo>
                <a:lnTo>
                  <a:pt x="104258" y="7766"/>
                </a:lnTo>
                <a:lnTo>
                  <a:pt x="62426" y="29394"/>
                </a:lnTo>
                <a:lnTo>
                  <a:pt x="29425" y="62380"/>
                </a:lnTo>
                <a:lnTo>
                  <a:pt x="7776" y="104217"/>
                </a:lnTo>
                <a:lnTo>
                  <a:pt x="0" y="152400"/>
                </a:lnTo>
                <a:lnTo>
                  <a:pt x="0" y="762024"/>
                </a:lnTo>
                <a:lnTo>
                  <a:pt x="7776" y="810193"/>
                </a:lnTo>
                <a:lnTo>
                  <a:pt x="29425" y="852028"/>
                </a:lnTo>
                <a:lnTo>
                  <a:pt x="62426" y="885018"/>
                </a:lnTo>
                <a:lnTo>
                  <a:pt x="104258" y="906654"/>
                </a:lnTo>
                <a:lnTo>
                  <a:pt x="152400" y="914424"/>
                </a:lnTo>
                <a:lnTo>
                  <a:pt x="4316090" y="914424"/>
                </a:lnTo>
                <a:lnTo>
                  <a:pt x="4364266" y="906654"/>
                </a:lnTo>
                <a:lnTo>
                  <a:pt x="4406103" y="885018"/>
                </a:lnTo>
                <a:lnTo>
                  <a:pt x="4439090" y="852028"/>
                </a:lnTo>
                <a:lnTo>
                  <a:pt x="4460722" y="810193"/>
                </a:lnTo>
                <a:lnTo>
                  <a:pt x="4468490" y="762024"/>
                </a:lnTo>
                <a:lnTo>
                  <a:pt x="4468490" y="152400"/>
                </a:lnTo>
                <a:lnTo>
                  <a:pt x="4460722" y="104217"/>
                </a:lnTo>
                <a:lnTo>
                  <a:pt x="4439090" y="62380"/>
                </a:lnTo>
                <a:lnTo>
                  <a:pt x="4406103" y="29394"/>
                </a:lnTo>
                <a:lnTo>
                  <a:pt x="4364266" y="7766"/>
                </a:lnTo>
                <a:lnTo>
                  <a:pt x="4316090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053994" y="4072575"/>
            <a:ext cx="480552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This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yields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much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better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performing generalized</a:t>
            </a:r>
            <a:r>
              <a:rPr sz="1400" spc="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68593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70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87087" y="374073"/>
            <a:ext cx="3545204" cy="1885488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2790761"/>
            <a:ext cx="3545204" cy="2792621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5"/>
          <p:cNvSpPr/>
          <p:nvPr/>
        </p:nvSpPr>
        <p:spPr>
          <a:xfrm>
            <a:off x="63337" y="1987323"/>
            <a:ext cx="3568953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6"/>
          <p:cNvSpPr txBox="1"/>
          <p:nvPr/>
        </p:nvSpPr>
        <p:spPr>
          <a:xfrm>
            <a:off x="229962" y="1848085"/>
            <a:ext cx="3259454" cy="165925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sz="3800" b="1" spc="-5" dirty="0">
                <a:solidFill>
                  <a:srgbClr val="FFFFFF"/>
                </a:solidFill>
                <a:latin typeface="Arial"/>
                <a:cs typeface="Arial"/>
              </a:rPr>
              <a:t>Random  </a:t>
            </a:r>
            <a:r>
              <a:rPr sz="3800" b="1" dirty="0">
                <a:solidFill>
                  <a:srgbClr val="FFFFFF"/>
                </a:solidFill>
                <a:latin typeface="Arial"/>
                <a:cs typeface="Arial"/>
              </a:rPr>
              <a:t>Forest- </a:t>
            </a:r>
            <a:r>
              <a:rPr sz="3800" b="1" spc="15" dirty="0">
                <a:solidFill>
                  <a:srgbClr val="FFFFFF"/>
                </a:solidFill>
                <a:latin typeface="Arial"/>
                <a:cs typeface="Arial"/>
              </a:rPr>
              <a:t>How  </a:t>
            </a:r>
            <a:r>
              <a:rPr sz="3800" b="1" spc="5" dirty="0">
                <a:solidFill>
                  <a:srgbClr val="FFFFFF"/>
                </a:solidFill>
                <a:latin typeface="Arial"/>
                <a:cs typeface="Arial"/>
              </a:rPr>
              <a:t>Does </a:t>
            </a:r>
            <a:r>
              <a:rPr sz="3800" b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3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800" b="1" spc="-25" dirty="0">
                <a:solidFill>
                  <a:srgbClr val="FFFFFF"/>
                </a:solidFill>
                <a:latin typeface="Arial"/>
                <a:cs typeface="Arial"/>
              </a:rPr>
              <a:t>Work?</a:t>
            </a:r>
            <a:endParaRPr sz="3800" dirty="0">
              <a:latin typeface="Arial"/>
              <a:cs typeface="Arial"/>
            </a:endParaRPr>
          </a:p>
        </p:txBody>
      </p:sp>
      <p:sp>
        <p:nvSpPr>
          <p:cNvPr id="8" name="object 10"/>
          <p:cNvSpPr txBox="1"/>
          <p:nvPr/>
        </p:nvSpPr>
        <p:spPr>
          <a:xfrm>
            <a:off x="5223132" y="894394"/>
            <a:ext cx="313575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There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2 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levels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randomness: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11"/>
          <p:cNvSpPr/>
          <p:nvPr/>
        </p:nvSpPr>
        <p:spPr>
          <a:xfrm>
            <a:off x="3973621" y="1742501"/>
            <a:ext cx="4802025" cy="854075"/>
          </a:xfrm>
          <a:custGeom>
            <a:avLst/>
            <a:gdLst/>
            <a:ahLst/>
            <a:cxnLst/>
            <a:rect l="l" t="t" r="r" b="b"/>
            <a:pathLst>
              <a:path w="4347209" h="854075">
                <a:moveTo>
                  <a:pt x="0" y="854013"/>
                </a:moveTo>
                <a:lnTo>
                  <a:pt x="4346935" y="854013"/>
                </a:lnTo>
                <a:lnTo>
                  <a:pt x="4346935" y="0"/>
                </a:lnTo>
                <a:lnTo>
                  <a:pt x="0" y="0"/>
                </a:lnTo>
                <a:lnTo>
                  <a:pt x="0" y="85401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/>
          <p:cNvSpPr txBox="1"/>
          <p:nvPr/>
        </p:nvSpPr>
        <p:spPr>
          <a:xfrm>
            <a:off x="5954511" y="1967862"/>
            <a:ext cx="2720867" cy="396904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95"/>
              </a:spcBef>
            </a:pP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decision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tree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gets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random  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sample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training</a:t>
            </a:r>
            <a:r>
              <a:rPr sz="1400" spc="1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1" name="object 13"/>
          <p:cNvSpPr/>
          <p:nvPr/>
        </p:nvSpPr>
        <p:spPr>
          <a:xfrm>
            <a:off x="3973620" y="3127031"/>
            <a:ext cx="4802026" cy="854075"/>
          </a:xfrm>
          <a:custGeom>
            <a:avLst/>
            <a:gdLst/>
            <a:ahLst/>
            <a:cxnLst/>
            <a:rect l="l" t="t" r="r" b="b"/>
            <a:pathLst>
              <a:path w="4347209" h="854075">
                <a:moveTo>
                  <a:pt x="0" y="854013"/>
                </a:moveTo>
                <a:lnTo>
                  <a:pt x="4346935" y="854013"/>
                </a:lnTo>
                <a:lnTo>
                  <a:pt x="4346935" y="0"/>
                </a:lnTo>
                <a:lnTo>
                  <a:pt x="0" y="0"/>
                </a:lnTo>
                <a:lnTo>
                  <a:pt x="0" y="85401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4"/>
          <p:cNvSpPr txBox="1"/>
          <p:nvPr/>
        </p:nvSpPr>
        <p:spPr>
          <a:xfrm>
            <a:off x="5766874" y="3171506"/>
            <a:ext cx="3008772" cy="636328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ct val="93500"/>
              </a:lnSpc>
              <a:spcBef>
                <a:spcPts val="225"/>
              </a:spcBef>
            </a:pP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decision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tree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gets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random  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sample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columns. 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Not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all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trees  get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same number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same 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column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4" name="object 16"/>
          <p:cNvSpPr/>
          <p:nvPr/>
        </p:nvSpPr>
        <p:spPr>
          <a:xfrm>
            <a:off x="4200540" y="1952625"/>
            <a:ext cx="127635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7"/>
          <p:cNvSpPr/>
          <p:nvPr/>
        </p:nvSpPr>
        <p:spPr>
          <a:xfrm>
            <a:off x="3830912" y="1742571"/>
            <a:ext cx="1896680" cy="854075"/>
          </a:xfrm>
          <a:custGeom>
            <a:avLst/>
            <a:gdLst/>
            <a:ahLst/>
            <a:cxnLst/>
            <a:rect l="l" t="t" r="r" b="b"/>
            <a:pathLst>
              <a:path w="1717039" h="854075">
                <a:moveTo>
                  <a:pt x="1574292" y="0"/>
                </a:moveTo>
                <a:lnTo>
                  <a:pt x="142372" y="0"/>
                </a:lnTo>
                <a:lnTo>
                  <a:pt x="97379" y="7257"/>
                </a:lnTo>
                <a:lnTo>
                  <a:pt x="58298" y="27467"/>
                </a:lnTo>
                <a:lnTo>
                  <a:pt x="27475" y="58285"/>
                </a:lnTo>
                <a:lnTo>
                  <a:pt x="7260" y="97368"/>
                </a:lnTo>
                <a:lnTo>
                  <a:pt x="0" y="142372"/>
                </a:lnTo>
                <a:lnTo>
                  <a:pt x="0" y="711698"/>
                </a:lnTo>
                <a:lnTo>
                  <a:pt x="7260" y="756681"/>
                </a:lnTo>
                <a:lnTo>
                  <a:pt x="27475" y="795731"/>
                </a:lnTo>
                <a:lnTo>
                  <a:pt x="58298" y="826514"/>
                </a:lnTo>
                <a:lnTo>
                  <a:pt x="97379" y="846696"/>
                </a:lnTo>
                <a:lnTo>
                  <a:pt x="142372" y="853942"/>
                </a:lnTo>
                <a:lnTo>
                  <a:pt x="1574292" y="853942"/>
                </a:lnTo>
                <a:lnTo>
                  <a:pt x="1619295" y="846696"/>
                </a:lnTo>
                <a:lnTo>
                  <a:pt x="1658378" y="826514"/>
                </a:lnTo>
                <a:lnTo>
                  <a:pt x="1689197" y="795731"/>
                </a:lnTo>
                <a:lnTo>
                  <a:pt x="1709406" y="756681"/>
                </a:lnTo>
                <a:lnTo>
                  <a:pt x="1716664" y="711698"/>
                </a:lnTo>
                <a:lnTo>
                  <a:pt x="1716664" y="142372"/>
                </a:lnTo>
                <a:lnTo>
                  <a:pt x="1709406" y="97368"/>
                </a:lnTo>
                <a:lnTo>
                  <a:pt x="1689197" y="58285"/>
                </a:lnTo>
                <a:lnTo>
                  <a:pt x="1658378" y="27467"/>
                </a:lnTo>
                <a:lnTo>
                  <a:pt x="1619295" y="7257"/>
                </a:lnTo>
                <a:lnTo>
                  <a:pt x="1574292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8"/>
          <p:cNvSpPr txBox="1"/>
          <p:nvPr/>
        </p:nvSpPr>
        <p:spPr>
          <a:xfrm>
            <a:off x="4273862" y="2048190"/>
            <a:ext cx="102058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At 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14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8" name="object 21"/>
          <p:cNvSpPr/>
          <p:nvPr/>
        </p:nvSpPr>
        <p:spPr>
          <a:xfrm>
            <a:off x="3920733" y="3126998"/>
            <a:ext cx="1717039" cy="854075"/>
          </a:xfrm>
          <a:custGeom>
            <a:avLst/>
            <a:gdLst/>
            <a:ahLst/>
            <a:cxnLst/>
            <a:rect l="l" t="t" r="r" b="b"/>
            <a:pathLst>
              <a:path w="1717039" h="854075">
                <a:moveTo>
                  <a:pt x="1574292" y="0"/>
                </a:moveTo>
                <a:lnTo>
                  <a:pt x="142372" y="0"/>
                </a:lnTo>
                <a:lnTo>
                  <a:pt x="97379" y="7258"/>
                </a:lnTo>
                <a:lnTo>
                  <a:pt x="58298" y="27470"/>
                </a:lnTo>
                <a:lnTo>
                  <a:pt x="27475" y="58288"/>
                </a:lnTo>
                <a:lnTo>
                  <a:pt x="7260" y="97368"/>
                </a:lnTo>
                <a:lnTo>
                  <a:pt x="0" y="142362"/>
                </a:lnTo>
                <a:lnTo>
                  <a:pt x="0" y="711708"/>
                </a:lnTo>
                <a:lnTo>
                  <a:pt x="7260" y="756695"/>
                </a:lnTo>
                <a:lnTo>
                  <a:pt x="27475" y="795768"/>
                </a:lnTo>
                <a:lnTo>
                  <a:pt x="58298" y="826581"/>
                </a:lnTo>
                <a:lnTo>
                  <a:pt x="97379" y="846789"/>
                </a:lnTo>
                <a:lnTo>
                  <a:pt x="142372" y="854046"/>
                </a:lnTo>
                <a:lnTo>
                  <a:pt x="1574292" y="854046"/>
                </a:lnTo>
                <a:lnTo>
                  <a:pt x="1619295" y="846789"/>
                </a:lnTo>
                <a:lnTo>
                  <a:pt x="1658378" y="826581"/>
                </a:lnTo>
                <a:lnTo>
                  <a:pt x="1689197" y="795768"/>
                </a:lnTo>
                <a:lnTo>
                  <a:pt x="1709406" y="756695"/>
                </a:lnTo>
                <a:lnTo>
                  <a:pt x="1716664" y="711708"/>
                </a:lnTo>
                <a:lnTo>
                  <a:pt x="1716664" y="142362"/>
                </a:lnTo>
                <a:lnTo>
                  <a:pt x="1709406" y="97368"/>
                </a:lnTo>
                <a:lnTo>
                  <a:pt x="1689197" y="58288"/>
                </a:lnTo>
                <a:lnTo>
                  <a:pt x="1658378" y="27470"/>
                </a:lnTo>
                <a:lnTo>
                  <a:pt x="1619295" y="7258"/>
                </a:lnTo>
                <a:lnTo>
                  <a:pt x="1574292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2"/>
          <p:cNvSpPr txBox="1"/>
          <p:nvPr/>
        </p:nvSpPr>
        <p:spPr>
          <a:xfrm>
            <a:off x="4197274" y="3332179"/>
            <a:ext cx="116395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At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38712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71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87087" y="374073"/>
            <a:ext cx="3545204" cy="1885488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2790761"/>
            <a:ext cx="3545204" cy="2792621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5"/>
          <p:cNvSpPr/>
          <p:nvPr/>
        </p:nvSpPr>
        <p:spPr>
          <a:xfrm>
            <a:off x="77557" y="1987323"/>
            <a:ext cx="355473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6"/>
          <p:cNvSpPr txBox="1"/>
          <p:nvPr/>
        </p:nvSpPr>
        <p:spPr>
          <a:xfrm>
            <a:off x="229962" y="1848085"/>
            <a:ext cx="3259454" cy="165925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dirty="0">
                <a:solidFill>
                  <a:schemeClr val="bg1"/>
                </a:solidFill>
              </a:rPr>
              <a:t>Decision</a:t>
            </a:r>
            <a:r>
              <a:rPr lang="en-US" sz="3800" spc="-100" dirty="0">
                <a:solidFill>
                  <a:schemeClr val="bg1"/>
                </a:solidFill>
              </a:rPr>
              <a:t> </a:t>
            </a:r>
            <a:r>
              <a:rPr lang="en-US" sz="3800" spc="-30" dirty="0">
                <a:solidFill>
                  <a:schemeClr val="bg1"/>
                </a:solidFill>
              </a:rPr>
              <a:t>Tress  </a:t>
            </a:r>
            <a:r>
              <a:rPr lang="en-US" sz="3800" spc="15" dirty="0" err="1">
                <a:solidFill>
                  <a:schemeClr val="bg1"/>
                </a:solidFill>
              </a:rPr>
              <a:t>Vs</a:t>
            </a:r>
            <a:r>
              <a:rPr lang="en-US" sz="3800" spc="15" dirty="0">
                <a:solidFill>
                  <a:schemeClr val="bg1"/>
                </a:solidFill>
              </a:rPr>
              <a:t> </a:t>
            </a:r>
            <a:r>
              <a:rPr lang="en-US" sz="3800" spc="-5" dirty="0">
                <a:solidFill>
                  <a:schemeClr val="bg1"/>
                </a:solidFill>
              </a:rPr>
              <a:t>Random  </a:t>
            </a:r>
            <a:r>
              <a:rPr lang="en-US" sz="3800" dirty="0">
                <a:solidFill>
                  <a:schemeClr val="bg1"/>
                </a:solidFill>
              </a:rPr>
              <a:t>Forest</a:t>
            </a:r>
            <a:endParaRPr sz="3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12"/>
          <p:cNvSpPr/>
          <p:nvPr/>
        </p:nvSpPr>
        <p:spPr>
          <a:xfrm>
            <a:off x="6971159" y="767669"/>
            <a:ext cx="685800" cy="6953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3"/>
          <p:cNvSpPr/>
          <p:nvPr/>
        </p:nvSpPr>
        <p:spPr>
          <a:xfrm>
            <a:off x="7056884" y="834344"/>
            <a:ext cx="571500" cy="6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4"/>
          <p:cNvSpPr/>
          <p:nvPr/>
        </p:nvSpPr>
        <p:spPr>
          <a:xfrm>
            <a:off x="7037347" y="782924"/>
            <a:ext cx="608330" cy="608330"/>
          </a:xfrm>
          <a:custGeom>
            <a:avLst/>
            <a:gdLst/>
            <a:ahLst/>
            <a:cxnLst/>
            <a:rect l="l" t="t" r="r" b="b"/>
            <a:pathLst>
              <a:path w="608329" h="608330">
                <a:moveTo>
                  <a:pt x="303916" y="0"/>
                </a:moveTo>
                <a:lnTo>
                  <a:pt x="254640" y="3980"/>
                </a:lnTo>
                <a:lnTo>
                  <a:pt x="207888" y="15502"/>
                </a:lnTo>
                <a:lnTo>
                  <a:pt x="164287" y="33938"/>
                </a:lnTo>
                <a:lnTo>
                  <a:pt x="124464" y="58663"/>
                </a:lnTo>
                <a:lnTo>
                  <a:pt x="89047" y="89047"/>
                </a:lnTo>
                <a:lnTo>
                  <a:pt x="58663" y="124464"/>
                </a:lnTo>
                <a:lnTo>
                  <a:pt x="33938" y="164287"/>
                </a:lnTo>
                <a:lnTo>
                  <a:pt x="15502" y="207888"/>
                </a:lnTo>
                <a:lnTo>
                  <a:pt x="3980" y="254640"/>
                </a:lnTo>
                <a:lnTo>
                  <a:pt x="0" y="303916"/>
                </a:lnTo>
                <a:lnTo>
                  <a:pt x="3980" y="353221"/>
                </a:lnTo>
                <a:lnTo>
                  <a:pt x="15502" y="399990"/>
                </a:lnTo>
                <a:lnTo>
                  <a:pt x="33938" y="443598"/>
                </a:lnTo>
                <a:lnTo>
                  <a:pt x="58663" y="483420"/>
                </a:lnTo>
                <a:lnTo>
                  <a:pt x="89047" y="518830"/>
                </a:lnTo>
                <a:lnTo>
                  <a:pt x="124464" y="549204"/>
                </a:lnTo>
                <a:lnTo>
                  <a:pt x="164287" y="573916"/>
                </a:lnTo>
                <a:lnTo>
                  <a:pt x="207888" y="592341"/>
                </a:lnTo>
                <a:lnTo>
                  <a:pt x="254640" y="603855"/>
                </a:lnTo>
                <a:lnTo>
                  <a:pt x="303916" y="607832"/>
                </a:lnTo>
                <a:lnTo>
                  <a:pt x="353221" y="603855"/>
                </a:lnTo>
                <a:lnTo>
                  <a:pt x="399990" y="592341"/>
                </a:lnTo>
                <a:lnTo>
                  <a:pt x="443598" y="573916"/>
                </a:lnTo>
                <a:lnTo>
                  <a:pt x="483420" y="549204"/>
                </a:lnTo>
                <a:lnTo>
                  <a:pt x="518830" y="518830"/>
                </a:lnTo>
                <a:lnTo>
                  <a:pt x="549204" y="483420"/>
                </a:lnTo>
                <a:lnTo>
                  <a:pt x="573916" y="443598"/>
                </a:lnTo>
                <a:lnTo>
                  <a:pt x="592341" y="399990"/>
                </a:lnTo>
                <a:lnTo>
                  <a:pt x="603855" y="353221"/>
                </a:lnTo>
                <a:lnTo>
                  <a:pt x="607832" y="303916"/>
                </a:lnTo>
                <a:lnTo>
                  <a:pt x="603855" y="254640"/>
                </a:lnTo>
                <a:lnTo>
                  <a:pt x="592341" y="207888"/>
                </a:lnTo>
                <a:lnTo>
                  <a:pt x="573916" y="164287"/>
                </a:lnTo>
                <a:lnTo>
                  <a:pt x="549204" y="124464"/>
                </a:lnTo>
                <a:lnTo>
                  <a:pt x="518830" y="89047"/>
                </a:lnTo>
                <a:lnTo>
                  <a:pt x="483420" y="58663"/>
                </a:lnTo>
                <a:lnTo>
                  <a:pt x="443598" y="33938"/>
                </a:lnTo>
                <a:lnTo>
                  <a:pt x="399990" y="15502"/>
                </a:lnTo>
                <a:lnTo>
                  <a:pt x="353221" y="3980"/>
                </a:lnTo>
                <a:lnTo>
                  <a:pt x="303916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5"/>
          <p:cNvSpPr txBox="1"/>
          <p:nvPr/>
        </p:nvSpPr>
        <p:spPr>
          <a:xfrm>
            <a:off x="7278520" y="920018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79818" y="1594282"/>
            <a:ext cx="6096000" cy="13305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0825" marR="5080" indent="-238760">
              <a:lnSpc>
                <a:spcPct val="148700"/>
              </a:lnSpc>
              <a:spcBef>
                <a:spcPts val="60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lang="en-US" spc="-5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input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training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dataset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features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labels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into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a  </a:t>
            </a:r>
            <a:r>
              <a:rPr lang="en-US" spc="10" dirty="0">
                <a:solidFill>
                  <a:srgbClr val="595959"/>
                </a:solidFill>
                <a:latin typeface="Arial"/>
                <a:cs typeface="Arial"/>
              </a:rPr>
              <a:t>decision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tree,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it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will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formulate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set of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rules,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will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be 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used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make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lang="en-US" spc="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predictions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15466" y="3262486"/>
            <a:ext cx="6096000" cy="13305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0825" marR="5080" indent="-238760">
              <a:lnSpc>
                <a:spcPct val="148700"/>
              </a:lnSpc>
              <a:spcBef>
                <a:spcPts val="60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lang="en-US" spc="-5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comparison,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Random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Forest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algorithm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randomly 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selects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observations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features to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build several </a:t>
            </a:r>
            <a:r>
              <a:rPr lang="en-US" spc="10" dirty="0">
                <a:solidFill>
                  <a:srgbClr val="595959"/>
                </a:solidFill>
                <a:latin typeface="Arial"/>
                <a:cs typeface="Arial"/>
              </a:rPr>
              <a:t>decision 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trees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then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averages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lang="en-US" spc="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results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71881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72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87087" y="374073"/>
            <a:ext cx="3545204" cy="1885488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2790761"/>
            <a:ext cx="3545204" cy="2792621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6"/>
          <p:cNvSpPr/>
          <p:nvPr/>
        </p:nvSpPr>
        <p:spPr>
          <a:xfrm>
            <a:off x="11128204" y="222346"/>
            <a:ext cx="765444" cy="545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5"/>
          <p:cNvSpPr/>
          <p:nvPr/>
        </p:nvSpPr>
        <p:spPr>
          <a:xfrm>
            <a:off x="77557" y="1987323"/>
            <a:ext cx="355473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6"/>
          <p:cNvSpPr txBox="1"/>
          <p:nvPr/>
        </p:nvSpPr>
        <p:spPr>
          <a:xfrm>
            <a:off x="229962" y="1848085"/>
            <a:ext cx="3259454" cy="165925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dirty="0">
                <a:solidFill>
                  <a:schemeClr val="bg1"/>
                </a:solidFill>
              </a:rPr>
              <a:t>Decision</a:t>
            </a:r>
            <a:r>
              <a:rPr lang="en-US" sz="3800" spc="-100" dirty="0">
                <a:solidFill>
                  <a:schemeClr val="bg1"/>
                </a:solidFill>
              </a:rPr>
              <a:t> </a:t>
            </a:r>
            <a:r>
              <a:rPr lang="en-US" sz="3800" spc="-30" dirty="0">
                <a:solidFill>
                  <a:schemeClr val="bg1"/>
                </a:solidFill>
              </a:rPr>
              <a:t>Tress  </a:t>
            </a:r>
            <a:r>
              <a:rPr lang="en-US" sz="3800" spc="15" dirty="0" err="1">
                <a:solidFill>
                  <a:schemeClr val="bg1"/>
                </a:solidFill>
              </a:rPr>
              <a:t>Vs</a:t>
            </a:r>
            <a:r>
              <a:rPr lang="en-US" sz="3800" spc="15" dirty="0">
                <a:solidFill>
                  <a:schemeClr val="bg1"/>
                </a:solidFill>
              </a:rPr>
              <a:t> </a:t>
            </a:r>
            <a:r>
              <a:rPr lang="en-US" sz="3800" spc="-5" dirty="0">
                <a:solidFill>
                  <a:schemeClr val="bg1"/>
                </a:solidFill>
              </a:rPr>
              <a:t>Random  </a:t>
            </a:r>
            <a:r>
              <a:rPr lang="en-US" sz="3800" dirty="0">
                <a:solidFill>
                  <a:schemeClr val="bg1"/>
                </a:solidFill>
              </a:rPr>
              <a:t>Forest</a:t>
            </a:r>
            <a:endParaRPr sz="3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12"/>
          <p:cNvSpPr/>
          <p:nvPr/>
        </p:nvSpPr>
        <p:spPr>
          <a:xfrm>
            <a:off x="7133346" y="914384"/>
            <a:ext cx="685800" cy="6953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3"/>
          <p:cNvSpPr/>
          <p:nvPr/>
        </p:nvSpPr>
        <p:spPr>
          <a:xfrm>
            <a:off x="7219071" y="981059"/>
            <a:ext cx="571500" cy="609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4"/>
          <p:cNvSpPr/>
          <p:nvPr/>
        </p:nvSpPr>
        <p:spPr>
          <a:xfrm>
            <a:off x="7199534" y="929639"/>
            <a:ext cx="608330" cy="608330"/>
          </a:xfrm>
          <a:custGeom>
            <a:avLst/>
            <a:gdLst/>
            <a:ahLst/>
            <a:cxnLst/>
            <a:rect l="l" t="t" r="r" b="b"/>
            <a:pathLst>
              <a:path w="608329" h="608330">
                <a:moveTo>
                  <a:pt x="303916" y="0"/>
                </a:moveTo>
                <a:lnTo>
                  <a:pt x="254640" y="3980"/>
                </a:lnTo>
                <a:lnTo>
                  <a:pt x="207888" y="15502"/>
                </a:lnTo>
                <a:lnTo>
                  <a:pt x="164287" y="33938"/>
                </a:lnTo>
                <a:lnTo>
                  <a:pt x="124464" y="58663"/>
                </a:lnTo>
                <a:lnTo>
                  <a:pt x="89047" y="89047"/>
                </a:lnTo>
                <a:lnTo>
                  <a:pt x="58663" y="124464"/>
                </a:lnTo>
                <a:lnTo>
                  <a:pt x="33938" y="164287"/>
                </a:lnTo>
                <a:lnTo>
                  <a:pt x="15502" y="207888"/>
                </a:lnTo>
                <a:lnTo>
                  <a:pt x="3980" y="254640"/>
                </a:lnTo>
                <a:lnTo>
                  <a:pt x="0" y="303916"/>
                </a:lnTo>
                <a:lnTo>
                  <a:pt x="3980" y="353221"/>
                </a:lnTo>
                <a:lnTo>
                  <a:pt x="15502" y="399990"/>
                </a:lnTo>
                <a:lnTo>
                  <a:pt x="33938" y="443598"/>
                </a:lnTo>
                <a:lnTo>
                  <a:pt x="58663" y="483420"/>
                </a:lnTo>
                <a:lnTo>
                  <a:pt x="89047" y="518830"/>
                </a:lnTo>
                <a:lnTo>
                  <a:pt x="124464" y="549204"/>
                </a:lnTo>
                <a:lnTo>
                  <a:pt x="164287" y="573916"/>
                </a:lnTo>
                <a:lnTo>
                  <a:pt x="207888" y="592341"/>
                </a:lnTo>
                <a:lnTo>
                  <a:pt x="254640" y="603855"/>
                </a:lnTo>
                <a:lnTo>
                  <a:pt x="303916" y="607832"/>
                </a:lnTo>
                <a:lnTo>
                  <a:pt x="353221" y="603855"/>
                </a:lnTo>
                <a:lnTo>
                  <a:pt x="399990" y="592341"/>
                </a:lnTo>
                <a:lnTo>
                  <a:pt x="443598" y="573916"/>
                </a:lnTo>
                <a:lnTo>
                  <a:pt x="483420" y="549204"/>
                </a:lnTo>
                <a:lnTo>
                  <a:pt x="518830" y="518830"/>
                </a:lnTo>
                <a:lnTo>
                  <a:pt x="549204" y="483420"/>
                </a:lnTo>
                <a:lnTo>
                  <a:pt x="573916" y="443598"/>
                </a:lnTo>
                <a:lnTo>
                  <a:pt x="592341" y="399990"/>
                </a:lnTo>
                <a:lnTo>
                  <a:pt x="603855" y="353221"/>
                </a:lnTo>
                <a:lnTo>
                  <a:pt x="607832" y="303916"/>
                </a:lnTo>
                <a:lnTo>
                  <a:pt x="603855" y="254640"/>
                </a:lnTo>
                <a:lnTo>
                  <a:pt x="592341" y="207888"/>
                </a:lnTo>
                <a:lnTo>
                  <a:pt x="573916" y="164287"/>
                </a:lnTo>
                <a:lnTo>
                  <a:pt x="549204" y="124464"/>
                </a:lnTo>
                <a:lnTo>
                  <a:pt x="518830" y="89047"/>
                </a:lnTo>
                <a:lnTo>
                  <a:pt x="483420" y="58663"/>
                </a:lnTo>
                <a:lnTo>
                  <a:pt x="443598" y="33938"/>
                </a:lnTo>
                <a:lnTo>
                  <a:pt x="399990" y="15502"/>
                </a:lnTo>
                <a:lnTo>
                  <a:pt x="353221" y="3980"/>
                </a:lnTo>
                <a:lnTo>
                  <a:pt x="303916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5"/>
          <p:cNvSpPr txBox="1"/>
          <p:nvPr/>
        </p:nvSpPr>
        <p:spPr>
          <a:xfrm>
            <a:off x="7440707" y="1066733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41996" y="2074895"/>
            <a:ext cx="5413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lang="en-US" spc="10" dirty="0">
                <a:solidFill>
                  <a:srgbClr val="595959"/>
                </a:solidFill>
                <a:latin typeface="Arial"/>
                <a:cs typeface="Arial"/>
              </a:rPr>
              <a:t>Deep Decision </a:t>
            </a:r>
            <a:r>
              <a:rPr lang="en-US" spc="-30" dirty="0">
                <a:solidFill>
                  <a:srgbClr val="595959"/>
                </a:solidFill>
                <a:latin typeface="Arial"/>
                <a:cs typeface="Arial"/>
              </a:rPr>
              <a:t>Trees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might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suffer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lang="en-US" spc="-1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20" dirty="0" smtClean="0">
                <a:solidFill>
                  <a:srgbClr val="595959"/>
                </a:solidFill>
                <a:latin typeface="Arial"/>
                <a:cs typeface="Arial"/>
              </a:rPr>
              <a:t>over-fitting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41996" y="2909413"/>
            <a:ext cx="6096000" cy="12951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0825" marR="5080" indent="-238760">
              <a:lnSpc>
                <a:spcPct val="1514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Random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Forest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prevents </a:t>
            </a:r>
            <a:r>
              <a:rPr lang="en-US" spc="-20" dirty="0" smtClean="0">
                <a:solidFill>
                  <a:srgbClr val="595959"/>
                </a:solidFill>
                <a:latin typeface="Arial"/>
                <a:cs typeface="Arial"/>
              </a:rPr>
              <a:t>over-fitting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most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time,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by 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creating random subsets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features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building smaller 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trees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using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these</a:t>
            </a:r>
            <a:r>
              <a:rPr lang="en-US" spc="2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subsets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0989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73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2" y="254491"/>
            <a:ext cx="9365666" cy="87011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409827" y="254490"/>
            <a:ext cx="5647690" cy="870110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5" dirty="0">
                <a:solidFill>
                  <a:schemeClr val="bg1"/>
                </a:solidFill>
              </a:rPr>
              <a:t>Important </a:t>
            </a:r>
            <a:r>
              <a:rPr lang="en-US" sz="2800" spc="15" dirty="0" smtClean="0">
                <a:solidFill>
                  <a:schemeClr val="bg1"/>
                </a:solidFill>
              </a:rPr>
              <a:t>Hyper-parameters </a:t>
            </a:r>
            <a:r>
              <a:rPr lang="en-US" sz="2800" dirty="0">
                <a:solidFill>
                  <a:schemeClr val="bg1"/>
                </a:solidFill>
              </a:rPr>
              <a:t>in  </a:t>
            </a:r>
            <a:r>
              <a:rPr lang="en-US" sz="2800" spc="35" dirty="0">
                <a:solidFill>
                  <a:schemeClr val="bg1"/>
                </a:solidFill>
              </a:rPr>
              <a:t>Random</a:t>
            </a:r>
            <a:r>
              <a:rPr lang="en-US" sz="2800" spc="-20" dirty="0">
                <a:solidFill>
                  <a:schemeClr val="bg1"/>
                </a:solidFill>
              </a:rPr>
              <a:t> </a:t>
            </a:r>
            <a:r>
              <a:rPr lang="en-US" sz="2800" spc="25" dirty="0">
                <a:solidFill>
                  <a:schemeClr val="bg1"/>
                </a:solidFill>
              </a:rPr>
              <a:t>Forest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89708" y="1467723"/>
            <a:ext cx="10573987" cy="674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lang="en-US" sz="1600" i="1" spc="-5" dirty="0">
                <a:solidFill>
                  <a:srgbClr val="1B577B"/>
                </a:solidFill>
                <a:latin typeface="Arial"/>
                <a:cs typeface="Arial"/>
              </a:rPr>
              <a:t>“The </a:t>
            </a:r>
            <a:r>
              <a:rPr lang="en-US" sz="1600" i="1" spc="-5" dirty="0" smtClean="0">
                <a:solidFill>
                  <a:srgbClr val="1B577B"/>
                </a:solidFill>
                <a:latin typeface="Arial"/>
                <a:cs typeface="Arial"/>
              </a:rPr>
              <a:t>Hyper-parameters </a:t>
            </a:r>
            <a:r>
              <a:rPr lang="en-US" sz="1600" i="1" spc="15" dirty="0">
                <a:solidFill>
                  <a:srgbClr val="1B577B"/>
                </a:solidFill>
                <a:latin typeface="Arial"/>
                <a:cs typeface="Arial"/>
              </a:rPr>
              <a:t>in </a:t>
            </a:r>
            <a:r>
              <a:rPr lang="en-US" sz="1600" i="1" spc="-5" dirty="0">
                <a:solidFill>
                  <a:srgbClr val="1B577B"/>
                </a:solidFill>
                <a:latin typeface="Arial"/>
                <a:cs typeface="Arial"/>
              </a:rPr>
              <a:t>random </a:t>
            </a:r>
            <a:r>
              <a:rPr lang="en-US" sz="1600" i="1" spc="-10" dirty="0">
                <a:solidFill>
                  <a:srgbClr val="1B577B"/>
                </a:solidFill>
                <a:latin typeface="Arial"/>
                <a:cs typeface="Arial"/>
              </a:rPr>
              <a:t>forest are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either used </a:t>
            </a:r>
            <a:r>
              <a:rPr lang="en-US" sz="1600" i="1" spc="-20" dirty="0">
                <a:solidFill>
                  <a:srgbClr val="1B577B"/>
                </a:solidFill>
                <a:latin typeface="Arial"/>
                <a:cs typeface="Arial"/>
              </a:rPr>
              <a:t>to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increase </a:t>
            </a:r>
            <a:r>
              <a:rPr lang="en-US" sz="1600" i="1" spc="-10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predictive </a:t>
            </a:r>
            <a:r>
              <a:rPr lang="en-US" sz="1600" i="1" spc="-40" dirty="0">
                <a:solidFill>
                  <a:srgbClr val="1B577B"/>
                </a:solidFill>
                <a:latin typeface="Arial"/>
                <a:cs typeface="Arial"/>
              </a:rPr>
              <a:t>power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of </a:t>
            </a:r>
            <a:r>
              <a:rPr lang="en-US" sz="1600" i="1" spc="-10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lang="en-US" sz="1600" i="1" spc="10" dirty="0">
                <a:solidFill>
                  <a:srgbClr val="1B577B"/>
                </a:solidFill>
                <a:latin typeface="Arial"/>
                <a:cs typeface="Arial"/>
              </a:rPr>
              <a:t>model</a:t>
            </a:r>
            <a:r>
              <a:rPr lang="en-US" sz="1600" i="1" spc="-21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or</a:t>
            </a:r>
            <a:endParaRPr lang="en-US" sz="1600" dirty="0">
              <a:latin typeface="Arial"/>
              <a:cs typeface="Arial"/>
            </a:endParaRPr>
          </a:p>
          <a:p>
            <a:pPr marL="7620" algn="ctr">
              <a:lnSpc>
                <a:spcPct val="100000"/>
              </a:lnSpc>
              <a:spcBef>
                <a:spcPts val="660"/>
              </a:spcBef>
            </a:pPr>
            <a:r>
              <a:rPr lang="en-US" sz="1600" i="1" spc="-20" dirty="0">
                <a:solidFill>
                  <a:srgbClr val="1B577B"/>
                </a:solidFill>
                <a:latin typeface="Arial"/>
                <a:cs typeface="Arial"/>
              </a:rPr>
              <a:t>to </a:t>
            </a:r>
            <a:r>
              <a:rPr lang="en-US" sz="1600" i="1" spc="10" dirty="0">
                <a:solidFill>
                  <a:srgbClr val="1B577B"/>
                </a:solidFill>
                <a:latin typeface="Arial"/>
                <a:cs typeface="Arial"/>
              </a:rPr>
              <a:t>make </a:t>
            </a:r>
            <a:r>
              <a:rPr lang="en-US" sz="1600" i="1" spc="-15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lang="en-US" sz="1600" i="1" spc="10" dirty="0">
                <a:solidFill>
                  <a:srgbClr val="1B577B"/>
                </a:solidFill>
                <a:latin typeface="Arial"/>
                <a:cs typeface="Arial"/>
              </a:rPr>
              <a:t>model</a:t>
            </a:r>
            <a:r>
              <a:rPr lang="en-US" sz="1600" i="1" spc="-7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1600" i="1" spc="-15" dirty="0">
                <a:solidFill>
                  <a:srgbClr val="1B577B"/>
                </a:solidFill>
                <a:latin typeface="Arial"/>
                <a:cs typeface="Arial"/>
              </a:rPr>
              <a:t>faster”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2690336"/>
            <a:ext cx="78278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250825" algn="l"/>
                <a:tab pos="251460" algn="l"/>
              </a:tabLst>
            </a:pPr>
            <a:r>
              <a:rPr lang="en-US" sz="1600" i="1" dirty="0" smtClean="0">
                <a:solidFill>
                  <a:srgbClr val="1B577B"/>
                </a:solidFill>
                <a:latin typeface="Arial"/>
                <a:cs typeface="Arial"/>
              </a:rPr>
              <a:t>n-estimators </a:t>
            </a:r>
            <a:r>
              <a:rPr lang="en-US" sz="1600" spc="-15" dirty="0" smtClean="0">
                <a:solidFill>
                  <a:srgbClr val="595959"/>
                </a:solidFill>
                <a:latin typeface="Arial"/>
                <a:cs typeface="Arial"/>
              </a:rPr>
              <a:t>hyper-parameter </a:t>
            </a:r>
            <a:r>
              <a:rPr lang="en-US" sz="1600" spc="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lang="en-US" sz="1600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z="1600" spc="-25" dirty="0">
                <a:solidFill>
                  <a:srgbClr val="595959"/>
                </a:solidFill>
                <a:latin typeface="Arial"/>
                <a:cs typeface="Arial"/>
              </a:rPr>
              <a:t>number </a:t>
            </a: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lang="en-US" sz="1600" spc="-10" dirty="0">
                <a:solidFill>
                  <a:srgbClr val="595959"/>
                </a:solidFill>
                <a:latin typeface="Arial"/>
                <a:cs typeface="Arial"/>
              </a:rPr>
              <a:t>trees </a:t>
            </a:r>
            <a:r>
              <a:rPr lang="en-US" sz="1600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z="1600" spc="-15" dirty="0">
                <a:solidFill>
                  <a:srgbClr val="595959"/>
                </a:solidFill>
                <a:latin typeface="Arial"/>
                <a:cs typeface="Arial"/>
              </a:rPr>
              <a:t>algorithm builds</a:t>
            </a:r>
            <a:r>
              <a:rPr lang="en-US" sz="160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595959"/>
                </a:solidFill>
                <a:latin typeface="Arial"/>
                <a:cs typeface="Arial"/>
              </a:rPr>
              <a:t>before</a:t>
            </a:r>
            <a:endParaRPr lang="en-US"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1600" dirty="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</a:pPr>
            <a:r>
              <a:rPr lang="en-US" sz="1600" spc="-10" dirty="0">
                <a:solidFill>
                  <a:srgbClr val="595959"/>
                </a:solidFill>
                <a:latin typeface="Arial"/>
                <a:cs typeface="Arial"/>
              </a:rPr>
              <a:t>taking </a:t>
            </a:r>
            <a:r>
              <a:rPr lang="en-US" sz="1600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z="1600" spc="-25" dirty="0">
                <a:solidFill>
                  <a:srgbClr val="595959"/>
                </a:solidFill>
                <a:latin typeface="Arial"/>
                <a:cs typeface="Arial"/>
              </a:rPr>
              <a:t>maximum voting </a:t>
            </a: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lang="en-US" sz="1600" spc="-10" dirty="0">
                <a:solidFill>
                  <a:srgbClr val="595959"/>
                </a:solidFill>
                <a:latin typeface="Arial"/>
                <a:cs typeface="Arial"/>
              </a:rPr>
              <a:t>taking averages </a:t>
            </a:r>
            <a:r>
              <a:rPr lang="en-US"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lang="en-US" sz="16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595959"/>
                </a:solidFill>
                <a:latin typeface="Arial"/>
                <a:cs typeface="Arial"/>
              </a:rPr>
              <a:t>predictions.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7999" y="3652671"/>
            <a:ext cx="7647709" cy="936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0825" indent="-238760"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250825" algn="l"/>
                <a:tab pos="251460" algn="l"/>
              </a:tabLst>
            </a:pPr>
            <a:r>
              <a:rPr lang="en-US" i="1" spc="-5" dirty="0">
                <a:solidFill>
                  <a:srgbClr val="1B577B"/>
                </a:solidFill>
                <a:latin typeface="Arial"/>
                <a:cs typeface="Arial"/>
              </a:rPr>
              <a:t>max_features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maximum number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features Random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Forest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considers</a:t>
            </a:r>
            <a:r>
              <a:rPr lang="en-US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20" dirty="0" smtClean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split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 node.</a:t>
            </a:r>
            <a:endParaRPr lang="en-US" dirty="0">
              <a:latin typeface="Arial"/>
              <a:cs typeface="Arial"/>
            </a:endParaRPr>
          </a:p>
          <a:p>
            <a:pPr marL="250825" indent="-23876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250825" algn="l"/>
                <a:tab pos="251460" algn="l"/>
              </a:tabLst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7999" y="4409772"/>
            <a:ext cx="7024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0825" indent="-238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50825" algn="l"/>
                <a:tab pos="251460" algn="l"/>
              </a:tabLst>
            </a:pPr>
            <a:r>
              <a:rPr lang="en-US" i="1" spc="10" dirty="0" err="1">
                <a:solidFill>
                  <a:srgbClr val="1B577B"/>
                </a:solidFill>
                <a:latin typeface="Arial"/>
                <a:cs typeface="Arial"/>
              </a:rPr>
              <a:t>min_sample_leaf</a:t>
            </a:r>
            <a:r>
              <a:rPr lang="en-US" i="1" spc="10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determines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minimum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number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leafs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are required</a:t>
            </a:r>
            <a:r>
              <a:rPr lang="en-US" spc="-1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20" dirty="0" smtClean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dirty="0" smtClean="0">
                <a:solidFill>
                  <a:srgbClr val="595959"/>
                </a:solidFill>
                <a:latin typeface="Arial"/>
                <a:cs typeface="Arial"/>
              </a:rPr>
              <a:t>split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an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internal</a:t>
            </a:r>
            <a:r>
              <a:rPr lang="en-US" spc="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node.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1" name="object 7"/>
          <p:cNvSpPr/>
          <p:nvPr/>
        </p:nvSpPr>
        <p:spPr>
          <a:xfrm>
            <a:off x="520112" y="3955122"/>
            <a:ext cx="1904434" cy="977095"/>
          </a:xfrm>
          <a:custGeom>
            <a:avLst/>
            <a:gdLst/>
            <a:ahLst/>
            <a:cxnLst/>
            <a:rect l="l" t="t" r="r" b="b"/>
            <a:pathLst>
              <a:path w="1669414" h="713104">
                <a:moveTo>
                  <a:pt x="1550621" y="0"/>
                </a:moveTo>
                <a:lnTo>
                  <a:pt x="118847" y="0"/>
                </a:lnTo>
                <a:lnTo>
                  <a:pt x="72591" y="9339"/>
                </a:lnTo>
                <a:lnTo>
                  <a:pt x="34813" y="34812"/>
                </a:lnTo>
                <a:lnTo>
                  <a:pt x="9341" y="72596"/>
                </a:lnTo>
                <a:lnTo>
                  <a:pt x="0" y="118872"/>
                </a:lnTo>
                <a:lnTo>
                  <a:pt x="0" y="594228"/>
                </a:lnTo>
                <a:lnTo>
                  <a:pt x="9341" y="640502"/>
                </a:lnTo>
                <a:lnTo>
                  <a:pt x="34813" y="678282"/>
                </a:lnTo>
                <a:lnTo>
                  <a:pt x="72591" y="703750"/>
                </a:lnTo>
                <a:lnTo>
                  <a:pt x="118847" y="713088"/>
                </a:lnTo>
                <a:lnTo>
                  <a:pt x="1550621" y="713088"/>
                </a:lnTo>
                <a:lnTo>
                  <a:pt x="1596820" y="703750"/>
                </a:lnTo>
                <a:lnTo>
                  <a:pt x="1634566" y="678282"/>
                </a:lnTo>
                <a:lnTo>
                  <a:pt x="1660024" y="640502"/>
                </a:lnTo>
                <a:lnTo>
                  <a:pt x="1669362" y="594228"/>
                </a:lnTo>
                <a:lnTo>
                  <a:pt x="1669362" y="118872"/>
                </a:lnTo>
                <a:lnTo>
                  <a:pt x="1660024" y="72596"/>
                </a:lnTo>
                <a:lnTo>
                  <a:pt x="1634566" y="34812"/>
                </a:lnTo>
                <a:lnTo>
                  <a:pt x="1596820" y="9339"/>
                </a:lnTo>
                <a:lnTo>
                  <a:pt x="1550621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/>
          <p:cNvSpPr txBox="1"/>
          <p:nvPr/>
        </p:nvSpPr>
        <p:spPr>
          <a:xfrm>
            <a:off x="739775" y="4089802"/>
            <a:ext cx="1405326" cy="64209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104775" algn="ctr">
              <a:lnSpc>
                <a:spcPts val="1580"/>
              </a:lnSpc>
              <a:spcBef>
                <a:spcPts val="18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Increasing the 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Predictive</a:t>
            </a:r>
            <a:r>
              <a:rPr sz="16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605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74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2" y="254491"/>
            <a:ext cx="9365666" cy="87011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409827" y="254490"/>
            <a:ext cx="5647690" cy="870110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5" dirty="0">
                <a:solidFill>
                  <a:schemeClr val="bg1"/>
                </a:solidFill>
              </a:rPr>
              <a:t>Important </a:t>
            </a:r>
            <a:r>
              <a:rPr lang="en-US" sz="2800" spc="15" dirty="0" smtClean="0">
                <a:solidFill>
                  <a:schemeClr val="bg1"/>
                </a:solidFill>
              </a:rPr>
              <a:t>Hyper-parameters </a:t>
            </a:r>
            <a:r>
              <a:rPr lang="en-US" sz="2800" dirty="0">
                <a:solidFill>
                  <a:schemeClr val="bg1"/>
                </a:solidFill>
              </a:rPr>
              <a:t>in  </a:t>
            </a:r>
            <a:r>
              <a:rPr lang="en-US" sz="2800" spc="35" dirty="0">
                <a:solidFill>
                  <a:schemeClr val="bg1"/>
                </a:solidFill>
              </a:rPr>
              <a:t>Random</a:t>
            </a:r>
            <a:r>
              <a:rPr lang="en-US" sz="2800" spc="-20" dirty="0">
                <a:solidFill>
                  <a:schemeClr val="bg1"/>
                </a:solidFill>
              </a:rPr>
              <a:t> </a:t>
            </a:r>
            <a:r>
              <a:rPr lang="en-US" sz="2800" spc="25" dirty="0">
                <a:solidFill>
                  <a:schemeClr val="bg1"/>
                </a:solidFill>
              </a:rPr>
              <a:t>Forest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00125" y="1534369"/>
            <a:ext cx="10210801" cy="674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lang="en-US" sz="1600" i="1" spc="-5" dirty="0">
                <a:solidFill>
                  <a:srgbClr val="1B577B"/>
                </a:solidFill>
                <a:latin typeface="Arial"/>
                <a:cs typeface="Arial"/>
              </a:rPr>
              <a:t>“The </a:t>
            </a:r>
            <a:r>
              <a:rPr lang="en-US" sz="1600" i="1" spc="-5" dirty="0" err="1">
                <a:solidFill>
                  <a:srgbClr val="1B577B"/>
                </a:solidFill>
                <a:latin typeface="Arial"/>
                <a:cs typeface="Arial"/>
              </a:rPr>
              <a:t>Hyperparameters</a:t>
            </a:r>
            <a:r>
              <a:rPr lang="en-US" sz="1600" i="1" spc="-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1600" i="1" spc="15" dirty="0">
                <a:solidFill>
                  <a:srgbClr val="1B577B"/>
                </a:solidFill>
                <a:latin typeface="Arial"/>
                <a:cs typeface="Arial"/>
              </a:rPr>
              <a:t>in </a:t>
            </a:r>
            <a:r>
              <a:rPr lang="en-US" sz="1600" i="1" spc="-5" dirty="0">
                <a:solidFill>
                  <a:srgbClr val="1B577B"/>
                </a:solidFill>
                <a:latin typeface="Arial"/>
                <a:cs typeface="Arial"/>
              </a:rPr>
              <a:t>random </a:t>
            </a:r>
            <a:r>
              <a:rPr lang="en-US" sz="1600" i="1" spc="-10" dirty="0">
                <a:solidFill>
                  <a:srgbClr val="1B577B"/>
                </a:solidFill>
                <a:latin typeface="Arial"/>
                <a:cs typeface="Arial"/>
              </a:rPr>
              <a:t>forest are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either used </a:t>
            </a:r>
            <a:r>
              <a:rPr lang="en-US" sz="1600" i="1" spc="-20" dirty="0">
                <a:solidFill>
                  <a:srgbClr val="1B577B"/>
                </a:solidFill>
                <a:latin typeface="Arial"/>
                <a:cs typeface="Arial"/>
              </a:rPr>
              <a:t>to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increase </a:t>
            </a:r>
            <a:r>
              <a:rPr lang="en-US" sz="1600" i="1" spc="-10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predictive </a:t>
            </a:r>
            <a:r>
              <a:rPr lang="en-US" sz="1600" i="1" spc="-40" dirty="0">
                <a:solidFill>
                  <a:srgbClr val="1B577B"/>
                </a:solidFill>
                <a:latin typeface="Arial"/>
                <a:cs typeface="Arial"/>
              </a:rPr>
              <a:t>power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of </a:t>
            </a:r>
            <a:r>
              <a:rPr lang="en-US" sz="1600" i="1" spc="-10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lang="en-US" sz="1600" i="1" spc="10" dirty="0">
                <a:solidFill>
                  <a:srgbClr val="1B577B"/>
                </a:solidFill>
                <a:latin typeface="Arial"/>
                <a:cs typeface="Arial"/>
              </a:rPr>
              <a:t>model</a:t>
            </a:r>
            <a:r>
              <a:rPr lang="en-US" sz="1600" i="1" spc="-21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1600" i="1" dirty="0">
                <a:solidFill>
                  <a:srgbClr val="1B577B"/>
                </a:solidFill>
                <a:latin typeface="Arial"/>
                <a:cs typeface="Arial"/>
              </a:rPr>
              <a:t>or</a:t>
            </a:r>
            <a:endParaRPr lang="en-US" sz="1600" dirty="0">
              <a:latin typeface="Arial"/>
              <a:cs typeface="Arial"/>
            </a:endParaRPr>
          </a:p>
          <a:p>
            <a:pPr marL="7620" algn="ctr">
              <a:lnSpc>
                <a:spcPct val="100000"/>
              </a:lnSpc>
              <a:spcBef>
                <a:spcPts val="660"/>
              </a:spcBef>
            </a:pPr>
            <a:r>
              <a:rPr lang="en-US" sz="1600" i="1" spc="-20" dirty="0">
                <a:solidFill>
                  <a:srgbClr val="1B577B"/>
                </a:solidFill>
                <a:latin typeface="Arial"/>
                <a:cs typeface="Arial"/>
              </a:rPr>
              <a:t>to </a:t>
            </a:r>
            <a:r>
              <a:rPr lang="en-US" sz="1600" i="1" spc="10" dirty="0">
                <a:solidFill>
                  <a:srgbClr val="1B577B"/>
                </a:solidFill>
                <a:latin typeface="Arial"/>
                <a:cs typeface="Arial"/>
              </a:rPr>
              <a:t>make </a:t>
            </a:r>
            <a:r>
              <a:rPr lang="en-US" sz="1600" i="1" spc="-15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lang="en-US" sz="1600" i="1" spc="10" dirty="0">
                <a:solidFill>
                  <a:srgbClr val="1B577B"/>
                </a:solidFill>
                <a:latin typeface="Arial"/>
                <a:cs typeface="Arial"/>
              </a:rPr>
              <a:t>model</a:t>
            </a:r>
            <a:r>
              <a:rPr lang="en-US" sz="1600" i="1" spc="-7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z="1600" i="1" spc="-15" dirty="0">
                <a:solidFill>
                  <a:srgbClr val="1B577B"/>
                </a:solidFill>
                <a:latin typeface="Arial"/>
                <a:cs typeface="Arial"/>
              </a:rPr>
              <a:t>faster”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85671" y="2613524"/>
            <a:ext cx="82858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250825" algn="l"/>
                <a:tab pos="251460" algn="l"/>
              </a:tabLst>
            </a:pPr>
            <a:r>
              <a:rPr lang="en-US" i="1" spc="5" dirty="0" err="1">
                <a:solidFill>
                  <a:srgbClr val="1B577B"/>
                </a:solidFill>
                <a:latin typeface="Arial"/>
                <a:cs typeface="Arial"/>
              </a:rPr>
              <a:t>n_jobs</a:t>
            </a:r>
            <a:r>
              <a:rPr lang="en-US" i="1" spc="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pc="-15" dirty="0" smtClean="0">
                <a:solidFill>
                  <a:srgbClr val="595959"/>
                </a:solidFill>
                <a:latin typeface="Arial"/>
                <a:cs typeface="Arial"/>
              </a:rPr>
              <a:t>hyper-parameter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tells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engine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how many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processors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it is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allowed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lang="en-US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use.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85671" y="3278456"/>
            <a:ext cx="5579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0825" indent="-238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50825" algn="l"/>
                <a:tab pos="251460" algn="l"/>
              </a:tabLst>
            </a:pPr>
            <a:r>
              <a:rPr lang="en-US" i="1" spc="-5" dirty="0" err="1">
                <a:solidFill>
                  <a:srgbClr val="1B577B"/>
                </a:solidFill>
                <a:latin typeface="Arial"/>
                <a:cs typeface="Arial"/>
              </a:rPr>
              <a:t>random_state</a:t>
            </a:r>
            <a:r>
              <a:rPr lang="en-US" i="1" spc="-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makes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model’s </a:t>
            </a:r>
            <a:r>
              <a:rPr lang="en-US" spc="-30" dirty="0">
                <a:solidFill>
                  <a:srgbClr val="595959"/>
                </a:solidFill>
                <a:latin typeface="Arial"/>
                <a:cs typeface="Arial"/>
              </a:rPr>
              <a:t>output</a:t>
            </a:r>
            <a:r>
              <a:rPr lang="en-US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replicable.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85672" y="3817307"/>
            <a:ext cx="76901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i="1" dirty="0" smtClean="0">
                <a:solidFill>
                  <a:srgbClr val="1B577B"/>
                </a:solidFill>
                <a:latin typeface="Arial"/>
                <a:cs typeface="Arial"/>
              </a:rPr>
              <a:t>oob_score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also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lang="en-US" dirty="0" err="1">
                <a:solidFill>
                  <a:srgbClr val="595959"/>
                </a:solidFill>
                <a:latin typeface="Arial"/>
                <a:cs typeface="Arial"/>
              </a:rPr>
              <a:t>oob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sampling,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random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forest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cross</a:t>
            </a:r>
            <a:r>
              <a:rPr lang="en-US" spc="3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0" dirty="0" smtClean="0">
                <a:solidFill>
                  <a:srgbClr val="595959"/>
                </a:solidFill>
                <a:latin typeface="Arial"/>
                <a:cs typeface="Arial"/>
              </a:rPr>
              <a:t>validation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method. </a:t>
            </a:r>
            <a:r>
              <a:rPr lang="en-US" spc="-5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this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sampling, about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one-third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not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used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train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lang="en-US" spc="-1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 smtClean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endParaRPr lang="en-US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pc="-25" dirty="0" smtClean="0">
                <a:solidFill>
                  <a:srgbClr val="595959"/>
                </a:solidFill>
                <a:latin typeface="Arial"/>
                <a:cs typeface="Arial"/>
              </a:rPr>
              <a:t>      and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can be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used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evaluate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its</a:t>
            </a:r>
            <a:r>
              <a:rPr lang="en-US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performance.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9" name="object 7"/>
          <p:cNvSpPr/>
          <p:nvPr/>
        </p:nvSpPr>
        <p:spPr>
          <a:xfrm>
            <a:off x="520113" y="3248536"/>
            <a:ext cx="2153814" cy="884258"/>
          </a:xfrm>
          <a:custGeom>
            <a:avLst/>
            <a:gdLst/>
            <a:ahLst/>
            <a:cxnLst/>
            <a:rect l="l" t="t" r="r" b="b"/>
            <a:pathLst>
              <a:path w="1669414" h="713104">
                <a:moveTo>
                  <a:pt x="1550621" y="0"/>
                </a:moveTo>
                <a:lnTo>
                  <a:pt x="118847" y="0"/>
                </a:lnTo>
                <a:lnTo>
                  <a:pt x="72591" y="9339"/>
                </a:lnTo>
                <a:lnTo>
                  <a:pt x="34813" y="34812"/>
                </a:lnTo>
                <a:lnTo>
                  <a:pt x="9341" y="72596"/>
                </a:lnTo>
                <a:lnTo>
                  <a:pt x="0" y="118872"/>
                </a:lnTo>
                <a:lnTo>
                  <a:pt x="0" y="594228"/>
                </a:lnTo>
                <a:lnTo>
                  <a:pt x="9341" y="640502"/>
                </a:lnTo>
                <a:lnTo>
                  <a:pt x="34813" y="678282"/>
                </a:lnTo>
                <a:lnTo>
                  <a:pt x="72591" y="703750"/>
                </a:lnTo>
                <a:lnTo>
                  <a:pt x="118847" y="713088"/>
                </a:lnTo>
                <a:lnTo>
                  <a:pt x="1550621" y="713088"/>
                </a:lnTo>
                <a:lnTo>
                  <a:pt x="1596820" y="703750"/>
                </a:lnTo>
                <a:lnTo>
                  <a:pt x="1634566" y="678282"/>
                </a:lnTo>
                <a:lnTo>
                  <a:pt x="1660024" y="640502"/>
                </a:lnTo>
                <a:lnTo>
                  <a:pt x="1669362" y="594228"/>
                </a:lnTo>
                <a:lnTo>
                  <a:pt x="1669362" y="118872"/>
                </a:lnTo>
                <a:lnTo>
                  <a:pt x="1660024" y="72596"/>
                </a:lnTo>
                <a:lnTo>
                  <a:pt x="1634566" y="34812"/>
                </a:lnTo>
                <a:lnTo>
                  <a:pt x="1596820" y="9339"/>
                </a:lnTo>
                <a:lnTo>
                  <a:pt x="1550621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/>
          <p:cNvSpPr txBox="1"/>
          <p:nvPr/>
        </p:nvSpPr>
        <p:spPr>
          <a:xfrm>
            <a:off x="835025" y="3383214"/>
            <a:ext cx="1346032" cy="43409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9525">
              <a:lnSpc>
                <a:spcPts val="1580"/>
              </a:lnSpc>
              <a:spcBef>
                <a:spcPts val="18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Increasing</a:t>
            </a:r>
            <a:r>
              <a:rPr sz="16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the  Models</a:t>
            </a:r>
            <a:r>
              <a:rPr sz="1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977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75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369140" y="261896"/>
            <a:ext cx="5647690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35" dirty="0">
                <a:solidFill>
                  <a:schemeClr val="bg1"/>
                </a:solidFill>
              </a:rPr>
              <a:t>Random</a:t>
            </a:r>
            <a:r>
              <a:rPr lang="en-US" sz="2800" spc="-15" dirty="0">
                <a:solidFill>
                  <a:schemeClr val="bg1"/>
                </a:solidFill>
              </a:rPr>
              <a:t> </a:t>
            </a:r>
            <a:r>
              <a:rPr lang="en-US" sz="2800" spc="20" dirty="0">
                <a:solidFill>
                  <a:schemeClr val="bg1"/>
                </a:solidFill>
              </a:rPr>
              <a:t>Forest-Example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954608" y="3181867"/>
            <a:ext cx="3137535" cy="87884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965835" marR="5080" indent="-953769">
              <a:lnSpc>
                <a:spcPct val="102499"/>
              </a:lnSpc>
              <a:spcBef>
                <a:spcPts val="45"/>
              </a:spcBef>
            </a:pPr>
            <a:r>
              <a:rPr sz="2750" b="0" spc="105" dirty="0">
                <a:solidFill>
                  <a:srgbClr val="5F4778"/>
                </a:solidFill>
                <a:latin typeface="Segoe UI Semilight"/>
                <a:cs typeface="Segoe UI Semilight"/>
              </a:rPr>
              <a:t>This is </a:t>
            </a:r>
            <a:r>
              <a:rPr sz="2750" b="0" spc="100" dirty="0">
                <a:solidFill>
                  <a:srgbClr val="5F4778"/>
                </a:solidFill>
                <a:latin typeface="Segoe UI Semilight"/>
                <a:cs typeface="Segoe UI Semilight"/>
              </a:rPr>
              <a:t>our</a:t>
            </a:r>
            <a:r>
              <a:rPr sz="2750" b="0" spc="-185" dirty="0">
                <a:solidFill>
                  <a:srgbClr val="5F4778"/>
                </a:solidFill>
                <a:latin typeface="Segoe UI Semilight"/>
                <a:cs typeface="Segoe UI Semilight"/>
              </a:rPr>
              <a:t> </a:t>
            </a:r>
            <a:r>
              <a:rPr sz="2750" b="0" spc="100" dirty="0">
                <a:solidFill>
                  <a:srgbClr val="5F4778"/>
                </a:solidFill>
                <a:latin typeface="Segoe UI Semilight"/>
                <a:cs typeface="Segoe UI Semilight"/>
              </a:rPr>
              <a:t>Weather  </a:t>
            </a:r>
            <a:r>
              <a:rPr sz="2750" b="0" spc="85" dirty="0">
                <a:solidFill>
                  <a:srgbClr val="5F4778"/>
                </a:solidFill>
                <a:latin typeface="Segoe UI Semilight"/>
                <a:cs typeface="Segoe UI Semilight"/>
              </a:rPr>
              <a:t>Dataset</a:t>
            </a:r>
            <a:endParaRPr sz="2750" dirty="0">
              <a:latin typeface="Segoe UI Semilight"/>
              <a:cs typeface="Segoe UI Semilight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5902036" y="1814945"/>
            <a:ext cx="4378037" cy="4156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863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76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369140" y="261896"/>
            <a:ext cx="5647690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35" dirty="0">
                <a:solidFill>
                  <a:schemeClr val="bg1"/>
                </a:solidFill>
              </a:rPr>
              <a:t>Random</a:t>
            </a:r>
            <a:r>
              <a:rPr lang="en-US" sz="2800" spc="-15" dirty="0">
                <a:solidFill>
                  <a:schemeClr val="bg1"/>
                </a:solidFill>
              </a:rPr>
              <a:t> </a:t>
            </a:r>
            <a:r>
              <a:rPr lang="en-US" sz="2800" spc="20" dirty="0">
                <a:solidFill>
                  <a:schemeClr val="bg1"/>
                </a:solidFill>
              </a:rPr>
              <a:t>Forest-Example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6" name="object 7"/>
          <p:cNvSpPr/>
          <p:nvPr/>
        </p:nvSpPr>
        <p:spPr>
          <a:xfrm>
            <a:off x="5902036" y="1814945"/>
            <a:ext cx="4378037" cy="4156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2241" y="2024146"/>
            <a:ext cx="4240530" cy="25186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100"/>
              </a:spcBef>
              <a:buChar char="•"/>
              <a:tabLst>
                <a:tab pos="250825" algn="l"/>
                <a:tab pos="251460" algn="l"/>
              </a:tabLst>
            </a:pPr>
            <a:r>
              <a:rPr spc="-45" dirty="0">
                <a:latin typeface="Arial"/>
                <a:cs typeface="Arial"/>
              </a:rPr>
              <a:t>The </a:t>
            </a:r>
            <a:r>
              <a:rPr spc="-10" dirty="0">
                <a:latin typeface="Arial"/>
                <a:cs typeface="Arial"/>
              </a:rPr>
              <a:t>first step </a:t>
            </a:r>
            <a:r>
              <a:rPr spc="15" dirty="0">
                <a:latin typeface="Arial"/>
                <a:cs typeface="Arial"/>
              </a:rPr>
              <a:t>in </a:t>
            </a:r>
            <a:r>
              <a:rPr spc="-20" dirty="0">
                <a:latin typeface="Arial"/>
                <a:cs typeface="Arial"/>
              </a:rPr>
              <a:t>Random </a:t>
            </a:r>
            <a:r>
              <a:rPr spc="-5" dirty="0">
                <a:latin typeface="Arial"/>
                <a:cs typeface="Arial"/>
              </a:rPr>
              <a:t>Forest </a:t>
            </a:r>
            <a:r>
              <a:rPr spc="15" dirty="0">
                <a:latin typeface="Arial"/>
                <a:cs typeface="Arial"/>
              </a:rPr>
              <a:t>is </a:t>
            </a:r>
            <a:r>
              <a:rPr spc="-25" dirty="0">
                <a:latin typeface="Arial"/>
                <a:cs typeface="Arial"/>
              </a:rPr>
              <a:t>that </a:t>
            </a:r>
            <a:r>
              <a:rPr spc="15" dirty="0">
                <a:latin typeface="Arial"/>
                <a:cs typeface="Arial"/>
              </a:rPr>
              <a:t>it </a:t>
            </a:r>
            <a:r>
              <a:rPr spc="-15" dirty="0">
                <a:latin typeface="Arial"/>
                <a:cs typeface="Arial"/>
              </a:rPr>
              <a:t>will </a:t>
            </a:r>
            <a:r>
              <a:rPr spc="-5" dirty="0">
                <a:latin typeface="Arial"/>
                <a:cs typeface="Arial"/>
              </a:rPr>
              <a:t>divide </a:t>
            </a:r>
            <a:r>
              <a:rPr spc="-35" dirty="0">
                <a:latin typeface="Arial"/>
                <a:cs typeface="Arial"/>
              </a:rPr>
              <a:t>the</a:t>
            </a:r>
            <a:r>
              <a:rPr spc="-190" dirty="0">
                <a:latin typeface="Arial"/>
                <a:cs typeface="Arial"/>
              </a:rPr>
              <a:t> </a:t>
            </a:r>
            <a:r>
              <a:rPr spc="-10" dirty="0" smtClean="0">
                <a:latin typeface="Arial"/>
                <a:cs typeface="Arial"/>
              </a:rPr>
              <a:t>data</a:t>
            </a:r>
            <a:r>
              <a:rPr lang="en-US" spc="-10" dirty="0" smtClean="0">
                <a:latin typeface="Arial"/>
                <a:cs typeface="Arial"/>
              </a:rPr>
              <a:t> </a:t>
            </a:r>
            <a:r>
              <a:rPr spc="-20" dirty="0" smtClean="0">
                <a:latin typeface="Arial"/>
                <a:cs typeface="Arial"/>
              </a:rPr>
              <a:t>into </a:t>
            </a:r>
            <a:r>
              <a:rPr spc="-15" dirty="0">
                <a:latin typeface="Arial"/>
                <a:cs typeface="Arial"/>
              </a:rPr>
              <a:t>smaller</a:t>
            </a:r>
            <a:r>
              <a:rPr spc="150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subsets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dirty="0">
              <a:latin typeface="Times New Roman"/>
              <a:cs typeface="Times New Roman"/>
            </a:endParaRPr>
          </a:p>
          <a:p>
            <a:pPr marL="250825" indent="-238760">
              <a:lnSpc>
                <a:spcPct val="100000"/>
              </a:lnSpc>
              <a:buChar char="•"/>
              <a:tabLst>
                <a:tab pos="250825" algn="l"/>
                <a:tab pos="251460" algn="l"/>
              </a:tabLst>
            </a:pPr>
            <a:r>
              <a:rPr spc="-20" dirty="0">
                <a:latin typeface="Arial"/>
                <a:cs typeface="Arial"/>
              </a:rPr>
              <a:t>Every </a:t>
            </a:r>
            <a:r>
              <a:rPr spc="-15" dirty="0">
                <a:latin typeface="Arial"/>
                <a:cs typeface="Arial"/>
              </a:rPr>
              <a:t>subset </a:t>
            </a:r>
            <a:r>
              <a:rPr spc="-20" dirty="0">
                <a:latin typeface="Arial"/>
                <a:cs typeface="Arial"/>
              </a:rPr>
              <a:t>need </a:t>
            </a:r>
            <a:r>
              <a:rPr spc="-25" dirty="0">
                <a:latin typeface="Arial"/>
                <a:cs typeface="Arial"/>
              </a:rPr>
              <a:t>not </a:t>
            </a:r>
            <a:r>
              <a:rPr dirty="0">
                <a:latin typeface="Arial"/>
                <a:cs typeface="Arial"/>
              </a:rPr>
              <a:t>be </a:t>
            </a:r>
            <a:r>
              <a:rPr spc="-10" dirty="0">
                <a:latin typeface="Arial"/>
                <a:cs typeface="Arial"/>
              </a:rPr>
              <a:t>distinct, some may </a:t>
            </a:r>
            <a:r>
              <a:rPr spc="-25" dirty="0">
                <a:latin typeface="Arial"/>
                <a:cs typeface="Arial"/>
              </a:rPr>
              <a:t>overlap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50825" indent="-238760">
              <a:lnSpc>
                <a:spcPct val="100000"/>
              </a:lnSpc>
              <a:buChar char="•"/>
              <a:tabLst>
                <a:tab pos="250825" algn="l"/>
                <a:tab pos="251460" algn="l"/>
              </a:tabLst>
            </a:pPr>
            <a:r>
              <a:rPr dirty="0">
                <a:latin typeface="Arial"/>
                <a:cs typeface="Arial"/>
              </a:rPr>
              <a:t>For each </a:t>
            </a:r>
            <a:r>
              <a:rPr spc="-15" dirty="0">
                <a:latin typeface="Arial"/>
                <a:cs typeface="Arial"/>
              </a:rPr>
              <a:t>subset </a:t>
            </a:r>
            <a:r>
              <a:rPr dirty="0">
                <a:latin typeface="Arial"/>
                <a:cs typeface="Arial"/>
              </a:rPr>
              <a:t>a </a:t>
            </a:r>
            <a:r>
              <a:rPr spc="5" dirty="0">
                <a:latin typeface="Arial"/>
                <a:cs typeface="Arial"/>
              </a:rPr>
              <a:t>decision </a:t>
            </a:r>
            <a:r>
              <a:rPr spc="-20" dirty="0">
                <a:latin typeface="Arial"/>
                <a:cs typeface="Arial"/>
              </a:rPr>
              <a:t>tree </a:t>
            </a:r>
            <a:r>
              <a:rPr spc="15" dirty="0">
                <a:latin typeface="Arial"/>
                <a:cs typeface="Arial"/>
              </a:rPr>
              <a:t>is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made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579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77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3369140" y="261896"/>
            <a:ext cx="5647690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35" dirty="0">
                <a:solidFill>
                  <a:schemeClr val="bg1"/>
                </a:solidFill>
              </a:rPr>
              <a:t>Random</a:t>
            </a:r>
            <a:r>
              <a:rPr lang="en-US" sz="2800" spc="-15" dirty="0">
                <a:solidFill>
                  <a:schemeClr val="bg1"/>
                </a:solidFill>
              </a:rPr>
              <a:t> </a:t>
            </a:r>
            <a:r>
              <a:rPr lang="en-US" sz="2800" spc="20" dirty="0">
                <a:solidFill>
                  <a:schemeClr val="bg1"/>
                </a:solidFill>
              </a:rPr>
              <a:t>Forest-Example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8" name="object 6"/>
          <p:cNvSpPr/>
          <p:nvPr/>
        </p:nvSpPr>
        <p:spPr>
          <a:xfrm>
            <a:off x="684860" y="1610310"/>
            <a:ext cx="10190957" cy="21581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19174" y="4394539"/>
            <a:ext cx="95566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100"/>
              </a:spcBef>
              <a:buChar char="•"/>
              <a:tabLst>
                <a:tab pos="250825" algn="l"/>
                <a:tab pos="251460" algn="l"/>
              </a:tabLst>
            </a:pPr>
            <a:r>
              <a:rPr lang="en-US" spc="-35" dirty="0">
                <a:latin typeface="Arial"/>
                <a:cs typeface="Arial"/>
              </a:rPr>
              <a:t>Output </a:t>
            </a:r>
            <a:r>
              <a:rPr lang="en-US" dirty="0">
                <a:latin typeface="Arial"/>
                <a:cs typeface="Arial"/>
              </a:rPr>
              <a:t>of each </a:t>
            </a:r>
            <a:r>
              <a:rPr lang="en-US" spc="-20" dirty="0">
                <a:latin typeface="Arial"/>
                <a:cs typeface="Arial"/>
              </a:rPr>
              <a:t>tree </a:t>
            </a:r>
            <a:r>
              <a:rPr lang="en-US" spc="-15" dirty="0">
                <a:latin typeface="Arial"/>
                <a:cs typeface="Arial"/>
              </a:rPr>
              <a:t>will </a:t>
            </a:r>
            <a:r>
              <a:rPr lang="en-US" dirty="0">
                <a:latin typeface="Arial"/>
                <a:cs typeface="Arial"/>
              </a:rPr>
              <a:t>be </a:t>
            </a:r>
            <a:r>
              <a:rPr lang="en-US" spc="-5" dirty="0">
                <a:latin typeface="Arial"/>
                <a:cs typeface="Arial"/>
              </a:rPr>
              <a:t>predicted </a:t>
            </a:r>
            <a:r>
              <a:rPr lang="en-US" spc="-25" dirty="0">
                <a:latin typeface="Arial"/>
                <a:cs typeface="Arial"/>
              </a:rPr>
              <a:t>and </a:t>
            </a:r>
            <a:r>
              <a:rPr lang="en-US" spc="15" dirty="0">
                <a:latin typeface="Arial"/>
                <a:cs typeface="Arial"/>
              </a:rPr>
              <a:t>if </a:t>
            </a:r>
            <a:r>
              <a:rPr lang="en-US" spc="-25" dirty="0">
                <a:latin typeface="Arial"/>
                <a:cs typeface="Arial"/>
              </a:rPr>
              <a:t>any </a:t>
            </a:r>
            <a:r>
              <a:rPr lang="en-US" spc="-30" dirty="0">
                <a:latin typeface="Arial"/>
                <a:cs typeface="Arial"/>
              </a:rPr>
              <a:t>two </a:t>
            </a:r>
            <a:r>
              <a:rPr lang="en-US" spc="5" dirty="0">
                <a:latin typeface="Arial"/>
                <a:cs typeface="Arial"/>
              </a:rPr>
              <a:t>decision </a:t>
            </a:r>
            <a:r>
              <a:rPr lang="en-US" spc="-15" dirty="0">
                <a:latin typeface="Arial"/>
                <a:cs typeface="Arial"/>
              </a:rPr>
              <a:t>trees </a:t>
            </a:r>
            <a:r>
              <a:rPr lang="en-US" spc="-5" dirty="0">
                <a:latin typeface="Arial"/>
                <a:cs typeface="Arial"/>
              </a:rPr>
              <a:t>predicted </a:t>
            </a:r>
            <a:r>
              <a:rPr lang="en-US" spc="-30" dirty="0">
                <a:latin typeface="Arial"/>
                <a:cs typeface="Arial"/>
              </a:rPr>
              <a:t>that </a:t>
            </a:r>
            <a:r>
              <a:rPr lang="en-US" spc="-10" dirty="0">
                <a:latin typeface="Arial"/>
                <a:cs typeface="Arial"/>
              </a:rPr>
              <a:t>game </a:t>
            </a:r>
            <a:r>
              <a:rPr lang="en-US" spc="-15" dirty="0">
                <a:latin typeface="Arial"/>
                <a:cs typeface="Arial"/>
              </a:rPr>
              <a:t>will happen </a:t>
            </a:r>
            <a:r>
              <a:rPr lang="en-US" spc="-25" dirty="0">
                <a:latin typeface="Arial"/>
                <a:cs typeface="Arial"/>
              </a:rPr>
              <a:t>while one</a:t>
            </a:r>
            <a:r>
              <a:rPr lang="en-US" spc="-125" dirty="0">
                <a:latin typeface="Arial"/>
                <a:cs typeface="Arial"/>
              </a:rPr>
              <a:t> </a:t>
            </a:r>
            <a:r>
              <a:rPr lang="en-US" spc="-5" dirty="0" smtClean="0">
                <a:latin typeface="Arial"/>
                <a:cs typeface="Arial"/>
              </a:rPr>
              <a:t>predicted </a:t>
            </a:r>
            <a:r>
              <a:rPr lang="en-US" spc="-30" dirty="0" smtClean="0">
                <a:latin typeface="Arial"/>
                <a:cs typeface="Arial"/>
              </a:rPr>
              <a:t>that </a:t>
            </a:r>
            <a:r>
              <a:rPr lang="en-US" spc="15" dirty="0">
                <a:latin typeface="Arial"/>
                <a:cs typeface="Arial"/>
              </a:rPr>
              <a:t>it </a:t>
            </a:r>
            <a:r>
              <a:rPr lang="en-US" spc="-20" dirty="0">
                <a:latin typeface="Arial"/>
                <a:cs typeface="Arial"/>
              </a:rPr>
              <a:t>won’t </a:t>
            </a:r>
            <a:r>
              <a:rPr lang="en-US" spc="-15" dirty="0">
                <a:latin typeface="Arial"/>
                <a:cs typeface="Arial"/>
              </a:rPr>
              <a:t>happen </a:t>
            </a:r>
            <a:r>
              <a:rPr lang="en-US" spc="-25" dirty="0">
                <a:latin typeface="Arial"/>
                <a:cs typeface="Arial"/>
              </a:rPr>
              <a:t>then </a:t>
            </a:r>
            <a:r>
              <a:rPr lang="en-US" dirty="0">
                <a:latin typeface="Arial"/>
                <a:cs typeface="Arial"/>
              </a:rPr>
              <a:t>on </a:t>
            </a:r>
            <a:r>
              <a:rPr lang="en-US" spc="-35" dirty="0">
                <a:latin typeface="Arial"/>
                <a:cs typeface="Arial"/>
              </a:rPr>
              <a:t>the </a:t>
            </a:r>
            <a:r>
              <a:rPr lang="en-US" spc="5" dirty="0">
                <a:latin typeface="Arial"/>
                <a:cs typeface="Arial"/>
              </a:rPr>
              <a:t>basis </a:t>
            </a:r>
            <a:r>
              <a:rPr lang="en-US" dirty="0">
                <a:latin typeface="Arial"/>
                <a:cs typeface="Arial"/>
              </a:rPr>
              <a:t>of </a:t>
            </a:r>
            <a:r>
              <a:rPr lang="en-US" spc="-30" dirty="0">
                <a:latin typeface="Arial"/>
                <a:cs typeface="Arial"/>
              </a:rPr>
              <a:t>number </a:t>
            </a:r>
            <a:r>
              <a:rPr lang="en-US" dirty="0">
                <a:latin typeface="Arial"/>
                <a:cs typeface="Arial"/>
              </a:rPr>
              <a:t>of </a:t>
            </a:r>
            <a:r>
              <a:rPr lang="en-US" spc="-25" dirty="0">
                <a:latin typeface="Arial"/>
                <a:cs typeface="Arial"/>
              </a:rPr>
              <a:t>votes </a:t>
            </a:r>
            <a:r>
              <a:rPr lang="en-US" spc="-15" dirty="0">
                <a:latin typeface="Arial"/>
                <a:cs typeface="Arial"/>
              </a:rPr>
              <a:t>final </a:t>
            </a:r>
            <a:r>
              <a:rPr lang="en-US" spc="-30" dirty="0">
                <a:latin typeface="Arial"/>
                <a:cs typeface="Arial"/>
              </a:rPr>
              <a:t>output </a:t>
            </a:r>
            <a:r>
              <a:rPr lang="en-US" spc="15" dirty="0">
                <a:latin typeface="Arial"/>
                <a:cs typeface="Arial"/>
              </a:rPr>
              <a:t>is </a:t>
            </a:r>
            <a:r>
              <a:rPr lang="en-US" spc="-10" dirty="0">
                <a:latin typeface="Arial"/>
                <a:cs typeface="Arial"/>
              </a:rPr>
              <a:t>selected, </a:t>
            </a:r>
            <a:r>
              <a:rPr lang="en-US" dirty="0" smtClean="0">
                <a:latin typeface="Arial"/>
                <a:cs typeface="Arial"/>
              </a:rPr>
              <a:t>sun </a:t>
            </a:r>
            <a:r>
              <a:rPr lang="en-US" spc="15" dirty="0">
                <a:latin typeface="Arial"/>
                <a:cs typeface="Arial"/>
              </a:rPr>
              <a:t>in </a:t>
            </a:r>
            <a:r>
              <a:rPr lang="en-US" spc="-20" dirty="0">
                <a:latin typeface="Arial"/>
                <a:cs typeface="Arial"/>
              </a:rPr>
              <a:t>this </a:t>
            </a:r>
            <a:r>
              <a:rPr lang="en-US" dirty="0">
                <a:latin typeface="Arial"/>
                <a:cs typeface="Arial"/>
              </a:rPr>
              <a:t>case ‘ </a:t>
            </a:r>
            <a:r>
              <a:rPr lang="en-US" i="1" spc="-15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lang="en-US" i="1" spc="10" dirty="0">
                <a:solidFill>
                  <a:srgbClr val="1B577B"/>
                </a:solidFill>
                <a:latin typeface="Arial"/>
                <a:cs typeface="Arial"/>
              </a:rPr>
              <a:t>game </a:t>
            </a:r>
            <a:r>
              <a:rPr lang="en-US" i="1" spc="-35" dirty="0">
                <a:solidFill>
                  <a:srgbClr val="1B577B"/>
                </a:solidFill>
                <a:latin typeface="Arial"/>
                <a:cs typeface="Arial"/>
              </a:rPr>
              <a:t>will</a:t>
            </a:r>
            <a:r>
              <a:rPr lang="en-US" i="1" spc="-18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lang="en-US" i="1" spc="5" dirty="0">
                <a:solidFill>
                  <a:srgbClr val="1B577B"/>
                </a:solidFill>
                <a:latin typeface="Arial"/>
                <a:cs typeface="Arial"/>
              </a:rPr>
              <a:t>happen</a:t>
            </a:r>
            <a:r>
              <a:rPr lang="en-US" spc="5" dirty="0">
                <a:latin typeface="Arial"/>
                <a:cs typeface="Arial"/>
              </a:rPr>
              <a:t>’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943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78</a:t>
            </a:fld>
            <a:endParaRPr lang="en-IN"/>
          </a:p>
        </p:txBody>
      </p:sp>
      <p:sp>
        <p:nvSpPr>
          <p:cNvPr id="7" name="object 3"/>
          <p:cNvSpPr/>
          <p:nvPr/>
        </p:nvSpPr>
        <p:spPr>
          <a:xfrm>
            <a:off x="3208325" y="2830958"/>
            <a:ext cx="8591789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>
            <a:spLocks noGrp="1"/>
          </p:cNvSpPr>
          <p:nvPr>
            <p:ph type="title"/>
          </p:nvPr>
        </p:nvSpPr>
        <p:spPr>
          <a:xfrm>
            <a:off x="4451928" y="2997108"/>
            <a:ext cx="6385296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30" dirty="0">
                <a:solidFill>
                  <a:schemeClr val="bg1"/>
                </a:solidFill>
              </a:rPr>
              <a:t>Hands-on: </a:t>
            </a:r>
            <a:r>
              <a:rPr lang="en-US" sz="2800" spc="35" dirty="0">
                <a:solidFill>
                  <a:schemeClr val="bg1"/>
                </a:solidFill>
              </a:rPr>
              <a:t>Random</a:t>
            </a:r>
            <a:r>
              <a:rPr lang="en-US" sz="2800" spc="-90" dirty="0">
                <a:solidFill>
                  <a:schemeClr val="bg1"/>
                </a:solidFill>
              </a:rPr>
              <a:t> </a:t>
            </a:r>
            <a:r>
              <a:rPr lang="en-US" sz="2800" spc="25" dirty="0">
                <a:solidFill>
                  <a:schemeClr val="bg1"/>
                </a:solidFill>
              </a:rPr>
              <a:t>Forest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3545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79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object 2"/>
          <p:cNvSpPr/>
          <p:nvPr/>
        </p:nvSpPr>
        <p:spPr>
          <a:xfrm>
            <a:off x="101375" y="291060"/>
            <a:ext cx="3545204" cy="1885488"/>
          </a:xfrm>
          <a:custGeom>
            <a:avLst/>
            <a:gdLst/>
            <a:ahLst/>
            <a:cxnLst/>
            <a:rect l="l" t="t" r="r" b="b"/>
            <a:pathLst>
              <a:path w="3545204" h="1188720">
                <a:moveTo>
                  <a:pt x="0" y="1188470"/>
                </a:moveTo>
                <a:lnTo>
                  <a:pt x="3544702" y="1188470"/>
                </a:lnTo>
                <a:lnTo>
                  <a:pt x="3544702" y="0"/>
                </a:lnTo>
                <a:lnTo>
                  <a:pt x="0" y="0"/>
                </a:lnTo>
                <a:lnTo>
                  <a:pt x="0" y="118847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3"/>
          <p:cNvSpPr/>
          <p:nvPr/>
        </p:nvSpPr>
        <p:spPr>
          <a:xfrm>
            <a:off x="87087" y="2790761"/>
            <a:ext cx="3545204" cy="2792621"/>
          </a:xfrm>
          <a:custGeom>
            <a:avLst/>
            <a:gdLst/>
            <a:ahLst/>
            <a:cxnLst/>
            <a:rect l="l" t="t" r="r" b="b"/>
            <a:pathLst>
              <a:path w="3545204" h="2209165">
                <a:moveTo>
                  <a:pt x="0" y="2209038"/>
                </a:moveTo>
                <a:lnTo>
                  <a:pt x="3544702" y="2209038"/>
                </a:lnTo>
                <a:lnTo>
                  <a:pt x="3544702" y="0"/>
                </a:lnTo>
                <a:lnTo>
                  <a:pt x="0" y="0"/>
                </a:lnTo>
                <a:lnTo>
                  <a:pt x="0" y="2209038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5"/>
          <p:cNvSpPr/>
          <p:nvPr/>
        </p:nvSpPr>
        <p:spPr>
          <a:xfrm>
            <a:off x="73665" y="1986149"/>
            <a:ext cx="3572914" cy="1746250"/>
          </a:xfrm>
          <a:custGeom>
            <a:avLst/>
            <a:gdLst/>
            <a:ahLst/>
            <a:cxnLst/>
            <a:rect l="l" t="t" r="r" b="b"/>
            <a:pathLst>
              <a:path w="3545204" h="1746250">
                <a:moveTo>
                  <a:pt x="0" y="1746004"/>
                </a:moveTo>
                <a:lnTo>
                  <a:pt x="3544702" y="1746004"/>
                </a:lnTo>
                <a:lnTo>
                  <a:pt x="3544702" y="0"/>
                </a:lnTo>
                <a:lnTo>
                  <a:pt x="0" y="0"/>
                </a:lnTo>
                <a:lnTo>
                  <a:pt x="0" y="1746004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6"/>
          <p:cNvSpPr txBox="1"/>
          <p:nvPr/>
        </p:nvSpPr>
        <p:spPr>
          <a:xfrm>
            <a:off x="299234" y="1986149"/>
            <a:ext cx="3510765" cy="1609223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R="1533525">
              <a:lnSpc>
                <a:spcPct val="92000"/>
              </a:lnSpc>
              <a:spcBef>
                <a:spcPts val="220"/>
              </a:spcBef>
            </a:pPr>
            <a:r>
              <a:rPr lang="en-US" sz="3600" b="1" spc="-5" dirty="0">
                <a:solidFill>
                  <a:srgbClr val="FFFFFF"/>
                </a:solidFill>
                <a:latin typeface="Arial"/>
                <a:cs typeface="Arial"/>
              </a:rPr>
              <a:t>Demo-  </a:t>
            </a:r>
            <a:r>
              <a:rPr lang="en-US" sz="3600" b="1" spc="-5" dirty="0" smtClean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600" b="1" spc="-25" dirty="0" smtClean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600" b="1" spc="-20" dirty="0" smtClean="0">
                <a:solidFill>
                  <a:srgbClr val="FFFFFF"/>
                </a:solidFill>
                <a:latin typeface="Arial"/>
                <a:cs typeface="Arial"/>
              </a:rPr>
              <a:t>ndom</a:t>
            </a:r>
            <a:r>
              <a:rPr lang="en-US" sz="3600" b="1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3600" spc="5" dirty="0" smtClean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3600" b="1" spc="-10" dirty="0">
                <a:solidFill>
                  <a:srgbClr val="FFFFFF"/>
                </a:solidFill>
                <a:latin typeface="Arial"/>
                <a:cs typeface="Arial"/>
              </a:rPr>
              <a:t>Forest</a:t>
            </a:r>
            <a:endParaRPr lang="en-US" sz="3600" dirty="0">
              <a:latin typeface="Arial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39391" y="843934"/>
            <a:ext cx="6096000" cy="20165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0825" indent="-238760">
              <a:lnSpc>
                <a:spcPct val="100000"/>
              </a:lnSpc>
              <a:spcBef>
                <a:spcPts val="765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will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using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famous </a:t>
            </a:r>
            <a:r>
              <a:rPr lang="en-US" spc="-30" dirty="0">
                <a:solidFill>
                  <a:srgbClr val="595959"/>
                </a:solidFill>
                <a:latin typeface="Arial"/>
                <a:cs typeface="Arial"/>
              </a:rPr>
              <a:t>Iris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Dataset,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collected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endParaRPr lang="en-US" dirty="0">
              <a:latin typeface="Arial"/>
              <a:cs typeface="Arial"/>
            </a:endParaRPr>
          </a:p>
          <a:p>
            <a:pPr marL="250825">
              <a:lnSpc>
                <a:spcPct val="100000"/>
              </a:lnSpc>
              <a:spcBef>
                <a:spcPts val="665"/>
              </a:spcBef>
            </a:pPr>
            <a:r>
              <a:rPr lang="en-US" spc="5" dirty="0">
                <a:solidFill>
                  <a:srgbClr val="595959"/>
                </a:solidFill>
                <a:latin typeface="Arial"/>
                <a:cs typeface="Arial"/>
              </a:rPr>
              <a:t>1930’s</a:t>
            </a:r>
            <a:r>
              <a:rPr lang="en-US"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5" dirty="0">
                <a:solidFill>
                  <a:srgbClr val="595959"/>
                </a:solidFill>
                <a:latin typeface="Arial"/>
                <a:cs typeface="Arial"/>
              </a:rPr>
              <a:t>Edgar</a:t>
            </a:r>
            <a:r>
              <a:rPr lang="en-US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Anderson.</a:t>
            </a:r>
            <a:endParaRPr lang="en-US" dirty="0">
              <a:latin typeface="Arial"/>
              <a:cs typeface="Arial"/>
            </a:endParaRPr>
          </a:p>
          <a:p>
            <a:pPr marL="250825" marR="5080" indent="-238760">
              <a:lnSpc>
                <a:spcPct val="151300"/>
              </a:lnSpc>
              <a:spcBef>
                <a:spcPts val="225"/>
              </a:spcBef>
              <a:buClr>
                <a:srgbClr val="000000"/>
              </a:buClr>
              <a:buChar char="•"/>
              <a:tabLst>
                <a:tab pos="250825" algn="l"/>
                <a:tab pos="251460" algn="l"/>
              </a:tabLst>
            </a:pPr>
            <a:r>
              <a:rPr lang="en-US" spc="-5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this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example, 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going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train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random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forest 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classification 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algorithm 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predict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lang="en-US" spc="1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lang="en-US" spc="-3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r>
              <a:rPr lang="en-US" spc="3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5" name="object 7"/>
          <p:cNvSpPr/>
          <p:nvPr/>
        </p:nvSpPr>
        <p:spPr>
          <a:xfrm>
            <a:off x="5116603" y="2790760"/>
            <a:ext cx="5318788" cy="2958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19180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80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8" y="321234"/>
            <a:ext cx="7049478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-10" dirty="0">
                <a:solidFill>
                  <a:schemeClr val="bg1"/>
                </a:solidFill>
              </a:rPr>
              <a:t>Implementing </a:t>
            </a:r>
            <a:r>
              <a:rPr lang="en-US" sz="2800" spc="-35" dirty="0">
                <a:solidFill>
                  <a:schemeClr val="bg1"/>
                </a:solidFill>
              </a:rPr>
              <a:t>Random </a:t>
            </a:r>
            <a:r>
              <a:rPr lang="en-US" sz="2800" spc="5" dirty="0">
                <a:solidFill>
                  <a:schemeClr val="bg1"/>
                </a:solidFill>
              </a:rPr>
              <a:t>Forest </a:t>
            </a:r>
            <a:r>
              <a:rPr lang="en-US" sz="2800" spc="35" dirty="0">
                <a:solidFill>
                  <a:schemeClr val="bg1"/>
                </a:solidFill>
              </a:rPr>
              <a:t>in</a:t>
            </a:r>
            <a:r>
              <a:rPr lang="en-US" sz="2800" spc="30" dirty="0">
                <a:solidFill>
                  <a:schemeClr val="bg1"/>
                </a:solidFill>
              </a:rPr>
              <a:t> </a:t>
            </a:r>
            <a:r>
              <a:rPr lang="en-US" sz="2800" spc="-40" dirty="0">
                <a:solidFill>
                  <a:schemeClr val="bg1"/>
                </a:solidFill>
              </a:rPr>
              <a:t>Python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9" name="object 7"/>
          <p:cNvSpPr/>
          <p:nvPr/>
        </p:nvSpPr>
        <p:spPr>
          <a:xfrm>
            <a:off x="3955612" y="1611376"/>
            <a:ext cx="4409390" cy="12216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/>
          <p:cNvSpPr/>
          <p:nvPr/>
        </p:nvSpPr>
        <p:spPr>
          <a:xfrm>
            <a:off x="4180906" y="1715790"/>
            <a:ext cx="3790200" cy="7783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/>
          <p:cNvSpPr/>
          <p:nvPr/>
        </p:nvSpPr>
        <p:spPr>
          <a:xfrm>
            <a:off x="4180906" y="1713237"/>
            <a:ext cx="3790200" cy="774065"/>
          </a:xfrm>
          <a:custGeom>
            <a:avLst/>
            <a:gdLst/>
            <a:ahLst/>
            <a:cxnLst/>
            <a:rect l="l" t="t" r="r" b="b"/>
            <a:pathLst>
              <a:path w="2339975" h="600075">
                <a:moveTo>
                  <a:pt x="0" y="599992"/>
                </a:moveTo>
                <a:lnTo>
                  <a:pt x="2339970" y="599992"/>
                </a:lnTo>
                <a:lnTo>
                  <a:pt x="2339970" y="0"/>
                </a:lnTo>
                <a:lnTo>
                  <a:pt x="0" y="0"/>
                </a:lnTo>
                <a:lnTo>
                  <a:pt x="0" y="59999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/>
          <p:nvPr/>
        </p:nvSpPr>
        <p:spPr>
          <a:xfrm>
            <a:off x="3149841" y="3114025"/>
            <a:ext cx="6811578" cy="1431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/>
          <p:cNvSpPr/>
          <p:nvPr/>
        </p:nvSpPr>
        <p:spPr>
          <a:xfrm>
            <a:off x="3197112" y="3277714"/>
            <a:ext cx="6566629" cy="1100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2"/>
          <p:cNvSpPr/>
          <p:nvPr/>
        </p:nvSpPr>
        <p:spPr>
          <a:xfrm>
            <a:off x="3182271" y="3259754"/>
            <a:ext cx="6571325" cy="1113271"/>
          </a:xfrm>
          <a:custGeom>
            <a:avLst/>
            <a:gdLst/>
            <a:ahLst/>
            <a:cxnLst/>
            <a:rect l="l" t="t" r="r" b="b"/>
            <a:pathLst>
              <a:path w="4426584" h="844550">
                <a:moveTo>
                  <a:pt x="0" y="844070"/>
                </a:moveTo>
                <a:lnTo>
                  <a:pt x="4426335" y="844070"/>
                </a:lnTo>
                <a:lnTo>
                  <a:pt x="4426335" y="0"/>
                </a:lnTo>
                <a:lnTo>
                  <a:pt x="0" y="0"/>
                </a:lnTo>
                <a:lnTo>
                  <a:pt x="0" y="84407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3"/>
          <p:cNvSpPr/>
          <p:nvPr/>
        </p:nvSpPr>
        <p:spPr>
          <a:xfrm>
            <a:off x="5363351" y="4644737"/>
            <a:ext cx="381885" cy="7910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4"/>
          <p:cNvSpPr/>
          <p:nvPr/>
        </p:nvSpPr>
        <p:spPr>
          <a:xfrm>
            <a:off x="5481948" y="4781559"/>
            <a:ext cx="92578" cy="480464"/>
          </a:xfrm>
          <a:custGeom>
            <a:avLst/>
            <a:gdLst/>
            <a:ahLst/>
            <a:cxnLst/>
            <a:rect l="l" t="t" r="r" b="b"/>
            <a:pathLst>
              <a:path w="76200" h="364489">
                <a:moveTo>
                  <a:pt x="47640" y="0"/>
                </a:moveTo>
                <a:lnTo>
                  <a:pt x="28590" y="0"/>
                </a:lnTo>
                <a:lnTo>
                  <a:pt x="28590" y="152400"/>
                </a:lnTo>
                <a:lnTo>
                  <a:pt x="47640" y="152400"/>
                </a:lnTo>
                <a:lnTo>
                  <a:pt x="47640" y="0"/>
                </a:lnTo>
                <a:close/>
              </a:path>
              <a:path w="76200" h="364489">
                <a:moveTo>
                  <a:pt x="47640" y="209550"/>
                </a:moveTo>
                <a:lnTo>
                  <a:pt x="28590" y="209550"/>
                </a:lnTo>
                <a:lnTo>
                  <a:pt x="28590" y="228600"/>
                </a:lnTo>
                <a:lnTo>
                  <a:pt x="47640" y="228600"/>
                </a:lnTo>
                <a:lnTo>
                  <a:pt x="47640" y="209550"/>
                </a:lnTo>
                <a:close/>
              </a:path>
              <a:path w="76200" h="364489">
                <a:moveTo>
                  <a:pt x="28590" y="287786"/>
                </a:moveTo>
                <a:lnTo>
                  <a:pt x="0" y="287786"/>
                </a:lnTo>
                <a:lnTo>
                  <a:pt x="38100" y="363998"/>
                </a:lnTo>
                <a:lnTo>
                  <a:pt x="69848" y="300490"/>
                </a:lnTo>
                <a:lnTo>
                  <a:pt x="28590" y="300490"/>
                </a:lnTo>
                <a:lnTo>
                  <a:pt x="28590" y="287786"/>
                </a:lnTo>
                <a:close/>
              </a:path>
              <a:path w="76200" h="364489">
                <a:moveTo>
                  <a:pt x="47640" y="285750"/>
                </a:moveTo>
                <a:lnTo>
                  <a:pt x="28590" y="285750"/>
                </a:lnTo>
                <a:lnTo>
                  <a:pt x="28590" y="300490"/>
                </a:lnTo>
                <a:lnTo>
                  <a:pt x="47640" y="300490"/>
                </a:lnTo>
                <a:lnTo>
                  <a:pt x="47640" y="285750"/>
                </a:lnTo>
                <a:close/>
              </a:path>
              <a:path w="76200" h="364489">
                <a:moveTo>
                  <a:pt x="76200" y="287786"/>
                </a:moveTo>
                <a:lnTo>
                  <a:pt x="47640" y="287786"/>
                </a:lnTo>
                <a:lnTo>
                  <a:pt x="47640" y="300490"/>
                </a:lnTo>
                <a:lnTo>
                  <a:pt x="69848" y="300490"/>
                </a:lnTo>
                <a:lnTo>
                  <a:pt x="76200" y="287786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5"/>
          <p:cNvSpPr/>
          <p:nvPr/>
        </p:nvSpPr>
        <p:spPr>
          <a:xfrm>
            <a:off x="2562986" y="5127927"/>
            <a:ext cx="7924905" cy="9542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/>
          <p:nvPr/>
        </p:nvSpPr>
        <p:spPr>
          <a:xfrm>
            <a:off x="2819650" y="5392045"/>
            <a:ext cx="7451455" cy="51890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7"/>
          <p:cNvSpPr/>
          <p:nvPr/>
        </p:nvSpPr>
        <p:spPr>
          <a:xfrm>
            <a:off x="2814958" y="5387278"/>
            <a:ext cx="7465115" cy="531524"/>
          </a:xfrm>
          <a:custGeom>
            <a:avLst/>
            <a:gdLst/>
            <a:ahLst/>
            <a:cxnLst/>
            <a:rect l="l" t="t" r="r" b="b"/>
            <a:pathLst>
              <a:path w="5410834" h="403225">
                <a:moveTo>
                  <a:pt x="0" y="403180"/>
                </a:moveTo>
                <a:lnTo>
                  <a:pt x="5410443" y="403180"/>
                </a:lnTo>
                <a:lnTo>
                  <a:pt x="5410443" y="0"/>
                </a:lnTo>
                <a:lnTo>
                  <a:pt x="0" y="0"/>
                </a:lnTo>
                <a:lnTo>
                  <a:pt x="0" y="40318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/>
          <p:cNvSpPr/>
          <p:nvPr/>
        </p:nvSpPr>
        <p:spPr>
          <a:xfrm>
            <a:off x="3149840" y="1740620"/>
            <a:ext cx="729054" cy="7910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/>
          <p:cNvSpPr/>
          <p:nvPr/>
        </p:nvSpPr>
        <p:spPr>
          <a:xfrm>
            <a:off x="2562986" y="2021582"/>
            <a:ext cx="805772" cy="367463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139196" y="0"/>
                </a:moveTo>
                <a:lnTo>
                  <a:pt x="95166" y="7100"/>
                </a:lnTo>
                <a:lnTo>
                  <a:pt x="56951" y="26869"/>
                </a:lnTo>
                <a:lnTo>
                  <a:pt x="26831" y="57008"/>
                </a:lnTo>
                <a:lnTo>
                  <a:pt x="7088" y="95218"/>
                </a:lnTo>
                <a:lnTo>
                  <a:pt x="0" y="139202"/>
                </a:lnTo>
                <a:lnTo>
                  <a:pt x="7088" y="183170"/>
                </a:lnTo>
                <a:lnTo>
                  <a:pt x="26831" y="221372"/>
                </a:lnTo>
                <a:lnTo>
                  <a:pt x="56951" y="251506"/>
                </a:lnTo>
                <a:lnTo>
                  <a:pt x="95166" y="271273"/>
                </a:lnTo>
                <a:lnTo>
                  <a:pt x="139196" y="278373"/>
                </a:lnTo>
                <a:lnTo>
                  <a:pt x="183172" y="271273"/>
                </a:lnTo>
                <a:lnTo>
                  <a:pt x="221378" y="251506"/>
                </a:lnTo>
                <a:lnTo>
                  <a:pt x="251514" y="221372"/>
                </a:lnTo>
                <a:lnTo>
                  <a:pt x="271282" y="183170"/>
                </a:lnTo>
                <a:lnTo>
                  <a:pt x="278382" y="139202"/>
                </a:lnTo>
                <a:lnTo>
                  <a:pt x="271282" y="95218"/>
                </a:lnTo>
                <a:lnTo>
                  <a:pt x="251514" y="57008"/>
                </a:lnTo>
                <a:lnTo>
                  <a:pt x="221378" y="26869"/>
                </a:lnTo>
                <a:lnTo>
                  <a:pt x="183172" y="7100"/>
                </a:lnTo>
                <a:lnTo>
                  <a:pt x="1391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929005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cs typeface="Calibri"/>
              </a:rPr>
              <a:t>1</a:t>
            </a:r>
            <a:endParaRPr lang="en-US" dirty="0">
              <a:cs typeface="Calibri"/>
            </a:endParaRPr>
          </a:p>
        </p:txBody>
      </p:sp>
      <p:sp>
        <p:nvSpPr>
          <p:cNvPr id="22" name="object 20"/>
          <p:cNvSpPr/>
          <p:nvPr/>
        </p:nvSpPr>
        <p:spPr>
          <a:xfrm>
            <a:off x="3370871" y="1937909"/>
            <a:ext cx="338682" cy="367463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202"/>
                </a:moveTo>
                <a:lnTo>
                  <a:pt x="7088" y="95218"/>
                </a:lnTo>
                <a:lnTo>
                  <a:pt x="26831" y="57008"/>
                </a:lnTo>
                <a:lnTo>
                  <a:pt x="56951" y="26869"/>
                </a:lnTo>
                <a:lnTo>
                  <a:pt x="95166" y="7100"/>
                </a:lnTo>
                <a:lnTo>
                  <a:pt x="139196" y="0"/>
                </a:lnTo>
                <a:lnTo>
                  <a:pt x="183172" y="7100"/>
                </a:lnTo>
                <a:lnTo>
                  <a:pt x="221378" y="26869"/>
                </a:lnTo>
                <a:lnTo>
                  <a:pt x="251514" y="57008"/>
                </a:lnTo>
                <a:lnTo>
                  <a:pt x="271282" y="95218"/>
                </a:lnTo>
                <a:lnTo>
                  <a:pt x="278382" y="139202"/>
                </a:lnTo>
                <a:lnTo>
                  <a:pt x="271282" y="183170"/>
                </a:lnTo>
                <a:lnTo>
                  <a:pt x="251514" y="221372"/>
                </a:lnTo>
                <a:lnTo>
                  <a:pt x="221378" y="251506"/>
                </a:lnTo>
                <a:lnTo>
                  <a:pt x="183172" y="271273"/>
                </a:lnTo>
                <a:lnTo>
                  <a:pt x="139196" y="278373"/>
                </a:lnTo>
                <a:lnTo>
                  <a:pt x="95166" y="271273"/>
                </a:lnTo>
                <a:lnTo>
                  <a:pt x="56951" y="251506"/>
                </a:lnTo>
                <a:lnTo>
                  <a:pt x="26831" y="221372"/>
                </a:lnTo>
                <a:lnTo>
                  <a:pt x="7088" y="183170"/>
                </a:lnTo>
                <a:lnTo>
                  <a:pt x="0" y="139202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1"/>
          <p:cNvSpPr txBox="1"/>
          <p:nvPr/>
        </p:nvSpPr>
        <p:spPr>
          <a:xfrm>
            <a:off x="3794627" y="1131895"/>
            <a:ext cx="323167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100"/>
              </a:spcBef>
            </a:pPr>
            <a:r>
              <a:rPr sz="1600" i="1" spc="5" dirty="0">
                <a:solidFill>
                  <a:srgbClr val="1B577B"/>
                </a:solidFill>
                <a:latin typeface="Arial"/>
                <a:cs typeface="Arial"/>
              </a:rPr>
              <a:t>Loading </a:t>
            </a:r>
            <a:r>
              <a:rPr sz="1600" i="1" spc="-10" dirty="0">
                <a:solidFill>
                  <a:srgbClr val="1B577B"/>
                </a:solidFill>
                <a:latin typeface="Arial"/>
                <a:cs typeface="Arial"/>
              </a:rPr>
              <a:t>the </a:t>
            </a:r>
            <a:r>
              <a:rPr sz="1600" i="1" spc="5" dirty="0">
                <a:solidFill>
                  <a:srgbClr val="1B577B"/>
                </a:solidFill>
                <a:latin typeface="Arial"/>
                <a:cs typeface="Arial"/>
              </a:rPr>
              <a:t>iris</a:t>
            </a:r>
            <a:r>
              <a:rPr sz="1600" i="1" spc="-19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sz="1600" i="1" spc="-10" dirty="0">
                <a:solidFill>
                  <a:srgbClr val="1B577B"/>
                </a:solidFill>
                <a:latin typeface="Arial"/>
                <a:cs typeface="Arial"/>
              </a:rPr>
              <a:t>dataset: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4" name="object 22"/>
          <p:cNvSpPr/>
          <p:nvPr/>
        </p:nvSpPr>
        <p:spPr>
          <a:xfrm>
            <a:off x="2055580" y="3218556"/>
            <a:ext cx="729054" cy="79100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3"/>
          <p:cNvSpPr/>
          <p:nvPr/>
        </p:nvSpPr>
        <p:spPr>
          <a:xfrm>
            <a:off x="2287840" y="3727750"/>
            <a:ext cx="338682" cy="367463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139327" y="0"/>
                </a:moveTo>
                <a:lnTo>
                  <a:pt x="95283" y="7101"/>
                </a:lnTo>
                <a:lnTo>
                  <a:pt x="57036" y="26878"/>
                </a:lnTo>
                <a:lnTo>
                  <a:pt x="26878" y="57036"/>
                </a:lnTo>
                <a:lnTo>
                  <a:pt x="7101" y="95283"/>
                </a:lnTo>
                <a:lnTo>
                  <a:pt x="0" y="139327"/>
                </a:lnTo>
                <a:lnTo>
                  <a:pt x="7101" y="183305"/>
                </a:lnTo>
                <a:lnTo>
                  <a:pt x="26878" y="221510"/>
                </a:lnTo>
                <a:lnTo>
                  <a:pt x="57036" y="251645"/>
                </a:lnTo>
                <a:lnTo>
                  <a:pt x="95283" y="271411"/>
                </a:lnTo>
                <a:lnTo>
                  <a:pt x="139327" y="278511"/>
                </a:lnTo>
                <a:lnTo>
                  <a:pt x="183305" y="271411"/>
                </a:lnTo>
                <a:lnTo>
                  <a:pt x="221510" y="251645"/>
                </a:lnTo>
                <a:lnTo>
                  <a:pt x="251645" y="221510"/>
                </a:lnTo>
                <a:lnTo>
                  <a:pt x="271411" y="183305"/>
                </a:lnTo>
                <a:lnTo>
                  <a:pt x="278511" y="139327"/>
                </a:lnTo>
                <a:lnTo>
                  <a:pt x="271411" y="95283"/>
                </a:lnTo>
                <a:lnTo>
                  <a:pt x="251645" y="57036"/>
                </a:lnTo>
                <a:lnTo>
                  <a:pt x="221510" y="26878"/>
                </a:lnTo>
                <a:lnTo>
                  <a:pt x="183305" y="7101"/>
                </a:lnTo>
                <a:lnTo>
                  <a:pt x="1393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4"/>
          <p:cNvSpPr/>
          <p:nvPr/>
        </p:nvSpPr>
        <p:spPr>
          <a:xfrm>
            <a:off x="2286410" y="3405664"/>
            <a:ext cx="338682" cy="404209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327"/>
                </a:moveTo>
                <a:lnTo>
                  <a:pt x="7101" y="95283"/>
                </a:lnTo>
                <a:lnTo>
                  <a:pt x="26878" y="57036"/>
                </a:lnTo>
                <a:lnTo>
                  <a:pt x="57036" y="26878"/>
                </a:lnTo>
                <a:lnTo>
                  <a:pt x="95283" y="7101"/>
                </a:lnTo>
                <a:lnTo>
                  <a:pt x="139327" y="0"/>
                </a:lnTo>
                <a:lnTo>
                  <a:pt x="183305" y="7101"/>
                </a:lnTo>
                <a:lnTo>
                  <a:pt x="221510" y="26878"/>
                </a:lnTo>
                <a:lnTo>
                  <a:pt x="251645" y="57036"/>
                </a:lnTo>
                <a:lnTo>
                  <a:pt x="271411" y="95283"/>
                </a:lnTo>
                <a:lnTo>
                  <a:pt x="278510" y="139327"/>
                </a:lnTo>
                <a:lnTo>
                  <a:pt x="271411" y="183305"/>
                </a:lnTo>
                <a:lnTo>
                  <a:pt x="251645" y="221510"/>
                </a:lnTo>
                <a:lnTo>
                  <a:pt x="221510" y="251645"/>
                </a:lnTo>
                <a:lnTo>
                  <a:pt x="183305" y="271411"/>
                </a:lnTo>
                <a:lnTo>
                  <a:pt x="139327" y="278510"/>
                </a:lnTo>
                <a:lnTo>
                  <a:pt x="95283" y="271411"/>
                </a:lnTo>
                <a:lnTo>
                  <a:pt x="57036" y="251645"/>
                </a:lnTo>
                <a:lnTo>
                  <a:pt x="26878" y="221510"/>
                </a:lnTo>
                <a:lnTo>
                  <a:pt x="7101" y="183305"/>
                </a:lnTo>
                <a:lnTo>
                  <a:pt x="0" y="139327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5"/>
          <p:cNvSpPr txBox="1"/>
          <p:nvPr/>
        </p:nvSpPr>
        <p:spPr>
          <a:xfrm>
            <a:off x="3013201" y="2781407"/>
            <a:ext cx="498534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9005">
              <a:lnSpc>
                <a:spcPct val="100000"/>
              </a:lnSpc>
              <a:spcBef>
                <a:spcPts val="100"/>
              </a:spcBef>
            </a:pPr>
            <a:r>
              <a:rPr sz="1400" i="1" spc="10" dirty="0">
                <a:solidFill>
                  <a:srgbClr val="1B577B"/>
                </a:solidFill>
                <a:latin typeface="Arial"/>
                <a:cs typeface="Arial"/>
              </a:rPr>
              <a:t>Having </a:t>
            </a:r>
            <a:r>
              <a:rPr sz="1400" i="1" dirty="0">
                <a:solidFill>
                  <a:srgbClr val="1B577B"/>
                </a:solidFill>
                <a:latin typeface="Arial"/>
                <a:cs typeface="Arial"/>
              </a:rPr>
              <a:t>a </a:t>
            </a:r>
            <a:r>
              <a:rPr sz="1400" i="1" spc="5" dirty="0">
                <a:solidFill>
                  <a:srgbClr val="1B577B"/>
                </a:solidFill>
                <a:latin typeface="Arial"/>
                <a:cs typeface="Arial"/>
              </a:rPr>
              <a:t>glance </a:t>
            </a:r>
            <a:r>
              <a:rPr sz="1400" i="1" dirty="0">
                <a:solidFill>
                  <a:srgbClr val="1B577B"/>
                </a:solidFill>
                <a:latin typeface="Arial"/>
                <a:cs typeface="Arial"/>
              </a:rPr>
              <a:t>at </a:t>
            </a:r>
            <a:r>
              <a:rPr sz="1400" i="1" spc="-10" dirty="0">
                <a:solidFill>
                  <a:srgbClr val="1B577B"/>
                </a:solidFill>
                <a:latin typeface="Arial"/>
                <a:cs typeface="Arial"/>
              </a:rPr>
              <a:t>the target </a:t>
            </a:r>
            <a:r>
              <a:rPr sz="1400" i="1" dirty="0">
                <a:solidFill>
                  <a:srgbClr val="1B577B"/>
                </a:solidFill>
                <a:latin typeface="Arial"/>
                <a:cs typeface="Arial"/>
              </a:rPr>
              <a:t>&amp; </a:t>
            </a:r>
            <a:r>
              <a:rPr sz="1400" i="1" spc="-15" dirty="0">
                <a:solidFill>
                  <a:srgbClr val="1B577B"/>
                </a:solidFill>
                <a:latin typeface="Arial"/>
                <a:cs typeface="Arial"/>
              </a:rPr>
              <a:t>feature</a:t>
            </a:r>
            <a:r>
              <a:rPr sz="1400" i="1" spc="-50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sz="1400" i="1" spc="10" dirty="0">
                <a:solidFill>
                  <a:srgbClr val="1B577B"/>
                </a:solidFill>
                <a:latin typeface="Arial"/>
                <a:cs typeface="Arial"/>
              </a:rPr>
              <a:t>names: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93104" y="3431963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>
                <a:cs typeface="Calibri"/>
              </a:rPr>
              <a:t>2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07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81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8" y="321234"/>
            <a:ext cx="7049478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-10" dirty="0">
                <a:solidFill>
                  <a:schemeClr val="bg1"/>
                </a:solidFill>
              </a:rPr>
              <a:t>Implementing </a:t>
            </a:r>
            <a:r>
              <a:rPr lang="en-US" sz="2800" spc="-35" dirty="0">
                <a:solidFill>
                  <a:schemeClr val="bg1"/>
                </a:solidFill>
              </a:rPr>
              <a:t>Random </a:t>
            </a:r>
            <a:r>
              <a:rPr lang="en-US" sz="2800" spc="5" dirty="0">
                <a:solidFill>
                  <a:schemeClr val="bg1"/>
                </a:solidFill>
              </a:rPr>
              <a:t>Forest </a:t>
            </a:r>
            <a:r>
              <a:rPr lang="en-US" sz="2800" spc="35" dirty="0">
                <a:solidFill>
                  <a:schemeClr val="bg1"/>
                </a:solidFill>
              </a:rPr>
              <a:t>in</a:t>
            </a:r>
            <a:r>
              <a:rPr lang="en-US" sz="2800" spc="30" dirty="0">
                <a:solidFill>
                  <a:schemeClr val="bg1"/>
                </a:solidFill>
              </a:rPr>
              <a:t> </a:t>
            </a:r>
            <a:r>
              <a:rPr lang="en-US" sz="2800" spc="-40" dirty="0">
                <a:solidFill>
                  <a:schemeClr val="bg1"/>
                </a:solidFill>
              </a:rPr>
              <a:t>Python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54182" y="103085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Printing 1</a:t>
            </a:r>
            <a:r>
              <a:rPr lang="en-US" i="1" spc="-7" baseline="24305" dirty="0">
                <a:solidFill>
                  <a:srgbClr val="1B577B"/>
                </a:solidFill>
                <a:latin typeface="Times New Roman"/>
                <a:cs typeface="Times New Roman"/>
              </a:rPr>
              <a:t>st </a:t>
            </a:r>
            <a:r>
              <a:rPr lang="en-US" i="1" spc="15" dirty="0">
                <a:solidFill>
                  <a:srgbClr val="1B577B"/>
                </a:solidFill>
                <a:latin typeface="Times New Roman"/>
                <a:cs typeface="Times New Roman"/>
              </a:rPr>
              <a:t>five</a:t>
            </a:r>
            <a:r>
              <a:rPr lang="en-US" i="1" spc="-14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30" dirty="0">
                <a:solidFill>
                  <a:srgbClr val="1B577B"/>
                </a:solidFill>
                <a:latin typeface="Times New Roman"/>
                <a:cs typeface="Times New Roman"/>
              </a:rPr>
              <a:t>records</a:t>
            </a:r>
            <a:r>
              <a:rPr lang="en-US" i="1" spc="-30" dirty="0" smtClean="0">
                <a:solidFill>
                  <a:srgbClr val="1B577B"/>
                </a:solidFill>
                <a:latin typeface="Times New Roman"/>
                <a:cs typeface="Times New Roman"/>
              </a:rPr>
              <a:t>:</a:t>
            </a:r>
            <a:endParaRPr lang="en-US" sz="2000" dirty="0">
              <a:cs typeface="Calibri"/>
            </a:endParaRPr>
          </a:p>
        </p:txBody>
      </p:sp>
      <p:sp>
        <p:nvSpPr>
          <p:cNvPr id="8" name="object 11"/>
          <p:cNvSpPr/>
          <p:nvPr/>
        </p:nvSpPr>
        <p:spPr>
          <a:xfrm>
            <a:off x="1510151" y="1889405"/>
            <a:ext cx="3990103" cy="10347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2"/>
          <p:cNvSpPr/>
          <p:nvPr/>
        </p:nvSpPr>
        <p:spPr>
          <a:xfrm>
            <a:off x="1627914" y="1970110"/>
            <a:ext cx="3754575" cy="7222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3"/>
          <p:cNvSpPr/>
          <p:nvPr/>
        </p:nvSpPr>
        <p:spPr>
          <a:xfrm>
            <a:off x="1627914" y="2011917"/>
            <a:ext cx="3835102" cy="680394"/>
          </a:xfrm>
          <a:custGeom>
            <a:avLst/>
            <a:gdLst/>
            <a:ahLst/>
            <a:cxnLst/>
            <a:rect l="l" t="t" r="r" b="b"/>
            <a:pathLst>
              <a:path w="3237865" h="442594">
                <a:moveTo>
                  <a:pt x="0" y="442542"/>
                </a:moveTo>
                <a:lnTo>
                  <a:pt x="3237494" y="442542"/>
                </a:lnTo>
                <a:lnTo>
                  <a:pt x="3237494" y="0"/>
                </a:lnTo>
                <a:lnTo>
                  <a:pt x="0" y="0"/>
                </a:lnTo>
                <a:lnTo>
                  <a:pt x="0" y="44254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"/>
          <p:cNvSpPr/>
          <p:nvPr/>
        </p:nvSpPr>
        <p:spPr>
          <a:xfrm>
            <a:off x="418220" y="2006692"/>
            <a:ext cx="651156" cy="7286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/>
          <p:cNvSpPr/>
          <p:nvPr/>
        </p:nvSpPr>
        <p:spPr>
          <a:xfrm>
            <a:off x="-221783" y="2229395"/>
            <a:ext cx="805772" cy="367463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139196" y="0"/>
                </a:moveTo>
                <a:lnTo>
                  <a:pt x="95166" y="7100"/>
                </a:lnTo>
                <a:lnTo>
                  <a:pt x="56951" y="26869"/>
                </a:lnTo>
                <a:lnTo>
                  <a:pt x="26831" y="57008"/>
                </a:lnTo>
                <a:lnTo>
                  <a:pt x="7088" y="95218"/>
                </a:lnTo>
                <a:lnTo>
                  <a:pt x="0" y="139202"/>
                </a:lnTo>
                <a:lnTo>
                  <a:pt x="7088" y="183170"/>
                </a:lnTo>
                <a:lnTo>
                  <a:pt x="26831" y="221372"/>
                </a:lnTo>
                <a:lnTo>
                  <a:pt x="56951" y="251506"/>
                </a:lnTo>
                <a:lnTo>
                  <a:pt x="95166" y="271273"/>
                </a:lnTo>
                <a:lnTo>
                  <a:pt x="139196" y="278373"/>
                </a:lnTo>
                <a:lnTo>
                  <a:pt x="183172" y="271273"/>
                </a:lnTo>
                <a:lnTo>
                  <a:pt x="221378" y="251506"/>
                </a:lnTo>
                <a:lnTo>
                  <a:pt x="251514" y="221372"/>
                </a:lnTo>
                <a:lnTo>
                  <a:pt x="271282" y="183170"/>
                </a:lnTo>
                <a:lnTo>
                  <a:pt x="278382" y="139202"/>
                </a:lnTo>
                <a:lnTo>
                  <a:pt x="271282" y="95218"/>
                </a:lnTo>
                <a:lnTo>
                  <a:pt x="251514" y="57008"/>
                </a:lnTo>
                <a:lnTo>
                  <a:pt x="221378" y="26869"/>
                </a:lnTo>
                <a:lnTo>
                  <a:pt x="183172" y="7100"/>
                </a:lnTo>
                <a:lnTo>
                  <a:pt x="1391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929005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cs typeface="Calibri"/>
              </a:rPr>
              <a:t>1</a:t>
            </a:r>
            <a:endParaRPr lang="en-US" sz="1600" dirty="0">
              <a:cs typeface="Calibri"/>
            </a:endParaRPr>
          </a:p>
        </p:txBody>
      </p:sp>
      <p:sp>
        <p:nvSpPr>
          <p:cNvPr id="13" name="object 20"/>
          <p:cNvSpPr/>
          <p:nvPr/>
        </p:nvSpPr>
        <p:spPr>
          <a:xfrm>
            <a:off x="586102" y="2187287"/>
            <a:ext cx="338682" cy="367463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202"/>
                </a:moveTo>
                <a:lnTo>
                  <a:pt x="7088" y="95218"/>
                </a:lnTo>
                <a:lnTo>
                  <a:pt x="26831" y="57008"/>
                </a:lnTo>
                <a:lnTo>
                  <a:pt x="56951" y="26869"/>
                </a:lnTo>
                <a:lnTo>
                  <a:pt x="95166" y="7100"/>
                </a:lnTo>
                <a:lnTo>
                  <a:pt x="139196" y="0"/>
                </a:lnTo>
                <a:lnTo>
                  <a:pt x="183172" y="7100"/>
                </a:lnTo>
                <a:lnTo>
                  <a:pt x="221378" y="26869"/>
                </a:lnTo>
                <a:lnTo>
                  <a:pt x="251514" y="57008"/>
                </a:lnTo>
                <a:lnTo>
                  <a:pt x="271282" y="95218"/>
                </a:lnTo>
                <a:lnTo>
                  <a:pt x="278382" y="139202"/>
                </a:lnTo>
                <a:lnTo>
                  <a:pt x="271282" y="183170"/>
                </a:lnTo>
                <a:lnTo>
                  <a:pt x="251514" y="221372"/>
                </a:lnTo>
                <a:lnTo>
                  <a:pt x="221378" y="251506"/>
                </a:lnTo>
                <a:lnTo>
                  <a:pt x="183172" y="271273"/>
                </a:lnTo>
                <a:lnTo>
                  <a:pt x="139196" y="278373"/>
                </a:lnTo>
                <a:lnTo>
                  <a:pt x="95166" y="271273"/>
                </a:lnTo>
                <a:lnTo>
                  <a:pt x="56951" y="251506"/>
                </a:lnTo>
                <a:lnTo>
                  <a:pt x="26831" y="221372"/>
                </a:lnTo>
                <a:lnTo>
                  <a:pt x="7088" y="183170"/>
                </a:lnTo>
                <a:lnTo>
                  <a:pt x="0" y="139202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59173" y="2240090"/>
            <a:ext cx="419100" cy="1619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05502" y="2284270"/>
            <a:ext cx="329565" cy="76200"/>
          </a:xfrm>
          <a:custGeom>
            <a:avLst/>
            <a:gdLst/>
            <a:ahLst/>
            <a:cxnLst/>
            <a:rect l="l" t="t" r="r" b="b"/>
            <a:pathLst>
              <a:path w="329564" h="76200">
                <a:moveTo>
                  <a:pt x="518" y="21976"/>
                </a:moveTo>
                <a:lnTo>
                  <a:pt x="0" y="41026"/>
                </a:lnTo>
                <a:lnTo>
                  <a:pt x="152400" y="44958"/>
                </a:lnTo>
                <a:lnTo>
                  <a:pt x="152918" y="25908"/>
                </a:lnTo>
                <a:lnTo>
                  <a:pt x="518" y="21976"/>
                </a:lnTo>
                <a:close/>
              </a:path>
              <a:path w="329564" h="76200">
                <a:moveTo>
                  <a:pt x="209946" y="27432"/>
                </a:moveTo>
                <a:lnTo>
                  <a:pt x="209550" y="46482"/>
                </a:lnTo>
                <a:lnTo>
                  <a:pt x="228478" y="47000"/>
                </a:lnTo>
                <a:lnTo>
                  <a:pt x="228996" y="27950"/>
                </a:lnTo>
                <a:lnTo>
                  <a:pt x="209946" y="27432"/>
                </a:lnTo>
                <a:close/>
              </a:path>
              <a:path w="329564" h="76200">
                <a:moveTo>
                  <a:pt x="254020" y="0"/>
                </a:moveTo>
                <a:lnTo>
                  <a:pt x="251978" y="76200"/>
                </a:lnTo>
                <a:lnTo>
                  <a:pt x="329184" y="40020"/>
                </a:lnTo>
                <a:lnTo>
                  <a:pt x="254020" y="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42809" y="1761372"/>
            <a:ext cx="2019300" cy="11627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13497" y="1891393"/>
            <a:ext cx="1689482" cy="8712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08803" y="1886695"/>
            <a:ext cx="1702450" cy="882403"/>
          </a:xfrm>
          <a:custGeom>
            <a:avLst/>
            <a:gdLst/>
            <a:ahLst/>
            <a:cxnLst/>
            <a:rect l="l" t="t" r="r" b="b"/>
            <a:pathLst>
              <a:path w="1316990" h="773430">
                <a:moveTo>
                  <a:pt x="0" y="773204"/>
                </a:moveTo>
                <a:lnTo>
                  <a:pt x="1316486" y="773204"/>
                </a:lnTo>
                <a:lnTo>
                  <a:pt x="1316486" y="0"/>
                </a:lnTo>
                <a:lnTo>
                  <a:pt x="0" y="0"/>
                </a:lnTo>
                <a:lnTo>
                  <a:pt x="0" y="773204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46809" y="313517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Printing </a:t>
            </a:r>
            <a:r>
              <a:rPr lang="en-US"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iris</a:t>
            </a:r>
            <a:r>
              <a:rPr lang="en-US" i="1" spc="6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15" dirty="0" smtClean="0">
                <a:solidFill>
                  <a:srgbClr val="1B577B"/>
                </a:solidFill>
                <a:latin typeface="Times New Roman"/>
                <a:cs typeface="Times New Roman"/>
              </a:rPr>
              <a:t>labels:</a:t>
            </a:r>
            <a:endParaRPr lang="en-US" sz="2000" dirty="0">
              <a:cs typeface="Calibri"/>
            </a:endParaRPr>
          </a:p>
        </p:txBody>
      </p:sp>
      <p:sp>
        <p:nvSpPr>
          <p:cNvPr id="19" name="object 24"/>
          <p:cNvSpPr/>
          <p:nvPr/>
        </p:nvSpPr>
        <p:spPr>
          <a:xfrm>
            <a:off x="513026" y="4029115"/>
            <a:ext cx="338682" cy="404209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327"/>
                </a:moveTo>
                <a:lnTo>
                  <a:pt x="7101" y="95283"/>
                </a:lnTo>
                <a:lnTo>
                  <a:pt x="26878" y="57036"/>
                </a:lnTo>
                <a:lnTo>
                  <a:pt x="57036" y="26878"/>
                </a:lnTo>
                <a:lnTo>
                  <a:pt x="95283" y="7101"/>
                </a:lnTo>
                <a:lnTo>
                  <a:pt x="139327" y="0"/>
                </a:lnTo>
                <a:lnTo>
                  <a:pt x="183305" y="7101"/>
                </a:lnTo>
                <a:lnTo>
                  <a:pt x="221510" y="26878"/>
                </a:lnTo>
                <a:lnTo>
                  <a:pt x="251645" y="57036"/>
                </a:lnTo>
                <a:lnTo>
                  <a:pt x="271411" y="95283"/>
                </a:lnTo>
                <a:lnTo>
                  <a:pt x="278510" y="139327"/>
                </a:lnTo>
                <a:lnTo>
                  <a:pt x="271411" y="183305"/>
                </a:lnTo>
                <a:lnTo>
                  <a:pt x="251645" y="221510"/>
                </a:lnTo>
                <a:lnTo>
                  <a:pt x="221510" y="251645"/>
                </a:lnTo>
                <a:lnTo>
                  <a:pt x="183305" y="271411"/>
                </a:lnTo>
                <a:lnTo>
                  <a:pt x="139327" y="278510"/>
                </a:lnTo>
                <a:lnTo>
                  <a:pt x="95283" y="271411"/>
                </a:lnTo>
                <a:lnTo>
                  <a:pt x="57036" y="251645"/>
                </a:lnTo>
                <a:lnTo>
                  <a:pt x="26878" y="221510"/>
                </a:lnTo>
                <a:lnTo>
                  <a:pt x="7101" y="183305"/>
                </a:lnTo>
                <a:lnTo>
                  <a:pt x="0" y="139327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9720" y="4055414"/>
            <a:ext cx="3016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600" dirty="0">
                <a:cs typeface="Calibri"/>
              </a:rPr>
              <a:t>2</a:t>
            </a:r>
            <a:endParaRPr lang="en-US" sz="1600" dirty="0">
              <a:cs typeface="Calibri"/>
            </a:endParaRPr>
          </a:p>
        </p:txBody>
      </p:sp>
      <p:sp>
        <p:nvSpPr>
          <p:cNvPr id="21" name="object 20"/>
          <p:cNvSpPr/>
          <p:nvPr/>
        </p:nvSpPr>
        <p:spPr>
          <a:xfrm>
            <a:off x="1438933" y="3718421"/>
            <a:ext cx="6208776" cy="5887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/>
          <p:cNvSpPr/>
          <p:nvPr/>
        </p:nvSpPr>
        <p:spPr>
          <a:xfrm>
            <a:off x="1434171" y="3713725"/>
            <a:ext cx="5950301" cy="602740"/>
          </a:xfrm>
          <a:custGeom>
            <a:avLst/>
            <a:gdLst/>
            <a:ahLst/>
            <a:cxnLst/>
            <a:rect l="l" t="t" r="r" b="b"/>
            <a:pathLst>
              <a:path w="4725670" h="419100">
                <a:moveTo>
                  <a:pt x="0" y="418920"/>
                </a:moveTo>
                <a:lnTo>
                  <a:pt x="4725405" y="418920"/>
                </a:lnTo>
                <a:lnTo>
                  <a:pt x="4725405" y="0"/>
                </a:lnTo>
                <a:lnTo>
                  <a:pt x="0" y="0"/>
                </a:lnTo>
                <a:lnTo>
                  <a:pt x="0" y="41892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4"/>
          <p:cNvSpPr/>
          <p:nvPr/>
        </p:nvSpPr>
        <p:spPr>
          <a:xfrm rot="5119780">
            <a:off x="4124341" y="4586285"/>
            <a:ext cx="419100" cy="1619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5"/>
          <p:cNvSpPr/>
          <p:nvPr/>
        </p:nvSpPr>
        <p:spPr>
          <a:xfrm rot="5119780">
            <a:off x="4170670" y="4630465"/>
            <a:ext cx="329565" cy="76200"/>
          </a:xfrm>
          <a:custGeom>
            <a:avLst/>
            <a:gdLst/>
            <a:ahLst/>
            <a:cxnLst/>
            <a:rect l="l" t="t" r="r" b="b"/>
            <a:pathLst>
              <a:path w="329564" h="76200">
                <a:moveTo>
                  <a:pt x="518" y="21976"/>
                </a:moveTo>
                <a:lnTo>
                  <a:pt x="0" y="41026"/>
                </a:lnTo>
                <a:lnTo>
                  <a:pt x="152400" y="44958"/>
                </a:lnTo>
                <a:lnTo>
                  <a:pt x="152918" y="25908"/>
                </a:lnTo>
                <a:lnTo>
                  <a:pt x="518" y="21976"/>
                </a:lnTo>
                <a:close/>
              </a:path>
              <a:path w="329564" h="76200">
                <a:moveTo>
                  <a:pt x="209946" y="27432"/>
                </a:moveTo>
                <a:lnTo>
                  <a:pt x="209550" y="46482"/>
                </a:lnTo>
                <a:lnTo>
                  <a:pt x="228478" y="47000"/>
                </a:lnTo>
                <a:lnTo>
                  <a:pt x="228996" y="27950"/>
                </a:lnTo>
                <a:lnTo>
                  <a:pt x="209946" y="27432"/>
                </a:lnTo>
                <a:close/>
              </a:path>
              <a:path w="329564" h="76200">
                <a:moveTo>
                  <a:pt x="254020" y="0"/>
                </a:moveTo>
                <a:lnTo>
                  <a:pt x="251978" y="76200"/>
                </a:lnTo>
                <a:lnTo>
                  <a:pt x="329184" y="40020"/>
                </a:lnTo>
                <a:lnTo>
                  <a:pt x="254020" y="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8"/>
          <p:cNvSpPr/>
          <p:nvPr/>
        </p:nvSpPr>
        <p:spPr>
          <a:xfrm>
            <a:off x="1539586" y="4891328"/>
            <a:ext cx="5181600" cy="1114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9"/>
          <p:cNvSpPr/>
          <p:nvPr/>
        </p:nvSpPr>
        <p:spPr>
          <a:xfrm>
            <a:off x="1749188" y="5042723"/>
            <a:ext cx="4802489" cy="7794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0"/>
          <p:cNvSpPr/>
          <p:nvPr/>
        </p:nvSpPr>
        <p:spPr>
          <a:xfrm>
            <a:off x="1730566" y="5037951"/>
            <a:ext cx="4812030" cy="789305"/>
          </a:xfrm>
          <a:custGeom>
            <a:avLst/>
            <a:gdLst/>
            <a:ahLst/>
            <a:cxnLst/>
            <a:rect l="l" t="t" r="r" b="b"/>
            <a:pathLst>
              <a:path w="4812030" h="789304">
                <a:moveTo>
                  <a:pt x="0" y="788956"/>
                </a:moveTo>
                <a:lnTo>
                  <a:pt x="4812029" y="788956"/>
                </a:lnTo>
                <a:lnTo>
                  <a:pt x="4812029" y="0"/>
                </a:lnTo>
                <a:lnTo>
                  <a:pt x="0" y="0"/>
                </a:lnTo>
                <a:lnTo>
                  <a:pt x="0" y="788956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432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82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8" y="321234"/>
            <a:ext cx="7049478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-10" dirty="0">
                <a:solidFill>
                  <a:schemeClr val="bg1"/>
                </a:solidFill>
              </a:rPr>
              <a:t>Implementing </a:t>
            </a:r>
            <a:r>
              <a:rPr lang="en-US" sz="2800" spc="-35" dirty="0">
                <a:solidFill>
                  <a:schemeClr val="bg1"/>
                </a:solidFill>
              </a:rPr>
              <a:t>Random </a:t>
            </a:r>
            <a:r>
              <a:rPr lang="en-US" sz="2800" spc="5" dirty="0">
                <a:solidFill>
                  <a:schemeClr val="bg1"/>
                </a:solidFill>
              </a:rPr>
              <a:t>Forest </a:t>
            </a:r>
            <a:r>
              <a:rPr lang="en-US" sz="2800" spc="35" dirty="0">
                <a:solidFill>
                  <a:schemeClr val="bg1"/>
                </a:solidFill>
              </a:rPr>
              <a:t>in</a:t>
            </a:r>
            <a:r>
              <a:rPr lang="en-US" sz="2800" spc="30" dirty="0">
                <a:solidFill>
                  <a:schemeClr val="bg1"/>
                </a:solidFill>
              </a:rPr>
              <a:t> </a:t>
            </a:r>
            <a:r>
              <a:rPr lang="en-US" sz="2800" spc="-40" dirty="0">
                <a:solidFill>
                  <a:schemeClr val="bg1"/>
                </a:solidFill>
              </a:rPr>
              <a:t>Python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5" name="object 7"/>
          <p:cNvSpPr txBox="1"/>
          <p:nvPr/>
        </p:nvSpPr>
        <p:spPr>
          <a:xfrm>
            <a:off x="542547" y="1156765"/>
            <a:ext cx="364152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Creating </a:t>
            </a:r>
            <a:r>
              <a:rPr sz="1600" i="1" dirty="0">
                <a:solidFill>
                  <a:srgbClr val="1B577B"/>
                </a:solidFill>
                <a:latin typeface="Times New Roman"/>
                <a:cs typeface="Times New Roman"/>
              </a:rPr>
              <a:t>Dataframe </a:t>
            </a:r>
            <a:r>
              <a:rPr sz="1600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from </a:t>
            </a:r>
            <a:r>
              <a:rPr sz="1600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sz="1600"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iris</a:t>
            </a:r>
            <a:r>
              <a:rPr sz="1600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1B577B"/>
                </a:solidFill>
                <a:latin typeface="Times New Roman"/>
                <a:cs typeface="Times New Roman"/>
              </a:rPr>
              <a:t>dataset: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8" name="object 10"/>
          <p:cNvSpPr/>
          <p:nvPr/>
        </p:nvSpPr>
        <p:spPr>
          <a:xfrm>
            <a:off x="1330042" y="2216599"/>
            <a:ext cx="4973776" cy="1613335"/>
          </a:xfrm>
          <a:custGeom>
            <a:avLst/>
            <a:gdLst/>
            <a:ahLst/>
            <a:cxnLst/>
            <a:rect l="l" t="t" r="r" b="b"/>
            <a:pathLst>
              <a:path w="3741420" h="1505585">
                <a:moveTo>
                  <a:pt x="0" y="1505462"/>
                </a:moveTo>
                <a:lnTo>
                  <a:pt x="3741297" y="1505462"/>
                </a:lnTo>
                <a:lnTo>
                  <a:pt x="3741297" y="0"/>
                </a:lnTo>
                <a:lnTo>
                  <a:pt x="0" y="0"/>
                </a:lnTo>
                <a:lnTo>
                  <a:pt x="0" y="150546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208" y="2216599"/>
            <a:ext cx="5084609" cy="1613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/>
          <p:nvPr/>
        </p:nvSpPr>
        <p:spPr>
          <a:xfrm>
            <a:off x="6644016" y="3010655"/>
            <a:ext cx="530768" cy="101422"/>
          </a:xfrm>
          <a:custGeom>
            <a:avLst/>
            <a:gdLst/>
            <a:ahLst/>
            <a:cxnLst/>
            <a:rect l="l" t="t" r="r" b="b"/>
            <a:pathLst>
              <a:path w="329564" h="76200">
                <a:moveTo>
                  <a:pt x="518" y="21966"/>
                </a:moveTo>
                <a:lnTo>
                  <a:pt x="0" y="41016"/>
                </a:lnTo>
                <a:lnTo>
                  <a:pt x="152400" y="44958"/>
                </a:lnTo>
                <a:lnTo>
                  <a:pt x="152918" y="25908"/>
                </a:lnTo>
                <a:lnTo>
                  <a:pt x="518" y="21966"/>
                </a:lnTo>
                <a:close/>
              </a:path>
              <a:path w="329564" h="76200">
                <a:moveTo>
                  <a:pt x="210068" y="27432"/>
                </a:moveTo>
                <a:lnTo>
                  <a:pt x="209550" y="46482"/>
                </a:lnTo>
                <a:lnTo>
                  <a:pt x="228600" y="46994"/>
                </a:lnTo>
                <a:lnTo>
                  <a:pt x="229118" y="27944"/>
                </a:lnTo>
                <a:lnTo>
                  <a:pt x="210068" y="27432"/>
                </a:lnTo>
                <a:close/>
              </a:path>
              <a:path w="329564" h="76200">
                <a:moveTo>
                  <a:pt x="253989" y="0"/>
                </a:moveTo>
                <a:lnTo>
                  <a:pt x="251978" y="76200"/>
                </a:lnTo>
                <a:lnTo>
                  <a:pt x="329184" y="40136"/>
                </a:lnTo>
                <a:lnTo>
                  <a:pt x="253989" y="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/>
          <p:cNvSpPr/>
          <p:nvPr/>
        </p:nvSpPr>
        <p:spPr>
          <a:xfrm>
            <a:off x="7174783" y="2022764"/>
            <a:ext cx="4684707" cy="1953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7372263" y="2185926"/>
            <a:ext cx="4334467" cy="16228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/>
          <p:nvPr/>
        </p:nvSpPr>
        <p:spPr>
          <a:xfrm>
            <a:off x="7367569" y="2179776"/>
            <a:ext cx="4346756" cy="1635594"/>
          </a:xfrm>
          <a:custGeom>
            <a:avLst/>
            <a:gdLst/>
            <a:ahLst/>
            <a:cxnLst/>
            <a:rect l="l" t="t" r="r" b="b"/>
            <a:pathLst>
              <a:path w="3552825" h="1283970">
                <a:moveTo>
                  <a:pt x="0" y="1283470"/>
                </a:moveTo>
                <a:lnTo>
                  <a:pt x="3552322" y="1283470"/>
                </a:lnTo>
                <a:lnTo>
                  <a:pt x="3552322" y="0"/>
                </a:lnTo>
                <a:lnTo>
                  <a:pt x="0" y="0"/>
                </a:lnTo>
                <a:lnTo>
                  <a:pt x="0" y="128347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653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3201532" y="6803552"/>
            <a:ext cx="331806" cy="224117"/>
          </a:xfrm>
        </p:spPr>
        <p:txBody>
          <a:bodyPr/>
          <a:lstStyle/>
          <a:p>
            <a:fld id="{B6F15528-21DE-4FAA-801E-634DDDAF4B2B}" type="slidenum">
              <a:rPr lang="en-IN" smtClean="0"/>
              <a:t>83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8" y="321234"/>
            <a:ext cx="7049478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-10" dirty="0">
                <a:solidFill>
                  <a:schemeClr val="bg1"/>
                </a:solidFill>
              </a:rPr>
              <a:t>Implementing </a:t>
            </a:r>
            <a:r>
              <a:rPr lang="en-US" sz="2800" spc="-35" dirty="0">
                <a:solidFill>
                  <a:schemeClr val="bg1"/>
                </a:solidFill>
              </a:rPr>
              <a:t>Random </a:t>
            </a:r>
            <a:r>
              <a:rPr lang="en-US" sz="2800" spc="5" dirty="0">
                <a:solidFill>
                  <a:schemeClr val="bg1"/>
                </a:solidFill>
              </a:rPr>
              <a:t>Forest </a:t>
            </a:r>
            <a:r>
              <a:rPr lang="en-US" sz="2800" spc="35" dirty="0">
                <a:solidFill>
                  <a:schemeClr val="bg1"/>
                </a:solidFill>
              </a:rPr>
              <a:t>in</a:t>
            </a:r>
            <a:r>
              <a:rPr lang="en-US" sz="2800" spc="30" dirty="0">
                <a:solidFill>
                  <a:schemeClr val="bg1"/>
                </a:solidFill>
              </a:rPr>
              <a:t> </a:t>
            </a:r>
            <a:r>
              <a:rPr lang="en-US" sz="2800" spc="-40" dirty="0">
                <a:solidFill>
                  <a:schemeClr val="bg1"/>
                </a:solidFill>
              </a:rPr>
              <a:t>Python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4747" y="1235424"/>
            <a:ext cx="4479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Separating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columns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into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features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&amp;</a:t>
            </a:r>
            <a:r>
              <a:rPr lang="en-US" i="1" spc="-3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labels: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8" name="object 7"/>
          <p:cNvSpPr/>
          <p:nvPr/>
        </p:nvSpPr>
        <p:spPr>
          <a:xfrm>
            <a:off x="2057803" y="1821978"/>
            <a:ext cx="7255513" cy="14127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42671" y="2014567"/>
            <a:ext cx="6824763" cy="1029192"/>
          </a:xfrm>
          <a:custGeom>
            <a:avLst/>
            <a:gdLst/>
            <a:ahLst/>
            <a:cxnLst/>
            <a:rect l="l" t="t" r="r" b="b"/>
            <a:pathLst>
              <a:path w="6056630" h="860425">
                <a:moveTo>
                  <a:pt x="0" y="859810"/>
                </a:moveTo>
                <a:lnTo>
                  <a:pt x="6056010" y="859810"/>
                </a:lnTo>
                <a:lnTo>
                  <a:pt x="6056010" y="0"/>
                </a:lnTo>
                <a:lnTo>
                  <a:pt x="0" y="0"/>
                </a:lnTo>
                <a:lnTo>
                  <a:pt x="0" y="85981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/>
          <p:cNvSpPr/>
          <p:nvPr/>
        </p:nvSpPr>
        <p:spPr>
          <a:xfrm>
            <a:off x="2348079" y="2020384"/>
            <a:ext cx="6813315" cy="10170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4747" y="3273991"/>
            <a:ext cx="3729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Dividing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data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into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train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&amp; test</a:t>
            </a:r>
            <a:r>
              <a:rPr lang="en-US" i="1" spc="-3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set: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5" name="object 10"/>
          <p:cNvSpPr/>
          <p:nvPr/>
        </p:nvSpPr>
        <p:spPr>
          <a:xfrm>
            <a:off x="2089231" y="3767713"/>
            <a:ext cx="8036896" cy="14016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/>
          <p:cNvSpPr/>
          <p:nvPr/>
        </p:nvSpPr>
        <p:spPr>
          <a:xfrm>
            <a:off x="2378384" y="4060748"/>
            <a:ext cx="7613708" cy="8152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2373262" y="4052018"/>
            <a:ext cx="7624346" cy="832906"/>
          </a:xfrm>
          <a:custGeom>
            <a:avLst/>
            <a:gdLst/>
            <a:ahLst/>
            <a:cxnLst/>
            <a:rect l="l" t="t" r="r" b="b"/>
            <a:pathLst>
              <a:path w="7111365" h="458470">
                <a:moveTo>
                  <a:pt x="0" y="458294"/>
                </a:moveTo>
                <a:lnTo>
                  <a:pt x="7110983" y="458294"/>
                </a:lnTo>
                <a:lnTo>
                  <a:pt x="7110983" y="0"/>
                </a:lnTo>
                <a:lnTo>
                  <a:pt x="0" y="0"/>
                </a:lnTo>
                <a:lnTo>
                  <a:pt x="0" y="458294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4"/>
          <p:cNvSpPr/>
          <p:nvPr/>
        </p:nvSpPr>
        <p:spPr>
          <a:xfrm>
            <a:off x="540736" y="4278500"/>
            <a:ext cx="338682" cy="404209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327"/>
                </a:moveTo>
                <a:lnTo>
                  <a:pt x="7101" y="95283"/>
                </a:lnTo>
                <a:lnTo>
                  <a:pt x="26878" y="57036"/>
                </a:lnTo>
                <a:lnTo>
                  <a:pt x="57036" y="26878"/>
                </a:lnTo>
                <a:lnTo>
                  <a:pt x="95283" y="7101"/>
                </a:lnTo>
                <a:lnTo>
                  <a:pt x="139327" y="0"/>
                </a:lnTo>
                <a:lnTo>
                  <a:pt x="183305" y="7101"/>
                </a:lnTo>
                <a:lnTo>
                  <a:pt x="221510" y="26878"/>
                </a:lnTo>
                <a:lnTo>
                  <a:pt x="251645" y="57036"/>
                </a:lnTo>
                <a:lnTo>
                  <a:pt x="271411" y="95283"/>
                </a:lnTo>
                <a:lnTo>
                  <a:pt x="278510" y="139327"/>
                </a:lnTo>
                <a:lnTo>
                  <a:pt x="271411" y="183305"/>
                </a:lnTo>
                <a:lnTo>
                  <a:pt x="251645" y="221510"/>
                </a:lnTo>
                <a:lnTo>
                  <a:pt x="221510" y="251645"/>
                </a:lnTo>
                <a:lnTo>
                  <a:pt x="183305" y="271411"/>
                </a:lnTo>
                <a:lnTo>
                  <a:pt x="139327" y="278510"/>
                </a:lnTo>
                <a:lnTo>
                  <a:pt x="95283" y="271411"/>
                </a:lnTo>
                <a:lnTo>
                  <a:pt x="57036" y="251645"/>
                </a:lnTo>
                <a:lnTo>
                  <a:pt x="26878" y="221510"/>
                </a:lnTo>
                <a:lnTo>
                  <a:pt x="7101" y="183305"/>
                </a:lnTo>
                <a:lnTo>
                  <a:pt x="0" y="139327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7430" y="4304799"/>
            <a:ext cx="3016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600" dirty="0">
                <a:cs typeface="Calibri"/>
              </a:rPr>
              <a:t>2</a:t>
            </a:r>
            <a:endParaRPr lang="en-US" sz="1600" dirty="0">
              <a:cs typeface="Calibri"/>
            </a:endParaRPr>
          </a:p>
        </p:txBody>
      </p:sp>
      <p:sp>
        <p:nvSpPr>
          <p:cNvPr id="22" name="object 24"/>
          <p:cNvSpPr/>
          <p:nvPr/>
        </p:nvSpPr>
        <p:spPr>
          <a:xfrm>
            <a:off x="513026" y="2228021"/>
            <a:ext cx="338682" cy="404209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327"/>
                </a:moveTo>
                <a:lnTo>
                  <a:pt x="7101" y="95283"/>
                </a:lnTo>
                <a:lnTo>
                  <a:pt x="26878" y="57036"/>
                </a:lnTo>
                <a:lnTo>
                  <a:pt x="57036" y="26878"/>
                </a:lnTo>
                <a:lnTo>
                  <a:pt x="95283" y="7101"/>
                </a:lnTo>
                <a:lnTo>
                  <a:pt x="139327" y="0"/>
                </a:lnTo>
                <a:lnTo>
                  <a:pt x="183305" y="7101"/>
                </a:lnTo>
                <a:lnTo>
                  <a:pt x="221510" y="26878"/>
                </a:lnTo>
                <a:lnTo>
                  <a:pt x="251645" y="57036"/>
                </a:lnTo>
                <a:lnTo>
                  <a:pt x="271411" y="95283"/>
                </a:lnTo>
                <a:lnTo>
                  <a:pt x="278510" y="139327"/>
                </a:lnTo>
                <a:lnTo>
                  <a:pt x="271411" y="183305"/>
                </a:lnTo>
                <a:lnTo>
                  <a:pt x="251645" y="221510"/>
                </a:lnTo>
                <a:lnTo>
                  <a:pt x="221510" y="251645"/>
                </a:lnTo>
                <a:lnTo>
                  <a:pt x="183305" y="271411"/>
                </a:lnTo>
                <a:lnTo>
                  <a:pt x="139327" y="278510"/>
                </a:lnTo>
                <a:lnTo>
                  <a:pt x="95283" y="271411"/>
                </a:lnTo>
                <a:lnTo>
                  <a:pt x="57036" y="251645"/>
                </a:lnTo>
                <a:lnTo>
                  <a:pt x="26878" y="221510"/>
                </a:lnTo>
                <a:lnTo>
                  <a:pt x="7101" y="183305"/>
                </a:lnTo>
                <a:lnTo>
                  <a:pt x="0" y="139327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9720" y="2254320"/>
            <a:ext cx="3016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600" dirty="0" smtClean="0">
                <a:cs typeface="Calibri"/>
              </a:rPr>
              <a:t>1</a:t>
            </a:r>
            <a:endParaRPr lang="en-US" sz="16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972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84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8" y="321234"/>
            <a:ext cx="7049478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-10" dirty="0">
                <a:solidFill>
                  <a:schemeClr val="bg1"/>
                </a:solidFill>
              </a:rPr>
              <a:t>Implementing </a:t>
            </a:r>
            <a:r>
              <a:rPr lang="en-US" sz="2800" spc="-35" dirty="0">
                <a:solidFill>
                  <a:schemeClr val="bg1"/>
                </a:solidFill>
              </a:rPr>
              <a:t>Random </a:t>
            </a:r>
            <a:r>
              <a:rPr lang="en-US" sz="2800" spc="5" dirty="0">
                <a:solidFill>
                  <a:schemeClr val="bg1"/>
                </a:solidFill>
              </a:rPr>
              <a:t>Forest </a:t>
            </a:r>
            <a:r>
              <a:rPr lang="en-US" sz="2800" spc="35" dirty="0">
                <a:solidFill>
                  <a:schemeClr val="bg1"/>
                </a:solidFill>
              </a:rPr>
              <a:t>in</a:t>
            </a:r>
            <a:r>
              <a:rPr lang="en-US" sz="2800" spc="30" dirty="0">
                <a:solidFill>
                  <a:schemeClr val="bg1"/>
                </a:solidFill>
              </a:rPr>
              <a:t> </a:t>
            </a:r>
            <a:r>
              <a:rPr lang="en-US" sz="2800" spc="-40" dirty="0">
                <a:solidFill>
                  <a:schemeClr val="bg1"/>
                </a:solidFill>
              </a:rPr>
              <a:t>Python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5143" y="1235425"/>
            <a:ext cx="5697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Building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Random </a:t>
            </a:r>
            <a:r>
              <a:rPr lang="en-US" i="1" spc="-20" dirty="0">
                <a:solidFill>
                  <a:srgbClr val="1B577B"/>
                </a:solidFill>
                <a:latin typeface="Times New Roman"/>
                <a:cs typeface="Times New Roman"/>
              </a:rPr>
              <a:t>Forest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model &amp; </a:t>
            </a: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Predicting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</a:t>
            </a:r>
            <a:r>
              <a:rPr lang="en-US" i="1" spc="5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values: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8" name="object 24"/>
          <p:cNvSpPr/>
          <p:nvPr/>
        </p:nvSpPr>
        <p:spPr>
          <a:xfrm>
            <a:off x="513026" y="2228021"/>
            <a:ext cx="338682" cy="404209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327"/>
                </a:moveTo>
                <a:lnTo>
                  <a:pt x="7101" y="95283"/>
                </a:lnTo>
                <a:lnTo>
                  <a:pt x="26878" y="57036"/>
                </a:lnTo>
                <a:lnTo>
                  <a:pt x="57036" y="26878"/>
                </a:lnTo>
                <a:lnTo>
                  <a:pt x="95283" y="7101"/>
                </a:lnTo>
                <a:lnTo>
                  <a:pt x="139327" y="0"/>
                </a:lnTo>
                <a:lnTo>
                  <a:pt x="183305" y="7101"/>
                </a:lnTo>
                <a:lnTo>
                  <a:pt x="221510" y="26878"/>
                </a:lnTo>
                <a:lnTo>
                  <a:pt x="251645" y="57036"/>
                </a:lnTo>
                <a:lnTo>
                  <a:pt x="271411" y="95283"/>
                </a:lnTo>
                <a:lnTo>
                  <a:pt x="278510" y="139327"/>
                </a:lnTo>
                <a:lnTo>
                  <a:pt x="271411" y="183305"/>
                </a:lnTo>
                <a:lnTo>
                  <a:pt x="251645" y="221510"/>
                </a:lnTo>
                <a:lnTo>
                  <a:pt x="221510" y="251645"/>
                </a:lnTo>
                <a:lnTo>
                  <a:pt x="183305" y="271411"/>
                </a:lnTo>
                <a:lnTo>
                  <a:pt x="139327" y="278510"/>
                </a:lnTo>
                <a:lnTo>
                  <a:pt x="95283" y="271411"/>
                </a:lnTo>
                <a:lnTo>
                  <a:pt x="57036" y="251645"/>
                </a:lnTo>
                <a:lnTo>
                  <a:pt x="26878" y="221510"/>
                </a:lnTo>
                <a:lnTo>
                  <a:pt x="7101" y="183305"/>
                </a:lnTo>
                <a:lnTo>
                  <a:pt x="0" y="139327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9720" y="2254320"/>
            <a:ext cx="3016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600" dirty="0" smtClean="0">
                <a:cs typeface="Calibri"/>
              </a:rPr>
              <a:t>1</a:t>
            </a:r>
            <a:endParaRPr lang="en-US" sz="1600" dirty="0">
              <a:cs typeface="Calibri"/>
            </a:endParaRPr>
          </a:p>
        </p:txBody>
      </p:sp>
      <p:sp>
        <p:nvSpPr>
          <p:cNvPr id="10" name="object 9"/>
          <p:cNvSpPr/>
          <p:nvPr/>
        </p:nvSpPr>
        <p:spPr>
          <a:xfrm>
            <a:off x="1620982" y="2020386"/>
            <a:ext cx="7360961" cy="1543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/>
          <p:cNvSpPr/>
          <p:nvPr/>
        </p:nvSpPr>
        <p:spPr>
          <a:xfrm>
            <a:off x="1510152" y="2010861"/>
            <a:ext cx="7471791" cy="1552575"/>
          </a:xfrm>
          <a:custGeom>
            <a:avLst/>
            <a:gdLst/>
            <a:ahLst/>
            <a:cxnLst/>
            <a:rect l="l" t="t" r="r" b="b"/>
            <a:pathLst>
              <a:path w="4780915" h="1552575">
                <a:moveTo>
                  <a:pt x="0" y="1552574"/>
                </a:moveTo>
                <a:lnTo>
                  <a:pt x="4780544" y="1552574"/>
                </a:lnTo>
                <a:lnTo>
                  <a:pt x="4780544" y="0"/>
                </a:lnTo>
                <a:lnTo>
                  <a:pt x="0" y="0"/>
                </a:lnTo>
                <a:lnTo>
                  <a:pt x="0" y="1552574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5143" y="3794262"/>
            <a:ext cx="3917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Finding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accuracy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of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the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model</a:t>
            </a:r>
            <a:r>
              <a:rPr lang="en-US" i="1" spc="3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built: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object 24"/>
          <p:cNvSpPr/>
          <p:nvPr/>
        </p:nvSpPr>
        <p:spPr>
          <a:xfrm>
            <a:off x="665426" y="4624861"/>
            <a:ext cx="338682" cy="404209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327"/>
                </a:moveTo>
                <a:lnTo>
                  <a:pt x="7101" y="95283"/>
                </a:lnTo>
                <a:lnTo>
                  <a:pt x="26878" y="57036"/>
                </a:lnTo>
                <a:lnTo>
                  <a:pt x="57036" y="26878"/>
                </a:lnTo>
                <a:lnTo>
                  <a:pt x="95283" y="7101"/>
                </a:lnTo>
                <a:lnTo>
                  <a:pt x="139327" y="0"/>
                </a:lnTo>
                <a:lnTo>
                  <a:pt x="183305" y="7101"/>
                </a:lnTo>
                <a:lnTo>
                  <a:pt x="221510" y="26878"/>
                </a:lnTo>
                <a:lnTo>
                  <a:pt x="251645" y="57036"/>
                </a:lnTo>
                <a:lnTo>
                  <a:pt x="271411" y="95283"/>
                </a:lnTo>
                <a:lnTo>
                  <a:pt x="278510" y="139327"/>
                </a:lnTo>
                <a:lnTo>
                  <a:pt x="271411" y="183305"/>
                </a:lnTo>
                <a:lnTo>
                  <a:pt x="251645" y="221510"/>
                </a:lnTo>
                <a:lnTo>
                  <a:pt x="221510" y="251645"/>
                </a:lnTo>
                <a:lnTo>
                  <a:pt x="183305" y="271411"/>
                </a:lnTo>
                <a:lnTo>
                  <a:pt x="139327" y="278510"/>
                </a:lnTo>
                <a:lnTo>
                  <a:pt x="95283" y="271411"/>
                </a:lnTo>
                <a:lnTo>
                  <a:pt x="57036" y="251645"/>
                </a:lnTo>
                <a:lnTo>
                  <a:pt x="26878" y="221510"/>
                </a:lnTo>
                <a:lnTo>
                  <a:pt x="7101" y="183305"/>
                </a:lnTo>
                <a:lnTo>
                  <a:pt x="0" y="139327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2120" y="4651160"/>
            <a:ext cx="3016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600" dirty="0" smtClean="0">
                <a:cs typeface="Calibri"/>
              </a:rPr>
              <a:t>1</a:t>
            </a:r>
            <a:endParaRPr lang="en-US" sz="1600" dirty="0">
              <a:cs typeface="Calibri"/>
            </a:endParaRPr>
          </a:p>
        </p:txBody>
      </p:sp>
      <p:sp>
        <p:nvSpPr>
          <p:cNvPr id="15" name="object 20"/>
          <p:cNvSpPr/>
          <p:nvPr/>
        </p:nvSpPr>
        <p:spPr>
          <a:xfrm>
            <a:off x="1514914" y="4477213"/>
            <a:ext cx="4371636" cy="1018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1"/>
          <p:cNvSpPr/>
          <p:nvPr/>
        </p:nvSpPr>
        <p:spPr>
          <a:xfrm>
            <a:off x="1510152" y="4472452"/>
            <a:ext cx="4382791" cy="1034524"/>
          </a:xfrm>
          <a:custGeom>
            <a:avLst/>
            <a:gdLst/>
            <a:ahLst/>
            <a:cxnLst/>
            <a:rect l="l" t="t" r="r" b="b"/>
            <a:pathLst>
              <a:path w="3896360" h="647064">
                <a:moveTo>
                  <a:pt x="0" y="646520"/>
                </a:moveTo>
                <a:lnTo>
                  <a:pt x="3895983" y="646520"/>
                </a:lnTo>
                <a:lnTo>
                  <a:pt x="3895983" y="0"/>
                </a:lnTo>
                <a:lnTo>
                  <a:pt x="0" y="0"/>
                </a:lnTo>
                <a:lnTo>
                  <a:pt x="0" y="64652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2"/>
          <p:cNvSpPr/>
          <p:nvPr/>
        </p:nvSpPr>
        <p:spPr>
          <a:xfrm>
            <a:off x="6297516" y="4914894"/>
            <a:ext cx="668993" cy="1619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3"/>
          <p:cNvSpPr/>
          <p:nvPr/>
        </p:nvSpPr>
        <p:spPr>
          <a:xfrm>
            <a:off x="6370538" y="4954648"/>
            <a:ext cx="526071" cy="76200"/>
          </a:xfrm>
          <a:custGeom>
            <a:avLst/>
            <a:gdLst/>
            <a:ahLst/>
            <a:cxnLst/>
            <a:rect l="l" t="t" r="r" b="b"/>
            <a:pathLst>
              <a:path w="329564" h="76200">
                <a:moveTo>
                  <a:pt x="518" y="21966"/>
                </a:moveTo>
                <a:lnTo>
                  <a:pt x="0" y="41016"/>
                </a:lnTo>
                <a:lnTo>
                  <a:pt x="152400" y="44982"/>
                </a:lnTo>
                <a:lnTo>
                  <a:pt x="152918" y="25944"/>
                </a:lnTo>
                <a:lnTo>
                  <a:pt x="518" y="21966"/>
                </a:lnTo>
                <a:close/>
              </a:path>
              <a:path w="329564" h="76200">
                <a:moveTo>
                  <a:pt x="210068" y="27432"/>
                </a:moveTo>
                <a:lnTo>
                  <a:pt x="209550" y="46482"/>
                </a:lnTo>
                <a:lnTo>
                  <a:pt x="228600" y="46969"/>
                </a:lnTo>
                <a:lnTo>
                  <a:pt x="229118" y="27919"/>
                </a:lnTo>
                <a:lnTo>
                  <a:pt x="210068" y="27432"/>
                </a:lnTo>
                <a:close/>
              </a:path>
              <a:path w="329564" h="76200">
                <a:moveTo>
                  <a:pt x="254020" y="0"/>
                </a:moveTo>
                <a:lnTo>
                  <a:pt x="251978" y="76175"/>
                </a:lnTo>
                <a:lnTo>
                  <a:pt x="329184" y="40062"/>
                </a:lnTo>
                <a:lnTo>
                  <a:pt x="254020" y="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5"/>
          <p:cNvSpPr/>
          <p:nvPr/>
        </p:nvSpPr>
        <p:spPr>
          <a:xfrm>
            <a:off x="7458320" y="4871344"/>
            <a:ext cx="2497564" cy="34046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6"/>
          <p:cNvSpPr/>
          <p:nvPr/>
        </p:nvSpPr>
        <p:spPr>
          <a:xfrm>
            <a:off x="7453052" y="4865407"/>
            <a:ext cx="2508618" cy="352939"/>
          </a:xfrm>
          <a:custGeom>
            <a:avLst/>
            <a:gdLst/>
            <a:ahLst/>
            <a:cxnLst/>
            <a:rect l="l" t="t" r="r" b="b"/>
            <a:pathLst>
              <a:path w="2248534" h="286385">
                <a:moveTo>
                  <a:pt x="0" y="285785"/>
                </a:moveTo>
                <a:lnTo>
                  <a:pt x="2248162" y="285785"/>
                </a:lnTo>
                <a:lnTo>
                  <a:pt x="2248162" y="0"/>
                </a:lnTo>
                <a:lnTo>
                  <a:pt x="0" y="0"/>
                </a:lnTo>
                <a:lnTo>
                  <a:pt x="0" y="285785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808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85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8" y="321234"/>
            <a:ext cx="7049478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-10" dirty="0">
                <a:solidFill>
                  <a:schemeClr val="bg1"/>
                </a:solidFill>
              </a:rPr>
              <a:t>Implementing </a:t>
            </a:r>
            <a:r>
              <a:rPr lang="en-US" sz="2800" spc="-35" dirty="0">
                <a:solidFill>
                  <a:schemeClr val="bg1"/>
                </a:solidFill>
              </a:rPr>
              <a:t>Random </a:t>
            </a:r>
            <a:r>
              <a:rPr lang="en-US" sz="2800" spc="5" dirty="0">
                <a:solidFill>
                  <a:schemeClr val="bg1"/>
                </a:solidFill>
              </a:rPr>
              <a:t>Forest </a:t>
            </a:r>
            <a:r>
              <a:rPr lang="en-US" sz="2800" spc="35" dirty="0">
                <a:solidFill>
                  <a:schemeClr val="bg1"/>
                </a:solidFill>
              </a:rPr>
              <a:t>in</a:t>
            </a:r>
            <a:r>
              <a:rPr lang="en-US" sz="2800" spc="30" dirty="0">
                <a:solidFill>
                  <a:schemeClr val="bg1"/>
                </a:solidFill>
              </a:rPr>
              <a:t> </a:t>
            </a:r>
            <a:r>
              <a:rPr lang="en-US" sz="2800" spc="-40" dirty="0">
                <a:solidFill>
                  <a:schemeClr val="bg1"/>
                </a:solidFill>
              </a:rPr>
              <a:t>Python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2372" y="1197788"/>
            <a:ext cx="36610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Making </a:t>
            </a: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predictions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for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a </a:t>
            </a: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single</a:t>
            </a:r>
            <a:r>
              <a:rPr lang="en-US" i="1" spc="-14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entry: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2647" y="2048199"/>
            <a:ext cx="591233" cy="494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8739" y="2171944"/>
            <a:ext cx="320435" cy="267887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53" y="0"/>
                </a:moveTo>
                <a:lnTo>
                  <a:pt x="95227" y="7100"/>
                </a:lnTo>
                <a:lnTo>
                  <a:pt x="56999" y="26873"/>
                </a:lnTo>
                <a:lnTo>
                  <a:pt x="26859" y="57028"/>
                </a:lnTo>
                <a:lnTo>
                  <a:pt x="7096" y="95272"/>
                </a:lnTo>
                <a:lnTo>
                  <a:pt x="0" y="139314"/>
                </a:lnTo>
                <a:lnTo>
                  <a:pt x="7096" y="183299"/>
                </a:lnTo>
                <a:lnTo>
                  <a:pt x="26859" y="221508"/>
                </a:lnTo>
                <a:lnTo>
                  <a:pt x="56999" y="251644"/>
                </a:lnTo>
                <a:lnTo>
                  <a:pt x="95227" y="271411"/>
                </a:lnTo>
                <a:lnTo>
                  <a:pt x="139253" y="278511"/>
                </a:lnTo>
                <a:lnTo>
                  <a:pt x="183238" y="271411"/>
                </a:lnTo>
                <a:lnTo>
                  <a:pt x="221447" y="251644"/>
                </a:lnTo>
                <a:lnTo>
                  <a:pt x="251583" y="221508"/>
                </a:lnTo>
                <a:lnTo>
                  <a:pt x="271350" y="183299"/>
                </a:lnTo>
                <a:lnTo>
                  <a:pt x="278450" y="139314"/>
                </a:lnTo>
                <a:lnTo>
                  <a:pt x="271350" y="95272"/>
                </a:lnTo>
                <a:lnTo>
                  <a:pt x="251583" y="57028"/>
                </a:lnTo>
                <a:lnTo>
                  <a:pt x="221447" y="26873"/>
                </a:lnTo>
                <a:lnTo>
                  <a:pt x="183238" y="7100"/>
                </a:lnTo>
                <a:lnTo>
                  <a:pt x="139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8739" y="2175267"/>
            <a:ext cx="320435" cy="267887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314"/>
                </a:moveTo>
                <a:lnTo>
                  <a:pt x="7096" y="95272"/>
                </a:lnTo>
                <a:lnTo>
                  <a:pt x="26859" y="57028"/>
                </a:lnTo>
                <a:lnTo>
                  <a:pt x="56999" y="26873"/>
                </a:lnTo>
                <a:lnTo>
                  <a:pt x="95227" y="7100"/>
                </a:lnTo>
                <a:lnTo>
                  <a:pt x="139253" y="0"/>
                </a:lnTo>
                <a:lnTo>
                  <a:pt x="183238" y="7100"/>
                </a:lnTo>
                <a:lnTo>
                  <a:pt x="221447" y="26873"/>
                </a:lnTo>
                <a:lnTo>
                  <a:pt x="251583" y="57028"/>
                </a:lnTo>
                <a:lnTo>
                  <a:pt x="271350" y="95272"/>
                </a:lnTo>
                <a:lnTo>
                  <a:pt x="278450" y="139314"/>
                </a:lnTo>
                <a:lnTo>
                  <a:pt x="271350" y="183299"/>
                </a:lnTo>
                <a:lnTo>
                  <a:pt x="251583" y="221508"/>
                </a:lnTo>
                <a:lnTo>
                  <a:pt x="221447" y="251644"/>
                </a:lnTo>
                <a:lnTo>
                  <a:pt x="183238" y="271411"/>
                </a:lnTo>
                <a:lnTo>
                  <a:pt x="139253" y="278510"/>
                </a:lnTo>
                <a:lnTo>
                  <a:pt x="95227" y="271411"/>
                </a:lnTo>
                <a:lnTo>
                  <a:pt x="56999" y="251644"/>
                </a:lnTo>
                <a:lnTo>
                  <a:pt x="26859" y="221508"/>
                </a:lnTo>
                <a:lnTo>
                  <a:pt x="7096" y="183299"/>
                </a:lnTo>
                <a:lnTo>
                  <a:pt x="0" y="139314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6906" y="2178262"/>
            <a:ext cx="33564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1</a:t>
            </a:r>
          </a:p>
        </p:txBody>
      </p:sp>
      <p:sp>
        <p:nvSpPr>
          <p:cNvPr id="12" name="object 12"/>
          <p:cNvSpPr/>
          <p:nvPr/>
        </p:nvSpPr>
        <p:spPr>
          <a:xfrm>
            <a:off x="5690607" y="2222484"/>
            <a:ext cx="481745" cy="1556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8918" y="2261959"/>
            <a:ext cx="378827" cy="73227"/>
          </a:xfrm>
          <a:custGeom>
            <a:avLst/>
            <a:gdLst/>
            <a:ahLst/>
            <a:cxnLst/>
            <a:rect l="l" t="t" r="r" b="b"/>
            <a:pathLst>
              <a:path w="329564" h="76200">
                <a:moveTo>
                  <a:pt x="487" y="21966"/>
                </a:moveTo>
                <a:lnTo>
                  <a:pt x="0" y="41016"/>
                </a:lnTo>
                <a:lnTo>
                  <a:pt x="152278" y="44958"/>
                </a:lnTo>
                <a:lnTo>
                  <a:pt x="152765" y="25908"/>
                </a:lnTo>
                <a:lnTo>
                  <a:pt x="487" y="21966"/>
                </a:lnTo>
                <a:close/>
              </a:path>
              <a:path w="329564" h="76200">
                <a:moveTo>
                  <a:pt x="209915" y="27432"/>
                </a:moveTo>
                <a:lnTo>
                  <a:pt x="209428" y="46482"/>
                </a:lnTo>
                <a:lnTo>
                  <a:pt x="228478" y="46863"/>
                </a:lnTo>
                <a:lnTo>
                  <a:pt x="228965" y="27813"/>
                </a:lnTo>
                <a:lnTo>
                  <a:pt x="209915" y="27432"/>
                </a:lnTo>
                <a:close/>
              </a:path>
              <a:path w="329564" h="76200">
                <a:moveTo>
                  <a:pt x="253867" y="0"/>
                </a:moveTo>
                <a:lnTo>
                  <a:pt x="251947" y="76068"/>
                </a:lnTo>
                <a:lnTo>
                  <a:pt x="329062" y="40005"/>
                </a:lnTo>
                <a:lnTo>
                  <a:pt x="253867" y="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86520" y="1865863"/>
            <a:ext cx="4248219" cy="9191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75431" y="2035031"/>
            <a:ext cx="3880760" cy="7369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96095" y="2071727"/>
            <a:ext cx="3912263" cy="671707"/>
          </a:xfrm>
          <a:custGeom>
            <a:avLst/>
            <a:gdLst/>
            <a:ahLst/>
            <a:cxnLst/>
            <a:rect l="l" t="t" r="r" b="b"/>
            <a:pathLst>
              <a:path w="3332479" h="458469">
                <a:moveTo>
                  <a:pt x="0" y="458294"/>
                </a:moveTo>
                <a:lnTo>
                  <a:pt x="3331982" y="458294"/>
                </a:lnTo>
                <a:lnTo>
                  <a:pt x="3331982" y="0"/>
                </a:lnTo>
                <a:lnTo>
                  <a:pt x="0" y="0"/>
                </a:lnTo>
                <a:lnTo>
                  <a:pt x="0" y="458294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90074" y="2039046"/>
            <a:ext cx="2408724" cy="5034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20597" y="2169249"/>
            <a:ext cx="2226003" cy="3732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15041" y="2164620"/>
            <a:ext cx="2113838" cy="275211"/>
          </a:xfrm>
          <a:custGeom>
            <a:avLst/>
            <a:gdLst/>
            <a:ahLst/>
            <a:cxnLst/>
            <a:rect l="l" t="t" r="r" b="b"/>
            <a:pathLst>
              <a:path w="1838959" h="286385">
                <a:moveTo>
                  <a:pt x="0" y="285785"/>
                </a:moveTo>
                <a:lnTo>
                  <a:pt x="1838587" y="285785"/>
                </a:lnTo>
                <a:lnTo>
                  <a:pt x="1838587" y="0"/>
                </a:lnTo>
                <a:lnTo>
                  <a:pt x="0" y="0"/>
                </a:lnTo>
                <a:lnTo>
                  <a:pt x="0" y="285785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42341" y="3269257"/>
            <a:ext cx="3841905" cy="8815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38511" y="3344953"/>
            <a:ext cx="3596060" cy="68004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75431" y="3340309"/>
            <a:ext cx="3664954" cy="684684"/>
          </a:xfrm>
          <a:custGeom>
            <a:avLst/>
            <a:gdLst/>
            <a:ahLst/>
            <a:cxnLst/>
            <a:rect l="l" t="t" r="r" b="b"/>
            <a:pathLst>
              <a:path w="3159125" h="450850">
                <a:moveTo>
                  <a:pt x="0" y="450424"/>
                </a:moveTo>
                <a:lnTo>
                  <a:pt x="3158733" y="450424"/>
                </a:lnTo>
                <a:lnTo>
                  <a:pt x="3158733" y="0"/>
                </a:lnTo>
                <a:lnTo>
                  <a:pt x="0" y="0"/>
                </a:lnTo>
                <a:lnTo>
                  <a:pt x="0" y="450424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3507" y="3269257"/>
            <a:ext cx="689772" cy="5766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8743" y="3423009"/>
            <a:ext cx="320435" cy="267887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53" y="0"/>
                </a:moveTo>
                <a:lnTo>
                  <a:pt x="95227" y="7099"/>
                </a:lnTo>
                <a:lnTo>
                  <a:pt x="56999" y="26866"/>
                </a:lnTo>
                <a:lnTo>
                  <a:pt x="26859" y="57002"/>
                </a:lnTo>
                <a:lnTo>
                  <a:pt x="7096" y="95211"/>
                </a:lnTo>
                <a:lnTo>
                  <a:pt x="0" y="139196"/>
                </a:lnTo>
                <a:lnTo>
                  <a:pt x="7096" y="183174"/>
                </a:lnTo>
                <a:lnTo>
                  <a:pt x="26859" y="221379"/>
                </a:lnTo>
                <a:lnTo>
                  <a:pt x="56999" y="251514"/>
                </a:lnTo>
                <a:lnTo>
                  <a:pt x="95227" y="271280"/>
                </a:lnTo>
                <a:lnTo>
                  <a:pt x="139253" y="278379"/>
                </a:lnTo>
                <a:lnTo>
                  <a:pt x="183238" y="271280"/>
                </a:lnTo>
                <a:lnTo>
                  <a:pt x="221447" y="251514"/>
                </a:lnTo>
                <a:lnTo>
                  <a:pt x="251583" y="221379"/>
                </a:lnTo>
                <a:lnTo>
                  <a:pt x="271350" y="183174"/>
                </a:lnTo>
                <a:lnTo>
                  <a:pt x="278450" y="139196"/>
                </a:lnTo>
                <a:lnTo>
                  <a:pt x="271350" y="95211"/>
                </a:lnTo>
                <a:lnTo>
                  <a:pt x="251583" y="57002"/>
                </a:lnTo>
                <a:lnTo>
                  <a:pt x="221447" y="26866"/>
                </a:lnTo>
                <a:lnTo>
                  <a:pt x="183238" y="7099"/>
                </a:lnTo>
                <a:lnTo>
                  <a:pt x="1392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8739" y="3423009"/>
            <a:ext cx="320435" cy="267887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196"/>
                </a:moveTo>
                <a:lnTo>
                  <a:pt x="7096" y="95211"/>
                </a:lnTo>
                <a:lnTo>
                  <a:pt x="26859" y="57002"/>
                </a:lnTo>
                <a:lnTo>
                  <a:pt x="56999" y="26866"/>
                </a:lnTo>
                <a:lnTo>
                  <a:pt x="95227" y="7099"/>
                </a:lnTo>
                <a:lnTo>
                  <a:pt x="139253" y="0"/>
                </a:lnTo>
                <a:lnTo>
                  <a:pt x="183238" y="7099"/>
                </a:lnTo>
                <a:lnTo>
                  <a:pt x="221447" y="26866"/>
                </a:lnTo>
                <a:lnTo>
                  <a:pt x="251583" y="57002"/>
                </a:lnTo>
                <a:lnTo>
                  <a:pt x="271350" y="95211"/>
                </a:lnTo>
                <a:lnTo>
                  <a:pt x="278450" y="139196"/>
                </a:lnTo>
                <a:lnTo>
                  <a:pt x="271350" y="183174"/>
                </a:lnTo>
                <a:lnTo>
                  <a:pt x="251583" y="221379"/>
                </a:lnTo>
                <a:lnTo>
                  <a:pt x="221447" y="251514"/>
                </a:lnTo>
                <a:lnTo>
                  <a:pt x="183238" y="271280"/>
                </a:lnTo>
                <a:lnTo>
                  <a:pt x="139253" y="278379"/>
                </a:lnTo>
                <a:lnTo>
                  <a:pt x="95227" y="271280"/>
                </a:lnTo>
                <a:lnTo>
                  <a:pt x="56999" y="251514"/>
                </a:lnTo>
                <a:lnTo>
                  <a:pt x="26859" y="221379"/>
                </a:lnTo>
                <a:lnTo>
                  <a:pt x="7096" y="183174"/>
                </a:lnTo>
                <a:lnTo>
                  <a:pt x="0" y="139196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43919" y="3425548"/>
            <a:ext cx="129926" cy="2227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2</a:t>
            </a:r>
          </a:p>
        </p:txBody>
      </p:sp>
      <p:sp>
        <p:nvSpPr>
          <p:cNvPr id="27" name="object 27"/>
          <p:cNvSpPr/>
          <p:nvPr/>
        </p:nvSpPr>
        <p:spPr>
          <a:xfrm>
            <a:off x="5282900" y="3489309"/>
            <a:ext cx="492692" cy="1556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42775" y="3529927"/>
            <a:ext cx="378827" cy="73227"/>
          </a:xfrm>
          <a:custGeom>
            <a:avLst/>
            <a:gdLst/>
            <a:ahLst/>
            <a:cxnLst/>
            <a:rect l="l" t="t" r="r" b="b"/>
            <a:pathLst>
              <a:path w="329564" h="76200">
                <a:moveTo>
                  <a:pt x="518" y="21966"/>
                </a:moveTo>
                <a:lnTo>
                  <a:pt x="0" y="41016"/>
                </a:lnTo>
                <a:lnTo>
                  <a:pt x="152400" y="44958"/>
                </a:lnTo>
                <a:lnTo>
                  <a:pt x="152765" y="25908"/>
                </a:lnTo>
                <a:lnTo>
                  <a:pt x="518" y="21966"/>
                </a:lnTo>
                <a:close/>
              </a:path>
              <a:path w="329564" h="76200">
                <a:moveTo>
                  <a:pt x="209915" y="27432"/>
                </a:moveTo>
                <a:lnTo>
                  <a:pt x="209428" y="46482"/>
                </a:lnTo>
                <a:lnTo>
                  <a:pt x="228478" y="46863"/>
                </a:lnTo>
                <a:lnTo>
                  <a:pt x="228965" y="27813"/>
                </a:lnTo>
                <a:lnTo>
                  <a:pt x="209915" y="27432"/>
                </a:lnTo>
                <a:close/>
              </a:path>
              <a:path w="329564" h="76200">
                <a:moveTo>
                  <a:pt x="253867" y="0"/>
                </a:moveTo>
                <a:lnTo>
                  <a:pt x="251978" y="76068"/>
                </a:lnTo>
                <a:lnTo>
                  <a:pt x="329062" y="40005"/>
                </a:lnTo>
                <a:lnTo>
                  <a:pt x="253867" y="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28458" y="3388622"/>
            <a:ext cx="2419671" cy="51258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78524" y="3422597"/>
            <a:ext cx="2469605" cy="3391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972968" y="3417974"/>
            <a:ext cx="2475161" cy="343754"/>
          </a:xfrm>
          <a:custGeom>
            <a:avLst/>
            <a:gdLst/>
            <a:ahLst/>
            <a:cxnLst/>
            <a:rect l="l" t="t" r="r" b="b"/>
            <a:pathLst>
              <a:path w="1848484" h="295910">
                <a:moveTo>
                  <a:pt x="0" y="295310"/>
                </a:moveTo>
                <a:lnTo>
                  <a:pt x="1848112" y="295310"/>
                </a:lnTo>
                <a:lnTo>
                  <a:pt x="1848112" y="0"/>
                </a:lnTo>
                <a:lnTo>
                  <a:pt x="0" y="0"/>
                </a:lnTo>
                <a:lnTo>
                  <a:pt x="0" y="29531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41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86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8" y="321234"/>
            <a:ext cx="7049478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-10" dirty="0">
                <a:solidFill>
                  <a:schemeClr val="bg1"/>
                </a:solidFill>
              </a:rPr>
              <a:t>Implementing </a:t>
            </a:r>
            <a:r>
              <a:rPr lang="en-US" sz="2800" spc="-35" dirty="0">
                <a:solidFill>
                  <a:schemeClr val="bg1"/>
                </a:solidFill>
              </a:rPr>
              <a:t>Random </a:t>
            </a:r>
            <a:r>
              <a:rPr lang="en-US" sz="2800" spc="5" dirty="0">
                <a:solidFill>
                  <a:schemeClr val="bg1"/>
                </a:solidFill>
              </a:rPr>
              <a:t>Forest </a:t>
            </a:r>
            <a:r>
              <a:rPr lang="en-US" sz="2800" spc="35" dirty="0">
                <a:solidFill>
                  <a:schemeClr val="bg1"/>
                </a:solidFill>
              </a:rPr>
              <a:t>in</a:t>
            </a:r>
            <a:r>
              <a:rPr lang="en-US" sz="2800" spc="30" dirty="0">
                <a:solidFill>
                  <a:schemeClr val="bg1"/>
                </a:solidFill>
              </a:rPr>
              <a:t> </a:t>
            </a:r>
            <a:r>
              <a:rPr lang="en-US" sz="2800" spc="-40" dirty="0">
                <a:solidFill>
                  <a:schemeClr val="bg1"/>
                </a:solidFill>
              </a:rPr>
              <a:t>Python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95650" y="1074485"/>
            <a:ext cx="2744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Finding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important </a:t>
            </a: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features: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48364" y="1601272"/>
            <a:ext cx="8499482" cy="1246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07586" y="1765521"/>
            <a:ext cx="8123890" cy="9177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01985" y="1759402"/>
            <a:ext cx="8135361" cy="930234"/>
          </a:xfrm>
          <a:custGeom>
            <a:avLst/>
            <a:gdLst/>
            <a:ahLst/>
            <a:cxnLst/>
            <a:rect l="l" t="t" r="r" b="b"/>
            <a:pathLst>
              <a:path w="6938009" h="718185">
                <a:moveTo>
                  <a:pt x="0" y="718102"/>
                </a:moveTo>
                <a:lnTo>
                  <a:pt x="6937735" y="718102"/>
                </a:lnTo>
                <a:lnTo>
                  <a:pt x="6937735" y="0"/>
                </a:lnTo>
                <a:lnTo>
                  <a:pt x="0" y="0"/>
                </a:lnTo>
                <a:lnTo>
                  <a:pt x="0" y="71810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/>
          <p:nvPr/>
        </p:nvSpPr>
        <p:spPr>
          <a:xfrm>
            <a:off x="5271225" y="2829187"/>
            <a:ext cx="76200" cy="416931"/>
          </a:xfrm>
          <a:custGeom>
            <a:avLst/>
            <a:gdLst/>
            <a:ahLst/>
            <a:cxnLst/>
            <a:rect l="l" t="t" r="r" b="b"/>
            <a:pathLst>
              <a:path w="76200" h="280035">
                <a:moveTo>
                  <a:pt x="47640" y="0"/>
                </a:moveTo>
                <a:lnTo>
                  <a:pt x="28590" y="0"/>
                </a:lnTo>
                <a:lnTo>
                  <a:pt x="28590" y="152400"/>
                </a:lnTo>
                <a:lnTo>
                  <a:pt x="47640" y="152400"/>
                </a:lnTo>
                <a:lnTo>
                  <a:pt x="47640" y="0"/>
                </a:lnTo>
                <a:close/>
              </a:path>
              <a:path w="76200" h="280035">
                <a:moveTo>
                  <a:pt x="76200" y="203703"/>
                </a:moveTo>
                <a:lnTo>
                  <a:pt x="0" y="203703"/>
                </a:lnTo>
                <a:lnTo>
                  <a:pt x="38100" y="279903"/>
                </a:lnTo>
                <a:lnTo>
                  <a:pt x="69847" y="216408"/>
                </a:lnTo>
                <a:lnTo>
                  <a:pt x="28590" y="216408"/>
                </a:lnTo>
                <a:lnTo>
                  <a:pt x="28590" y="209550"/>
                </a:lnTo>
                <a:lnTo>
                  <a:pt x="73276" y="209550"/>
                </a:lnTo>
                <a:lnTo>
                  <a:pt x="76200" y="203703"/>
                </a:lnTo>
                <a:close/>
              </a:path>
              <a:path w="76200" h="280035">
                <a:moveTo>
                  <a:pt x="47640" y="209550"/>
                </a:moveTo>
                <a:lnTo>
                  <a:pt x="28590" y="209550"/>
                </a:lnTo>
                <a:lnTo>
                  <a:pt x="28590" y="216408"/>
                </a:lnTo>
                <a:lnTo>
                  <a:pt x="47640" y="216408"/>
                </a:lnTo>
                <a:lnTo>
                  <a:pt x="47640" y="209550"/>
                </a:lnTo>
                <a:close/>
              </a:path>
              <a:path w="76200" h="280035">
                <a:moveTo>
                  <a:pt x="73276" y="209550"/>
                </a:moveTo>
                <a:lnTo>
                  <a:pt x="47640" y="209550"/>
                </a:lnTo>
                <a:lnTo>
                  <a:pt x="47640" y="216408"/>
                </a:lnTo>
                <a:lnTo>
                  <a:pt x="69847" y="216408"/>
                </a:lnTo>
                <a:lnTo>
                  <a:pt x="73276" y="209550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/>
          <p:cNvSpPr/>
          <p:nvPr/>
        </p:nvSpPr>
        <p:spPr>
          <a:xfrm>
            <a:off x="3474002" y="3472108"/>
            <a:ext cx="3749208" cy="13592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3597714" y="3641994"/>
            <a:ext cx="3501784" cy="10194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/>
          <p:nvPr/>
        </p:nvSpPr>
        <p:spPr>
          <a:xfrm>
            <a:off x="3591491" y="3635602"/>
            <a:ext cx="3514751" cy="1032835"/>
          </a:xfrm>
          <a:custGeom>
            <a:avLst/>
            <a:gdLst/>
            <a:ahLst/>
            <a:cxnLst/>
            <a:rect l="l" t="t" r="r" b="b"/>
            <a:pathLst>
              <a:path w="2686685" h="781685">
                <a:moveTo>
                  <a:pt x="0" y="781074"/>
                </a:moveTo>
                <a:lnTo>
                  <a:pt x="2686299" y="781074"/>
                </a:lnTo>
                <a:lnTo>
                  <a:pt x="2686299" y="0"/>
                </a:lnTo>
                <a:lnTo>
                  <a:pt x="0" y="0"/>
                </a:lnTo>
                <a:lnTo>
                  <a:pt x="0" y="781074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573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87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8" y="321234"/>
            <a:ext cx="7049478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-10" dirty="0">
                <a:solidFill>
                  <a:schemeClr val="bg1"/>
                </a:solidFill>
              </a:rPr>
              <a:t>Implementing </a:t>
            </a:r>
            <a:r>
              <a:rPr lang="en-US" sz="2800" spc="-35" dirty="0">
                <a:solidFill>
                  <a:schemeClr val="bg1"/>
                </a:solidFill>
              </a:rPr>
              <a:t>Random </a:t>
            </a:r>
            <a:r>
              <a:rPr lang="en-US" sz="2800" spc="5" dirty="0">
                <a:solidFill>
                  <a:schemeClr val="bg1"/>
                </a:solidFill>
              </a:rPr>
              <a:t>Forest </a:t>
            </a:r>
            <a:r>
              <a:rPr lang="en-US" sz="2800" spc="35" dirty="0">
                <a:solidFill>
                  <a:schemeClr val="bg1"/>
                </a:solidFill>
              </a:rPr>
              <a:t>in</a:t>
            </a:r>
            <a:r>
              <a:rPr lang="en-US" sz="2800" spc="30" dirty="0">
                <a:solidFill>
                  <a:schemeClr val="bg1"/>
                </a:solidFill>
              </a:rPr>
              <a:t> </a:t>
            </a:r>
            <a:r>
              <a:rPr lang="en-US" sz="2800" spc="-40" dirty="0">
                <a:solidFill>
                  <a:schemeClr val="bg1"/>
                </a:solidFill>
              </a:rPr>
              <a:t>Python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77799" y="1457102"/>
            <a:ext cx="2993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Visualizing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important</a:t>
            </a:r>
            <a:r>
              <a:rPr lang="en-US" i="1" spc="-155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features: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273227" y="2206486"/>
            <a:ext cx="4802286" cy="2229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497204" y="2355884"/>
            <a:ext cx="4471143" cy="1928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491771" y="2350653"/>
            <a:ext cx="4482120" cy="1939712"/>
          </a:xfrm>
          <a:custGeom>
            <a:avLst/>
            <a:gdLst/>
            <a:ahLst/>
            <a:cxnLst/>
            <a:rect l="l" t="t" r="r" b="b"/>
            <a:pathLst>
              <a:path w="3938270" h="1773554">
                <a:moveTo>
                  <a:pt x="0" y="1773042"/>
                </a:moveTo>
                <a:lnTo>
                  <a:pt x="3938137" y="1773042"/>
                </a:lnTo>
                <a:lnTo>
                  <a:pt x="3938137" y="0"/>
                </a:lnTo>
                <a:lnTo>
                  <a:pt x="0" y="0"/>
                </a:lnTo>
                <a:lnTo>
                  <a:pt x="0" y="1773042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/>
          <p:cNvSpPr/>
          <p:nvPr/>
        </p:nvSpPr>
        <p:spPr>
          <a:xfrm>
            <a:off x="5345663" y="3291944"/>
            <a:ext cx="512523" cy="78509"/>
          </a:xfrm>
          <a:custGeom>
            <a:avLst/>
            <a:gdLst/>
            <a:ahLst/>
            <a:cxnLst/>
            <a:rect l="l" t="t" r="r" b="b"/>
            <a:pathLst>
              <a:path w="351154" h="76200">
                <a:moveTo>
                  <a:pt x="152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52400" y="47625"/>
                </a:lnTo>
                <a:lnTo>
                  <a:pt x="152400" y="28575"/>
                </a:lnTo>
                <a:close/>
              </a:path>
              <a:path w="351154" h="76200">
                <a:moveTo>
                  <a:pt x="228600" y="28575"/>
                </a:moveTo>
                <a:lnTo>
                  <a:pt x="209550" y="28575"/>
                </a:lnTo>
                <a:lnTo>
                  <a:pt x="209550" y="47625"/>
                </a:lnTo>
                <a:lnTo>
                  <a:pt x="228600" y="47625"/>
                </a:lnTo>
                <a:lnTo>
                  <a:pt x="228600" y="28575"/>
                </a:lnTo>
                <a:close/>
              </a:path>
              <a:path w="351154" h="76200">
                <a:moveTo>
                  <a:pt x="274563" y="0"/>
                </a:moveTo>
                <a:lnTo>
                  <a:pt x="274563" y="76200"/>
                </a:lnTo>
                <a:lnTo>
                  <a:pt x="331713" y="47625"/>
                </a:lnTo>
                <a:lnTo>
                  <a:pt x="285750" y="47625"/>
                </a:lnTo>
                <a:lnTo>
                  <a:pt x="285750" y="28575"/>
                </a:lnTo>
                <a:lnTo>
                  <a:pt x="331713" y="28575"/>
                </a:lnTo>
                <a:lnTo>
                  <a:pt x="274563" y="0"/>
                </a:lnTo>
                <a:close/>
              </a:path>
              <a:path w="351154" h="76200">
                <a:moveTo>
                  <a:pt x="287274" y="28575"/>
                </a:moveTo>
                <a:lnTo>
                  <a:pt x="285750" y="28575"/>
                </a:lnTo>
                <a:lnTo>
                  <a:pt x="285750" y="47625"/>
                </a:lnTo>
                <a:lnTo>
                  <a:pt x="287274" y="47625"/>
                </a:lnTo>
                <a:lnTo>
                  <a:pt x="287274" y="28575"/>
                </a:lnTo>
                <a:close/>
              </a:path>
              <a:path w="351154" h="76200">
                <a:moveTo>
                  <a:pt x="331713" y="28575"/>
                </a:moveTo>
                <a:lnTo>
                  <a:pt x="287274" y="28575"/>
                </a:lnTo>
                <a:lnTo>
                  <a:pt x="287274" y="47625"/>
                </a:lnTo>
                <a:lnTo>
                  <a:pt x="331713" y="47625"/>
                </a:lnTo>
                <a:lnTo>
                  <a:pt x="350763" y="38100"/>
                </a:lnTo>
                <a:lnTo>
                  <a:pt x="331713" y="28575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/>
          <p:cNvSpPr/>
          <p:nvPr/>
        </p:nvSpPr>
        <p:spPr>
          <a:xfrm>
            <a:off x="6559616" y="2073642"/>
            <a:ext cx="4554553" cy="2467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/>
          <p:cNvSpPr/>
          <p:nvPr/>
        </p:nvSpPr>
        <p:spPr>
          <a:xfrm>
            <a:off x="6790033" y="2211548"/>
            <a:ext cx="4204271" cy="21804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/>
          <p:cNvSpPr/>
          <p:nvPr/>
        </p:nvSpPr>
        <p:spPr>
          <a:xfrm>
            <a:off x="6784033" y="2206486"/>
            <a:ext cx="4216480" cy="2190712"/>
          </a:xfrm>
          <a:custGeom>
            <a:avLst/>
            <a:gdLst/>
            <a:ahLst/>
            <a:cxnLst/>
            <a:rect l="l" t="t" r="r" b="b"/>
            <a:pathLst>
              <a:path w="3421379" h="2063750">
                <a:moveTo>
                  <a:pt x="0" y="2063627"/>
                </a:moveTo>
                <a:lnTo>
                  <a:pt x="3421014" y="2063627"/>
                </a:lnTo>
                <a:lnTo>
                  <a:pt x="3421014" y="0"/>
                </a:lnTo>
                <a:lnTo>
                  <a:pt x="0" y="0"/>
                </a:lnTo>
                <a:lnTo>
                  <a:pt x="0" y="2063627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929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88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8" y="321234"/>
            <a:ext cx="7049478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-10" dirty="0">
                <a:solidFill>
                  <a:schemeClr val="bg1"/>
                </a:solidFill>
              </a:rPr>
              <a:t>Implementing </a:t>
            </a:r>
            <a:r>
              <a:rPr lang="en-US" sz="2800" spc="-35" dirty="0">
                <a:solidFill>
                  <a:schemeClr val="bg1"/>
                </a:solidFill>
              </a:rPr>
              <a:t>Random </a:t>
            </a:r>
            <a:r>
              <a:rPr lang="en-US" sz="2800" spc="5" dirty="0">
                <a:solidFill>
                  <a:schemeClr val="bg1"/>
                </a:solidFill>
              </a:rPr>
              <a:t>Forest </a:t>
            </a:r>
            <a:r>
              <a:rPr lang="en-US" sz="2800" spc="35" dirty="0">
                <a:solidFill>
                  <a:schemeClr val="bg1"/>
                </a:solidFill>
              </a:rPr>
              <a:t>in</a:t>
            </a:r>
            <a:r>
              <a:rPr lang="en-US" sz="2800" spc="30" dirty="0">
                <a:solidFill>
                  <a:schemeClr val="bg1"/>
                </a:solidFill>
              </a:rPr>
              <a:t> </a:t>
            </a:r>
            <a:r>
              <a:rPr lang="en-US" sz="2800" spc="-40" dirty="0">
                <a:solidFill>
                  <a:schemeClr val="bg1"/>
                </a:solidFill>
              </a:rPr>
              <a:t>Python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39643" y="1027654"/>
            <a:ext cx="80494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25" dirty="0">
                <a:solidFill>
                  <a:srgbClr val="1B577B"/>
                </a:solidFill>
                <a:latin typeface="Times New Roman"/>
                <a:cs typeface="Times New Roman"/>
              </a:rPr>
              <a:t>Building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model </a:t>
            </a:r>
            <a:r>
              <a:rPr lang="en-US" i="1" spc="5" dirty="0">
                <a:solidFill>
                  <a:srgbClr val="1B577B"/>
                </a:solidFill>
                <a:latin typeface="Times New Roman"/>
                <a:cs typeface="Times New Roman"/>
              </a:rPr>
              <a:t>with </a:t>
            </a: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only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‘Petal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length’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&amp; ‘Petal width’ as </a:t>
            </a: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independent</a:t>
            </a:r>
            <a:r>
              <a:rPr lang="en-US" i="1" spc="5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variables: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8" name="object 11"/>
          <p:cNvSpPr/>
          <p:nvPr/>
        </p:nvSpPr>
        <p:spPr>
          <a:xfrm>
            <a:off x="409575" y="1784640"/>
            <a:ext cx="600075" cy="600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3"/>
          <p:cNvSpPr/>
          <p:nvPr/>
        </p:nvSpPr>
        <p:spPr>
          <a:xfrm>
            <a:off x="608874" y="1945559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93"/>
                </a:moveTo>
                <a:lnTo>
                  <a:pt x="7096" y="95253"/>
                </a:lnTo>
                <a:lnTo>
                  <a:pt x="26856" y="57014"/>
                </a:lnTo>
                <a:lnTo>
                  <a:pt x="56989" y="26866"/>
                </a:lnTo>
                <a:lnTo>
                  <a:pt x="95204" y="7098"/>
                </a:lnTo>
                <a:lnTo>
                  <a:pt x="139208" y="0"/>
                </a:lnTo>
                <a:lnTo>
                  <a:pt x="183210" y="7098"/>
                </a:lnTo>
                <a:lnTo>
                  <a:pt x="221424" y="26866"/>
                </a:lnTo>
                <a:lnTo>
                  <a:pt x="251557" y="57014"/>
                </a:lnTo>
                <a:lnTo>
                  <a:pt x="271317" y="95253"/>
                </a:lnTo>
                <a:lnTo>
                  <a:pt x="278413" y="139293"/>
                </a:lnTo>
                <a:lnTo>
                  <a:pt x="271317" y="183280"/>
                </a:lnTo>
                <a:lnTo>
                  <a:pt x="251557" y="221493"/>
                </a:lnTo>
                <a:lnTo>
                  <a:pt x="221424" y="251634"/>
                </a:lnTo>
                <a:lnTo>
                  <a:pt x="183210" y="271404"/>
                </a:lnTo>
                <a:lnTo>
                  <a:pt x="139208" y="278504"/>
                </a:lnTo>
                <a:lnTo>
                  <a:pt x="95204" y="271404"/>
                </a:lnTo>
                <a:lnTo>
                  <a:pt x="56989" y="251634"/>
                </a:lnTo>
                <a:lnTo>
                  <a:pt x="26856" y="221493"/>
                </a:lnTo>
                <a:lnTo>
                  <a:pt x="7096" y="183280"/>
                </a:lnTo>
                <a:lnTo>
                  <a:pt x="0" y="139293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4"/>
          <p:cNvSpPr txBox="1"/>
          <p:nvPr/>
        </p:nvSpPr>
        <p:spPr>
          <a:xfrm>
            <a:off x="692471" y="1963326"/>
            <a:ext cx="1123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8"/>
          <p:cNvSpPr/>
          <p:nvPr/>
        </p:nvSpPr>
        <p:spPr>
          <a:xfrm>
            <a:off x="1510152" y="1326936"/>
            <a:ext cx="7787244" cy="18440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9"/>
          <p:cNvSpPr/>
          <p:nvPr/>
        </p:nvSpPr>
        <p:spPr>
          <a:xfrm>
            <a:off x="1669798" y="1493518"/>
            <a:ext cx="7439301" cy="15150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/>
          <p:cNvSpPr/>
          <p:nvPr/>
        </p:nvSpPr>
        <p:spPr>
          <a:xfrm>
            <a:off x="1664610" y="1487581"/>
            <a:ext cx="7450297" cy="1527146"/>
          </a:xfrm>
          <a:custGeom>
            <a:avLst/>
            <a:gdLst/>
            <a:ahLst/>
            <a:cxnLst/>
            <a:rect l="l" t="t" r="r" b="b"/>
            <a:pathLst>
              <a:path w="6880225" h="1214755">
                <a:moveTo>
                  <a:pt x="0" y="1214664"/>
                </a:moveTo>
                <a:lnTo>
                  <a:pt x="6879610" y="1214664"/>
                </a:lnTo>
                <a:lnTo>
                  <a:pt x="6879610" y="0"/>
                </a:lnTo>
                <a:lnTo>
                  <a:pt x="0" y="0"/>
                </a:lnTo>
                <a:lnTo>
                  <a:pt x="0" y="1214664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939643" y="3308814"/>
            <a:ext cx="5228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i="1" spc="-15" dirty="0">
                <a:solidFill>
                  <a:srgbClr val="1B577B"/>
                </a:solidFill>
                <a:latin typeface="Times New Roman"/>
                <a:cs typeface="Times New Roman"/>
              </a:rPr>
              <a:t>Predicting </a:t>
            </a:r>
            <a:r>
              <a:rPr lang="en-US" i="1" dirty="0">
                <a:solidFill>
                  <a:srgbClr val="1B577B"/>
                </a:solidFill>
                <a:latin typeface="Times New Roman"/>
                <a:cs typeface="Times New Roman"/>
              </a:rPr>
              <a:t>values and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finding </a:t>
            </a:r>
            <a:r>
              <a:rPr lang="en-US" i="1" spc="-10" dirty="0">
                <a:solidFill>
                  <a:srgbClr val="1B577B"/>
                </a:solidFill>
                <a:latin typeface="Times New Roman"/>
                <a:cs typeface="Times New Roman"/>
              </a:rPr>
              <a:t>accuracy </a:t>
            </a:r>
            <a:r>
              <a:rPr lang="en-US" i="1" spc="10" dirty="0">
                <a:solidFill>
                  <a:srgbClr val="1B577B"/>
                </a:solidFill>
                <a:latin typeface="Times New Roman"/>
                <a:cs typeface="Times New Roman"/>
              </a:rPr>
              <a:t>for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new</a:t>
            </a:r>
            <a:r>
              <a:rPr lang="en-US" i="1" spc="-150" dirty="0">
                <a:solidFill>
                  <a:srgbClr val="1B577B"/>
                </a:solidFill>
                <a:latin typeface="Times New Roman"/>
                <a:cs typeface="Times New Roman"/>
              </a:rPr>
              <a:t> </a:t>
            </a:r>
            <a:r>
              <a:rPr lang="en-US" i="1" spc="-5" dirty="0">
                <a:solidFill>
                  <a:srgbClr val="1B577B"/>
                </a:solidFill>
                <a:latin typeface="Times New Roman"/>
                <a:cs typeface="Times New Roman"/>
              </a:rPr>
              <a:t>model: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9" name="object 17"/>
          <p:cNvSpPr/>
          <p:nvPr/>
        </p:nvSpPr>
        <p:spPr>
          <a:xfrm>
            <a:off x="608874" y="4289743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139208" y="0"/>
                </a:moveTo>
                <a:lnTo>
                  <a:pt x="95204" y="7097"/>
                </a:lnTo>
                <a:lnTo>
                  <a:pt x="56989" y="26860"/>
                </a:lnTo>
                <a:lnTo>
                  <a:pt x="26856" y="56997"/>
                </a:lnTo>
                <a:lnTo>
                  <a:pt x="7096" y="95215"/>
                </a:lnTo>
                <a:lnTo>
                  <a:pt x="0" y="139220"/>
                </a:lnTo>
                <a:lnTo>
                  <a:pt x="7096" y="183213"/>
                </a:lnTo>
                <a:lnTo>
                  <a:pt x="26856" y="221424"/>
                </a:lnTo>
                <a:lnTo>
                  <a:pt x="56989" y="251557"/>
                </a:lnTo>
                <a:lnTo>
                  <a:pt x="95204" y="271319"/>
                </a:lnTo>
                <a:lnTo>
                  <a:pt x="139208" y="278416"/>
                </a:lnTo>
                <a:lnTo>
                  <a:pt x="183210" y="271319"/>
                </a:lnTo>
                <a:lnTo>
                  <a:pt x="221424" y="251557"/>
                </a:lnTo>
                <a:lnTo>
                  <a:pt x="251557" y="221424"/>
                </a:lnTo>
                <a:lnTo>
                  <a:pt x="271317" y="183213"/>
                </a:lnTo>
                <a:lnTo>
                  <a:pt x="278413" y="139220"/>
                </a:lnTo>
                <a:lnTo>
                  <a:pt x="271317" y="95215"/>
                </a:lnTo>
                <a:lnTo>
                  <a:pt x="251557" y="56997"/>
                </a:lnTo>
                <a:lnTo>
                  <a:pt x="221424" y="26860"/>
                </a:lnTo>
                <a:lnTo>
                  <a:pt x="183210" y="7097"/>
                </a:lnTo>
                <a:lnTo>
                  <a:pt x="139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/>
          <p:cNvSpPr/>
          <p:nvPr/>
        </p:nvSpPr>
        <p:spPr>
          <a:xfrm>
            <a:off x="608874" y="4289743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5" h="278764">
                <a:moveTo>
                  <a:pt x="0" y="139220"/>
                </a:moveTo>
                <a:lnTo>
                  <a:pt x="7096" y="95215"/>
                </a:lnTo>
                <a:lnTo>
                  <a:pt x="26856" y="56997"/>
                </a:lnTo>
                <a:lnTo>
                  <a:pt x="56989" y="26860"/>
                </a:lnTo>
                <a:lnTo>
                  <a:pt x="95204" y="7097"/>
                </a:lnTo>
                <a:lnTo>
                  <a:pt x="139208" y="0"/>
                </a:lnTo>
                <a:lnTo>
                  <a:pt x="183210" y="7097"/>
                </a:lnTo>
                <a:lnTo>
                  <a:pt x="221424" y="26860"/>
                </a:lnTo>
                <a:lnTo>
                  <a:pt x="251557" y="56997"/>
                </a:lnTo>
                <a:lnTo>
                  <a:pt x="271317" y="95215"/>
                </a:lnTo>
                <a:lnTo>
                  <a:pt x="278413" y="139220"/>
                </a:lnTo>
                <a:lnTo>
                  <a:pt x="271317" y="183213"/>
                </a:lnTo>
                <a:lnTo>
                  <a:pt x="251557" y="221424"/>
                </a:lnTo>
                <a:lnTo>
                  <a:pt x="221424" y="251557"/>
                </a:lnTo>
                <a:lnTo>
                  <a:pt x="183210" y="271319"/>
                </a:lnTo>
                <a:lnTo>
                  <a:pt x="139208" y="278416"/>
                </a:lnTo>
                <a:lnTo>
                  <a:pt x="95204" y="271319"/>
                </a:lnTo>
                <a:lnTo>
                  <a:pt x="56989" y="251557"/>
                </a:lnTo>
                <a:lnTo>
                  <a:pt x="26856" y="221424"/>
                </a:lnTo>
                <a:lnTo>
                  <a:pt x="7096" y="183213"/>
                </a:lnTo>
                <a:lnTo>
                  <a:pt x="0" y="139220"/>
                </a:lnTo>
                <a:close/>
              </a:path>
            </a:pathLst>
          </a:custGeom>
          <a:ln w="12700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/>
          <p:cNvSpPr txBox="1"/>
          <p:nvPr/>
        </p:nvSpPr>
        <p:spPr>
          <a:xfrm>
            <a:off x="692471" y="4310967"/>
            <a:ext cx="1130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0"/>
          <p:cNvSpPr/>
          <p:nvPr/>
        </p:nvSpPr>
        <p:spPr>
          <a:xfrm>
            <a:off x="934206" y="3625159"/>
            <a:ext cx="5404393" cy="22772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1"/>
          <p:cNvSpPr/>
          <p:nvPr/>
        </p:nvSpPr>
        <p:spPr>
          <a:xfrm>
            <a:off x="1216482" y="3805740"/>
            <a:ext cx="4954041" cy="1911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/>
          <p:cNvSpPr/>
          <p:nvPr/>
        </p:nvSpPr>
        <p:spPr>
          <a:xfrm>
            <a:off x="6561434" y="4668981"/>
            <a:ext cx="562802" cy="1714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4"/>
          <p:cNvSpPr/>
          <p:nvPr/>
        </p:nvSpPr>
        <p:spPr>
          <a:xfrm>
            <a:off x="6627596" y="4715426"/>
            <a:ext cx="441463" cy="76200"/>
          </a:xfrm>
          <a:custGeom>
            <a:avLst/>
            <a:gdLst/>
            <a:ahLst/>
            <a:cxnLst/>
            <a:rect l="l" t="t" r="r" b="b"/>
            <a:pathLst>
              <a:path w="351154" h="76200">
                <a:moveTo>
                  <a:pt x="152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52400" y="47625"/>
                </a:lnTo>
                <a:lnTo>
                  <a:pt x="152400" y="28575"/>
                </a:lnTo>
                <a:close/>
              </a:path>
              <a:path w="351154" h="76200">
                <a:moveTo>
                  <a:pt x="228600" y="28575"/>
                </a:moveTo>
                <a:lnTo>
                  <a:pt x="209550" y="28575"/>
                </a:lnTo>
                <a:lnTo>
                  <a:pt x="209550" y="47625"/>
                </a:lnTo>
                <a:lnTo>
                  <a:pt x="228600" y="47625"/>
                </a:lnTo>
                <a:lnTo>
                  <a:pt x="228600" y="28575"/>
                </a:lnTo>
                <a:close/>
              </a:path>
              <a:path w="351154" h="76200">
                <a:moveTo>
                  <a:pt x="274685" y="0"/>
                </a:moveTo>
                <a:lnTo>
                  <a:pt x="274685" y="76200"/>
                </a:lnTo>
                <a:lnTo>
                  <a:pt x="331835" y="47625"/>
                </a:lnTo>
                <a:lnTo>
                  <a:pt x="285750" y="47625"/>
                </a:lnTo>
                <a:lnTo>
                  <a:pt x="285750" y="28575"/>
                </a:lnTo>
                <a:lnTo>
                  <a:pt x="331835" y="28575"/>
                </a:lnTo>
                <a:lnTo>
                  <a:pt x="274685" y="0"/>
                </a:lnTo>
                <a:close/>
              </a:path>
              <a:path w="351154" h="76200">
                <a:moveTo>
                  <a:pt x="287404" y="28575"/>
                </a:moveTo>
                <a:lnTo>
                  <a:pt x="285750" y="28575"/>
                </a:lnTo>
                <a:lnTo>
                  <a:pt x="285750" y="47625"/>
                </a:lnTo>
                <a:lnTo>
                  <a:pt x="287404" y="47625"/>
                </a:lnTo>
                <a:lnTo>
                  <a:pt x="287404" y="28575"/>
                </a:lnTo>
                <a:close/>
              </a:path>
              <a:path w="351154" h="76200">
                <a:moveTo>
                  <a:pt x="331835" y="28575"/>
                </a:moveTo>
                <a:lnTo>
                  <a:pt x="287404" y="28575"/>
                </a:lnTo>
                <a:lnTo>
                  <a:pt x="287404" y="47625"/>
                </a:lnTo>
                <a:lnTo>
                  <a:pt x="331835" y="47625"/>
                </a:lnTo>
                <a:lnTo>
                  <a:pt x="350885" y="38100"/>
                </a:lnTo>
                <a:lnTo>
                  <a:pt x="331835" y="28575"/>
                </a:lnTo>
                <a:close/>
              </a:path>
            </a:pathLst>
          </a:custGeom>
          <a:solidFill>
            <a:srgbClr val="0D2C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66716" y="4618900"/>
            <a:ext cx="2567539" cy="3353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61701" y="4612837"/>
            <a:ext cx="2577716" cy="348057"/>
          </a:xfrm>
          <a:custGeom>
            <a:avLst/>
            <a:gdLst/>
            <a:ahLst/>
            <a:cxnLst/>
            <a:rect l="l" t="t" r="r" b="b"/>
            <a:pathLst>
              <a:path w="2477134" h="276860">
                <a:moveTo>
                  <a:pt x="0" y="276260"/>
                </a:moveTo>
                <a:lnTo>
                  <a:pt x="2476880" y="276260"/>
                </a:lnTo>
                <a:lnTo>
                  <a:pt x="2476880" y="0"/>
                </a:lnTo>
                <a:lnTo>
                  <a:pt x="0" y="0"/>
                </a:lnTo>
                <a:lnTo>
                  <a:pt x="0" y="276260"/>
                </a:lnTo>
                <a:close/>
              </a:path>
            </a:pathLst>
          </a:custGeom>
          <a:ln w="9534">
            <a:solidFill>
              <a:srgbClr val="4EA4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632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949851" y="2800988"/>
            <a:ext cx="172002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spc="5" dirty="0">
                <a:solidFill>
                  <a:srgbClr val="7F7F7F"/>
                </a:solidFill>
                <a:latin typeface="Arial"/>
                <a:cs typeface="Arial"/>
              </a:rPr>
              <a:t>Q</a:t>
            </a:r>
            <a:r>
              <a:rPr lang="en-US" sz="5000" spc="-5" dirty="0">
                <a:solidFill>
                  <a:srgbClr val="7F7F7F"/>
                </a:solidFill>
                <a:latin typeface="Arial"/>
                <a:cs typeface="Arial"/>
              </a:rPr>
              <a:t>U</a:t>
            </a:r>
            <a:r>
              <a:rPr lang="en-US" sz="5000" spc="20" dirty="0">
                <a:solidFill>
                  <a:srgbClr val="7F7F7F"/>
                </a:solidFill>
                <a:latin typeface="Arial"/>
                <a:cs typeface="Arial"/>
              </a:rPr>
              <a:t>I</a:t>
            </a:r>
            <a:r>
              <a:rPr lang="en-US" sz="5000" spc="15" dirty="0">
                <a:solidFill>
                  <a:srgbClr val="7F7F7F"/>
                </a:solidFill>
                <a:latin typeface="Arial"/>
                <a:cs typeface="Arial"/>
              </a:rPr>
              <a:t>Z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93184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90</a:t>
            </a:fld>
            <a:endParaRPr lang="en-IN"/>
          </a:p>
        </p:txBody>
      </p:sp>
      <p:sp>
        <p:nvSpPr>
          <p:cNvPr id="8" name="object 3"/>
          <p:cNvSpPr txBox="1">
            <a:spLocks noGrp="1"/>
          </p:cNvSpPr>
          <p:nvPr>
            <p:ph type="title"/>
          </p:nvPr>
        </p:nvSpPr>
        <p:spPr>
          <a:xfrm>
            <a:off x="4490853" y="766325"/>
            <a:ext cx="1967503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35" dirty="0">
                <a:solidFill>
                  <a:srgbClr val="7F7F7F"/>
                </a:solidFill>
                <a:latin typeface="Arial"/>
                <a:cs typeface="Arial"/>
              </a:rPr>
              <a:t>Quiz</a:t>
            </a:r>
            <a:r>
              <a:rPr sz="3950" b="0" spc="12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3950" b="0" spc="15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9" name="object 5"/>
          <p:cNvSpPr/>
          <p:nvPr/>
        </p:nvSpPr>
        <p:spPr>
          <a:xfrm>
            <a:off x="2196983" y="1658948"/>
            <a:ext cx="6419339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/>
          <p:cNvSpPr txBox="1"/>
          <p:nvPr/>
        </p:nvSpPr>
        <p:spPr>
          <a:xfrm>
            <a:off x="2266241" y="1731653"/>
            <a:ext cx="6288453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type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machine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learning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type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550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spam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mail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classifier?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7"/>
          <p:cNvSpPr/>
          <p:nvPr/>
        </p:nvSpPr>
        <p:spPr>
          <a:xfrm>
            <a:off x="2872390" y="2430611"/>
            <a:ext cx="86419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/>
          <p:cNvSpPr/>
          <p:nvPr/>
        </p:nvSpPr>
        <p:spPr>
          <a:xfrm>
            <a:off x="3001546" y="2430611"/>
            <a:ext cx="5503132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9"/>
          <p:cNvSpPr txBox="1"/>
          <p:nvPr/>
        </p:nvSpPr>
        <p:spPr>
          <a:xfrm>
            <a:off x="5252387" y="2626877"/>
            <a:ext cx="1363407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Supervised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0"/>
          <p:cNvSpPr/>
          <p:nvPr/>
        </p:nvSpPr>
        <p:spPr>
          <a:xfrm>
            <a:off x="2872390" y="3163136"/>
            <a:ext cx="86419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3001546" y="3163136"/>
            <a:ext cx="5503132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 txBox="1"/>
          <p:nvPr/>
        </p:nvSpPr>
        <p:spPr>
          <a:xfrm>
            <a:off x="5113949" y="3360683"/>
            <a:ext cx="1640283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7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3"/>
          <p:cNvSpPr/>
          <p:nvPr/>
        </p:nvSpPr>
        <p:spPr>
          <a:xfrm>
            <a:off x="2872390" y="3895549"/>
            <a:ext cx="86419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3001546" y="3895549"/>
            <a:ext cx="5503132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 txBox="1"/>
          <p:nvPr/>
        </p:nvSpPr>
        <p:spPr>
          <a:xfrm>
            <a:off x="5053496" y="4094490"/>
            <a:ext cx="1742646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ei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-9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16"/>
          <p:cNvSpPr/>
          <p:nvPr/>
        </p:nvSpPr>
        <p:spPr>
          <a:xfrm>
            <a:off x="2872390" y="4628021"/>
            <a:ext cx="86419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3001546" y="4628021"/>
            <a:ext cx="5503132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 txBox="1"/>
          <p:nvPr/>
        </p:nvSpPr>
        <p:spPr>
          <a:xfrm>
            <a:off x="4989448" y="4828173"/>
            <a:ext cx="1877728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19"/>
          <p:cNvSpPr/>
          <p:nvPr/>
        </p:nvSpPr>
        <p:spPr>
          <a:xfrm>
            <a:off x="3013185" y="2574516"/>
            <a:ext cx="610810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 txBox="1"/>
          <p:nvPr/>
        </p:nvSpPr>
        <p:spPr>
          <a:xfrm>
            <a:off x="3208571" y="2611383"/>
            <a:ext cx="22485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1"/>
          <p:cNvSpPr/>
          <p:nvPr/>
        </p:nvSpPr>
        <p:spPr>
          <a:xfrm>
            <a:off x="3012042" y="3322669"/>
            <a:ext cx="610810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 txBox="1"/>
          <p:nvPr/>
        </p:nvSpPr>
        <p:spPr>
          <a:xfrm>
            <a:off x="3207200" y="3360620"/>
            <a:ext cx="22569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7" name="object 23"/>
          <p:cNvSpPr/>
          <p:nvPr/>
        </p:nvSpPr>
        <p:spPr>
          <a:xfrm>
            <a:off x="3012042" y="4026376"/>
            <a:ext cx="610810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 txBox="1"/>
          <p:nvPr/>
        </p:nvSpPr>
        <p:spPr>
          <a:xfrm>
            <a:off x="3207301" y="4065915"/>
            <a:ext cx="22485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9" name="object 25"/>
          <p:cNvSpPr/>
          <p:nvPr/>
        </p:nvSpPr>
        <p:spPr>
          <a:xfrm>
            <a:off x="3012042" y="4825357"/>
            <a:ext cx="610810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/>
          <p:cNvSpPr txBox="1"/>
          <p:nvPr/>
        </p:nvSpPr>
        <p:spPr>
          <a:xfrm>
            <a:off x="3207301" y="4866273"/>
            <a:ext cx="22485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355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5"/>
          <p:cNvSpPr/>
          <p:nvPr/>
        </p:nvSpPr>
        <p:spPr>
          <a:xfrm>
            <a:off x="3291760" y="1825202"/>
            <a:ext cx="5753805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 txBox="1"/>
          <p:nvPr/>
        </p:nvSpPr>
        <p:spPr>
          <a:xfrm>
            <a:off x="3354233" y="1897907"/>
            <a:ext cx="5636489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type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machine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learning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type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550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spam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mail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classifier?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7"/>
          <p:cNvSpPr/>
          <p:nvPr/>
        </p:nvSpPr>
        <p:spPr>
          <a:xfrm>
            <a:off x="3679198" y="2596865"/>
            <a:ext cx="77459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9F8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4048828" y="2596865"/>
            <a:ext cx="4932588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9F8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 txBox="1"/>
          <p:nvPr/>
        </p:nvSpPr>
        <p:spPr>
          <a:xfrm>
            <a:off x="6085073" y="2793131"/>
            <a:ext cx="122205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Supervised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0"/>
          <p:cNvSpPr/>
          <p:nvPr/>
        </p:nvSpPr>
        <p:spPr>
          <a:xfrm>
            <a:off x="3679198" y="3329390"/>
            <a:ext cx="77459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4048828" y="3329390"/>
            <a:ext cx="4932588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 txBox="1"/>
          <p:nvPr/>
        </p:nvSpPr>
        <p:spPr>
          <a:xfrm>
            <a:off x="5960988" y="3526937"/>
            <a:ext cx="14702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7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3"/>
          <p:cNvSpPr/>
          <p:nvPr/>
        </p:nvSpPr>
        <p:spPr>
          <a:xfrm>
            <a:off x="3679198" y="4061803"/>
            <a:ext cx="77459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4"/>
          <p:cNvSpPr/>
          <p:nvPr/>
        </p:nvSpPr>
        <p:spPr>
          <a:xfrm>
            <a:off x="4048828" y="4061803"/>
            <a:ext cx="4932588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/>
          <p:cNvSpPr txBox="1"/>
          <p:nvPr/>
        </p:nvSpPr>
        <p:spPr>
          <a:xfrm>
            <a:off x="5905842" y="4260744"/>
            <a:ext cx="156197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ei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-9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</p:txBody>
      </p:sp>
      <p:sp>
        <p:nvSpPr>
          <p:cNvPr id="19" name="object 16"/>
          <p:cNvSpPr/>
          <p:nvPr/>
        </p:nvSpPr>
        <p:spPr>
          <a:xfrm>
            <a:off x="3679198" y="4794275"/>
            <a:ext cx="77459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7"/>
          <p:cNvSpPr/>
          <p:nvPr/>
        </p:nvSpPr>
        <p:spPr>
          <a:xfrm>
            <a:off x="4048828" y="4794275"/>
            <a:ext cx="4932588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8"/>
          <p:cNvSpPr txBox="1"/>
          <p:nvPr/>
        </p:nvSpPr>
        <p:spPr>
          <a:xfrm>
            <a:off x="5848797" y="4994427"/>
            <a:ext cx="1683051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19"/>
          <p:cNvSpPr/>
          <p:nvPr/>
        </p:nvSpPr>
        <p:spPr>
          <a:xfrm>
            <a:off x="3806859" y="2740770"/>
            <a:ext cx="54748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9F8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0"/>
          <p:cNvSpPr txBox="1"/>
          <p:nvPr/>
        </p:nvSpPr>
        <p:spPr>
          <a:xfrm>
            <a:off x="3982236" y="2777637"/>
            <a:ext cx="201548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1"/>
          <p:cNvSpPr/>
          <p:nvPr/>
        </p:nvSpPr>
        <p:spPr>
          <a:xfrm>
            <a:off x="3805716" y="3488923"/>
            <a:ext cx="54748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2"/>
          <p:cNvSpPr txBox="1"/>
          <p:nvPr/>
        </p:nvSpPr>
        <p:spPr>
          <a:xfrm>
            <a:off x="3980909" y="3526874"/>
            <a:ext cx="202296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3"/>
          <p:cNvSpPr/>
          <p:nvPr/>
        </p:nvSpPr>
        <p:spPr>
          <a:xfrm>
            <a:off x="3805716" y="4192630"/>
            <a:ext cx="54748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4"/>
          <p:cNvSpPr txBox="1"/>
          <p:nvPr/>
        </p:nvSpPr>
        <p:spPr>
          <a:xfrm>
            <a:off x="3980966" y="4232169"/>
            <a:ext cx="201548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25"/>
          <p:cNvSpPr/>
          <p:nvPr/>
        </p:nvSpPr>
        <p:spPr>
          <a:xfrm>
            <a:off x="3805716" y="4991611"/>
            <a:ext cx="54748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6"/>
          <p:cNvSpPr txBox="1"/>
          <p:nvPr/>
        </p:nvSpPr>
        <p:spPr>
          <a:xfrm>
            <a:off x="3980966" y="5032527"/>
            <a:ext cx="201548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  <p:sp>
        <p:nvSpPr>
          <p:cNvPr id="30" name="object 27"/>
          <p:cNvSpPr/>
          <p:nvPr/>
        </p:nvSpPr>
        <p:spPr>
          <a:xfrm>
            <a:off x="5417128" y="975064"/>
            <a:ext cx="6125613" cy="397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r>
              <a:rPr lang="en-US" sz="3950" spc="-30" dirty="0">
                <a:solidFill>
                  <a:srgbClr val="7F7F7F"/>
                </a:solidFill>
                <a:latin typeface="Arial"/>
                <a:cs typeface="Arial"/>
              </a:rPr>
              <a:t>Answer</a:t>
            </a:r>
            <a:r>
              <a:rPr lang="en-US" sz="3950" spc="27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US" sz="3950" spc="15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3950" dirty="0"/>
          </a:p>
        </p:txBody>
      </p:sp>
    </p:spTree>
    <p:extLst>
      <p:ext uri="{BB962C8B-B14F-4D97-AF65-F5344CB8AC3E}">
        <p14:creationId xmlns:p14="http://schemas.microsoft.com/office/powerpoint/2010/main" val="380204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92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5310024" y="875206"/>
            <a:ext cx="1649811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950" spc="-35" dirty="0">
                <a:solidFill>
                  <a:srgbClr val="7F7F7F"/>
                </a:solidFill>
                <a:latin typeface="Arial"/>
                <a:cs typeface="Arial"/>
              </a:rPr>
              <a:t>Quiz</a:t>
            </a:r>
            <a:r>
              <a:rPr lang="en-US" sz="3950" spc="12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US" sz="3950" spc="15" dirty="0">
                <a:solidFill>
                  <a:srgbClr val="7F7F7F"/>
                </a:solidFill>
                <a:latin typeface="Arial"/>
                <a:cs typeface="Arial"/>
              </a:rPr>
              <a:t>2</a:t>
            </a:r>
            <a:endParaRPr lang="en-US" sz="3950" dirty="0"/>
          </a:p>
        </p:txBody>
      </p:sp>
      <p:sp>
        <p:nvSpPr>
          <p:cNvPr id="4" name="object 5"/>
          <p:cNvSpPr/>
          <p:nvPr/>
        </p:nvSpPr>
        <p:spPr>
          <a:xfrm>
            <a:off x="2861995" y="1720878"/>
            <a:ext cx="6419339" cy="660591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 txBox="1"/>
          <p:nvPr/>
        </p:nvSpPr>
        <p:spPr>
          <a:xfrm>
            <a:off x="3336914" y="1794329"/>
            <a:ext cx="5462018" cy="5098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type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machine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learning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self</a:t>
            </a:r>
            <a:endParaRPr sz="1550">
              <a:latin typeface="Arial"/>
              <a:cs typeface="Arial"/>
            </a:endParaRPr>
          </a:p>
          <a:p>
            <a:pPr marL="14604" algn="ctr">
              <a:lnSpc>
                <a:spcPct val="100000"/>
              </a:lnSpc>
              <a:spcBef>
                <a:spcPts val="20"/>
              </a:spcBef>
            </a:pP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driving</a:t>
            </a:r>
            <a:r>
              <a:rPr sz="15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car?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3371147" y="2649008"/>
            <a:ext cx="864190" cy="660591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/>
          <p:nvPr/>
        </p:nvSpPr>
        <p:spPr>
          <a:xfrm>
            <a:off x="3500303" y="2649008"/>
            <a:ext cx="5503132" cy="660591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 txBox="1"/>
          <p:nvPr/>
        </p:nvSpPr>
        <p:spPr>
          <a:xfrm>
            <a:off x="5751144" y="2847213"/>
            <a:ext cx="1363407" cy="2687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Supervised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10"/>
          <p:cNvSpPr/>
          <p:nvPr/>
        </p:nvSpPr>
        <p:spPr>
          <a:xfrm>
            <a:off x="3371147" y="3381533"/>
            <a:ext cx="864190" cy="660591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/>
          <p:nvPr/>
        </p:nvSpPr>
        <p:spPr>
          <a:xfrm>
            <a:off x="3500303" y="3381533"/>
            <a:ext cx="5503132" cy="660591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5612706" y="3581019"/>
            <a:ext cx="1640283" cy="2687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7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3371147" y="4113946"/>
            <a:ext cx="864190" cy="660591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3500303" y="4113946"/>
            <a:ext cx="5503132" cy="660591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 txBox="1"/>
          <p:nvPr/>
        </p:nvSpPr>
        <p:spPr>
          <a:xfrm>
            <a:off x="5552253" y="4314826"/>
            <a:ext cx="1742646" cy="2687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ei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-9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3371147" y="4846418"/>
            <a:ext cx="864190" cy="660591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/>
          <p:nvPr/>
        </p:nvSpPr>
        <p:spPr>
          <a:xfrm>
            <a:off x="3500303" y="4846418"/>
            <a:ext cx="5503132" cy="660591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 txBox="1"/>
          <p:nvPr/>
        </p:nvSpPr>
        <p:spPr>
          <a:xfrm>
            <a:off x="5488205" y="5048509"/>
            <a:ext cx="1877728" cy="2687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3511942" y="2794488"/>
            <a:ext cx="610810" cy="342481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 txBox="1"/>
          <p:nvPr/>
        </p:nvSpPr>
        <p:spPr>
          <a:xfrm>
            <a:off x="3707328" y="2831719"/>
            <a:ext cx="224859" cy="2687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3510799" y="3542641"/>
            <a:ext cx="610810" cy="342481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/>
          <p:cNvSpPr txBox="1"/>
          <p:nvPr/>
        </p:nvSpPr>
        <p:spPr>
          <a:xfrm>
            <a:off x="3705957" y="3580954"/>
            <a:ext cx="225695" cy="26936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3510799" y="4246348"/>
            <a:ext cx="610810" cy="342481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/>
          <p:cNvSpPr txBox="1"/>
          <p:nvPr/>
        </p:nvSpPr>
        <p:spPr>
          <a:xfrm>
            <a:off x="3706058" y="4286251"/>
            <a:ext cx="224859" cy="2687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3510799" y="5045329"/>
            <a:ext cx="610810" cy="342481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/>
          <p:cNvSpPr txBox="1"/>
          <p:nvPr/>
        </p:nvSpPr>
        <p:spPr>
          <a:xfrm>
            <a:off x="3706058" y="5086609"/>
            <a:ext cx="224859" cy="2687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8"/>
          <p:cNvSpPr/>
          <p:nvPr/>
        </p:nvSpPr>
        <p:spPr>
          <a:xfrm>
            <a:off x="3371147" y="2649008"/>
            <a:ext cx="5503132" cy="660591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9"/>
          <p:cNvSpPr txBox="1"/>
          <p:nvPr/>
        </p:nvSpPr>
        <p:spPr>
          <a:xfrm>
            <a:off x="5621988" y="2847213"/>
            <a:ext cx="1363407" cy="2687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Supervised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20"/>
          <p:cNvSpPr txBox="1"/>
          <p:nvPr/>
        </p:nvSpPr>
        <p:spPr>
          <a:xfrm>
            <a:off x="3578172" y="2831719"/>
            <a:ext cx="224859" cy="2687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472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93</a:t>
            </a:fld>
            <a:endParaRPr lang="en-IN"/>
          </a:p>
        </p:txBody>
      </p:sp>
      <p:sp>
        <p:nvSpPr>
          <p:cNvPr id="4" name="object 3"/>
          <p:cNvSpPr txBox="1">
            <a:spLocks noGrp="1"/>
          </p:cNvSpPr>
          <p:nvPr>
            <p:ph type="title"/>
          </p:nvPr>
        </p:nvSpPr>
        <p:spPr>
          <a:xfrm>
            <a:off x="4510293" y="912799"/>
            <a:ext cx="3234397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25" dirty="0">
                <a:solidFill>
                  <a:srgbClr val="7F7F7F"/>
                </a:solidFill>
                <a:latin typeface="Arial"/>
                <a:cs typeface="Arial"/>
              </a:rPr>
              <a:t>Answer</a:t>
            </a:r>
            <a:r>
              <a:rPr sz="3950" b="0" spc="254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3950" b="0" spc="15" dirty="0">
                <a:solidFill>
                  <a:srgbClr val="7F7F7F"/>
                </a:solidFill>
                <a:latin typeface="Arial"/>
                <a:cs typeface="Arial"/>
              </a:rPr>
              <a:t>2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12983" y="1797492"/>
            <a:ext cx="5847437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71509" y="1870197"/>
            <a:ext cx="4975404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type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machine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learning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self</a:t>
            </a:r>
            <a:endParaRPr sz="1550">
              <a:latin typeface="Arial"/>
              <a:cs typeface="Arial"/>
            </a:endParaRPr>
          </a:p>
          <a:p>
            <a:pPr marL="14604" algn="ctr">
              <a:lnSpc>
                <a:spcPct val="100000"/>
              </a:lnSpc>
              <a:spcBef>
                <a:spcPts val="20"/>
              </a:spcBef>
            </a:pP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driving</a:t>
            </a:r>
            <a:r>
              <a:rPr sz="15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car?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2982" y="2569155"/>
            <a:ext cx="787199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06153" y="2569155"/>
            <a:ext cx="5012854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53676" y="2765421"/>
            <a:ext cx="124194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Supervised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12982" y="3301680"/>
            <a:ext cx="787199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06153" y="3301680"/>
            <a:ext cx="5012854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48901" y="3499227"/>
            <a:ext cx="149415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7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12982" y="4034093"/>
            <a:ext cx="787199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A8DB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06153" y="4034093"/>
            <a:ext cx="5012854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A8DB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00895" y="4233034"/>
            <a:ext cx="158739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ei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-9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12982" y="4766565"/>
            <a:ext cx="787199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06153" y="4766565"/>
            <a:ext cx="5012854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53269" y="4966717"/>
            <a:ext cx="1710439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22972" y="2713060"/>
            <a:ext cx="556389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71432" y="2749927"/>
            <a:ext cx="20482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321829" y="3461213"/>
            <a:ext cx="556389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470163" y="3499164"/>
            <a:ext cx="205589" cy="2551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21829" y="4164920"/>
            <a:ext cx="556389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A8DB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0162" y="4204459"/>
            <a:ext cx="20482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21829" y="4963901"/>
            <a:ext cx="556389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70162" y="5004817"/>
            <a:ext cx="20482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149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94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5226897" y="681243"/>
            <a:ext cx="1649811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950" spc="-35" dirty="0">
                <a:solidFill>
                  <a:srgbClr val="7F7F7F"/>
                </a:solidFill>
                <a:latin typeface="Arial"/>
                <a:cs typeface="Arial"/>
              </a:rPr>
              <a:t>Quiz</a:t>
            </a:r>
            <a:r>
              <a:rPr lang="en-US" sz="3950" spc="12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US" sz="3950" spc="15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lang="en-US" sz="3950" dirty="0"/>
          </a:p>
        </p:txBody>
      </p:sp>
      <p:sp>
        <p:nvSpPr>
          <p:cNvPr id="4" name="object 5"/>
          <p:cNvSpPr/>
          <p:nvPr/>
        </p:nvSpPr>
        <p:spPr>
          <a:xfrm>
            <a:off x="3045770" y="1616857"/>
            <a:ext cx="6006465" cy="693420"/>
          </a:xfrm>
          <a:custGeom>
            <a:avLst/>
            <a:gdLst/>
            <a:ahLst/>
            <a:cxnLst/>
            <a:rect l="l" t="t" r="r" b="b"/>
            <a:pathLst>
              <a:path w="6006465" h="693419">
                <a:moveTo>
                  <a:pt x="5925443" y="0"/>
                </a:moveTo>
                <a:lnTo>
                  <a:pt x="80772" y="0"/>
                </a:lnTo>
                <a:lnTo>
                  <a:pt x="49345" y="5455"/>
                </a:lnTo>
                <a:lnTo>
                  <a:pt x="23669" y="20326"/>
                </a:lnTo>
                <a:lnTo>
                  <a:pt x="6351" y="42369"/>
                </a:lnTo>
                <a:lnTo>
                  <a:pt x="0" y="69342"/>
                </a:lnTo>
                <a:lnTo>
                  <a:pt x="0" y="624078"/>
                </a:lnTo>
                <a:lnTo>
                  <a:pt x="6351" y="651037"/>
                </a:lnTo>
                <a:lnTo>
                  <a:pt x="23669" y="673082"/>
                </a:lnTo>
                <a:lnTo>
                  <a:pt x="49345" y="687960"/>
                </a:lnTo>
                <a:lnTo>
                  <a:pt x="80772" y="693420"/>
                </a:lnTo>
                <a:lnTo>
                  <a:pt x="5925443" y="693420"/>
                </a:lnTo>
                <a:lnTo>
                  <a:pt x="5956946" y="687960"/>
                </a:lnTo>
                <a:lnTo>
                  <a:pt x="5982658" y="673082"/>
                </a:lnTo>
                <a:lnTo>
                  <a:pt x="5999985" y="651037"/>
                </a:lnTo>
                <a:lnTo>
                  <a:pt x="6006337" y="624078"/>
                </a:lnTo>
                <a:lnTo>
                  <a:pt x="6006337" y="69342"/>
                </a:lnTo>
                <a:lnTo>
                  <a:pt x="5999985" y="42369"/>
                </a:lnTo>
                <a:lnTo>
                  <a:pt x="5982658" y="20326"/>
                </a:lnTo>
                <a:lnTo>
                  <a:pt x="5956946" y="5455"/>
                </a:lnTo>
                <a:lnTo>
                  <a:pt x="592544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 txBox="1"/>
          <p:nvPr/>
        </p:nvSpPr>
        <p:spPr>
          <a:xfrm>
            <a:off x="3155249" y="1600398"/>
            <a:ext cx="579310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  <a:tabLst>
                <a:tab pos="1181100" algn="l"/>
              </a:tabLst>
            </a:pP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Arial"/>
                <a:cs typeface="Arial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decision support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tool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uses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tree-like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graph </a:t>
            </a:r>
            <a:r>
              <a:rPr sz="1500" spc="-5" dirty="0">
                <a:solidFill>
                  <a:srgbClr val="FFFFFF"/>
                </a:solidFill>
                <a:latin typeface="Arial"/>
                <a:cs typeface="Arial"/>
              </a:rPr>
              <a:t>or  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model </a:t>
            </a:r>
            <a:r>
              <a:rPr sz="1500" spc="-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decisions </a:t>
            </a: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possible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consequences, </a:t>
            </a: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including  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chance </a:t>
            </a: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event 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outcomes,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resource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costs, </a:t>
            </a: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utility.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3045770" y="2434971"/>
            <a:ext cx="808990" cy="693420"/>
          </a:xfrm>
          <a:custGeom>
            <a:avLst/>
            <a:gdLst/>
            <a:ahLst/>
            <a:cxnLst/>
            <a:rect l="l" t="t" r="r" b="b"/>
            <a:pathLst>
              <a:path w="808989" h="693419">
                <a:moveTo>
                  <a:pt x="692920" y="0"/>
                </a:moveTo>
                <a:lnTo>
                  <a:pt x="115574" y="0"/>
                </a:lnTo>
                <a:lnTo>
                  <a:pt x="70567" y="9092"/>
                </a:lnTo>
                <a:lnTo>
                  <a:pt x="33833" y="33878"/>
                </a:lnTo>
                <a:lnTo>
                  <a:pt x="9075" y="70620"/>
                </a:lnTo>
                <a:lnTo>
                  <a:pt x="0" y="115580"/>
                </a:lnTo>
                <a:lnTo>
                  <a:pt x="0" y="577733"/>
                </a:lnTo>
                <a:lnTo>
                  <a:pt x="9075" y="622739"/>
                </a:lnTo>
                <a:lnTo>
                  <a:pt x="33833" y="659474"/>
                </a:lnTo>
                <a:lnTo>
                  <a:pt x="70567" y="684231"/>
                </a:lnTo>
                <a:lnTo>
                  <a:pt x="115574" y="693307"/>
                </a:lnTo>
                <a:lnTo>
                  <a:pt x="692920" y="693307"/>
                </a:lnTo>
                <a:lnTo>
                  <a:pt x="737924" y="684231"/>
                </a:lnTo>
                <a:lnTo>
                  <a:pt x="774654" y="659474"/>
                </a:lnTo>
                <a:lnTo>
                  <a:pt x="799408" y="622739"/>
                </a:lnTo>
                <a:lnTo>
                  <a:pt x="808482" y="577733"/>
                </a:lnTo>
                <a:lnTo>
                  <a:pt x="808482" y="115580"/>
                </a:lnTo>
                <a:lnTo>
                  <a:pt x="799408" y="70620"/>
                </a:lnTo>
                <a:lnTo>
                  <a:pt x="774654" y="33878"/>
                </a:lnTo>
                <a:lnTo>
                  <a:pt x="737924" y="9092"/>
                </a:lnTo>
                <a:lnTo>
                  <a:pt x="69292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/>
          <p:nvPr/>
        </p:nvSpPr>
        <p:spPr>
          <a:xfrm>
            <a:off x="3902770" y="2434971"/>
            <a:ext cx="5149850" cy="693420"/>
          </a:xfrm>
          <a:custGeom>
            <a:avLst/>
            <a:gdLst/>
            <a:ahLst/>
            <a:cxnLst/>
            <a:rect l="l" t="t" r="r" b="b"/>
            <a:pathLst>
              <a:path w="5149850" h="693419">
                <a:moveTo>
                  <a:pt x="5014584" y="0"/>
                </a:moveTo>
                <a:lnTo>
                  <a:pt x="134874" y="0"/>
                </a:lnTo>
                <a:lnTo>
                  <a:pt x="82401" y="9092"/>
                </a:lnTo>
                <a:lnTo>
                  <a:pt x="39527" y="33878"/>
                </a:lnTo>
                <a:lnTo>
                  <a:pt x="10607" y="70620"/>
                </a:lnTo>
                <a:lnTo>
                  <a:pt x="0" y="115580"/>
                </a:lnTo>
                <a:lnTo>
                  <a:pt x="0" y="577733"/>
                </a:lnTo>
                <a:lnTo>
                  <a:pt x="10607" y="622739"/>
                </a:lnTo>
                <a:lnTo>
                  <a:pt x="39527" y="659474"/>
                </a:lnTo>
                <a:lnTo>
                  <a:pt x="82401" y="684231"/>
                </a:lnTo>
                <a:lnTo>
                  <a:pt x="134874" y="693307"/>
                </a:lnTo>
                <a:lnTo>
                  <a:pt x="5014584" y="693307"/>
                </a:lnTo>
                <a:lnTo>
                  <a:pt x="5067041" y="684231"/>
                </a:lnTo>
                <a:lnTo>
                  <a:pt x="5109873" y="659474"/>
                </a:lnTo>
                <a:lnTo>
                  <a:pt x="5138749" y="622739"/>
                </a:lnTo>
                <a:lnTo>
                  <a:pt x="5149337" y="577733"/>
                </a:lnTo>
                <a:lnTo>
                  <a:pt x="5149337" y="115580"/>
                </a:lnTo>
                <a:lnTo>
                  <a:pt x="5138749" y="70620"/>
                </a:lnTo>
                <a:lnTo>
                  <a:pt x="5109873" y="33878"/>
                </a:lnTo>
                <a:lnTo>
                  <a:pt x="5067041" y="9092"/>
                </a:lnTo>
                <a:lnTo>
                  <a:pt x="501458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 txBox="1"/>
          <p:nvPr/>
        </p:nvSpPr>
        <p:spPr>
          <a:xfrm>
            <a:off x="5935916" y="2648784"/>
            <a:ext cx="14389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Neural</a:t>
            </a:r>
            <a:r>
              <a:rPr sz="1500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Arial"/>
                <a:cs typeface="Arial"/>
              </a:rPr>
              <a:t>Networks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10"/>
          <p:cNvSpPr/>
          <p:nvPr/>
        </p:nvSpPr>
        <p:spPr>
          <a:xfrm>
            <a:off x="3045770" y="3211586"/>
            <a:ext cx="808990" cy="693420"/>
          </a:xfrm>
          <a:custGeom>
            <a:avLst/>
            <a:gdLst/>
            <a:ahLst/>
            <a:cxnLst/>
            <a:rect l="l" t="t" r="r" b="b"/>
            <a:pathLst>
              <a:path w="808989" h="693420">
                <a:moveTo>
                  <a:pt x="692920" y="0"/>
                </a:moveTo>
                <a:lnTo>
                  <a:pt x="115574" y="0"/>
                </a:lnTo>
                <a:lnTo>
                  <a:pt x="70567" y="9074"/>
                </a:lnTo>
                <a:lnTo>
                  <a:pt x="33833" y="33828"/>
                </a:lnTo>
                <a:lnTo>
                  <a:pt x="9075" y="70562"/>
                </a:lnTo>
                <a:lnTo>
                  <a:pt x="0" y="115574"/>
                </a:lnTo>
                <a:lnTo>
                  <a:pt x="0" y="577727"/>
                </a:lnTo>
                <a:lnTo>
                  <a:pt x="9075" y="622676"/>
                </a:lnTo>
                <a:lnTo>
                  <a:pt x="33833" y="659412"/>
                </a:lnTo>
                <a:lnTo>
                  <a:pt x="70567" y="684196"/>
                </a:lnTo>
                <a:lnTo>
                  <a:pt x="115574" y="693288"/>
                </a:lnTo>
                <a:lnTo>
                  <a:pt x="692920" y="693288"/>
                </a:lnTo>
                <a:lnTo>
                  <a:pt x="737924" y="684196"/>
                </a:lnTo>
                <a:lnTo>
                  <a:pt x="774654" y="659412"/>
                </a:lnTo>
                <a:lnTo>
                  <a:pt x="799408" y="622676"/>
                </a:lnTo>
                <a:lnTo>
                  <a:pt x="808482" y="577727"/>
                </a:lnTo>
                <a:lnTo>
                  <a:pt x="808482" y="115574"/>
                </a:lnTo>
                <a:lnTo>
                  <a:pt x="799408" y="70562"/>
                </a:lnTo>
                <a:lnTo>
                  <a:pt x="774654" y="33828"/>
                </a:lnTo>
                <a:lnTo>
                  <a:pt x="737924" y="9074"/>
                </a:lnTo>
                <a:lnTo>
                  <a:pt x="69292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/>
          <p:nvPr/>
        </p:nvSpPr>
        <p:spPr>
          <a:xfrm>
            <a:off x="3902770" y="3211586"/>
            <a:ext cx="5149850" cy="693420"/>
          </a:xfrm>
          <a:custGeom>
            <a:avLst/>
            <a:gdLst/>
            <a:ahLst/>
            <a:cxnLst/>
            <a:rect l="l" t="t" r="r" b="b"/>
            <a:pathLst>
              <a:path w="5149850" h="693420">
                <a:moveTo>
                  <a:pt x="5014584" y="0"/>
                </a:moveTo>
                <a:lnTo>
                  <a:pt x="134874" y="0"/>
                </a:lnTo>
                <a:lnTo>
                  <a:pt x="82401" y="9074"/>
                </a:lnTo>
                <a:lnTo>
                  <a:pt x="39527" y="33828"/>
                </a:lnTo>
                <a:lnTo>
                  <a:pt x="10607" y="70562"/>
                </a:lnTo>
                <a:lnTo>
                  <a:pt x="0" y="115574"/>
                </a:lnTo>
                <a:lnTo>
                  <a:pt x="0" y="577727"/>
                </a:lnTo>
                <a:lnTo>
                  <a:pt x="10607" y="622676"/>
                </a:lnTo>
                <a:lnTo>
                  <a:pt x="39527" y="659412"/>
                </a:lnTo>
                <a:lnTo>
                  <a:pt x="82401" y="684196"/>
                </a:lnTo>
                <a:lnTo>
                  <a:pt x="134874" y="693288"/>
                </a:lnTo>
                <a:lnTo>
                  <a:pt x="5014584" y="693288"/>
                </a:lnTo>
                <a:lnTo>
                  <a:pt x="5067041" y="684196"/>
                </a:lnTo>
                <a:lnTo>
                  <a:pt x="5109873" y="659412"/>
                </a:lnTo>
                <a:lnTo>
                  <a:pt x="5138749" y="622676"/>
                </a:lnTo>
                <a:lnTo>
                  <a:pt x="5149337" y="577727"/>
                </a:lnTo>
                <a:lnTo>
                  <a:pt x="5149337" y="115574"/>
                </a:lnTo>
                <a:lnTo>
                  <a:pt x="5138749" y="70562"/>
                </a:lnTo>
                <a:lnTo>
                  <a:pt x="5109873" y="33828"/>
                </a:lnTo>
                <a:lnTo>
                  <a:pt x="5067041" y="9074"/>
                </a:lnTo>
                <a:lnTo>
                  <a:pt x="501458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6060122" y="3426342"/>
            <a:ext cx="119253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Decision</a:t>
            </a:r>
            <a:r>
              <a:rPr sz="15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Tree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3045770" y="3988064"/>
            <a:ext cx="808990" cy="693420"/>
          </a:xfrm>
          <a:custGeom>
            <a:avLst/>
            <a:gdLst/>
            <a:ahLst/>
            <a:cxnLst/>
            <a:rect l="l" t="t" r="r" b="b"/>
            <a:pathLst>
              <a:path w="808989" h="693420">
                <a:moveTo>
                  <a:pt x="692920" y="0"/>
                </a:moveTo>
                <a:lnTo>
                  <a:pt x="115574" y="0"/>
                </a:lnTo>
                <a:lnTo>
                  <a:pt x="70567" y="9074"/>
                </a:lnTo>
                <a:lnTo>
                  <a:pt x="33833" y="33828"/>
                </a:lnTo>
                <a:lnTo>
                  <a:pt x="9075" y="70562"/>
                </a:lnTo>
                <a:lnTo>
                  <a:pt x="0" y="115574"/>
                </a:lnTo>
                <a:lnTo>
                  <a:pt x="0" y="577739"/>
                </a:lnTo>
                <a:lnTo>
                  <a:pt x="9075" y="622723"/>
                </a:lnTo>
                <a:lnTo>
                  <a:pt x="33833" y="659455"/>
                </a:lnTo>
                <a:lnTo>
                  <a:pt x="70567" y="684220"/>
                </a:lnTo>
                <a:lnTo>
                  <a:pt x="115574" y="693301"/>
                </a:lnTo>
                <a:lnTo>
                  <a:pt x="692920" y="693301"/>
                </a:lnTo>
                <a:lnTo>
                  <a:pt x="737924" y="684220"/>
                </a:lnTo>
                <a:lnTo>
                  <a:pt x="774654" y="659455"/>
                </a:lnTo>
                <a:lnTo>
                  <a:pt x="799408" y="622723"/>
                </a:lnTo>
                <a:lnTo>
                  <a:pt x="808482" y="577739"/>
                </a:lnTo>
                <a:lnTo>
                  <a:pt x="808482" y="115574"/>
                </a:lnTo>
                <a:lnTo>
                  <a:pt x="799408" y="70562"/>
                </a:lnTo>
                <a:lnTo>
                  <a:pt x="774654" y="33828"/>
                </a:lnTo>
                <a:lnTo>
                  <a:pt x="737924" y="9074"/>
                </a:lnTo>
                <a:lnTo>
                  <a:pt x="69292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3902770" y="3988064"/>
            <a:ext cx="5149850" cy="693420"/>
          </a:xfrm>
          <a:custGeom>
            <a:avLst/>
            <a:gdLst/>
            <a:ahLst/>
            <a:cxnLst/>
            <a:rect l="l" t="t" r="r" b="b"/>
            <a:pathLst>
              <a:path w="5149850" h="693420">
                <a:moveTo>
                  <a:pt x="5014584" y="0"/>
                </a:moveTo>
                <a:lnTo>
                  <a:pt x="134874" y="0"/>
                </a:lnTo>
                <a:lnTo>
                  <a:pt x="82401" y="9074"/>
                </a:lnTo>
                <a:lnTo>
                  <a:pt x="39527" y="33828"/>
                </a:lnTo>
                <a:lnTo>
                  <a:pt x="10607" y="70562"/>
                </a:lnTo>
                <a:lnTo>
                  <a:pt x="0" y="115574"/>
                </a:lnTo>
                <a:lnTo>
                  <a:pt x="0" y="577727"/>
                </a:lnTo>
                <a:lnTo>
                  <a:pt x="10607" y="622718"/>
                </a:lnTo>
                <a:lnTo>
                  <a:pt x="39527" y="659454"/>
                </a:lnTo>
                <a:lnTo>
                  <a:pt x="82401" y="684220"/>
                </a:lnTo>
                <a:lnTo>
                  <a:pt x="134874" y="693301"/>
                </a:lnTo>
                <a:lnTo>
                  <a:pt x="5014584" y="693301"/>
                </a:lnTo>
                <a:lnTo>
                  <a:pt x="5067041" y="684220"/>
                </a:lnTo>
                <a:lnTo>
                  <a:pt x="5109873" y="659454"/>
                </a:lnTo>
                <a:lnTo>
                  <a:pt x="5138749" y="622718"/>
                </a:lnTo>
                <a:lnTo>
                  <a:pt x="5149337" y="577727"/>
                </a:lnTo>
                <a:lnTo>
                  <a:pt x="5149337" y="115574"/>
                </a:lnTo>
                <a:lnTo>
                  <a:pt x="5138749" y="70562"/>
                </a:lnTo>
                <a:lnTo>
                  <a:pt x="5109873" y="33828"/>
                </a:lnTo>
                <a:lnTo>
                  <a:pt x="5067041" y="9074"/>
                </a:lnTo>
                <a:lnTo>
                  <a:pt x="501458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 txBox="1"/>
          <p:nvPr/>
        </p:nvSpPr>
        <p:spPr>
          <a:xfrm>
            <a:off x="6374701" y="4204789"/>
            <a:ext cx="5613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1500" spc="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ap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3045770" y="4764567"/>
            <a:ext cx="808990" cy="693420"/>
          </a:xfrm>
          <a:custGeom>
            <a:avLst/>
            <a:gdLst/>
            <a:ahLst/>
            <a:cxnLst/>
            <a:rect l="l" t="t" r="r" b="b"/>
            <a:pathLst>
              <a:path w="808989" h="693420">
                <a:moveTo>
                  <a:pt x="692920" y="0"/>
                </a:moveTo>
                <a:lnTo>
                  <a:pt x="115574" y="0"/>
                </a:lnTo>
                <a:lnTo>
                  <a:pt x="70567" y="9084"/>
                </a:lnTo>
                <a:lnTo>
                  <a:pt x="33833" y="33856"/>
                </a:lnTo>
                <a:lnTo>
                  <a:pt x="9075" y="70597"/>
                </a:lnTo>
                <a:lnTo>
                  <a:pt x="0" y="115586"/>
                </a:lnTo>
                <a:lnTo>
                  <a:pt x="0" y="577751"/>
                </a:lnTo>
                <a:lnTo>
                  <a:pt x="9075" y="622737"/>
                </a:lnTo>
                <a:lnTo>
                  <a:pt x="33833" y="659474"/>
                </a:lnTo>
                <a:lnTo>
                  <a:pt x="70567" y="684242"/>
                </a:lnTo>
                <a:lnTo>
                  <a:pt x="115574" y="693325"/>
                </a:lnTo>
                <a:lnTo>
                  <a:pt x="692920" y="693325"/>
                </a:lnTo>
                <a:lnTo>
                  <a:pt x="737924" y="684242"/>
                </a:lnTo>
                <a:lnTo>
                  <a:pt x="774654" y="659474"/>
                </a:lnTo>
                <a:lnTo>
                  <a:pt x="799408" y="622737"/>
                </a:lnTo>
                <a:lnTo>
                  <a:pt x="808482" y="577751"/>
                </a:lnTo>
                <a:lnTo>
                  <a:pt x="808482" y="115586"/>
                </a:lnTo>
                <a:lnTo>
                  <a:pt x="799408" y="70597"/>
                </a:lnTo>
                <a:lnTo>
                  <a:pt x="774654" y="33856"/>
                </a:lnTo>
                <a:lnTo>
                  <a:pt x="737924" y="9084"/>
                </a:lnTo>
                <a:lnTo>
                  <a:pt x="69292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/>
          <p:nvPr/>
        </p:nvSpPr>
        <p:spPr>
          <a:xfrm>
            <a:off x="3902770" y="4764567"/>
            <a:ext cx="5149850" cy="693420"/>
          </a:xfrm>
          <a:custGeom>
            <a:avLst/>
            <a:gdLst/>
            <a:ahLst/>
            <a:cxnLst/>
            <a:rect l="l" t="t" r="r" b="b"/>
            <a:pathLst>
              <a:path w="5149850" h="693420">
                <a:moveTo>
                  <a:pt x="5014584" y="0"/>
                </a:moveTo>
                <a:lnTo>
                  <a:pt x="134874" y="0"/>
                </a:lnTo>
                <a:lnTo>
                  <a:pt x="82401" y="9084"/>
                </a:lnTo>
                <a:lnTo>
                  <a:pt x="39527" y="33856"/>
                </a:lnTo>
                <a:lnTo>
                  <a:pt x="10607" y="70597"/>
                </a:lnTo>
                <a:lnTo>
                  <a:pt x="0" y="115586"/>
                </a:lnTo>
                <a:lnTo>
                  <a:pt x="0" y="577751"/>
                </a:lnTo>
                <a:lnTo>
                  <a:pt x="10607" y="622737"/>
                </a:lnTo>
                <a:lnTo>
                  <a:pt x="39527" y="659474"/>
                </a:lnTo>
                <a:lnTo>
                  <a:pt x="82401" y="684242"/>
                </a:lnTo>
                <a:lnTo>
                  <a:pt x="134874" y="693325"/>
                </a:lnTo>
                <a:lnTo>
                  <a:pt x="5014584" y="693325"/>
                </a:lnTo>
                <a:lnTo>
                  <a:pt x="5067041" y="684242"/>
                </a:lnTo>
                <a:lnTo>
                  <a:pt x="5109873" y="659474"/>
                </a:lnTo>
                <a:lnTo>
                  <a:pt x="5138749" y="622737"/>
                </a:lnTo>
                <a:lnTo>
                  <a:pt x="5149337" y="577751"/>
                </a:lnTo>
                <a:lnTo>
                  <a:pt x="5149337" y="115586"/>
                </a:lnTo>
                <a:lnTo>
                  <a:pt x="5138749" y="70597"/>
                </a:lnTo>
                <a:lnTo>
                  <a:pt x="5109873" y="33856"/>
                </a:lnTo>
                <a:lnTo>
                  <a:pt x="5067041" y="9084"/>
                </a:lnTo>
                <a:lnTo>
                  <a:pt x="501458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 txBox="1"/>
          <p:nvPr/>
        </p:nvSpPr>
        <p:spPr>
          <a:xfrm>
            <a:off x="6403276" y="4982732"/>
            <a:ext cx="503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00" spc="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ee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3181786" y="2587557"/>
            <a:ext cx="571500" cy="323215"/>
          </a:xfrm>
          <a:custGeom>
            <a:avLst/>
            <a:gdLst/>
            <a:ahLst/>
            <a:cxnLst/>
            <a:rect l="l" t="t" r="r" b="b"/>
            <a:pathLst>
              <a:path w="571500" h="323214">
                <a:moveTo>
                  <a:pt x="0" y="323170"/>
                </a:moveTo>
                <a:lnTo>
                  <a:pt x="571487" y="323170"/>
                </a:lnTo>
                <a:lnTo>
                  <a:pt x="571487" y="0"/>
                </a:lnTo>
                <a:lnTo>
                  <a:pt x="0" y="0"/>
                </a:lnTo>
                <a:lnTo>
                  <a:pt x="0" y="32317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 txBox="1"/>
          <p:nvPr/>
        </p:nvSpPr>
        <p:spPr>
          <a:xfrm>
            <a:off x="3396549" y="2614747"/>
            <a:ext cx="16383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3180263" y="3380680"/>
            <a:ext cx="571500" cy="323215"/>
          </a:xfrm>
          <a:custGeom>
            <a:avLst/>
            <a:gdLst/>
            <a:ahLst/>
            <a:cxnLst/>
            <a:rect l="l" t="t" r="r" b="b"/>
            <a:pathLst>
              <a:path w="571500" h="323214">
                <a:moveTo>
                  <a:pt x="0" y="323158"/>
                </a:moveTo>
                <a:lnTo>
                  <a:pt x="571487" y="323158"/>
                </a:lnTo>
                <a:lnTo>
                  <a:pt x="571487" y="0"/>
                </a:lnTo>
                <a:lnTo>
                  <a:pt x="0" y="0"/>
                </a:lnTo>
                <a:lnTo>
                  <a:pt x="0" y="32315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/>
          <p:cNvSpPr txBox="1"/>
          <p:nvPr/>
        </p:nvSpPr>
        <p:spPr>
          <a:xfrm>
            <a:off x="3385500" y="3409133"/>
            <a:ext cx="16383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3180263" y="4126678"/>
            <a:ext cx="571500" cy="323215"/>
          </a:xfrm>
          <a:custGeom>
            <a:avLst/>
            <a:gdLst/>
            <a:ahLst/>
            <a:cxnLst/>
            <a:rect l="l" t="t" r="r" b="b"/>
            <a:pathLst>
              <a:path w="571500" h="323214">
                <a:moveTo>
                  <a:pt x="0" y="323158"/>
                </a:moveTo>
                <a:lnTo>
                  <a:pt x="571487" y="323158"/>
                </a:lnTo>
                <a:lnTo>
                  <a:pt x="571487" y="0"/>
                </a:lnTo>
                <a:lnTo>
                  <a:pt x="0" y="0"/>
                </a:lnTo>
                <a:lnTo>
                  <a:pt x="0" y="32315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/>
          <p:cNvSpPr txBox="1"/>
          <p:nvPr/>
        </p:nvSpPr>
        <p:spPr>
          <a:xfrm>
            <a:off x="3385500" y="4156656"/>
            <a:ext cx="16383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3180263" y="4973772"/>
            <a:ext cx="571500" cy="323215"/>
          </a:xfrm>
          <a:custGeom>
            <a:avLst/>
            <a:gdLst/>
            <a:ahLst/>
            <a:cxnLst/>
            <a:rect l="l" t="t" r="r" b="b"/>
            <a:pathLst>
              <a:path w="571500" h="323214">
                <a:moveTo>
                  <a:pt x="0" y="323170"/>
                </a:moveTo>
                <a:lnTo>
                  <a:pt x="571487" y="323170"/>
                </a:lnTo>
                <a:lnTo>
                  <a:pt x="571487" y="0"/>
                </a:lnTo>
                <a:lnTo>
                  <a:pt x="0" y="0"/>
                </a:lnTo>
                <a:lnTo>
                  <a:pt x="0" y="32317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/>
          <p:cNvSpPr txBox="1"/>
          <p:nvPr/>
        </p:nvSpPr>
        <p:spPr>
          <a:xfrm>
            <a:off x="3385500" y="5005271"/>
            <a:ext cx="16383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316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95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4975065" y="736661"/>
            <a:ext cx="2312171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950" spc="-30" dirty="0">
                <a:solidFill>
                  <a:srgbClr val="7F7F7F"/>
                </a:solidFill>
                <a:latin typeface="Arial"/>
                <a:cs typeface="Arial"/>
              </a:rPr>
              <a:t>Answer</a:t>
            </a:r>
            <a:r>
              <a:rPr lang="en-US" sz="3950" spc="28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US" sz="3950" spc="15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lang="en-US" sz="3950" dirty="0"/>
          </a:p>
        </p:txBody>
      </p:sp>
      <p:sp>
        <p:nvSpPr>
          <p:cNvPr id="4" name="object 5"/>
          <p:cNvSpPr/>
          <p:nvPr/>
        </p:nvSpPr>
        <p:spPr>
          <a:xfrm>
            <a:off x="2318339" y="1616858"/>
            <a:ext cx="6768236" cy="693420"/>
          </a:xfrm>
          <a:custGeom>
            <a:avLst/>
            <a:gdLst/>
            <a:ahLst/>
            <a:cxnLst/>
            <a:rect l="l" t="t" r="r" b="b"/>
            <a:pathLst>
              <a:path w="6006465" h="693419">
                <a:moveTo>
                  <a:pt x="5925443" y="0"/>
                </a:moveTo>
                <a:lnTo>
                  <a:pt x="80772" y="0"/>
                </a:lnTo>
                <a:lnTo>
                  <a:pt x="49345" y="5455"/>
                </a:lnTo>
                <a:lnTo>
                  <a:pt x="23669" y="20326"/>
                </a:lnTo>
                <a:lnTo>
                  <a:pt x="6351" y="42369"/>
                </a:lnTo>
                <a:lnTo>
                  <a:pt x="0" y="69342"/>
                </a:lnTo>
                <a:lnTo>
                  <a:pt x="0" y="624078"/>
                </a:lnTo>
                <a:lnTo>
                  <a:pt x="6351" y="651037"/>
                </a:lnTo>
                <a:lnTo>
                  <a:pt x="23669" y="673082"/>
                </a:lnTo>
                <a:lnTo>
                  <a:pt x="49345" y="687960"/>
                </a:lnTo>
                <a:lnTo>
                  <a:pt x="80772" y="693420"/>
                </a:lnTo>
                <a:lnTo>
                  <a:pt x="5925443" y="693420"/>
                </a:lnTo>
                <a:lnTo>
                  <a:pt x="5956946" y="687960"/>
                </a:lnTo>
                <a:lnTo>
                  <a:pt x="5982658" y="673082"/>
                </a:lnTo>
                <a:lnTo>
                  <a:pt x="5999985" y="651037"/>
                </a:lnTo>
                <a:lnTo>
                  <a:pt x="6006337" y="624078"/>
                </a:lnTo>
                <a:lnTo>
                  <a:pt x="6006337" y="69342"/>
                </a:lnTo>
                <a:lnTo>
                  <a:pt x="5999985" y="42369"/>
                </a:lnTo>
                <a:lnTo>
                  <a:pt x="5982658" y="20326"/>
                </a:lnTo>
                <a:lnTo>
                  <a:pt x="5956946" y="5455"/>
                </a:lnTo>
                <a:lnTo>
                  <a:pt x="592544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 txBox="1"/>
          <p:nvPr/>
        </p:nvSpPr>
        <p:spPr>
          <a:xfrm>
            <a:off x="2441349" y="1600399"/>
            <a:ext cx="6527814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  <a:tabLst>
                <a:tab pos="1181100" algn="l"/>
              </a:tabLst>
            </a:pP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Arial"/>
                <a:cs typeface="Arial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decision support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tool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uses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tree-like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graph </a:t>
            </a:r>
            <a:r>
              <a:rPr sz="1500" spc="-5" dirty="0">
                <a:solidFill>
                  <a:srgbClr val="FFFFFF"/>
                </a:solidFill>
                <a:latin typeface="Arial"/>
                <a:cs typeface="Arial"/>
              </a:rPr>
              <a:t>or  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model </a:t>
            </a:r>
            <a:r>
              <a:rPr sz="1500" spc="-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decisions </a:t>
            </a: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possible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consequences, </a:t>
            </a: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including  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chance </a:t>
            </a: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event 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outcomes,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resource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costs, </a:t>
            </a: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utility.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2647925" y="2434972"/>
            <a:ext cx="911591" cy="693420"/>
          </a:xfrm>
          <a:custGeom>
            <a:avLst/>
            <a:gdLst/>
            <a:ahLst/>
            <a:cxnLst/>
            <a:rect l="l" t="t" r="r" b="b"/>
            <a:pathLst>
              <a:path w="808989" h="693419">
                <a:moveTo>
                  <a:pt x="692920" y="0"/>
                </a:moveTo>
                <a:lnTo>
                  <a:pt x="115574" y="0"/>
                </a:lnTo>
                <a:lnTo>
                  <a:pt x="70567" y="9092"/>
                </a:lnTo>
                <a:lnTo>
                  <a:pt x="33833" y="33878"/>
                </a:lnTo>
                <a:lnTo>
                  <a:pt x="9075" y="70620"/>
                </a:lnTo>
                <a:lnTo>
                  <a:pt x="0" y="115580"/>
                </a:lnTo>
                <a:lnTo>
                  <a:pt x="0" y="577733"/>
                </a:lnTo>
                <a:lnTo>
                  <a:pt x="9075" y="622739"/>
                </a:lnTo>
                <a:lnTo>
                  <a:pt x="33833" y="659474"/>
                </a:lnTo>
                <a:lnTo>
                  <a:pt x="70567" y="684231"/>
                </a:lnTo>
                <a:lnTo>
                  <a:pt x="115574" y="693307"/>
                </a:lnTo>
                <a:lnTo>
                  <a:pt x="692920" y="693307"/>
                </a:lnTo>
                <a:lnTo>
                  <a:pt x="737924" y="684231"/>
                </a:lnTo>
                <a:lnTo>
                  <a:pt x="774654" y="659474"/>
                </a:lnTo>
                <a:lnTo>
                  <a:pt x="799408" y="622739"/>
                </a:lnTo>
                <a:lnTo>
                  <a:pt x="808482" y="577733"/>
                </a:lnTo>
                <a:lnTo>
                  <a:pt x="808482" y="115580"/>
                </a:lnTo>
                <a:lnTo>
                  <a:pt x="799408" y="70620"/>
                </a:lnTo>
                <a:lnTo>
                  <a:pt x="774654" y="33878"/>
                </a:lnTo>
                <a:lnTo>
                  <a:pt x="737924" y="9092"/>
                </a:lnTo>
                <a:lnTo>
                  <a:pt x="69292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/>
          <p:nvPr/>
        </p:nvSpPr>
        <p:spPr>
          <a:xfrm>
            <a:off x="3229660" y="2434972"/>
            <a:ext cx="5802980" cy="693420"/>
          </a:xfrm>
          <a:custGeom>
            <a:avLst/>
            <a:gdLst/>
            <a:ahLst/>
            <a:cxnLst/>
            <a:rect l="l" t="t" r="r" b="b"/>
            <a:pathLst>
              <a:path w="5149850" h="693419">
                <a:moveTo>
                  <a:pt x="5014584" y="0"/>
                </a:moveTo>
                <a:lnTo>
                  <a:pt x="134874" y="0"/>
                </a:lnTo>
                <a:lnTo>
                  <a:pt x="82401" y="9092"/>
                </a:lnTo>
                <a:lnTo>
                  <a:pt x="39527" y="33878"/>
                </a:lnTo>
                <a:lnTo>
                  <a:pt x="10607" y="70620"/>
                </a:lnTo>
                <a:lnTo>
                  <a:pt x="0" y="115580"/>
                </a:lnTo>
                <a:lnTo>
                  <a:pt x="0" y="577733"/>
                </a:lnTo>
                <a:lnTo>
                  <a:pt x="10607" y="622739"/>
                </a:lnTo>
                <a:lnTo>
                  <a:pt x="39527" y="659474"/>
                </a:lnTo>
                <a:lnTo>
                  <a:pt x="82401" y="684231"/>
                </a:lnTo>
                <a:lnTo>
                  <a:pt x="134874" y="693307"/>
                </a:lnTo>
                <a:lnTo>
                  <a:pt x="5014584" y="693307"/>
                </a:lnTo>
                <a:lnTo>
                  <a:pt x="5067041" y="684231"/>
                </a:lnTo>
                <a:lnTo>
                  <a:pt x="5109873" y="659474"/>
                </a:lnTo>
                <a:lnTo>
                  <a:pt x="5138749" y="622739"/>
                </a:lnTo>
                <a:lnTo>
                  <a:pt x="5149337" y="577733"/>
                </a:lnTo>
                <a:lnTo>
                  <a:pt x="5149337" y="115580"/>
                </a:lnTo>
                <a:lnTo>
                  <a:pt x="5138749" y="70620"/>
                </a:lnTo>
                <a:lnTo>
                  <a:pt x="5109873" y="33878"/>
                </a:lnTo>
                <a:lnTo>
                  <a:pt x="5067041" y="9092"/>
                </a:lnTo>
                <a:lnTo>
                  <a:pt x="501458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 txBox="1"/>
          <p:nvPr/>
        </p:nvSpPr>
        <p:spPr>
          <a:xfrm>
            <a:off x="5498127" y="2648785"/>
            <a:ext cx="1621398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5" dirty="0">
                <a:solidFill>
                  <a:srgbClr val="FFFFFF"/>
                </a:solidFill>
                <a:latin typeface="Arial"/>
                <a:cs typeface="Arial"/>
              </a:rPr>
              <a:t>Neural</a:t>
            </a:r>
            <a:r>
              <a:rPr sz="1500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Arial"/>
                <a:cs typeface="Arial"/>
              </a:rPr>
              <a:t>Networks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10"/>
          <p:cNvSpPr/>
          <p:nvPr/>
        </p:nvSpPr>
        <p:spPr>
          <a:xfrm>
            <a:off x="2647925" y="3211587"/>
            <a:ext cx="911591" cy="693420"/>
          </a:xfrm>
          <a:custGeom>
            <a:avLst/>
            <a:gdLst/>
            <a:ahLst/>
            <a:cxnLst/>
            <a:rect l="l" t="t" r="r" b="b"/>
            <a:pathLst>
              <a:path w="808989" h="693420">
                <a:moveTo>
                  <a:pt x="692920" y="0"/>
                </a:moveTo>
                <a:lnTo>
                  <a:pt x="115574" y="0"/>
                </a:lnTo>
                <a:lnTo>
                  <a:pt x="70567" y="9074"/>
                </a:lnTo>
                <a:lnTo>
                  <a:pt x="33833" y="33828"/>
                </a:lnTo>
                <a:lnTo>
                  <a:pt x="9075" y="70562"/>
                </a:lnTo>
                <a:lnTo>
                  <a:pt x="0" y="115574"/>
                </a:lnTo>
                <a:lnTo>
                  <a:pt x="0" y="577727"/>
                </a:lnTo>
                <a:lnTo>
                  <a:pt x="9075" y="622676"/>
                </a:lnTo>
                <a:lnTo>
                  <a:pt x="33833" y="659412"/>
                </a:lnTo>
                <a:lnTo>
                  <a:pt x="70567" y="684196"/>
                </a:lnTo>
                <a:lnTo>
                  <a:pt x="115574" y="693288"/>
                </a:lnTo>
                <a:lnTo>
                  <a:pt x="692920" y="693288"/>
                </a:lnTo>
                <a:lnTo>
                  <a:pt x="737924" y="684196"/>
                </a:lnTo>
                <a:lnTo>
                  <a:pt x="774654" y="659412"/>
                </a:lnTo>
                <a:lnTo>
                  <a:pt x="799408" y="622676"/>
                </a:lnTo>
                <a:lnTo>
                  <a:pt x="808482" y="577727"/>
                </a:lnTo>
                <a:lnTo>
                  <a:pt x="808482" y="115574"/>
                </a:lnTo>
                <a:lnTo>
                  <a:pt x="799408" y="70562"/>
                </a:lnTo>
                <a:lnTo>
                  <a:pt x="774654" y="33828"/>
                </a:lnTo>
                <a:lnTo>
                  <a:pt x="737924" y="9074"/>
                </a:lnTo>
                <a:lnTo>
                  <a:pt x="692920" y="0"/>
                </a:lnTo>
                <a:close/>
              </a:path>
            </a:pathLst>
          </a:custGeom>
          <a:solidFill>
            <a:srgbClr val="F9B1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/>
          <p:nvPr/>
        </p:nvSpPr>
        <p:spPr>
          <a:xfrm>
            <a:off x="3229660" y="3211587"/>
            <a:ext cx="5802980" cy="693420"/>
          </a:xfrm>
          <a:custGeom>
            <a:avLst/>
            <a:gdLst/>
            <a:ahLst/>
            <a:cxnLst/>
            <a:rect l="l" t="t" r="r" b="b"/>
            <a:pathLst>
              <a:path w="5149850" h="693420">
                <a:moveTo>
                  <a:pt x="5014584" y="0"/>
                </a:moveTo>
                <a:lnTo>
                  <a:pt x="134874" y="0"/>
                </a:lnTo>
                <a:lnTo>
                  <a:pt x="82401" y="9074"/>
                </a:lnTo>
                <a:lnTo>
                  <a:pt x="39527" y="33828"/>
                </a:lnTo>
                <a:lnTo>
                  <a:pt x="10607" y="70562"/>
                </a:lnTo>
                <a:lnTo>
                  <a:pt x="0" y="115574"/>
                </a:lnTo>
                <a:lnTo>
                  <a:pt x="0" y="577727"/>
                </a:lnTo>
                <a:lnTo>
                  <a:pt x="10607" y="622676"/>
                </a:lnTo>
                <a:lnTo>
                  <a:pt x="39527" y="659412"/>
                </a:lnTo>
                <a:lnTo>
                  <a:pt x="82401" y="684196"/>
                </a:lnTo>
                <a:lnTo>
                  <a:pt x="134874" y="693288"/>
                </a:lnTo>
                <a:lnTo>
                  <a:pt x="5014584" y="693288"/>
                </a:lnTo>
                <a:lnTo>
                  <a:pt x="5067041" y="684196"/>
                </a:lnTo>
                <a:lnTo>
                  <a:pt x="5109873" y="659412"/>
                </a:lnTo>
                <a:lnTo>
                  <a:pt x="5138749" y="622676"/>
                </a:lnTo>
                <a:lnTo>
                  <a:pt x="5149337" y="577727"/>
                </a:lnTo>
                <a:lnTo>
                  <a:pt x="5149337" y="115574"/>
                </a:lnTo>
                <a:lnTo>
                  <a:pt x="5138749" y="70562"/>
                </a:lnTo>
                <a:lnTo>
                  <a:pt x="5109873" y="33828"/>
                </a:lnTo>
                <a:lnTo>
                  <a:pt x="5067041" y="9074"/>
                </a:lnTo>
                <a:lnTo>
                  <a:pt x="5014584" y="0"/>
                </a:lnTo>
                <a:close/>
              </a:path>
            </a:pathLst>
          </a:custGeom>
          <a:solidFill>
            <a:srgbClr val="F9B1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5637955" y="3426343"/>
            <a:ext cx="134377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Decision</a:t>
            </a:r>
            <a:r>
              <a:rPr sz="15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"/>
                <a:cs typeface="Arial"/>
              </a:rPr>
              <a:t>Tree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647925" y="3988065"/>
            <a:ext cx="911591" cy="693420"/>
          </a:xfrm>
          <a:custGeom>
            <a:avLst/>
            <a:gdLst/>
            <a:ahLst/>
            <a:cxnLst/>
            <a:rect l="l" t="t" r="r" b="b"/>
            <a:pathLst>
              <a:path w="808989" h="693420">
                <a:moveTo>
                  <a:pt x="692920" y="0"/>
                </a:moveTo>
                <a:lnTo>
                  <a:pt x="115574" y="0"/>
                </a:lnTo>
                <a:lnTo>
                  <a:pt x="70567" y="9074"/>
                </a:lnTo>
                <a:lnTo>
                  <a:pt x="33833" y="33828"/>
                </a:lnTo>
                <a:lnTo>
                  <a:pt x="9075" y="70562"/>
                </a:lnTo>
                <a:lnTo>
                  <a:pt x="0" y="115574"/>
                </a:lnTo>
                <a:lnTo>
                  <a:pt x="0" y="577739"/>
                </a:lnTo>
                <a:lnTo>
                  <a:pt x="9075" y="622723"/>
                </a:lnTo>
                <a:lnTo>
                  <a:pt x="33833" y="659455"/>
                </a:lnTo>
                <a:lnTo>
                  <a:pt x="70567" y="684220"/>
                </a:lnTo>
                <a:lnTo>
                  <a:pt x="115574" y="693301"/>
                </a:lnTo>
                <a:lnTo>
                  <a:pt x="692920" y="693301"/>
                </a:lnTo>
                <a:lnTo>
                  <a:pt x="737924" y="684220"/>
                </a:lnTo>
                <a:lnTo>
                  <a:pt x="774654" y="659455"/>
                </a:lnTo>
                <a:lnTo>
                  <a:pt x="799408" y="622723"/>
                </a:lnTo>
                <a:lnTo>
                  <a:pt x="808482" y="577739"/>
                </a:lnTo>
                <a:lnTo>
                  <a:pt x="808482" y="115574"/>
                </a:lnTo>
                <a:lnTo>
                  <a:pt x="799408" y="70562"/>
                </a:lnTo>
                <a:lnTo>
                  <a:pt x="774654" y="33828"/>
                </a:lnTo>
                <a:lnTo>
                  <a:pt x="737924" y="9074"/>
                </a:lnTo>
                <a:lnTo>
                  <a:pt x="69292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3229660" y="3988065"/>
            <a:ext cx="5802980" cy="693420"/>
          </a:xfrm>
          <a:custGeom>
            <a:avLst/>
            <a:gdLst/>
            <a:ahLst/>
            <a:cxnLst/>
            <a:rect l="l" t="t" r="r" b="b"/>
            <a:pathLst>
              <a:path w="5149850" h="693420">
                <a:moveTo>
                  <a:pt x="5014584" y="0"/>
                </a:moveTo>
                <a:lnTo>
                  <a:pt x="134874" y="0"/>
                </a:lnTo>
                <a:lnTo>
                  <a:pt x="82401" y="9074"/>
                </a:lnTo>
                <a:lnTo>
                  <a:pt x="39527" y="33828"/>
                </a:lnTo>
                <a:lnTo>
                  <a:pt x="10607" y="70562"/>
                </a:lnTo>
                <a:lnTo>
                  <a:pt x="0" y="115574"/>
                </a:lnTo>
                <a:lnTo>
                  <a:pt x="0" y="577727"/>
                </a:lnTo>
                <a:lnTo>
                  <a:pt x="10607" y="622718"/>
                </a:lnTo>
                <a:lnTo>
                  <a:pt x="39527" y="659454"/>
                </a:lnTo>
                <a:lnTo>
                  <a:pt x="82401" y="684220"/>
                </a:lnTo>
                <a:lnTo>
                  <a:pt x="134874" y="693301"/>
                </a:lnTo>
                <a:lnTo>
                  <a:pt x="5014584" y="693301"/>
                </a:lnTo>
                <a:lnTo>
                  <a:pt x="5067041" y="684220"/>
                </a:lnTo>
                <a:lnTo>
                  <a:pt x="5109873" y="659454"/>
                </a:lnTo>
                <a:lnTo>
                  <a:pt x="5138749" y="622718"/>
                </a:lnTo>
                <a:lnTo>
                  <a:pt x="5149337" y="577727"/>
                </a:lnTo>
                <a:lnTo>
                  <a:pt x="5149337" y="115574"/>
                </a:lnTo>
                <a:lnTo>
                  <a:pt x="5138749" y="70562"/>
                </a:lnTo>
                <a:lnTo>
                  <a:pt x="5109873" y="33828"/>
                </a:lnTo>
                <a:lnTo>
                  <a:pt x="5067041" y="9074"/>
                </a:lnTo>
                <a:lnTo>
                  <a:pt x="501458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 txBox="1"/>
          <p:nvPr/>
        </p:nvSpPr>
        <p:spPr>
          <a:xfrm>
            <a:off x="5992560" y="4204790"/>
            <a:ext cx="632532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1500" spc="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ap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2647925" y="4764568"/>
            <a:ext cx="911591" cy="693420"/>
          </a:xfrm>
          <a:custGeom>
            <a:avLst/>
            <a:gdLst/>
            <a:ahLst/>
            <a:cxnLst/>
            <a:rect l="l" t="t" r="r" b="b"/>
            <a:pathLst>
              <a:path w="808989" h="693420">
                <a:moveTo>
                  <a:pt x="692920" y="0"/>
                </a:moveTo>
                <a:lnTo>
                  <a:pt x="115574" y="0"/>
                </a:lnTo>
                <a:lnTo>
                  <a:pt x="70567" y="9084"/>
                </a:lnTo>
                <a:lnTo>
                  <a:pt x="33833" y="33856"/>
                </a:lnTo>
                <a:lnTo>
                  <a:pt x="9075" y="70597"/>
                </a:lnTo>
                <a:lnTo>
                  <a:pt x="0" y="115586"/>
                </a:lnTo>
                <a:lnTo>
                  <a:pt x="0" y="577751"/>
                </a:lnTo>
                <a:lnTo>
                  <a:pt x="9075" y="622737"/>
                </a:lnTo>
                <a:lnTo>
                  <a:pt x="33833" y="659474"/>
                </a:lnTo>
                <a:lnTo>
                  <a:pt x="70567" y="684242"/>
                </a:lnTo>
                <a:lnTo>
                  <a:pt x="115574" y="693325"/>
                </a:lnTo>
                <a:lnTo>
                  <a:pt x="692920" y="693325"/>
                </a:lnTo>
                <a:lnTo>
                  <a:pt x="737924" y="684242"/>
                </a:lnTo>
                <a:lnTo>
                  <a:pt x="774654" y="659474"/>
                </a:lnTo>
                <a:lnTo>
                  <a:pt x="799408" y="622737"/>
                </a:lnTo>
                <a:lnTo>
                  <a:pt x="808482" y="577751"/>
                </a:lnTo>
                <a:lnTo>
                  <a:pt x="808482" y="115586"/>
                </a:lnTo>
                <a:lnTo>
                  <a:pt x="799408" y="70597"/>
                </a:lnTo>
                <a:lnTo>
                  <a:pt x="774654" y="33856"/>
                </a:lnTo>
                <a:lnTo>
                  <a:pt x="737924" y="9084"/>
                </a:lnTo>
                <a:lnTo>
                  <a:pt x="69292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/>
          <p:nvPr/>
        </p:nvSpPr>
        <p:spPr>
          <a:xfrm>
            <a:off x="3229660" y="4764568"/>
            <a:ext cx="5802980" cy="693420"/>
          </a:xfrm>
          <a:custGeom>
            <a:avLst/>
            <a:gdLst/>
            <a:ahLst/>
            <a:cxnLst/>
            <a:rect l="l" t="t" r="r" b="b"/>
            <a:pathLst>
              <a:path w="5149850" h="693420">
                <a:moveTo>
                  <a:pt x="5014584" y="0"/>
                </a:moveTo>
                <a:lnTo>
                  <a:pt x="134874" y="0"/>
                </a:lnTo>
                <a:lnTo>
                  <a:pt x="82401" y="9084"/>
                </a:lnTo>
                <a:lnTo>
                  <a:pt x="39527" y="33856"/>
                </a:lnTo>
                <a:lnTo>
                  <a:pt x="10607" y="70597"/>
                </a:lnTo>
                <a:lnTo>
                  <a:pt x="0" y="115586"/>
                </a:lnTo>
                <a:lnTo>
                  <a:pt x="0" y="577751"/>
                </a:lnTo>
                <a:lnTo>
                  <a:pt x="10607" y="622737"/>
                </a:lnTo>
                <a:lnTo>
                  <a:pt x="39527" y="659474"/>
                </a:lnTo>
                <a:lnTo>
                  <a:pt x="82401" y="684242"/>
                </a:lnTo>
                <a:lnTo>
                  <a:pt x="134874" y="693325"/>
                </a:lnTo>
                <a:lnTo>
                  <a:pt x="5014584" y="693325"/>
                </a:lnTo>
                <a:lnTo>
                  <a:pt x="5067041" y="684242"/>
                </a:lnTo>
                <a:lnTo>
                  <a:pt x="5109873" y="659474"/>
                </a:lnTo>
                <a:lnTo>
                  <a:pt x="5138749" y="622737"/>
                </a:lnTo>
                <a:lnTo>
                  <a:pt x="5149337" y="577751"/>
                </a:lnTo>
                <a:lnTo>
                  <a:pt x="5149337" y="115586"/>
                </a:lnTo>
                <a:lnTo>
                  <a:pt x="5138749" y="70597"/>
                </a:lnTo>
                <a:lnTo>
                  <a:pt x="5109873" y="33856"/>
                </a:lnTo>
                <a:lnTo>
                  <a:pt x="5067041" y="9084"/>
                </a:lnTo>
                <a:lnTo>
                  <a:pt x="501458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 txBox="1"/>
          <p:nvPr/>
        </p:nvSpPr>
        <p:spPr>
          <a:xfrm>
            <a:off x="6024799" y="4982733"/>
            <a:ext cx="567418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00" spc="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ee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2799001" y="2587558"/>
            <a:ext cx="643981" cy="323215"/>
          </a:xfrm>
          <a:custGeom>
            <a:avLst/>
            <a:gdLst/>
            <a:ahLst/>
            <a:cxnLst/>
            <a:rect l="l" t="t" r="r" b="b"/>
            <a:pathLst>
              <a:path w="571500" h="323214">
                <a:moveTo>
                  <a:pt x="0" y="323170"/>
                </a:moveTo>
                <a:lnTo>
                  <a:pt x="571487" y="323170"/>
                </a:lnTo>
                <a:lnTo>
                  <a:pt x="571487" y="0"/>
                </a:lnTo>
                <a:lnTo>
                  <a:pt x="0" y="0"/>
                </a:lnTo>
                <a:lnTo>
                  <a:pt x="0" y="32317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 txBox="1"/>
          <p:nvPr/>
        </p:nvSpPr>
        <p:spPr>
          <a:xfrm>
            <a:off x="3039615" y="2614748"/>
            <a:ext cx="184608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2797478" y="3380681"/>
            <a:ext cx="643981" cy="323215"/>
          </a:xfrm>
          <a:custGeom>
            <a:avLst/>
            <a:gdLst/>
            <a:ahLst/>
            <a:cxnLst/>
            <a:rect l="l" t="t" r="r" b="b"/>
            <a:pathLst>
              <a:path w="571500" h="323214">
                <a:moveTo>
                  <a:pt x="0" y="323158"/>
                </a:moveTo>
                <a:lnTo>
                  <a:pt x="571487" y="323158"/>
                </a:lnTo>
                <a:lnTo>
                  <a:pt x="571487" y="0"/>
                </a:lnTo>
                <a:lnTo>
                  <a:pt x="0" y="0"/>
                </a:lnTo>
                <a:lnTo>
                  <a:pt x="0" y="323158"/>
                </a:lnTo>
                <a:close/>
              </a:path>
            </a:pathLst>
          </a:custGeom>
          <a:solidFill>
            <a:srgbClr val="F9B1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/>
          <p:cNvSpPr txBox="1"/>
          <p:nvPr/>
        </p:nvSpPr>
        <p:spPr>
          <a:xfrm>
            <a:off x="3028566" y="3409134"/>
            <a:ext cx="184608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2797478" y="4126679"/>
            <a:ext cx="643981" cy="323215"/>
          </a:xfrm>
          <a:custGeom>
            <a:avLst/>
            <a:gdLst/>
            <a:ahLst/>
            <a:cxnLst/>
            <a:rect l="l" t="t" r="r" b="b"/>
            <a:pathLst>
              <a:path w="571500" h="323214">
                <a:moveTo>
                  <a:pt x="0" y="323158"/>
                </a:moveTo>
                <a:lnTo>
                  <a:pt x="571487" y="323158"/>
                </a:lnTo>
                <a:lnTo>
                  <a:pt x="571487" y="0"/>
                </a:lnTo>
                <a:lnTo>
                  <a:pt x="0" y="0"/>
                </a:lnTo>
                <a:lnTo>
                  <a:pt x="0" y="323158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/>
          <p:cNvSpPr txBox="1"/>
          <p:nvPr/>
        </p:nvSpPr>
        <p:spPr>
          <a:xfrm>
            <a:off x="3028566" y="4156657"/>
            <a:ext cx="184608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2797478" y="4973773"/>
            <a:ext cx="643981" cy="323215"/>
          </a:xfrm>
          <a:custGeom>
            <a:avLst/>
            <a:gdLst/>
            <a:ahLst/>
            <a:cxnLst/>
            <a:rect l="l" t="t" r="r" b="b"/>
            <a:pathLst>
              <a:path w="571500" h="323214">
                <a:moveTo>
                  <a:pt x="0" y="323170"/>
                </a:moveTo>
                <a:lnTo>
                  <a:pt x="571487" y="323170"/>
                </a:lnTo>
                <a:lnTo>
                  <a:pt x="571487" y="0"/>
                </a:lnTo>
                <a:lnTo>
                  <a:pt x="0" y="0"/>
                </a:lnTo>
                <a:lnTo>
                  <a:pt x="0" y="32317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/>
          <p:cNvSpPr txBox="1"/>
          <p:nvPr/>
        </p:nvSpPr>
        <p:spPr>
          <a:xfrm>
            <a:off x="3028566" y="5005272"/>
            <a:ext cx="184608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281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96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5171159" y="861352"/>
            <a:ext cx="1650452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950" spc="-35" dirty="0">
                <a:solidFill>
                  <a:srgbClr val="7F7F7F"/>
                </a:solidFill>
                <a:latin typeface="Arial"/>
                <a:cs typeface="Arial"/>
              </a:rPr>
              <a:t>Quiz</a:t>
            </a:r>
            <a:r>
              <a:rPr lang="en-US" sz="3950" spc="13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US" sz="3950" spc="15" dirty="0">
                <a:solidFill>
                  <a:srgbClr val="7F7F7F"/>
                </a:solidFill>
                <a:latin typeface="Arial"/>
                <a:cs typeface="Arial"/>
              </a:rPr>
              <a:t>4</a:t>
            </a:r>
            <a:endParaRPr lang="en-US" sz="3950" dirty="0"/>
          </a:p>
        </p:txBody>
      </p:sp>
      <p:sp>
        <p:nvSpPr>
          <p:cNvPr id="4" name="object 5"/>
          <p:cNvSpPr/>
          <p:nvPr/>
        </p:nvSpPr>
        <p:spPr>
          <a:xfrm>
            <a:off x="2969043" y="1787579"/>
            <a:ext cx="5928151" cy="673869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 txBox="1"/>
          <p:nvPr/>
        </p:nvSpPr>
        <p:spPr>
          <a:xfrm>
            <a:off x="3324410" y="1862544"/>
            <a:ext cx="5219969" cy="52012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following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option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true about</a:t>
            </a:r>
            <a:r>
              <a:rPr sz="155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"/>
                <a:cs typeface="Arial"/>
              </a:rPr>
              <a:t>k-NN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algorithm?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3431919" y="2559242"/>
            <a:ext cx="798065" cy="673869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/>
          <p:nvPr/>
        </p:nvSpPr>
        <p:spPr>
          <a:xfrm>
            <a:off x="3738553" y="2559242"/>
            <a:ext cx="5082050" cy="673869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 txBox="1"/>
          <p:nvPr/>
        </p:nvSpPr>
        <p:spPr>
          <a:xfrm>
            <a:off x="4737920" y="2761386"/>
            <a:ext cx="3439431" cy="2741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5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classification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10"/>
          <p:cNvSpPr/>
          <p:nvPr/>
        </p:nvSpPr>
        <p:spPr>
          <a:xfrm>
            <a:off x="3431919" y="3291767"/>
            <a:ext cx="798065" cy="673869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/>
          <p:nvPr/>
        </p:nvSpPr>
        <p:spPr>
          <a:xfrm>
            <a:off x="3738553" y="3291767"/>
            <a:ext cx="5082050" cy="673869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4866745" y="3495192"/>
            <a:ext cx="3172891" cy="2741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55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3431919" y="4024180"/>
            <a:ext cx="798065" cy="673869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3738553" y="4024180"/>
            <a:ext cx="5082050" cy="673869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 txBox="1"/>
          <p:nvPr/>
        </p:nvSpPr>
        <p:spPr>
          <a:xfrm>
            <a:off x="4506338" y="4103080"/>
            <a:ext cx="3891924" cy="5201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99160" marR="5080" indent="-887094">
              <a:lnSpc>
                <a:spcPct val="101099"/>
              </a:lnSpc>
              <a:spcBef>
                <a:spcPts val="10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both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classification 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3431919" y="4756652"/>
            <a:ext cx="798065" cy="673869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/>
          <p:nvPr/>
        </p:nvSpPr>
        <p:spPr>
          <a:xfrm>
            <a:off x="3738553" y="4756652"/>
            <a:ext cx="5082050" cy="673869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 txBox="1"/>
          <p:nvPr/>
        </p:nvSpPr>
        <p:spPr>
          <a:xfrm>
            <a:off x="6157671" y="4962682"/>
            <a:ext cx="597388" cy="2741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3563020" y="2707919"/>
            <a:ext cx="564072" cy="349365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 txBox="1"/>
          <p:nvPr/>
        </p:nvSpPr>
        <p:spPr>
          <a:xfrm>
            <a:off x="3743639" y="2745892"/>
            <a:ext cx="207655" cy="2741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3561877" y="3456072"/>
            <a:ext cx="564072" cy="349365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/>
          <p:cNvSpPr txBox="1"/>
          <p:nvPr/>
        </p:nvSpPr>
        <p:spPr>
          <a:xfrm>
            <a:off x="3742300" y="3495119"/>
            <a:ext cx="208426" cy="2747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3561877" y="4159779"/>
            <a:ext cx="564072" cy="349365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/>
          <p:cNvSpPr txBox="1"/>
          <p:nvPr/>
        </p:nvSpPr>
        <p:spPr>
          <a:xfrm>
            <a:off x="3742369" y="4200424"/>
            <a:ext cx="207655" cy="2741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3561877" y="4958760"/>
            <a:ext cx="564072" cy="349365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/>
          <p:cNvSpPr txBox="1"/>
          <p:nvPr/>
        </p:nvSpPr>
        <p:spPr>
          <a:xfrm>
            <a:off x="3742369" y="5000782"/>
            <a:ext cx="207655" cy="2741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041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97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5169029" y="792079"/>
            <a:ext cx="2312171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950" spc="-30" dirty="0">
                <a:solidFill>
                  <a:srgbClr val="7F7F7F"/>
                </a:solidFill>
                <a:latin typeface="Arial"/>
                <a:cs typeface="Arial"/>
              </a:rPr>
              <a:t>Answer</a:t>
            </a:r>
            <a:r>
              <a:rPr lang="en-US" sz="3950" spc="28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US" sz="3950" spc="15" dirty="0">
                <a:solidFill>
                  <a:srgbClr val="7F7F7F"/>
                </a:solidFill>
                <a:latin typeface="Arial"/>
                <a:cs typeface="Arial"/>
              </a:rPr>
              <a:t>4</a:t>
            </a:r>
            <a:endParaRPr lang="en-US" sz="3950" dirty="0"/>
          </a:p>
        </p:txBody>
      </p:sp>
      <p:sp>
        <p:nvSpPr>
          <p:cNvPr id="4" name="object 5"/>
          <p:cNvSpPr/>
          <p:nvPr/>
        </p:nvSpPr>
        <p:spPr>
          <a:xfrm>
            <a:off x="3064092" y="1825200"/>
            <a:ext cx="5987433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 txBox="1"/>
          <p:nvPr/>
        </p:nvSpPr>
        <p:spPr>
          <a:xfrm>
            <a:off x="3423000" y="1897905"/>
            <a:ext cx="5272169" cy="504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following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option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true about</a:t>
            </a:r>
            <a:r>
              <a:rPr sz="155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"/>
                <a:cs typeface="Arial"/>
              </a:rPr>
              <a:t>k-NN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algorithm?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3552618" y="2596863"/>
            <a:ext cx="806046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/>
          <p:nvPr/>
        </p:nvSpPr>
        <p:spPr>
          <a:xfrm>
            <a:off x="3837833" y="2596863"/>
            <a:ext cx="5132871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 txBox="1"/>
          <p:nvPr/>
        </p:nvSpPr>
        <p:spPr>
          <a:xfrm>
            <a:off x="4845413" y="2793129"/>
            <a:ext cx="34738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5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classification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10"/>
          <p:cNvSpPr/>
          <p:nvPr/>
        </p:nvSpPr>
        <p:spPr>
          <a:xfrm>
            <a:off x="3552618" y="3329388"/>
            <a:ext cx="806046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/>
          <p:nvPr/>
        </p:nvSpPr>
        <p:spPr>
          <a:xfrm>
            <a:off x="3837833" y="3329388"/>
            <a:ext cx="5132871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4975570" y="3526935"/>
            <a:ext cx="32046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55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3552618" y="4061801"/>
            <a:ext cx="806046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4EA4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3837833" y="4061801"/>
            <a:ext cx="5132871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4EA4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 txBox="1"/>
          <p:nvPr/>
        </p:nvSpPr>
        <p:spPr>
          <a:xfrm>
            <a:off x="4611569" y="4138441"/>
            <a:ext cx="3930843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99160" marR="5080" indent="-887094">
              <a:lnSpc>
                <a:spcPct val="101099"/>
              </a:lnSpc>
              <a:spcBef>
                <a:spcPts val="10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used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both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classification 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3552618" y="4794273"/>
            <a:ext cx="806046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/>
          <p:nvPr/>
        </p:nvSpPr>
        <p:spPr>
          <a:xfrm>
            <a:off x="3837833" y="4794273"/>
            <a:ext cx="5132871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 txBox="1"/>
          <p:nvPr/>
        </p:nvSpPr>
        <p:spPr>
          <a:xfrm>
            <a:off x="6279374" y="4994425"/>
            <a:ext cx="603362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3684890" y="2740768"/>
            <a:ext cx="569713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 txBox="1"/>
          <p:nvPr/>
        </p:nvSpPr>
        <p:spPr>
          <a:xfrm>
            <a:off x="3867290" y="2777635"/>
            <a:ext cx="209732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3683747" y="3488921"/>
            <a:ext cx="569713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/>
          <p:cNvSpPr txBox="1"/>
          <p:nvPr/>
        </p:nvSpPr>
        <p:spPr>
          <a:xfrm>
            <a:off x="3865948" y="3526872"/>
            <a:ext cx="2105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3683747" y="4192628"/>
            <a:ext cx="569713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4EA4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/>
          <p:cNvSpPr txBox="1"/>
          <p:nvPr/>
        </p:nvSpPr>
        <p:spPr>
          <a:xfrm>
            <a:off x="3866020" y="4232167"/>
            <a:ext cx="209732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3683747" y="4991609"/>
            <a:ext cx="569713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/>
          <p:cNvSpPr txBox="1"/>
          <p:nvPr/>
        </p:nvSpPr>
        <p:spPr>
          <a:xfrm>
            <a:off x="3866020" y="5032525"/>
            <a:ext cx="209732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824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98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5352293" y="916771"/>
            <a:ext cx="1648400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950" spc="-35" dirty="0">
                <a:solidFill>
                  <a:srgbClr val="7F7F7F"/>
                </a:solidFill>
                <a:latin typeface="Arial"/>
                <a:cs typeface="Arial"/>
              </a:rPr>
              <a:t>Quiz</a:t>
            </a:r>
            <a:r>
              <a:rPr lang="en-US" sz="3950" spc="114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US" sz="3950" spc="15" dirty="0">
                <a:solidFill>
                  <a:srgbClr val="7F7F7F"/>
                </a:solidFill>
                <a:latin typeface="Arial"/>
                <a:cs typeface="Arial"/>
              </a:rPr>
              <a:t>5</a:t>
            </a:r>
            <a:endParaRPr lang="en-US" sz="3950" dirty="0"/>
          </a:p>
        </p:txBody>
      </p:sp>
      <p:sp>
        <p:nvSpPr>
          <p:cNvPr id="4" name="object 5"/>
          <p:cNvSpPr/>
          <p:nvPr/>
        </p:nvSpPr>
        <p:spPr>
          <a:xfrm>
            <a:off x="3099047" y="1955654"/>
            <a:ext cx="5640433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28"/>
                </a:lnTo>
                <a:lnTo>
                  <a:pt x="19178" y="19126"/>
                </a:lnTo>
                <a:lnTo>
                  <a:pt x="5147" y="39913"/>
                </a:lnTo>
                <a:lnTo>
                  <a:pt x="0" y="65410"/>
                </a:lnTo>
                <a:lnTo>
                  <a:pt x="0" y="588507"/>
                </a:lnTo>
                <a:lnTo>
                  <a:pt x="5147" y="614004"/>
                </a:lnTo>
                <a:lnTo>
                  <a:pt x="19178" y="634791"/>
                </a:lnTo>
                <a:lnTo>
                  <a:pt x="39972" y="648789"/>
                </a:lnTo>
                <a:lnTo>
                  <a:pt x="65413" y="653917"/>
                </a:lnTo>
                <a:lnTo>
                  <a:pt x="4792608" y="653917"/>
                </a:lnTo>
                <a:lnTo>
                  <a:pt x="4818040" y="648789"/>
                </a:lnTo>
                <a:lnTo>
                  <a:pt x="4838835" y="634791"/>
                </a:lnTo>
                <a:lnTo>
                  <a:pt x="4852868" y="614004"/>
                </a:lnTo>
                <a:lnTo>
                  <a:pt x="4858018" y="588507"/>
                </a:lnTo>
                <a:lnTo>
                  <a:pt x="4858018" y="65410"/>
                </a:lnTo>
                <a:lnTo>
                  <a:pt x="4852868" y="39913"/>
                </a:lnTo>
                <a:lnTo>
                  <a:pt x="4838835" y="19126"/>
                </a:lnTo>
                <a:lnTo>
                  <a:pt x="4818040" y="5128"/>
                </a:lnTo>
                <a:lnTo>
                  <a:pt x="4792608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 txBox="1"/>
          <p:nvPr/>
        </p:nvSpPr>
        <p:spPr>
          <a:xfrm>
            <a:off x="3659133" y="2028100"/>
            <a:ext cx="451913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0610" marR="5715" indent="-1058545">
              <a:lnSpc>
                <a:spcPct val="101099"/>
              </a:lnSpc>
              <a:spcBef>
                <a:spcPts val="10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Random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Forest,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following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z="1550" spc="-20" dirty="0">
                <a:solidFill>
                  <a:srgbClr val="FFFFFF"/>
                </a:solidFill>
                <a:latin typeface="Arial"/>
                <a:cs typeface="Arial"/>
              </a:rPr>
              <a:t>randomly</a:t>
            </a:r>
            <a:r>
              <a:rPr sz="155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selected?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3437430" y="2727286"/>
            <a:ext cx="759332" cy="654685"/>
          </a:xfrm>
          <a:custGeom>
            <a:avLst/>
            <a:gdLst/>
            <a:ahLst/>
            <a:cxnLst/>
            <a:rect l="l" t="t" r="r" b="b"/>
            <a:pathLst>
              <a:path w="654050" h="654685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7"/>
                </a:lnTo>
                <a:lnTo>
                  <a:pt x="8560" y="66608"/>
                </a:lnTo>
                <a:lnTo>
                  <a:pt x="0" y="109118"/>
                </a:lnTo>
                <a:lnTo>
                  <a:pt x="0" y="544976"/>
                </a:lnTo>
                <a:lnTo>
                  <a:pt x="8560" y="587416"/>
                </a:lnTo>
                <a:lnTo>
                  <a:pt x="31908" y="622093"/>
                </a:lnTo>
                <a:lnTo>
                  <a:pt x="66544" y="645482"/>
                </a:lnTo>
                <a:lnTo>
                  <a:pt x="108966" y="654061"/>
                </a:lnTo>
                <a:lnTo>
                  <a:pt x="544961" y="654061"/>
                </a:lnTo>
                <a:lnTo>
                  <a:pt x="587383" y="645482"/>
                </a:lnTo>
                <a:lnTo>
                  <a:pt x="622018" y="622093"/>
                </a:lnTo>
                <a:lnTo>
                  <a:pt x="645366" y="587416"/>
                </a:lnTo>
                <a:lnTo>
                  <a:pt x="653927" y="544976"/>
                </a:lnTo>
                <a:lnTo>
                  <a:pt x="653927" y="109118"/>
                </a:lnTo>
                <a:lnTo>
                  <a:pt x="645366" y="66608"/>
                </a:lnTo>
                <a:lnTo>
                  <a:pt x="622018" y="31927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/>
          <p:nvPr/>
        </p:nvSpPr>
        <p:spPr>
          <a:xfrm>
            <a:off x="3848025" y="2727286"/>
            <a:ext cx="4835396" cy="654685"/>
          </a:xfrm>
          <a:custGeom>
            <a:avLst/>
            <a:gdLst/>
            <a:ahLst/>
            <a:cxnLst/>
            <a:rect l="l" t="t" r="r" b="b"/>
            <a:pathLst>
              <a:path w="4164965" h="654685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7"/>
                </a:lnTo>
                <a:lnTo>
                  <a:pt x="8581" y="66608"/>
                </a:lnTo>
                <a:lnTo>
                  <a:pt x="0" y="109118"/>
                </a:lnTo>
                <a:lnTo>
                  <a:pt x="0" y="544976"/>
                </a:lnTo>
                <a:lnTo>
                  <a:pt x="8581" y="587416"/>
                </a:lnTo>
                <a:lnTo>
                  <a:pt x="31974" y="622093"/>
                </a:lnTo>
                <a:lnTo>
                  <a:pt x="66654" y="645482"/>
                </a:lnTo>
                <a:lnTo>
                  <a:pt x="109097" y="654061"/>
                </a:lnTo>
                <a:lnTo>
                  <a:pt x="4055882" y="654061"/>
                </a:lnTo>
                <a:lnTo>
                  <a:pt x="4098304" y="645482"/>
                </a:lnTo>
                <a:lnTo>
                  <a:pt x="4132939" y="622093"/>
                </a:lnTo>
                <a:lnTo>
                  <a:pt x="4156287" y="587416"/>
                </a:lnTo>
                <a:lnTo>
                  <a:pt x="4164848" y="544976"/>
                </a:lnTo>
                <a:lnTo>
                  <a:pt x="4164848" y="109118"/>
                </a:lnTo>
                <a:lnTo>
                  <a:pt x="4156287" y="66608"/>
                </a:lnTo>
                <a:lnTo>
                  <a:pt x="4132939" y="31927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 txBox="1"/>
          <p:nvPr/>
        </p:nvSpPr>
        <p:spPr>
          <a:xfrm>
            <a:off x="5107890" y="2923450"/>
            <a:ext cx="265323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Number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decision</a:t>
            </a:r>
            <a:r>
              <a:rPr sz="155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trees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10"/>
          <p:cNvSpPr/>
          <p:nvPr/>
        </p:nvSpPr>
        <p:spPr>
          <a:xfrm>
            <a:off x="3437430" y="3459714"/>
            <a:ext cx="75933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8"/>
                </a:lnTo>
                <a:lnTo>
                  <a:pt x="8560" y="66644"/>
                </a:lnTo>
                <a:lnTo>
                  <a:pt x="0" y="109084"/>
                </a:lnTo>
                <a:lnTo>
                  <a:pt x="0" y="544948"/>
                </a:lnTo>
                <a:lnTo>
                  <a:pt x="8560" y="587446"/>
                </a:lnTo>
                <a:lnTo>
                  <a:pt x="31908" y="622120"/>
                </a:lnTo>
                <a:lnTo>
                  <a:pt x="66544" y="645483"/>
                </a:lnTo>
                <a:lnTo>
                  <a:pt x="108966" y="654045"/>
                </a:lnTo>
                <a:lnTo>
                  <a:pt x="544961" y="654045"/>
                </a:lnTo>
                <a:lnTo>
                  <a:pt x="587383" y="645483"/>
                </a:lnTo>
                <a:lnTo>
                  <a:pt x="622018" y="622120"/>
                </a:lnTo>
                <a:lnTo>
                  <a:pt x="645366" y="587446"/>
                </a:lnTo>
                <a:lnTo>
                  <a:pt x="653927" y="544948"/>
                </a:lnTo>
                <a:lnTo>
                  <a:pt x="653927" y="109084"/>
                </a:lnTo>
                <a:lnTo>
                  <a:pt x="645366" y="66644"/>
                </a:lnTo>
                <a:lnTo>
                  <a:pt x="622018" y="31968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/>
          <p:nvPr/>
        </p:nvSpPr>
        <p:spPr>
          <a:xfrm>
            <a:off x="3848025" y="3459714"/>
            <a:ext cx="4835396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8"/>
                </a:lnTo>
                <a:lnTo>
                  <a:pt x="8581" y="66644"/>
                </a:lnTo>
                <a:lnTo>
                  <a:pt x="0" y="109084"/>
                </a:lnTo>
                <a:lnTo>
                  <a:pt x="0" y="544948"/>
                </a:lnTo>
                <a:lnTo>
                  <a:pt x="8581" y="587446"/>
                </a:lnTo>
                <a:lnTo>
                  <a:pt x="31974" y="622120"/>
                </a:lnTo>
                <a:lnTo>
                  <a:pt x="66654" y="645483"/>
                </a:lnTo>
                <a:lnTo>
                  <a:pt x="109097" y="654045"/>
                </a:lnTo>
                <a:lnTo>
                  <a:pt x="4055882" y="654045"/>
                </a:lnTo>
                <a:lnTo>
                  <a:pt x="4098304" y="645483"/>
                </a:lnTo>
                <a:lnTo>
                  <a:pt x="4132939" y="622120"/>
                </a:lnTo>
                <a:lnTo>
                  <a:pt x="4156287" y="587446"/>
                </a:lnTo>
                <a:lnTo>
                  <a:pt x="4164848" y="544948"/>
                </a:lnTo>
                <a:lnTo>
                  <a:pt x="4164848" y="109084"/>
                </a:lnTo>
                <a:lnTo>
                  <a:pt x="4156287" y="66644"/>
                </a:lnTo>
                <a:lnTo>
                  <a:pt x="4132939" y="31968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4752189" y="3534956"/>
            <a:ext cx="3383818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2800" marR="5080" indent="-800735">
              <a:lnSpc>
                <a:spcPct val="101099"/>
              </a:lnSpc>
              <a:spcBef>
                <a:spcPts val="10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Features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considered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when  </a:t>
            </a:r>
            <a:r>
              <a:rPr sz="1550" spc="-20" dirty="0">
                <a:solidFill>
                  <a:srgbClr val="FFFFFF"/>
                </a:solidFill>
                <a:latin typeface="Arial"/>
                <a:cs typeface="Arial"/>
              </a:rPr>
              <a:t>building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tree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3437430" y="4192246"/>
            <a:ext cx="75933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1"/>
                </a:lnTo>
                <a:lnTo>
                  <a:pt x="31908" y="622025"/>
                </a:lnTo>
                <a:lnTo>
                  <a:pt x="66544" y="645385"/>
                </a:lnTo>
                <a:lnTo>
                  <a:pt x="108966" y="653951"/>
                </a:lnTo>
                <a:lnTo>
                  <a:pt x="544961" y="653951"/>
                </a:lnTo>
                <a:lnTo>
                  <a:pt x="587383" y="645385"/>
                </a:lnTo>
                <a:lnTo>
                  <a:pt x="622018" y="622025"/>
                </a:lnTo>
                <a:lnTo>
                  <a:pt x="645366" y="587381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3848025" y="4192246"/>
            <a:ext cx="4835396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1"/>
                </a:lnTo>
                <a:lnTo>
                  <a:pt x="31974" y="622025"/>
                </a:lnTo>
                <a:lnTo>
                  <a:pt x="66654" y="645385"/>
                </a:lnTo>
                <a:lnTo>
                  <a:pt x="109097" y="653951"/>
                </a:lnTo>
                <a:lnTo>
                  <a:pt x="4055882" y="653951"/>
                </a:lnTo>
                <a:lnTo>
                  <a:pt x="4098304" y="645385"/>
                </a:lnTo>
                <a:lnTo>
                  <a:pt x="4132939" y="622025"/>
                </a:lnTo>
                <a:lnTo>
                  <a:pt x="4156287" y="587381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 txBox="1"/>
          <p:nvPr/>
        </p:nvSpPr>
        <p:spPr>
          <a:xfrm>
            <a:off x="4454231" y="4268699"/>
            <a:ext cx="3968428" cy="504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Samples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given to train</a:t>
            </a:r>
            <a:r>
              <a:rPr sz="15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endParaRPr sz="1550">
              <a:latin typeface="Arial"/>
              <a:cs typeface="Arial"/>
            </a:endParaRPr>
          </a:p>
          <a:p>
            <a:pPr marL="5715" algn="ctr">
              <a:lnSpc>
                <a:spcPct val="100000"/>
              </a:lnSpc>
              <a:spcBef>
                <a:spcPts val="1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tree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forest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3437430" y="4924684"/>
            <a:ext cx="75933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7"/>
                </a:lnTo>
                <a:lnTo>
                  <a:pt x="8560" y="66577"/>
                </a:lnTo>
                <a:lnTo>
                  <a:pt x="0" y="109011"/>
                </a:lnTo>
                <a:lnTo>
                  <a:pt x="0" y="544948"/>
                </a:lnTo>
                <a:lnTo>
                  <a:pt x="8560" y="587390"/>
                </a:lnTo>
                <a:lnTo>
                  <a:pt x="31908" y="622044"/>
                </a:lnTo>
                <a:lnTo>
                  <a:pt x="66544" y="645406"/>
                </a:lnTo>
                <a:lnTo>
                  <a:pt x="108966" y="653972"/>
                </a:lnTo>
                <a:lnTo>
                  <a:pt x="544961" y="653972"/>
                </a:lnTo>
                <a:lnTo>
                  <a:pt x="587383" y="645406"/>
                </a:lnTo>
                <a:lnTo>
                  <a:pt x="622018" y="622044"/>
                </a:lnTo>
                <a:lnTo>
                  <a:pt x="645366" y="587390"/>
                </a:lnTo>
                <a:lnTo>
                  <a:pt x="653927" y="544948"/>
                </a:lnTo>
                <a:lnTo>
                  <a:pt x="653927" y="109011"/>
                </a:lnTo>
                <a:lnTo>
                  <a:pt x="645366" y="66577"/>
                </a:lnTo>
                <a:lnTo>
                  <a:pt x="622018" y="31927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/>
          <p:nvPr/>
        </p:nvSpPr>
        <p:spPr>
          <a:xfrm>
            <a:off x="3848025" y="4924684"/>
            <a:ext cx="4835396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7"/>
                </a:lnTo>
                <a:lnTo>
                  <a:pt x="8581" y="66577"/>
                </a:lnTo>
                <a:lnTo>
                  <a:pt x="0" y="109011"/>
                </a:lnTo>
                <a:lnTo>
                  <a:pt x="0" y="544948"/>
                </a:lnTo>
                <a:lnTo>
                  <a:pt x="8581" y="587390"/>
                </a:lnTo>
                <a:lnTo>
                  <a:pt x="31974" y="622044"/>
                </a:lnTo>
                <a:lnTo>
                  <a:pt x="66654" y="645406"/>
                </a:lnTo>
                <a:lnTo>
                  <a:pt x="109097" y="653972"/>
                </a:lnTo>
                <a:lnTo>
                  <a:pt x="4055882" y="653972"/>
                </a:lnTo>
                <a:lnTo>
                  <a:pt x="4098304" y="645406"/>
                </a:lnTo>
                <a:lnTo>
                  <a:pt x="4132939" y="622044"/>
                </a:lnTo>
                <a:lnTo>
                  <a:pt x="4156287" y="587390"/>
                </a:lnTo>
                <a:lnTo>
                  <a:pt x="4164848" y="544948"/>
                </a:lnTo>
                <a:lnTo>
                  <a:pt x="4164848" y="109011"/>
                </a:lnTo>
                <a:lnTo>
                  <a:pt x="4156287" y="66577"/>
                </a:lnTo>
                <a:lnTo>
                  <a:pt x="4132939" y="31927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 txBox="1"/>
          <p:nvPr/>
        </p:nvSpPr>
        <p:spPr>
          <a:xfrm>
            <a:off x="5760934" y="5124680"/>
            <a:ext cx="13505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Both b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3562854" y="2871213"/>
            <a:ext cx="536694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 txBox="1"/>
          <p:nvPr/>
        </p:nvSpPr>
        <p:spPr>
          <a:xfrm>
            <a:off x="3734823" y="2907830"/>
            <a:ext cx="197576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3561711" y="3619247"/>
            <a:ext cx="536694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/>
          <p:cNvSpPr txBox="1"/>
          <p:nvPr/>
        </p:nvSpPr>
        <p:spPr>
          <a:xfrm>
            <a:off x="3733553" y="3657511"/>
            <a:ext cx="197576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3561711" y="4322954"/>
            <a:ext cx="536694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/>
          <p:cNvSpPr txBox="1"/>
          <p:nvPr/>
        </p:nvSpPr>
        <p:spPr>
          <a:xfrm>
            <a:off x="3733553" y="4362362"/>
            <a:ext cx="197576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3561711" y="5122018"/>
            <a:ext cx="536694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/>
          <p:cNvSpPr txBox="1"/>
          <p:nvPr/>
        </p:nvSpPr>
        <p:spPr>
          <a:xfrm>
            <a:off x="3733553" y="5162780"/>
            <a:ext cx="197576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8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99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5404300" y="1276989"/>
            <a:ext cx="2312684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950" spc="-25" dirty="0">
                <a:solidFill>
                  <a:srgbClr val="7F7F7F"/>
                </a:solidFill>
                <a:latin typeface="Arial"/>
                <a:cs typeface="Arial"/>
              </a:rPr>
              <a:t>Answer</a:t>
            </a:r>
            <a:r>
              <a:rPr lang="en-US" sz="3950" spc="254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US" sz="3950" spc="15" dirty="0">
                <a:solidFill>
                  <a:srgbClr val="7F7F7F"/>
                </a:solidFill>
                <a:latin typeface="Arial"/>
                <a:cs typeface="Arial"/>
              </a:rPr>
              <a:t>5</a:t>
            </a:r>
            <a:endParaRPr lang="en-US" sz="3950" dirty="0"/>
          </a:p>
        </p:txBody>
      </p:sp>
      <p:sp>
        <p:nvSpPr>
          <p:cNvPr id="4" name="object 5"/>
          <p:cNvSpPr/>
          <p:nvPr/>
        </p:nvSpPr>
        <p:spPr>
          <a:xfrm>
            <a:off x="3129301" y="2272179"/>
            <a:ext cx="6355781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4"/>
                </a:lnTo>
                <a:lnTo>
                  <a:pt x="19178" y="19168"/>
                </a:lnTo>
                <a:lnTo>
                  <a:pt x="5147" y="39952"/>
                </a:lnTo>
                <a:lnTo>
                  <a:pt x="0" y="65379"/>
                </a:lnTo>
                <a:lnTo>
                  <a:pt x="0" y="588629"/>
                </a:lnTo>
                <a:lnTo>
                  <a:pt x="5147" y="614042"/>
                </a:lnTo>
                <a:lnTo>
                  <a:pt x="19178" y="634795"/>
                </a:lnTo>
                <a:lnTo>
                  <a:pt x="39972" y="648787"/>
                </a:lnTo>
                <a:lnTo>
                  <a:pt x="65413" y="653917"/>
                </a:lnTo>
                <a:lnTo>
                  <a:pt x="4792608" y="653917"/>
                </a:lnTo>
                <a:lnTo>
                  <a:pt x="4818040" y="648787"/>
                </a:lnTo>
                <a:lnTo>
                  <a:pt x="4838835" y="634795"/>
                </a:lnTo>
                <a:lnTo>
                  <a:pt x="4852868" y="614042"/>
                </a:lnTo>
                <a:lnTo>
                  <a:pt x="4858018" y="588629"/>
                </a:lnTo>
                <a:lnTo>
                  <a:pt x="4858018" y="65379"/>
                </a:lnTo>
                <a:lnTo>
                  <a:pt x="4852868" y="39952"/>
                </a:lnTo>
                <a:lnTo>
                  <a:pt x="4838835" y="19168"/>
                </a:lnTo>
                <a:lnTo>
                  <a:pt x="4818040" y="5144"/>
                </a:lnTo>
                <a:lnTo>
                  <a:pt x="4792608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 txBox="1"/>
          <p:nvPr/>
        </p:nvSpPr>
        <p:spPr>
          <a:xfrm>
            <a:off x="3760492" y="2344619"/>
            <a:ext cx="5092269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0610" marR="5715" indent="-1058545">
              <a:lnSpc>
                <a:spcPct val="101099"/>
              </a:lnSpc>
              <a:spcBef>
                <a:spcPts val="10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Random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Forest,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following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z="1550" spc="-20" dirty="0">
                <a:solidFill>
                  <a:srgbClr val="FFFFFF"/>
                </a:solidFill>
                <a:latin typeface="Arial"/>
                <a:cs typeface="Arial"/>
              </a:rPr>
              <a:t>randomly</a:t>
            </a:r>
            <a:r>
              <a:rPr sz="155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selected?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3777207" y="3043810"/>
            <a:ext cx="855634" cy="654685"/>
          </a:xfrm>
          <a:custGeom>
            <a:avLst/>
            <a:gdLst/>
            <a:ahLst/>
            <a:cxnLst/>
            <a:rect l="l" t="t" r="r" b="b"/>
            <a:pathLst>
              <a:path w="654050" h="654685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67"/>
                </a:lnTo>
                <a:lnTo>
                  <a:pt x="8560" y="587409"/>
                </a:lnTo>
                <a:lnTo>
                  <a:pt x="31908" y="622089"/>
                </a:lnTo>
                <a:lnTo>
                  <a:pt x="66544" y="645483"/>
                </a:lnTo>
                <a:lnTo>
                  <a:pt x="108966" y="654064"/>
                </a:lnTo>
                <a:lnTo>
                  <a:pt x="544961" y="654064"/>
                </a:lnTo>
                <a:lnTo>
                  <a:pt x="587383" y="645483"/>
                </a:lnTo>
                <a:lnTo>
                  <a:pt x="622018" y="622089"/>
                </a:lnTo>
                <a:lnTo>
                  <a:pt x="645366" y="587409"/>
                </a:lnTo>
                <a:lnTo>
                  <a:pt x="653927" y="544967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/>
          <p:nvPr/>
        </p:nvSpPr>
        <p:spPr>
          <a:xfrm>
            <a:off x="3929328" y="3043810"/>
            <a:ext cx="5448646" cy="654685"/>
          </a:xfrm>
          <a:custGeom>
            <a:avLst/>
            <a:gdLst/>
            <a:ahLst/>
            <a:cxnLst/>
            <a:rect l="l" t="t" r="r" b="b"/>
            <a:pathLst>
              <a:path w="4164965" h="654685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67"/>
                </a:lnTo>
                <a:lnTo>
                  <a:pt x="8581" y="587409"/>
                </a:lnTo>
                <a:lnTo>
                  <a:pt x="31974" y="622089"/>
                </a:lnTo>
                <a:lnTo>
                  <a:pt x="66654" y="645483"/>
                </a:lnTo>
                <a:lnTo>
                  <a:pt x="109097" y="654064"/>
                </a:lnTo>
                <a:lnTo>
                  <a:pt x="4055882" y="654064"/>
                </a:lnTo>
                <a:lnTo>
                  <a:pt x="4098304" y="645483"/>
                </a:lnTo>
                <a:lnTo>
                  <a:pt x="4132939" y="622089"/>
                </a:lnTo>
                <a:lnTo>
                  <a:pt x="4156287" y="587409"/>
                </a:lnTo>
                <a:lnTo>
                  <a:pt x="4164848" y="544967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 txBox="1"/>
          <p:nvPr/>
        </p:nvSpPr>
        <p:spPr>
          <a:xfrm>
            <a:off x="5327569" y="3239970"/>
            <a:ext cx="2989736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Number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decision</a:t>
            </a:r>
            <a:r>
              <a:rPr sz="155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trees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10"/>
          <p:cNvSpPr/>
          <p:nvPr/>
        </p:nvSpPr>
        <p:spPr>
          <a:xfrm>
            <a:off x="3777207" y="3776360"/>
            <a:ext cx="85563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60" y="587370"/>
                </a:lnTo>
                <a:lnTo>
                  <a:pt x="31908" y="622006"/>
                </a:lnTo>
                <a:lnTo>
                  <a:pt x="66544" y="645354"/>
                </a:lnTo>
                <a:lnTo>
                  <a:pt x="108966" y="653914"/>
                </a:lnTo>
                <a:lnTo>
                  <a:pt x="544961" y="653914"/>
                </a:lnTo>
                <a:lnTo>
                  <a:pt x="587383" y="645354"/>
                </a:lnTo>
                <a:lnTo>
                  <a:pt x="622018" y="622006"/>
                </a:lnTo>
                <a:lnTo>
                  <a:pt x="645366" y="587370"/>
                </a:lnTo>
                <a:lnTo>
                  <a:pt x="653927" y="544948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/>
          <p:nvPr/>
        </p:nvSpPr>
        <p:spPr>
          <a:xfrm>
            <a:off x="3929328" y="3776360"/>
            <a:ext cx="5448646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81" y="587370"/>
                </a:lnTo>
                <a:lnTo>
                  <a:pt x="31974" y="622006"/>
                </a:lnTo>
                <a:lnTo>
                  <a:pt x="66654" y="645354"/>
                </a:lnTo>
                <a:lnTo>
                  <a:pt x="109097" y="653914"/>
                </a:lnTo>
                <a:lnTo>
                  <a:pt x="4055882" y="653914"/>
                </a:lnTo>
                <a:lnTo>
                  <a:pt x="4098304" y="645354"/>
                </a:lnTo>
                <a:lnTo>
                  <a:pt x="4132939" y="622006"/>
                </a:lnTo>
                <a:lnTo>
                  <a:pt x="4156287" y="587370"/>
                </a:lnTo>
                <a:lnTo>
                  <a:pt x="4164848" y="544948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 txBox="1"/>
          <p:nvPr/>
        </p:nvSpPr>
        <p:spPr>
          <a:xfrm>
            <a:off x="4925541" y="3851475"/>
            <a:ext cx="381297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2800" marR="5080" indent="-800735">
              <a:lnSpc>
                <a:spcPct val="101099"/>
              </a:lnSpc>
              <a:spcBef>
                <a:spcPts val="10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Features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considered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when  </a:t>
            </a:r>
            <a:r>
              <a:rPr sz="1550" spc="-20" dirty="0">
                <a:solidFill>
                  <a:srgbClr val="FFFFFF"/>
                </a:solidFill>
                <a:latin typeface="Arial"/>
                <a:cs typeface="Arial"/>
              </a:rPr>
              <a:t>building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55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tree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3777207" y="4508762"/>
            <a:ext cx="85563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97"/>
                </a:lnTo>
                <a:lnTo>
                  <a:pt x="31908" y="622053"/>
                </a:lnTo>
                <a:lnTo>
                  <a:pt x="66544" y="645419"/>
                </a:lnTo>
                <a:lnTo>
                  <a:pt x="108966" y="653988"/>
                </a:lnTo>
                <a:lnTo>
                  <a:pt x="544961" y="653988"/>
                </a:lnTo>
                <a:lnTo>
                  <a:pt x="587383" y="645419"/>
                </a:lnTo>
                <a:lnTo>
                  <a:pt x="622018" y="622053"/>
                </a:lnTo>
                <a:lnTo>
                  <a:pt x="645366" y="587397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3929328" y="4508762"/>
            <a:ext cx="5448646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97"/>
                </a:lnTo>
                <a:lnTo>
                  <a:pt x="31974" y="622053"/>
                </a:lnTo>
                <a:lnTo>
                  <a:pt x="66654" y="645419"/>
                </a:lnTo>
                <a:lnTo>
                  <a:pt x="109097" y="653988"/>
                </a:lnTo>
                <a:lnTo>
                  <a:pt x="4055882" y="653988"/>
                </a:lnTo>
                <a:lnTo>
                  <a:pt x="4098304" y="645419"/>
                </a:lnTo>
                <a:lnTo>
                  <a:pt x="4132939" y="622053"/>
                </a:lnTo>
                <a:lnTo>
                  <a:pt x="4156287" y="587397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 txBox="1"/>
          <p:nvPr/>
        </p:nvSpPr>
        <p:spPr>
          <a:xfrm>
            <a:off x="4590511" y="4585218"/>
            <a:ext cx="4471725" cy="504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Samples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given to train</a:t>
            </a:r>
            <a:r>
              <a:rPr sz="15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endParaRPr sz="1550">
              <a:latin typeface="Arial"/>
              <a:cs typeface="Arial"/>
            </a:endParaRPr>
          </a:p>
          <a:p>
            <a:pPr marL="5715" algn="ctr">
              <a:lnSpc>
                <a:spcPct val="100000"/>
              </a:lnSpc>
              <a:spcBef>
                <a:spcPts val="1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tree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forest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3777207" y="5241223"/>
            <a:ext cx="85563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2"/>
                </a:lnTo>
                <a:lnTo>
                  <a:pt x="0" y="109023"/>
                </a:lnTo>
                <a:lnTo>
                  <a:pt x="0" y="544961"/>
                </a:lnTo>
                <a:lnTo>
                  <a:pt x="8560" y="587394"/>
                </a:lnTo>
                <a:lnTo>
                  <a:pt x="31908" y="622044"/>
                </a:lnTo>
                <a:lnTo>
                  <a:pt x="66544" y="645406"/>
                </a:lnTo>
                <a:lnTo>
                  <a:pt x="108966" y="653972"/>
                </a:lnTo>
                <a:lnTo>
                  <a:pt x="544961" y="653972"/>
                </a:lnTo>
                <a:lnTo>
                  <a:pt x="587383" y="645406"/>
                </a:lnTo>
                <a:lnTo>
                  <a:pt x="622018" y="622044"/>
                </a:lnTo>
                <a:lnTo>
                  <a:pt x="645366" y="587394"/>
                </a:lnTo>
                <a:lnTo>
                  <a:pt x="653927" y="544961"/>
                </a:lnTo>
                <a:lnTo>
                  <a:pt x="653927" y="109023"/>
                </a:lnTo>
                <a:lnTo>
                  <a:pt x="645366" y="66582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5DD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/>
          <p:nvPr/>
        </p:nvSpPr>
        <p:spPr>
          <a:xfrm>
            <a:off x="3929328" y="5241223"/>
            <a:ext cx="5448646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2"/>
                </a:lnTo>
                <a:lnTo>
                  <a:pt x="0" y="109023"/>
                </a:lnTo>
                <a:lnTo>
                  <a:pt x="0" y="544961"/>
                </a:lnTo>
                <a:lnTo>
                  <a:pt x="8581" y="587394"/>
                </a:lnTo>
                <a:lnTo>
                  <a:pt x="31974" y="622044"/>
                </a:lnTo>
                <a:lnTo>
                  <a:pt x="66654" y="645406"/>
                </a:lnTo>
                <a:lnTo>
                  <a:pt x="109097" y="653972"/>
                </a:lnTo>
                <a:lnTo>
                  <a:pt x="4055882" y="653972"/>
                </a:lnTo>
                <a:lnTo>
                  <a:pt x="4098304" y="645406"/>
                </a:lnTo>
                <a:lnTo>
                  <a:pt x="4132939" y="622044"/>
                </a:lnTo>
                <a:lnTo>
                  <a:pt x="4156287" y="587394"/>
                </a:lnTo>
                <a:lnTo>
                  <a:pt x="4164848" y="544961"/>
                </a:lnTo>
                <a:lnTo>
                  <a:pt x="4164848" y="109023"/>
                </a:lnTo>
                <a:lnTo>
                  <a:pt x="4156287" y="66582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5DD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 txBox="1"/>
          <p:nvPr/>
        </p:nvSpPr>
        <p:spPr>
          <a:xfrm>
            <a:off x="6063218" y="5441195"/>
            <a:ext cx="1521868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Both b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3916748" y="3187740"/>
            <a:ext cx="60476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 txBox="1"/>
          <p:nvPr/>
        </p:nvSpPr>
        <p:spPr>
          <a:xfrm>
            <a:off x="4110223" y="3224348"/>
            <a:ext cx="222633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3915605" y="3935893"/>
            <a:ext cx="60476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/>
          <p:cNvSpPr txBox="1"/>
          <p:nvPr/>
        </p:nvSpPr>
        <p:spPr>
          <a:xfrm>
            <a:off x="4108953" y="3974030"/>
            <a:ext cx="222633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3915605" y="4639600"/>
            <a:ext cx="60476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/>
          <p:cNvSpPr txBox="1"/>
          <p:nvPr/>
        </p:nvSpPr>
        <p:spPr>
          <a:xfrm>
            <a:off x="4108953" y="4678881"/>
            <a:ext cx="222633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3915605" y="5438557"/>
            <a:ext cx="60476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DD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/>
          <p:cNvSpPr txBox="1"/>
          <p:nvPr/>
        </p:nvSpPr>
        <p:spPr>
          <a:xfrm>
            <a:off x="4108953" y="5479295"/>
            <a:ext cx="222633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156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>
                <a:hlinkClick r:id="rId2"/>
              </a:rPr>
              <a:t>arunkg99@gmail.com</a:t>
            </a:r>
            <a:r>
              <a:rPr lang="en-IN" dirty="0" smtClean="0"/>
              <a:t>	</a:t>
            </a:r>
            <a:endParaRPr lang="en-IN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www.doitskills.com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100</a:t>
            </a:fld>
            <a:endParaRPr lang="en-IN"/>
          </a:p>
        </p:txBody>
      </p:sp>
      <p:pic>
        <p:nvPicPr>
          <p:cNvPr id="14" name="Picture Placeholder 10" descr="city skyline">
            <a:extLst>
              <a:ext uri="{FF2B5EF4-FFF2-40B4-BE49-F238E27FC236}">
                <a16:creationId xmlns="" xmlns:a16="http://schemas.microsoft.com/office/drawing/2014/main" id="{9D82A855-CCB0-4075-B5EE-5CC6FD176D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>
            <a:fillRect/>
          </a:stretch>
        </p:blipFill>
        <p:spPr>
          <a:xfrm>
            <a:off x="724662" y="742395"/>
            <a:ext cx="5305661" cy="5305661"/>
          </a:xfrm>
          <a:prstGeom prst="ellipse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279873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cision Tree and Random Forest_Meetu" id="{CA10E562-E68E-4563-9414-66BF4A005AD7}" vid="{6C8ADE75-FD03-46B8-B4CF-321794B206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Decision Tree and Random Forest_Meetu</Template>
  <TotalTime>112</TotalTime>
  <Words>3768</Words>
  <Application>Microsoft Office PowerPoint</Application>
  <PresentationFormat>Widescreen</PresentationFormat>
  <Paragraphs>976</Paragraphs>
  <Slides>100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13" baseType="lpstr">
      <vt:lpstr>Arial</vt:lpstr>
      <vt:lpstr>Calibri</vt:lpstr>
      <vt:lpstr>Calibri Light</vt:lpstr>
      <vt:lpstr>Cambria Math</vt:lpstr>
      <vt:lpstr>Comic Sans MS</vt:lpstr>
      <vt:lpstr>Gill Sans MT</vt:lpstr>
      <vt:lpstr>Gill Sans MT Ext Condensed Bold</vt:lpstr>
      <vt:lpstr>Segoe UI Semibold</vt:lpstr>
      <vt:lpstr>Segoe UI Semilight</vt:lpstr>
      <vt:lpstr>Symbol</vt:lpstr>
      <vt:lpstr>Times New Roman</vt:lpstr>
      <vt:lpstr>Wingdings</vt:lpstr>
      <vt:lpstr>Office Theme</vt:lpstr>
      <vt:lpstr>Machine Learning Use Cases</vt:lpstr>
      <vt:lpstr>Decision Tree &amp; Random Forest</vt:lpstr>
      <vt:lpstr>Things you will learn after this Session</vt:lpstr>
      <vt:lpstr>  What is  Classification ?</vt:lpstr>
      <vt:lpstr>Classification  vs  Regression</vt:lpstr>
      <vt:lpstr>Types of  Classification</vt:lpstr>
      <vt:lpstr>Types of  Classification</vt:lpstr>
      <vt:lpstr>Types of  Classification</vt:lpstr>
      <vt:lpstr>Types of  Classification</vt:lpstr>
      <vt:lpstr>Types of  Classification</vt:lpstr>
      <vt:lpstr>Types of  Classification</vt:lpstr>
      <vt:lpstr>Types of  Classification</vt:lpstr>
      <vt:lpstr>Types of  Classification</vt:lpstr>
      <vt:lpstr>Understanding Decision Tree</vt:lpstr>
      <vt:lpstr>“Graphical representation of all the possible  solutions to a decision”</vt:lpstr>
      <vt:lpstr>PowerPoint Presentation</vt:lpstr>
      <vt:lpstr>Decision Tree: Terminology</vt:lpstr>
      <vt:lpstr>Creating a Decision Tree</vt:lpstr>
      <vt:lpstr>Creating a Decision Tree</vt:lpstr>
      <vt:lpstr>Creating a Decision Tree</vt:lpstr>
      <vt:lpstr>Creating a Decision Tree</vt:lpstr>
      <vt:lpstr>Creating a Decision Tree</vt:lpstr>
      <vt:lpstr>How do we split a Tree?</vt:lpstr>
      <vt:lpstr>Calculating Entropy</vt:lpstr>
      <vt:lpstr>Calculating Entropy</vt:lpstr>
      <vt:lpstr>Calculating Entropy</vt:lpstr>
      <vt:lpstr>Calculating Entropy</vt:lpstr>
      <vt:lpstr>Calculating Entropy</vt:lpstr>
      <vt:lpstr>Calculating Entropy</vt:lpstr>
      <vt:lpstr>Calculating Entropy</vt:lpstr>
      <vt:lpstr>Calculating Entropy</vt:lpstr>
      <vt:lpstr>Calculating Entropy</vt:lpstr>
      <vt:lpstr>Calculating Entropy</vt:lpstr>
      <vt:lpstr>Calculating Entropy</vt:lpstr>
      <vt:lpstr>Calculating Entropy</vt:lpstr>
      <vt:lpstr>Calculating Entropy</vt:lpstr>
      <vt:lpstr>Understanding Confusion Matrix</vt:lpstr>
      <vt:lpstr>Things you will learn after this Session</vt:lpstr>
      <vt:lpstr>Confusion  Matrix</vt:lpstr>
      <vt:lpstr>Confusion  Matrix</vt:lpstr>
      <vt:lpstr>Confusion  Matrix</vt:lpstr>
      <vt:lpstr>Confusion  Matrix</vt:lpstr>
      <vt:lpstr>Confusion  Matrix</vt:lpstr>
      <vt:lpstr>Confusion  Matrix</vt:lpstr>
      <vt:lpstr>Confusion  Matrix</vt:lpstr>
      <vt:lpstr>Confusion  Matrix</vt:lpstr>
      <vt:lpstr>Confusion  Matrix</vt:lpstr>
      <vt:lpstr>Hands-on: Decision Tree(Regression)</vt:lpstr>
      <vt:lpstr>Demo-  Decision Tree</vt:lpstr>
      <vt:lpstr>Implementing Decision Tree Regressor</vt:lpstr>
      <vt:lpstr>Implementing Decision Tree Regressor</vt:lpstr>
      <vt:lpstr>Implementing Decision Tree Regressor</vt:lpstr>
      <vt:lpstr>Implementing Decision Tree Regressor</vt:lpstr>
      <vt:lpstr>Implementing Decision Tree Regressor</vt:lpstr>
      <vt:lpstr>Implementing Decision Tree Regressor</vt:lpstr>
      <vt:lpstr>Implementing Decision Tree Regressor</vt:lpstr>
      <vt:lpstr>Hands-on: Decision Tree(Classifier)</vt:lpstr>
      <vt:lpstr>Demo-  Decision Tree</vt:lpstr>
      <vt:lpstr>Implementing Decision Tree Classifier</vt:lpstr>
      <vt:lpstr>Implementing Decision Tree Classifier</vt:lpstr>
      <vt:lpstr>Implementing Decision Tree Classifier</vt:lpstr>
      <vt:lpstr>Understanding Random Forest</vt:lpstr>
      <vt:lpstr>PowerPoint Presentation</vt:lpstr>
      <vt:lpstr>PowerPoint Presentation</vt:lpstr>
      <vt:lpstr>PowerPoint Presentation</vt:lpstr>
      <vt:lpstr>Bagging</vt:lpstr>
      <vt:lpstr>PowerPoint Presentation</vt:lpstr>
      <vt:lpstr>The algorithm creates random subsets with random values  from the complete dataset</vt:lpstr>
      <vt:lpstr>Sampling is done on the training dataset. every time, a new  sample is chosen to build the tree. this introduction of  randomness increases the bias and reduces the variances of  the model</vt:lpstr>
      <vt:lpstr>PowerPoint Presentation</vt:lpstr>
      <vt:lpstr>PowerPoint Presentation</vt:lpstr>
      <vt:lpstr>PowerPoint Presentation</vt:lpstr>
      <vt:lpstr>Important Hyper-parameters in  Random Forest</vt:lpstr>
      <vt:lpstr>Important Hyper-parameters in  Random Forest</vt:lpstr>
      <vt:lpstr>Random Forest-Example</vt:lpstr>
      <vt:lpstr>Random Forest-Example</vt:lpstr>
      <vt:lpstr>Random Forest-Example</vt:lpstr>
      <vt:lpstr>Hands-on: Random Forest</vt:lpstr>
      <vt:lpstr>PowerPoint Presentation</vt:lpstr>
      <vt:lpstr>Implementing Random Forest in Python</vt:lpstr>
      <vt:lpstr>Implementing Random Forest in Python</vt:lpstr>
      <vt:lpstr>Implementing Random Forest in Python</vt:lpstr>
      <vt:lpstr>Implementing Random Forest in Python</vt:lpstr>
      <vt:lpstr>Implementing Random Forest in Python</vt:lpstr>
      <vt:lpstr>Implementing Random Forest in Python</vt:lpstr>
      <vt:lpstr>Implementing Random Forest in Python</vt:lpstr>
      <vt:lpstr>Implementing Random Forest in Python</vt:lpstr>
      <vt:lpstr>Implementing Random Forest in Python</vt:lpstr>
      <vt:lpstr>PowerPoint Presentation</vt:lpstr>
      <vt:lpstr>Quiz 1</vt:lpstr>
      <vt:lpstr>PowerPoint Presentation</vt:lpstr>
      <vt:lpstr>PowerPoint Presentation</vt:lpstr>
      <vt:lpstr>Answer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Use Cases</dc:title>
  <dc:creator>COMPAQ</dc:creator>
  <cp:lastModifiedBy>COMPAQ</cp:lastModifiedBy>
  <cp:revision>11</cp:revision>
  <dcterms:created xsi:type="dcterms:W3CDTF">2019-10-29T15:41:17Z</dcterms:created>
  <dcterms:modified xsi:type="dcterms:W3CDTF">2019-10-29T17:33:53Z</dcterms:modified>
</cp:coreProperties>
</file>