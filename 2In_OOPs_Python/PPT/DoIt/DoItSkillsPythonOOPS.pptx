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  <p:sldMasterId id="2147483696" r:id="rId2"/>
    <p:sldMasterId id="2147483697" r:id="rId3"/>
  </p:sldMasterIdLst>
  <p:notesMasterIdLst>
    <p:notesMasterId r:id="rId74"/>
  </p:notesMasterIdLst>
  <p:sldIdLst>
    <p:sldId id="327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353" r:id="rId28"/>
    <p:sldId id="354" r:id="rId29"/>
    <p:sldId id="355" r:id="rId30"/>
    <p:sldId id="285" r:id="rId31"/>
    <p:sldId id="356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9" autoAdjust="0"/>
    <p:restoredTop sz="94718" autoAdjust="0"/>
  </p:normalViewPr>
  <p:slideViewPr>
    <p:cSldViewPr>
      <p:cViewPr varScale="1">
        <p:scale>
          <a:sx n="84" d="100"/>
          <a:sy n="84" d="100"/>
        </p:scale>
        <p:origin x="788" y="5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375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9FFC88-B323-4B68-A32D-E1D334ACAC1A}" type="doc">
      <dgm:prSet loTypeId="urn:microsoft.com/office/officeart/2005/8/layout/vList3" loCatId="list" qsTypeId="urn:microsoft.com/office/officeart/2005/8/quickstyle/simple1" qsCatId="simple" csTypeId="urn:microsoft.com/office/officeart/2005/8/colors/accent3_5" csCatId="accent3"/>
      <dgm:spPr/>
      <dgm:t>
        <a:bodyPr/>
        <a:lstStyle/>
        <a:p>
          <a:endParaRPr lang="en-US"/>
        </a:p>
      </dgm:t>
    </dgm:pt>
    <dgm:pt modelId="{0F67D0B0-03A0-417F-BD66-F0536AD91E78}">
      <dgm:prSet/>
      <dgm:spPr/>
      <dgm:t>
        <a:bodyPr/>
        <a:lstStyle/>
        <a:p>
          <a:pPr rtl="0"/>
          <a:r>
            <a:rPr lang="en-US" dirty="0"/>
            <a:t>Single Inheritance</a:t>
          </a:r>
        </a:p>
      </dgm:t>
    </dgm:pt>
    <dgm:pt modelId="{1DEAECB7-421D-402A-814E-FE668EFDEFDB}" type="parTrans" cxnId="{80335364-821E-443D-B907-BD9BEC635BFD}">
      <dgm:prSet/>
      <dgm:spPr/>
      <dgm:t>
        <a:bodyPr/>
        <a:lstStyle/>
        <a:p>
          <a:endParaRPr lang="en-US"/>
        </a:p>
      </dgm:t>
    </dgm:pt>
    <dgm:pt modelId="{296BE41D-1023-4988-B8B7-A46E2251BFB9}" type="sibTrans" cxnId="{80335364-821E-443D-B907-BD9BEC635BFD}">
      <dgm:prSet/>
      <dgm:spPr/>
      <dgm:t>
        <a:bodyPr/>
        <a:lstStyle/>
        <a:p>
          <a:endParaRPr lang="en-US"/>
        </a:p>
      </dgm:t>
    </dgm:pt>
    <dgm:pt modelId="{A50D7692-233B-4E07-897D-BDBE419AD4C6}">
      <dgm:prSet/>
      <dgm:spPr/>
      <dgm:t>
        <a:bodyPr/>
        <a:lstStyle/>
        <a:p>
          <a:pPr rtl="0"/>
          <a:r>
            <a:rPr lang="en-US" dirty="0"/>
            <a:t>Multiple Inheritance</a:t>
          </a:r>
        </a:p>
      </dgm:t>
    </dgm:pt>
    <dgm:pt modelId="{81835CB6-9F3E-413D-8E16-6BF3F2523618}" type="parTrans" cxnId="{8C486BEE-ED51-4EC4-B719-577375060BCC}">
      <dgm:prSet/>
      <dgm:spPr/>
      <dgm:t>
        <a:bodyPr/>
        <a:lstStyle/>
        <a:p>
          <a:endParaRPr lang="en-US"/>
        </a:p>
      </dgm:t>
    </dgm:pt>
    <dgm:pt modelId="{990C37ED-2BA3-4A46-8E78-58125BACD3BB}" type="sibTrans" cxnId="{8C486BEE-ED51-4EC4-B719-577375060BCC}">
      <dgm:prSet/>
      <dgm:spPr/>
      <dgm:t>
        <a:bodyPr/>
        <a:lstStyle/>
        <a:p>
          <a:endParaRPr lang="en-US"/>
        </a:p>
      </dgm:t>
    </dgm:pt>
    <dgm:pt modelId="{D0680A83-1DD3-43E0-819E-6EE886ABF41E}">
      <dgm:prSet/>
      <dgm:spPr/>
      <dgm:t>
        <a:bodyPr/>
        <a:lstStyle/>
        <a:p>
          <a:pPr rtl="0"/>
          <a:r>
            <a:rPr lang="en-US" dirty="0"/>
            <a:t>Multilevel Inheritance</a:t>
          </a:r>
        </a:p>
      </dgm:t>
    </dgm:pt>
    <dgm:pt modelId="{DEC0E895-5931-4875-AF24-9BC721C651B3}" type="parTrans" cxnId="{E4469B4C-25FF-4509-92E1-53C0B1853C1F}">
      <dgm:prSet/>
      <dgm:spPr/>
      <dgm:t>
        <a:bodyPr/>
        <a:lstStyle/>
        <a:p>
          <a:endParaRPr lang="en-US"/>
        </a:p>
      </dgm:t>
    </dgm:pt>
    <dgm:pt modelId="{DD1E88C1-45CB-4D26-BAC7-F02B6F2C6D4D}" type="sibTrans" cxnId="{E4469B4C-25FF-4509-92E1-53C0B1853C1F}">
      <dgm:prSet/>
      <dgm:spPr/>
      <dgm:t>
        <a:bodyPr/>
        <a:lstStyle/>
        <a:p>
          <a:endParaRPr lang="en-US"/>
        </a:p>
      </dgm:t>
    </dgm:pt>
    <dgm:pt modelId="{A207F707-FE77-49A1-9DB7-D23797CD733D}">
      <dgm:prSet/>
      <dgm:spPr/>
      <dgm:t>
        <a:bodyPr/>
        <a:lstStyle/>
        <a:p>
          <a:pPr rtl="0"/>
          <a:r>
            <a:rPr lang="en-US" dirty="0"/>
            <a:t>Hierarchical Inheritance</a:t>
          </a:r>
        </a:p>
      </dgm:t>
    </dgm:pt>
    <dgm:pt modelId="{2FFB8491-F232-4E41-AE19-F275EC64D82B}" type="parTrans" cxnId="{98564E78-1B98-4703-AA45-17EFC3F0EF71}">
      <dgm:prSet/>
      <dgm:spPr/>
      <dgm:t>
        <a:bodyPr/>
        <a:lstStyle/>
        <a:p>
          <a:endParaRPr lang="en-US"/>
        </a:p>
      </dgm:t>
    </dgm:pt>
    <dgm:pt modelId="{16AD8E11-D7D3-4122-8DFE-BD57C5B8C1EE}" type="sibTrans" cxnId="{98564E78-1B98-4703-AA45-17EFC3F0EF71}">
      <dgm:prSet/>
      <dgm:spPr/>
      <dgm:t>
        <a:bodyPr/>
        <a:lstStyle/>
        <a:p>
          <a:endParaRPr lang="en-US"/>
        </a:p>
      </dgm:t>
    </dgm:pt>
    <dgm:pt modelId="{29785FB8-0003-4035-A39B-0F77CA4A778D}">
      <dgm:prSet/>
      <dgm:spPr/>
      <dgm:t>
        <a:bodyPr/>
        <a:lstStyle/>
        <a:p>
          <a:pPr rtl="0"/>
          <a:r>
            <a:rPr lang="en-US" dirty="0"/>
            <a:t>Hybrid Inheritance</a:t>
          </a:r>
        </a:p>
      </dgm:t>
    </dgm:pt>
    <dgm:pt modelId="{E2801CBB-5AAB-47DD-B181-1CE254E739F0}" type="parTrans" cxnId="{4309B0E7-BA6C-4732-884E-427CD649926F}">
      <dgm:prSet/>
      <dgm:spPr/>
      <dgm:t>
        <a:bodyPr/>
        <a:lstStyle/>
        <a:p>
          <a:endParaRPr lang="en-US"/>
        </a:p>
      </dgm:t>
    </dgm:pt>
    <dgm:pt modelId="{1F476A32-FE1D-4ED4-A1A2-A71C8896F294}" type="sibTrans" cxnId="{4309B0E7-BA6C-4732-884E-427CD649926F}">
      <dgm:prSet/>
      <dgm:spPr/>
      <dgm:t>
        <a:bodyPr/>
        <a:lstStyle/>
        <a:p>
          <a:endParaRPr lang="en-US"/>
        </a:p>
      </dgm:t>
    </dgm:pt>
    <dgm:pt modelId="{63FAF996-17B6-4565-95B8-5525BFF15F87}" type="pres">
      <dgm:prSet presAssocID="{9B9FFC88-B323-4B68-A32D-E1D334ACAC1A}" presName="linearFlow" presStyleCnt="0">
        <dgm:presLayoutVars>
          <dgm:dir/>
          <dgm:resizeHandles val="exact"/>
        </dgm:presLayoutVars>
      </dgm:prSet>
      <dgm:spPr/>
    </dgm:pt>
    <dgm:pt modelId="{FB6A31CE-A887-4546-BF90-617D75CCDB68}" type="pres">
      <dgm:prSet presAssocID="{0F67D0B0-03A0-417F-BD66-F0536AD91E78}" presName="composite" presStyleCnt="0"/>
      <dgm:spPr/>
    </dgm:pt>
    <dgm:pt modelId="{B3A88367-0A4E-4AB1-B93B-2260ADD5A3B7}" type="pres">
      <dgm:prSet presAssocID="{0F67D0B0-03A0-417F-BD66-F0536AD91E78}" presName="imgShp" presStyleLbl="fgImgPlace1" presStyleIdx="0" presStyleCnt="5"/>
      <dgm:spPr/>
    </dgm:pt>
    <dgm:pt modelId="{5C7F23F0-10D1-49CB-B53D-CAD05078BB2A}" type="pres">
      <dgm:prSet presAssocID="{0F67D0B0-03A0-417F-BD66-F0536AD91E78}" presName="txShp" presStyleLbl="node1" presStyleIdx="0" presStyleCnt="5">
        <dgm:presLayoutVars>
          <dgm:bulletEnabled val="1"/>
        </dgm:presLayoutVars>
      </dgm:prSet>
      <dgm:spPr/>
    </dgm:pt>
    <dgm:pt modelId="{CE8E5B6F-6C7F-40B8-A503-20E4B4FDC77F}" type="pres">
      <dgm:prSet presAssocID="{296BE41D-1023-4988-B8B7-A46E2251BFB9}" presName="spacing" presStyleCnt="0"/>
      <dgm:spPr/>
    </dgm:pt>
    <dgm:pt modelId="{D6194EAC-1503-4E1E-B499-AEBA18C49334}" type="pres">
      <dgm:prSet presAssocID="{A50D7692-233B-4E07-897D-BDBE419AD4C6}" presName="composite" presStyleCnt="0"/>
      <dgm:spPr/>
    </dgm:pt>
    <dgm:pt modelId="{B317259B-FF34-444F-9C02-41A9858D51D9}" type="pres">
      <dgm:prSet presAssocID="{A50D7692-233B-4E07-897D-BDBE419AD4C6}" presName="imgShp" presStyleLbl="fgImgPlace1" presStyleIdx="1" presStyleCnt="5"/>
      <dgm:spPr/>
    </dgm:pt>
    <dgm:pt modelId="{56B70FF7-CB4E-4F54-A35F-084E04D25DD1}" type="pres">
      <dgm:prSet presAssocID="{A50D7692-233B-4E07-897D-BDBE419AD4C6}" presName="txShp" presStyleLbl="node1" presStyleIdx="1" presStyleCnt="5">
        <dgm:presLayoutVars>
          <dgm:bulletEnabled val="1"/>
        </dgm:presLayoutVars>
      </dgm:prSet>
      <dgm:spPr/>
    </dgm:pt>
    <dgm:pt modelId="{87A0C0EE-7484-45AC-9D59-F8928495D19E}" type="pres">
      <dgm:prSet presAssocID="{990C37ED-2BA3-4A46-8E78-58125BACD3BB}" presName="spacing" presStyleCnt="0"/>
      <dgm:spPr/>
    </dgm:pt>
    <dgm:pt modelId="{5AC4E7C6-0516-4F23-8B1D-930374DCBD13}" type="pres">
      <dgm:prSet presAssocID="{D0680A83-1DD3-43E0-819E-6EE886ABF41E}" presName="composite" presStyleCnt="0"/>
      <dgm:spPr/>
    </dgm:pt>
    <dgm:pt modelId="{D7BDA4AE-CDED-497F-8D27-BB6A03ECD339}" type="pres">
      <dgm:prSet presAssocID="{D0680A83-1DD3-43E0-819E-6EE886ABF41E}" presName="imgShp" presStyleLbl="fgImgPlace1" presStyleIdx="2" presStyleCnt="5"/>
      <dgm:spPr/>
    </dgm:pt>
    <dgm:pt modelId="{B40D8BEA-10E3-447F-A88D-4B9D0CCDADA8}" type="pres">
      <dgm:prSet presAssocID="{D0680A83-1DD3-43E0-819E-6EE886ABF41E}" presName="txShp" presStyleLbl="node1" presStyleIdx="2" presStyleCnt="5">
        <dgm:presLayoutVars>
          <dgm:bulletEnabled val="1"/>
        </dgm:presLayoutVars>
      </dgm:prSet>
      <dgm:spPr/>
    </dgm:pt>
    <dgm:pt modelId="{076C1414-03CA-451D-867C-AA63A6F63777}" type="pres">
      <dgm:prSet presAssocID="{DD1E88C1-45CB-4D26-BAC7-F02B6F2C6D4D}" presName="spacing" presStyleCnt="0"/>
      <dgm:spPr/>
    </dgm:pt>
    <dgm:pt modelId="{40B16EB3-0A26-4DFB-B5F6-3EEE4975CF58}" type="pres">
      <dgm:prSet presAssocID="{A207F707-FE77-49A1-9DB7-D23797CD733D}" presName="composite" presStyleCnt="0"/>
      <dgm:spPr/>
    </dgm:pt>
    <dgm:pt modelId="{3D48EC8A-32B4-4680-935B-BC3C68F3E757}" type="pres">
      <dgm:prSet presAssocID="{A207F707-FE77-49A1-9DB7-D23797CD733D}" presName="imgShp" presStyleLbl="fgImgPlace1" presStyleIdx="3" presStyleCnt="5"/>
      <dgm:spPr/>
    </dgm:pt>
    <dgm:pt modelId="{56D18AD6-56DC-4AAD-A6C3-DDB11D0DD7FB}" type="pres">
      <dgm:prSet presAssocID="{A207F707-FE77-49A1-9DB7-D23797CD733D}" presName="txShp" presStyleLbl="node1" presStyleIdx="3" presStyleCnt="5">
        <dgm:presLayoutVars>
          <dgm:bulletEnabled val="1"/>
        </dgm:presLayoutVars>
      </dgm:prSet>
      <dgm:spPr/>
    </dgm:pt>
    <dgm:pt modelId="{FC43943C-B2BF-4CA5-B26A-6ADEEEA6B5F0}" type="pres">
      <dgm:prSet presAssocID="{16AD8E11-D7D3-4122-8DFE-BD57C5B8C1EE}" presName="spacing" presStyleCnt="0"/>
      <dgm:spPr/>
    </dgm:pt>
    <dgm:pt modelId="{67518188-4599-4EA5-8A6E-2272C3D4331E}" type="pres">
      <dgm:prSet presAssocID="{29785FB8-0003-4035-A39B-0F77CA4A778D}" presName="composite" presStyleCnt="0"/>
      <dgm:spPr/>
    </dgm:pt>
    <dgm:pt modelId="{6628B9CF-2589-4686-BFF6-8A4F7D4C7247}" type="pres">
      <dgm:prSet presAssocID="{29785FB8-0003-4035-A39B-0F77CA4A778D}" presName="imgShp" presStyleLbl="fgImgPlace1" presStyleIdx="4" presStyleCnt="5"/>
      <dgm:spPr/>
    </dgm:pt>
    <dgm:pt modelId="{8586F77F-3E68-4405-8DDE-60D63EF14EE7}" type="pres">
      <dgm:prSet presAssocID="{29785FB8-0003-4035-A39B-0F77CA4A778D}" presName="txShp" presStyleLbl="node1" presStyleIdx="4" presStyleCnt="5">
        <dgm:presLayoutVars>
          <dgm:bulletEnabled val="1"/>
        </dgm:presLayoutVars>
      </dgm:prSet>
      <dgm:spPr/>
    </dgm:pt>
  </dgm:ptLst>
  <dgm:cxnLst>
    <dgm:cxn modelId="{EFDB083C-E151-45F2-A1FB-F7507D9020D3}" type="presOf" srcId="{D0680A83-1DD3-43E0-819E-6EE886ABF41E}" destId="{B40D8BEA-10E3-447F-A88D-4B9D0CCDADA8}" srcOrd="0" destOrd="0" presId="urn:microsoft.com/office/officeart/2005/8/layout/vList3"/>
    <dgm:cxn modelId="{80335364-821E-443D-B907-BD9BEC635BFD}" srcId="{9B9FFC88-B323-4B68-A32D-E1D334ACAC1A}" destId="{0F67D0B0-03A0-417F-BD66-F0536AD91E78}" srcOrd="0" destOrd="0" parTransId="{1DEAECB7-421D-402A-814E-FE668EFDEFDB}" sibTransId="{296BE41D-1023-4988-B8B7-A46E2251BFB9}"/>
    <dgm:cxn modelId="{E4469B4C-25FF-4509-92E1-53C0B1853C1F}" srcId="{9B9FFC88-B323-4B68-A32D-E1D334ACAC1A}" destId="{D0680A83-1DD3-43E0-819E-6EE886ABF41E}" srcOrd="2" destOrd="0" parTransId="{DEC0E895-5931-4875-AF24-9BC721C651B3}" sibTransId="{DD1E88C1-45CB-4D26-BAC7-F02B6F2C6D4D}"/>
    <dgm:cxn modelId="{98564E78-1B98-4703-AA45-17EFC3F0EF71}" srcId="{9B9FFC88-B323-4B68-A32D-E1D334ACAC1A}" destId="{A207F707-FE77-49A1-9DB7-D23797CD733D}" srcOrd="3" destOrd="0" parTransId="{2FFB8491-F232-4E41-AE19-F275EC64D82B}" sibTransId="{16AD8E11-D7D3-4122-8DFE-BD57C5B8C1EE}"/>
    <dgm:cxn modelId="{083FE98B-35A6-40DD-8DB0-D8578E6D2A11}" type="presOf" srcId="{0F67D0B0-03A0-417F-BD66-F0536AD91E78}" destId="{5C7F23F0-10D1-49CB-B53D-CAD05078BB2A}" srcOrd="0" destOrd="0" presId="urn:microsoft.com/office/officeart/2005/8/layout/vList3"/>
    <dgm:cxn modelId="{55C0C28D-1B4C-4E86-A3B1-2AB6F397D3D5}" type="presOf" srcId="{A207F707-FE77-49A1-9DB7-D23797CD733D}" destId="{56D18AD6-56DC-4AAD-A6C3-DDB11D0DD7FB}" srcOrd="0" destOrd="0" presId="urn:microsoft.com/office/officeart/2005/8/layout/vList3"/>
    <dgm:cxn modelId="{9D3CFE97-F16E-4DDA-9CAB-08F152B7FE52}" type="presOf" srcId="{A50D7692-233B-4E07-897D-BDBE419AD4C6}" destId="{56B70FF7-CB4E-4F54-A35F-084E04D25DD1}" srcOrd="0" destOrd="0" presId="urn:microsoft.com/office/officeart/2005/8/layout/vList3"/>
    <dgm:cxn modelId="{511DDBAE-DCB4-49ED-8ABA-9F5F02B570F1}" type="presOf" srcId="{9B9FFC88-B323-4B68-A32D-E1D334ACAC1A}" destId="{63FAF996-17B6-4565-95B8-5525BFF15F87}" srcOrd="0" destOrd="0" presId="urn:microsoft.com/office/officeart/2005/8/layout/vList3"/>
    <dgm:cxn modelId="{4B290DC3-D602-463D-91AD-748F0493A6EF}" type="presOf" srcId="{29785FB8-0003-4035-A39B-0F77CA4A778D}" destId="{8586F77F-3E68-4405-8DDE-60D63EF14EE7}" srcOrd="0" destOrd="0" presId="urn:microsoft.com/office/officeart/2005/8/layout/vList3"/>
    <dgm:cxn modelId="{4309B0E7-BA6C-4732-884E-427CD649926F}" srcId="{9B9FFC88-B323-4B68-A32D-E1D334ACAC1A}" destId="{29785FB8-0003-4035-A39B-0F77CA4A778D}" srcOrd="4" destOrd="0" parTransId="{E2801CBB-5AAB-47DD-B181-1CE254E739F0}" sibTransId="{1F476A32-FE1D-4ED4-A1A2-A71C8896F294}"/>
    <dgm:cxn modelId="{8C486BEE-ED51-4EC4-B719-577375060BCC}" srcId="{9B9FFC88-B323-4B68-A32D-E1D334ACAC1A}" destId="{A50D7692-233B-4E07-897D-BDBE419AD4C6}" srcOrd="1" destOrd="0" parTransId="{81835CB6-9F3E-413D-8E16-6BF3F2523618}" sibTransId="{990C37ED-2BA3-4A46-8E78-58125BACD3BB}"/>
    <dgm:cxn modelId="{DEA2DFA0-F93A-43DA-93A6-38B300C332D9}" type="presParOf" srcId="{63FAF996-17B6-4565-95B8-5525BFF15F87}" destId="{FB6A31CE-A887-4546-BF90-617D75CCDB68}" srcOrd="0" destOrd="0" presId="urn:microsoft.com/office/officeart/2005/8/layout/vList3"/>
    <dgm:cxn modelId="{05A7A378-632E-457A-B861-72FAF634B560}" type="presParOf" srcId="{FB6A31CE-A887-4546-BF90-617D75CCDB68}" destId="{B3A88367-0A4E-4AB1-B93B-2260ADD5A3B7}" srcOrd="0" destOrd="0" presId="urn:microsoft.com/office/officeart/2005/8/layout/vList3"/>
    <dgm:cxn modelId="{C5ABD797-3035-4FEE-A3D4-CC57AFC31D87}" type="presParOf" srcId="{FB6A31CE-A887-4546-BF90-617D75CCDB68}" destId="{5C7F23F0-10D1-49CB-B53D-CAD05078BB2A}" srcOrd="1" destOrd="0" presId="urn:microsoft.com/office/officeart/2005/8/layout/vList3"/>
    <dgm:cxn modelId="{0ECA06E2-003D-4413-9254-BE49F52C0ABD}" type="presParOf" srcId="{63FAF996-17B6-4565-95B8-5525BFF15F87}" destId="{CE8E5B6F-6C7F-40B8-A503-20E4B4FDC77F}" srcOrd="1" destOrd="0" presId="urn:microsoft.com/office/officeart/2005/8/layout/vList3"/>
    <dgm:cxn modelId="{3FCB0FB5-C075-4E21-AF30-D61EDD110FCD}" type="presParOf" srcId="{63FAF996-17B6-4565-95B8-5525BFF15F87}" destId="{D6194EAC-1503-4E1E-B499-AEBA18C49334}" srcOrd="2" destOrd="0" presId="urn:microsoft.com/office/officeart/2005/8/layout/vList3"/>
    <dgm:cxn modelId="{9B3E7DB2-5205-44BF-8A54-111CC478C256}" type="presParOf" srcId="{D6194EAC-1503-4E1E-B499-AEBA18C49334}" destId="{B317259B-FF34-444F-9C02-41A9858D51D9}" srcOrd="0" destOrd="0" presId="urn:microsoft.com/office/officeart/2005/8/layout/vList3"/>
    <dgm:cxn modelId="{989FC274-C9BB-4CD8-BD9D-8F709C1B8A4E}" type="presParOf" srcId="{D6194EAC-1503-4E1E-B499-AEBA18C49334}" destId="{56B70FF7-CB4E-4F54-A35F-084E04D25DD1}" srcOrd="1" destOrd="0" presId="urn:microsoft.com/office/officeart/2005/8/layout/vList3"/>
    <dgm:cxn modelId="{6B9C3BEC-6421-4E5D-90E2-BC98DF08E587}" type="presParOf" srcId="{63FAF996-17B6-4565-95B8-5525BFF15F87}" destId="{87A0C0EE-7484-45AC-9D59-F8928495D19E}" srcOrd="3" destOrd="0" presId="urn:microsoft.com/office/officeart/2005/8/layout/vList3"/>
    <dgm:cxn modelId="{04F06A92-631D-46E2-982C-BA36BB8FFC9B}" type="presParOf" srcId="{63FAF996-17B6-4565-95B8-5525BFF15F87}" destId="{5AC4E7C6-0516-4F23-8B1D-930374DCBD13}" srcOrd="4" destOrd="0" presId="urn:microsoft.com/office/officeart/2005/8/layout/vList3"/>
    <dgm:cxn modelId="{ACE4AA0E-FAFC-49F1-8841-32B4377A8C98}" type="presParOf" srcId="{5AC4E7C6-0516-4F23-8B1D-930374DCBD13}" destId="{D7BDA4AE-CDED-497F-8D27-BB6A03ECD339}" srcOrd="0" destOrd="0" presId="urn:microsoft.com/office/officeart/2005/8/layout/vList3"/>
    <dgm:cxn modelId="{1E2F0B4B-B701-403D-B569-CFD75CA5680E}" type="presParOf" srcId="{5AC4E7C6-0516-4F23-8B1D-930374DCBD13}" destId="{B40D8BEA-10E3-447F-A88D-4B9D0CCDADA8}" srcOrd="1" destOrd="0" presId="urn:microsoft.com/office/officeart/2005/8/layout/vList3"/>
    <dgm:cxn modelId="{31D174FC-B663-4C9A-9622-D922B7AD7CB4}" type="presParOf" srcId="{63FAF996-17B6-4565-95B8-5525BFF15F87}" destId="{076C1414-03CA-451D-867C-AA63A6F63777}" srcOrd="5" destOrd="0" presId="urn:microsoft.com/office/officeart/2005/8/layout/vList3"/>
    <dgm:cxn modelId="{57390CD6-67B1-4C7E-9B02-AE0D00EECE75}" type="presParOf" srcId="{63FAF996-17B6-4565-95B8-5525BFF15F87}" destId="{40B16EB3-0A26-4DFB-B5F6-3EEE4975CF58}" srcOrd="6" destOrd="0" presId="urn:microsoft.com/office/officeart/2005/8/layout/vList3"/>
    <dgm:cxn modelId="{5AE57F0F-82FB-427E-908E-ECDFA94B8C9D}" type="presParOf" srcId="{40B16EB3-0A26-4DFB-B5F6-3EEE4975CF58}" destId="{3D48EC8A-32B4-4680-935B-BC3C68F3E757}" srcOrd="0" destOrd="0" presId="urn:microsoft.com/office/officeart/2005/8/layout/vList3"/>
    <dgm:cxn modelId="{8741D587-410F-4EB6-A2D9-DCDBDA2B1CBC}" type="presParOf" srcId="{40B16EB3-0A26-4DFB-B5F6-3EEE4975CF58}" destId="{56D18AD6-56DC-4AAD-A6C3-DDB11D0DD7FB}" srcOrd="1" destOrd="0" presId="urn:microsoft.com/office/officeart/2005/8/layout/vList3"/>
    <dgm:cxn modelId="{44221C48-963D-40D5-BD81-CD1AFC185D8E}" type="presParOf" srcId="{63FAF996-17B6-4565-95B8-5525BFF15F87}" destId="{FC43943C-B2BF-4CA5-B26A-6ADEEEA6B5F0}" srcOrd="7" destOrd="0" presId="urn:microsoft.com/office/officeart/2005/8/layout/vList3"/>
    <dgm:cxn modelId="{5C9636DD-2049-47AB-9CE9-1C0FDA064968}" type="presParOf" srcId="{63FAF996-17B6-4565-95B8-5525BFF15F87}" destId="{67518188-4599-4EA5-8A6E-2272C3D4331E}" srcOrd="8" destOrd="0" presId="urn:microsoft.com/office/officeart/2005/8/layout/vList3"/>
    <dgm:cxn modelId="{83093189-992F-4BAE-84B7-2632E817B941}" type="presParOf" srcId="{67518188-4599-4EA5-8A6E-2272C3D4331E}" destId="{6628B9CF-2589-4686-BFF6-8A4F7D4C7247}" srcOrd="0" destOrd="0" presId="urn:microsoft.com/office/officeart/2005/8/layout/vList3"/>
    <dgm:cxn modelId="{3173F218-CA83-4FE2-B6DB-408E3918D42D}" type="presParOf" srcId="{67518188-4599-4EA5-8A6E-2272C3D4331E}" destId="{8586F77F-3E68-4405-8DDE-60D63EF14EE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7F23F0-10D1-49CB-B53D-CAD05078BB2A}">
      <dsp:nvSpPr>
        <dsp:cNvPr id="0" name=""/>
        <dsp:cNvSpPr/>
      </dsp:nvSpPr>
      <dsp:spPr>
        <a:xfrm rot="10800000">
          <a:off x="1555106" y="672"/>
          <a:ext cx="5584347" cy="594089"/>
        </a:xfrm>
        <a:prstGeom prst="homePlate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1977" tIns="102870" rIns="192024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Single Inheritance</a:t>
          </a:r>
        </a:p>
      </dsp:txBody>
      <dsp:txXfrm rot="10800000">
        <a:off x="1703628" y="672"/>
        <a:ext cx="5435825" cy="594089"/>
      </dsp:txXfrm>
    </dsp:sp>
    <dsp:sp modelId="{B3A88367-0A4E-4AB1-B93B-2260ADD5A3B7}">
      <dsp:nvSpPr>
        <dsp:cNvPr id="0" name=""/>
        <dsp:cNvSpPr/>
      </dsp:nvSpPr>
      <dsp:spPr>
        <a:xfrm>
          <a:off x="1258061" y="672"/>
          <a:ext cx="594089" cy="594089"/>
        </a:xfrm>
        <a:prstGeom prst="ellipse">
          <a:avLst/>
        </a:prstGeom>
        <a:solidFill>
          <a:schemeClr val="accent3">
            <a:tint val="5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B70FF7-CB4E-4F54-A35F-084E04D25DD1}">
      <dsp:nvSpPr>
        <dsp:cNvPr id="0" name=""/>
        <dsp:cNvSpPr/>
      </dsp:nvSpPr>
      <dsp:spPr>
        <a:xfrm rot="10800000">
          <a:off x="1555106" y="772101"/>
          <a:ext cx="5584347" cy="594089"/>
        </a:xfrm>
        <a:prstGeom prst="homePlate">
          <a:avLst/>
        </a:prstGeom>
        <a:solidFill>
          <a:schemeClr val="accent3">
            <a:alpha val="90000"/>
            <a:hueOff val="0"/>
            <a:satOff val="0"/>
            <a:lumOff val="0"/>
            <a:alphaOff val="-1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1977" tIns="102870" rIns="192024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Multiple Inheritance</a:t>
          </a:r>
        </a:p>
      </dsp:txBody>
      <dsp:txXfrm rot="10800000">
        <a:off x="1703628" y="772101"/>
        <a:ext cx="5435825" cy="594089"/>
      </dsp:txXfrm>
    </dsp:sp>
    <dsp:sp modelId="{B317259B-FF34-444F-9C02-41A9858D51D9}">
      <dsp:nvSpPr>
        <dsp:cNvPr id="0" name=""/>
        <dsp:cNvSpPr/>
      </dsp:nvSpPr>
      <dsp:spPr>
        <a:xfrm>
          <a:off x="1258061" y="772101"/>
          <a:ext cx="594089" cy="594089"/>
        </a:xfrm>
        <a:prstGeom prst="ellipse">
          <a:avLst/>
        </a:prstGeom>
        <a:solidFill>
          <a:schemeClr val="accent3">
            <a:tint val="50000"/>
            <a:alpha val="90000"/>
            <a:hueOff val="1228"/>
            <a:satOff val="-164"/>
            <a:lumOff val="4034"/>
            <a:alphaOff val="-1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0D8BEA-10E3-447F-A88D-4B9D0CCDADA8}">
      <dsp:nvSpPr>
        <dsp:cNvPr id="0" name=""/>
        <dsp:cNvSpPr/>
      </dsp:nvSpPr>
      <dsp:spPr>
        <a:xfrm rot="10800000">
          <a:off x="1555106" y="1543531"/>
          <a:ext cx="5584347" cy="594089"/>
        </a:xfrm>
        <a:prstGeom prst="homePlate">
          <a:avLst/>
        </a:prstGeom>
        <a:solidFill>
          <a:schemeClr val="accent3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1977" tIns="102870" rIns="192024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Multilevel Inheritance</a:t>
          </a:r>
        </a:p>
      </dsp:txBody>
      <dsp:txXfrm rot="10800000">
        <a:off x="1703628" y="1543531"/>
        <a:ext cx="5435825" cy="594089"/>
      </dsp:txXfrm>
    </dsp:sp>
    <dsp:sp modelId="{D7BDA4AE-CDED-497F-8D27-BB6A03ECD339}">
      <dsp:nvSpPr>
        <dsp:cNvPr id="0" name=""/>
        <dsp:cNvSpPr/>
      </dsp:nvSpPr>
      <dsp:spPr>
        <a:xfrm>
          <a:off x="1258061" y="1543531"/>
          <a:ext cx="594089" cy="594089"/>
        </a:xfrm>
        <a:prstGeom prst="ellipse">
          <a:avLst/>
        </a:prstGeom>
        <a:solidFill>
          <a:schemeClr val="accent3">
            <a:tint val="50000"/>
            <a:alpha val="90000"/>
            <a:hueOff val="2457"/>
            <a:satOff val="-328"/>
            <a:lumOff val="8069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D18AD6-56DC-4AAD-A6C3-DDB11D0DD7FB}">
      <dsp:nvSpPr>
        <dsp:cNvPr id="0" name=""/>
        <dsp:cNvSpPr/>
      </dsp:nvSpPr>
      <dsp:spPr>
        <a:xfrm rot="10800000">
          <a:off x="1555106" y="2314960"/>
          <a:ext cx="5584347" cy="594089"/>
        </a:xfrm>
        <a:prstGeom prst="homePlate">
          <a:avLst/>
        </a:prstGeom>
        <a:solidFill>
          <a:schemeClr val="accent3">
            <a:alpha val="90000"/>
            <a:hueOff val="0"/>
            <a:satOff val="0"/>
            <a:lumOff val="0"/>
            <a:alphaOff val="-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1977" tIns="102870" rIns="192024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Hierarchical Inheritance</a:t>
          </a:r>
        </a:p>
      </dsp:txBody>
      <dsp:txXfrm rot="10800000">
        <a:off x="1703628" y="2314960"/>
        <a:ext cx="5435825" cy="594089"/>
      </dsp:txXfrm>
    </dsp:sp>
    <dsp:sp modelId="{3D48EC8A-32B4-4680-935B-BC3C68F3E757}">
      <dsp:nvSpPr>
        <dsp:cNvPr id="0" name=""/>
        <dsp:cNvSpPr/>
      </dsp:nvSpPr>
      <dsp:spPr>
        <a:xfrm>
          <a:off x="1258061" y="2314960"/>
          <a:ext cx="594089" cy="594089"/>
        </a:xfrm>
        <a:prstGeom prst="ellipse">
          <a:avLst/>
        </a:prstGeom>
        <a:solidFill>
          <a:schemeClr val="accent3">
            <a:tint val="50000"/>
            <a:alpha val="90000"/>
            <a:hueOff val="3685"/>
            <a:satOff val="-492"/>
            <a:lumOff val="12103"/>
            <a:alphaOff val="-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86F77F-3E68-4405-8DDE-60D63EF14EE7}">
      <dsp:nvSpPr>
        <dsp:cNvPr id="0" name=""/>
        <dsp:cNvSpPr/>
      </dsp:nvSpPr>
      <dsp:spPr>
        <a:xfrm rot="10800000">
          <a:off x="1555106" y="3086390"/>
          <a:ext cx="5584347" cy="594089"/>
        </a:xfrm>
        <a:prstGeom prst="homePlate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1977" tIns="102870" rIns="192024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Hybrid Inheritance</a:t>
          </a:r>
        </a:p>
      </dsp:txBody>
      <dsp:txXfrm rot="10800000">
        <a:off x="1703628" y="3086390"/>
        <a:ext cx="5435825" cy="594089"/>
      </dsp:txXfrm>
    </dsp:sp>
    <dsp:sp modelId="{6628B9CF-2589-4686-BFF6-8A4F7D4C7247}">
      <dsp:nvSpPr>
        <dsp:cNvPr id="0" name=""/>
        <dsp:cNvSpPr/>
      </dsp:nvSpPr>
      <dsp:spPr>
        <a:xfrm>
          <a:off x="1258061" y="3086390"/>
          <a:ext cx="594089" cy="594089"/>
        </a:xfrm>
        <a:prstGeom prst="ellipse">
          <a:avLst/>
        </a:prstGeom>
        <a:solidFill>
          <a:schemeClr val="accent3">
            <a:tint val="50000"/>
            <a:alpha val="90000"/>
            <a:hueOff val="4914"/>
            <a:satOff val="-656"/>
            <a:lumOff val="16138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BF02B-CB74-4931-964A-2B7EE88A446F}" type="datetimeFigureOut">
              <a:rPr lang="en-US" smtClean="0"/>
              <a:t>5/22/2021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5F786F-71FF-43CB-81E5-3E61CCC887E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57738" y="1629966"/>
            <a:ext cx="3857625" cy="1568106"/>
          </a:xfrm>
        </p:spPr>
        <p:txBody>
          <a:bodyPr anchor="b">
            <a:noAutofit/>
          </a:bodyPr>
          <a:lstStyle>
            <a:lvl1pPr algn="l">
              <a:defRPr sz="41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7738" y="3209979"/>
            <a:ext cx="3857625" cy="377375"/>
          </a:xfrm>
        </p:spPr>
        <p:txBody>
          <a:bodyPr>
            <a:noAutofit/>
          </a:bodyPr>
          <a:lstStyle>
            <a:lvl1pPr marL="0" indent="0" algn="l">
              <a:buNone/>
              <a:defRPr sz="14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109" y="546409"/>
            <a:ext cx="3979246" cy="3979246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4852334" y="3175187"/>
            <a:ext cx="18992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831" y="860923"/>
            <a:ext cx="2920449" cy="78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57738" y="1629966"/>
            <a:ext cx="3857625" cy="1568106"/>
          </a:xfrm>
        </p:spPr>
        <p:txBody>
          <a:bodyPr anchor="b">
            <a:noAutofit/>
          </a:bodyPr>
          <a:lstStyle>
            <a:lvl1pPr algn="l">
              <a:defRPr sz="41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7738" y="3209979"/>
            <a:ext cx="3857625" cy="377375"/>
          </a:xfrm>
        </p:spPr>
        <p:txBody>
          <a:bodyPr>
            <a:noAutofit/>
          </a:bodyPr>
          <a:lstStyle>
            <a:lvl1pPr marL="0" indent="0" algn="l">
              <a:buNone/>
              <a:defRPr sz="1400" b="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109" y="546409"/>
            <a:ext cx="3979246" cy="3979246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4852334" y="3175187"/>
            <a:ext cx="1899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335" y="168335"/>
            <a:ext cx="2458683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rgbClr val="2C567A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14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6923"/>
            <a:ext cx="7886700" cy="705136"/>
          </a:xfrm>
        </p:spPr>
        <p:txBody>
          <a:bodyPr anchor="b">
            <a:noAutofit/>
          </a:bodyPr>
          <a:lstStyle>
            <a:lvl1pPr algn="ctr">
              <a:defRPr sz="3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04541" y="866124"/>
            <a:ext cx="5925394" cy="573345"/>
          </a:xfrm>
        </p:spPr>
        <p:txBody>
          <a:bodyPr>
            <a:noAutofit/>
          </a:bodyPr>
          <a:lstStyle>
            <a:lvl1pPr marL="0" indent="0" algn="ctr">
              <a:buNone/>
              <a:defRPr sz="140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Dummy Text Comes Here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rgbClr val="2C567A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44781" y="1702782"/>
            <a:ext cx="4654800" cy="3440719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12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75" y="4586562"/>
            <a:ext cx="2027592" cy="541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218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6923"/>
            <a:ext cx="7886700" cy="705136"/>
          </a:xfrm>
        </p:spPr>
        <p:txBody>
          <a:bodyPr anchor="b">
            <a:noAutofit/>
          </a:bodyPr>
          <a:lstStyle>
            <a:lvl1pPr algn="ctr">
              <a:defRPr sz="3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04541" y="866124"/>
            <a:ext cx="5925394" cy="573345"/>
          </a:xfrm>
        </p:spPr>
        <p:txBody>
          <a:bodyPr>
            <a:noAutofit/>
          </a:bodyPr>
          <a:lstStyle>
            <a:lvl1pPr marL="0" indent="0" algn="ctr">
              <a:buNone/>
              <a:defRPr sz="140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Dummy Text Comes Here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rgbClr val="2C567A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44781" y="1702782"/>
            <a:ext cx="4654800" cy="3440719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12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75" y="4586562"/>
            <a:ext cx="2027592" cy="541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629536" y="957263"/>
            <a:ext cx="7899216" cy="366737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 algn="l">
              <a:defRPr sz="2400" b="1" cap="all" baseline="0"/>
            </a:lvl1pPr>
          </a:lstStyle>
          <a:p>
            <a:r>
              <a:rPr lang="en-US" noProof="0" dirty="0"/>
              <a:t>Agenda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56416" y="1150144"/>
            <a:ext cx="7616059" cy="450056"/>
          </a:xfr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EDIT </a:t>
            </a:r>
            <a:r>
              <a:rPr lang="en-US" noProof="0" dirty="0" err="1"/>
              <a:t>stYLES</a:t>
            </a:r>
            <a:endParaRPr lang="en-US" noProof="0" dirty="0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56417" y="1685925"/>
            <a:ext cx="7587484" cy="2814638"/>
          </a:xfrm>
          <a:noFill/>
          <a:ln w="12700">
            <a:solidFill>
              <a:schemeClr val="tx1"/>
            </a:solidFill>
          </a:ln>
        </p:spPr>
        <p:txBody>
          <a:bodyPr lIns="0" tIns="0" rIns="0" bIns="0">
            <a:normAutofit/>
          </a:bodyPr>
          <a:lstStyle>
            <a:lvl1pPr marL="342900" indent="-342900" algn="l">
              <a:buFont typeface="Courier New" panose="02070309020205020404" pitchFamily="49" charset="0"/>
              <a:buChar char="o"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1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074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/>
        </p:nvGrpSpPr>
        <p:grpSpPr>
          <a:xfrm>
            <a:off x="0" y="905503"/>
            <a:ext cx="9144000" cy="3350897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473" y="2690827"/>
            <a:ext cx="1294597" cy="21869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500" b="1" i="1">
                <a:solidFill>
                  <a:schemeClr val="tx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20XX-20XX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6473" y="2945400"/>
            <a:ext cx="1294597" cy="28392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50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3 Years Plan</a:t>
            </a:r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346472" y="4294034"/>
            <a:ext cx="713184" cy="51435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923847" y="647733"/>
            <a:ext cx="783000" cy="783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17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11226" y="632985"/>
            <a:ext cx="783000" cy="783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3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Q1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058827" y="327230"/>
            <a:ext cx="1294597" cy="15320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00" b="0" i="0">
                <a:solidFill>
                  <a:srgbClr val="BAC82F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58826" y="464068"/>
            <a:ext cx="1294597" cy="1320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80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9352" y="647733"/>
            <a:ext cx="783000" cy="783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3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67011" y="1519406"/>
            <a:ext cx="1294597" cy="15320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00" b="0" i="0">
                <a:solidFill>
                  <a:srgbClr val="81BF3B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67010" y="1656244"/>
            <a:ext cx="1294597" cy="1320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80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27478" y="647733"/>
            <a:ext cx="783000" cy="783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3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66544" y="328346"/>
            <a:ext cx="1294597" cy="15320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00" b="0" i="0">
                <a:solidFill>
                  <a:srgbClr val="2CA05B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66543" y="464068"/>
            <a:ext cx="1294597" cy="1320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80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5604" y="647733"/>
            <a:ext cx="783000" cy="783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3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80155" y="1519406"/>
            <a:ext cx="1294597" cy="15320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00" b="0" i="0">
                <a:solidFill>
                  <a:srgbClr val="1B866F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0154" y="1656244"/>
            <a:ext cx="1294597" cy="1320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80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28816" y="1438055"/>
            <a:ext cx="783000" cy="783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17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35604" y="2185618"/>
            <a:ext cx="783000" cy="783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3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Q1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078878" y="3055046"/>
            <a:ext cx="1294597" cy="15320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00" b="0" i="0">
                <a:solidFill>
                  <a:srgbClr val="0C6D82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78877" y="3191884"/>
            <a:ext cx="1294597" cy="1320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80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27478" y="2185618"/>
            <a:ext cx="783000" cy="783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3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66543" y="1879236"/>
            <a:ext cx="1294597" cy="15320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00" b="0" i="0">
                <a:solidFill>
                  <a:srgbClr val="403474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66542" y="2016074"/>
            <a:ext cx="1294597" cy="1320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80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19352" y="2185618"/>
            <a:ext cx="783000" cy="783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3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065734" y="3055046"/>
            <a:ext cx="1294597" cy="15320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00" b="0" i="0">
                <a:solidFill>
                  <a:srgbClr val="571B6D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065733" y="3191884"/>
            <a:ext cx="1294597" cy="1320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80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11226" y="2185618"/>
            <a:ext cx="783000" cy="783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3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053399" y="1879236"/>
            <a:ext cx="1294597" cy="15320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00" b="0" i="0">
                <a:solidFill>
                  <a:srgbClr val="6F0066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053398" y="2016074"/>
            <a:ext cx="1294597" cy="1320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80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1069" y="2984646"/>
            <a:ext cx="783000" cy="783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17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11226" y="3727770"/>
            <a:ext cx="783000" cy="783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3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Q1</a:t>
            </a:r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056743" y="3425819"/>
            <a:ext cx="1294597" cy="15320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00" b="0" i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056742" y="3562657"/>
            <a:ext cx="1294597" cy="1320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80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9352" y="3727770"/>
            <a:ext cx="783000" cy="783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3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067598" y="4591001"/>
            <a:ext cx="1294597" cy="15320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00" b="0" i="0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067598" y="4727839"/>
            <a:ext cx="1294597" cy="1320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80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27478" y="3727770"/>
            <a:ext cx="783000" cy="783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3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69887" y="3425819"/>
            <a:ext cx="1294597" cy="15320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00" b="0" i="0">
                <a:solidFill>
                  <a:srgbClr val="E8611D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69886" y="3562657"/>
            <a:ext cx="1294597" cy="1320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80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35604" y="3727770"/>
            <a:ext cx="783000" cy="783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3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080742" y="4591001"/>
            <a:ext cx="1294597" cy="15320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00" b="0" i="0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80742" y="4727839"/>
            <a:ext cx="1294597" cy="1320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80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720074" y="3730079"/>
            <a:ext cx="783000" cy="783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17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54416" y="413144"/>
            <a:ext cx="2057400" cy="1325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67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 txBox="1">
            <a:spLocks/>
          </p:cNvSpPr>
          <p:nvPr/>
        </p:nvSpPr>
        <p:spPr>
          <a:xfrm>
            <a:off x="8522772" y="4841805"/>
            <a:ext cx="220845" cy="1405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C71654-96A5-4280-94F3-931C61A9F9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8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 algn="l">
              <a:defRPr sz="2400" b="1" cap="all" baseline="0"/>
            </a:lvl1pPr>
          </a:lstStyle>
          <a:p>
            <a:r>
              <a:rPr lang="en-US" noProof="0" dirty="0"/>
              <a:t>Agenda</a:t>
            </a:r>
          </a:p>
        </p:txBody>
      </p:sp>
      <p:pic>
        <p:nvPicPr>
          <p:cNvPr id="70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643052" y="49213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7072" y="49561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73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/>
        </p:nvSpPr>
        <p:spPr>
          <a:xfrm>
            <a:off x="2993232" y="1222514"/>
            <a:ext cx="6150769" cy="32799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1" y="1222514"/>
            <a:ext cx="2912864" cy="32799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4344" y="1778794"/>
            <a:ext cx="2584175" cy="2593181"/>
          </a:xfrm>
        </p:spPr>
        <p:txBody>
          <a:bodyPr lIns="0" tIns="0" rIns="0" bIns="0">
            <a:normAutofit/>
          </a:bodyPr>
          <a:lstStyle>
            <a:lvl1pPr marL="342900" marR="0" indent="-34290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>
                  <a:lumMod val="75000"/>
                  <a:lumOff val="25000"/>
                </a:schemeClr>
              </a:buClr>
              <a:buSzTx/>
              <a:buFont typeface="Wingdings" panose="05000000000000000000" pitchFamily="2" charset="2"/>
              <a:buChar char="§"/>
              <a:tabLst/>
              <a:defRPr lang="en-U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noProof="0" dirty="0"/>
              <a:t>Edit Master text styles</a:t>
            </a:r>
          </a:p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endParaRPr lang="en-US" noProof="0" dirty="0"/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064669" y="1778794"/>
            <a:ext cx="2564606" cy="2504972"/>
          </a:xfrm>
          <a:noFill/>
          <a:ln w="12700">
            <a:solidFill>
              <a:schemeClr val="tx1"/>
            </a:solidFill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64344" y="1321594"/>
            <a:ext cx="2584175" cy="450056"/>
          </a:xfr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EDIT </a:t>
            </a:r>
            <a:r>
              <a:rPr lang="en-US" noProof="0" dirty="0" err="1"/>
              <a:t>stYLES</a:t>
            </a:r>
            <a:endParaRPr lang="en-US" noProof="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064041" y="1314451"/>
            <a:ext cx="2565358" cy="457200"/>
          </a:xfrm>
          <a:solidFill>
            <a:schemeClr val="accent2">
              <a:lumMod val="40000"/>
              <a:lumOff val="6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500" b="1" cap="all" baseline="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964023" y="1793082"/>
            <a:ext cx="2564606" cy="2504972"/>
          </a:xfrm>
          <a:noFill/>
          <a:ln w="12700">
            <a:solidFill>
              <a:schemeClr val="tx1"/>
            </a:solidFill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963394" y="1328738"/>
            <a:ext cx="2565358" cy="457200"/>
          </a:xfrm>
          <a:solidFill>
            <a:schemeClr val="accent2">
              <a:lumMod val="40000"/>
              <a:lumOff val="6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500" b="1" cap="all" baseline="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8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54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/>
        </p:nvSpPr>
        <p:spPr>
          <a:xfrm>
            <a:off x="2993232" y="1222514"/>
            <a:ext cx="6150769" cy="32799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1" y="1222514"/>
            <a:ext cx="2912864" cy="32799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4344" y="1778794"/>
            <a:ext cx="2584175" cy="2593181"/>
          </a:xfrm>
        </p:spPr>
        <p:txBody>
          <a:bodyPr lIns="0" tIns="0" rIns="0" bIns="0">
            <a:normAutofit/>
          </a:bodyPr>
          <a:lstStyle>
            <a:lvl1pPr marL="342900" marR="0" indent="-34290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>
                  <a:lumMod val="75000"/>
                  <a:lumOff val="25000"/>
                </a:schemeClr>
              </a:buClr>
              <a:buSzTx/>
              <a:buFont typeface="Wingdings" panose="05000000000000000000" pitchFamily="2" charset="2"/>
              <a:buChar char="§"/>
              <a:tabLst/>
              <a:defRPr lang="en-U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noProof="0" dirty="0"/>
              <a:t>Edit Master text styles</a:t>
            </a:r>
          </a:p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endParaRPr lang="en-US" noProof="0" dirty="0"/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150394" y="1850232"/>
            <a:ext cx="5793581" cy="2504972"/>
          </a:xfrm>
          <a:noFill/>
          <a:ln w="12700">
            <a:solidFill>
              <a:schemeClr val="tx1"/>
            </a:solidFill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64344" y="1321594"/>
            <a:ext cx="2584175" cy="450056"/>
          </a:xfr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EDIT </a:t>
            </a:r>
            <a:r>
              <a:rPr lang="en-US" noProof="0" dirty="0" err="1"/>
              <a:t>stYLES</a:t>
            </a:r>
            <a:endParaRPr lang="en-US" noProof="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149766" y="1385888"/>
            <a:ext cx="5808497" cy="457200"/>
          </a:xfrm>
          <a:solidFill>
            <a:schemeClr val="accent2">
              <a:lumMod val="40000"/>
              <a:lumOff val="6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500" b="1" cap="all" baseline="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3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905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0" y="1222514"/>
            <a:ext cx="8633771" cy="32799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4344" y="1778794"/>
            <a:ext cx="8364407" cy="2593181"/>
          </a:xfrm>
        </p:spPr>
        <p:txBody>
          <a:bodyPr lIns="0" tIns="0" rIns="0" bIns="0">
            <a:normAutofit/>
          </a:bodyPr>
          <a:lstStyle>
            <a:lvl1pPr marL="342900" marR="0" indent="-34290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3">
                  <a:lumMod val="75000"/>
                  <a:lumOff val="25000"/>
                </a:schemeClr>
              </a:buClr>
              <a:buSzTx/>
              <a:buFont typeface="Wingdings" panose="05000000000000000000" pitchFamily="2" charset="2"/>
              <a:buChar char="§"/>
              <a:tabLst/>
              <a:defRPr lang="en-U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noProof="0" dirty="0"/>
              <a:t>Edit Master text styles</a:t>
            </a:r>
          </a:p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endParaRPr lang="en-US" noProof="0" dirty="0"/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64344" y="1321594"/>
            <a:ext cx="8364407" cy="450056"/>
          </a:xfr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EDIT </a:t>
            </a:r>
            <a:r>
              <a:rPr lang="en-US" noProof="0" dirty="0" err="1"/>
              <a:t>stYLES</a:t>
            </a:r>
            <a:endParaRPr lang="en-US" noProof="0" dirty="0"/>
          </a:p>
        </p:txBody>
      </p:sp>
      <p:pic>
        <p:nvPicPr>
          <p:cNvPr id="12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403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20" y="1369219"/>
            <a:ext cx="3685642" cy="3263504"/>
          </a:xfrm>
        </p:spPr>
        <p:txBody>
          <a:bodyPr lIns="0" tIns="0" rIns="0" bIns="0">
            <a:noAutofit/>
          </a:bodyPr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13486" y="0"/>
            <a:ext cx="4730515" cy="4335279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374697"/>
            <a:ext cx="3702908" cy="994172"/>
          </a:xfrm>
        </p:spPr>
        <p:txBody>
          <a:bodyPr lIns="0" tIns="0" rIns="0" bIns="0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7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374697"/>
            <a:ext cx="3702908" cy="994172"/>
          </a:xfrm>
        </p:spPr>
        <p:txBody>
          <a:bodyPr lIns="0" tIns="0" rIns="0" bIns="0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4220" y="1369219"/>
            <a:ext cx="3685642" cy="3263504"/>
          </a:xfrm>
        </p:spPr>
        <p:txBody>
          <a:bodyPr lIns="0" tIns="0" rIns="0" bIns="0">
            <a:noAutofit/>
          </a:bodyPr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/>
        </p:nvSpPr>
        <p:spPr>
          <a:xfrm>
            <a:off x="5890847" y="741403"/>
            <a:ext cx="3246847" cy="366069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/>
        </p:nvSpPr>
        <p:spPr>
          <a:xfrm>
            <a:off x="3830862" y="475210"/>
            <a:ext cx="4178931" cy="4178930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91409" y="741402"/>
            <a:ext cx="3663636" cy="3663636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11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/>
        </p:nvSpPr>
        <p:spPr>
          <a:xfrm>
            <a:off x="6231136" y="1222514"/>
            <a:ext cx="2912864" cy="32799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/>
        </p:nvSpPr>
        <p:spPr>
          <a:xfrm>
            <a:off x="7375276" y="1367818"/>
            <a:ext cx="624078" cy="62407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98739" y="1491280"/>
            <a:ext cx="377155" cy="377155"/>
          </a:xfrm>
          <a:prstGeom prst="rect">
            <a:avLst/>
          </a:prstGeom>
          <a:noFill/>
        </p:spPr>
        <p:txBody>
          <a:bodyPr lIns="0" rIns="0" anchor="ctr">
            <a:no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1" y="1222514"/>
            <a:ext cx="2912864" cy="32799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/>
        </p:nvSpPr>
        <p:spPr>
          <a:xfrm>
            <a:off x="1144508" y="1367818"/>
            <a:ext cx="624078" cy="624078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4344" y="2405269"/>
            <a:ext cx="2584175" cy="187849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12864" y="1222514"/>
            <a:ext cx="3318272" cy="327991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95618" y="2405269"/>
            <a:ext cx="2583900" cy="187849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64344" y="2033727"/>
            <a:ext cx="2584175" cy="37154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400" b="1" cap="all" baseline="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395343" y="2033727"/>
            <a:ext cx="2584175" cy="37154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400" b="1" cap="all" baseline="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67970" y="1491280"/>
            <a:ext cx="377155" cy="377155"/>
          </a:xfrm>
          <a:prstGeom prst="rect">
            <a:avLst/>
          </a:prstGeom>
          <a:noFill/>
        </p:spPr>
        <p:txBody>
          <a:bodyPr lIns="0" rIns="0" anchor="ctr">
            <a:no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pic>
        <p:nvPicPr>
          <p:cNvPr id="18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/>
        </p:nvSpPr>
        <p:spPr>
          <a:xfrm>
            <a:off x="4949428" y="3530932"/>
            <a:ext cx="4194572" cy="7548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/>
        </p:nvSpPr>
        <p:spPr>
          <a:xfrm>
            <a:off x="-61547" y="1236140"/>
            <a:ext cx="4281854" cy="7548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0700" y="2147369"/>
            <a:ext cx="3055502" cy="2134986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82027" y="1427796"/>
            <a:ext cx="2584175" cy="371542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400" b="1" cap="all" baseline="0">
                <a:solidFill>
                  <a:schemeClr val="accent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/>
              <a:t>Topic 01 comes here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495938" y="1236140"/>
            <a:ext cx="3055502" cy="2125881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5606782" y="3722588"/>
            <a:ext cx="2584175" cy="371542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400" b="1" cap="all" baseline="0">
                <a:solidFill>
                  <a:schemeClr val="accent3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/>
              <a:t>Topic 02 comes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/>
        </p:nvSpPr>
        <p:spPr>
          <a:xfrm>
            <a:off x="3813573" y="1239572"/>
            <a:ext cx="751424" cy="75142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962227" y="1388227"/>
            <a:ext cx="454115" cy="454115"/>
          </a:xfrm>
          <a:prstGeom prst="rect">
            <a:avLst/>
          </a:prstGeom>
          <a:noFill/>
        </p:spPr>
        <p:txBody>
          <a:bodyPr lIns="0" rIns="0"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/>
        </p:nvSpPr>
        <p:spPr>
          <a:xfrm>
            <a:off x="4575433" y="3530931"/>
            <a:ext cx="751424" cy="75142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9" name="Picture Placehold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724087" y="3679585"/>
            <a:ext cx="454115" cy="454115"/>
          </a:xfrm>
          <a:prstGeom prst="rect">
            <a:avLst/>
          </a:prstGeom>
          <a:noFill/>
        </p:spPr>
        <p:txBody>
          <a:bodyPr lIns="0" rIns="0"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pic>
        <p:nvPicPr>
          <p:cNvPr id="17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5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EE52E89-C526-4F73-86FB-0EB31587C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323699"/>
              </p:ext>
            </p:extLst>
          </p:nvPr>
        </p:nvGraphicFramePr>
        <p:xfrm>
          <a:off x="386954" y="1207847"/>
          <a:ext cx="8362950" cy="2947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590">
                  <a:extLst>
                    <a:ext uri="{9D8B030D-6E8A-4147-A177-3AD203B41FA5}">
                      <a16:colId xmlns:a16="http://schemas.microsoft.com/office/drawing/2014/main" val="2785900615"/>
                    </a:ext>
                  </a:extLst>
                </a:gridCol>
                <a:gridCol w="1672590">
                  <a:extLst>
                    <a:ext uri="{9D8B030D-6E8A-4147-A177-3AD203B41FA5}">
                      <a16:colId xmlns:a16="http://schemas.microsoft.com/office/drawing/2014/main" val="2287965835"/>
                    </a:ext>
                  </a:extLst>
                </a:gridCol>
                <a:gridCol w="1672590">
                  <a:extLst>
                    <a:ext uri="{9D8B030D-6E8A-4147-A177-3AD203B41FA5}">
                      <a16:colId xmlns:a16="http://schemas.microsoft.com/office/drawing/2014/main" val="1756528531"/>
                    </a:ext>
                  </a:extLst>
                </a:gridCol>
                <a:gridCol w="1672590">
                  <a:extLst>
                    <a:ext uri="{9D8B030D-6E8A-4147-A177-3AD203B41FA5}">
                      <a16:colId xmlns:a16="http://schemas.microsoft.com/office/drawing/2014/main" val="3202057861"/>
                    </a:ext>
                  </a:extLst>
                </a:gridCol>
                <a:gridCol w="1672590">
                  <a:extLst>
                    <a:ext uri="{9D8B030D-6E8A-4147-A177-3AD203B41FA5}">
                      <a16:colId xmlns:a16="http://schemas.microsoft.com/office/drawing/2014/main" val="2509247184"/>
                    </a:ext>
                  </a:extLst>
                </a:gridCol>
              </a:tblGrid>
              <a:tr h="44422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TOPIC 01</a:t>
                      </a:r>
                      <a:endParaRPr lang="en-IN" sz="1100" dirty="0"/>
                    </a:p>
                  </a:txBody>
                  <a:tcPr marL="68580" marR="68580" marT="34290" marB="3429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TOPIC 02</a:t>
                      </a:r>
                      <a:endParaRPr lang="en-IN" sz="11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TOPIC 03</a:t>
                      </a:r>
                      <a:endParaRPr lang="en-IN" sz="11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TOPIC 04</a:t>
                      </a:r>
                      <a:endParaRPr lang="en-IN" sz="11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TOPIC 05</a:t>
                      </a:r>
                      <a:endParaRPr lang="en-IN" sz="11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306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Item 01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18677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Item 02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8147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Item 03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54159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Item 04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9365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Item 05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6711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Item 06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7346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Item 07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8003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Item 08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7626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IN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Text</a:t>
                      </a:r>
                      <a:endParaRPr lang="en-IN" sz="1200" b="1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Text</a:t>
                      </a:r>
                      <a:endParaRPr lang="en-IN" sz="1200" dirty="0"/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27340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5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53" y="951571"/>
            <a:ext cx="8397515" cy="368115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27592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5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414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2050" name="Picture 2" descr="C:\25July2018\Data\ArunPersonal\CanWork\DoItSkillsTrainingWebsite\DoItSKillsLogoDDDD\Logojoy download (7137b915-85a7-11e8-9b81-f76bf13973c9)\png\transparent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666914">
            <a:off x="5232797" y="519048"/>
            <a:ext cx="3850481" cy="355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87135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/>
        </p:nvSpPr>
        <p:spPr>
          <a:xfrm>
            <a:off x="715605" y="1273852"/>
            <a:ext cx="1296999" cy="1296999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/>
        </p:nvSpPr>
        <p:spPr>
          <a:xfrm>
            <a:off x="2855654" y="1273852"/>
            <a:ext cx="1296999" cy="1296999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/>
        </p:nvSpPr>
        <p:spPr>
          <a:xfrm>
            <a:off x="4984706" y="1273852"/>
            <a:ext cx="1296999" cy="1296999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/>
        </p:nvSpPr>
        <p:spPr>
          <a:xfrm>
            <a:off x="7123994" y="1273852"/>
            <a:ext cx="1296999" cy="1296999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/>
        </p:nvSpPr>
        <p:spPr>
          <a:xfrm>
            <a:off x="3008975" y="1333659"/>
            <a:ext cx="990357" cy="271566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/>
        </p:nvSpPr>
        <p:spPr>
          <a:xfrm>
            <a:off x="5138027" y="1333659"/>
            <a:ext cx="990357" cy="271566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/>
        </p:nvSpPr>
        <p:spPr>
          <a:xfrm>
            <a:off x="7277315" y="1333659"/>
            <a:ext cx="990357" cy="271566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/>
        </p:nvSpPr>
        <p:spPr>
          <a:xfrm>
            <a:off x="868926" y="1333659"/>
            <a:ext cx="990357" cy="271566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7729" y="1386402"/>
            <a:ext cx="1072753" cy="1072753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67778" y="1386402"/>
            <a:ext cx="1072753" cy="1072753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96830" y="1386402"/>
            <a:ext cx="1072753" cy="1072753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36117" y="1386402"/>
            <a:ext cx="1072753" cy="1072753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341" y="3039230"/>
            <a:ext cx="1941529" cy="1311754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93341" y="2654451"/>
            <a:ext cx="1941529" cy="37154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 b="1" cap="all" baseline="0">
                <a:solidFill>
                  <a:srgbClr val="0D1D5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2533390" y="3039230"/>
            <a:ext cx="1941529" cy="1311754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2533390" y="2654451"/>
            <a:ext cx="1941529" cy="37154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 b="1" cap="all" baseline="0">
                <a:solidFill>
                  <a:srgbClr val="0D1D5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4662442" y="3039230"/>
            <a:ext cx="1941529" cy="1311754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662442" y="2654451"/>
            <a:ext cx="1941529" cy="37154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 b="1" cap="all" baseline="0">
                <a:solidFill>
                  <a:srgbClr val="0D1D5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801729" y="3039230"/>
            <a:ext cx="1941529" cy="1311754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801729" y="2654451"/>
            <a:ext cx="1941529" cy="37154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 b="1" cap="all" baseline="0">
                <a:solidFill>
                  <a:srgbClr val="0D1D5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pic>
        <p:nvPicPr>
          <p:cNvPr id="39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1598" y="3363519"/>
            <a:ext cx="3405330" cy="377375"/>
          </a:xfrm>
        </p:spPr>
        <p:txBody>
          <a:bodyPr>
            <a:noAutofit/>
          </a:bodyPr>
          <a:lstStyle>
            <a:lvl1pPr marL="0" indent="0" algn="l">
              <a:buNone/>
              <a:defRPr sz="12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email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109" y="546409"/>
            <a:ext cx="3979246" cy="3979246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4852334" y="3175187"/>
            <a:ext cx="18992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51740" y="3759476"/>
            <a:ext cx="3400425" cy="377429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200" b="0" cap="all" baseline="0" dirty="0" smtClean="0"/>
            </a:lvl1pPr>
          </a:lstStyle>
          <a:p>
            <a:pPr marL="171450" lvl="0" indent="-171450"/>
            <a:r>
              <a:rPr lang="en-US" noProof="0" dirty="0"/>
              <a:t>Website </a:t>
            </a:r>
            <a:r>
              <a:rPr lang="en-US" noProof="0" dirty="0" err="1"/>
              <a:t>url</a:t>
            </a:r>
            <a:r>
              <a:rPr lang="en-US" noProof="0" dirty="0"/>
              <a:t> here</a:t>
            </a:r>
          </a:p>
        </p:txBody>
      </p:sp>
      <p:pic>
        <p:nvPicPr>
          <p:cNvPr id="17" name="Graphic 16" descr="Envelope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6107" y="3339253"/>
            <a:ext cx="290846" cy="290846"/>
          </a:xfrm>
          <a:prstGeom prst="rect">
            <a:avLst/>
          </a:prstGeom>
        </p:spPr>
      </p:pic>
      <p:pic>
        <p:nvPicPr>
          <p:cNvPr id="18" name="Graphic 17" descr="Network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91564" y="3694231"/>
            <a:ext cx="319931" cy="3199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333" y="2571750"/>
            <a:ext cx="3758558" cy="488586"/>
          </a:xfrm>
          <a:noFill/>
        </p:spPr>
        <p:txBody>
          <a:bodyPr wrap="square" rtlCol="0">
            <a:noAutofit/>
          </a:bodyPr>
          <a:lstStyle>
            <a:lvl1pPr>
              <a:defRPr lang="en-US" sz="45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21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749" y="1383660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0601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35357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109" y="546409"/>
            <a:ext cx="3979246" cy="3979246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/>
        </p:nvCxnSpPr>
        <p:spPr>
          <a:xfrm>
            <a:off x="4852334" y="3175187"/>
            <a:ext cx="1899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Envelope">
            <a:extLst>
              <a:ext uri="{FF2B5EF4-FFF2-40B4-BE49-F238E27FC236}">
                <a16:creationId xmlns:a16="http://schemas.microsoft.com/office/drawing/2014/main" id="{A686352B-226C-4579-B831-0DC14EC389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6107" y="3339253"/>
            <a:ext cx="290846" cy="290846"/>
          </a:xfrm>
          <a:prstGeom prst="rect">
            <a:avLst/>
          </a:prstGeom>
        </p:spPr>
      </p:pic>
      <p:pic>
        <p:nvPicPr>
          <p:cNvPr id="20" name="Graphic 19" descr="Network">
            <a:extLst>
              <a:ext uri="{FF2B5EF4-FFF2-40B4-BE49-F238E27FC236}">
                <a16:creationId xmlns:a16="http://schemas.microsoft.com/office/drawing/2014/main" id="{460C8169-012B-451A-A6C2-6FEC0DC82A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1564" y="3694231"/>
            <a:ext cx="319931" cy="319931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ADF17BC1-06CE-42EA-A970-31A7ED871A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1598" y="3363519"/>
            <a:ext cx="3405330" cy="377375"/>
          </a:xfrm>
        </p:spPr>
        <p:txBody>
          <a:bodyPr>
            <a:noAutofit/>
          </a:bodyPr>
          <a:lstStyle>
            <a:lvl1pPr marL="0" indent="0" algn="l">
              <a:buNone/>
              <a:defRPr sz="1200" b="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email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035F1B3-4E91-44FF-B4E7-E5D87C7A0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51740" y="3759476"/>
            <a:ext cx="3400425" cy="377429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200" b="0" cap="all" baseline="0" dirty="0" smtClean="0">
                <a:solidFill>
                  <a:schemeClr val="bg1"/>
                </a:solidFill>
              </a:defRPr>
            </a:lvl1pPr>
          </a:lstStyle>
          <a:p>
            <a:pPr marL="171450" lvl="0" indent="-171450"/>
            <a:r>
              <a:rPr lang="en-US" noProof="0" dirty="0"/>
              <a:t>Website </a:t>
            </a:r>
            <a:r>
              <a:rPr lang="en-US" noProof="0" dirty="0" err="1"/>
              <a:t>url</a:t>
            </a:r>
            <a:r>
              <a:rPr lang="en-US" noProof="0" dirty="0"/>
              <a:t> here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333" y="2368981"/>
            <a:ext cx="3758558" cy="691355"/>
          </a:xfrm>
          <a:noFill/>
        </p:spPr>
        <p:txBody>
          <a:bodyPr wrap="square" rtlCol="0">
            <a:noAutofit/>
          </a:bodyPr>
          <a:lstStyle>
            <a:lvl1pPr>
              <a:defRPr lang="en-US" sz="45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4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335" y="168335"/>
            <a:ext cx="2458683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/>
        </p:nvSpPr>
        <p:spPr>
          <a:xfrm>
            <a:off x="565508" y="531220"/>
            <a:ext cx="4000522" cy="4000522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57738" y="1629966"/>
            <a:ext cx="3857625" cy="1568106"/>
          </a:xfrm>
        </p:spPr>
        <p:txBody>
          <a:bodyPr anchor="b">
            <a:noAutofit/>
          </a:bodyPr>
          <a:lstStyle>
            <a:lvl1pPr algn="l">
              <a:defRPr sz="41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7738" y="3209979"/>
            <a:ext cx="3857625" cy="377375"/>
          </a:xfrm>
        </p:spPr>
        <p:txBody>
          <a:bodyPr>
            <a:noAutofit/>
          </a:bodyPr>
          <a:lstStyle>
            <a:lvl1pPr marL="0" indent="0" algn="l">
              <a:buNone/>
              <a:defRPr sz="1400" b="0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4852334" y="3175187"/>
            <a:ext cx="1899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335" y="168335"/>
            <a:ext cx="2458683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6923"/>
            <a:ext cx="7886700" cy="705136"/>
          </a:xfrm>
        </p:spPr>
        <p:txBody>
          <a:bodyPr anchor="b">
            <a:noAutofit/>
          </a:bodyPr>
          <a:lstStyle>
            <a:lvl1pPr algn="ctr">
              <a:defRPr sz="3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rgbClr val="2C567A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865012"/>
            <a:ext cx="7886700" cy="48640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8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22366"/>
            <a:ext cx="2458683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53" y="1369219"/>
            <a:ext cx="8128397" cy="3263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4" name="Picture 2" descr="C:\25July2018\Data\ArunPersonal\CanWork\DoItSkillsTrainingWebsite\DoItSKillsLogoDDDD\Logojoy download (7137b915-85a7-11e8-9b81-f76bf13973c9)\png\transparent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666914">
            <a:off x="5175647" y="303058"/>
            <a:ext cx="3850481" cy="355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6953" y="1369219"/>
            <a:ext cx="4127897" cy="3263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23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954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954" y="1878806"/>
            <a:ext cx="3868340" cy="276344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26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72000" y="576364"/>
            <a:ext cx="3979247" cy="3979247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9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342901"/>
            <a:ext cx="4629150" cy="405288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21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/>
        </p:nvSpPr>
        <p:spPr>
          <a:xfrm>
            <a:off x="2993232" y="1222514"/>
            <a:ext cx="6150769" cy="32799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1" y="1222514"/>
            <a:ext cx="2912864" cy="32799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184966"/>
            <a:ext cx="8362950" cy="690252"/>
          </a:xfrm>
        </p:spPr>
        <p:txBody>
          <a:bodyPr lIns="0" tIns="0" rIns="0" bIns="0" anchor="b">
            <a:noAutofit/>
          </a:bodyPr>
          <a:lstStyle>
            <a:lvl1pPr>
              <a:defRPr sz="24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4344" y="1778794"/>
            <a:ext cx="2584175" cy="2504972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2772" y="4841805"/>
            <a:ext cx="220845" cy="140525"/>
          </a:xfrm>
        </p:spPr>
        <p:txBody>
          <a:bodyPr lIns="0" tIns="0" rIns="0" bIns="0"/>
          <a:lstStyle>
            <a:lvl1pPr algn="ct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064669" y="1778794"/>
            <a:ext cx="5914849" cy="2504972"/>
          </a:xfrm>
          <a:noFill/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64344" y="1321594"/>
            <a:ext cx="2584175" cy="450056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400" b="1" cap="all" baseline="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064041" y="1314451"/>
            <a:ext cx="5915477" cy="457200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400" b="1" cap="all" baseline="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3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4624"/>
            <a:ext cx="2091774" cy="55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4932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</p:spPr>
        <p:txBody>
          <a:bodyPr lIns="68576" tIns="34289" rIns="68576" bIns="34289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68576" tIns="34289" rIns="68576" bIns="34289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fld id="{D45CCA5D-BDAD-49B9-8A8D-F58C7A2091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2771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6" tIns="34289" rIns="68576" bIns="34289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lIns="68576" tIns="34289" rIns="68576" bIns="34289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fld id="{D45CCA5D-BDAD-49B9-8A8D-F58C7A2091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09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710" y="3305176"/>
            <a:ext cx="7772400" cy="1021556"/>
          </a:xfrm>
          <a:prstGeom prst="rect">
            <a:avLst/>
          </a:prstGeom>
        </p:spPr>
        <p:txBody>
          <a:bodyPr lIns="68576" tIns="34289" rIns="68576" bIns="34289"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710" y="2180035"/>
            <a:ext cx="7772400" cy="1125140"/>
          </a:xfrm>
          <a:prstGeom prst="rect">
            <a:avLst/>
          </a:prstGeom>
        </p:spPr>
        <p:txBody>
          <a:bodyPr lIns="68576" tIns="34289" rIns="68576" bIns="34289"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87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7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2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49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37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24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1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299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fld id="{D45CCA5D-BDAD-49B9-8A8D-F58C7A2091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1232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6" tIns="34289" rIns="68576" bIns="34289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57650" cy="3394472"/>
          </a:xfrm>
          <a:prstGeom prst="rect">
            <a:avLst/>
          </a:prstGeom>
        </p:spPr>
        <p:txBody>
          <a:bodyPr lIns="68576" tIns="34289" rIns="68576" bIns="34289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00151"/>
            <a:ext cx="4057650" cy="3394472"/>
          </a:xfrm>
          <a:prstGeom prst="rect">
            <a:avLst/>
          </a:prstGeom>
        </p:spPr>
        <p:txBody>
          <a:bodyPr lIns="68576" tIns="34289" rIns="68576" bIns="34289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fld id="{D45CCA5D-BDAD-49B9-8A8D-F58C7A2091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3395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6" tIns="34289" rIns="68576" bIns="34289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151335"/>
            <a:ext cx="4039791" cy="479822"/>
          </a:xfrm>
          <a:prstGeom prst="rect">
            <a:avLst/>
          </a:prstGeom>
        </p:spPr>
        <p:txBody>
          <a:bodyPr lIns="68576" tIns="34289" rIns="68576" bIns="34289" anchor="b"/>
          <a:lstStyle>
            <a:lvl1pPr marL="0" indent="0">
              <a:buNone/>
              <a:defRPr sz="1800" b="1"/>
            </a:lvl1pPr>
            <a:lvl2pPr marL="342875" indent="0">
              <a:buNone/>
              <a:defRPr sz="1500" b="1"/>
            </a:lvl2pPr>
            <a:lvl3pPr marL="685749" indent="0">
              <a:buNone/>
              <a:defRPr sz="1400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3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1631156"/>
            <a:ext cx="4039791" cy="2963466"/>
          </a:xfrm>
          <a:prstGeom prst="rect">
            <a:avLst/>
          </a:prstGeom>
        </p:spPr>
        <p:txBody>
          <a:bodyPr lIns="68576" tIns="34289" rIns="68576" bIns="34289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628" y="1151335"/>
            <a:ext cx="4042172" cy="479822"/>
          </a:xfrm>
          <a:prstGeom prst="rect">
            <a:avLst/>
          </a:prstGeom>
        </p:spPr>
        <p:txBody>
          <a:bodyPr lIns="68576" tIns="34289" rIns="68576" bIns="34289" anchor="b"/>
          <a:lstStyle>
            <a:lvl1pPr marL="0" indent="0">
              <a:buNone/>
              <a:defRPr sz="1800" b="1"/>
            </a:lvl1pPr>
            <a:lvl2pPr marL="342875" indent="0">
              <a:buNone/>
              <a:defRPr sz="1500" b="1"/>
            </a:lvl2pPr>
            <a:lvl3pPr marL="685749" indent="0">
              <a:buNone/>
              <a:defRPr sz="1400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3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4628" y="1631156"/>
            <a:ext cx="4042172" cy="2963466"/>
          </a:xfrm>
          <a:prstGeom prst="rect">
            <a:avLst/>
          </a:prstGeom>
        </p:spPr>
        <p:txBody>
          <a:bodyPr lIns="68576" tIns="34289" rIns="68576" bIns="34289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fld id="{D45CCA5D-BDAD-49B9-8A8D-F58C7A2091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5659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6" tIns="34289" rIns="68576" bIns="34289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fld id="{D45CCA5D-BDAD-49B9-8A8D-F58C7A2091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3775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fld id="{D45CCA5D-BDAD-49B9-8A8D-F58C7A2091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0662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3008710" cy="871538"/>
          </a:xfrm>
          <a:prstGeom prst="rect">
            <a:avLst/>
          </a:prstGeom>
        </p:spPr>
        <p:txBody>
          <a:bodyPr lIns="68576" tIns="34289" rIns="68576" bIns="34289"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451" y="204791"/>
            <a:ext cx="5111353" cy="4389835"/>
          </a:xfrm>
          <a:prstGeom prst="rect">
            <a:avLst/>
          </a:prstGeom>
        </p:spPr>
        <p:txBody>
          <a:bodyPr lIns="68576" tIns="34289" rIns="68576" bIns="34289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8"/>
            <a:ext cx="3008710" cy="3518297"/>
          </a:xfrm>
          <a:prstGeom prst="rect">
            <a:avLst/>
          </a:prstGeom>
        </p:spPr>
        <p:txBody>
          <a:bodyPr lIns="68576" tIns="34289" rIns="68576" bIns="34289"/>
          <a:lstStyle>
            <a:lvl1pPr marL="0" indent="0">
              <a:buNone/>
              <a:defRPr sz="1100"/>
            </a:lvl1pPr>
            <a:lvl2pPr marL="342875" indent="0">
              <a:buNone/>
              <a:defRPr sz="900"/>
            </a:lvl2pPr>
            <a:lvl3pPr marL="685749" indent="0">
              <a:buNone/>
              <a:defRPr sz="800"/>
            </a:lvl3pPr>
            <a:lvl4pPr marL="1028624" indent="0">
              <a:buNone/>
              <a:defRPr sz="700"/>
            </a:lvl4pPr>
            <a:lvl5pPr marL="1371498" indent="0">
              <a:buNone/>
              <a:defRPr sz="700"/>
            </a:lvl5pPr>
            <a:lvl6pPr marL="1714373" indent="0">
              <a:buNone/>
              <a:defRPr sz="700"/>
            </a:lvl6pPr>
            <a:lvl7pPr marL="2057246" indent="0">
              <a:buNone/>
              <a:defRPr sz="700"/>
            </a:lvl7pPr>
            <a:lvl8pPr marL="2400120" indent="0">
              <a:buNone/>
              <a:defRPr sz="700"/>
            </a:lvl8pPr>
            <a:lvl9pPr marL="274299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fld id="{D45CCA5D-BDAD-49B9-8A8D-F58C7A2091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0654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891" y="3600451"/>
            <a:ext cx="5486400" cy="425054"/>
          </a:xfrm>
          <a:prstGeom prst="rect">
            <a:avLst/>
          </a:prstGeom>
        </p:spPr>
        <p:txBody>
          <a:bodyPr lIns="68576" tIns="34289" rIns="68576" bIns="34289"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891" y="459581"/>
            <a:ext cx="5486400" cy="3086100"/>
          </a:xfrm>
          <a:prstGeom prst="rect">
            <a:avLst/>
          </a:prstGeom>
        </p:spPr>
        <p:txBody>
          <a:bodyPr lIns="68576" tIns="34289" rIns="68576" bIns="34289"/>
          <a:lstStyle>
            <a:lvl1pPr marL="0" indent="0">
              <a:buNone/>
              <a:defRPr sz="2400"/>
            </a:lvl1pPr>
            <a:lvl2pPr marL="342875" indent="0">
              <a:buNone/>
              <a:defRPr sz="2100"/>
            </a:lvl2pPr>
            <a:lvl3pPr marL="685749" indent="0">
              <a:buNone/>
              <a:defRPr sz="1800"/>
            </a:lvl3pPr>
            <a:lvl4pPr marL="1028624" indent="0">
              <a:buNone/>
              <a:defRPr sz="1500"/>
            </a:lvl4pPr>
            <a:lvl5pPr marL="1371498" indent="0">
              <a:buNone/>
              <a:defRPr sz="1500"/>
            </a:lvl5pPr>
            <a:lvl6pPr marL="1714373" indent="0">
              <a:buNone/>
              <a:defRPr sz="1500"/>
            </a:lvl6pPr>
            <a:lvl7pPr marL="2057246" indent="0">
              <a:buNone/>
              <a:defRPr sz="1500"/>
            </a:lvl7pPr>
            <a:lvl8pPr marL="2400120" indent="0">
              <a:buNone/>
              <a:defRPr sz="1500"/>
            </a:lvl8pPr>
            <a:lvl9pPr marL="2742995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891" y="4025506"/>
            <a:ext cx="5486400" cy="603647"/>
          </a:xfrm>
          <a:prstGeom prst="rect">
            <a:avLst/>
          </a:prstGeom>
        </p:spPr>
        <p:txBody>
          <a:bodyPr lIns="68576" tIns="34289" rIns="68576" bIns="34289"/>
          <a:lstStyle>
            <a:lvl1pPr marL="0" indent="0">
              <a:buNone/>
              <a:defRPr sz="1100"/>
            </a:lvl1pPr>
            <a:lvl2pPr marL="342875" indent="0">
              <a:buNone/>
              <a:defRPr sz="900"/>
            </a:lvl2pPr>
            <a:lvl3pPr marL="685749" indent="0">
              <a:buNone/>
              <a:defRPr sz="800"/>
            </a:lvl3pPr>
            <a:lvl4pPr marL="1028624" indent="0">
              <a:buNone/>
              <a:defRPr sz="700"/>
            </a:lvl4pPr>
            <a:lvl5pPr marL="1371498" indent="0">
              <a:buNone/>
              <a:defRPr sz="700"/>
            </a:lvl5pPr>
            <a:lvl6pPr marL="1714373" indent="0">
              <a:buNone/>
              <a:defRPr sz="700"/>
            </a:lvl6pPr>
            <a:lvl7pPr marL="2057246" indent="0">
              <a:buNone/>
              <a:defRPr sz="700"/>
            </a:lvl7pPr>
            <a:lvl8pPr marL="2400120" indent="0">
              <a:buNone/>
              <a:defRPr sz="700"/>
            </a:lvl8pPr>
            <a:lvl9pPr marL="274299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fld id="{D45CCA5D-BDAD-49B9-8A8D-F58C7A2091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7611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6" tIns="34289" rIns="68576" bIns="34289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 lIns="68576" tIns="34289" rIns="68576" bIns="34289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fld id="{D45CCA5D-BDAD-49B9-8A8D-F58C7A2091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3795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 lIns="68576" tIns="34289" rIns="68576" bIns="34289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57900" cy="4388644"/>
          </a:xfrm>
          <a:prstGeom prst="rect">
            <a:avLst/>
          </a:prstGeom>
        </p:spPr>
        <p:txBody>
          <a:bodyPr vert="eaVert" lIns="68576" tIns="34289" rIns="68576" bIns="34289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8576" tIns="34289" rIns="68576" bIns="34289"/>
          <a:lstStyle/>
          <a:p>
            <a:fld id="{D45CCA5D-BDAD-49B9-8A8D-F58C7A2091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617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4" r:id="rId28"/>
    <p:sldLayoutId id="2147483695" r:id="rId29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AC5166-4796-40D2-A50C-05DACE2C6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69442"/>
            <a:ext cx="7886700" cy="994172"/>
          </a:xfrm>
          <a:prstGeom prst="rect">
            <a:avLst/>
          </a:prstGeom>
        </p:spPr>
        <p:txBody>
          <a:bodyPr vert="horz" lIns="68579" tIns="34289" rIns="68579" bIns="34289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36682-CE55-4994-889B-5D188C3E4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064817"/>
            <a:ext cx="7886700" cy="175607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F9231-8DF4-411E-8324-453AB042A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54416" y="433315"/>
            <a:ext cx="2057400" cy="132537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 i="1">
                <a:solidFill>
                  <a:srgbClr val="454D55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475F0-EE3A-4617-AFAB-40BF7C148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4416" y="294352"/>
            <a:ext cx="2057400" cy="13253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00" i="1">
                <a:solidFill>
                  <a:srgbClr val="454D55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07E7D-9F5C-43AC-A03A-432F6CB44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2186" y="294354"/>
            <a:ext cx="296465" cy="13253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700" i="1">
                <a:solidFill>
                  <a:srgbClr val="454D55"/>
                </a:solidFill>
              </a:defRPr>
            </a:lvl1pPr>
          </a:lstStyle>
          <a:p>
            <a:fld id="{93C1428B-5ACF-4E79-A091-05E2328DA7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 txBox="1">
            <a:spLocks/>
          </p:cNvSpPr>
          <p:nvPr/>
        </p:nvSpPr>
        <p:spPr>
          <a:xfrm>
            <a:off x="8522773" y="4841806"/>
            <a:ext cx="220845" cy="1405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27E2B5-D109-4574-97EB-70B046C448A2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0658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2" pos="279" userDrawn="1">
          <p15:clr>
            <a:srgbClr val="F26B43"/>
          </p15:clr>
        </p15:guide>
        <p15:guide id="3" pos="7401" userDrawn="1">
          <p15:clr>
            <a:srgbClr val="F26B43"/>
          </p15:clr>
        </p15:guide>
        <p15:guide id="4" orient="horz" pos="4042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8528752" y="4807048"/>
            <a:ext cx="210038" cy="21003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endParaRPr lang="en-US" noProof="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 txBox="1">
            <a:spLocks/>
          </p:cNvSpPr>
          <p:nvPr/>
        </p:nvSpPr>
        <p:spPr>
          <a:xfrm>
            <a:off x="8522774" y="4841807"/>
            <a:ext cx="220845" cy="1405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C71654-96A5-4280-94F3-931C61A9F9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386953" y="-12541"/>
            <a:ext cx="943964" cy="1839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19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defTabSz="685766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62" indent="-257162" algn="l" defTabSz="685766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85" indent="-214303" algn="l" defTabSz="685766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6" Type="http://schemas.openxmlformats.org/officeDocument/2006/relationships/hyperlink" Target="http://www.intellipaat.com/" TargetMode="Externa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36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hyperlink" Target="http://www.intellipaat.com/" TargetMode="External"/><Relationship Id="rId2" Type="http://schemas.openxmlformats.org/officeDocument/2006/relationships/image" Target="../media/image50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image" Target="../media/image39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39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36.png"/><Relationship Id="rId16" Type="http://schemas.openxmlformats.org/officeDocument/2006/relationships/hyperlink" Target="http://www.intellipaat.com/" TargetMode="Externa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4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hyperlink" Target="http://www.intellipaat.com/" TargetMode="External"/><Relationship Id="rId3" Type="http://schemas.openxmlformats.org/officeDocument/2006/relationships/image" Target="../media/image36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7.png"/><Relationship Id="rId2" Type="http://schemas.openxmlformats.org/officeDocument/2006/relationships/image" Target="../media/image50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5.png"/><Relationship Id="rId10" Type="http://schemas.openxmlformats.org/officeDocument/2006/relationships/image" Target="../media/image56.png"/><Relationship Id="rId4" Type="http://schemas.openxmlformats.org/officeDocument/2006/relationships/image" Target="../media/image39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39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36.png"/><Relationship Id="rId16" Type="http://schemas.openxmlformats.org/officeDocument/2006/relationships/hyperlink" Target="http://www.intellipaat.com/" TargetMode="Externa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9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hyperlink" Target="http://www.intellipaat.com/" TargetMode="External"/><Relationship Id="rId3" Type="http://schemas.openxmlformats.org/officeDocument/2006/relationships/image" Target="../media/image36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72.png"/><Relationship Id="rId2" Type="http://schemas.openxmlformats.org/officeDocument/2006/relationships/image" Target="../media/image50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70.png"/><Relationship Id="rId10" Type="http://schemas.openxmlformats.org/officeDocument/2006/relationships/image" Target="../media/image56.png"/><Relationship Id="rId4" Type="http://schemas.openxmlformats.org/officeDocument/2006/relationships/image" Target="../media/image39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36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hyperlink" Target="http://www.intellipaat.com/" TargetMode="External"/><Relationship Id="rId2" Type="http://schemas.openxmlformats.org/officeDocument/2006/relationships/image" Target="../media/image50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73.png"/><Relationship Id="rId10" Type="http://schemas.openxmlformats.org/officeDocument/2006/relationships/image" Target="../media/image56.png"/><Relationship Id="rId4" Type="http://schemas.openxmlformats.org/officeDocument/2006/relationships/image" Target="../media/image39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78.png"/><Relationship Id="rId3" Type="http://schemas.openxmlformats.org/officeDocument/2006/relationships/image" Target="../media/image36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77.png"/><Relationship Id="rId2" Type="http://schemas.openxmlformats.org/officeDocument/2006/relationships/image" Target="../media/image50.pn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75.png"/><Relationship Id="rId10" Type="http://schemas.openxmlformats.org/officeDocument/2006/relationships/image" Target="../media/image56.png"/><Relationship Id="rId19" Type="http://schemas.openxmlformats.org/officeDocument/2006/relationships/hyperlink" Target="http://www.intellipaat.com/" TargetMode="External"/><Relationship Id="rId4" Type="http://schemas.openxmlformats.org/officeDocument/2006/relationships/image" Target="../media/image39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39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36.png"/><Relationship Id="rId16" Type="http://schemas.openxmlformats.org/officeDocument/2006/relationships/hyperlink" Target="http://www.intellipaat.com/" TargetMode="Externa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80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7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84.png"/><Relationship Id="rId3" Type="http://schemas.openxmlformats.org/officeDocument/2006/relationships/image" Target="../media/image36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83.png"/><Relationship Id="rId2" Type="http://schemas.openxmlformats.org/officeDocument/2006/relationships/image" Target="../media/image50.pn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81.png"/><Relationship Id="rId10" Type="http://schemas.openxmlformats.org/officeDocument/2006/relationships/image" Target="../media/image56.png"/><Relationship Id="rId19" Type="http://schemas.openxmlformats.org/officeDocument/2006/relationships/hyperlink" Target="http://www.intellipaat.com/" TargetMode="External"/><Relationship Id="rId4" Type="http://schemas.openxmlformats.org/officeDocument/2006/relationships/image" Target="../media/image39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36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hyperlink" Target="http://www.intellipaat.com/" TargetMode="External"/><Relationship Id="rId2" Type="http://schemas.openxmlformats.org/officeDocument/2006/relationships/image" Target="../media/image50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85.png"/><Relationship Id="rId10" Type="http://schemas.openxmlformats.org/officeDocument/2006/relationships/image" Target="../media/image56.png"/><Relationship Id="rId4" Type="http://schemas.openxmlformats.org/officeDocument/2006/relationships/image" Target="../media/image39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intellipaat.com/" TargetMode="External"/><Relationship Id="rId3" Type="http://schemas.openxmlformats.org/officeDocument/2006/relationships/image" Target="../media/image36.png"/><Relationship Id="rId7" Type="http://schemas.openxmlformats.org/officeDocument/2006/relationships/image" Target="../media/image8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hyperlink" Target="http://www.intellipaat.com/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intellipaat.com/" TargetMode="External"/><Relationship Id="rId3" Type="http://schemas.openxmlformats.org/officeDocument/2006/relationships/image" Target="../media/image39.png"/><Relationship Id="rId7" Type="http://schemas.openxmlformats.org/officeDocument/2006/relationships/image" Target="../media/image9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36.png"/><Relationship Id="rId7" Type="http://schemas.openxmlformats.org/officeDocument/2006/relationships/image" Target="../media/image9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39.png"/><Relationship Id="rId9" Type="http://schemas.openxmlformats.org/officeDocument/2006/relationships/hyperlink" Target="http://www.intellipaat.com/" TargetMode="Externa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8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9.png"/><Relationship Id="rId5" Type="http://schemas.openxmlformats.org/officeDocument/2006/relationships/image" Target="../media/image36.png"/><Relationship Id="rId4" Type="http://schemas.openxmlformats.org/officeDocument/2006/relationships/image" Target="../media/image50.png"/><Relationship Id="rId9" Type="http://schemas.openxmlformats.org/officeDocument/2006/relationships/hyperlink" Target="http://www.intellipaat.com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://www.intellipaat.com/" TargetMode="Externa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Relationship Id="rId5" Type="http://schemas.openxmlformats.org/officeDocument/2006/relationships/hyperlink" Target="http://www.intellipaat.com/" TargetMode="External"/><Relationship Id="rId4" Type="http://schemas.openxmlformats.org/officeDocument/2006/relationships/image" Target="../media/image10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9.xml"/><Relationship Id="rId6" Type="http://schemas.openxmlformats.org/officeDocument/2006/relationships/hyperlink" Target="http://www.intellipaat.com/" TargetMode="Externa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36.png"/><Relationship Id="rId7" Type="http://schemas.openxmlformats.org/officeDocument/2006/relationships/image" Target="../media/image110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9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9" Type="http://schemas.openxmlformats.org/officeDocument/2006/relationships/hyperlink" Target="http://www.intellipaat.com/" TargetMode="Externa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intellipaat.com/" TargetMode="External"/><Relationship Id="rId3" Type="http://schemas.openxmlformats.org/officeDocument/2006/relationships/image" Target="../media/image36.png"/><Relationship Id="rId7" Type="http://schemas.openxmlformats.org/officeDocument/2006/relationships/image" Target="../media/image112.jpe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9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36.png"/><Relationship Id="rId7" Type="http://schemas.openxmlformats.org/officeDocument/2006/relationships/image" Target="../media/image113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9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9" Type="http://schemas.openxmlformats.org/officeDocument/2006/relationships/hyperlink" Target="http://www.intellipaat.com/" TargetMode="Externa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36.png"/><Relationship Id="rId7" Type="http://schemas.openxmlformats.org/officeDocument/2006/relationships/image" Target="../media/image115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9.png"/><Relationship Id="rId5" Type="http://schemas.openxmlformats.org/officeDocument/2006/relationships/image" Target="../media/image109.png"/><Relationship Id="rId10" Type="http://schemas.openxmlformats.org/officeDocument/2006/relationships/hyperlink" Target="http://www.intellipaat.com/" TargetMode="External"/><Relationship Id="rId4" Type="http://schemas.openxmlformats.org/officeDocument/2006/relationships/image" Target="../media/image108.png"/><Relationship Id="rId9" Type="http://schemas.openxmlformats.org/officeDocument/2006/relationships/image" Target="../media/image11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17.png"/><Relationship Id="rId5" Type="http://schemas.openxmlformats.org/officeDocument/2006/relationships/image" Target="../media/image109.png"/><Relationship Id="rId10" Type="http://schemas.openxmlformats.org/officeDocument/2006/relationships/hyperlink" Target="http://www.intellipaat.com/" TargetMode="External"/><Relationship Id="rId4" Type="http://schemas.openxmlformats.org/officeDocument/2006/relationships/image" Target="../media/image108.png"/><Relationship Id="rId9" Type="http://schemas.openxmlformats.org/officeDocument/2006/relationships/image" Target="../media/image11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Relationship Id="rId5" Type="http://schemas.openxmlformats.org/officeDocument/2006/relationships/hyperlink" Target="http://www.intellipaat.com/" TargetMode="External"/><Relationship Id="rId4" Type="http://schemas.openxmlformats.org/officeDocument/2006/relationships/image" Target="../media/image10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9.xml"/><Relationship Id="rId6" Type="http://schemas.openxmlformats.org/officeDocument/2006/relationships/hyperlink" Target="http://www.intellipaat.com/" TargetMode="Externa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intellipaat.com/" TargetMode="External"/><Relationship Id="rId3" Type="http://schemas.openxmlformats.org/officeDocument/2006/relationships/image" Target="../media/image36.png"/><Relationship Id="rId7" Type="http://schemas.openxmlformats.org/officeDocument/2006/relationships/image" Target="../media/image121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9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23.png"/><Relationship Id="rId7" Type="http://schemas.openxmlformats.org/officeDocument/2006/relationships/image" Target="../media/image120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19.png"/><Relationship Id="rId11" Type="http://schemas.openxmlformats.org/officeDocument/2006/relationships/hyperlink" Target="http://www.intellipaat.com/" TargetMode="External"/><Relationship Id="rId5" Type="http://schemas.openxmlformats.org/officeDocument/2006/relationships/image" Target="../media/image36.png"/><Relationship Id="rId10" Type="http://schemas.openxmlformats.org/officeDocument/2006/relationships/image" Target="../media/image125.png"/><Relationship Id="rId4" Type="http://schemas.openxmlformats.org/officeDocument/2006/relationships/image" Target="../media/image118.png"/><Relationship Id="rId9" Type="http://schemas.openxmlformats.org/officeDocument/2006/relationships/image" Target="../media/image124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ntellipaat.com/" TargetMode="External"/><Relationship Id="rId1" Type="http://schemas.openxmlformats.org/officeDocument/2006/relationships/slideLayout" Target="../slideLayouts/slideLayout2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jpeg"/><Relationship Id="rId1" Type="http://schemas.openxmlformats.org/officeDocument/2006/relationships/slideLayout" Target="../slideLayouts/slideLayout29.xml"/><Relationship Id="rId5" Type="http://schemas.openxmlformats.org/officeDocument/2006/relationships/hyperlink" Target="http://www.intellipaat.com/" TargetMode="External"/><Relationship Id="rId4" Type="http://schemas.openxmlformats.org/officeDocument/2006/relationships/image" Target="../media/image12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9.xml"/><Relationship Id="rId4" Type="http://schemas.openxmlformats.org/officeDocument/2006/relationships/hyperlink" Target="http://www.intellipaat.com/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9.xml"/><Relationship Id="rId5" Type="http://schemas.openxmlformats.org/officeDocument/2006/relationships/hyperlink" Target="http://www.intellipaat.com/" TargetMode="External"/><Relationship Id="rId4" Type="http://schemas.openxmlformats.org/officeDocument/2006/relationships/image" Target="../media/image12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jpeg"/><Relationship Id="rId1" Type="http://schemas.openxmlformats.org/officeDocument/2006/relationships/slideLayout" Target="../slideLayouts/slideLayout29.xml"/><Relationship Id="rId5" Type="http://schemas.openxmlformats.org/officeDocument/2006/relationships/hyperlink" Target="http://www.intellipaat.com/" TargetMode="External"/><Relationship Id="rId4" Type="http://schemas.openxmlformats.org/officeDocument/2006/relationships/image" Target="../media/image13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9.xml"/><Relationship Id="rId4" Type="http://schemas.openxmlformats.org/officeDocument/2006/relationships/hyperlink" Target="http://www.intellipaat.com/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9.xml"/><Relationship Id="rId4" Type="http://schemas.openxmlformats.org/officeDocument/2006/relationships/hyperlink" Target="http://www.intellipaat.com/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tellipaat.com/" TargetMode="External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tellipaat.com/" TargetMode="External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9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9.xml"/><Relationship Id="rId4" Type="http://schemas.openxmlformats.org/officeDocument/2006/relationships/hyperlink" Target="http://www.intellipaat.com/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9.xml"/><Relationship Id="rId4" Type="http://schemas.openxmlformats.org/officeDocument/2006/relationships/hyperlink" Target="http://www.intellipaat.com/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9.xml"/><Relationship Id="rId5" Type="http://schemas.openxmlformats.org/officeDocument/2006/relationships/hyperlink" Target="http://www.intellipaat.com/" TargetMode="External"/><Relationship Id="rId4" Type="http://schemas.openxmlformats.org/officeDocument/2006/relationships/image" Target="../media/image12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9.xml"/><Relationship Id="rId5" Type="http://schemas.openxmlformats.org/officeDocument/2006/relationships/hyperlink" Target="http://www.intellipaat.com/" TargetMode="External"/><Relationship Id="rId4" Type="http://schemas.openxmlformats.org/officeDocument/2006/relationships/image" Target="../media/image128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2.jpeg"/><Relationship Id="rId7" Type="http://schemas.openxmlformats.org/officeDocument/2006/relationships/image" Target="../media/image145.png"/><Relationship Id="rId2" Type="http://schemas.openxmlformats.org/officeDocument/2006/relationships/hyperlink" Target="http://www.intellipaat.com/" TargetMode="Externa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44.jpeg"/><Relationship Id="rId5" Type="http://schemas.openxmlformats.org/officeDocument/2006/relationships/hyperlink" Target="mailto:sales@intellipaat.com" TargetMode="External"/><Relationship Id="rId4" Type="http://schemas.openxmlformats.org/officeDocument/2006/relationships/image" Target="../media/image1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Python OOPS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Object oriented Programming	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51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3600" dirty="0"/>
              <a:t>Introduction to </a:t>
            </a:r>
            <a:r>
              <a:rPr lang="en-IN" sz="3600" dirty="0" err="1"/>
              <a:t>oop</a:t>
            </a:r>
            <a:endParaRPr lang="en-IN" sz="3600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Object Oriented </a:t>
            </a:r>
            <a:r>
              <a:rPr lang="en-IN" dirty="0" err="1"/>
              <a:t>ProGramming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746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OOP?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spc="30" dirty="0">
                <a:solidFill>
                  <a:srgbClr val="3F3F3F"/>
                </a:solidFill>
                <a:latin typeface="Arial"/>
                <a:cs typeface="Arial"/>
              </a:rPr>
              <a:t>	O:</a:t>
            </a:r>
            <a:r>
              <a:rPr lang="en-US" sz="2000" spc="30" dirty="0">
                <a:solidFill>
                  <a:srgbClr val="3F3F3F"/>
                </a:solidFill>
                <a:latin typeface="Arial"/>
                <a:cs typeface="Arial"/>
              </a:rPr>
              <a:t>OBJECT</a:t>
            </a:r>
          </a:p>
          <a:p>
            <a:pPr>
              <a:buNone/>
            </a:pPr>
            <a:r>
              <a:rPr lang="en-US" sz="2000" b="1" spc="30" dirty="0">
                <a:solidFill>
                  <a:srgbClr val="3F3F3F"/>
                </a:solidFill>
                <a:latin typeface="Arial"/>
                <a:cs typeface="Arial"/>
              </a:rPr>
              <a:t>	O:</a:t>
            </a:r>
            <a:r>
              <a:rPr lang="en-US" sz="2000" spc="30" dirty="0">
                <a:solidFill>
                  <a:srgbClr val="3F3F3F"/>
                </a:solidFill>
                <a:latin typeface="Arial"/>
                <a:cs typeface="Arial"/>
              </a:rPr>
              <a:t>ORIENTED</a:t>
            </a:r>
          </a:p>
          <a:p>
            <a:pPr>
              <a:buNone/>
            </a:pPr>
            <a:r>
              <a:rPr lang="en-US" sz="2000" b="1" spc="30" dirty="0">
                <a:solidFill>
                  <a:srgbClr val="3F3F3F"/>
                </a:solidFill>
                <a:latin typeface="Arial"/>
                <a:cs typeface="Arial"/>
              </a:rPr>
              <a:t>	P:</a:t>
            </a:r>
            <a:r>
              <a:rPr lang="en-US" sz="2000" spc="30" dirty="0">
                <a:solidFill>
                  <a:srgbClr val="3F3F3F"/>
                </a:solidFill>
                <a:latin typeface="Arial"/>
                <a:cs typeface="Arial"/>
              </a:rPr>
              <a:t>PROGRAMMING</a:t>
            </a:r>
          </a:p>
          <a:p>
            <a:endParaRPr lang="en-US" sz="2400" b="1" spc="30" dirty="0">
              <a:solidFill>
                <a:srgbClr val="3F3F3F"/>
              </a:solidFill>
              <a:latin typeface="Arial"/>
              <a:cs typeface="Arial"/>
            </a:endParaRPr>
          </a:p>
          <a:p>
            <a:r>
              <a:rPr lang="en-US" sz="2400" b="1" spc="30" dirty="0">
                <a:solidFill>
                  <a:srgbClr val="3F3F3F"/>
                </a:solidFill>
                <a:latin typeface="Arial"/>
                <a:cs typeface="Arial"/>
              </a:rPr>
              <a:t>For</a:t>
            </a:r>
            <a:r>
              <a:rPr lang="en-US" sz="2400" b="1" spc="-17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lang="en-US" sz="2400" b="1" spc="25" dirty="0" err="1">
                <a:solidFill>
                  <a:srgbClr val="3F3F3F"/>
                </a:solidFill>
                <a:latin typeface="Arial"/>
                <a:cs typeface="Arial"/>
              </a:rPr>
              <a:t>Eg</a:t>
            </a:r>
            <a:r>
              <a:rPr lang="en-US" sz="2400" b="1" spc="25" dirty="0">
                <a:solidFill>
                  <a:srgbClr val="3F3F3F"/>
                </a:solidFill>
                <a:latin typeface="Arial"/>
                <a:cs typeface="Arial"/>
              </a:rPr>
              <a:t>:</a:t>
            </a:r>
            <a:endParaRPr lang="en-US"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buNone/>
            </a:pPr>
            <a:r>
              <a:rPr lang="en-US" sz="2400" b="1" spc="5" dirty="0">
                <a:solidFill>
                  <a:srgbClr val="3F3F3F"/>
                </a:solidFill>
                <a:latin typeface="Arial"/>
                <a:cs typeface="Arial"/>
              </a:rPr>
              <a:t>Attribute: </a:t>
            </a:r>
            <a:r>
              <a:rPr lang="en-US" sz="2400" dirty="0">
                <a:solidFill>
                  <a:srgbClr val="3F3F3F"/>
                </a:solidFill>
                <a:latin typeface="Arial"/>
                <a:cs typeface="Arial"/>
              </a:rPr>
              <a:t>Name,</a:t>
            </a:r>
            <a:r>
              <a:rPr lang="en-US" sz="2400" spc="-2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lang="en-US" sz="2400" spc="15" dirty="0" err="1">
                <a:solidFill>
                  <a:srgbClr val="3F3F3F"/>
                </a:solidFill>
                <a:latin typeface="Arial"/>
                <a:cs typeface="Arial"/>
              </a:rPr>
              <a:t>Age,Color</a:t>
            </a:r>
            <a:endParaRPr lang="en-US"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buNone/>
            </a:pPr>
            <a:r>
              <a:rPr lang="en-US" sz="2400" b="1" spc="15" dirty="0" err="1">
                <a:solidFill>
                  <a:srgbClr val="3F3F3F"/>
                </a:solidFill>
                <a:latin typeface="Arial"/>
                <a:cs typeface="Arial"/>
              </a:rPr>
              <a:t>Behaviour</a:t>
            </a:r>
            <a:r>
              <a:rPr lang="en-US" sz="2400" b="1" spc="15" dirty="0">
                <a:solidFill>
                  <a:srgbClr val="3F3F3F"/>
                </a:solidFill>
                <a:latin typeface="Arial"/>
                <a:cs typeface="Arial"/>
              </a:rPr>
              <a:t>:</a:t>
            </a:r>
            <a:r>
              <a:rPr lang="en-US" sz="2400" b="1" spc="-30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3F3F3F"/>
                </a:solidFill>
                <a:latin typeface="Arial"/>
                <a:cs typeface="Arial"/>
              </a:rPr>
              <a:t>Singing, </a:t>
            </a:r>
            <a:r>
              <a:rPr lang="en-US" sz="2400" spc="-5" dirty="0">
                <a:solidFill>
                  <a:srgbClr val="3F3F3F"/>
                </a:solidFill>
                <a:latin typeface="Arial"/>
                <a:cs typeface="Arial"/>
              </a:rPr>
              <a:t>Dancing</a:t>
            </a:r>
            <a:endParaRPr lang="en-US" sz="24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6" name="object 12"/>
          <p:cNvSpPr/>
          <p:nvPr/>
        </p:nvSpPr>
        <p:spPr>
          <a:xfrm>
            <a:off x="4572000" y="1200150"/>
            <a:ext cx="3265810" cy="32658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/>
          <p:cNvSpPr txBox="1"/>
          <p:nvPr/>
        </p:nvSpPr>
        <p:spPr>
          <a:xfrm>
            <a:off x="5979168" y="4546595"/>
            <a:ext cx="5822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5" dirty="0">
                <a:solidFill>
                  <a:srgbClr val="3F3F3F"/>
                </a:solidFill>
                <a:latin typeface="Arial"/>
                <a:cs typeface="Arial"/>
              </a:rPr>
              <a:t>P</a:t>
            </a:r>
            <a:r>
              <a:rPr sz="1400" b="1" spc="45" dirty="0">
                <a:solidFill>
                  <a:srgbClr val="3F3F3F"/>
                </a:solidFill>
                <a:latin typeface="Arial"/>
                <a:cs typeface="Arial"/>
              </a:rPr>
              <a:t>a</a:t>
            </a:r>
            <a:r>
              <a:rPr sz="1400" b="1" spc="55" dirty="0">
                <a:solidFill>
                  <a:srgbClr val="3F3F3F"/>
                </a:solidFill>
                <a:latin typeface="Arial"/>
                <a:cs typeface="Arial"/>
              </a:rPr>
              <a:t>rr</a:t>
            </a:r>
            <a:r>
              <a:rPr sz="1400" b="1" spc="40" dirty="0">
                <a:solidFill>
                  <a:srgbClr val="3F3F3F"/>
                </a:solidFill>
                <a:latin typeface="Arial"/>
                <a:cs typeface="Arial"/>
              </a:rPr>
              <a:t>o</a:t>
            </a:r>
            <a:r>
              <a:rPr sz="1400" b="1" spc="5" dirty="0">
                <a:solidFill>
                  <a:srgbClr val="3F3F3F"/>
                </a:solidFill>
                <a:latin typeface="Arial"/>
                <a:cs typeface="Arial"/>
              </a:rPr>
              <a:t>t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Basic Principle of OOPS: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Class</a:t>
            </a:r>
          </a:p>
          <a:p>
            <a:r>
              <a:rPr lang="en-US" dirty="0"/>
              <a:t>Object</a:t>
            </a:r>
          </a:p>
          <a:p>
            <a:r>
              <a:rPr lang="en-US" dirty="0"/>
              <a:t>Inheritance</a:t>
            </a:r>
          </a:p>
          <a:p>
            <a:r>
              <a:rPr lang="en-US" dirty="0"/>
              <a:t>Encapsulation</a:t>
            </a:r>
          </a:p>
          <a:p>
            <a:r>
              <a:rPr lang="en-US" dirty="0"/>
              <a:t>Polymorphism</a:t>
            </a:r>
          </a:p>
          <a:p>
            <a:r>
              <a:rPr lang="en-US" dirty="0"/>
              <a:t>Abstraction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sz="2000" dirty="0"/>
              <a:t>Let’s understand with a Real-Life </a:t>
            </a:r>
            <a:r>
              <a:rPr lang="en-US" sz="2000" dirty="0" err="1"/>
              <a:t>ExamplE</a:t>
            </a:r>
            <a:r>
              <a:rPr lang="en-US" sz="2000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Concepts of </a:t>
            </a:r>
            <a:r>
              <a:rPr lang="en-US" dirty="0" err="1"/>
              <a:t>oop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 Human Being is Classified into:</a:t>
            </a:r>
          </a:p>
        </p:txBody>
      </p:sp>
      <p:sp>
        <p:nvSpPr>
          <p:cNvPr id="6" name="object 14"/>
          <p:cNvSpPr>
            <a:spLocks noGrp="1"/>
          </p:cNvSpPr>
          <p:nvPr>
            <p:ph idx="1"/>
          </p:nvPr>
        </p:nvSpPr>
        <p:spPr>
          <a:xfrm>
            <a:off x="1371600" y="1047750"/>
            <a:ext cx="5791200" cy="3681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Consider Human Being is a Class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</a:p>
        </p:txBody>
      </p:sp>
      <p:sp>
        <p:nvSpPr>
          <p:cNvPr id="9" name="object 11"/>
          <p:cNvSpPr/>
          <p:nvPr/>
        </p:nvSpPr>
        <p:spPr>
          <a:xfrm>
            <a:off x="5410200" y="209550"/>
            <a:ext cx="981163" cy="3552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/>
          <p:cNvSpPr/>
          <p:nvPr/>
        </p:nvSpPr>
        <p:spPr>
          <a:xfrm>
            <a:off x="7315200" y="285750"/>
            <a:ext cx="953426" cy="35526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body features and functions are Class Attributes</a:t>
            </a:r>
          </a:p>
        </p:txBody>
      </p:sp>
      <p:sp>
        <p:nvSpPr>
          <p:cNvPr id="8" name="object 10"/>
          <p:cNvSpPr/>
          <p:nvPr/>
        </p:nvSpPr>
        <p:spPr>
          <a:xfrm>
            <a:off x="914400" y="1885950"/>
            <a:ext cx="2919221" cy="17364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1"/>
          <p:cNvSpPr/>
          <p:nvPr/>
        </p:nvSpPr>
        <p:spPr>
          <a:xfrm>
            <a:off x="5181600" y="1809750"/>
            <a:ext cx="2759202" cy="1943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Male and Female are inherited from Class </a:t>
            </a:r>
            <a:r>
              <a:rPr lang="en-US"/>
              <a:t>Human  Being</a:t>
            </a:r>
            <a:endParaRPr lang="en-US" dirty="0"/>
          </a:p>
          <a:p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9" name="object 14"/>
          <p:cNvSpPr/>
          <p:nvPr/>
        </p:nvSpPr>
        <p:spPr>
          <a:xfrm>
            <a:off x="4876800" y="1123950"/>
            <a:ext cx="796631" cy="304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3"/>
          <p:cNvSpPr/>
          <p:nvPr/>
        </p:nvSpPr>
        <p:spPr>
          <a:xfrm>
            <a:off x="5943600" y="1123950"/>
            <a:ext cx="912906" cy="31178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04220" y="1369219"/>
            <a:ext cx="3329580" cy="3263504"/>
          </a:xfrm>
        </p:spPr>
        <p:txBody>
          <a:bodyPr/>
          <a:lstStyle/>
          <a:p>
            <a:pPr>
              <a:buNone/>
            </a:pPr>
            <a:r>
              <a:rPr lang="en-US" dirty="0"/>
              <a:t>Name’ and ‘Age’ are object of class MALE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Objects have a physical existence</a:t>
            </a:r>
          </a:p>
          <a:p>
            <a:r>
              <a:rPr lang="en-US" dirty="0"/>
              <a:t>Class is just a logical definition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8" name="object 13"/>
          <p:cNvSpPr/>
          <p:nvPr/>
        </p:nvSpPr>
        <p:spPr>
          <a:xfrm>
            <a:off x="4953000" y="971550"/>
            <a:ext cx="921410" cy="3276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19800" y="1809750"/>
            <a:ext cx="129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/>
              <a:t>Class: MALE</a:t>
            </a:r>
          </a:p>
          <a:p>
            <a:pPr>
              <a:buNone/>
            </a:pPr>
            <a:r>
              <a:rPr lang="en-US" sz="1600" dirty="0"/>
              <a:t>Name: Victor</a:t>
            </a:r>
          </a:p>
          <a:p>
            <a:pPr>
              <a:buNone/>
            </a:pPr>
            <a:r>
              <a:rPr lang="en-US" sz="1600" dirty="0"/>
              <a:t>Age: 24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You don’t know the detail of how you walk, listen or see, </a:t>
            </a:r>
            <a:r>
              <a:rPr lang="en-US" dirty="0" err="1"/>
              <a:t>i.e</a:t>
            </a:r>
            <a:r>
              <a:rPr lang="en-US" dirty="0"/>
              <a:t>, its hidden</a:t>
            </a:r>
          </a:p>
          <a:p>
            <a:endParaRPr lang="en-US" dirty="0"/>
          </a:p>
        </p:txBody>
      </p:sp>
      <p:sp>
        <p:nvSpPr>
          <p:cNvPr id="7" name="object 13"/>
          <p:cNvSpPr/>
          <p:nvPr/>
        </p:nvSpPr>
        <p:spPr>
          <a:xfrm>
            <a:off x="2438400" y="1428750"/>
            <a:ext cx="1150010" cy="35560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4"/>
          <p:cNvSpPr/>
          <p:nvPr/>
        </p:nvSpPr>
        <p:spPr>
          <a:xfrm>
            <a:off x="5105400" y="3867150"/>
            <a:ext cx="963219" cy="9632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5"/>
          <p:cNvSpPr/>
          <p:nvPr/>
        </p:nvSpPr>
        <p:spPr>
          <a:xfrm>
            <a:off x="6400800" y="2495550"/>
            <a:ext cx="1108493" cy="11071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6"/>
          <p:cNvSpPr/>
          <p:nvPr/>
        </p:nvSpPr>
        <p:spPr>
          <a:xfrm>
            <a:off x="5105400" y="1352550"/>
            <a:ext cx="1108493" cy="11676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7"/>
          <p:cNvSpPr txBox="1"/>
          <p:nvPr/>
        </p:nvSpPr>
        <p:spPr>
          <a:xfrm>
            <a:off x="5410200" y="2419350"/>
            <a:ext cx="4692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W</a:t>
            </a:r>
            <a:r>
              <a:rPr sz="1200" b="1" spc="-45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200" b="1" spc="10" dirty="0">
                <a:solidFill>
                  <a:srgbClr val="595959"/>
                </a:solidFill>
                <a:latin typeface="Arial"/>
                <a:cs typeface="Arial"/>
              </a:rPr>
              <a:t>L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K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8"/>
          <p:cNvSpPr txBox="1"/>
          <p:nvPr/>
        </p:nvSpPr>
        <p:spPr>
          <a:xfrm>
            <a:off x="6705600" y="3638550"/>
            <a:ext cx="4597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25" dirty="0">
                <a:solidFill>
                  <a:srgbClr val="595959"/>
                </a:solidFill>
                <a:latin typeface="Arial"/>
                <a:cs typeface="Arial"/>
              </a:rPr>
              <a:t>H</a:t>
            </a:r>
            <a:r>
              <a:rPr sz="1200" b="1" spc="20" dirty="0">
                <a:solidFill>
                  <a:srgbClr val="595959"/>
                </a:solidFill>
                <a:latin typeface="Arial"/>
                <a:cs typeface="Arial"/>
              </a:rPr>
              <a:t>E</a:t>
            </a:r>
            <a:r>
              <a:rPr sz="1200" b="1" spc="-45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9"/>
          <p:cNvSpPr/>
          <p:nvPr/>
        </p:nvSpPr>
        <p:spPr>
          <a:xfrm>
            <a:off x="3581400" y="2190750"/>
            <a:ext cx="1358900" cy="974090"/>
          </a:xfrm>
          <a:custGeom>
            <a:avLst/>
            <a:gdLst/>
            <a:ahLst/>
            <a:cxnLst/>
            <a:rect l="l" t="t" r="r" b="b"/>
            <a:pathLst>
              <a:path w="1358900" h="974089">
                <a:moveTo>
                  <a:pt x="61996" y="913756"/>
                </a:moveTo>
                <a:lnTo>
                  <a:pt x="0" y="958083"/>
                </a:lnTo>
                <a:lnTo>
                  <a:pt x="11064" y="973573"/>
                </a:lnTo>
                <a:lnTo>
                  <a:pt x="73152" y="929377"/>
                </a:lnTo>
                <a:lnTo>
                  <a:pt x="61996" y="913756"/>
                </a:lnTo>
                <a:close/>
              </a:path>
              <a:path w="1358900" h="974089">
                <a:moveTo>
                  <a:pt x="170566" y="836295"/>
                </a:moveTo>
                <a:lnTo>
                  <a:pt x="108600" y="880609"/>
                </a:lnTo>
                <a:lnTo>
                  <a:pt x="119634" y="896112"/>
                </a:lnTo>
                <a:lnTo>
                  <a:pt x="181630" y="851784"/>
                </a:lnTo>
                <a:lnTo>
                  <a:pt x="170566" y="836295"/>
                </a:lnTo>
                <a:close/>
              </a:path>
              <a:path w="1358900" h="974089">
                <a:moveTo>
                  <a:pt x="279044" y="758820"/>
                </a:moveTo>
                <a:lnTo>
                  <a:pt x="217048" y="803148"/>
                </a:lnTo>
                <a:lnTo>
                  <a:pt x="228112" y="818637"/>
                </a:lnTo>
                <a:lnTo>
                  <a:pt x="290200" y="774310"/>
                </a:lnTo>
                <a:lnTo>
                  <a:pt x="279044" y="758820"/>
                </a:lnTo>
                <a:close/>
              </a:path>
              <a:path w="1358900" h="974089">
                <a:moveTo>
                  <a:pt x="387614" y="681346"/>
                </a:moveTo>
                <a:lnTo>
                  <a:pt x="325648" y="725673"/>
                </a:lnTo>
                <a:lnTo>
                  <a:pt x="336682" y="741163"/>
                </a:lnTo>
                <a:lnTo>
                  <a:pt x="398678" y="696849"/>
                </a:lnTo>
                <a:lnTo>
                  <a:pt x="387614" y="681346"/>
                </a:lnTo>
                <a:close/>
              </a:path>
              <a:path w="1358900" h="974089">
                <a:moveTo>
                  <a:pt x="496214" y="603885"/>
                </a:moveTo>
                <a:lnTo>
                  <a:pt x="434096" y="648199"/>
                </a:lnTo>
                <a:lnTo>
                  <a:pt x="445160" y="663702"/>
                </a:lnTo>
                <a:lnTo>
                  <a:pt x="507248" y="619374"/>
                </a:lnTo>
                <a:lnTo>
                  <a:pt x="496214" y="603885"/>
                </a:lnTo>
                <a:close/>
              </a:path>
              <a:path w="1358900" h="974089">
                <a:moveTo>
                  <a:pt x="604662" y="526410"/>
                </a:moveTo>
                <a:lnTo>
                  <a:pt x="542696" y="570606"/>
                </a:lnTo>
                <a:lnTo>
                  <a:pt x="553730" y="586096"/>
                </a:lnTo>
                <a:lnTo>
                  <a:pt x="615696" y="541900"/>
                </a:lnTo>
                <a:lnTo>
                  <a:pt x="604662" y="526410"/>
                </a:lnTo>
                <a:close/>
              </a:path>
              <a:path w="1358900" h="974089">
                <a:moveTo>
                  <a:pt x="713232" y="448936"/>
                </a:moveTo>
                <a:lnTo>
                  <a:pt x="651144" y="493132"/>
                </a:lnTo>
                <a:lnTo>
                  <a:pt x="662178" y="508635"/>
                </a:lnTo>
                <a:lnTo>
                  <a:pt x="724296" y="464439"/>
                </a:lnTo>
                <a:lnTo>
                  <a:pt x="713232" y="448936"/>
                </a:lnTo>
                <a:close/>
              </a:path>
              <a:path w="1358900" h="974089">
                <a:moveTo>
                  <a:pt x="821710" y="371343"/>
                </a:moveTo>
                <a:lnTo>
                  <a:pt x="759714" y="415671"/>
                </a:lnTo>
                <a:lnTo>
                  <a:pt x="770778" y="431160"/>
                </a:lnTo>
                <a:lnTo>
                  <a:pt x="832744" y="386833"/>
                </a:lnTo>
                <a:lnTo>
                  <a:pt x="821710" y="371343"/>
                </a:lnTo>
                <a:close/>
              </a:path>
              <a:path w="1358900" h="974089">
                <a:moveTo>
                  <a:pt x="930280" y="293869"/>
                </a:moveTo>
                <a:lnTo>
                  <a:pt x="868192" y="338196"/>
                </a:lnTo>
                <a:lnTo>
                  <a:pt x="879348" y="353686"/>
                </a:lnTo>
                <a:lnTo>
                  <a:pt x="941344" y="309372"/>
                </a:lnTo>
                <a:lnTo>
                  <a:pt x="930280" y="293869"/>
                </a:lnTo>
                <a:close/>
              </a:path>
              <a:path w="1358900" h="974089">
                <a:moveTo>
                  <a:pt x="1038758" y="216408"/>
                </a:moveTo>
                <a:lnTo>
                  <a:pt x="976762" y="260722"/>
                </a:lnTo>
                <a:lnTo>
                  <a:pt x="987826" y="276225"/>
                </a:lnTo>
                <a:lnTo>
                  <a:pt x="1049792" y="231897"/>
                </a:lnTo>
                <a:lnTo>
                  <a:pt x="1038758" y="216408"/>
                </a:lnTo>
                <a:close/>
              </a:path>
              <a:path w="1358900" h="974089">
                <a:moveTo>
                  <a:pt x="1147328" y="138933"/>
                </a:moveTo>
                <a:lnTo>
                  <a:pt x="1085240" y="183261"/>
                </a:lnTo>
                <a:lnTo>
                  <a:pt x="1096396" y="198750"/>
                </a:lnTo>
                <a:lnTo>
                  <a:pt x="1158392" y="154423"/>
                </a:lnTo>
                <a:lnTo>
                  <a:pt x="1147328" y="138933"/>
                </a:lnTo>
                <a:close/>
              </a:path>
              <a:path w="1358900" h="974089">
                <a:moveTo>
                  <a:pt x="1255776" y="61459"/>
                </a:moveTo>
                <a:lnTo>
                  <a:pt x="1193810" y="105655"/>
                </a:lnTo>
                <a:lnTo>
                  <a:pt x="1204874" y="121276"/>
                </a:lnTo>
                <a:lnTo>
                  <a:pt x="1266840" y="76962"/>
                </a:lnTo>
                <a:lnTo>
                  <a:pt x="1255776" y="61459"/>
                </a:lnTo>
                <a:close/>
              </a:path>
              <a:path w="1358900" h="974089">
                <a:moveTo>
                  <a:pt x="1358280" y="0"/>
                </a:moveTo>
                <a:lnTo>
                  <a:pt x="1274216" y="13203"/>
                </a:lnTo>
                <a:lnTo>
                  <a:pt x="1318412" y="75175"/>
                </a:lnTo>
                <a:lnTo>
                  <a:pt x="135828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0"/>
          <p:cNvSpPr/>
          <p:nvPr/>
        </p:nvSpPr>
        <p:spPr>
          <a:xfrm>
            <a:off x="3581400" y="3181350"/>
            <a:ext cx="1445895" cy="1395095"/>
          </a:xfrm>
          <a:custGeom>
            <a:avLst/>
            <a:gdLst/>
            <a:ahLst/>
            <a:cxnLst/>
            <a:rect l="l" t="t" r="r" b="b"/>
            <a:pathLst>
              <a:path w="1445895" h="1395095">
                <a:moveTo>
                  <a:pt x="13197" y="0"/>
                </a:moveTo>
                <a:lnTo>
                  <a:pt x="0" y="13716"/>
                </a:lnTo>
                <a:lnTo>
                  <a:pt x="54742" y="66543"/>
                </a:lnTo>
                <a:lnTo>
                  <a:pt x="68061" y="52827"/>
                </a:lnTo>
                <a:lnTo>
                  <a:pt x="13197" y="0"/>
                </a:lnTo>
                <a:close/>
              </a:path>
              <a:path w="1445895" h="1395095">
                <a:moveTo>
                  <a:pt x="109209" y="92451"/>
                </a:moveTo>
                <a:lnTo>
                  <a:pt x="95890" y="106167"/>
                </a:lnTo>
                <a:lnTo>
                  <a:pt x="150754" y="159126"/>
                </a:lnTo>
                <a:lnTo>
                  <a:pt x="163951" y="145410"/>
                </a:lnTo>
                <a:lnTo>
                  <a:pt x="109209" y="92451"/>
                </a:lnTo>
                <a:close/>
              </a:path>
              <a:path w="1445895" h="1395095">
                <a:moveTo>
                  <a:pt x="205099" y="185034"/>
                </a:moveTo>
                <a:lnTo>
                  <a:pt x="191902" y="198750"/>
                </a:lnTo>
                <a:lnTo>
                  <a:pt x="246766" y="251709"/>
                </a:lnTo>
                <a:lnTo>
                  <a:pt x="259963" y="237993"/>
                </a:lnTo>
                <a:lnTo>
                  <a:pt x="205099" y="185034"/>
                </a:lnTo>
                <a:close/>
              </a:path>
              <a:path w="1445895" h="1395095">
                <a:moveTo>
                  <a:pt x="301111" y="277617"/>
                </a:moveTo>
                <a:lnTo>
                  <a:pt x="287914" y="291333"/>
                </a:lnTo>
                <a:lnTo>
                  <a:pt x="342778" y="344292"/>
                </a:lnTo>
                <a:lnTo>
                  <a:pt x="355975" y="330576"/>
                </a:lnTo>
                <a:lnTo>
                  <a:pt x="301111" y="277617"/>
                </a:lnTo>
                <a:close/>
              </a:path>
              <a:path w="1445895" h="1395095">
                <a:moveTo>
                  <a:pt x="397123" y="370200"/>
                </a:moveTo>
                <a:lnTo>
                  <a:pt x="383926" y="383916"/>
                </a:lnTo>
                <a:lnTo>
                  <a:pt x="438790" y="436875"/>
                </a:lnTo>
                <a:lnTo>
                  <a:pt x="451987" y="423159"/>
                </a:lnTo>
                <a:lnTo>
                  <a:pt x="397123" y="370200"/>
                </a:lnTo>
                <a:close/>
              </a:path>
              <a:path w="1445895" h="1395095">
                <a:moveTo>
                  <a:pt x="493135" y="462783"/>
                </a:moveTo>
                <a:lnTo>
                  <a:pt x="479938" y="476499"/>
                </a:lnTo>
                <a:lnTo>
                  <a:pt x="534680" y="529458"/>
                </a:lnTo>
                <a:lnTo>
                  <a:pt x="547999" y="515742"/>
                </a:lnTo>
                <a:lnTo>
                  <a:pt x="493135" y="462783"/>
                </a:lnTo>
                <a:close/>
              </a:path>
              <a:path w="1445895" h="1395095">
                <a:moveTo>
                  <a:pt x="589026" y="555366"/>
                </a:moveTo>
                <a:lnTo>
                  <a:pt x="575828" y="569082"/>
                </a:lnTo>
                <a:lnTo>
                  <a:pt x="630692" y="621923"/>
                </a:lnTo>
                <a:lnTo>
                  <a:pt x="643890" y="608207"/>
                </a:lnTo>
                <a:lnTo>
                  <a:pt x="589026" y="555366"/>
                </a:lnTo>
                <a:close/>
              </a:path>
              <a:path w="1445895" h="1395095">
                <a:moveTo>
                  <a:pt x="685038" y="647949"/>
                </a:moveTo>
                <a:lnTo>
                  <a:pt x="671840" y="661665"/>
                </a:lnTo>
                <a:lnTo>
                  <a:pt x="726704" y="714506"/>
                </a:lnTo>
                <a:lnTo>
                  <a:pt x="739902" y="700790"/>
                </a:lnTo>
                <a:lnTo>
                  <a:pt x="685038" y="647949"/>
                </a:lnTo>
                <a:close/>
              </a:path>
              <a:path w="1445895" h="1395095">
                <a:moveTo>
                  <a:pt x="781050" y="740532"/>
                </a:moveTo>
                <a:lnTo>
                  <a:pt x="767852" y="754248"/>
                </a:lnTo>
                <a:lnTo>
                  <a:pt x="822716" y="807113"/>
                </a:lnTo>
                <a:lnTo>
                  <a:pt x="835914" y="793397"/>
                </a:lnTo>
                <a:lnTo>
                  <a:pt x="781050" y="740532"/>
                </a:lnTo>
                <a:close/>
              </a:path>
              <a:path w="1445895" h="1395095">
                <a:moveTo>
                  <a:pt x="877062" y="833067"/>
                </a:moveTo>
                <a:lnTo>
                  <a:pt x="863864" y="846783"/>
                </a:lnTo>
                <a:lnTo>
                  <a:pt x="918728" y="899684"/>
                </a:lnTo>
                <a:lnTo>
                  <a:pt x="931926" y="885968"/>
                </a:lnTo>
                <a:lnTo>
                  <a:pt x="877062" y="833067"/>
                </a:lnTo>
                <a:close/>
              </a:path>
              <a:path w="1445895" h="1395095">
                <a:moveTo>
                  <a:pt x="973074" y="925638"/>
                </a:moveTo>
                <a:lnTo>
                  <a:pt x="959876" y="939344"/>
                </a:lnTo>
                <a:lnTo>
                  <a:pt x="1014618" y="992255"/>
                </a:lnTo>
                <a:lnTo>
                  <a:pt x="1027938" y="978539"/>
                </a:lnTo>
                <a:lnTo>
                  <a:pt x="973074" y="925638"/>
                </a:lnTo>
                <a:close/>
              </a:path>
              <a:path w="1445895" h="1395095">
                <a:moveTo>
                  <a:pt x="1068964" y="1018211"/>
                </a:moveTo>
                <a:lnTo>
                  <a:pt x="1055766" y="1031915"/>
                </a:lnTo>
                <a:lnTo>
                  <a:pt x="1110630" y="1084813"/>
                </a:lnTo>
                <a:lnTo>
                  <a:pt x="1123828" y="1071109"/>
                </a:lnTo>
                <a:lnTo>
                  <a:pt x="1068964" y="1018211"/>
                </a:lnTo>
                <a:close/>
              </a:path>
              <a:path w="1445895" h="1395095">
                <a:moveTo>
                  <a:pt x="1164976" y="1110770"/>
                </a:moveTo>
                <a:lnTo>
                  <a:pt x="1151778" y="1124486"/>
                </a:lnTo>
                <a:lnTo>
                  <a:pt x="1206642" y="1177372"/>
                </a:lnTo>
                <a:lnTo>
                  <a:pt x="1219840" y="1163680"/>
                </a:lnTo>
                <a:lnTo>
                  <a:pt x="1164976" y="1110770"/>
                </a:lnTo>
                <a:close/>
              </a:path>
              <a:path w="1445895" h="1395095">
                <a:moveTo>
                  <a:pt x="1260988" y="1203341"/>
                </a:moveTo>
                <a:lnTo>
                  <a:pt x="1247790" y="1217057"/>
                </a:lnTo>
                <a:lnTo>
                  <a:pt x="1302654" y="1269943"/>
                </a:lnTo>
                <a:lnTo>
                  <a:pt x="1315852" y="1256227"/>
                </a:lnTo>
                <a:lnTo>
                  <a:pt x="1260988" y="1203341"/>
                </a:lnTo>
                <a:close/>
              </a:path>
              <a:path w="1445895" h="1395095">
                <a:moveTo>
                  <a:pt x="1384078" y="1348542"/>
                </a:moveTo>
                <a:lnTo>
                  <a:pt x="1364223" y="1369100"/>
                </a:lnTo>
                <a:lnTo>
                  <a:pt x="1445514" y="1394566"/>
                </a:lnTo>
                <a:lnTo>
                  <a:pt x="1432388" y="1357335"/>
                </a:lnTo>
                <a:lnTo>
                  <a:pt x="1393179" y="1357335"/>
                </a:lnTo>
                <a:lnTo>
                  <a:pt x="1384078" y="1348542"/>
                </a:lnTo>
                <a:close/>
              </a:path>
              <a:path w="1445895" h="1395095">
                <a:moveTo>
                  <a:pt x="1397308" y="1334843"/>
                </a:moveTo>
                <a:lnTo>
                  <a:pt x="1384078" y="1348542"/>
                </a:lnTo>
                <a:lnTo>
                  <a:pt x="1393179" y="1357335"/>
                </a:lnTo>
                <a:lnTo>
                  <a:pt x="1406408" y="1343631"/>
                </a:lnTo>
                <a:lnTo>
                  <a:pt x="1397308" y="1334843"/>
                </a:lnTo>
                <a:close/>
              </a:path>
              <a:path w="1445895" h="1395095">
                <a:moveTo>
                  <a:pt x="1417198" y="1314248"/>
                </a:moveTo>
                <a:lnTo>
                  <a:pt x="1397308" y="1334843"/>
                </a:lnTo>
                <a:lnTo>
                  <a:pt x="1406408" y="1343631"/>
                </a:lnTo>
                <a:lnTo>
                  <a:pt x="1393179" y="1357335"/>
                </a:lnTo>
                <a:lnTo>
                  <a:pt x="1432388" y="1357335"/>
                </a:lnTo>
                <a:lnTo>
                  <a:pt x="1417198" y="1314248"/>
                </a:lnTo>
                <a:close/>
              </a:path>
              <a:path w="1445895" h="1395095">
                <a:moveTo>
                  <a:pt x="1357000" y="1295912"/>
                </a:moveTo>
                <a:lnTo>
                  <a:pt x="1343802" y="1309628"/>
                </a:lnTo>
                <a:lnTo>
                  <a:pt x="1384078" y="1348542"/>
                </a:lnTo>
                <a:lnTo>
                  <a:pt x="1397308" y="1334843"/>
                </a:lnTo>
                <a:lnTo>
                  <a:pt x="1357000" y="1295912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1"/>
          <p:cNvSpPr/>
          <p:nvPr/>
        </p:nvSpPr>
        <p:spPr>
          <a:xfrm>
            <a:off x="3581400" y="3105150"/>
            <a:ext cx="2750185" cy="85725"/>
          </a:xfrm>
          <a:custGeom>
            <a:avLst/>
            <a:gdLst/>
            <a:ahLst/>
            <a:cxnLst/>
            <a:rect l="l" t="t" r="r" b="b"/>
            <a:pathLst>
              <a:path w="2750184" h="85725">
                <a:moveTo>
                  <a:pt x="76200" y="65400"/>
                </a:moveTo>
                <a:lnTo>
                  <a:pt x="0" y="66543"/>
                </a:lnTo>
                <a:lnTo>
                  <a:pt x="243" y="85593"/>
                </a:lnTo>
                <a:lnTo>
                  <a:pt x="76443" y="84450"/>
                </a:lnTo>
                <a:lnTo>
                  <a:pt x="76200" y="65400"/>
                </a:lnTo>
                <a:close/>
              </a:path>
              <a:path w="2750184" h="85725">
                <a:moveTo>
                  <a:pt x="209397" y="63495"/>
                </a:moveTo>
                <a:lnTo>
                  <a:pt x="133350" y="64638"/>
                </a:lnTo>
                <a:lnTo>
                  <a:pt x="133593" y="83688"/>
                </a:lnTo>
                <a:lnTo>
                  <a:pt x="209793" y="82545"/>
                </a:lnTo>
                <a:lnTo>
                  <a:pt x="209397" y="63495"/>
                </a:lnTo>
                <a:close/>
              </a:path>
              <a:path w="2750184" h="85725">
                <a:moveTo>
                  <a:pt x="342747" y="61590"/>
                </a:moveTo>
                <a:lnTo>
                  <a:pt x="266547" y="62733"/>
                </a:lnTo>
                <a:lnTo>
                  <a:pt x="266943" y="81783"/>
                </a:lnTo>
                <a:lnTo>
                  <a:pt x="343021" y="80640"/>
                </a:lnTo>
                <a:lnTo>
                  <a:pt x="342747" y="61590"/>
                </a:lnTo>
                <a:close/>
              </a:path>
              <a:path w="2750184" h="85725">
                <a:moveTo>
                  <a:pt x="476097" y="59685"/>
                </a:moveTo>
                <a:lnTo>
                  <a:pt x="399897" y="60828"/>
                </a:lnTo>
                <a:lnTo>
                  <a:pt x="400171" y="79878"/>
                </a:lnTo>
                <a:lnTo>
                  <a:pt x="476371" y="78735"/>
                </a:lnTo>
                <a:lnTo>
                  <a:pt x="476097" y="59685"/>
                </a:lnTo>
                <a:close/>
              </a:path>
              <a:path w="2750184" h="85725">
                <a:moveTo>
                  <a:pt x="609447" y="57780"/>
                </a:moveTo>
                <a:lnTo>
                  <a:pt x="533247" y="58923"/>
                </a:lnTo>
                <a:lnTo>
                  <a:pt x="533521" y="77973"/>
                </a:lnTo>
                <a:lnTo>
                  <a:pt x="609721" y="76830"/>
                </a:lnTo>
                <a:lnTo>
                  <a:pt x="609447" y="57780"/>
                </a:lnTo>
                <a:close/>
              </a:path>
              <a:path w="2750184" h="85725">
                <a:moveTo>
                  <a:pt x="742797" y="56007"/>
                </a:moveTo>
                <a:lnTo>
                  <a:pt x="666597" y="57018"/>
                </a:lnTo>
                <a:lnTo>
                  <a:pt x="666871" y="76068"/>
                </a:lnTo>
                <a:lnTo>
                  <a:pt x="743071" y="75057"/>
                </a:lnTo>
                <a:lnTo>
                  <a:pt x="742797" y="56007"/>
                </a:lnTo>
                <a:close/>
              </a:path>
              <a:path w="2750184" h="85725">
                <a:moveTo>
                  <a:pt x="876147" y="54102"/>
                </a:moveTo>
                <a:lnTo>
                  <a:pt x="799947" y="55113"/>
                </a:lnTo>
                <a:lnTo>
                  <a:pt x="800221" y="74163"/>
                </a:lnTo>
                <a:lnTo>
                  <a:pt x="876421" y="73152"/>
                </a:lnTo>
                <a:lnTo>
                  <a:pt x="876147" y="54102"/>
                </a:lnTo>
                <a:close/>
              </a:path>
              <a:path w="2750184" h="85725">
                <a:moveTo>
                  <a:pt x="1009497" y="52197"/>
                </a:moveTo>
                <a:lnTo>
                  <a:pt x="933297" y="53208"/>
                </a:lnTo>
                <a:lnTo>
                  <a:pt x="933571" y="72258"/>
                </a:lnTo>
                <a:lnTo>
                  <a:pt x="1009771" y="71247"/>
                </a:lnTo>
                <a:lnTo>
                  <a:pt x="1009497" y="52197"/>
                </a:lnTo>
                <a:close/>
              </a:path>
              <a:path w="2750184" h="85725">
                <a:moveTo>
                  <a:pt x="1142847" y="50292"/>
                </a:moveTo>
                <a:lnTo>
                  <a:pt x="1066647" y="51303"/>
                </a:lnTo>
                <a:lnTo>
                  <a:pt x="1066921" y="70353"/>
                </a:lnTo>
                <a:lnTo>
                  <a:pt x="1143121" y="69342"/>
                </a:lnTo>
                <a:lnTo>
                  <a:pt x="1142847" y="50292"/>
                </a:lnTo>
                <a:close/>
              </a:path>
              <a:path w="2750184" h="85725">
                <a:moveTo>
                  <a:pt x="1276197" y="48387"/>
                </a:moveTo>
                <a:lnTo>
                  <a:pt x="1199997" y="49398"/>
                </a:lnTo>
                <a:lnTo>
                  <a:pt x="1200271" y="68448"/>
                </a:lnTo>
                <a:lnTo>
                  <a:pt x="1276471" y="67437"/>
                </a:lnTo>
                <a:lnTo>
                  <a:pt x="1276197" y="48387"/>
                </a:lnTo>
                <a:close/>
              </a:path>
              <a:path w="2750184" h="85725">
                <a:moveTo>
                  <a:pt x="1409425" y="46482"/>
                </a:moveTo>
                <a:lnTo>
                  <a:pt x="1333347" y="47625"/>
                </a:lnTo>
                <a:lnTo>
                  <a:pt x="1333621" y="66543"/>
                </a:lnTo>
                <a:lnTo>
                  <a:pt x="1409821" y="65532"/>
                </a:lnTo>
                <a:lnTo>
                  <a:pt x="1409425" y="46482"/>
                </a:lnTo>
                <a:close/>
              </a:path>
              <a:path w="2750184" h="85725">
                <a:moveTo>
                  <a:pt x="1542775" y="44577"/>
                </a:moveTo>
                <a:lnTo>
                  <a:pt x="1466575" y="45720"/>
                </a:lnTo>
                <a:lnTo>
                  <a:pt x="1466971" y="64770"/>
                </a:lnTo>
                <a:lnTo>
                  <a:pt x="1543171" y="63627"/>
                </a:lnTo>
                <a:lnTo>
                  <a:pt x="1542775" y="44577"/>
                </a:lnTo>
                <a:close/>
              </a:path>
              <a:path w="2750184" h="85725">
                <a:moveTo>
                  <a:pt x="1676125" y="42672"/>
                </a:moveTo>
                <a:lnTo>
                  <a:pt x="1599925" y="43815"/>
                </a:lnTo>
                <a:lnTo>
                  <a:pt x="1600200" y="62865"/>
                </a:lnTo>
                <a:lnTo>
                  <a:pt x="1676400" y="61722"/>
                </a:lnTo>
                <a:lnTo>
                  <a:pt x="1676125" y="42672"/>
                </a:lnTo>
                <a:close/>
              </a:path>
              <a:path w="2750184" h="85725">
                <a:moveTo>
                  <a:pt x="1809475" y="40767"/>
                </a:moveTo>
                <a:lnTo>
                  <a:pt x="1733275" y="41910"/>
                </a:lnTo>
                <a:lnTo>
                  <a:pt x="1733550" y="60960"/>
                </a:lnTo>
                <a:lnTo>
                  <a:pt x="1809750" y="59817"/>
                </a:lnTo>
                <a:lnTo>
                  <a:pt x="1809475" y="40767"/>
                </a:lnTo>
                <a:close/>
              </a:path>
              <a:path w="2750184" h="85725">
                <a:moveTo>
                  <a:pt x="1942825" y="38862"/>
                </a:moveTo>
                <a:lnTo>
                  <a:pt x="1866625" y="40005"/>
                </a:lnTo>
                <a:lnTo>
                  <a:pt x="1866900" y="59055"/>
                </a:lnTo>
                <a:lnTo>
                  <a:pt x="1943100" y="57912"/>
                </a:lnTo>
                <a:lnTo>
                  <a:pt x="1942825" y="38862"/>
                </a:lnTo>
                <a:close/>
              </a:path>
              <a:path w="2750184" h="85725">
                <a:moveTo>
                  <a:pt x="2076175" y="36957"/>
                </a:moveTo>
                <a:lnTo>
                  <a:pt x="1999975" y="38100"/>
                </a:lnTo>
                <a:lnTo>
                  <a:pt x="2000250" y="57150"/>
                </a:lnTo>
                <a:lnTo>
                  <a:pt x="2076450" y="56007"/>
                </a:lnTo>
                <a:lnTo>
                  <a:pt x="2076175" y="36957"/>
                </a:lnTo>
                <a:close/>
              </a:path>
              <a:path w="2750184" h="85725">
                <a:moveTo>
                  <a:pt x="2209525" y="35170"/>
                </a:moveTo>
                <a:lnTo>
                  <a:pt x="2133325" y="36195"/>
                </a:lnTo>
                <a:lnTo>
                  <a:pt x="2133600" y="55245"/>
                </a:lnTo>
                <a:lnTo>
                  <a:pt x="2209800" y="54220"/>
                </a:lnTo>
                <a:lnTo>
                  <a:pt x="2209525" y="35170"/>
                </a:lnTo>
                <a:close/>
              </a:path>
              <a:path w="2750184" h="85725">
                <a:moveTo>
                  <a:pt x="2342875" y="33265"/>
                </a:moveTo>
                <a:lnTo>
                  <a:pt x="2266675" y="34290"/>
                </a:lnTo>
                <a:lnTo>
                  <a:pt x="2266950" y="53340"/>
                </a:lnTo>
                <a:lnTo>
                  <a:pt x="2343150" y="52315"/>
                </a:lnTo>
                <a:lnTo>
                  <a:pt x="2342875" y="33265"/>
                </a:lnTo>
                <a:close/>
              </a:path>
              <a:path w="2750184" h="85725">
                <a:moveTo>
                  <a:pt x="2476225" y="31360"/>
                </a:moveTo>
                <a:lnTo>
                  <a:pt x="2400025" y="32385"/>
                </a:lnTo>
                <a:lnTo>
                  <a:pt x="2400300" y="51435"/>
                </a:lnTo>
                <a:lnTo>
                  <a:pt x="2476500" y="50410"/>
                </a:lnTo>
                <a:lnTo>
                  <a:pt x="2476225" y="31360"/>
                </a:lnTo>
                <a:close/>
              </a:path>
              <a:path w="2750184" h="85725">
                <a:moveTo>
                  <a:pt x="2609575" y="29455"/>
                </a:moveTo>
                <a:lnTo>
                  <a:pt x="2533375" y="30480"/>
                </a:lnTo>
                <a:lnTo>
                  <a:pt x="2533650" y="49530"/>
                </a:lnTo>
                <a:lnTo>
                  <a:pt x="2609850" y="48505"/>
                </a:lnTo>
                <a:lnTo>
                  <a:pt x="2609575" y="29455"/>
                </a:lnTo>
                <a:close/>
              </a:path>
              <a:path w="2750184" h="85725">
                <a:moveTo>
                  <a:pt x="2732235" y="28312"/>
                </a:moveTo>
                <a:lnTo>
                  <a:pt x="2686537" y="28312"/>
                </a:lnTo>
                <a:lnTo>
                  <a:pt x="2686812" y="47362"/>
                </a:lnTo>
                <a:lnTo>
                  <a:pt x="2674089" y="47531"/>
                </a:lnTo>
                <a:lnTo>
                  <a:pt x="2674467" y="76200"/>
                </a:lnTo>
                <a:lnTo>
                  <a:pt x="2750180" y="36957"/>
                </a:lnTo>
                <a:lnTo>
                  <a:pt x="2732235" y="28312"/>
                </a:lnTo>
                <a:close/>
              </a:path>
              <a:path w="2750184" h="85725">
                <a:moveTo>
                  <a:pt x="2673837" y="28479"/>
                </a:moveTo>
                <a:lnTo>
                  <a:pt x="2666603" y="28575"/>
                </a:lnTo>
                <a:lnTo>
                  <a:pt x="2667000" y="47625"/>
                </a:lnTo>
                <a:lnTo>
                  <a:pt x="2674089" y="47531"/>
                </a:lnTo>
                <a:lnTo>
                  <a:pt x="2673837" y="28479"/>
                </a:lnTo>
                <a:close/>
              </a:path>
              <a:path w="2750184" h="85725">
                <a:moveTo>
                  <a:pt x="2686537" y="28312"/>
                </a:moveTo>
                <a:lnTo>
                  <a:pt x="2673837" y="28479"/>
                </a:lnTo>
                <a:lnTo>
                  <a:pt x="2674089" y="47531"/>
                </a:lnTo>
                <a:lnTo>
                  <a:pt x="2686812" y="47362"/>
                </a:lnTo>
                <a:lnTo>
                  <a:pt x="2686537" y="28312"/>
                </a:lnTo>
                <a:close/>
              </a:path>
              <a:path w="2750184" h="85725">
                <a:moveTo>
                  <a:pt x="2673461" y="0"/>
                </a:moveTo>
                <a:lnTo>
                  <a:pt x="2673837" y="28479"/>
                </a:lnTo>
                <a:lnTo>
                  <a:pt x="2686537" y="28312"/>
                </a:lnTo>
                <a:lnTo>
                  <a:pt x="2732235" y="28312"/>
                </a:lnTo>
                <a:lnTo>
                  <a:pt x="2673461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2"/>
          <p:cNvSpPr/>
          <p:nvPr/>
        </p:nvSpPr>
        <p:spPr>
          <a:xfrm>
            <a:off x="6248400" y="1657350"/>
            <a:ext cx="328738" cy="57528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3"/>
          <p:cNvSpPr/>
          <p:nvPr/>
        </p:nvSpPr>
        <p:spPr>
          <a:xfrm>
            <a:off x="7543800" y="2800350"/>
            <a:ext cx="328738" cy="57528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4"/>
          <p:cNvSpPr/>
          <p:nvPr/>
        </p:nvSpPr>
        <p:spPr>
          <a:xfrm>
            <a:off x="6172200" y="4095750"/>
            <a:ext cx="328738" cy="57528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5"/>
          <p:cNvSpPr txBox="1"/>
          <p:nvPr/>
        </p:nvSpPr>
        <p:spPr>
          <a:xfrm>
            <a:off x="5410200" y="4857750"/>
            <a:ext cx="33972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b="1" spc="20" dirty="0">
                <a:solidFill>
                  <a:srgbClr val="595959"/>
                </a:solidFill>
                <a:latin typeface="Arial"/>
                <a:cs typeface="Arial"/>
              </a:rPr>
              <a:t>SEE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‘She’ can be a woman, wife, mother and a teacher at the same time</a:t>
            </a:r>
          </a:p>
          <a:p>
            <a:endParaRPr lang="en-US" dirty="0"/>
          </a:p>
        </p:txBody>
      </p:sp>
      <p:sp>
        <p:nvSpPr>
          <p:cNvPr id="7" name="object 13"/>
          <p:cNvSpPr/>
          <p:nvPr/>
        </p:nvSpPr>
        <p:spPr>
          <a:xfrm>
            <a:off x="1603256" y="1595549"/>
            <a:ext cx="750469" cy="26029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4"/>
          <p:cNvSpPr txBox="1"/>
          <p:nvPr/>
        </p:nvSpPr>
        <p:spPr>
          <a:xfrm>
            <a:off x="1600200" y="4334410"/>
            <a:ext cx="7118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WOMAN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15"/>
          <p:cNvSpPr/>
          <p:nvPr/>
        </p:nvSpPr>
        <p:spPr>
          <a:xfrm>
            <a:off x="2846566" y="1595549"/>
            <a:ext cx="1124900" cy="2602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6"/>
          <p:cNvSpPr txBox="1"/>
          <p:nvPr/>
        </p:nvSpPr>
        <p:spPr>
          <a:xfrm>
            <a:off x="2730501" y="4335362"/>
            <a:ext cx="146367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WIFE or</a:t>
            </a:r>
            <a:r>
              <a:rPr sz="1350" b="1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MOTHER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7"/>
          <p:cNvSpPr/>
          <p:nvPr/>
        </p:nvSpPr>
        <p:spPr>
          <a:xfrm>
            <a:off x="3936865" y="1428750"/>
            <a:ext cx="3373251" cy="29366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8"/>
          <p:cNvSpPr txBox="1"/>
          <p:nvPr/>
        </p:nvSpPr>
        <p:spPr>
          <a:xfrm>
            <a:off x="5224148" y="4335362"/>
            <a:ext cx="8572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TEACHER</a:t>
            </a:r>
            <a:endParaRPr sz="1350">
              <a:latin typeface="Arial"/>
              <a:cs typeface="Arial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spc="25" dirty="0">
                <a:solidFill>
                  <a:srgbClr val="FFFFFF"/>
                </a:solidFill>
              </a:rPr>
              <a:t>OOPS: Classes </a:t>
            </a:r>
            <a:r>
              <a:rPr lang="en-US" sz="3200" spc="30" dirty="0">
                <a:solidFill>
                  <a:srgbClr val="FFFFFF"/>
                </a:solidFill>
              </a:rPr>
              <a:t>and</a:t>
            </a:r>
            <a:r>
              <a:rPr lang="en-US" sz="3200" spc="-80" dirty="0">
                <a:solidFill>
                  <a:srgbClr val="FFFFFF"/>
                </a:solidFill>
              </a:rPr>
              <a:t> </a:t>
            </a:r>
            <a:r>
              <a:rPr lang="en-US" sz="3200" spc="20" dirty="0">
                <a:solidFill>
                  <a:srgbClr val="FFFFFF"/>
                </a:solidFill>
              </a:rPr>
              <a:t>Objects</a:t>
            </a:r>
            <a:endParaRPr lang="en-US" dirty="0"/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514350"/>
            <a:ext cx="5867400" cy="533400"/>
          </a:xfr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Things you will learn after this Session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900" dirty="0"/>
          </a:p>
          <a:p>
            <a:pPr>
              <a:buNone/>
            </a:pPr>
            <a:r>
              <a:rPr lang="en-US" sz="2400" dirty="0"/>
              <a:t>OOPS: Classes and Objects</a:t>
            </a:r>
            <a:endParaRPr lang="en-US" sz="1400" dirty="0"/>
          </a:p>
          <a:p>
            <a:endParaRPr lang="en-US" sz="100" dirty="0"/>
          </a:p>
          <a:p>
            <a:r>
              <a:rPr lang="en-US" sz="1800" dirty="0"/>
              <a:t>What are Classes and Objects?</a:t>
            </a:r>
          </a:p>
          <a:p>
            <a:r>
              <a:rPr lang="en-US" sz="1800" dirty="0"/>
              <a:t>How to create a class in Python?</a:t>
            </a:r>
          </a:p>
          <a:p>
            <a:r>
              <a:rPr lang="en-US" sz="1800" dirty="0"/>
              <a:t>How to create objects in Python?</a:t>
            </a:r>
          </a:p>
          <a:p>
            <a:r>
              <a:rPr lang="en-US" sz="1800" dirty="0"/>
              <a:t>How to access class members?</a:t>
            </a:r>
          </a:p>
          <a:p>
            <a:r>
              <a:rPr lang="en-US" sz="1800" dirty="0"/>
              <a:t>Concept of init method/constructor in Python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Object and Class?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is a blueprint for an object</a:t>
            </a:r>
          </a:p>
          <a:p>
            <a:r>
              <a:rPr lang="en-US" dirty="0"/>
              <a:t>Objects: Defined and created from classes(blueprint)</a:t>
            </a:r>
          </a:p>
          <a:p>
            <a:endParaRPr lang="en-US" dirty="0"/>
          </a:p>
        </p:txBody>
      </p:sp>
      <p:sp>
        <p:nvSpPr>
          <p:cNvPr id="6" name="object 12"/>
          <p:cNvSpPr/>
          <p:nvPr/>
        </p:nvSpPr>
        <p:spPr>
          <a:xfrm>
            <a:off x="2138932" y="2413632"/>
            <a:ext cx="2581275" cy="17240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3"/>
          <p:cNvSpPr txBox="1"/>
          <p:nvPr/>
        </p:nvSpPr>
        <p:spPr>
          <a:xfrm>
            <a:off x="2341118" y="4269097"/>
            <a:ext cx="20256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Class (House Blue</a:t>
            </a:r>
            <a:r>
              <a:rPr sz="1350" b="1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Print)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14"/>
          <p:cNvSpPr/>
          <p:nvPr/>
        </p:nvSpPr>
        <p:spPr>
          <a:xfrm>
            <a:off x="6215632" y="1508757"/>
            <a:ext cx="1028700" cy="1057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5"/>
          <p:cNvSpPr/>
          <p:nvPr/>
        </p:nvSpPr>
        <p:spPr>
          <a:xfrm>
            <a:off x="6300336" y="1591089"/>
            <a:ext cx="860258" cy="8868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6"/>
          <p:cNvSpPr/>
          <p:nvPr/>
        </p:nvSpPr>
        <p:spPr>
          <a:xfrm>
            <a:off x="6215632" y="2642232"/>
            <a:ext cx="1028700" cy="10572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7"/>
          <p:cNvSpPr/>
          <p:nvPr/>
        </p:nvSpPr>
        <p:spPr>
          <a:xfrm>
            <a:off x="6300336" y="2730916"/>
            <a:ext cx="860258" cy="8868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8"/>
          <p:cNvSpPr/>
          <p:nvPr/>
        </p:nvSpPr>
        <p:spPr>
          <a:xfrm>
            <a:off x="6215632" y="3785232"/>
            <a:ext cx="1028700" cy="10572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9"/>
          <p:cNvSpPr/>
          <p:nvPr/>
        </p:nvSpPr>
        <p:spPr>
          <a:xfrm>
            <a:off x="6300336" y="3870728"/>
            <a:ext cx="860258" cy="886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0"/>
          <p:cNvSpPr/>
          <p:nvPr/>
        </p:nvSpPr>
        <p:spPr>
          <a:xfrm>
            <a:off x="4718058" y="2034521"/>
            <a:ext cx="1582420" cy="1268095"/>
          </a:xfrm>
          <a:custGeom>
            <a:avLst/>
            <a:gdLst/>
            <a:ahLst/>
            <a:cxnLst/>
            <a:rect l="l" t="t" r="r" b="b"/>
            <a:pathLst>
              <a:path w="1582420" h="1268095">
                <a:moveTo>
                  <a:pt x="59557" y="1205118"/>
                </a:moveTo>
                <a:lnTo>
                  <a:pt x="0" y="1252743"/>
                </a:lnTo>
                <a:lnTo>
                  <a:pt x="11917" y="1267602"/>
                </a:lnTo>
                <a:lnTo>
                  <a:pt x="71353" y="1220108"/>
                </a:lnTo>
                <a:lnTo>
                  <a:pt x="59557" y="1205118"/>
                </a:lnTo>
                <a:close/>
              </a:path>
              <a:path w="1582420" h="1268095">
                <a:moveTo>
                  <a:pt x="163708" y="1121929"/>
                </a:moveTo>
                <a:lnTo>
                  <a:pt x="104119" y="1169435"/>
                </a:lnTo>
                <a:lnTo>
                  <a:pt x="116067" y="1184413"/>
                </a:lnTo>
                <a:lnTo>
                  <a:pt x="175503" y="1136788"/>
                </a:lnTo>
                <a:lnTo>
                  <a:pt x="163708" y="1121929"/>
                </a:lnTo>
                <a:close/>
              </a:path>
              <a:path w="1582420" h="1268095">
                <a:moveTo>
                  <a:pt x="267827" y="1038621"/>
                </a:moveTo>
                <a:lnTo>
                  <a:pt x="208269" y="1086246"/>
                </a:lnTo>
                <a:lnTo>
                  <a:pt x="220218" y="1101105"/>
                </a:lnTo>
                <a:lnTo>
                  <a:pt x="279775" y="1053480"/>
                </a:lnTo>
                <a:lnTo>
                  <a:pt x="267827" y="1038621"/>
                </a:lnTo>
                <a:close/>
              </a:path>
              <a:path w="1582420" h="1268095">
                <a:moveTo>
                  <a:pt x="371977" y="955313"/>
                </a:moveTo>
                <a:lnTo>
                  <a:pt x="312420" y="1002938"/>
                </a:lnTo>
                <a:lnTo>
                  <a:pt x="324337" y="1017797"/>
                </a:lnTo>
                <a:lnTo>
                  <a:pt x="383926" y="970172"/>
                </a:lnTo>
                <a:lnTo>
                  <a:pt x="371977" y="955313"/>
                </a:lnTo>
                <a:close/>
              </a:path>
              <a:path w="1582420" h="1268095">
                <a:moveTo>
                  <a:pt x="476128" y="872124"/>
                </a:moveTo>
                <a:lnTo>
                  <a:pt x="416539" y="919618"/>
                </a:lnTo>
                <a:lnTo>
                  <a:pt x="428487" y="934477"/>
                </a:lnTo>
                <a:lnTo>
                  <a:pt x="488045" y="886983"/>
                </a:lnTo>
                <a:lnTo>
                  <a:pt x="476128" y="872124"/>
                </a:lnTo>
                <a:close/>
              </a:path>
              <a:path w="1582420" h="1268095">
                <a:moveTo>
                  <a:pt x="580247" y="788816"/>
                </a:moveTo>
                <a:lnTo>
                  <a:pt x="520811" y="836441"/>
                </a:lnTo>
                <a:lnTo>
                  <a:pt x="532638" y="851300"/>
                </a:lnTo>
                <a:lnTo>
                  <a:pt x="592195" y="803675"/>
                </a:lnTo>
                <a:lnTo>
                  <a:pt x="580247" y="788816"/>
                </a:lnTo>
                <a:close/>
              </a:path>
              <a:path w="1582420" h="1268095">
                <a:moveTo>
                  <a:pt x="684397" y="705496"/>
                </a:moveTo>
                <a:lnTo>
                  <a:pt x="624961" y="753121"/>
                </a:lnTo>
                <a:lnTo>
                  <a:pt x="636757" y="767980"/>
                </a:lnTo>
                <a:lnTo>
                  <a:pt x="696346" y="720355"/>
                </a:lnTo>
                <a:lnTo>
                  <a:pt x="684397" y="705496"/>
                </a:lnTo>
                <a:close/>
              </a:path>
              <a:path w="1582420" h="1268095">
                <a:moveTo>
                  <a:pt x="788548" y="622319"/>
                </a:moveTo>
                <a:lnTo>
                  <a:pt x="729112" y="669813"/>
                </a:lnTo>
                <a:lnTo>
                  <a:pt x="740907" y="684672"/>
                </a:lnTo>
                <a:lnTo>
                  <a:pt x="800465" y="637178"/>
                </a:lnTo>
                <a:lnTo>
                  <a:pt x="788548" y="622319"/>
                </a:lnTo>
                <a:close/>
              </a:path>
              <a:path w="1582420" h="1268095">
                <a:moveTo>
                  <a:pt x="892789" y="538999"/>
                </a:moveTo>
                <a:lnTo>
                  <a:pt x="833231" y="586624"/>
                </a:lnTo>
                <a:lnTo>
                  <a:pt x="845179" y="601483"/>
                </a:lnTo>
                <a:lnTo>
                  <a:pt x="904615" y="553858"/>
                </a:lnTo>
                <a:lnTo>
                  <a:pt x="892789" y="538999"/>
                </a:lnTo>
                <a:close/>
              </a:path>
              <a:path w="1582420" h="1268095">
                <a:moveTo>
                  <a:pt x="996939" y="455691"/>
                </a:moveTo>
                <a:lnTo>
                  <a:pt x="937381" y="503316"/>
                </a:lnTo>
                <a:lnTo>
                  <a:pt x="949330" y="518175"/>
                </a:lnTo>
                <a:lnTo>
                  <a:pt x="1008766" y="470550"/>
                </a:lnTo>
                <a:lnTo>
                  <a:pt x="996939" y="455691"/>
                </a:lnTo>
                <a:close/>
              </a:path>
              <a:path w="1582420" h="1268095">
                <a:moveTo>
                  <a:pt x="1101090" y="372502"/>
                </a:moveTo>
                <a:lnTo>
                  <a:pt x="1041532" y="420008"/>
                </a:lnTo>
                <a:lnTo>
                  <a:pt x="1053449" y="434867"/>
                </a:lnTo>
                <a:lnTo>
                  <a:pt x="1112885" y="387361"/>
                </a:lnTo>
                <a:lnTo>
                  <a:pt x="1101090" y="372502"/>
                </a:lnTo>
                <a:close/>
              </a:path>
              <a:path w="1582420" h="1268095">
                <a:moveTo>
                  <a:pt x="1205209" y="289194"/>
                </a:moveTo>
                <a:lnTo>
                  <a:pt x="1145651" y="336819"/>
                </a:lnTo>
                <a:lnTo>
                  <a:pt x="1157599" y="351678"/>
                </a:lnTo>
                <a:lnTo>
                  <a:pt x="1217157" y="304053"/>
                </a:lnTo>
                <a:lnTo>
                  <a:pt x="1205209" y="289194"/>
                </a:lnTo>
                <a:close/>
              </a:path>
              <a:path w="1582420" h="1268095">
                <a:moveTo>
                  <a:pt x="1309359" y="205892"/>
                </a:moveTo>
                <a:lnTo>
                  <a:pt x="1249801" y="253502"/>
                </a:lnTo>
                <a:lnTo>
                  <a:pt x="1261750" y="268370"/>
                </a:lnTo>
                <a:lnTo>
                  <a:pt x="1321308" y="220736"/>
                </a:lnTo>
                <a:lnTo>
                  <a:pt x="1309359" y="205892"/>
                </a:lnTo>
                <a:close/>
              </a:path>
              <a:path w="1582420" h="1268095">
                <a:moveTo>
                  <a:pt x="1413510" y="122682"/>
                </a:moveTo>
                <a:lnTo>
                  <a:pt x="1353952" y="170200"/>
                </a:lnTo>
                <a:lnTo>
                  <a:pt x="1365869" y="185044"/>
                </a:lnTo>
                <a:lnTo>
                  <a:pt x="1425427" y="137556"/>
                </a:lnTo>
                <a:lnTo>
                  <a:pt x="1413510" y="122682"/>
                </a:lnTo>
                <a:close/>
              </a:path>
              <a:path w="1582420" h="1268095">
                <a:moveTo>
                  <a:pt x="1516768" y="40070"/>
                </a:moveTo>
                <a:lnTo>
                  <a:pt x="1458193" y="87020"/>
                </a:lnTo>
                <a:lnTo>
                  <a:pt x="1470019" y="101864"/>
                </a:lnTo>
                <a:lnTo>
                  <a:pt x="1528677" y="54974"/>
                </a:lnTo>
                <a:lnTo>
                  <a:pt x="1516768" y="40070"/>
                </a:lnTo>
                <a:close/>
              </a:path>
              <a:path w="1582420" h="1268095">
                <a:moveTo>
                  <a:pt x="1564017" y="39380"/>
                </a:moveTo>
                <a:lnTo>
                  <a:pt x="1517629" y="39380"/>
                </a:lnTo>
                <a:lnTo>
                  <a:pt x="1529577" y="54254"/>
                </a:lnTo>
                <a:lnTo>
                  <a:pt x="1528677" y="54974"/>
                </a:lnTo>
                <a:lnTo>
                  <a:pt x="1546463" y="77236"/>
                </a:lnTo>
                <a:lnTo>
                  <a:pt x="1564017" y="39380"/>
                </a:lnTo>
                <a:close/>
              </a:path>
              <a:path w="1582420" h="1268095">
                <a:moveTo>
                  <a:pt x="1517629" y="39380"/>
                </a:moveTo>
                <a:lnTo>
                  <a:pt x="1516768" y="40070"/>
                </a:lnTo>
                <a:lnTo>
                  <a:pt x="1528677" y="54974"/>
                </a:lnTo>
                <a:lnTo>
                  <a:pt x="1529577" y="54254"/>
                </a:lnTo>
                <a:lnTo>
                  <a:pt x="1517629" y="39380"/>
                </a:lnTo>
                <a:close/>
              </a:path>
              <a:path w="1582420" h="1268095">
                <a:moveTo>
                  <a:pt x="1582277" y="0"/>
                </a:moveTo>
                <a:lnTo>
                  <a:pt x="1498975" y="17800"/>
                </a:lnTo>
                <a:lnTo>
                  <a:pt x="1516768" y="40070"/>
                </a:lnTo>
                <a:lnTo>
                  <a:pt x="1517629" y="39380"/>
                </a:lnTo>
                <a:lnTo>
                  <a:pt x="1564017" y="39380"/>
                </a:lnTo>
                <a:lnTo>
                  <a:pt x="1582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1"/>
          <p:cNvSpPr/>
          <p:nvPr/>
        </p:nvSpPr>
        <p:spPr>
          <a:xfrm>
            <a:off x="4704220" y="3306064"/>
            <a:ext cx="1596390" cy="1008380"/>
          </a:xfrm>
          <a:custGeom>
            <a:avLst/>
            <a:gdLst/>
            <a:ahLst/>
            <a:cxnLst/>
            <a:rect l="l" t="t" r="r" b="b"/>
            <a:pathLst>
              <a:path w="1596390" h="1008379">
                <a:moveTo>
                  <a:pt x="10149" y="0"/>
                </a:moveTo>
                <a:lnTo>
                  <a:pt x="0" y="16120"/>
                </a:lnTo>
                <a:lnTo>
                  <a:pt x="64495" y="56637"/>
                </a:lnTo>
                <a:lnTo>
                  <a:pt x="74676" y="40504"/>
                </a:lnTo>
                <a:lnTo>
                  <a:pt x="10149" y="0"/>
                </a:lnTo>
                <a:close/>
              </a:path>
              <a:path w="1596390" h="1008379">
                <a:moveTo>
                  <a:pt x="123047" y="70866"/>
                </a:moveTo>
                <a:lnTo>
                  <a:pt x="112897" y="86986"/>
                </a:lnTo>
                <a:lnTo>
                  <a:pt x="177393" y="127635"/>
                </a:lnTo>
                <a:lnTo>
                  <a:pt x="187573" y="111501"/>
                </a:lnTo>
                <a:lnTo>
                  <a:pt x="123047" y="70866"/>
                </a:lnTo>
                <a:close/>
              </a:path>
              <a:path w="1596390" h="1008379">
                <a:moveTo>
                  <a:pt x="235945" y="141850"/>
                </a:moveTo>
                <a:lnTo>
                  <a:pt x="225795" y="157983"/>
                </a:lnTo>
                <a:lnTo>
                  <a:pt x="290322" y="198501"/>
                </a:lnTo>
                <a:lnTo>
                  <a:pt x="300471" y="182367"/>
                </a:lnTo>
                <a:lnTo>
                  <a:pt x="235945" y="141850"/>
                </a:lnTo>
                <a:close/>
              </a:path>
              <a:path w="1596390" h="1008379">
                <a:moveTo>
                  <a:pt x="348843" y="212847"/>
                </a:moveTo>
                <a:lnTo>
                  <a:pt x="338693" y="228981"/>
                </a:lnTo>
                <a:lnTo>
                  <a:pt x="403219" y="269485"/>
                </a:lnTo>
                <a:lnTo>
                  <a:pt x="413369" y="253365"/>
                </a:lnTo>
                <a:lnTo>
                  <a:pt x="348843" y="212847"/>
                </a:lnTo>
                <a:close/>
              </a:path>
              <a:path w="1596390" h="1008379">
                <a:moveTo>
                  <a:pt x="461772" y="283845"/>
                </a:moveTo>
                <a:lnTo>
                  <a:pt x="451591" y="299965"/>
                </a:lnTo>
                <a:lnTo>
                  <a:pt x="516117" y="340482"/>
                </a:lnTo>
                <a:lnTo>
                  <a:pt x="526267" y="324349"/>
                </a:lnTo>
                <a:lnTo>
                  <a:pt x="461772" y="283845"/>
                </a:lnTo>
                <a:close/>
              </a:path>
              <a:path w="1596390" h="1008379">
                <a:moveTo>
                  <a:pt x="574669" y="354711"/>
                </a:moveTo>
                <a:lnTo>
                  <a:pt x="564489" y="370831"/>
                </a:lnTo>
                <a:lnTo>
                  <a:pt x="629015" y="411480"/>
                </a:lnTo>
                <a:lnTo>
                  <a:pt x="639165" y="395346"/>
                </a:lnTo>
                <a:lnTo>
                  <a:pt x="574669" y="354711"/>
                </a:lnTo>
                <a:close/>
              </a:path>
              <a:path w="1596390" h="1008379">
                <a:moveTo>
                  <a:pt x="687567" y="425695"/>
                </a:moveTo>
                <a:lnTo>
                  <a:pt x="677418" y="441828"/>
                </a:lnTo>
                <a:lnTo>
                  <a:pt x="741913" y="482464"/>
                </a:lnTo>
                <a:lnTo>
                  <a:pt x="752094" y="466344"/>
                </a:lnTo>
                <a:lnTo>
                  <a:pt x="687567" y="425695"/>
                </a:lnTo>
                <a:close/>
              </a:path>
              <a:path w="1596390" h="1008379">
                <a:moveTo>
                  <a:pt x="800465" y="496692"/>
                </a:moveTo>
                <a:lnTo>
                  <a:pt x="790315" y="512826"/>
                </a:lnTo>
                <a:lnTo>
                  <a:pt x="854811" y="553330"/>
                </a:lnTo>
                <a:lnTo>
                  <a:pt x="864991" y="537210"/>
                </a:lnTo>
                <a:lnTo>
                  <a:pt x="800465" y="496692"/>
                </a:lnTo>
                <a:close/>
              </a:path>
              <a:path w="1596390" h="1008379">
                <a:moveTo>
                  <a:pt x="913363" y="567690"/>
                </a:moveTo>
                <a:lnTo>
                  <a:pt x="903213" y="583810"/>
                </a:lnTo>
                <a:lnTo>
                  <a:pt x="967740" y="624327"/>
                </a:lnTo>
                <a:lnTo>
                  <a:pt x="977889" y="608194"/>
                </a:lnTo>
                <a:lnTo>
                  <a:pt x="913363" y="567690"/>
                </a:lnTo>
                <a:close/>
              </a:path>
              <a:path w="1596390" h="1008379">
                <a:moveTo>
                  <a:pt x="1026261" y="638674"/>
                </a:moveTo>
                <a:lnTo>
                  <a:pt x="1016111" y="654807"/>
                </a:lnTo>
                <a:lnTo>
                  <a:pt x="1080637" y="695325"/>
                </a:lnTo>
                <a:lnTo>
                  <a:pt x="1090787" y="679191"/>
                </a:lnTo>
                <a:lnTo>
                  <a:pt x="1026261" y="638674"/>
                </a:lnTo>
                <a:close/>
              </a:path>
              <a:path w="1596390" h="1008379">
                <a:moveTo>
                  <a:pt x="1139190" y="709540"/>
                </a:moveTo>
                <a:lnTo>
                  <a:pt x="1129009" y="725673"/>
                </a:lnTo>
                <a:lnTo>
                  <a:pt x="1193535" y="766309"/>
                </a:lnTo>
                <a:lnTo>
                  <a:pt x="1203685" y="750189"/>
                </a:lnTo>
                <a:lnTo>
                  <a:pt x="1139190" y="709540"/>
                </a:lnTo>
                <a:close/>
              </a:path>
              <a:path w="1596390" h="1008379">
                <a:moveTo>
                  <a:pt x="1252087" y="780562"/>
                </a:moveTo>
                <a:lnTo>
                  <a:pt x="1241907" y="796695"/>
                </a:lnTo>
                <a:lnTo>
                  <a:pt x="1306433" y="837246"/>
                </a:lnTo>
                <a:lnTo>
                  <a:pt x="1316583" y="821112"/>
                </a:lnTo>
                <a:lnTo>
                  <a:pt x="1252087" y="780562"/>
                </a:lnTo>
                <a:close/>
              </a:path>
              <a:path w="1596390" h="1008379">
                <a:moveTo>
                  <a:pt x="1364985" y="851535"/>
                </a:moveTo>
                <a:lnTo>
                  <a:pt x="1354836" y="867655"/>
                </a:lnTo>
                <a:lnTo>
                  <a:pt x="1419331" y="908209"/>
                </a:lnTo>
                <a:lnTo>
                  <a:pt x="1429512" y="892088"/>
                </a:lnTo>
                <a:lnTo>
                  <a:pt x="1364985" y="851535"/>
                </a:lnTo>
                <a:close/>
              </a:path>
              <a:path w="1596390" h="1008379">
                <a:moveTo>
                  <a:pt x="1526485" y="975570"/>
                </a:moveTo>
                <a:lnTo>
                  <a:pt x="1511289" y="999768"/>
                </a:lnTo>
                <a:lnTo>
                  <a:pt x="1596115" y="1008065"/>
                </a:lnTo>
                <a:lnTo>
                  <a:pt x="1578534" y="979182"/>
                </a:lnTo>
                <a:lnTo>
                  <a:pt x="1532229" y="979182"/>
                </a:lnTo>
                <a:lnTo>
                  <a:pt x="1526485" y="975570"/>
                </a:lnTo>
                <a:close/>
              </a:path>
              <a:path w="1596390" h="1008379">
                <a:moveTo>
                  <a:pt x="1536629" y="959416"/>
                </a:moveTo>
                <a:lnTo>
                  <a:pt x="1526485" y="975570"/>
                </a:lnTo>
                <a:lnTo>
                  <a:pt x="1532229" y="979182"/>
                </a:lnTo>
                <a:lnTo>
                  <a:pt x="1542409" y="963049"/>
                </a:lnTo>
                <a:lnTo>
                  <a:pt x="1536629" y="959416"/>
                </a:lnTo>
                <a:close/>
              </a:path>
              <a:path w="1596390" h="1008379">
                <a:moveTo>
                  <a:pt x="1551797" y="935260"/>
                </a:moveTo>
                <a:lnTo>
                  <a:pt x="1536629" y="959416"/>
                </a:lnTo>
                <a:lnTo>
                  <a:pt x="1542409" y="963049"/>
                </a:lnTo>
                <a:lnTo>
                  <a:pt x="1532229" y="979182"/>
                </a:lnTo>
                <a:lnTo>
                  <a:pt x="1578534" y="979182"/>
                </a:lnTo>
                <a:lnTo>
                  <a:pt x="1551797" y="935260"/>
                </a:lnTo>
                <a:close/>
              </a:path>
              <a:path w="1596390" h="1008379">
                <a:moveTo>
                  <a:pt x="1477883" y="922495"/>
                </a:moveTo>
                <a:lnTo>
                  <a:pt x="1467733" y="938628"/>
                </a:lnTo>
                <a:lnTo>
                  <a:pt x="1526485" y="975570"/>
                </a:lnTo>
                <a:lnTo>
                  <a:pt x="1536629" y="959416"/>
                </a:lnTo>
                <a:lnTo>
                  <a:pt x="1477883" y="9224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2"/>
          <p:cNvSpPr/>
          <p:nvPr/>
        </p:nvSpPr>
        <p:spPr>
          <a:xfrm>
            <a:off x="4708518" y="3142996"/>
            <a:ext cx="1591945" cy="180975"/>
          </a:xfrm>
          <a:custGeom>
            <a:avLst/>
            <a:gdLst/>
            <a:ahLst/>
            <a:cxnLst/>
            <a:rect l="l" t="t" r="r" b="b"/>
            <a:pathLst>
              <a:path w="1591945" h="180975">
                <a:moveTo>
                  <a:pt x="75834" y="154935"/>
                </a:moveTo>
                <a:lnTo>
                  <a:pt x="0" y="161544"/>
                </a:lnTo>
                <a:lnTo>
                  <a:pt x="1645" y="180594"/>
                </a:lnTo>
                <a:lnTo>
                  <a:pt x="77480" y="173854"/>
                </a:lnTo>
                <a:lnTo>
                  <a:pt x="75834" y="154935"/>
                </a:lnTo>
                <a:close/>
              </a:path>
              <a:path w="1591945" h="180975">
                <a:moveTo>
                  <a:pt x="208666" y="143256"/>
                </a:moveTo>
                <a:lnTo>
                  <a:pt x="132862" y="149851"/>
                </a:lnTo>
                <a:lnTo>
                  <a:pt x="134508" y="168901"/>
                </a:lnTo>
                <a:lnTo>
                  <a:pt x="210312" y="162174"/>
                </a:lnTo>
                <a:lnTo>
                  <a:pt x="208666" y="143256"/>
                </a:lnTo>
                <a:close/>
              </a:path>
              <a:path w="1591945" h="180975">
                <a:moveTo>
                  <a:pt x="341497" y="131563"/>
                </a:moveTo>
                <a:lnTo>
                  <a:pt x="265694" y="138303"/>
                </a:lnTo>
                <a:lnTo>
                  <a:pt x="267340" y="157221"/>
                </a:lnTo>
                <a:lnTo>
                  <a:pt x="343174" y="150495"/>
                </a:lnTo>
                <a:lnTo>
                  <a:pt x="341497" y="131563"/>
                </a:lnTo>
                <a:close/>
              </a:path>
              <a:path w="1591945" h="180975">
                <a:moveTo>
                  <a:pt x="474360" y="119883"/>
                </a:moveTo>
                <a:lnTo>
                  <a:pt x="398526" y="126610"/>
                </a:lnTo>
                <a:lnTo>
                  <a:pt x="400171" y="145542"/>
                </a:lnTo>
                <a:lnTo>
                  <a:pt x="476006" y="138933"/>
                </a:lnTo>
                <a:lnTo>
                  <a:pt x="474360" y="119883"/>
                </a:lnTo>
                <a:close/>
              </a:path>
              <a:path w="1591945" h="180975">
                <a:moveTo>
                  <a:pt x="607192" y="108204"/>
                </a:moveTo>
                <a:lnTo>
                  <a:pt x="531388" y="114930"/>
                </a:lnTo>
                <a:lnTo>
                  <a:pt x="533034" y="133849"/>
                </a:lnTo>
                <a:lnTo>
                  <a:pt x="608838" y="127254"/>
                </a:lnTo>
                <a:lnTo>
                  <a:pt x="607192" y="108204"/>
                </a:lnTo>
                <a:close/>
              </a:path>
              <a:path w="1591945" h="180975">
                <a:moveTo>
                  <a:pt x="740023" y="96511"/>
                </a:moveTo>
                <a:lnTo>
                  <a:pt x="664220" y="103251"/>
                </a:lnTo>
                <a:lnTo>
                  <a:pt x="665866" y="122169"/>
                </a:lnTo>
                <a:lnTo>
                  <a:pt x="741700" y="115561"/>
                </a:lnTo>
                <a:lnTo>
                  <a:pt x="740023" y="96511"/>
                </a:lnTo>
                <a:close/>
              </a:path>
              <a:path w="1591945" h="180975">
                <a:moveTo>
                  <a:pt x="872886" y="84963"/>
                </a:moveTo>
                <a:lnTo>
                  <a:pt x="796930" y="91558"/>
                </a:lnTo>
                <a:lnTo>
                  <a:pt x="798697" y="110490"/>
                </a:lnTo>
                <a:lnTo>
                  <a:pt x="874532" y="103881"/>
                </a:lnTo>
                <a:lnTo>
                  <a:pt x="872886" y="84963"/>
                </a:lnTo>
                <a:close/>
              </a:path>
              <a:path w="1591945" h="180975">
                <a:moveTo>
                  <a:pt x="1005718" y="73270"/>
                </a:moveTo>
                <a:lnTo>
                  <a:pt x="929761" y="79878"/>
                </a:lnTo>
                <a:lnTo>
                  <a:pt x="931560" y="98928"/>
                </a:lnTo>
                <a:lnTo>
                  <a:pt x="1007364" y="92202"/>
                </a:lnTo>
                <a:lnTo>
                  <a:pt x="1005718" y="73270"/>
                </a:lnTo>
                <a:close/>
              </a:path>
              <a:path w="1591945" h="180975">
                <a:moveTo>
                  <a:pt x="1138549" y="61590"/>
                </a:moveTo>
                <a:lnTo>
                  <a:pt x="1062624" y="68199"/>
                </a:lnTo>
                <a:lnTo>
                  <a:pt x="1064392" y="87249"/>
                </a:lnTo>
                <a:lnTo>
                  <a:pt x="1140226" y="80509"/>
                </a:lnTo>
                <a:lnTo>
                  <a:pt x="1138549" y="61590"/>
                </a:lnTo>
                <a:close/>
              </a:path>
              <a:path w="1591945" h="180975">
                <a:moveTo>
                  <a:pt x="1271412" y="49911"/>
                </a:moveTo>
                <a:lnTo>
                  <a:pt x="1195456" y="56506"/>
                </a:lnTo>
                <a:lnTo>
                  <a:pt x="1197223" y="75556"/>
                </a:lnTo>
                <a:lnTo>
                  <a:pt x="1273058" y="68829"/>
                </a:lnTo>
                <a:lnTo>
                  <a:pt x="1271412" y="49911"/>
                </a:lnTo>
                <a:close/>
              </a:path>
              <a:path w="1591945" h="180975">
                <a:moveTo>
                  <a:pt x="1404244" y="38218"/>
                </a:moveTo>
                <a:lnTo>
                  <a:pt x="1328287" y="44826"/>
                </a:lnTo>
                <a:lnTo>
                  <a:pt x="1329964" y="63876"/>
                </a:lnTo>
                <a:lnTo>
                  <a:pt x="1405890" y="57150"/>
                </a:lnTo>
                <a:lnTo>
                  <a:pt x="1404244" y="38218"/>
                </a:lnTo>
                <a:close/>
              </a:path>
              <a:path w="1591945" h="180975">
                <a:moveTo>
                  <a:pt x="1581889" y="27432"/>
                </a:moveTo>
                <a:lnTo>
                  <a:pt x="1527688" y="27432"/>
                </a:lnTo>
                <a:lnTo>
                  <a:pt x="1529334" y="46350"/>
                </a:lnTo>
                <a:lnTo>
                  <a:pt x="1516703" y="47460"/>
                </a:lnTo>
                <a:lnTo>
                  <a:pt x="1519184" y="75937"/>
                </a:lnTo>
                <a:lnTo>
                  <a:pt x="1591818" y="31360"/>
                </a:lnTo>
                <a:lnTo>
                  <a:pt x="1581889" y="27432"/>
                </a:lnTo>
                <a:close/>
              </a:path>
              <a:path w="1591945" h="180975">
                <a:moveTo>
                  <a:pt x="1515055" y="28539"/>
                </a:moveTo>
                <a:lnTo>
                  <a:pt x="1461150" y="33265"/>
                </a:lnTo>
                <a:lnTo>
                  <a:pt x="1462796" y="52197"/>
                </a:lnTo>
                <a:lnTo>
                  <a:pt x="1516703" y="47460"/>
                </a:lnTo>
                <a:lnTo>
                  <a:pt x="1515055" y="28539"/>
                </a:lnTo>
                <a:close/>
              </a:path>
              <a:path w="1591945" h="180975">
                <a:moveTo>
                  <a:pt x="1527688" y="27432"/>
                </a:moveTo>
                <a:lnTo>
                  <a:pt x="1515055" y="28539"/>
                </a:lnTo>
                <a:lnTo>
                  <a:pt x="1516703" y="47460"/>
                </a:lnTo>
                <a:lnTo>
                  <a:pt x="1529334" y="46350"/>
                </a:lnTo>
                <a:lnTo>
                  <a:pt x="1527688" y="27432"/>
                </a:lnTo>
                <a:close/>
              </a:path>
              <a:path w="1591945" h="180975">
                <a:moveTo>
                  <a:pt x="1512570" y="0"/>
                </a:moveTo>
                <a:lnTo>
                  <a:pt x="1515055" y="28539"/>
                </a:lnTo>
                <a:lnTo>
                  <a:pt x="1527688" y="27432"/>
                </a:lnTo>
                <a:lnTo>
                  <a:pt x="1581889" y="27432"/>
                </a:lnTo>
                <a:lnTo>
                  <a:pt x="15125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3"/>
          <p:cNvSpPr txBox="1"/>
          <p:nvPr/>
        </p:nvSpPr>
        <p:spPr>
          <a:xfrm>
            <a:off x="6373371" y="2463794"/>
            <a:ext cx="101028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5" dirty="0">
                <a:solidFill>
                  <a:srgbClr val="595959"/>
                </a:solidFill>
                <a:latin typeface="Arial"/>
                <a:cs typeface="Arial"/>
              </a:rPr>
              <a:t>Obj1 </a:t>
            </a:r>
            <a:r>
              <a:rPr sz="1100" b="1" spc="5" dirty="0">
                <a:solidFill>
                  <a:srgbClr val="595959"/>
                </a:solidFill>
                <a:latin typeface="Arial"/>
                <a:cs typeface="Arial"/>
              </a:rPr>
              <a:t>(House</a:t>
            </a:r>
            <a:r>
              <a:rPr sz="1100" b="1" spc="-2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b="1" spc="-5" dirty="0">
                <a:solidFill>
                  <a:srgbClr val="595959"/>
                </a:solidFill>
                <a:latin typeface="Arial"/>
                <a:cs typeface="Arial"/>
              </a:rPr>
              <a:t>1)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24"/>
          <p:cNvSpPr txBox="1"/>
          <p:nvPr/>
        </p:nvSpPr>
        <p:spPr>
          <a:xfrm>
            <a:off x="6382385" y="3637275"/>
            <a:ext cx="100901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0" dirty="0">
                <a:solidFill>
                  <a:srgbClr val="595959"/>
                </a:solidFill>
                <a:latin typeface="Arial"/>
                <a:cs typeface="Arial"/>
              </a:rPr>
              <a:t>Obj2 </a:t>
            </a:r>
            <a:r>
              <a:rPr sz="1100" b="1" spc="5" dirty="0">
                <a:solidFill>
                  <a:srgbClr val="595959"/>
                </a:solidFill>
                <a:latin typeface="Arial"/>
                <a:cs typeface="Arial"/>
              </a:rPr>
              <a:t>(House</a:t>
            </a:r>
            <a:r>
              <a:rPr sz="1100" b="1" spc="-1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b="1" spc="-5" dirty="0">
                <a:solidFill>
                  <a:srgbClr val="595959"/>
                </a:solidFill>
                <a:latin typeface="Arial"/>
                <a:cs typeface="Arial"/>
              </a:rPr>
              <a:t>2)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25"/>
          <p:cNvSpPr txBox="1"/>
          <p:nvPr/>
        </p:nvSpPr>
        <p:spPr>
          <a:xfrm>
            <a:off x="6374002" y="4812665"/>
            <a:ext cx="10064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0" dirty="0">
                <a:solidFill>
                  <a:srgbClr val="595959"/>
                </a:solidFill>
                <a:latin typeface="Arial"/>
                <a:cs typeface="Arial"/>
              </a:rPr>
              <a:t>Obj3 </a:t>
            </a:r>
            <a:r>
              <a:rPr sz="1100" b="1" spc="5" dirty="0">
                <a:solidFill>
                  <a:srgbClr val="595959"/>
                </a:solidFill>
                <a:latin typeface="Arial"/>
                <a:cs typeface="Arial"/>
              </a:rPr>
              <a:t>(House</a:t>
            </a:r>
            <a:r>
              <a:rPr sz="1100" b="1" spc="-2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b="1" spc="-5" dirty="0">
                <a:solidFill>
                  <a:srgbClr val="595959"/>
                </a:solidFill>
                <a:latin typeface="Arial"/>
                <a:cs typeface="Arial"/>
              </a:rPr>
              <a:t>3)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Object and Class?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1800" dirty="0"/>
          </a:p>
          <a:p>
            <a:r>
              <a:rPr lang="en-US" sz="1800" dirty="0"/>
              <a:t>Object is the basic unit of object-oriented programming</a:t>
            </a:r>
          </a:p>
          <a:p>
            <a:endParaRPr lang="en-US" sz="100" dirty="0"/>
          </a:p>
          <a:p>
            <a:r>
              <a:rPr lang="en-US" sz="1800" dirty="0"/>
              <a:t>An object represents a particular instance of a class</a:t>
            </a:r>
          </a:p>
          <a:p>
            <a:endParaRPr lang="en-US" sz="100" dirty="0"/>
          </a:p>
          <a:p>
            <a:r>
              <a:rPr lang="en-US" sz="1800" dirty="0"/>
              <a:t>There can be more than one instance of an object</a:t>
            </a:r>
          </a:p>
          <a:p>
            <a:endParaRPr lang="en-US" sz="100" dirty="0"/>
          </a:p>
          <a:p>
            <a:r>
              <a:rPr lang="en-US" sz="1800" dirty="0"/>
              <a:t>Each instance of an object can hold its own relevant data</a:t>
            </a:r>
          </a:p>
          <a:p>
            <a:endParaRPr lang="en-US" sz="100" dirty="0"/>
          </a:p>
          <a:p>
            <a:r>
              <a:rPr lang="en-US" sz="1800" dirty="0"/>
              <a:t>Objects with similar properties and methods are grouped together to form a Class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16</a:t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 Class in Python?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2038350"/>
            <a:ext cx="3055502" cy="2134986"/>
          </a:xfrm>
        </p:spPr>
        <p:txBody>
          <a:bodyPr/>
          <a:lstStyle/>
          <a:p>
            <a:pPr algn="l"/>
            <a:r>
              <a:rPr lang="en-US" sz="1600" dirty="0"/>
              <a:t>class </a:t>
            </a:r>
            <a:r>
              <a:rPr lang="en-US" sz="1600" dirty="0" err="1"/>
              <a:t>NameOfClass</a:t>
            </a:r>
            <a:r>
              <a:rPr lang="en-US" sz="1600" dirty="0"/>
              <a:t>:</a:t>
            </a:r>
          </a:p>
          <a:p>
            <a:pPr algn="l"/>
            <a:r>
              <a:rPr lang="en-US" sz="1600" dirty="0"/>
              <a:t>	&lt;statement-1&gt;</a:t>
            </a:r>
          </a:p>
          <a:p>
            <a:pPr algn="l"/>
            <a:r>
              <a:rPr lang="en-US" sz="1600" dirty="0"/>
              <a:t>	.</a:t>
            </a:r>
          </a:p>
          <a:p>
            <a:pPr algn="l"/>
            <a:r>
              <a:rPr lang="en-US" sz="1600" dirty="0"/>
              <a:t>	.</a:t>
            </a:r>
          </a:p>
          <a:p>
            <a:pPr algn="l"/>
            <a:r>
              <a:rPr lang="en-US" sz="1600" dirty="0"/>
              <a:t>	&lt;statement-2&gt;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9"/>
          </p:nvPr>
        </p:nvSpPr>
        <p:spPr>
          <a:xfrm>
            <a:off x="4876800" y="1428750"/>
            <a:ext cx="4267200" cy="2125881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class </a:t>
            </a:r>
            <a:r>
              <a:rPr lang="en-US" sz="1600" dirty="0" err="1"/>
              <a:t>ClassName</a:t>
            </a:r>
            <a:r>
              <a:rPr lang="en-US" sz="1600" dirty="0"/>
              <a:t>:</a:t>
            </a:r>
          </a:p>
          <a:p>
            <a:pPr algn="l"/>
            <a:r>
              <a:rPr lang="en-US" sz="1600" dirty="0"/>
              <a:t>	variable= “I am a class Attribute”</a:t>
            </a:r>
          </a:p>
          <a:p>
            <a:pPr algn="l"/>
            <a:r>
              <a:rPr lang="en-US" sz="1600" dirty="0"/>
              <a:t>	def function(self):</a:t>
            </a:r>
          </a:p>
          <a:p>
            <a:pPr algn="l"/>
            <a:r>
              <a:rPr lang="en-US" sz="1600" dirty="0"/>
              <a:t>		print(“I am from  inside the class”)</a:t>
            </a:r>
          </a:p>
          <a:p>
            <a:pPr algn="l"/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1"/>
          </p:nvPr>
        </p:nvSpPr>
        <p:spPr/>
      </p:sp>
      <p:sp>
        <p:nvSpPr>
          <p:cNvPr id="12" name="Picture Placeholder 11"/>
          <p:cNvSpPr>
            <a:spLocks noGrp="1"/>
          </p:cNvSpPr>
          <p:nvPr>
            <p:ph type="pic" sz="quarter" idx="22"/>
          </p:nvPr>
        </p:nvSpPr>
        <p:spPr/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 Object in Python?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2038350"/>
            <a:ext cx="3055502" cy="2134986"/>
          </a:xfrm>
        </p:spPr>
        <p:txBody>
          <a:bodyPr/>
          <a:lstStyle/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pPr algn="l"/>
            <a:r>
              <a:rPr lang="en-US" sz="1600" dirty="0"/>
              <a:t>&lt;</a:t>
            </a:r>
            <a:r>
              <a:rPr lang="en-US" sz="1600" dirty="0" err="1"/>
              <a:t>obj</a:t>
            </a:r>
            <a:r>
              <a:rPr lang="en-US" sz="1600" dirty="0"/>
              <a:t>-name&gt; = </a:t>
            </a:r>
            <a:r>
              <a:rPr lang="en-US" sz="1600" dirty="0" err="1"/>
              <a:t>NameOfClass</a:t>
            </a:r>
            <a:r>
              <a:rPr lang="en-US" sz="1600" dirty="0"/>
              <a:t>()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9"/>
          </p:nvPr>
        </p:nvSpPr>
        <p:spPr>
          <a:xfrm>
            <a:off x="4876800" y="1428750"/>
            <a:ext cx="4267200" cy="2125881"/>
          </a:xfrm>
        </p:spPr>
        <p:txBody>
          <a:bodyPr>
            <a:normAutofit/>
          </a:bodyPr>
          <a:lstStyle/>
          <a:p>
            <a:r>
              <a:rPr lang="en-US" sz="1600" dirty="0"/>
              <a:t>obj1 = </a:t>
            </a:r>
            <a:r>
              <a:rPr lang="en-US" sz="1600" dirty="0" err="1"/>
              <a:t>ClassName</a:t>
            </a:r>
            <a:r>
              <a:rPr lang="en-US" sz="1600" dirty="0"/>
              <a:t>()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0" name="Content Placeholder 9"/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1"/>
          </p:nvPr>
        </p:nvSpPr>
        <p:spPr/>
      </p:sp>
      <p:sp>
        <p:nvSpPr>
          <p:cNvPr id="12" name="Picture Placeholder 11"/>
          <p:cNvSpPr>
            <a:spLocks noGrp="1"/>
          </p:cNvSpPr>
          <p:nvPr>
            <p:ph type="pic" sz="quarter" idx="22"/>
          </p:nvPr>
        </p:nvSpPr>
        <p:spPr/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18</a:t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access Class Members?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/>
              <a:t>Here obj1 and obj2 are object of class ClassName</a:t>
            </a:r>
          </a:p>
          <a:p>
            <a:r>
              <a:rPr sz="1600"/>
              <a:t>To access the members of a Python class, we use the dot operator.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1400" dirty="0"/>
              <a:t>obj1 = </a:t>
            </a:r>
            <a:r>
              <a:rPr lang="en-US" sz="1400" dirty="0" err="1"/>
              <a:t>ClassName</a:t>
            </a:r>
            <a:r>
              <a:rPr lang="en-US" sz="1400" dirty="0"/>
              <a:t>()</a:t>
            </a:r>
          </a:p>
          <a:p>
            <a:pPr algn="l">
              <a:spcBef>
                <a:spcPts val="0"/>
              </a:spcBef>
            </a:pPr>
            <a:r>
              <a:rPr lang="en-US" sz="1400" dirty="0"/>
              <a:t>obj2 = </a:t>
            </a:r>
            <a:r>
              <a:rPr lang="en-US" sz="1400" dirty="0" err="1"/>
              <a:t>ClassName</a:t>
            </a:r>
            <a:r>
              <a:rPr lang="en-US" sz="1400" dirty="0"/>
              <a:t>()</a:t>
            </a:r>
          </a:p>
          <a:p>
            <a:pPr algn="l">
              <a:spcBef>
                <a:spcPts val="0"/>
              </a:spcBef>
            </a:pPr>
            <a:r>
              <a:rPr lang="en-US" sz="1400" dirty="0"/>
              <a:t>#Creating new instance attribute for obj2</a:t>
            </a:r>
          </a:p>
          <a:p>
            <a:pPr algn="l">
              <a:spcBef>
                <a:spcPts val="0"/>
              </a:spcBef>
            </a:pPr>
            <a:r>
              <a:rPr lang="en-US" sz="1400" dirty="0"/>
              <a:t>obj2.variable = “I was just created”  </a:t>
            </a:r>
          </a:p>
          <a:p>
            <a:pPr algn="l">
              <a:spcBef>
                <a:spcPts val="0"/>
              </a:spcBef>
            </a:pPr>
            <a:r>
              <a:rPr lang="en-US" sz="1400" dirty="0"/>
              <a:t>print(obj1.variable)</a:t>
            </a:r>
          </a:p>
          <a:p>
            <a:pPr algn="l">
              <a:spcBef>
                <a:spcPts val="0"/>
              </a:spcBef>
            </a:pPr>
            <a:r>
              <a:rPr lang="en-US" sz="1400" dirty="0"/>
              <a:t>print(obj2.variable)</a:t>
            </a:r>
          </a:p>
          <a:p>
            <a:pPr algn="l">
              <a:spcBef>
                <a:spcPts val="0"/>
              </a:spcBef>
            </a:pPr>
            <a:r>
              <a:rPr lang="en-US" sz="1400" dirty="0"/>
              <a:t>print(</a:t>
            </a:r>
            <a:r>
              <a:rPr lang="en-US" sz="1400" dirty="0" err="1"/>
              <a:t>ClassName.variable</a:t>
            </a:r>
            <a:r>
              <a:rPr lang="en-US" sz="1400" dirty="0"/>
              <a:t>)</a:t>
            </a:r>
          </a:p>
          <a:p>
            <a:pPr algn="l">
              <a:spcBef>
                <a:spcPts val="0"/>
              </a:spcBef>
            </a:pPr>
            <a:r>
              <a:rPr lang="en-US" sz="1400" dirty="0"/>
              <a:t>Obj1.function()</a:t>
            </a:r>
          </a:p>
          <a:p>
            <a:pPr algn="l"/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19</a:t>
            </a:fld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__init__() method in Python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__init__ is a special method in Python classes</a:t>
            </a:r>
          </a:p>
          <a:p>
            <a:r>
              <a:rPr lang="en-US" dirty="0"/>
              <a:t>Is a constructor method for a class</a:t>
            </a:r>
          </a:p>
          <a:p>
            <a:r>
              <a:rPr lang="en-US" dirty="0"/>
              <a:t>__init__ is called when ever an object of the class is constructed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20</a:t>
            </a:fld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__init__() method in Python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4344" y="1778795"/>
            <a:ext cx="8364407" cy="208835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800" dirty="0"/>
              <a:t>class Student(object):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800" dirty="0"/>
              <a:t>	def __</a:t>
            </a:r>
            <a:r>
              <a:rPr sz="1800" dirty="0" err="1"/>
              <a:t>init</a:t>
            </a:r>
            <a:r>
              <a:rPr sz="1800" dirty="0"/>
              <a:t>__(self, name, branch, year):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800" dirty="0"/>
              <a:t>		self.name = name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800" dirty="0"/>
              <a:t>		</a:t>
            </a:r>
            <a:r>
              <a:rPr sz="1800" dirty="0" err="1"/>
              <a:t>self.branch</a:t>
            </a:r>
            <a:r>
              <a:rPr sz="1800" dirty="0"/>
              <a:t> = branch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800" dirty="0"/>
              <a:t>		</a:t>
            </a:r>
            <a:r>
              <a:rPr sz="1800" dirty="0" err="1"/>
              <a:t>self.year</a:t>
            </a:r>
            <a:r>
              <a:rPr sz="1800" dirty="0"/>
              <a:t> = year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800" dirty="0"/>
              <a:t>		print("A student object is created.")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sz="1800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800" dirty="0"/>
              <a:t>	def </a:t>
            </a:r>
            <a:r>
              <a:rPr sz="1800" dirty="0" err="1"/>
              <a:t>print_details</a:t>
            </a:r>
            <a:r>
              <a:rPr sz="1800" dirty="0"/>
              <a:t>(self):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800" dirty="0"/>
              <a:t>		print("Name:", self.name)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800" dirty="0"/>
              <a:t>		print("Branch:", </a:t>
            </a:r>
            <a:r>
              <a:rPr sz="1800" dirty="0" err="1"/>
              <a:t>self.branch</a:t>
            </a:r>
            <a:r>
              <a:rPr sz="1800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800" dirty="0"/>
              <a:t>		print("Year:", </a:t>
            </a:r>
            <a:r>
              <a:rPr sz="1800" dirty="0" err="1"/>
              <a:t>self.year</a:t>
            </a:r>
            <a:r>
              <a:rPr sz="1800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sz="1800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sz="1800" dirty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" y="3867150"/>
            <a:ext cx="28125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/>
              <a:t>ob1= Student( “Paul","CSE",2019)</a:t>
            </a:r>
          </a:p>
          <a:p>
            <a:r>
              <a:rPr lang="de-DE" sz="1500" dirty="0"/>
              <a:t>ob1.print_details()</a:t>
            </a:r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21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__init__() method in Python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4344" y="1778795"/>
            <a:ext cx="8364407" cy="20883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sz="160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600"/>
              <a:t>A student object is created.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600"/>
              <a:t>Name: Paul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600"/>
              <a:t>Branch: CSE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1600"/>
              <a:t>Year: 2018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sz="180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sz="180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algn="l"/>
            <a:r>
              <a:rPr lang="en-US" dirty="0" err="1"/>
              <a:t>OUTput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22</a:t>
            </a:fld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6954" y="184966"/>
            <a:ext cx="298846" cy="690252"/>
          </a:xfrm>
        </p:spPr>
        <p:txBody>
          <a:bodyPr/>
          <a:lstStyle/>
          <a:p>
            <a:r>
              <a:rPr lang="en-US" sz="1200" dirty="0">
                <a:solidFill>
                  <a:srgbClr val="595959"/>
                </a:solidFill>
                <a:latin typeface="Arial"/>
                <a:cs typeface="Arial"/>
              </a:rPr>
              <a:t>T1.</a:t>
            </a:r>
            <a:br>
              <a:rPr lang="en-US" sz="1200" dirty="0">
                <a:latin typeface="Arial"/>
                <a:cs typeface="Arial"/>
              </a:rPr>
            </a:br>
            <a:endParaRPr lang="en-US" sz="12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sz="1300"/>
              <a:t># define the Vehicle class  </a:t>
            </a:r>
          </a:p>
          <a:p>
            <a:pPr>
              <a:spcBef>
                <a:spcPts val="0"/>
              </a:spcBef>
              <a:buNone/>
            </a:pPr>
            <a:r>
              <a:rPr sz="1300"/>
              <a:t>class Vehicle:</a:t>
            </a:r>
          </a:p>
          <a:p>
            <a:pPr>
              <a:spcBef>
                <a:spcPts val="0"/>
              </a:spcBef>
              <a:buNone/>
            </a:pPr>
            <a:r>
              <a:rPr sz="1300"/>
              <a:t>	name = ""</a:t>
            </a:r>
          </a:p>
          <a:p>
            <a:pPr>
              <a:spcBef>
                <a:spcPts val="0"/>
              </a:spcBef>
              <a:buNone/>
            </a:pPr>
            <a:r>
              <a:rPr sz="1300"/>
              <a:t>	kind = "car“</a:t>
            </a:r>
          </a:p>
          <a:p>
            <a:pPr>
              <a:spcBef>
                <a:spcPts val="0"/>
              </a:spcBef>
              <a:buNone/>
            </a:pPr>
            <a:r>
              <a:rPr sz="1300"/>
              <a:t>	color = ""</a:t>
            </a:r>
          </a:p>
          <a:p>
            <a:pPr>
              <a:spcBef>
                <a:spcPts val="0"/>
              </a:spcBef>
              <a:buNone/>
            </a:pPr>
            <a:r>
              <a:rPr sz="1300"/>
              <a:t>	value = 100.00</a:t>
            </a:r>
          </a:p>
          <a:p>
            <a:pPr>
              <a:spcBef>
                <a:spcPts val="0"/>
              </a:spcBef>
              <a:buNone/>
            </a:pPr>
            <a:endParaRPr sz="1300"/>
          </a:p>
          <a:p>
            <a:pPr>
              <a:spcBef>
                <a:spcPts val="0"/>
              </a:spcBef>
              <a:buNone/>
            </a:pPr>
            <a:r>
              <a:rPr sz="1300"/>
              <a:t>	def description(self):</a:t>
            </a:r>
          </a:p>
          <a:p>
            <a:pPr>
              <a:spcBef>
                <a:spcPts val="0"/>
              </a:spcBef>
              <a:buNone/>
            </a:pPr>
            <a:r>
              <a:rPr sz="1300"/>
              <a:t>		desc_str = "%s is a %s %s worth $%.2f." %(self.name, self.color, self.kind,  self.value)</a:t>
            </a:r>
          </a:p>
          <a:p>
            <a:pPr>
              <a:spcBef>
                <a:spcPts val="0"/>
              </a:spcBef>
              <a:buNone/>
            </a:pPr>
            <a:r>
              <a:rPr sz="1300"/>
              <a:t>		return desc_str</a:t>
            </a:r>
          </a:p>
          <a:p>
            <a:pPr>
              <a:spcBef>
                <a:spcPts val="0"/>
              </a:spcBef>
              <a:buNone/>
            </a:pPr>
            <a:endParaRPr sz="1300"/>
          </a:p>
          <a:p>
            <a:pPr>
              <a:spcBef>
                <a:spcPts val="0"/>
              </a:spcBef>
              <a:buNone/>
            </a:pPr>
            <a:r>
              <a:rPr sz="1300">
                <a:solidFill>
                  <a:schemeClr val="accent2">
                    <a:lumMod val="75000"/>
                  </a:schemeClr>
                </a:solidFill>
              </a:rPr>
              <a:t># your code goes here</a:t>
            </a:r>
          </a:p>
          <a:p>
            <a:pPr>
              <a:spcBef>
                <a:spcPts val="0"/>
              </a:spcBef>
              <a:buNone/>
            </a:pPr>
            <a:r>
              <a:rPr sz="1300">
                <a:solidFill>
                  <a:schemeClr val="accent2">
                    <a:lumMod val="75000"/>
                  </a:schemeClr>
                </a:solidFill>
              </a:rPr>
              <a:t>#......................</a:t>
            </a:r>
          </a:p>
          <a:p>
            <a:pPr>
              <a:spcBef>
                <a:spcPts val="0"/>
              </a:spcBef>
              <a:buNone/>
            </a:pPr>
            <a:r>
              <a:rPr sz="1300"/>
              <a:t>print(car1.description())</a:t>
            </a:r>
          </a:p>
          <a:p>
            <a:pPr>
              <a:spcBef>
                <a:spcPts val="0"/>
              </a:spcBef>
              <a:buNone/>
            </a:pPr>
            <a:r>
              <a:rPr sz="1300"/>
              <a:t>print(car2.description())</a:t>
            </a:r>
            <a:endParaRPr lang="en-US" sz="1300" dirty="0"/>
          </a:p>
        </p:txBody>
      </p:sp>
      <p:sp>
        <p:nvSpPr>
          <p:cNvPr id="10" name="Content Placeholder 9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algn="l"/>
            <a:r>
              <a:rPr lang="en-US" dirty="0"/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950"/>
            <a:ext cx="792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Create two new vehicles called car1 and car2. Set car1 to be a red convertible worth $70,000.00 with a name of Ferrari, and car2 to be a blue van named JEEP worth $15,000.00.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23</a:t>
            </a:fld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spc="25" dirty="0">
                <a:solidFill>
                  <a:srgbClr val="FFFFFF"/>
                </a:solidFill>
              </a:rPr>
              <a:t>OOPS: </a:t>
            </a:r>
            <a:r>
              <a:rPr lang="en-US" sz="3600" spc="10" dirty="0">
                <a:solidFill>
                  <a:srgbClr val="FFFFFF"/>
                </a:solidFill>
              </a:rPr>
              <a:t>Inheritance </a:t>
            </a:r>
            <a:r>
              <a:rPr lang="en-US" sz="3600" dirty="0">
                <a:solidFill>
                  <a:srgbClr val="FFFFFF"/>
                </a:solidFill>
              </a:rPr>
              <a:t>in</a:t>
            </a:r>
            <a:r>
              <a:rPr lang="en-US" sz="3600" spc="150" dirty="0">
                <a:solidFill>
                  <a:srgbClr val="FFFFFF"/>
                </a:solidFill>
              </a:rPr>
              <a:t> </a:t>
            </a:r>
            <a:r>
              <a:rPr lang="en-US" sz="3600" spc="15" dirty="0">
                <a:solidFill>
                  <a:srgbClr val="FFFFFF"/>
                </a:solidFill>
              </a:rPr>
              <a:t>Python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24</a:t>
            </a:fld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590550"/>
            <a:ext cx="5867400" cy="533400"/>
          </a:xfr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Things you will learn after this Session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prstClr val="black"/>
                </a:solidFill>
              </a:rPr>
              <a:t>OOPS: Inheritance in Python</a:t>
            </a:r>
            <a:endParaRPr lang="en-US" sz="900" dirty="0"/>
          </a:p>
          <a:p>
            <a:pPr>
              <a:buNone/>
            </a:pPr>
            <a:endParaRPr lang="en-US" sz="900" dirty="0"/>
          </a:p>
          <a:p>
            <a:r>
              <a:rPr lang="en-US" sz="1800" dirty="0"/>
              <a:t>What is Inheritance?</a:t>
            </a:r>
            <a:endParaRPr lang="en-US" sz="100" dirty="0"/>
          </a:p>
          <a:p>
            <a:r>
              <a:rPr lang="en-US" sz="1800" dirty="0"/>
              <a:t>Real life example of Inheritance</a:t>
            </a:r>
            <a:endParaRPr lang="en-US" sz="100" dirty="0"/>
          </a:p>
          <a:p>
            <a:r>
              <a:rPr lang="en-US" sz="1800" dirty="0"/>
              <a:t>Different types of Inheritance in Python</a:t>
            </a:r>
          </a:p>
          <a:p>
            <a:r>
              <a:rPr lang="en-US" sz="1800" dirty="0"/>
              <a:t>Overriding </a:t>
            </a:r>
            <a:r>
              <a:rPr lang="en-US" sz="1800" dirty="0" err="1"/>
              <a:t>vs</a:t>
            </a:r>
            <a:r>
              <a:rPr lang="en-US" sz="1800" dirty="0"/>
              <a:t> Overloading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25</a:t>
            </a:fld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Inheritance in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/>
              <a:t>One class acquiring the property of another class”</a:t>
            </a:r>
          </a:p>
          <a:p>
            <a:pPr algn="l"/>
            <a:r>
              <a:rPr lang="en-US" dirty="0" err="1"/>
              <a:t>Eg</a:t>
            </a:r>
            <a:r>
              <a:rPr lang="en-US" dirty="0"/>
              <a:t>: You have inherited qualities from your parents</a:t>
            </a:r>
          </a:p>
          <a:p>
            <a:pPr algn="l"/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object 14"/>
          <p:cNvSpPr>
            <a:spLocks noGrp="1"/>
          </p:cNvSpPr>
          <p:nvPr>
            <p:ph idx="14"/>
          </p:nvPr>
        </p:nvSpPr>
        <p:spPr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26</a:t>
            </a:fld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Syntax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sz="1400"/>
              <a:t>class ClassName:</a:t>
            </a:r>
          </a:p>
          <a:p>
            <a:pPr>
              <a:spcBef>
                <a:spcPts val="0"/>
              </a:spcBef>
              <a:buNone/>
            </a:pPr>
            <a:r>
              <a:rPr sz="1400"/>
              <a:t>	&lt;statement-1&gt;</a:t>
            </a:r>
          </a:p>
          <a:p>
            <a:pPr>
              <a:spcBef>
                <a:spcPts val="0"/>
              </a:spcBef>
              <a:buNone/>
            </a:pPr>
            <a:r>
              <a:rPr sz="1400"/>
              <a:t>	.</a:t>
            </a:r>
          </a:p>
          <a:p>
            <a:pPr>
              <a:spcBef>
                <a:spcPts val="0"/>
              </a:spcBef>
              <a:buNone/>
            </a:pPr>
            <a:r>
              <a:rPr sz="1400"/>
              <a:t>	.</a:t>
            </a:r>
          </a:p>
          <a:p>
            <a:pPr>
              <a:spcBef>
                <a:spcPts val="0"/>
              </a:spcBef>
              <a:buNone/>
            </a:pPr>
            <a:r>
              <a:rPr sz="1400"/>
              <a:t>	&lt;statement-n&gt;</a:t>
            </a:r>
          </a:p>
          <a:p>
            <a:pPr>
              <a:spcBef>
                <a:spcPts val="0"/>
              </a:spcBef>
              <a:buNone/>
            </a:pPr>
            <a:endParaRPr sz="1400"/>
          </a:p>
          <a:p>
            <a:pPr>
              <a:spcBef>
                <a:spcPts val="0"/>
              </a:spcBef>
              <a:buNone/>
            </a:pPr>
            <a:r>
              <a:rPr sz="1400"/>
              <a:t>class SubClassName(ClassName):</a:t>
            </a:r>
          </a:p>
          <a:p>
            <a:pPr>
              <a:spcBef>
                <a:spcPts val="0"/>
              </a:spcBef>
              <a:buNone/>
            </a:pPr>
            <a:r>
              <a:rPr sz="1400"/>
              <a:t>	&lt;statement-1&gt;</a:t>
            </a:r>
          </a:p>
          <a:p>
            <a:pPr>
              <a:spcBef>
                <a:spcPts val="0"/>
              </a:spcBef>
              <a:buNone/>
            </a:pPr>
            <a:r>
              <a:rPr sz="1400"/>
              <a:t>	.</a:t>
            </a:r>
          </a:p>
          <a:p>
            <a:pPr>
              <a:spcBef>
                <a:spcPts val="0"/>
              </a:spcBef>
              <a:buNone/>
            </a:pPr>
            <a:r>
              <a:rPr sz="1400"/>
              <a:t>	.</a:t>
            </a:r>
          </a:p>
          <a:p>
            <a:pPr>
              <a:spcBef>
                <a:spcPts val="0"/>
              </a:spcBef>
              <a:buNone/>
            </a:pPr>
            <a:r>
              <a:rPr sz="1400"/>
              <a:t>	&lt;statement-n&gt;</a:t>
            </a:r>
          </a:p>
          <a:p>
            <a:pPr>
              <a:spcBef>
                <a:spcPts val="0"/>
              </a:spcBef>
              <a:buNone/>
            </a:pPr>
            <a:endParaRPr lang="en-US" sz="1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algn="l"/>
            <a:r>
              <a:rPr lang="en-US" sz="1600" spc="-5" dirty="0">
                <a:solidFill>
                  <a:srgbClr val="FFFFFF"/>
                </a:solidFill>
                <a:latin typeface="Arial"/>
                <a:cs typeface="Arial"/>
              </a:rPr>
              <a:t>Creating </a:t>
            </a:r>
            <a:r>
              <a:rPr lang="en-US" sz="1600" spc="1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lang="en-US" sz="1600" spc="5" dirty="0">
                <a:solidFill>
                  <a:srgbClr val="FFFFFF"/>
                </a:solidFill>
                <a:latin typeface="Arial"/>
                <a:cs typeface="Arial"/>
              </a:rPr>
              <a:t>Class AND It’s </a:t>
            </a:r>
            <a:r>
              <a:rPr lang="en-US" sz="1600" spc="5" dirty="0" err="1">
                <a:solidFill>
                  <a:srgbClr val="FFFFFF"/>
                </a:solidFill>
                <a:latin typeface="Arial"/>
                <a:cs typeface="Arial"/>
              </a:rPr>
              <a:t>SubClass</a:t>
            </a:r>
            <a:r>
              <a:rPr lang="en-US" sz="16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lang="en-US" sz="1600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27</a:t>
            </a:fld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380993"/>
            <a:ext cx="3232785" cy="1332865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34290" rIns="0" bIns="0" rtlCol="0">
            <a:spAutoFit/>
          </a:bodyPr>
          <a:lstStyle/>
          <a:p>
            <a:pPr marL="85725" marR="457200">
              <a:lnSpc>
                <a:spcPts val="4360"/>
              </a:lnSpc>
              <a:spcBef>
                <a:spcPts val="270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 idx="4294967295"/>
          </p:nvPr>
        </p:nvSpPr>
        <p:spPr>
          <a:xfrm>
            <a:off x="4297363" y="776288"/>
            <a:ext cx="4846637" cy="3349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25">
                <a:solidFill>
                  <a:srgbClr val="6F2F9F"/>
                </a:solidFill>
              </a:rPr>
              <a:t>Different</a:t>
            </a:r>
            <a:r>
              <a:rPr sz="2000" spc="-265">
                <a:solidFill>
                  <a:srgbClr val="6F2F9F"/>
                </a:solidFill>
              </a:rPr>
              <a:t> </a:t>
            </a:r>
            <a:r>
              <a:rPr lang="en-US" sz="2000" spc="-265" dirty="0">
                <a:solidFill>
                  <a:srgbClr val="6F2F9F"/>
                </a:solidFill>
              </a:rPr>
              <a:t> </a:t>
            </a:r>
            <a:r>
              <a:rPr sz="2000" spc="40">
                <a:solidFill>
                  <a:srgbClr val="6F2F9F"/>
                </a:solidFill>
              </a:rPr>
              <a:t>Types</a:t>
            </a:r>
            <a:r>
              <a:rPr sz="2000" spc="-195">
                <a:solidFill>
                  <a:srgbClr val="6F2F9F"/>
                </a:solidFill>
              </a:rPr>
              <a:t> </a:t>
            </a:r>
            <a:r>
              <a:rPr sz="2000" spc="25" dirty="0">
                <a:solidFill>
                  <a:srgbClr val="6F2F9F"/>
                </a:solidFill>
              </a:rPr>
              <a:t>of</a:t>
            </a:r>
            <a:r>
              <a:rPr sz="2000" spc="-114" dirty="0">
                <a:solidFill>
                  <a:srgbClr val="6F2F9F"/>
                </a:solidFill>
              </a:rPr>
              <a:t> </a:t>
            </a:r>
            <a:r>
              <a:rPr sz="2000" spc="15" dirty="0">
                <a:solidFill>
                  <a:srgbClr val="6F2F9F"/>
                </a:solidFill>
              </a:rPr>
              <a:t>Inheritance</a:t>
            </a:r>
            <a:r>
              <a:rPr sz="2000" spc="-195" dirty="0">
                <a:solidFill>
                  <a:srgbClr val="6F2F9F"/>
                </a:solidFill>
              </a:rPr>
              <a:t> </a:t>
            </a:r>
            <a:r>
              <a:rPr sz="2000" spc="25" dirty="0">
                <a:solidFill>
                  <a:srgbClr val="6F2F9F"/>
                </a:solidFill>
              </a:rPr>
              <a:t>in</a:t>
            </a:r>
            <a:r>
              <a:rPr sz="2000" spc="-160" dirty="0">
                <a:solidFill>
                  <a:srgbClr val="6F2F9F"/>
                </a:solidFill>
              </a:rPr>
              <a:t> </a:t>
            </a:r>
            <a:r>
              <a:rPr sz="2000" spc="20" dirty="0">
                <a:solidFill>
                  <a:srgbClr val="6F2F9F"/>
                </a:solidFill>
              </a:rPr>
              <a:t>Python</a:t>
            </a:r>
            <a:endParaRPr sz="2000"/>
          </a:p>
        </p:txBody>
      </p:sp>
      <p:sp>
        <p:nvSpPr>
          <p:cNvPr id="5" name="object 5"/>
          <p:cNvSpPr/>
          <p:nvPr/>
        </p:nvSpPr>
        <p:spPr>
          <a:xfrm>
            <a:off x="0" y="2713863"/>
            <a:ext cx="3232324" cy="24296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49052" y="4506564"/>
            <a:ext cx="217797" cy="2011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86300" y="1466850"/>
            <a:ext cx="2828925" cy="685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10150" y="1466850"/>
            <a:ext cx="2228850" cy="7334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38222" y="1475993"/>
            <a:ext cx="2505710" cy="354330"/>
          </a:xfrm>
          <a:custGeom>
            <a:avLst/>
            <a:gdLst/>
            <a:ahLst/>
            <a:cxnLst/>
            <a:rect l="l" t="t" r="r" b="b"/>
            <a:pathLst>
              <a:path w="2505709" h="354330">
                <a:moveTo>
                  <a:pt x="2446538" y="0"/>
                </a:moveTo>
                <a:lnTo>
                  <a:pt x="59039" y="0"/>
                </a:lnTo>
                <a:lnTo>
                  <a:pt x="36055" y="4638"/>
                </a:lnTo>
                <a:lnTo>
                  <a:pt x="17289" y="17289"/>
                </a:lnTo>
                <a:lnTo>
                  <a:pt x="4638" y="36055"/>
                </a:lnTo>
                <a:lnTo>
                  <a:pt x="0" y="59039"/>
                </a:lnTo>
                <a:lnTo>
                  <a:pt x="0" y="295137"/>
                </a:lnTo>
                <a:lnTo>
                  <a:pt x="4638" y="318139"/>
                </a:lnTo>
                <a:lnTo>
                  <a:pt x="17289" y="336914"/>
                </a:lnTo>
                <a:lnTo>
                  <a:pt x="36055" y="349568"/>
                </a:lnTo>
                <a:lnTo>
                  <a:pt x="59039" y="354208"/>
                </a:lnTo>
                <a:lnTo>
                  <a:pt x="2446538" y="354208"/>
                </a:lnTo>
                <a:lnTo>
                  <a:pt x="2469522" y="349568"/>
                </a:lnTo>
                <a:lnTo>
                  <a:pt x="2488288" y="336914"/>
                </a:lnTo>
                <a:lnTo>
                  <a:pt x="2500939" y="318139"/>
                </a:lnTo>
                <a:lnTo>
                  <a:pt x="2505577" y="295137"/>
                </a:lnTo>
                <a:lnTo>
                  <a:pt x="2505577" y="59039"/>
                </a:lnTo>
                <a:lnTo>
                  <a:pt x="2500939" y="36055"/>
                </a:lnTo>
                <a:lnTo>
                  <a:pt x="2488288" y="17289"/>
                </a:lnTo>
                <a:lnTo>
                  <a:pt x="2469522" y="4638"/>
                </a:lnTo>
                <a:lnTo>
                  <a:pt x="2446538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86300" y="1990725"/>
            <a:ext cx="2828925" cy="6762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43459" y="1990725"/>
            <a:ext cx="2362200" cy="7334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38222" y="1995434"/>
            <a:ext cx="2505710" cy="354330"/>
          </a:xfrm>
          <a:custGeom>
            <a:avLst/>
            <a:gdLst/>
            <a:ahLst/>
            <a:cxnLst/>
            <a:rect l="l" t="t" r="r" b="b"/>
            <a:pathLst>
              <a:path w="2505709" h="354330">
                <a:moveTo>
                  <a:pt x="2446538" y="0"/>
                </a:moveTo>
                <a:lnTo>
                  <a:pt x="59039" y="0"/>
                </a:lnTo>
                <a:lnTo>
                  <a:pt x="36055" y="4634"/>
                </a:lnTo>
                <a:lnTo>
                  <a:pt x="17289" y="17278"/>
                </a:lnTo>
                <a:lnTo>
                  <a:pt x="4638" y="36043"/>
                </a:lnTo>
                <a:lnTo>
                  <a:pt x="0" y="59039"/>
                </a:lnTo>
                <a:lnTo>
                  <a:pt x="0" y="295137"/>
                </a:lnTo>
                <a:lnTo>
                  <a:pt x="4638" y="318133"/>
                </a:lnTo>
                <a:lnTo>
                  <a:pt x="17289" y="336903"/>
                </a:lnTo>
                <a:lnTo>
                  <a:pt x="36055" y="349554"/>
                </a:lnTo>
                <a:lnTo>
                  <a:pt x="59039" y="354192"/>
                </a:lnTo>
                <a:lnTo>
                  <a:pt x="2446538" y="354192"/>
                </a:lnTo>
                <a:lnTo>
                  <a:pt x="2469522" y="349554"/>
                </a:lnTo>
                <a:lnTo>
                  <a:pt x="2488288" y="336903"/>
                </a:lnTo>
                <a:lnTo>
                  <a:pt x="2500939" y="318133"/>
                </a:lnTo>
                <a:lnTo>
                  <a:pt x="2505577" y="295137"/>
                </a:lnTo>
                <a:lnTo>
                  <a:pt x="2505577" y="59039"/>
                </a:lnTo>
                <a:lnTo>
                  <a:pt x="2500939" y="36043"/>
                </a:lnTo>
                <a:lnTo>
                  <a:pt x="2488288" y="17278"/>
                </a:lnTo>
                <a:lnTo>
                  <a:pt x="2469522" y="4634"/>
                </a:lnTo>
                <a:lnTo>
                  <a:pt x="2446538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86300" y="2514600"/>
            <a:ext cx="2828925" cy="6762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67290" y="2514600"/>
            <a:ext cx="2514600" cy="7334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38222" y="2517897"/>
            <a:ext cx="2505710" cy="354330"/>
          </a:xfrm>
          <a:custGeom>
            <a:avLst/>
            <a:gdLst/>
            <a:ahLst/>
            <a:cxnLst/>
            <a:rect l="l" t="t" r="r" b="b"/>
            <a:pathLst>
              <a:path w="2505709" h="354330">
                <a:moveTo>
                  <a:pt x="2446538" y="0"/>
                </a:moveTo>
                <a:lnTo>
                  <a:pt x="59039" y="0"/>
                </a:lnTo>
                <a:lnTo>
                  <a:pt x="36055" y="4638"/>
                </a:lnTo>
                <a:lnTo>
                  <a:pt x="17289" y="17289"/>
                </a:lnTo>
                <a:lnTo>
                  <a:pt x="4638" y="36059"/>
                </a:lnTo>
                <a:lnTo>
                  <a:pt x="0" y="59055"/>
                </a:lnTo>
                <a:lnTo>
                  <a:pt x="0" y="295156"/>
                </a:lnTo>
                <a:lnTo>
                  <a:pt x="4638" y="318151"/>
                </a:lnTo>
                <a:lnTo>
                  <a:pt x="17289" y="336921"/>
                </a:lnTo>
                <a:lnTo>
                  <a:pt x="36055" y="349573"/>
                </a:lnTo>
                <a:lnTo>
                  <a:pt x="59039" y="354211"/>
                </a:lnTo>
                <a:lnTo>
                  <a:pt x="2446538" y="354211"/>
                </a:lnTo>
                <a:lnTo>
                  <a:pt x="2469522" y="349573"/>
                </a:lnTo>
                <a:lnTo>
                  <a:pt x="2488288" y="336921"/>
                </a:lnTo>
                <a:lnTo>
                  <a:pt x="2500939" y="318151"/>
                </a:lnTo>
                <a:lnTo>
                  <a:pt x="2505577" y="295156"/>
                </a:lnTo>
                <a:lnTo>
                  <a:pt x="2505577" y="59055"/>
                </a:lnTo>
                <a:lnTo>
                  <a:pt x="2500939" y="36059"/>
                </a:lnTo>
                <a:lnTo>
                  <a:pt x="2488288" y="17289"/>
                </a:lnTo>
                <a:lnTo>
                  <a:pt x="2469522" y="4638"/>
                </a:lnTo>
                <a:lnTo>
                  <a:pt x="2446538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76790" y="3038475"/>
            <a:ext cx="2828925" cy="67627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52990" y="3038475"/>
            <a:ext cx="2733675" cy="73342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33772" y="3042284"/>
            <a:ext cx="2505710" cy="354330"/>
          </a:xfrm>
          <a:custGeom>
            <a:avLst/>
            <a:gdLst/>
            <a:ahLst/>
            <a:cxnLst/>
            <a:rect l="l" t="t" r="r" b="b"/>
            <a:pathLst>
              <a:path w="2505709" h="354329">
                <a:moveTo>
                  <a:pt x="2446416" y="0"/>
                </a:moveTo>
                <a:lnTo>
                  <a:pt x="58917" y="0"/>
                </a:lnTo>
                <a:lnTo>
                  <a:pt x="36004" y="4654"/>
                </a:lnTo>
                <a:lnTo>
                  <a:pt x="17274" y="17333"/>
                </a:lnTo>
                <a:lnTo>
                  <a:pt x="4636" y="36109"/>
                </a:lnTo>
                <a:lnTo>
                  <a:pt x="0" y="59055"/>
                </a:lnTo>
                <a:lnTo>
                  <a:pt x="0" y="295275"/>
                </a:lnTo>
                <a:lnTo>
                  <a:pt x="4636" y="318199"/>
                </a:lnTo>
                <a:lnTo>
                  <a:pt x="17274" y="336930"/>
                </a:lnTo>
                <a:lnTo>
                  <a:pt x="36004" y="349564"/>
                </a:lnTo>
                <a:lnTo>
                  <a:pt x="58917" y="354198"/>
                </a:lnTo>
                <a:lnTo>
                  <a:pt x="2446416" y="354198"/>
                </a:lnTo>
                <a:lnTo>
                  <a:pt x="2469400" y="349564"/>
                </a:lnTo>
                <a:lnTo>
                  <a:pt x="2488166" y="336930"/>
                </a:lnTo>
                <a:lnTo>
                  <a:pt x="2500817" y="318199"/>
                </a:lnTo>
                <a:lnTo>
                  <a:pt x="2505456" y="295275"/>
                </a:lnTo>
                <a:lnTo>
                  <a:pt x="2505456" y="59055"/>
                </a:lnTo>
                <a:lnTo>
                  <a:pt x="2500817" y="36109"/>
                </a:lnTo>
                <a:lnTo>
                  <a:pt x="2488166" y="17333"/>
                </a:lnTo>
                <a:lnTo>
                  <a:pt x="2469400" y="4654"/>
                </a:lnTo>
                <a:lnTo>
                  <a:pt x="2446416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86300" y="3514725"/>
            <a:ext cx="2828925" cy="6858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00609" y="3514725"/>
            <a:ext cx="2247900" cy="73342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038222" y="3522214"/>
            <a:ext cx="2505710" cy="354330"/>
          </a:xfrm>
          <a:custGeom>
            <a:avLst/>
            <a:gdLst/>
            <a:ahLst/>
            <a:cxnLst/>
            <a:rect l="l" t="t" r="r" b="b"/>
            <a:pathLst>
              <a:path w="2505709" h="354329">
                <a:moveTo>
                  <a:pt x="2446538" y="0"/>
                </a:moveTo>
                <a:lnTo>
                  <a:pt x="59039" y="0"/>
                </a:lnTo>
                <a:lnTo>
                  <a:pt x="36055" y="4656"/>
                </a:lnTo>
                <a:lnTo>
                  <a:pt x="17289" y="17338"/>
                </a:lnTo>
                <a:lnTo>
                  <a:pt x="4638" y="36115"/>
                </a:lnTo>
                <a:lnTo>
                  <a:pt x="0" y="59055"/>
                </a:lnTo>
                <a:lnTo>
                  <a:pt x="0" y="295275"/>
                </a:lnTo>
                <a:lnTo>
                  <a:pt x="4638" y="318209"/>
                </a:lnTo>
                <a:lnTo>
                  <a:pt x="17289" y="336960"/>
                </a:lnTo>
                <a:lnTo>
                  <a:pt x="36055" y="349616"/>
                </a:lnTo>
                <a:lnTo>
                  <a:pt x="59039" y="354259"/>
                </a:lnTo>
                <a:lnTo>
                  <a:pt x="2446538" y="354259"/>
                </a:lnTo>
                <a:lnTo>
                  <a:pt x="2469522" y="349616"/>
                </a:lnTo>
                <a:lnTo>
                  <a:pt x="2488288" y="336960"/>
                </a:lnTo>
                <a:lnTo>
                  <a:pt x="2500939" y="318209"/>
                </a:lnTo>
                <a:lnTo>
                  <a:pt x="2505577" y="295275"/>
                </a:lnTo>
                <a:lnTo>
                  <a:pt x="2505577" y="59055"/>
                </a:lnTo>
                <a:lnTo>
                  <a:pt x="2500939" y="36115"/>
                </a:lnTo>
                <a:lnTo>
                  <a:pt x="2488288" y="17338"/>
                </a:lnTo>
                <a:lnTo>
                  <a:pt x="2469522" y="4656"/>
                </a:lnTo>
                <a:lnTo>
                  <a:pt x="2446538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220974" y="1521520"/>
            <a:ext cx="2135505" cy="2315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64795">
              <a:lnSpc>
                <a:spcPct val="100000"/>
              </a:lnSpc>
              <a:spcBef>
                <a:spcPts val="125"/>
              </a:spcBef>
            </a:pP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550" spc="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550">
              <a:latin typeface="Arial"/>
              <a:cs typeface="Arial"/>
            </a:endParaRPr>
          </a:p>
          <a:p>
            <a:pPr marL="121920" marR="113664" algn="ctr">
              <a:lnSpc>
                <a:spcPts val="4120"/>
              </a:lnSpc>
              <a:spcBef>
                <a:spcPts val="490"/>
              </a:spcBef>
            </a:pPr>
            <a:r>
              <a:rPr sz="1550" spc="-20" dirty="0">
                <a:solidFill>
                  <a:srgbClr val="FFFFFF"/>
                </a:solidFill>
                <a:latin typeface="Arial"/>
                <a:cs typeface="Arial"/>
              </a:rPr>
              <a:t>Multiple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Inheritance 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Multilevel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550">
              <a:latin typeface="Arial"/>
              <a:cs typeface="Arial"/>
            </a:endParaRPr>
          </a:p>
          <a:p>
            <a:pPr marL="12700" marR="5080" algn="ctr">
              <a:lnSpc>
                <a:spcPts val="3790"/>
              </a:lnSpc>
              <a:spcBef>
                <a:spcPts val="284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Hierarchical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Inheritance 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Hybrid</a:t>
            </a:r>
            <a:r>
              <a:rPr sz="15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 Types of Inheritance in Python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86953" y="951571"/>
          <a:ext cx="8397515" cy="3681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33375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232785" cy="1381125"/>
          </a:xfrm>
          <a:custGeom>
            <a:avLst/>
            <a:gdLst/>
            <a:ahLst/>
            <a:cxnLst/>
            <a:rect l="l" t="t" r="r" b="b"/>
            <a:pathLst>
              <a:path w="3232785" h="1381125">
                <a:moveTo>
                  <a:pt x="0" y="1380993"/>
                </a:moveTo>
                <a:lnTo>
                  <a:pt x="3232282" y="1380993"/>
                </a:lnTo>
                <a:lnTo>
                  <a:pt x="323228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232785" cy="2430145"/>
          </a:xfrm>
          <a:custGeom>
            <a:avLst/>
            <a:gdLst/>
            <a:ahLst/>
            <a:cxnLst/>
            <a:rect l="l" t="t" r="r" b="b"/>
            <a:pathLst>
              <a:path w="3232785" h="2430145">
                <a:moveTo>
                  <a:pt x="0" y="2429637"/>
                </a:moveTo>
                <a:lnTo>
                  <a:pt x="3232282" y="2429637"/>
                </a:lnTo>
                <a:lnTo>
                  <a:pt x="3232282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232785" cy="1332865"/>
          </a:xfrm>
          <a:custGeom>
            <a:avLst/>
            <a:gdLst/>
            <a:ahLst/>
            <a:cxnLst/>
            <a:rect l="l" t="t" r="r" b="b"/>
            <a:pathLst>
              <a:path w="3232785" h="1332864">
                <a:moveTo>
                  <a:pt x="0" y="1332869"/>
                </a:moveTo>
                <a:lnTo>
                  <a:pt x="3232282" y="1332869"/>
                </a:lnTo>
                <a:lnTo>
                  <a:pt x="3232282" y="0"/>
                </a:lnTo>
                <a:lnTo>
                  <a:pt x="0" y="0"/>
                </a:lnTo>
                <a:lnTo>
                  <a:pt x="0" y="1332869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025" y="1340164"/>
            <a:ext cx="2707640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595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02737" y="776918"/>
            <a:ext cx="33623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What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is </a:t>
            </a:r>
            <a:r>
              <a:rPr sz="2000" b="1" spc="30" dirty="0">
                <a:solidFill>
                  <a:srgbClr val="6F2F9F"/>
                </a:solidFill>
                <a:latin typeface="Arial"/>
                <a:cs typeface="Arial"/>
              </a:rPr>
              <a:t>Single</a:t>
            </a:r>
            <a:r>
              <a:rPr sz="2000" b="1" spc="-39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6F2F9F"/>
                </a:solidFill>
                <a:latin typeface="Arial"/>
                <a:cs typeface="Arial"/>
              </a:rPr>
              <a:t>Inheritance?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50" y="2857500"/>
            <a:ext cx="2562225" cy="6381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4325" y="2847975"/>
            <a:ext cx="2019300" cy="6953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7357" y="2859023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6"/>
                </a:lnTo>
                <a:lnTo>
                  <a:pt x="4146" y="32202"/>
                </a:lnTo>
                <a:lnTo>
                  <a:pt x="0" y="52709"/>
                </a:lnTo>
                <a:lnTo>
                  <a:pt x="0" y="263652"/>
                </a:lnTo>
                <a:lnTo>
                  <a:pt x="4146" y="284227"/>
                </a:lnTo>
                <a:lnTo>
                  <a:pt x="15452" y="301018"/>
                </a:lnTo>
                <a:lnTo>
                  <a:pt x="32221" y="312332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2"/>
                </a:lnTo>
                <a:lnTo>
                  <a:pt x="2223393" y="301018"/>
                </a:lnTo>
                <a:lnTo>
                  <a:pt x="2234693" y="284227"/>
                </a:lnTo>
                <a:lnTo>
                  <a:pt x="2238838" y="263652"/>
                </a:lnTo>
                <a:lnTo>
                  <a:pt x="2238838" y="52709"/>
                </a:lnTo>
                <a:lnTo>
                  <a:pt x="2234693" y="32202"/>
                </a:lnTo>
                <a:lnTo>
                  <a:pt x="2223393" y="15446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50" y="3305175"/>
            <a:ext cx="2562225" cy="6381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7175" y="3305175"/>
            <a:ext cx="2133600" cy="6953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7357" y="3310508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7"/>
                </a:lnTo>
                <a:lnTo>
                  <a:pt x="15452" y="15461"/>
                </a:lnTo>
                <a:lnTo>
                  <a:pt x="4146" y="32252"/>
                </a:lnTo>
                <a:lnTo>
                  <a:pt x="0" y="52827"/>
                </a:lnTo>
                <a:lnTo>
                  <a:pt x="0" y="263783"/>
                </a:lnTo>
                <a:lnTo>
                  <a:pt x="4146" y="284282"/>
                </a:lnTo>
                <a:lnTo>
                  <a:pt x="15452" y="301034"/>
                </a:lnTo>
                <a:lnTo>
                  <a:pt x="32221" y="312334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4"/>
                </a:lnTo>
                <a:lnTo>
                  <a:pt x="2223393" y="301034"/>
                </a:lnTo>
                <a:lnTo>
                  <a:pt x="2234693" y="284282"/>
                </a:lnTo>
                <a:lnTo>
                  <a:pt x="2238838" y="263783"/>
                </a:lnTo>
                <a:lnTo>
                  <a:pt x="2238838" y="52827"/>
                </a:lnTo>
                <a:lnTo>
                  <a:pt x="2234693" y="32252"/>
                </a:lnTo>
                <a:lnTo>
                  <a:pt x="2223393" y="15461"/>
                </a:lnTo>
                <a:lnTo>
                  <a:pt x="2206641" y="4147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10879" y="2893629"/>
            <a:ext cx="1563370" cy="695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050" y="3733800"/>
            <a:ext cx="2562225" cy="6381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500" y="3724275"/>
            <a:ext cx="2266950" cy="6953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7357" y="3736216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5"/>
                </a:lnTo>
                <a:lnTo>
                  <a:pt x="4146" y="32197"/>
                </a:lnTo>
                <a:lnTo>
                  <a:pt x="0" y="52696"/>
                </a:lnTo>
                <a:lnTo>
                  <a:pt x="0" y="263722"/>
                </a:lnTo>
                <a:lnTo>
                  <a:pt x="4146" y="284257"/>
                </a:lnTo>
                <a:lnTo>
                  <a:pt x="15452" y="301026"/>
                </a:lnTo>
                <a:lnTo>
                  <a:pt x="32221" y="312333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3"/>
                </a:lnTo>
                <a:lnTo>
                  <a:pt x="2223393" y="301026"/>
                </a:lnTo>
                <a:lnTo>
                  <a:pt x="2234693" y="284257"/>
                </a:lnTo>
                <a:lnTo>
                  <a:pt x="2238838" y="263722"/>
                </a:lnTo>
                <a:lnTo>
                  <a:pt x="2238838" y="52696"/>
                </a:lnTo>
                <a:lnTo>
                  <a:pt x="2234693" y="32197"/>
                </a:lnTo>
                <a:lnTo>
                  <a:pt x="2223393" y="15445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43894" y="3772537"/>
            <a:ext cx="16967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Multilevel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9050" y="4181475"/>
            <a:ext cx="2562225" cy="6381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5250" y="4181475"/>
            <a:ext cx="2457450" cy="69532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77357" y="4188189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6"/>
                </a:lnTo>
                <a:lnTo>
                  <a:pt x="15452" y="15452"/>
                </a:lnTo>
                <a:lnTo>
                  <a:pt x="4146" y="32222"/>
                </a:lnTo>
                <a:lnTo>
                  <a:pt x="0" y="52757"/>
                </a:lnTo>
                <a:lnTo>
                  <a:pt x="0" y="263758"/>
                </a:lnTo>
                <a:lnTo>
                  <a:pt x="4146" y="284286"/>
                </a:lnTo>
                <a:lnTo>
                  <a:pt x="15452" y="301052"/>
                </a:lnTo>
                <a:lnTo>
                  <a:pt x="32221" y="312358"/>
                </a:lnTo>
                <a:lnTo>
                  <a:pt x="52754" y="316504"/>
                </a:lnTo>
                <a:lnTo>
                  <a:pt x="2186141" y="316504"/>
                </a:lnTo>
                <a:lnTo>
                  <a:pt x="2206641" y="312358"/>
                </a:lnTo>
                <a:lnTo>
                  <a:pt x="2223393" y="301052"/>
                </a:lnTo>
                <a:lnTo>
                  <a:pt x="2234693" y="284286"/>
                </a:lnTo>
                <a:lnTo>
                  <a:pt x="2238838" y="263758"/>
                </a:lnTo>
                <a:lnTo>
                  <a:pt x="2238838" y="52757"/>
                </a:lnTo>
                <a:lnTo>
                  <a:pt x="2234693" y="32222"/>
                </a:lnTo>
                <a:lnTo>
                  <a:pt x="2223393" y="15452"/>
                </a:lnTo>
                <a:lnTo>
                  <a:pt x="2206641" y="4146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50" y="4629150"/>
            <a:ext cx="2562225" cy="51434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4800" y="4629150"/>
            <a:ext cx="2038350" cy="51434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77357" y="4637352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51"/>
                </a:lnTo>
                <a:lnTo>
                  <a:pt x="4146" y="32217"/>
                </a:lnTo>
                <a:lnTo>
                  <a:pt x="0" y="52745"/>
                </a:lnTo>
                <a:lnTo>
                  <a:pt x="0" y="263748"/>
                </a:lnTo>
                <a:lnTo>
                  <a:pt x="4146" y="284275"/>
                </a:lnTo>
                <a:lnTo>
                  <a:pt x="15452" y="301041"/>
                </a:lnTo>
                <a:lnTo>
                  <a:pt x="32221" y="312347"/>
                </a:lnTo>
                <a:lnTo>
                  <a:pt x="52754" y="316493"/>
                </a:lnTo>
                <a:lnTo>
                  <a:pt x="2186141" y="316493"/>
                </a:lnTo>
                <a:lnTo>
                  <a:pt x="2206641" y="312347"/>
                </a:lnTo>
                <a:lnTo>
                  <a:pt x="2223393" y="301041"/>
                </a:lnTo>
                <a:lnTo>
                  <a:pt x="2234693" y="284275"/>
                </a:lnTo>
                <a:lnTo>
                  <a:pt x="2238838" y="263748"/>
                </a:lnTo>
                <a:lnTo>
                  <a:pt x="2238838" y="52745"/>
                </a:lnTo>
                <a:lnTo>
                  <a:pt x="2234693" y="32217"/>
                </a:lnTo>
                <a:lnTo>
                  <a:pt x="2223393" y="15451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title" idx="4294967295"/>
          </p:nvPr>
        </p:nvSpPr>
        <p:spPr>
          <a:xfrm>
            <a:off x="5959475" y="1255713"/>
            <a:ext cx="3184525" cy="44926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spc="-1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spc="-10" dirty="0">
                <a:solidFill>
                  <a:srgbClr val="595959"/>
                </a:solidFill>
                <a:latin typeface="Arial"/>
                <a:cs typeface="Arial"/>
              </a:rPr>
              <a:t>single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class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inherits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550" b="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2750" b="0" spc="20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876909" y="1924050"/>
            <a:ext cx="942975" cy="94297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904738" y="1990593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812804"/>
                </a:moveTo>
                <a:lnTo>
                  <a:pt x="812804" y="812804"/>
                </a:lnTo>
                <a:lnTo>
                  <a:pt x="812804" y="0"/>
                </a:lnTo>
                <a:lnTo>
                  <a:pt x="0" y="0"/>
                </a:lnTo>
                <a:lnTo>
                  <a:pt x="0" y="812804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886450" y="3352800"/>
            <a:ext cx="942975" cy="94297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911718" y="341489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812804"/>
                </a:moveTo>
                <a:lnTo>
                  <a:pt x="812791" y="812804"/>
                </a:lnTo>
                <a:lnTo>
                  <a:pt x="812791" y="0"/>
                </a:lnTo>
                <a:lnTo>
                  <a:pt x="0" y="0"/>
                </a:lnTo>
                <a:lnTo>
                  <a:pt x="0" y="812804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255380" y="2803397"/>
            <a:ext cx="114300" cy="612140"/>
          </a:xfrm>
          <a:custGeom>
            <a:avLst/>
            <a:gdLst/>
            <a:ahLst/>
            <a:cxnLst/>
            <a:rect l="l" t="t" r="r" b="b"/>
            <a:pathLst>
              <a:path w="114300" h="612139">
                <a:moveTo>
                  <a:pt x="76171" y="114090"/>
                </a:moveTo>
                <a:lnTo>
                  <a:pt x="38071" y="114510"/>
                </a:lnTo>
                <a:lnTo>
                  <a:pt x="43708" y="611754"/>
                </a:lnTo>
                <a:lnTo>
                  <a:pt x="81808" y="611255"/>
                </a:lnTo>
                <a:lnTo>
                  <a:pt x="76171" y="114090"/>
                </a:lnTo>
                <a:close/>
              </a:path>
              <a:path w="114300" h="612139">
                <a:moveTo>
                  <a:pt x="55747" y="0"/>
                </a:moveTo>
                <a:lnTo>
                  <a:pt x="0" y="114930"/>
                </a:lnTo>
                <a:lnTo>
                  <a:pt x="38071" y="114510"/>
                </a:lnTo>
                <a:lnTo>
                  <a:pt x="37856" y="95499"/>
                </a:lnTo>
                <a:lnTo>
                  <a:pt x="104744" y="95118"/>
                </a:lnTo>
                <a:lnTo>
                  <a:pt x="55747" y="0"/>
                </a:lnTo>
                <a:close/>
              </a:path>
              <a:path w="114300" h="612139">
                <a:moveTo>
                  <a:pt x="75956" y="95118"/>
                </a:moveTo>
                <a:lnTo>
                  <a:pt x="37856" y="95499"/>
                </a:lnTo>
                <a:lnTo>
                  <a:pt x="38071" y="114510"/>
                </a:lnTo>
                <a:lnTo>
                  <a:pt x="76171" y="114090"/>
                </a:lnTo>
                <a:lnTo>
                  <a:pt x="75956" y="95118"/>
                </a:lnTo>
                <a:close/>
              </a:path>
              <a:path w="114300" h="612139">
                <a:moveTo>
                  <a:pt x="104744" y="95118"/>
                </a:moveTo>
                <a:lnTo>
                  <a:pt x="75956" y="95118"/>
                </a:lnTo>
                <a:lnTo>
                  <a:pt x="76171" y="114090"/>
                </a:lnTo>
                <a:lnTo>
                  <a:pt x="114300" y="113669"/>
                </a:lnTo>
                <a:lnTo>
                  <a:pt x="104744" y="95118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835780" y="2317176"/>
            <a:ext cx="9480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Parent</a:t>
            </a:r>
            <a:r>
              <a:rPr sz="1200" b="1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8644" y="4242458"/>
            <a:ext cx="18865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8504" y="4692360"/>
            <a:ext cx="14681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Hybrid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35780" y="3691952"/>
            <a:ext cx="8623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Child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80993"/>
            <a:ext cx="3232785" cy="1332865"/>
          </a:xfrm>
          <a:custGeom>
            <a:avLst/>
            <a:gdLst/>
            <a:ahLst/>
            <a:cxnLst/>
            <a:rect l="l" t="t" r="r" b="b"/>
            <a:pathLst>
              <a:path w="3232785" h="1332864">
                <a:moveTo>
                  <a:pt x="0" y="1332869"/>
                </a:moveTo>
                <a:lnTo>
                  <a:pt x="3232282" y="1332869"/>
                </a:lnTo>
                <a:lnTo>
                  <a:pt x="3232282" y="0"/>
                </a:lnTo>
                <a:lnTo>
                  <a:pt x="0" y="0"/>
                </a:lnTo>
                <a:lnTo>
                  <a:pt x="0" y="1332869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025" y="1340164"/>
            <a:ext cx="2707640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595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02737" y="776918"/>
            <a:ext cx="33623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What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is </a:t>
            </a:r>
            <a:r>
              <a:rPr sz="2000" b="1" spc="30" dirty="0">
                <a:solidFill>
                  <a:srgbClr val="6F2F9F"/>
                </a:solidFill>
                <a:latin typeface="Arial"/>
                <a:cs typeface="Arial"/>
              </a:rPr>
              <a:t>Single</a:t>
            </a:r>
            <a:r>
              <a:rPr sz="2000" b="1" spc="-39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6F2F9F"/>
                </a:solidFill>
                <a:latin typeface="Arial"/>
                <a:cs typeface="Arial"/>
              </a:rPr>
              <a:t>Inheritance?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050" y="2857500"/>
            <a:ext cx="2562225" cy="6381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4325" y="2847975"/>
            <a:ext cx="2019300" cy="6953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7357" y="2859023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6"/>
                </a:lnTo>
                <a:lnTo>
                  <a:pt x="4146" y="32202"/>
                </a:lnTo>
                <a:lnTo>
                  <a:pt x="0" y="52709"/>
                </a:lnTo>
                <a:lnTo>
                  <a:pt x="0" y="263652"/>
                </a:lnTo>
                <a:lnTo>
                  <a:pt x="4146" y="284227"/>
                </a:lnTo>
                <a:lnTo>
                  <a:pt x="15452" y="301018"/>
                </a:lnTo>
                <a:lnTo>
                  <a:pt x="32221" y="312332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2"/>
                </a:lnTo>
                <a:lnTo>
                  <a:pt x="2223393" y="301018"/>
                </a:lnTo>
                <a:lnTo>
                  <a:pt x="2234693" y="284227"/>
                </a:lnTo>
                <a:lnTo>
                  <a:pt x="2238838" y="263652"/>
                </a:lnTo>
                <a:lnTo>
                  <a:pt x="2238838" y="52709"/>
                </a:lnTo>
                <a:lnTo>
                  <a:pt x="2234693" y="32202"/>
                </a:lnTo>
                <a:lnTo>
                  <a:pt x="2223393" y="15446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50" y="3305175"/>
            <a:ext cx="2562225" cy="6381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7175" y="3305175"/>
            <a:ext cx="2133600" cy="6953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7357" y="3310508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7"/>
                </a:lnTo>
                <a:lnTo>
                  <a:pt x="15452" y="15461"/>
                </a:lnTo>
                <a:lnTo>
                  <a:pt x="4146" y="32252"/>
                </a:lnTo>
                <a:lnTo>
                  <a:pt x="0" y="52827"/>
                </a:lnTo>
                <a:lnTo>
                  <a:pt x="0" y="263783"/>
                </a:lnTo>
                <a:lnTo>
                  <a:pt x="4146" y="284282"/>
                </a:lnTo>
                <a:lnTo>
                  <a:pt x="15452" y="301034"/>
                </a:lnTo>
                <a:lnTo>
                  <a:pt x="32221" y="312334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4"/>
                </a:lnTo>
                <a:lnTo>
                  <a:pt x="2223393" y="301034"/>
                </a:lnTo>
                <a:lnTo>
                  <a:pt x="2234693" y="284282"/>
                </a:lnTo>
                <a:lnTo>
                  <a:pt x="2238838" y="263783"/>
                </a:lnTo>
                <a:lnTo>
                  <a:pt x="2238838" y="52827"/>
                </a:lnTo>
                <a:lnTo>
                  <a:pt x="2234693" y="32252"/>
                </a:lnTo>
                <a:lnTo>
                  <a:pt x="2223393" y="15461"/>
                </a:lnTo>
                <a:lnTo>
                  <a:pt x="2206641" y="4147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50" y="3733800"/>
            <a:ext cx="2562225" cy="6381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0500" y="3724275"/>
            <a:ext cx="2266950" cy="6953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7357" y="3736216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5"/>
                </a:lnTo>
                <a:lnTo>
                  <a:pt x="4146" y="32197"/>
                </a:lnTo>
                <a:lnTo>
                  <a:pt x="0" y="52696"/>
                </a:lnTo>
                <a:lnTo>
                  <a:pt x="0" y="263722"/>
                </a:lnTo>
                <a:lnTo>
                  <a:pt x="4146" y="284257"/>
                </a:lnTo>
                <a:lnTo>
                  <a:pt x="15452" y="301026"/>
                </a:lnTo>
                <a:lnTo>
                  <a:pt x="32221" y="312333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3"/>
                </a:lnTo>
                <a:lnTo>
                  <a:pt x="2223393" y="301026"/>
                </a:lnTo>
                <a:lnTo>
                  <a:pt x="2234693" y="284257"/>
                </a:lnTo>
                <a:lnTo>
                  <a:pt x="2238838" y="263722"/>
                </a:lnTo>
                <a:lnTo>
                  <a:pt x="2238838" y="52696"/>
                </a:lnTo>
                <a:lnTo>
                  <a:pt x="2234693" y="32197"/>
                </a:lnTo>
                <a:lnTo>
                  <a:pt x="2223393" y="15445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43894" y="2893629"/>
            <a:ext cx="1696720" cy="1122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2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  <a:p>
            <a:pPr marL="12700" marR="5080" indent="66675">
              <a:lnSpc>
                <a:spcPct val="199900"/>
              </a:lnSpc>
              <a:spcBef>
                <a:spcPts val="204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Multiple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 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Multilevel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050" y="4181475"/>
            <a:ext cx="2562225" cy="6381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5250" y="4181475"/>
            <a:ext cx="2457450" cy="6953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7357" y="4188189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6"/>
                </a:lnTo>
                <a:lnTo>
                  <a:pt x="15452" y="15452"/>
                </a:lnTo>
                <a:lnTo>
                  <a:pt x="4146" y="32222"/>
                </a:lnTo>
                <a:lnTo>
                  <a:pt x="0" y="52757"/>
                </a:lnTo>
                <a:lnTo>
                  <a:pt x="0" y="263758"/>
                </a:lnTo>
                <a:lnTo>
                  <a:pt x="4146" y="284286"/>
                </a:lnTo>
                <a:lnTo>
                  <a:pt x="15452" y="301052"/>
                </a:lnTo>
                <a:lnTo>
                  <a:pt x="32221" y="312358"/>
                </a:lnTo>
                <a:lnTo>
                  <a:pt x="52754" y="316504"/>
                </a:lnTo>
                <a:lnTo>
                  <a:pt x="2186141" y="316504"/>
                </a:lnTo>
                <a:lnTo>
                  <a:pt x="2206641" y="312358"/>
                </a:lnTo>
                <a:lnTo>
                  <a:pt x="2223393" y="301052"/>
                </a:lnTo>
                <a:lnTo>
                  <a:pt x="2234693" y="284286"/>
                </a:lnTo>
                <a:lnTo>
                  <a:pt x="2238838" y="263758"/>
                </a:lnTo>
                <a:lnTo>
                  <a:pt x="2238838" y="52757"/>
                </a:lnTo>
                <a:lnTo>
                  <a:pt x="2234693" y="32222"/>
                </a:lnTo>
                <a:lnTo>
                  <a:pt x="2223393" y="15452"/>
                </a:lnTo>
                <a:lnTo>
                  <a:pt x="2206641" y="4146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50" y="4629150"/>
            <a:ext cx="2562225" cy="51434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4800" y="4629150"/>
            <a:ext cx="2038350" cy="51434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7357" y="4637352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51"/>
                </a:lnTo>
                <a:lnTo>
                  <a:pt x="4146" y="32217"/>
                </a:lnTo>
                <a:lnTo>
                  <a:pt x="0" y="52745"/>
                </a:lnTo>
                <a:lnTo>
                  <a:pt x="0" y="263748"/>
                </a:lnTo>
                <a:lnTo>
                  <a:pt x="4146" y="284275"/>
                </a:lnTo>
                <a:lnTo>
                  <a:pt x="15452" y="301041"/>
                </a:lnTo>
                <a:lnTo>
                  <a:pt x="32221" y="312347"/>
                </a:lnTo>
                <a:lnTo>
                  <a:pt x="52754" y="316493"/>
                </a:lnTo>
                <a:lnTo>
                  <a:pt x="2186141" y="316493"/>
                </a:lnTo>
                <a:lnTo>
                  <a:pt x="2206641" y="312347"/>
                </a:lnTo>
                <a:lnTo>
                  <a:pt x="2223393" y="301041"/>
                </a:lnTo>
                <a:lnTo>
                  <a:pt x="2234693" y="284275"/>
                </a:lnTo>
                <a:lnTo>
                  <a:pt x="2238838" y="263748"/>
                </a:lnTo>
                <a:lnTo>
                  <a:pt x="2238838" y="52745"/>
                </a:lnTo>
                <a:lnTo>
                  <a:pt x="2234693" y="32217"/>
                </a:lnTo>
                <a:lnTo>
                  <a:pt x="2223393" y="15451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title" idx="4294967295"/>
          </p:nvPr>
        </p:nvSpPr>
        <p:spPr>
          <a:xfrm>
            <a:off x="5959475" y="1255713"/>
            <a:ext cx="3184525" cy="44926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spc="-1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spc="-10" dirty="0">
                <a:solidFill>
                  <a:srgbClr val="595959"/>
                </a:solidFill>
                <a:latin typeface="Arial"/>
                <a:cs typeface="Arial"/>
              </a:rPr>
              <a:t>single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class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inherits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550" b="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2750" b="0" spc="20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24372" y="2375285"/>
            <a:ext cx="3816350" cy="1816100"/>
          </a:xfrm>
          <a:custGeom>
            <a:avLst/>
            <a:gdLst/>
            <a:ahLst/>
            <a:cxnLst/>
            <a:rect l="l" t="t" r="r" b="b"/>
            <a:pathLst>
              <a:path w="3816350" h="1816100">
                <a:moveTo>
                  <a:pt x="0" y="1815846"/>
                </a:moveTo>
                <a:lnTo>
                  <a:pt x="3816218" y="1815846"/>
                </a:lnTo>
                <a:lnTo>
                  <a:pt x="3816218" y="0"/>
                </a:lnTo>
                <a:lnTo>
                  <a:pt x="0" y="0"/>
                </a:lnTo>
                <a:lnTo>
                  <a:pt x="0" y="1815846"/>
                </a:lnTo>
                <a:close/>
              </a:path>
            </a:pathLst>
          </a:custGeom>
          <a:solidFill>
            <a:srgbClr val="2F233B">
              <a:alpha val="3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606802" y="2403155"/>
            <a:ext cx="3370579" cy="1732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6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fruit:</a:t>
            </a:r>
            <a:endParaRPr sz="1400">
              <a:latin typeface="Consolas"/>
              <a:cs typeface="Consolas"/>
            </a:endParaRPr>
          </a:p>
          <a:p>
            <a:pPr marL="699135">
              <a:lnSpc>
                <a:spcPts val="1655"/>
              </a:lnSpc>
            </a:pP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def</a:t>
            </a:r>
            <a:r>
              <a:rPr sz="1400" u="heavy" spc="-10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Consolas"/>
                <a:cs typeface="Consolas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init</a:t>
            </a:r>
            <a:r>
              <a:rPr sz="1400" u="heavy" spc="705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(self):</a:t>
            </a:r>
            <a:endParaRPr sz="1400">
              <a:latin typeface="Consolas"/>
              <a:cs typeface="Consolas"/>
            </a:endParaRPr>
          </a:p>
          <a:p>
            <a:pPr marL="12700" marR="5080" indent="1372870">
              <a:lnSpc>
                <a:spcPts val="1730"/>
              </a:lnSpc>
              <a:spcBef>
                <a:spcPts val="5"/>
              </a:spcBef>
            </a:pP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print("I'm 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a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fruit") 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6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citrus(fruit):</a:t>
            </a:r>
            <a:endParaRPr sz="1400">
              <a:latin typeface="Consolas"/>
              <a:cs typeface="Consolas"/>
            </a:endParaRPr>
          </a:p>
          <a:p>
            <a:pPr marL="699135">
              <a:lnSpc>
                <a:spcPts val="1585"/>
              </a:lnSpc>
            </a:pP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def</a:t>
            </a:r>
            <a:r>
              <a:rPr sz="1400" u="heavy" spc="-10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Consolas"/>
                <a:cs typeface="Consolas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init</a:t>
            </a:r>
            <a:r>
              <a:rPr sz="1400" u="heavy" spc="705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(self):</a:t>
            </a:r>
            <a:endParaRPr sz="1400">
              <a:latin typeface="Consolas"/>
              <a:cs typeface="Consolas"/>
            </a:endParaRPr>
          </a:p>
          <a:p>
            <a:pPr marL="1385570" marR="109855">
              <a:lnSpc>
                <a:spcPts val="1650"/>
              </a:lnSpc>
              <a:spcBef>
                <a:spcPts val="125"/>
              </a:spcBef>
            </a:pP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super().</a:t>
            </a:r>
            <a:r>
              <a:rPr sz="1400" u="heavy" spc="-5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init</a:t>
            </a:r>
            <a:r>
              <a:rPr sz="1400" u="heavy" spc="-5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()  print("I'm</a:t>
            </a: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citrus")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10"/>
              </a:lnSpc>
            </a:pP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Lemon 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=</a:t>
            </a:r>
            <a:r>
              <a:rPr sz="140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citrus()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171840" y="1885950"/>
            <a:ext cx="2190750" cy="80962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86140" y="1962150"/>
            <a:ext cx="2019300" cy="69532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24372" y="1892045"/>
            <a:ext cx="1866264" cy="483234"/>
          </a:xfrm>
          <a:custGeom>
            <a:avLst/>
            <a:gdLst/>
            <a:ahLst/>
            <a:cxnLst/>
            <a:rect l="l" t="t" r="r" b="b"/>
            <a:pathLst>
              <a:path w="1866264" h="483235">
                <a:moveTo>
                  <a:pt x="1785487" y="0"/>
                </a:moveTo>
                <a:lnTo>
                  <a:pt x="80650" y="0"/>
                </a:lnTo>
                <a:lnTo>
                  <a:pt x="49249" y="6311"/>
                </a:lnTo>
                <a:lnTo>
                  <a:pt x="23614" y="23541"/>
                </a:lnTo>
                <a:lnTo>
                  <a:pt x="6335" y="49133"/>
                </a:lnTo>
                <a:lnTo>
                  <a:pt x="0" y="80528"/>
                </a:lnTo>
                <a:lnTo>
                  <a:pt x="0" y="402717"/>
                </a:lnTo>
                <a:lnTo>
                  <a:pt x="6335" y="434049"/>
                </a:lnTo>
                <a:lnTo>
                  <a:pt x="23614" y="459645"/>
                </a:lnTo>
                <a:lnTo>
                  <a:pt x="49249" y="476907"/>
                </a:lnTo>
                <a:lnTo>
                  <a:pt x="80650" y="483239"/>
                </a:lnTo>
                <a:lnTo>
                  <a:pt x="1785487" y="483239"/>
                </a:lnTo>
                <a:lnTo>
                  <a:pt x="1816831" y="476907"/>
                </a:lnTo>
                <a:lnTo>
                  <a:pt x="1842428" y="459645"/>
                </a:lnTo>
                <a:lnTo>
                  <a:pt x="1859687" y="434049"/>
                </a:lnTo>
                <a:lnTo>
                  <a:pt x="1866016" y="402717"/>
                </a:lnTo>
                <a:lnTo>
                  <a:pt x="1866016" y="80528"/>
                </a:lnTo>
                <a:lnTo>
                  <a:pt x="1859687" y="49133"/>
                </a:lnTo>
                <a:lnTo>
                  <a:pt x="1842428" y="23541"/>
                </a:lnTo>
                <a:lnTo>
                  <a:pt x="1816831" y="6311"/>
                </a:lnTo>
                <a:lnTo>
                  <a:pt x="1785487" y="0"/>
                </a:lnTo>
                <a:close/>
              </a:path>
            </a:pathLst>
          </a:custGeom>
          <a:solidFill>
            <a:srgbClr val="5F477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735708" y="2008439"/>
            <a:ext cx="14490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8644" y="4242458"/>
            <a:ext cx="18865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8504" y="4692360"/>
            <a:ext cx="14681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Hybrid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33375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232785" cy="1381125"/>
          </a:xfrm>
          <a:custGeom>
            <a:avLst/>
            <a:gdLst/>
            <a:ahLst/>
            <a:cxnLst/>
            <a:rect l="l" t="t" r="r" b="b"/>
            <a:pathLst>
              <a:path w="3232785" h="1381125">
                <a:moveTo>
                  <a:pt x="0" y="1380993"/>
                </a:moveTo>
                <a:lnTo>
                  <a:pt x="3232282" y="1380993"/>
                </a:lnTo>
                <a:lnTo>
                  <a:pt x="323228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232785" cy="2430145"/>
          </a:xfrm>
          <a:custGeom>
            <a:avLst/>
            <a:gdLst/>
            <a:ahLst/>
            <a:cxnLst/>
            <a:rect l="l" t="t" r="r" b="b"/>
            <a:pathLst>
              <a:path w="3232785" h="2430145">
                <a:moveTo>
                  <a:pt x="0" y="2429637"/>
                </a:moveTo>
                <a:lnTo>
                  <a:pt x="3232282" y="2429637"/>
                </a:lnTo>
                <a:lnTo>
                  <a:pt x="3232282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232785" cy="1332865"/>
          </a:xfrm>
          <a:custGeom>
            <a:avLst/>
            <a:gdLst/>
            <a:ahLst/>
            <a:cxnLst/>
            <a:rect l="l" t="t" r="r" b="b"/>
            <a:pathLst>
              <a:path w="3232785" h="1332864">
                <a:moveTo>
                  <a:pt x="0" y="1332869"/>
                </a:moveTo>
                <a:lnTo>
                  <a:pt x="3232282" y="1332869"/>
                </a:lnTo>
                <a:lnTo>
                  <a:pt x="3232282" y="0"/>
                </a:lnTo>
                <a:lnTo>
                  <a:pt x="0" y="0"/>
                </a:lnTo>
                <a:lnTo>
                  <a:pt x="0" y="1332869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025" y="1340164"/>
            <a:ext cx="2707640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595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07487" y="776918"/>
            <a:ext cx="35623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What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is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Multiple</a:t>
            </a:r>
            <a:r>
              <a:rPr sz="2000" b="1" spc="-37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Inheritance?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50" y="2857500"/>
            <a:ext cx="2562225" cy="6381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4325" y="2847975"/>
            <a:ext cx="2019300" cy="6953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7357" y="2859023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6"/>
                </a:lnTo>
                <a:lnTo>
                  <a:pt x="4146" y="32202"/>
                </a:lnTo>
                <a:lnTo>
                  <a:pt x="0" y="52709"/>
                </a:lnTo>
                <a:lnTo>
                  <a:pt x="0" y="263652"/>
                </a:lnTo>
                <a:lnTo>
                  <a:pt x="4146" y="284227"/>
                </a:lnTo>
                <a:lnTo>
                  <a:pt x="15452" y="301018"/>
                </a:lnTo>
                <a:lnTo>
                  <a:pt x="32221" y="312332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2"/>
                </a:lnTo>
                <a:lnTo>
                  <a:pt x="2223393" y="301018"/>
                </a:lnTo>
                <a:lnTo>
                  <a:pt x="2234693" y="284227"/>
                </a:lnTo>
                <a:lnTo>
                  <a:pt x="2238838" y="263652"/>
                </a:lnTo>
                <a:lnTo>
                  <a:pt x="2238838" y="52709"/>
                </a:lnTo>
                <a:lnTo>
                  <a:pt x="2234693" y="32202"/>
                </a:lnTo>
                <a:lnTo>
                  <a:pt x="2223393" y="15446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50" y="3305175"/>
            <a:ext cx="2562225" cy="6381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7175" y="3305175"/>
            <a:ext cx="2133600" cy="6953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7357" y="3310508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7"/>
                </a:lnTo>
                <a:lnTo>
                  <a:pt x="15452" y="15461"/>
                </a:lnTo>
                <a:lnTo>
                  <a:pt x="4146" y="32252"/>
                </a:lnTo>
                <a:lnTo>
                  <a:pt x="0" y="52827"/>
                </a:lnTo>
                <a:lnTo>
                  <a:pt x="0" y="263783"/>
                </a:lnTo>
                <a:lnTo>
                  <a:pt x="4146" y="284282"/>
                </a:lnTo>
                <a:lnTo>
                  <a:pt x="15452" y="301034"/>
                </a:lnTo>
                <a:lnTo>
                  <a:pt x="32221" y="312334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4"/>
                </a:lnTo>
                <a:lnTo>
                  <a:pt x="2223393" y="301034"/>
                </a:lnTo>
                <a:lnTo>
                  <a:pt x="2234693" y="284282"/>
                </a:lnTo>
                <a:lnTo>
                  <a:pt x="2238838" y="263783"/>
                </a:lnTo>
                <a:lnTo>
                  <a:pt x="2238838" y="52827"/>
                </a:lnTo>
                <a:lnTo>
                  <a:pt x="2234693" y="32252"/>
                </a:lnTo>
                <a:lnTo>
                  <a:pt x="2223393" y="15461"/>
                </a:lnTo>
                <a:lnTo>
                  <a:pt x="2206641" y="4147"/>
                </a:lnTo>
                <a:lnTo>
                  <a:pt x="218614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50" y="3733800"/>
            <a:ext cx="2562225" cy="6381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0500" y="3724275"/>
            <a:ext cx="2266950" cy="6953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7357" y="3736216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5"/>
                </a:lnTo>
                <a:lnTo>
                  <a:pt x="4146" y="32197"/>
                </a:lnTo>
                <a:lnTo>
                  <a:pt x="0" y="52696"/>
                </a:lnTo>
                <a:lnTo>
                  <a:pt x="0" y="263722"/>
                </a:lnTo>
                <a:lnTo>
                  <a:pt x="4146" y="284257"/>
                </a:lnTo>
                <a:lnTo>
                  <a:pt x="15452" y="301026"/>
                </a:lnTo>
                <a:lnTo>
                  <a:pt x="32221" y="312333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3"/>
                </a:lnTo>
                <a:lnTo>
                  <a:pt x="2223393" y="301026"/>
                </a:lnTo>
                <a:lnTo>
                  <a:pt x="2234693" y="284257"/>
                </a:lnTo>
                <a:lnTo>
                  <a:pt x="2238838" y="263722"/>
                </a:lnTo>
                <a:lnTo>
                  <a:pt x="2238838" y="52696"/>
                </a:lnTo>
                <a:lnTo>
                  <a:pt x="2234693" y="32197"/>
                </a:lnTo>
                <a:lnTo>
                  <a:pt x="2223393" y="15445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50" y="4181475"/>
            <a:ext cx="2562225" cy="6381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5250" y="4181475"/>
            <a:ext cx="2457450" cy="69532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7357" y="4188189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6"/>
                </a:lnTo>
                <a:lnTo>
                  <a:pt x="15452" y="15452"/>
                </a:lnTo>
                <a:lnTo>
                  <a:pt x="4146" y="32222"/>
                </a:lnTo>
                <a:lnTo>
                  <a:pt x="0" y="52757"/>
                </a:lnTo>
                <a:lnTo>
                  <a:pt x="0" y="263758"/>
                </a:lnTo>
                <a:lnTo>
                  <a:pt x="4146" y="284286"/>
                </a:lnTo>
                <a:lnTo>
                  <a:pt x="15452" y="301052"/>
                </a:lnTo>
                <a:lnTo>
                  <a:pt x="32221" y="312358"/>
                </a:lnTo>
                <a:lnTo>
                  <a:pt x="52754" y="316504"/>
                </a:lnTo>
                <a:lnTo>
                  <a:pt x="2186141" y="316504"/>
                </a:lnTo>
                <a:lnTo>
                  <a:pt x="2206641" y="312358"/>
                </a:lnTo>
                <a:lnTo>
                  <a:pt x="2223393" y="301052"/>
                </a:lnTo>
                <a:lnTo>
                  <a:pt x="2234693" y="284286"/>
                </a:lnTo>
                <a:lnTo>
                  <a:pt x="2238838" y="263758"/>
                </a:lnTo>
                <a:lnTo>
                  <a:pt x="2238838" y="52757"/>
                </a:lnTo>
                <a:lnTo>
                  <a:pt x="2234693" y="32222"/>
                </a:lnTo>
                <a:lnTo>
                  <a:pt x="2223393" y="15452"/>
                </a:lnTo>
                <a:lnTo>
                  <a:pt x="2206641" y="4146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48644" y="2893629"/>
            <a:ext cx="1886585" cy="15748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2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  <a:p>
            <a:pPr marL="12065" marR="5080" indent="635" algn="ctr">
              <a:lnSpc>
                <a:spcPct val="206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Multiple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 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Multilevel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 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050" y="4629150"/>
            <a:ext cx="2562225" cy="51434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4800" y="4629150"/>
            <a:ext cx="2038350" cy="51434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7357" y="4637352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51"/>
                </a:lnTo>
                <a:lnTo>
                  <a:pt x="4146" y="32217"/>
                </a:lnTo>
                <a:lnTo>
                  <a:pt x="0" y="52745"/>
                </a:lnTo>
                <a:lnTo>
                  <a:pt x="0" y="263748"/>
                </a:lnTo>
                <a:lnTo>
                  <a:pt x="4146" y="284275"/>
                </a:lnTo>
                <a:lnTo>
                  <a:pt x="15452" y="301041"/>
                </a:lnTo>
                <a:lnTo>
                  <a:pt x="32221" y="312347"/>
                </a:lnTo>
                <a:lnTo>
                  <a:pt x="52754" y="316493"/>
                </a:lnTo>
                <a:lnTo>
                  <a:pt x="2186141" y="316493"/>
                </a:lnTo>
                <a:lnTo>
                  <a:pt x="2206641" y="312347"/>
                </a:lnTo>
                <a:lnTo>
                  <a:pt x="2223393" y="301041"/>
                </a:lnTo>
                <a:lnTo>
                  <a:pt x="2234693" y="284275"/>
                </a:lnTo>
                <a:lnTo>
                  <a:pt x="2238838" y="263748"/>
                </a:lnTo>
                <a:lnTo>
                  <a:pt x="2238838" y="52745"/>
                </a:lnTo>
                <a:lnTo>
                  <a:pt x="2234693" y="32217"/>
                </a:lnTo>
                <a:lnTo>
                  <a:pt x="2223393" y="15451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title" idx="4294967295"/>
          </p:nvPr>
        </p:nvSpPr>
        <p:spPr>
          <a:xfrm>
            <a:off x="5776913" y="1255713"/>
            <a:ext cx="3367087" cy="44926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spc="-5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spc="-5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class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inherits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550" b="0" spc="-30" dirty="0">
                <a:solidFill>
                  <a:srgbClr val="595959"/>
                </a:solidFill>
                <a:latin typeface="Arial"/>
                <a:cs typeface="Arial"/>
              </a:rPr>
              <a:t>multiple</a:t>
            </a:r>
            <a:r>
              <a:rPr sz="1550" b="0" spc="30" dirty="0">
                <a:solidFill>
                  <a:srgbClr val="595959"/>
                </a:solidFill>
                <a:latin typeface="Arial"/>
                <a:cs typeface="Arial"/>
              </a:rPr>
              <a:t> class</a:t>
            </a:r>
            <a:r>
              <a:rPr sz="2750" b="0" spc="30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800600" y="1981200"/>
            <a:ext cx="942975" cy="94297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25227" y="2046219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812804"/>
                </a:moveTo>
                <a:lnTo>
                  <a:pt x="812804" y="812804"/>
                </a:lnTo>
                <a:lnTo>
                  <a:pt x="812804" y="0"/>
                </a:lnTo>
                <a:lnTo>
                  <a:pt x="0" y="0"/>
                </a:lnTo>
                <a:lnTo>
                  <a:pt x="0" y="812804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848350" y="3609975"/>
            <a:ext cx="952500" cy="94297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880110" y="3674162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812804"/>
                </a:moveTo>
                <a:lnTo>
                  <a:pt x="812791" y="812804"/>
                </a:lnTo>
                <a:lnTo>
                  <a:pt x="812791" y="0"/>
                </a:lnTo>
                <a:lnTo>
                  <a:pt x="0" y="0"/>
                </a:lnTo>
                <a:lnTo>
                  <a:pt x="0" y="81280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274551" y="2859023"/>
            <a:ext cx="1028700" cy="829944"/>
          </a:xfrm>
          <a:custGeom>
            <a:avLst/>
            <a:gdLst/>
            <a:ahLst/>
            <a:cxnLst/>
            <a:rect l="l" t="t" r="r" b="b"/>
            <a:pathLst>
              <a:path w="1028700" h="829945">
                <a:moveTo>
                  <a:pt x="927334" y="56650"/>
                </a:moveTo>
                <a:lnTo>
                  <a:pt x="0" y="800231"/>
                </a:lnTo>
                <a:lnTo>
                  <a:pt x="23896" y="829949"/>
                </a:lnTo>
                <a:lnTo>
                  <a:pt x="951181" y="86384"/>
                </a:lnTo>
                <a:lnTo>
                  <a:pt x="927334" y="56650"/>
                </a:lnTo>
                <a:close/>
              </a:path>
              <a:path w="1028700" h="829945">
                <a:moveTo>
                  <a:pt x="1007864" y="44708"/>
                </a:moveTo>
                <a:lnTo>
                  <a:pt x="942228" y="44708"/>
                </a:lnTo>
                <a:lnTo>
                  <a:pt x="966094" y="74426"/>
                </a:lnTo>
                <a:lnTo>
                  <a:pt x="951181" y="86384"/>
                </a:lnTo>
                <a:lnTo>
                  <a:pt x="974994" y="116073"/>
                </a:lnTo>
                <a:lnTo>
                  <a:pt x="1007864" y="44708"/>
                </a:lnTo>
                <a:close/>
              </a:path>
              <a:path w="1028700" h="829945">
                <a:moveTo>
                  <a:pt x="942228" y="44708"/>
                </a:moveTo>
                <a:lnTo>
                  <a:pt x="927334" y="56650"/>
                </a:lnTo>
                <a:lnTo>
                  <a:pt x="951181" y="86384"/>
                </a:lnTo>
                <a:lnTo>
                  <a:pt x="966094" y="74426"/>
                </a:lnTo>
                <a:lnTo>
                  <a:pt x="942228" y="44708"/>
                </a:lnTo>
                <a:close/>
              </a:path>
              <a:path w="1028700" h="829945">
                <a:moveTo>
                  <a:pt x="1028456" y="0"/>
                </a:moveTo>
                <a:lnTo>
                  <a:pt x="903488" y="26919"/>
                </a:lnTo>
                <a:lnTo>
                  <a:pt x="927334" y="56650"/>
                </a:lnTo>
                <a:lnTo>
                  <a:pt x="942228" y="44708"/>
                </a:lnTo>
                <a:lnTo>
                  <a:pt x="1007864" y="44708"/>
                </a:lnTo>
                <a:lnTo>
                  <a:pt x="1028456" y="0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132837" y="2332035"/>
            <a:ext cx="5734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1200" b="1" spc="-1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867540" y="1981200"/>
            <a:ext cx="942975" cy="94297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896618" y="2046219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812804"/>
                </a:moveTo>
                <a:lnTo>
                  <a:pt x="812791" y="812804"/>
                </a:lnTo>
                <a:lnTo>
                  <a:pt x="812791" y="0"/>
                </a:lnTo>
                <a:lnTo>
                  <a:pt x="0" y="0"/>
                </a:lnTo>
                <a:lnTo>
                  <a:pt x="0" y="812804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231648" y="2859023"/>
            <a:ext cx="1066800" cy="830580"/>
          </a:xfrm>
          <a:custGeom>
            <a:avLst/>
            <a:gdLst/>
            <a:ahLst/>
            <a:cxnLst/>
            <a:rect l="l" t="t" r="r" b="b"/>
            <a:pathLst>
              <a:path w="1066800" h="830579">
                <a:moveTo>
                  <a:pt x="102128" y="54789"/>
                </a:moveTo>
                <a:lnTo>
                  <a:pt x="78809" y="84934"/>
                </a:lnTo>
                <a:lnTo>
                  <a:pt x="1043178" y="830199"/>
                </a:lnTo>
                <a:lnTo>
                  <a:pt x="1066525" y="800100"/>
                </a:lnTo>
                <a:lnTo>
                  <a:pt x="102128" y="54789"/>
                </a:lnTo>
                <a:close/>
              </a:path>
              <a:path w="1066800" h="830579">
                <a:moveTo>
                  <a:pt x="0" y="0"/>
                </a:moveTo>
                <a:lnTo>
                  <a:pt x="55504" y="115062"/>
                </a:lnTo>
                <a:lnTo>
                  <a:pt x="78809" y="84934"/>
                </a:lnTo>
                <a:lnTo>
                  <a:pt x="63733" y="73283"/>
                </a:lnTo>
                <a:lnTo>
                  <a:pt x="87111" y="43184"/>
                </a:lnTo>
                <a:lnTo>
                  <a:pt x="111106" y="43184"/>
                </a:lnTo>
                <a:lnTo>
                  <a:pt x="125455" y="24633"/>
                </a:lnTo>
                <a:lnTo>
                  <a:pt x="0" y="0"/>
                </a:lnTo>
                <a:close/>
              </a:path>
              <a:path w="1066800" h="830579">
                <a:moveTo>
                  <a:pt x="87111" y="43184"/>
                </a:moveTo>
                <a:lnTo>
                  <a:pt x="63733" y="73283"/>
                </a:lnTo>
                <a:lnTo>
                  <a:pt x="78809" y="84934"/>
                </a:lnTo>
                <a:lnTo>
                  <a:pt x="102128" y="54789"/>
                </a:lnTo>
                <a:lnTo>
                  <a:pt x="87111" y="43184"/>
                </a:lnTo>
                <a:close/>
              </a:path>
              <a:path w="1066800" h="830579">
                <a:moveTo>
                  <a:pt x="111106" y="43184"/>
                </a:moveTo>
                <a:lnTo>
                  <a:pt x="87111" y="43184"/>
                </a:lnTo>
                <a:lnTo>
                  <a:pt x="102128" y="54789"/>
                </a:lnTo>
                <a:lnTo>
                  <a:pt x="111106" y="43184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822825" y="2351339"/>
            <a:ext cx="5829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58504" y="4692360"/>
            <a:ext cx="14681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Hybrid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36314" y="4713148"/>
            <a:ext cx="58293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80993"/>
            <a:ext cx="3232785" cy="1332865"/>
          </a:xfrm>
          <a:custGeom>
            <a:avLst/>
            <a:gdLst/>
            <a:ahLst/>
            <a:cxnLst/>
            <a:rect l="l" t="t" r="r" b="b"/>
            <a:pathLst>
              <a:path w="3232785" h="1332864">
                <a:moveTo>
                  <a:pt x="0" y="1332869"/>
                </a:moveTo>
                <a:lnTo>
                  <a:pt x="3232282" y="1332869"/>
                </a:lnTo>
                <a:lnTo>
                  <a:pt x="3232282" y="0"/>
                </a:lnTo>
                <a:lnTo>
                  <a:pt x="0" y="0"/>
                </a:lnTo>
                <a:lnTo>
                  <a:pt x="0" y="1332869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025" y="1340164"/>
            <a:ext cx="2707640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595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07487" y="776918"/>
            <a:ext cx="35623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What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is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Multiple</a:t>
            </a:r>
            <a:r>
              <a:rPr sz="2000" b="1" spc="-37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Inheritance?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050" y="2857500"/>
            <a:ext cx="2562225" cy="6381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4325" y="2847975"/>
            <a:ext cx="2019300" cy="6953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7357" y="2859023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6"/>
                </a:lnTo>
                <a:lnTo>
                  <a:pt x="4146" y="32202"/>
                </a:lnTo>
                <a:lnTo>
                  <a:pt x="0" y="52709"/>
                </a:lnTo>
                <a:lnTo>
                  <a:pt x="0" y="263652"/>
                </a:lnTo>
                <a:lnTo>
                  <a:pt x="4146" y="284227"/>
                </a:lnTo>
                <a:lnTo>
                  <a:pt x="15452" y="301018"/>
                </a:lnTo>
                <a:lnTo>
                  <a:pt x="32221" y="312332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2"/>
                </a:lnTo>
                <a:lnTo>
                  <a:pt x="2223393" y="301018"/>
                </a:lnTo>
                <a:lnTo>
                  <a:pt x="2234693" y="284227"/>
                </a:lnTo>
                <a:lnTo>
                  <a:pt x="2238838" y="263652"/>
                </a:lnTo>
                <a:lnTo>
                  <a:pt x="2238838" y="52709"/>
                </a:lnTo>
                <a:lnTo>
                  <a:pt x="2234693" y="32202"/>
                </a:lnTo>
                <a:lnTo>
                  <a:pt x="2223393" y="15446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50" y="3305175"/>
            <a:ext cx="2562225" cy="6381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7175" y="3305175"/>
            <a:ext cx="2133600" cy="6953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7357" y="3310508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7"/>
                </a:lnTo>
                <a:lnTo>
                  <a:pt x="15452" y="15461"/>
                </a:lnTo>
                <a:lnTo>
                  <a:pt x="4146" y="32252"/>
                </a:lnTo>
                <a:lnTo>
                  <a:pt x="0" y="52827"/>
                </a:lnTo>
                <a:lnTo>
                  <a:pt x="0" y="263783"/>
                </a:lnTo>
                <a:lnTo>
                  <a:pt x="4146" y="284282"/>
                </a:lnTo>
                <a:lnTo>
                  <a:pt x="15452" y="301034"/>
                </a:lnTo>
                <a:lnTo>
                  <a:pt x="32221" y="312334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4"/>
                </a:lnTo>
                <a:lnTo>
                  <a:pt x="2223393" y="301034"/>
                </a:lnTo>
                <a:lnTo>
                  <a:pt x="2234693" y="284282"/>
                </a:lnTo>
                <a:lnTo>
                  <a:pt x="2238838" y="263783"/>
                </a:lnTo>
                <a:lnTo>
                  <a:pt x="2238838" y="52827"/>
                </a:lnTo>
                <a:lnTo>
                  <a:pt x="2234693" y="32252"/>
                </a:lnTo>
                <a:lnTo>
                  <a:pt x="2223393" y="15461"/>
                </a:lnTo>
                <a:lnTo>
                  <a:pt x="2206641" y="4147"/>
                </a:lnTo>
                <a:lnTo>
                  <a:pt x="218614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50" y="3733800"/>
            <a:ext cx="2562225" cy="6381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0500" y="3724275"/>
            <a:ext cx="2266950" cy="6953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7357" y="3736216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5"/>
                </a:lnTo>
                <a:lnTo>
                  <a:pt x="4146" y="32197"/>
                </a:lnTo>
                <a:lnTo>
                  <a:pt x="0" y="52696"/>
                </a:lnTo>
                <a:lnTo>
                  <a:pt x="0" y="263722"/>
                </a:lnTo>
                <a:lnTo>
                  <a:pt x="4146" y="284257"/>
                </a:lnTo>
                <a:lnTo>
                  <a:pt x="15452" y="301026"/>
                </a:lnTo>
                <a:lnTo>
                  <a:pt x="32221" y="312333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3"/>
                </a:lnTo>
                <a:lnTo>
                  <a:pt x="2223393" y="301026"/>
                </a:lnTo>
                <a:lnTo>
                  <a:pt x="2234693" y="284257"/>
                </a:lnTo>
                <a:lnTo>
                  <a:pt x="2238838" y="263722"/>
                </a:lnTo>
                <a:lnTo>
                  <a:pt x="2238838" y="52696"/>
                </a:lnTo>
                <a:lnTo>
                  <a:pt x="2234693" y="32197"/>
                </a:lnTo>
                <a:lnTo>
                  <a:pt x="2223393" y="15445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50" y="4181475"/>
            <a:ext cx="2562225" cy="6381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250" y="4181475"/>
            <a:ext cx="2457450" cy="6953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7357" y="4188189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6"/>
                </a:lnTo>
                <a:lnTo>
                  <a:pt x="15452" y="15452"/>
                </a:lnTo>
                <a:lnTo>
                  <a:pt x="4146" y="32222"/>
                </a:lnTo>
                <a:lnTo>
                  <a:pt x="0" y="52757"/>
                </a:lnTo>
                <a:lnTo>
                  <a:pt x="0" y="263758"/>
                </a:lnTo>
                <a:lnTo>
                  <a:pt x="4146" y="284286"/>
                </a:lnTo>
                <a:lnTo>
                  <a:pt x="15452" y="301052"/>
                </a:lnTo>
                <a:lnTo>
                  <a:pt x="32221" y="312358"/>
                </a:lnTo>
                <a:lnTo>
                  <a:pt x="52754" y="316504"/>
                </a:lnTo>
                <a:lnTo>
                  <a:pt x="2186141" y="316504"/>
                </a:lnTo>
                <a:lnTo>
                  <a:pt x="2206641" y="312358"/>
                </a:lnTo>
                <a:lnTo>
                  <a:pt x="2223393" y="301052"/>
                </a:lnTo>
                <a:lnTo>
                  <a:pt x="2234693" y="284286"/>
                </a:lnTo>
                <a:lnTo>
                  <a:pt x="2238838" y="263758"/>
                </a:lnTo>
                <a:lnTo>
                  <a:pt x="2238838" y="52757"/>
                </a:lnTo>
                <a:lnTo>
                  <a:pt x="2234693" y="32222"/>
                </a:lnTo>
                <a:lnTo>
                  <a:pt x="2223393" y="15452"/>
                </a:lnTo>
                <a:lnTo>
                  <a:pt x="2206641" y="4146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8644" y="2893629"/>
            <a:ext cx="1886585" cy="15748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2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  <a:p>
            <a:pPr marL="12065" marR="5080" indent="635" algn="ctr">
              <a:lnSpc>
                <a:spcPct val="206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Multiple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 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Multilevel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 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9050" y="4629150"/>
            <a:ext cx="2562225" cy="51434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4800" y="4629150"/>
            <a:ext cx="2038350" cy="51434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7357" y="4637352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51"/>
                </a:lnTo>
                <a:lnTo>
                  <a:pt x="4146" y="32217"/>
                </a:lnTo>
                <a:lnTo>
                  <a:pt x="0" y="52745"/>
                </a:lnTo>
                <a:lnTo>
                  <a:pt x="0" y="263748"/>
                </a:lnTo>
                <a:lnTo>
                  <a:pt x="4146" y="284275"/>
                </a:lnTo>
                <a:lnTo>
                  <a:pt x="15452" y="301041"/>
                </a:lnTo>
                <a:lnTo>
                  <a:pt x="32221" y="312347"/>
                </a:lnTo>
                <a:lnTo>
                  <a:pt x="52754" y="316493"/>
                </a:lnTo>
                <a:lnTo>
                  <a:pt x="2186141" y="316493"/>
                </a:lnTo>
                <a:lnTo>
                  <a:pt x="2206641" y="312347"/>
                </a:lnTo>
                <a:lnTo>
                  <a:pt x="2223393" y="301041"/>
                </a:lnTo>
                <a:lnTo>
                  <a:pt x="2234693" y="284275"/>
                </a:lnTo>
                <a:lnTo>
                  <a:pt x="2238838" y="263748"/>
                </a:lnTo>
                <a:lnTo>
                  <a:pt x="2238838" y="52745"/>
                </a:lnTo>
                <a:lnTo>
                  <a:pt x="2234693" y="32217"/>
                </a:lnTo>
                <a:lnTo>
                  <a:pt x="2223393" y="15451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title" idx="4294967295"/>
          </p:nvPr>
        </p:nvSpPr>
        <p:spPr>
          <a:xfrm>
            <a:off x="5786438" y="1255713"/>
            <a:ext cx="3357562" cy="44926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spc="-2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spc="-20" dirty="0">
                <a:solidFill>
                  <a:srgbClr val="595959"/>
                </a:solidFill>
                <a:latin typeface="Arial"/>
                <a:cs typeface="Arial"/>
              </a:rPr>
              <a:t>Multiple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class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inherits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550" b="0" spc="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0" spc="30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2750" b="0" spc="30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24372" y="2375224"/>
            <a:ext cx="3652520" cy="1600835"/>
          </a:xfrm>
          <a:custGeom>
            <a:avLst/>
            <a:gdLst/>
            <a:ahLst/>
            <a:cxnLst/>
            <a:rect l="l" t="t" r="r" b="b"/>
            <a:pathLst>
              <a:path w="3652520" h="1600835">
                <a:moveTo>
                  <a:pt x="0" y="1600462"/>
                </a:moveTo>
                <a:lnTo>
                  <a:pt x="3651991" y="1600462"/>
                </a:lnTo>
                <a:lnTo>
                  <a:pt x="3651991" y="0"/>
                </a:lnTo>
                <a:lnTo>
                  <a:pt x="0" y="0"/>
                </a:lnTo>
                <a:lnTo>
                  <a:pt x="0" y="1600462"/>
                </a:lnTo>
                <a:close/>
              </a:path>
            </a:pathLst>
          </a:custGeom>
          <a:solidFill>
            <a:srgbClr val="2F233B">
              <a:alpha val="3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606802" y="2403155"/>
            <a:ext cx="3472815" cy="15220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1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Consolas"/>
                <a:cs typeface="Consolas"/>
              </a:rPr>
              <a:t>A:</a:t>
            </a:r>
            <a:endParaRPr sz="1400">
              <a:latin typeface="Consolas"/>
              <a:cs typeface="Consolas"/>
            </a:endParaRPr>
          </a:p>
          <a:p>
            <a:pPr marL="12700" marR="2569845" indent="486409">
              <a:lnSpc>
                <a:spcPts val="1650"/>
              </a:lnSpc>
              <a:spcBef>
                <a:spcPts val="65"/>
              </a:spcBef>
            </a:pP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p</a:t>
            </a:r>
            <a:r>
              <a:rPr sz="1400" spc="55" dirty="0">
                <a:solidFill>
                  <a:srgbClr val="FFFFFF"/>
                </a:solidFill>
                <a:latin typeface="Consolas"/>
                <a:cs typeface="Consolas"/>
              </a:rPr>
              <a:t>a</a:t>
            </a: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s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s </a:t>
            </a:r>
            <a:r>
              <a:rPr sz="1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10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Consolas"/>
                <a:cs typeface="Consolas"/>
              </a:rPr>
              <a:t>B:</a:t>
            </a:r>
            <a:endParaRPr sz="1400">
              <a:latin typeface="Consolas"/>
              <a:cs typeface="Consolas"/>
            </a:endParaRPr>
          </a:p>
          <a:p>
            <a:pPr marL="12700" marR="2177415" indent="486409">
              <a:lnSpc>
                <a:spcPts val="1650"/>
              </a:lnSpc>
              <a:spcBef>
                <a:spcPts val="85"/>
              </a:spcBef>
            </a:pP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pass 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13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C(A,B):</a:t>
            </a:r>
            <a:endParaRPr sz="1400">
              <a:latin typeface="Consolas"/>
              <a:cs typeface="Consolas"/>
            </a:endParaRPr>
          </a:p>
          <a:p>
            <a:pPr marL="498475">
              <a:lnSpc>
                <a:spcPts val="1664"/>
              </a:lnSpc>
            </a:pP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pass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issubclass(C,A) 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and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issubclass(C,B)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171840" y="1885950"/>
            <a:ext cx="2343150" cy="80962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05190" y="1962150"/>
            <a:ext cx="2133600" cy="69532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24372" y="1892045"/>
            <a:ext cx="2025650" cy="483234"/>
          </a:xfrm>
          <a:custGeom>
            <a:avLst/>
            <a:gdLst/>
            <a:ahLst/>
            <a:cxnLst/>
            <a:rect l="l" t="t" r="r" b="b"/>
            <a:pathLst>
              <a:path w="2025650" h="483235">
                <a:moveTo>
                  <a:pt x="1945020" y="0"/>
                </a:moveTo>
                <a:lnTo>
                  <a:pt x="80650" y="0"/>
                </a:lnTo>
                <a:lnTo>
                  <a:pt x="49249" y="6311"/>
                </a:lnTo>
                <a:lnTo>
                  <a:pt x="23614" y="23541"/>
                </a:lnTo>
                <a:lnTo>
                  <a:pt x="6335" y="49133"/>
                </a:lnTo>
                <a:lnTo>
                  <a:pt x="0" y="80528"/>
                </a:lnTo>
                <a:lnTo>
                  <a:pt x="0" y="402717"/>
                </a:lnTo>
                <a:lnTo>
                  <a:pt x="6335" y="434049"/>
                </a:lnTo>
                <a:lnTo>
                  <a:pt x="23614" y="459645"/>
                </a:lnTo>
                <a:lnTo>
                  <a:pt x="49249" y="476907"/>
                </a:lnTo>
                <a:lnTo>
                  <a:pt x="80650" y="483239"/>
                </a:lnTo>
                <a:lnTo>
                  <a:pt x="1945020" y="483239"/>
                </a:lnTo>
                <a:lnTo>
                  <a:pt x="1976346" y="476907"/>
                </a:lnTo>
                <a:lnTo>
                  <a:pt x="2001934" y="459645"/>
                </a:lnTo>
                <a:lnTo>
                  <a:pt x="2019189" y="434049"/>
                </a:lnTo>
                <a:lnTo>
                  <a:pt x="2025517" y="402717"/>
                </a:lnTo>
                <a:lnTo>
                  <a:pt x="2025517" y="80528"/>
                </a:lnTo>
                <a:lnTo>
                  <a:pt x="2019189" y="49133"/>
                </a:lnTo>
                <a:lnTo>
                  <a:pt x="2001934" y="23541"/>
                </a:lnTo>
                <a:lnTo>
                  <a:pt x="1976346" y="6311"/>
                </a:lnTo>
                <a:lnTo>
                  <a:pt x="1945020" y="0"/>
                </a:lnTo>
                <a:close/>
              </a:path>
            </a:pathLst>
          </a:custGeom>
          <a:solidFill>
            <a:srgbClr val="5F477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755392" y="2008439"/>
            <a:ext cx="156464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8504" y="4692360"/>
            <a:ext cx="14681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Hybrid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33375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232785" cy="1381125"/>
          </a:xfrm>
          <a:custGeom>
            <a:avLst/>
            <a:gdLst/>
            <a:ahLst/>
            <a:cxnLst/>
            <a:rect l="l" t="t" r="r" b="b"/>
            <a:pathLst>
              <a:path w="3232785" h="1381125">
                <a:moveTo>
                  <a:pt x="0" y="1380993"/>
                </a:moveTo>
                <a:lnTo>
                  <a:pt x="3232282" y="1380993"/>
                </a:lnTo>
                <a:lnTo>
                  <a:pt x="323228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232785" cy="2430145"/>
          </a:xfrm>
          <a:custGeom>
            <a:avLst/>
            <a:gdLst/>
            <a:ahLst/>
            <a:cxnLst/>
            <a:rect l="l" t="t" r="r" b="b"/>
            <a:pathLst>
              <a:path w="3232785" h="2430145">
                <a:moveTo>
                  <a:pt x="0" y="2429637"/>
                </a:moveTo>
                <a:lnTo>
                  <a:pt x="3232282" y="2429637"/>
                </a:lnTo>
                <a:lnTo>
                  <a:pt x="3232282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232785" cy="1332865"/>
          </a:xfrm>
          <a:custGeom>
            <a:avLst/>
            <a:gdLst/>
            <a:ahLst/>
            <a:cxnLst/>
            <a:rect l="l" t="t" r="r" b="b"/>
            <a:pathLst>
              <a:path w="3232785" h="1332864">
                <a:moveTo>
                  <a:pt x="0" y="1332869"/>
                </a:moveTo>
                <a:lnTo>
                  <a:pt x="3232282" y="1332869"/>
                </a:lnTo>
                <a:lnTo>
                  <a:pt x="3232282" y="0"/>
                </a:lnTo>
                <a:lnTo>
                  <a:pt x="0" y="0"/>
                </a:lnTo>
                <a:lnTo>
                  <a:pt x="0" y="1332869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025" y="1340164"/>
            <a:ext cx="2707640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595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11983" y="776918"/>
            <a:ext cx="37630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What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is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Multilevel</a:t>
            </a:r>
            <a:r>
              <a:rPr sz="2000" b="1" spc="-3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Inheritance?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50" y="2857500"/>
            <a:ext cx="2562225" cy="6381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4325" y="2847975"/>
            <a:ext cx="2019300" cy="6953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7357" y="2859023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6"/>
                </a:lnTo>
                <a:lnTo>
                  <a:pt x="4146" y="32202"/>
                </a:lnTo>
                <a:lnTo>
                  <a:pt x="0" y="52709"/>
                </a:lnTo>
                <a:lnTo>
                  <a:pt x="0" y="263652"/>
                </a:lnTo>
                <a:lnTo>
                  <a:pt x="4146" y="284227"/>
                </a:lnTo>
                <a:lnTo>
                  <a:pt x="15452" y="301018"/>
                </a:lnTo>
                <a:lnTo>
                  <a:pt x="32221" y="312332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2"/>
                </a:lnTo>
                <a:lnTo>
                  <a:pt x="2223393" y="301018"/>
                </a:lnTo>
                <a:lnTo>
                  <a:pt x="2234693" y="284227"/>
                </a:lnTo>
                <a:lnTo>
                  <a:pt x="2238838" y="263652"/>
                </a:lnTo>
                <a:lnTo>
                  <a:pt x="2238838" y="52709"/>
                </a:lnTo>
                <a:lnTo>
                  <a:pt x="2234693" y="32202"/>
                </a:lnTo>
                <a:lnTo>
                  <a:pt x="2223393" y="15446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50" y="3305175"/>
            <a:ext cx="2562225" cy="6381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7175" y="3305175"/>
            <a:ext cx="2133600" cy="6953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7357" y="3310508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7"/>
                </a:lnTo>
                <a:lnTo>
                  <a:pt x="15452" y="15461"/>
                </a:lnTo>
                <a:lnTo>
                  <a:pt x="4146" y="32252"/>
                </a:lnTo>
                <a:lnTo>
                  <a:pt x="0" y="52827"/>
                </a:lnTo>
                <a:lnTo>
                  <a:pt x="0" y="263783"/>
                </a:lnTo>
                <a:lnTo>
                  <a:pt x="4146" y="284282"/>
                </a:lnTo>
                <a:lnTo>
                  <a:pt x="15452" y="301034"/>
                </a:lnTo>
                <a:lnTo>
                  <a:pt x="32221" y="312334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4"/>
                </a:lnTo>
                <a:lnTo>
                  <a:pt x="2223393" y="301034"/>
                </a:lnTo>
                <a:lnTo>
                  <a:pt x="2234693" y="284282"/>
                </a:lnTo>
                <a:lnTo>
                  <a:pt x="2238838" y="263783"/>
                </a:lnTo>
                <a:lnTo>
                  <a:pt x="2238838" y="52827"/>
                </a:lnTo>
                <a:lnTo>
                  <a:pt x="2234693" y="32252"/>
                </a:lnTo>
                <a:lnTo>
                  <a:pt x="2223393" y="15461"/>
                </a:lnTo>
                <a:lnTo>
                  <a:pt x="2206641" y="4147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10879" y="2893629"/>
            <a:ext cx="1563370" cy="695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050" y="3733800"/>
            <a:ext cx="2562225" cy="6381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500" y="3724275"/>
            <a:ext cx="2266950" cy="6953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7357" y="3736216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5"/>
                </a:lnTo>
                <a:lnTo>
                  <a:pt x="4146" y="32197"/>
                </a:lnTo>
                <a:lnTo>
                  <a:pt x="0" y="52696"/>
                </a:lnTo>
                <a:lnTo>
                  <a:pt x="0" y="263722"/>
                </a:lnTo>
                <a:lnTo>
                  <a:pt x="4146" y="284257"/>
                </a:lnTo>
                <a:lnTo>
                  <a:pt x="15452" y="301026"/>
                </a:lnTo>
                <a:lnTo>
                  <a:pt x="32221" y="312333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3"/>
                </a:lnTo>
                <a:lnTo>
                  <a:pt x="2223393" y="301026"/>
                </a:lnTo>
                <a:lnTo>
                  <a:pt x="2234693" y="284257"/>
                </a:lnTo>
                <a:lnTo>
                  <a:pt x="2238838" y="263722"/>
                </a:lnTo>
                <a:lnTo>
                  <a:pt x="2238838" y="52696"/>
                </a:lnTo>
                <a:lnTo>
                  <a:pt x="2234693" y="32197"/>
                </a:lnTo>
                <a:lnTo>
                  <a:pt x="2223393" y="15445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50" y="4181475"/>
            <a:ext cx="2562225" cy="6381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5250" y="4181475"/>
            <a:ext cx="2457450" cy="69532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7357" y="4188189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6"/>
                </a:lnTo>
                <a:lnTo>
                  <a:pt x="15452" y="15452"/>
                </a:lnTo>
                <a:lnTo>
                  <a:pt x="4146" y="32222"/>
                </a:lnTo>
                <a:lnTo>
                  <a:pt x="0" y="52757"/>
                </a:lnTo>
                <a:lnTo>
                  <a:pt x="0" y="263758"/>
                </a:lnTo>
                <a:lnTo>
                  <a:pt x="4146" y="284286"/>
                </a:lnTo>
                <a:lnTo>
                  <a:pt x="15452" y="301052"/>
                </a:lnTo>
                <a:lnTo>
                  <a:pt x="32221" y="312358"/>
                </a:lnTo>
                <a:lnTo>
                  <a:pt x="52754" y="316504"/>
                </a:lnTo>
                <a:lnTo>
                  <a:pt x="2186141" y="316504"/>
                </a:lnTo>
                <a:lnTo>
                  <a:pt x="2206641" y="312358"/>
                </a:lnTo>
                <a:lnTo>
                  <a:pt x="2223393" y="301052"/>
                </a:lnTo>
                <a:lnTo>
                  <a:pt x="2234693" y="284286"/>
                </a:lnTo>
                <a:lnTo>
                  <a:pt x="2238838" y="263758"/>
                </a:lnTo>
                <a:lnTo>
                  <a:pt x="2238838" y="52757"/>
                </a:lnTo>
                <a:lnTo>
                  <a:pt x="2234693" y="32222"/>
                </a:lnTo>
                <a:lnTo>
                  <a:pt x="2223393" y="15452"/>
                </a:lnTo>
                <a:lnTo>
                  <a:pt x="2206641" y="4146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48644" y="3772537"/>
            <a:ext cx="1886585" cy="695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Multilevel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9050" y="4629150"/>
            <a:ext cx="2562225" cy="51434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4800" y="4629150"/>
            <a:ext cx="2038350" cy="51434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77357" y="4637352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51"/>
                </a:lnTo>
                <a:lnTo>
                  <a:pt x="4146" y="32217"/>
                </a:lnTo>
                <a:lnTo>
                  <a:pt x="0" y="52745"/>
                </a:lnTo>
                <a:lnTo>
                  <a:pt x="0" y="263748"/>
                </a:lnTo>
                <a:lnTo>
                  <a:pt x="4146" y="284275"/>
                </a:lnTo>
                <a:lnTo>
                  <a:pt x="15452" y="301041"/>
                </a:lnTo>
                <a:lnTo>
                  <a:pt x="32221" y="312347"/>
                </a:lnTo>
                <a:lnTo>
                  <a:pt x="52754" y="316493"/>
                </a:lnTo>
                <a:lnTo>
                  <a:pt x="2186141" y="316493"/>
                </a:lnTo>
                <a:lnTo>
                  <a:pt x="2206641" y="312347"/>
                </a:lnTo>
                <a:lnTo>
                  <a:pt x="2223393" y="301041"/>
                </a:lnTo>
                <a:lnTo>
                  <a:pt x="2234693" y="284275"/>
                </a:lnTo>
                <a:lnTo>
                  <a:pt x="2238838" y="263748"/>
                </a:lnTo>
                <a:lnTo>
                  <a:pt x="2238838" y="52745"/>
                </a:lnTo>
                <a:lnTo>
                  <a:pt x="2234693" y="32217"/>
                </a:lnTo>
                <a:lnTo>
                  <a:pt x="2223393" y="15451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title" idx="4294967295"/>
          </p:nvPr>
        </p:nvSpPr>
        <p:spPr>
          <a:xfrm>
            <a:off x="4222750" y="1228725"/>
            <a:ext cx="4921250" cy="8794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833245" marR="5080" indent="-1821180">
              <a:lnSpc>
                <a:spcPct val="102400"/>
              </a:lnSpc>
              <a:spcBef>
                <a:spcPts val="50"/>
              </a:spcBef>
            </a:pPr>
            <a:r>
              <a:rPr sz="2750" b="0" spc="-1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spc="-10" dirty="0">
                <a:solidFill>
                  <a:srgbClr val="595959"/>
                </a:solidFill>
                <a:latin typeface="Arial"/>
                <a:cs typeface="Arial"/>
              </a:rPr>
              <a:t>One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class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inherits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550" b="0" spc="-5" dirty="0">
                <a:solidFill>
                  <a:srgbClr val="595959"/>
                </a:solidFill>
                <a:latin typeface="Arial"/>
                <a:cs typeface="Arial"/>
              </a:rPr>
              <a:t>another, </a:t>
            </a:r>
            <a:r>
              <a:rPr sz="1550" b="0" spc="10" dirty="0">
                <a:solidFill>
                  <a:srgbClr val="595959"/>
                </a:solidFill>
                <a:latin typeface="Arial"/>
                <a:cs typeface="Arial"/>
              </a:rPr>
              <a:t>which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turn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inherits 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1550" b="0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another</a:t>
            </a:r>
            <a:r>
              <a:rPr sz="2750" b="0" spc="5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30039" y="2533334"/>
            <a:ext cx="94741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Parent</a:t>
            </a:r>
            <a:r>
              <a:rPr sz="1200" b="1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58614" y="3498527"/>
            <a:ext cx="13754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Child/Parent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915009" y="2219325"/>
            <a:ext cx="733425" cy="7239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940948" y="2282689"/>
            <a:ext cx="598805" cy="598805"/>
          </a:xfrm>
          <a:custGeom>
            <a:avLst/>
            <a:gdLst/>
            <a:ahLst/>
            <a:cxnLst/>
            <a:rect l="l" t="t" r="r" b="b"/>
            <a:pathLst>
              <a:path w="598804" h="598805">
                <a:moveTo>
                  <a:pt x="0" y="598301"/>
                </a:moveTo>
                <a:lnTo>
                  <a:pt x="598313" y="598301"/>
                </a:lnTo>
                <a:lnTo>
                  <a:pt x="598313" y="0"/>
                </a:lnTo>
                <a:lnTo>
                  <a:pt x="0" y="0"/>
                </a:lnTo>
                <a:lnTo>
                  <a:pt x="0" y="598301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915009" y="3267075"/>
            <a:ext cx="733425" cy="73342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946130" y="3331046"/>
            <a:ext cx="598805" cy="598805"/>
          </a:xfrm>
          <a:custGeom>
            <a:avLst/>
            <a:gdLst/>
            <a:ahLst/>
            <a:cxnLst/>
            <a:rect l="l" t="t" r="r" b="b"/>
            <a:pathLst>
              <a:path w="598804" h="598804">
                <a:moveTo>
                  <a:pt x="0" y="598313"/>
                </a:moveTo>
                <a:lnTo>
                  <a:pt x="598313" y="598313"/>
                </a:lnTo>
                <a:lnTo>
                  <a:pt x="598313" y="0"/>
                </a:lnTo>
                <a:lnTo>
                  <a:pt x="0" y="0"/>
                </a:lnTo>
                <a:lnTo>
                  <a:pt x="0" y="598313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84270" y="2880990"/>
            <a:ext cx="114300" cy="450850"/>
          </a:xfrm>
          <a:custGeom>
            <a:avLst/>
            <a:gdLst/>
            <a:ahLst/>
            <a:cxnLst/>
            <a:rect l="l" t="t" r="r" b="b"/>
            <a:pathLst>
              <a:path w="114300" h="450850">
                <a:moveTo>
                  <a:pt x="76174" y="114094"/>
                </a:moveTo>
                <a:lnTo>
                  <a:pt x="38074" y="114518"/>
                </a:lnTo>
                <a:lnTo>
                  <a:pt x="41910" y="450223"/>
                </a:lnTo>
                <a:lnTo>
                  <a:pt x="80010" y="449842"/>
                </a:lnTo>
                <a:lnTo>
                  <a:pt x="76174" y="114094"/>
                </a:lnTo>
                <a:close/>
              </a:path>
              <a:path w="114300" h="450850">
                <a:moveTo>
                  <a:pt x="55869" y="0"/>
                </a:moveTo>
                <a:lnTo>
                  <a:pt x="0" y="114943"/>
                </a:lnTo>
                <a:lnTo>
                  <a:pt x="38074" y="114518"/>
                </a:lnTo>
                <a:lnTo>
                  <a:pt x="37856" y="95381"/>
                </a:lnTo>
                <a:lnTo>
                  <a:pt x="104703" y="95000"/>
                </a:lnTo>
                <a:lnTo>
                  <a:pt x="55869" y="0"/>
                </a:lnTo>
                <a:close/>
              </a:path>
              <a:path w="114300" h="450850">
                <a:moveTo>
                  <a:pt x="75956" y="95000"/>
                </a:moveTo>
                <a:lnTo>
                  <a:pt x="37856" y="95381"/>
                </a:lnTo>
                <a:lnTo>
                  <a:pt x="38074" y="114518"/>
                </a:lnTo>
                <a:lnTo>
                  <a:pt x="76174" y="114094"/>
                </a:lnTo>
                <a:lnTo>
                  <a:pt x="75956" y="95000"/>
                </a:lnTo>
                <a:close/>
              </a:path>
              <a:path w="114300" h="450850">
                <a:moveTo>
                  <a:pt x="104703" y="95000"/>
                </a:moveTo>
                <a:lnTo>
                  <a:pt x="75956" y="95000"/>
                </a:lnTo>
                <a:lnTo>
                  <a:pt x="76174" y="114094"/>
                </a:lnTo>
                <a:lnTo>
                  <a:pt x="114300" y="113669"/>
                </a:lnTo>
                <a:lnTo>
                  <a:pt x="104703" y="95000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15009" y="4314825"/>
            <a:ext cx="733425" cy="73342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946130" y="4380476"/>
            <a:ext cx="598805" cy="598805"/>
          </a:xfrm>
          <a:custGeom>
            <a:avLst/>
            <a:gdLst/>
            <a:ahLst/>
            <a:cxnLst/>
            <a:rect l="l" t="t" r="r" b="b"/>
            <a:pathLst>
              <a:path w="598804" h="598804">
                <a:moveTo>
                  <a:pt x="0" y="598301"/>
                </a:moveTo>
                <a:lnTo>
                  <a:pt x="598313" y="598301"/>
                </a:lnTo>
                <a:lnTo>
                  <a:pt x="598313" y="0"/>
                </a:lnTo>
                <a:lnTo>
                  <a:pt x="0" y="0"/>
                </a:lnTo>
                <a:lnTo>
                  <a:pt x="0" y="598301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184270" y="3929359"/>
            <a:ext cx="114300" cy="450850"/>
          </a:xfrm>
          <a:custGeom>
            <a:avLst/>
            <a:gdLst/>
            <a:ahLst/>
            <a:cxnLst/>
            <a:rect l="l" t="t" r="r" b="b"/>
            <a:pathLst>
              <a:path w="114300" h="450850">
                <a:moveTo>
                  <a:pt x="76173" y="114073"/>
                </a:moveTo>
                <a:lnTo>
                  <a:pt x="38073" y="114502"/>
                </a:lnTo>
                <a:lnTo>
                  <a:pt x="41910" y="450305"/>
                </a:lnTo>
                <a:lnTo>
                  <a:pt x="80010" y="449878"/>
                </a:lnTo>
                <a:lnTo>
                  <a:pt x="76173" y="114073"/>
                </a:lnTo>
                <a:close/>
              </a:path>
              <a:path w="114300" h="450850">
                <a:moveTo>
                  <a:pt x="55869" y="0"/>
                </a:moveTo>
                <a:lnTo>
                  <a:pt x="0" y="114930"/>
                </a:lnTo>
                <a:lnTo>
                  <a:pt x="38073" y="114502"/>
                </a:lnTo>
                <a:lnTo>
                  <a:pt x="37856" y="95463"/>
                </a:lnTo>
                <a:lnTo>
                  <a:pt x="75956" y="95024"/>
                </a:lnTo>
                <a:lnTo>
                  <a:pt x="104726" y="95024"/>
                </a:lnTo>
                <a:lnTo>
                  <a:pt x="55869" y="0"/>
                </a:lnTo>
                <a:close/>
              </a:path>
              <a:path w="114300" h="450850">
                <a:moveTo>
                  <a:pt x="75956" y="95024"/>
                </a:moveTo>
                <a:lnTo>
                  <a:pt x="37856" y="95463"/>
                </a:lnTo>
                <a:lnTo>
                  <a:pt x="38073" y="114502"/>
                </a:lnTo>
                <a:lnTo>
                  <a:pt x="76173" y="114073"/>
                </a:lnTo>
                <a:lnTo>
                  <a:pt x="75956" y="95024"/>
                </a:lnTo>
                <a:close/>
              </a:path>
              <a:path w="114300" h="450850">
                <a:moveTo>
                  <a:pt x="104726" y="95024"/>
                </a:moveTo>
                <a:lnTo>
                  <a:pt x="75956" y="95024"/>
                </a:lnTo>
                <a:lnTo>
                  <a:pt x="76173" y="114073"/>
                </a:lnTo>
                <a:lnTo>
                  <a:pt x="114300" y="113644"/>
                </a:lnTo>
                <a:lnTo>
                  <a:pt x="104726" y="95024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658615" y="4492628"/>
            <a:ext cx="86169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Child</a:t>
            </a:r>
            <a:r>
              <a:rPr sz="1200" b="1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58504" y="4692360"/>
            <a:ext cx="14681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Hybrid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42" name="Slide Number Placeholder 4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33375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232785" cy="1381125"/>
          </a:xfrm>
          <a:custGeom>
            <a:avLst/>
            <a:gdLst/>
            <a:ahLst/>
            <a:cxnLst/>
            <a:rect l="l" t="t" r="r" b="b"/>
            <a:pathLst>
              <a:path w="3232785" h="1381125">
                <a:moveTo>
                  <a:pt x="0" y="1380993"/>
                </a:moveTo>
                <a:lnTo>
                  <a:pt x="3232282" y="1380993"/>
                </a:lnTo>
                <a:lnTo>
                  <a:pt x="323228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232785" cy="2430145"/>
          </a:xfrm>
          <a:custGeom>
            <a:avLst/>
            <a:gdLst/>
            <a:ahLst/>
            <a:cxnLst/>
            <a:rect l="l" t="t" r="r" b="b"/>
            <a:pathLst>
              <a:path w="3232785" h="2430145">
                <a:moveTo>
                  <a:pt x="0" y="2429637"/>
                </a:moveTo>
                <a:lnTo>
                  <a:pt x="3232282" y="2429637"/>
                </a:lnTo>
                <a:lnTo>
                  <a:pt x="3232282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232785" cy="1332865"/>
          </a:xfrm>
          <a:custGeom>
            <a:avLst/>
            <a:gdLst/>
            <a:ahLst/>
            <a:cxnLst/>
            <a:rect l="l" t="t" r="r" b="b"/>
            <a:pathLst>
              <a:path w="3232785" h="1332864">
                <a:moveTo>
                  <a:pt x="0" y="1332869"/>
                </a:moveTo>
                <a:lnTo>
                  <a:pt x="3232282" y="1332869"/>
                </a:lnTo>
                <a:lnTo>
                  <a:pt x="3232282" y="0"/>
                </a:lnTo>
                <a:lnTo>
                  <a:pt x="0" y="0"/>
                </a:lnTo>
                <a:lnTo>
                  <a:pt x="0" y="1332869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025" y="1340164"/>
            <a:ext cx="2707640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595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11983" y="776918"/>
            <a:ext cx="37630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What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is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Multilevel</a:t>
            </a:r>
            <a:r>
              <a:rPr sz="2000" b="1" spc="-3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Inheritance?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50" y="2857500"/>
            <a:ext cx="2562225" cy="6381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4325" y="2847975"/>
            <a:ext cx="2019300" cy="6953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7357" y="2859023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6"/>
                </a:lnTo>
                <a:lnTo>
                  <a:pt x="4146" y="32202"/>
                </a:lnTo>
                <a:lnTo>
                  <a:pt x="0" y="52709"/>
                </a:lnTo>
                <a:lnTo>
                  <a:pt x="0" y="263652"/>
                </a:lnTo>
                <a:lnTo>
                  <a:pt x="4146" y="284227"/>
                </a:lnTo>
                <a:lnTo>
                  <a:pt x="15452" y="301018"/>
                </a:lnTo>
                <a:lnTo>
                  <a:pt x="32221" y="312332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2"/>
                </a:lnTo>
                <a:lnTo>
                  <a:pt x="2223393" y="301018"/>
                </a:lnTo>
                <a:lnTo>
                  <a:pt x="2234693" y="284227"/>
                </a:lnTo>
                <a:lnTo>
                  <a:pt x="2238838" y="263652"/>
                </a:lnTo>
                <a:lnTo>
                  <a:pt x="2238838" y="52709"/>
                </a:lnTo>
                <a:lnTo>
                  <a:pt x="2234693" y="32202"/>
                </a:lnTo>
                <a:lnTo>
                  <a:pt x="2223393" y="15446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68029" y="2893629"/>
            <a:ext cx="14490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050" y="3305175"/>
            <a:ext cx="2562225" cy="6381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7175" y="3305175"/>
            <a:ext cx="2133600" cy="6953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7357" y="3310508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7"/>
                </a:lnTo>
                <a:lnTo>
                  <a:pt x="15452" y="15461"/>
                </a:lnTo>
                <a:lnTo>
                  <a:pt x="4146" y="32252"/>
                </a:lnTo>
                <a:lnTo>
                  <a:pt x="0" y="52827"/>
                </a:lnTo>
                <a:lnTo>
                  <a:pt x="0" y="263783"/>
                </a:lnTo>
                <a:lnTo>
                  <a:pt x="4146" y="284282"/>
                </a:lnTo>
                <a:lnTo>
                  <a:pt x="15452" y="301034"/>
                </a:lnTo>
                <a:lnTo>
                  <a:pt x="32221" y="312334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4"/>
                </a:lnTo>
                <a:lnTo>
                  <a:pt x="2223393" y="301034"/>
                </a:lnTo>
                <a:lnTo>
                  <a:pt x="2234693" y="284282"/>
                </a:lnTo>
                <a:lnTo>
                  <a:pt x="2238838" y="263783"/>
                </a:lnTo>
                <a:lnTo>
                  <a:pt x="2238838" y="52827"/>
                </a:lnTo>
                <a:lnTo>
                  <a:pt x="2234693" y="32252"/>
                </a:lnTo>
                <a:lnTo>
                  <a:pt x="2223393" y="15461"/>
                </a:lnTo>
                <a:lnTo>
                  <a:pt x="2206641" y="4147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10879" y="3346131"/>
            <a:ext cx="15633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050" y="3733800"/>
            <a:ext cx="2562225" cy="6381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500" y="3724275"/>
            <a:ext cx="2266950" cy="6953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7357" y="3736216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5"/>
                </a:lnTo>
                <a:lnTo>
                  <a:pt x="4146" y="32197"/>
                </a:lnTo>
                <a:lnTo>
                  <a:pt x="0" y="52696"/>
                </a:lnTo>
                <a:lnTo>
                  <a:pt x="0" y="263722"/>
                </a:lnTo>
                <a:lnTo>
                  <a:pt x="4146" y="284257"/>
                </a:lnTo>
                <a:lnTo>
                  <a:pt x="15452" y="301026"/>
                </a:lnTo>
                <a:lnTo>
                  <a:pt x="32221" y="312333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3"/>
                </a:lnTo>
                <a:lnTo>
                  <a:pt x="2223393" y="301026"/>
                </a:lnTo>
                <a:lnTo>
                  <a:pt x="2234693" y="284257"/>
                </a:lnTo>
                <a:lnTo>
                  <a:pt x="2238838" y="263722"/>
                </a:lnTo>
                <a:lnTo>
                  <a:pt x="2238838" y="52696"/>
                </a:lnTo>
                <a:lnTo>
                  <a:pt x="2234693" y="32197"/>
                </a:lnTo>
                <a:lnTo>
                  <a:pt x="2223393" y="15445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43894" y="3772537"/>
            <a:ext cx="16967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Multilevel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050" y="4181475"/>
            <a:ext cx="2562225" cy="6381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5250" y="4181475"/>
            <a:ext cx="2457450" cy="69532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7357" y="4188189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6"/>
                </a:lnTo>
                <a:lnTo>
                  <a:pt x="15452" y="15452"/>
                </a:lnTo>
                <a:lnTo>
                  <a:pt x="4146" y="32222"/>
                </a:lnTo>
                <a:lnTo>
                  <a:pt x="0" y="52757"/>
                </a:lnTo>
                <a:lnTo>
                  <a:pt x="0" y="263758"/>
                </a:lnTo>
                <a:lnTo>
                  <a:pt x="4146" y="284286"/>
                </a:lnTo>
                <a:lnTo>
                  <a:pt x="15452" y="301052"/>
                </a:lnTo>
                <a:lnTo>
                  <a:pt x="32221" y="312358"/>
                </a:lnTo>
                <a:lnTo>
                  <a:pt x="52754" y="316504"/>
                </a:lnTo>
                <a:lnTo>
                  <a:pt x="2186141" y="316504"/>
                </a:lnTo>
                <a:lnTo>
                  <a:pt x="2206641" y="312358"/>
                </a:lnTo>
                <a:lnTo>
                  <a:pt x="2223393" y="301052"/>
                </a:lnTo>
                <a:lnTo>
                  <a:pt x="2234693" y="284286"/>
                </a:lnTo>
                <a:lnTo>
                  <a:pt x="2238838" y="263758"/>
                </a:lnTo>
                <a:lnTo>
                  <a:pt x="2238838" y="52757"/>
                </a:lnTo>
                <a:lnTo>
                  <a:pt x="2234693" y="32222"/>
                </a:lnTo>
                <a:lnTo>
                  <a:pt x="2223393" y="15452"/>
                </a:lnTo>
                <a:lnTo>
                  <a:pt x="2206641" y="4146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48644" y="4225285"/>
            <a:ext cx="18865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050" y="4629150"/>
            <a:ext cx="2562225" cy="51434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04800" y="4629150"/>
            <a:ext cx="2038350" cy="51434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77357" y="4637352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51"/>
                </a:lnTo>
                <a:lnTo>
                  <a:pt x="4146" y="32217"/>
                </a:lnTo>
                <a:lnTo>
                  <a:pt x="0" y="52745"/>
                </a:lnTo>
                <a:lnTo>
                  <a:pt x="0" y="263748"/>
                </a:lnTo>
                <a:lnTo>
                  <a:pt x="4146" y="284275"/>
                </a:lnTo>
                <a:lnTo>
                  <a:pt x="15452" y="301041"/>
                </a:lnTo>
                <a:lnTo>
                  <a:pt x="32221" y="312347"/>
                </a:lnTo>
                <a:lnTo>
                  <a:pt x="52754" y="316493"/>
                </a:lnTo>
                <a:lnTo>
                  <a:pt x="2186141" y="316493"/>
                </a:lnTo>
                <a:lnTo>
                  <a:pt x="2206641" y="312347"/>
                </a:lnTo>
                <a:lnTo>
                  <a:pt x="2223393" y="301041"/>
                </a:lnTo>
                <a:lnTo>
                  <a:pt x="2234693" y="284275"/>
                </a:lnTo>
                <a:lnTo>
                  <a:pt x="2238838" y="263748"/>
                </a:lnTo>
                <a:lnTo>
                  <a:pt x="2238838" y="52745"/>
                </a:lnTo>
                <a:lnTo>
                  <a:pt x="2234693" y="32217"/>
                </a:lnTo>
                <a:lnTo>
                  <a:pt x="2223393" y="15451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title" idx="4294967295"/>
          </p:nvPr>
        </p:nvSpPr>
        <p:spPr>
          <a:xfrm>
            <a:off x="4222750" y="1228725"/>
            <a:ext cx="4921250" cy="8794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833245" marR="5080" indent="-1821180">
              <a:lnSpc>
                <a:spcPct val="102400"/>
              </a:lnSpc>
              <a:spcBef>
                <a:spcPts val="50"/>
              </a:spcBef>
            </a:pPr>
            <a:r>
              <a:rPr sz="2750" b="0" spc="-1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spc="-10" dirty="0">
                <a:solidFill>
                  <a:srgbClr val="595959"/>
                </a:solidFill>
                <a:latin typeface="Arial"/>
                <a:cs typeface="Arial"/>
              </a:rPr>
              <a:t>One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class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inherits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550" b="0" spc="-5" dirty="0">
                <a:solidFill>
                  <a:srgbClr val="595959"/>
                </a:solidFill>
                <a:latin typeface="Arial"/>
                <a:cs typeface="Arial"/>
              </a:rPr>
              <a:t>another, </a:t>
            </a:r>
            <a:r>
              <a:rPr sz="1550" b="0" spc="10" dirty="0">
                <a:solidFill>
                  <a:srgbClr val="595959"/>
                </a:solidFill>
                <a:latin typeface="Arial"/>
                <a:cs typeface="Arial"/>
              </a:rPr>
              <a:t>which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turn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inherits 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1550" b="0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another</a:t>
            </a:r>
            <a:r>
              <a:rPr sz="2750" b="0" spc="5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05596" y="2871584"/>
            <a:ext cx="3232785" cy="1816100"/>
          </a:xfrm>
          <a:custGeom>
            <a:avLst/>
            <a:gdLst/>
            <a:ahLst/>
            <a:cxnLst/>
            <a:rect l="l" t="t" r="r" b="b"/>
            <a:pathLst>
              <a:path w="3232784" h="1816100">
                <a:moveTo>
                  <a:pt x="0" y="1815846"/>
                </a:moveTo>
                <a:lnTo>
                  <a:pt x="3232282" y="1815846"/>
                </a:lnTo>
                <a:lnTo>
                  <a:pt x="3232282" y="0"/>
                </a:lnTo>
                <a:lnTo>
                  <a:pt x="0" y="0"/>
                </a:lnTo>
                <a:lnTo>
                  <a:pt x="0" y="1815846"/>
                </a:lnTo>
                <a:close/>
              </a:path>
            </a:pathLst>
          </a:custGeom>
          <a:solidFill>
            <a:srgbClr val="2F233B">
              <a:alpha val="3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588006" y="2900360"/>
            <a:ext cx="81026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13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Consolas"/>
                <a:cs typeface="Consolas"/>
              </a:rPr>
              <a:t>A: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60988" y="3110172"/>
            <a:ext cx="3251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x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=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88006" y="3320484"/>
            <a:ext cx="1105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1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B(A):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60988" y="3539809"/>
            <a:ext cx="4203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p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as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s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88006" y="3749681"/>
            <a:ext cx="1105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1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C(B):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60988" y="3969066"/>
            <a:ext cx="4203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p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as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s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88006" y="4178937"/>
            <a:ext cx="811530" cy="4533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04"/>
              </a:spcBef>
            </a:pP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cob</a:t>
            </a:r>
            <a:r>
              <a:rPr sz="1400" spc="55" dirty="0">
                <a:solidFill>
                  <a:srgbClr val="FFFFFF"/>
                </a:solidFill>
                <a:latin typeface="Consolas"/>
                <a:cs typeface="Consolas"/>
              </a:rPr>
              <a:t>j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=C</a:t>
            </a: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cobj.x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152790" y="2381250"/>
            <a:ext cx="2343150" cy="80962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219450" y="2457450"/>
            <a:ext cx="2266950" cy="69532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505596" y="2388238"/>
            <a:ext cx="2025650" cy="483870"/>
          </a:xfrm>
          <a:custGeom>
            <a:avLst/>
            <a:gdLst/>
            <a:ahLst/>
            <a:cxnLst/>
            <a:rect l="l" t="t" r="r" b="b"/>
            <a:pathLst>
              <a:path w="2025650" h="483869">
                <a:moveTo>
                  <a:pt x="1944867" y="0"/>
                </a:moveTo>
                <a:lnTo>
                  <a:pt x="80497" y="0"/>
                </a:lnTo>
                <a:lnTo>
                  <a:pt x="49171" y="6331"/>
                </a:lnTo>
                <a:lnTo>
                  <a:pt x="23583" y="23604"/>
                </a:lnTo>
                <a:lnTo>
                  <a:pt x="6328" y="49234"/>
                </a:lnTo>
                <a:lnTo>
                  <a:pt x="0" y="80640"/>
                </a:lnTo>
                <a:lnTo>
                  <a:pt x="0" y="402717"/>
                </a:lnTo>
                <a:lnTo>
                  <a:pt x="6328" y="434123"/>
                </a:lnTo>
                <a:lnTo>
                  <a:pt x="23583" y="459753"/>
                </a:lnTo>
                <a:lnTo>
                  <a:pt x="49171" y="477026"/>
                </a:lnTo>
                <a:lnTo>
                  <a:pt x="80497" y="483357"/>
                </a:lnTo>
                <a:lnTo>
                  <a:pt x="1944867" y="483357"/>
                </a:lnTo>
                <a:lnTo>
                  <a:pt x="1976198" y="477026"/>
                </a:lnTo>
                <a:lnTo>
                  <a:pt x="2001796" y="459753"/>
                </a:lnTo>
                <a:lnTo>
                  <a:pt x="2019062" y="434123"/>
                </a:lnTo>
                <a:lnTo>
                  <a:pt x="2025396" y="402717"/>
                </a:lnTo>
                <a:lnTo>
                  <a:pt x="2025396" y="80640"/>
                </a:lnTo>
                <a:lnTo>
                  <a:pt x="2019062" y="49234"/>
                </a:lnTo>
                <a:lnTo>
                  <a:pt x="2001796" y="23604"/>
                </a:lnTo>
                <a:lnTo>
                  <a:pt x="1976198" y="6331"/>
                </a:lnTo>
                <a:lnTo>
                  <a:pt x="1944867" y="0"/>
                </a:lnTo>
                <a:close/>
              </a:path>
            </a:pathLst>
          </a:custGeom>
          <a:solidFill>
            <a:srgbClr val="5F477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669667" y="2505644"/>
            <a:ext cx="16967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Multilevel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58504" y="4692360"/>
            <a:ext cx="14681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Hybrid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45" name="Slide Number Placeholder 4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33375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232785" cy="1381125"/>
          </a:xfrm>
          <a:custGeom>
            <a:avLst/>
            <a:gdLst/>
            <a:ahLst/>
            <a:cxnLst/>
            <a:rect l="l" t="t" r="r" b="b"/>
            <a:pathLst>
              <a:path w="3232785" h="1381125">
                <a:moveTo>
                  <a:pt x="0" y="1380993"/>
                </a:moveTo>
                <a:lnTo>
                  <a:pt x="3232282" y="1380993"/>
                </a:lnTo>
                <a:lnTo>
                  <a:pt x="323228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232785" cy="2430145"/>
          </a:xfrm>
          <a:custGeom>
            <a:avLst/>
            <a:gdLst/>
            <a:ahLst/>
            <a:cxnLst/>
            <a:rect l="l" t="t" r="r" b="b"/>
            <a:pathLst>
              <a:path w="3232785" h="2430145">
                <a:moveTo>
                  <a:pt x="0" y="2429637"/>
                </a:moveTo>
                <a:lnTo>
                  <a:pt x="3232282" y="2429637"/>
                </a:lnTo>
                <a:lnTo>
                  <a:pt x="3232282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232785" cy="1332865"/>
          </a:xfrm>
          <a:custGeom>
            <a:avLst/>
            <a:gdLst/>
            <a:ahLst/>
            <a:cxnLst/>
            <a:rect l="l" t="t" r="r" b="b"/>
            <a:pathLst>
              <a:path w="3232785" h="1332864">
                <a:moveTo>
                  <a:pt x="0" y="1332869"/>
                </a:moveTo>
                <a:lnTo>
                  <a:pt x="3232282" y="1332869"/>
                </a:lnTo>
                <a:lnTo>
                  <a:pt x="3232282" y="0"/>
                </a:lnTo>
                <a:lnTo>
                  <a:pt x="0" y="0"/>
                </a:lnTo>
                <a:lnTo>
                  <a:pt x="0" y="1332869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025" y="1340164"/>
            <a:ext cx="2707640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595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59583" y="776918"/>
            <a:ext cx="40582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What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is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Hierarchical</a:t>
            </a:r>
            <a:r>
              <a:rPr sz="2000" b="1" spc="-39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Inheritance?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50" y="2857500"/>
            <a:ext cx="2562225" cy="6381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4325" y="2847975"/>
            <a:ext cx="2019300" cy="6953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7357" y="2859023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6"/>
                </a:lnTo>
                <a:lnTo>
                  <a:pt x="4146" y="32202"/>
                </a:lnTo>
                <a:lnTo>
                  <a:pt x="0" y="52709"/>
                </a:lnTo>
                <a:lnTo>
                  <a:pt x="0" y="263652"/>
                </a:lnTo>
                <a:lnTo>
                  <a:pt x="4146" y="284227"/>
                </a:lnTo>
                <a:lnTo>
                  <a:pt x="15452" y="301018"/>
                </a:lnTo>
                <a:lnTo>
                  <a:pt x="32221" y="312332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2"/>
                </a:lnTo>
                <a:lnTo>
                  <a:pt x="2223393" y="301018"/>
                </a:lnTo>
                <a:lnTo>
                  <a:pt x="2234693" y="284227"/>
                </a:lnTo>
                <a:lnTo>
                  <a:pt x="2238838" y="263652"/>
                </a:lnTo>
                <a:lnTo>
                  <a:pt x="2238838" y="52709"/>
                </a:lnTo>
                <a:lnTo>
                  <a:pt x="2234693" y="32202"/>
                </a:lnTo>
                <a:lnTo>
                  <a:pt x="2223393" y="15446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50" y="3305175"/>
            <a:ext cx="2562225" cy="6381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7175" y="3305175"/>
            <a:ext cx="2133600" cy="6953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7357" y="3310508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7"/>
                </a:lnTo>
                <a:lnTo>
                  <a:pt x="15452" y="15461"/>
                </a:lnTo>
                <a:lnTo>
                  <a:pt x="4146" y="32252"/>
                </a:lnTo>
                <a:lnTo>
                  <a:pt x="0" y="52827"/>
                </a:lnTo>
                <a:lnTo>
                  <a:pt x="0" y="263783"/>
                </a:lnTo>
                <a:lnTo>
                  <a:pt x="4146" y="284282"/>
                </a:lnTo>
                <a:lnTo>
                  <a:pt x="15452" y="301034"/>
                </a:lnTo>
                <a:lnTo>
                  <a:pt x="32221" y="312334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4"/>
                </a:lnTo>
                <a:lnTo>
                  <a:pt x="2223393" y="301034"/>
                </a:lnTo>
                <a:lnTo>
                  <a:pt x="2234693" y="284282"/>
                </a:lnTo>
                <a:lnTo>
                  <a:pt x="2238838" y="263783"/>
                </a:lnTo>
                <a:lnTo>
                  <a:pt x="2238838" y="52827"/>
                </a:lnTo>
                <a:lnTo>
                  <a:pt x="2234693" y="32252"/>
                </a:lnTo>
                <a:lnTo>
                  <a:pt x="2223393" y="15461"/>
                </a:lnTo>
                <a:lnTo>
                  <a:pt x="2206641" y="4147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50" y="3733800"/>
            <a:ext cx="2562225" cy="6381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0500" y="3724275"/>
            <a:ext cx="2266950" cy="6953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7357" y="3736216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5"/>
                </a:lnTo>
                <a:lnTo>
                  <a:pt x="4146" y="32197"/>
                </a:lnTo>
                <a:lnTo>
                  <a:pt x="0" y="52696"/>
                </a:lnTo>
                <a:lnTo>
                  <a:pt x="0" y="263722"/>
                </a:lnTo>
                <a:lnTo>
                  <a:pt x="4146" y="284257"/>
                </a:lnTo>
                <a:lnTo>
                  <a:pt x="15452" y="301026"/>
                </a:lnTo>
                <a:lnTo>
                  <a:pt x="32221" y="312333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3"/>
                </a:lnTo>
                <a:lnTo>
                  <a:pt x="2223393" y="301026"/>
                </a:lnTo>
                <a:lnTo>
                  <a:pt x="2234693" y="284257"/>
                </a:lnTo>
                <a:lnTo>
                  <a:pt x="2238838" y="263722"/>
                </a:lnTo>
                <a:lnTo>
                  <a:pt x="2238838" y="52696"/>
                </a:lnTo>
                <a:lnTo>
                  <a:pt x="2234693" y="32197"/>
                </a:lnTo>
                <a:lnTo>
                  <a:pt x="2223393" y="15445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50" y="4181475"/>
            <a:ext cx="2562225" cy="6381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5250" y="4181475"/>
            <a:ext cx="2457450" cy="69532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7357" y="4188189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6"/>
                </a:lnTo>
                <a:lnTo>
                  <a:pt x="15452" y="15452"/>
                </a:lnTo>
                <a:lnTo>
                  <a:pt x="4146" y="32222"/>
                </a:lnTo>
                <a:lnTo>
                  <a:pt x="0" y="52757"/>
                </a:lnTo>
                <a:lnTo>
                  <a:pt x="0" y="263758"/>
                </a:lnTo>
                <a:lnTo>
                  <a:pt x="4146" y="284286"/>
                </a:lnTo>
                <a:lnTo>
                  <a:pt x="15452" y="301052"/>
                </a:lnTo>
                <a:lnTo>
                  <a:pt x="32221" y="312358"/>
                </a:lnTo>
                <a:lnTo>
                  <a:pt x="52754" y="316504"/>
                </a:lnTo>
                <a:lnTo>
                  <a:pt x="2186141" y="316504"/>
                </a:lnTo>
                <a:lnTo>
                  <a:pt x="2206641" y="312358"/>
                </a:lnTo>
                <a:lnTo>
                  <a:pt x="2223393" y="301052"/>
                </a:lnTo>
                <a:lnTo>
                  <a:pt x="2234693" y="284286"/>
                </a:lnTo>
                <a:lnTo>
                  <a:pt x="2238838" y="263758"/>
                </a:lnTo>
                <a:lnTo>
                  <a:pt x="2238838" y="52757"/>
                </a:lnTo>
                <a:lnTo>
                  <a:pt x="2234693" y="32222"/>
                </a:lnTo>
                <a:lnTo>
                  <a:pt x="2223393" y="15452"/>
                </a:lnTo>
                <a:lnTo>
                  <a:pt x="2206641" y="4146"/>
                </a:lnTo>
                <a:lnTo>
                  <a:pt x="218614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48644" y="2893629"/>
            <a:ext cx="1886585" cy="15748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2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  <a:p>
            <a:pPr marL="12065" marR="5080" indent="635" algn="ctr">
              <a:lnSpc>
                <a:spcPct val="206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Multiple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 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Multilevel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 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050" y="4629150"/>
            <a:ext cx="2562225" cy="51434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4800" y="4629150"/>
            <a:ext cx="2038350" cy="51434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7357" y="4637352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51"/>
                </a:lnTo>
                <a:lnTo>
                  <a:pt x="4146" y="32217"/>
                </a:lnTo>
                <a:lnTo>
                  <a:pt x="0" y="52745"/>
                </a:lnTo>
                <a:lnTo>
                  <a:pt x="0" y="263748"/>
                </a:lnTo>
                <a:lnTo>
                  <a:pt x="4146" y="284275"/>
                </a:lnTo>
                <a:lnTo>
                  <a:pt x="15452" y="301041"/>
                </a:lnTo>
                <a:lnTo>
                  <a:pt x="32221" y="312347"/>
                </a:lnTo>
                <a:lnTo>
                  <a:pt x="52754" y="316493"/>
                </a:lnTo>
                <a:lnTo>
                  <a:pt x="2186141" y="316493"/>
                </a:lnTo>
                <a:lnTo>
                  <a:pt x="2206641" y="312347"/>
                </a:lnTo>
                <a:lnTo>
                  <a:pt x="2223393" y="301041"/>
                </a:lnTo>
                <a:lnTo>
                  <a:pt x="2234693" y="284275"/>
                </a:lnTo>
                <a:lnTo>
                  <a:pt x="2238838" y="263748"/>
                </a:lnTo>
                <a:lnTo>
                  <a:pt x="2238838" y="52745"/>
                </a:lnTo>
                <a:lnTo>
                  <a:pt x="2234693" y="32217"/>
                </a:lnTo>
                <a:lnTo>
                  <a:pt x="2223393" y="15451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title" idx="4294967295"/>
          </p:nvPr>
        </p:nvSpPr>
        <p:spPr>
          <a:xfrm>
            <a:off x="5176838" y="1228725"/>
            <a:ext cx="3967162" cy="44926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More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than one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class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inherits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550" b="0" spc="3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0" spc="2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2750" b="0" spc="25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943600" y="2057400"/>
            <a:ext cx="942975" cy="94297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972038" y="2121026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812804"/>
                </a:moveTo>
                <a:lnTo>
                  <a:pt x="812804" y="812804"/>
                </a:lnTo>
                <a:lnTo>
                  <a:pt x="812804" y="0"/>
                </a:lnTo>
                <a:lnTo>
                  <a:pt x="0" y="0"/>
                </a:lnTo>
                <a:lnTo>
                  <a:pt x="0" y="812804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953109" y="3476625"/>
            <a:ext cx="942975" cy="9525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979048" y="3545262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812804"/>
                </a:moveTo>
                <a:lnTo>
                  <a:pt x="812804" y="812804"/>
                </a:lnTo>
                <a:lnTo>
                  <a:pt x="812804" y="0"/>
                </a:lnTo>
                <a:lnTo>
                  <a:pt x="0" y="0"/>
                </a:lnTo>
                <a:lnTo>
                  <a:pt x="0" y="812804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322710" y="2933830"/>
            <a:ext cx="114300" cy="612140"/>
          </a:xfrm>
          <a:custGeom>
            <a:avLst/>
            <a:gdLst/>
            <a:ahLst/>
            <a:cxnLst/>
            <a:rect l="l" t="t" r="r" b="b"/>
            <a:pathLst>
              <a:path w="114300" h="612139">
                <a:moveTo>
                  <a:pt x="76142" y="114082"/>
                </a:moveTo>
                <a:lnTo>
                  <a:pt x="38041" y="114506"/>
                </a:lnTo>
                <a:lnTo>
                  <a:pt x="43677" y="611623"/>
                </a:lnTo>
                <a:lnTo>
                  <a:pt x="81777" y="611242"/>
                </a:lnTo>
                <a:lnTo>
                  <a:pt x="76142" y="114082"/>
                </a:lnTo>
                <a:close/>
              </a:path>
              <a:path w="114300" h="612139">
                <a:moveTo>
                  <a:pt x="55747" y="0"/>
                </a:moveTo>
                <a:lnTo>
                  <a:pt x="0" y="114930"/>
                </a:lnTo>
                <a:lnTo>
                  <a:pt x="38041" y="114506"/>
                </a:lnTo>
                <a:lnTo>
                  <a:pt x="37825" y="95499"/>
                </a:lnTo>
                <a:lnTo>
                  <a:pt x="75925" y="94987"/>
                </a:lnTo>
                <a:lnTo>
                  <a:pt x="104682" y="94987"/>
                </a:lnTo>
                <a:lnTo>
                  <a:pt x="55747" y="0"/>
                </a:lnTo>
                <a:close/>
              </a:path>
              <a:path w="114300" h="612139">
                <a:moveTo>
                  <a:pt x="75925" y="94987"/>
                </a:moveTo>
                <a:lnTo>
                  <a:pt x="37825" y="95499"/>
                </a:lnTo>
                <a:lnTo>
                  <a:pt x="38041" y="114506"/>
                </a:lnTo>
                <a:lnTo>
                  <a:pt x="76142" y="114082"/>
                </a:lnTo>
                <a:lnTo>
                  <a:pt x="75925" y="94987"/>
                </a:lnTo>
                <a:close/>
              </a:path>
              <a:path w="114300" h="612139">
                <a:moveTo>
                  <a:pt x="104682" y="94987"/>
                </a:moveTo>
                <a:lnTo>
                  <a:pt x="75925" y="94987"/>
                </a:lnTo>
                <a:lnTo>
                  <a:pt x="76142" y="114082"/>
                </a:lnTo>
                <a:lnTo>
                  <a:pt x="114300" y="113656"/>
                </a:lnTo>
                <a:lnTo>
                  <a:pt x="104682" y="94987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903090" y="2447859"/>
            <a:ext cx="5753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1200" b="1" spc="-1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29659" y="4553901"/>
            <a:ext cx="5829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733940" y="3476625"/>
            <a:ext cx="952500" cy="9525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766706" y="3545262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812804"/>
                </a:moveTo>
                <a:lnTo>
                  <a:pt x="812804" y="812804"/>
                </a:lnTo>
                <a:lnTo>
                  <a:pt x="812804" y="0"/>
                </a:lnTo>
                <a:lnTo>
                  <a:pt x="0" y="0"/>
                </a:lnTo>
                <a:lnTo>
                  <a:pt x="0" y="812804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164592" y="2933830"/>
            <a:ext cx="1214120" cy="628650"/>
          </a:xfrm>
          <a:custGeom>
            <a:avLst/>
            <a:gdLst/>
            <a:ahLst/>
            <a:cxnLst/>
            <a:rect l="l" t="t" r="r" b="b"/>
            <a:pathLst>
              <a:path w="1214120" h="628650">
                <a:moveTo>
                  <a:pt x="1103313" y="34687"/>
                </a:moveTo>
                <a:lnTo>
                  <a:pt x="0" y="594478"/>
                </a:lnTo>
                <a:lnTo>
                  <a:pt x="17129" y="628387"/>
                </a:lnTo>
                <a:lnTo>
                  <a:pt x="1120566" y="68678"/>
                </a:lnTo>
                <a:lnTo>
                  <a:pt x="1103313" y="34687"/>
                </a:lnTo>
                <a:close/>
              </a:path>
              <a:path w="1214120" h="628650">
                <a:moveTo>
                  <a:pt x="1194568" y="26026"/>
                </a:moveTo>
                <a:lnTo>
                  <a:pt x="1120383" y="26026"/>
                </a:lnTo>
                <a:lnTo>
                  <a:pt x="1137544" y="60066"/>
                </a:lnTo>
                <a:lnTo>
                  <a:pt x="1120566" y="68678"/>
                </a:lnTo>
                <a:lnTo>
                  <a:pt x="1137787" y="102607"/>
                </a:lnTo>
                <a:lnTo>
                  <a:pt x="1194568" y="26026"/>
                </a:lnTo>
                <a:close/>
              </a:path>
              <a:path w="1214120" h="628650">
                <a:moveTo>
                  <a:pt x="1120383" y="26026"/>
                </a:moveTo>
                <a:lnTo>
                  <a:pt x="1103313" y="34687"/>
                </a:lnTo>
                <a:lnTo>
                  <a:pt x="1120566" y="68678"/>
                </a:lnTo>
                <a:lnTo>
                  <a:pt x="1137544" y="60066"/>
                </a:lnTo>
                <a:lnTo>
                  <a:pt x="1120383" y="26026"/>
                </a:lnTo>
                <a:close/>
              </a:path>
              <a:path w="1214120" h="628650">
                <a:moveTo>
                  <a:pt x="1213866" y="0"/>
                </a:moveTo>
                <a:lnTo>
                  <a:pt x="1086093" y="762"/>
                </a:lnTo>
                <a:lnTo>
                  <a:pt x="1103313" y="34687"/>
                </a:lnTo>
                <a:lnTo>
                  <a:pt x="1120383" y="26026"/>
                </a:lnTo>
                <a:lnTo>
                  <a:pt x="1194568" y="26026"/>
                </a:lnTo>
                <a:lnTo>
                  <a:pt x="1213866" y="0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086600" y="3514725"/>
            <a:ext cx="952500" cy="94297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119000" y="3581817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812804"/>
                </a:moveTo>
                <a:lnTo>
                  <a:pt x="812804" y="812804"/>
                </a:lnTo>
                <a:lnTo>
                  <a:pt x="812804" y="0"/>
                </a:lnTo>
                <a:lnTo>
                  <a:pt x="0" y="0"/>
                </a:lnTo>
                <a:lnTo>
                  <a:pt x="0" y="812804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378458" y="2933830"/>
            <a:ext cx="1156335" cy="664845"/>
          </a:xfrm>
          <a:custGeom>
            <a:avLst/>
            <a:gdLst/>
            <a:ahLst/>
            <a:cxnLst/>
            <a:rect l="l" t="t" r="r" b="b"/>
            <a:pathLst>
              <a:path w="1156334" h="664845">
                <a:moveTo>
                  <a:pt x="108928" y="39601"/>
                </a:moveTo>
                <a:lnTo>
                  <a:pt x="90228" y="72739"/>
                </a:lnTo>
                <a:lnTo>
                  <a:pt x="1137544" y="664582"/>
                </a:lnTo>
                <a:lnTo>
                  <a:pt x="1156197" y="631435"/>
                </a:lnTo>
                <a:lnTo>
                  <a:pt x="108928" y="39601"/>
                </a:lnTo>
                <a:close/>
              </a:path>
              <a:path w="1156334" h="664845">
                <a:moveTo>
                  <a:pt x="0" y="0"/>
                </a:moveTo>
                <a:lnTo>
                  <a:pt x="71506" y="105918"/>
                </a:lnTo>
                <a:lnTo>
                  <a:pt x="90228" y="72739"/>
                </a:lnTo>
                <a:lnTo>
                  <a:pt x="73639" y="63364"/>
                </a:lnTo>
                <a:lnTo>
                  <a:pt x="92323" y="30217"/>
                </a:lnTo>
                <a:lnTo>
                  <a:pt x="114222" y="30217"/>
                </a:lnTo>
                <a:lnTo>
                  <a:pt x="127619" y="6477"/>
                </a:lnTo>
                <a:lnTo>
                  <a:pt x="0" y="0"/>
                </a:lnTo>
                <a:close/>
              </a:path>
              <a:path w="1156334" h="664845">
                <a:moveTo>
                  <a:pt x="92323" y="30217"/>
                </a:moveTo>
                <a:lnTo>
                  <a:pt x="73639" y="63364"/>
                </a:lnTo>
                <a:lnTo>
                  <a:pt x="90228" y="72739"/>
                </a:lnTo>
                <a:lnTo>
                  <a:pt x="108928" y="39601"/>
                </a:lnTo>
                <a:lnTo>
                  <a:pt x="92323" y="30217"/>
                </a:lnTo>
                <a:close/>
              </a:path>
              <a:path w="1156334" h="664845">
                <a:moveTo>
                  <a:pt x="114222" y="30217"/>
                </a:moveTo>
                <a:lnTo>
                  <a:pt x="92323" y="30217"/>
                </a:lnTo>
                <a:lnTo>
                  <a:pt x="108928" y="39601"/>
                </a:lnTo>
                <a:lnTo>
                  <a:pt x="114222" y="30217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916173" y="4556755"/>
            <a:ext cx="5829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58504" y="4692360"/>
            <a:ext cx="14681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Hybrid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37990" y="4556755"/>
            <a:ext cx="5829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Slide Number Placeholder 4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80993"/>
            <a:ext cx="3232785" cy="1332865"/>
          </a:xfrm>
          <a:custGeom>
            <a:avLst/>
            <a:gdLst/>
            <a:ahLst/>
            <a:cxnLst/>
            <a:rect l="l" t="t" r="r" b="b"/>
            <a:pathLst>
              <a:path w="3232785" h="1332864">
                <a:moveTo>
                  <a:pt x="0" y="1332869"/>
                </a:moveTo>
                <a:lnTo>
                  <a:pt x="3232282" y="1332869"/>
                </a:lnTo>
                <a:lnTo>
                  <a:pt x="3232282" y="0"/>
                </a:lnTo>
                <a:lnTo>
                  <a:pt x="0" y="0"/>
                </a:lnTo>
                <a:lnTo>
                  <a:pt x="0" y="1332869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025" y="1340164"/>
            <a:ext cx="2707640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595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59583" y="776918"/>
            <a:ext cx="40582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What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is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Hierarchical</a:t>
            </a:r>
            <a:r>
              <a:rPr sz="2000" b="1" spc="-39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Inheritance?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050" y="2857500"/>
            <a:ext cx="2562225" cy="6381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4325" y="2847975"/>
            <a:ext cx="2019300" cy="6953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7357" y="2859023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6"/>
                </a:lnTo>
                <a:lnTo>
                  <a:pt x="4146" y="32202"/>
                </a:lnTo>
                <a:lnTo>
                  <a:pt x="0" y="52709"/>
                </a:lnTo>
                <a:lnTo>
                  <a:pt x="0" y="263652"/>
                </a:lnTo>
                <a:lnTo>
                  <a:pt x="4146" y="284227"/>
                </a:lnTo>
                <a:lnTo>
                  <a:pt x="15452" y="301018"/>
                </a:lnTo>
                <a:lnTo>
                  <a:pt x="32221" y="312332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2"/>
                </a:lnTo>
                <a:lnTo>
                  <a:pt x="2223393" y="301018"/>
                </a:lnTo>
                <a:lnTo>
                  <a:pt x="2234693" y="284227"/>
                </a:lnTo>
                <a:lnTo>
                  <a:pt x="2238838" y="263652"/>
                </a:lnTo>
                <a:lnTo>
                  <a:pt x="2238838" y="52709"/>
                </a:lnTo>
                <a:lnTo>
                  <a:pt x="2234693" y="32202"/>
                </a:lnTo>
                <a:lnTo>
                  <a:pt x="2223393" y="15446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50" y="3305175"/>
            <a:ext cx="2562225" cy="6381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7175" y="3305175"/>
            <a:ext cx="2133600" cy="6953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7357" y="3310508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7"/>
                </a:lnTo>
                <a:lnTo>
                  <a:pt x="15452" y="15461"/>
                </a:lnTo>
                <a:lnTo>
                  <a:pt x="4146" y="32252"/>
                </a:lnTo>
                <a:lnTo>
                  <a:pt x="0" y="52827"/>
                </a:lnTo>
                <a:lnTo>
                  <a:pt x="0" y="263783"/>
                </a:lnTo>
                <a:lnTo>
                  <a:pt x="4146" y="284282"/>
                </a:lnTo>
                <a:lnTo>
                  <a:pt x="15452" y="301034"/>
                </a:lnTo>
                <a:lnTo>
                  <a:pt x="32221" y="312334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4"/>
                </a:lnTo>
                <a:lnTo>
                  <a:pt x="2223393" y="301034"/>
                </a:lnTo>
                <a:lnTo>
                  <a:pt x="2234693" y="284282"/>
                </a:lnTo>
                <a:lnTo>
                  <a:pt x="2238838" y="263783"/>
                </a:lnTo>
                <a:lnTo>
                  <a:pt x="2238838" y="52827"/>
                </a:lnTo>
                <a:lnTo>
                  <a:pt x="2234693" y="32252"/>
                </a:lnTo>
                <a:lnTo>
                  <a:pt x="2223393" y="15461"/>
                </a:lnTo>
                <a:lnTo>
                  <a:pt x="2206641" y="4147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50" y="3733800"/>
            <a:ext cx="2562225" cy="6381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0500" y="3724275"/>
            <a:ext cx="2266950" cy="6953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7357" y="3736216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5"/>
                </a:lnTo>
                <a:lnTo>
                  <a:pt x="4146" y="32197"/>
                </a:lnTo>
                <a:lnTo>
                  <a:pt x="0" y="52696"/>
                </a:lnTo>
                <a:lnTo>
                  <a:pt x="0" y="263722"/>
                </a:lnTo>
                <a:lnTo>
                  <a:pt x="4146" y="284257"/>
                </a:lnTo>
                <a:lnTo>
                  <a:pt x="15452" y="301026"/>
                </a:lnTo>
                <a:lnTo>
                  <a:pt x="32221" y="312333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3"/>
                </a:lnTo>
                <a:lnTo>
                  <a:pt x="2223393" y="301026"/>
                </a:lnTo>
                <a:lnTo>
                  <a:pt x="2234693" y="284257"/>
                </a:lnTo>
                <a:lnTo>
                  <a:pt x="2238838" y="263722"/>
                </a:lnTo>
                <a:lnTo>
                  <a:pt x="2238838" y="52696"/>
                </a:lnTo>
                <a:lnTo>
                  <a:pt x="2234693" y="32197"/>
                </a:lnTo>
                <a:lnTo>
                  <a:pt x="2223393" y="15445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50" y="4181475"/>
            <a:ext cx="2562225" cy="6381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250" y="4181475"/>
            <a:ext cx="2457450" cy="6953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7357" y="4188189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6"/>
                </a:lnTo>
                <a:lnTo>
                  <a:pt x="15452" y="15452"/>
                </a:lnTo>
                <a:lnTo>
                  <a:pt x="4146" y="32222"/>
                </a:lnTo>
                <a:lnTo>
                  <a:pt x="0" y="52757"/>
                </a:lnTo>
                <a:lnTo>
                  <a:pt x="0" y="263758"/>
                </a:lnTo>
                <a:lnTo>
                  <a:pt x="4146" y="284286"/>
                </a:lnTo>
                <a:lnTo>
                  <a:pt x="15452" y="301052"/>
                </a:lnTo>
                <a:lnTo>
                  <a:pt x="32221" y="312358"/>
                </a:lnTo>
                <a:lnTo>
                  <a:pt x="52754" y="316504"/>
                </a:lnTo>
                <a:lnTo>
                  <a:pt x="2186141" y="316504"/>
                </a:lnTo>
                <a:lnTo>
                  <a:pt x="2206641" y="312358"/>
                </a:lnTo>
                <a:lnTo>
                  <a:pt x="2223393" y="301052"/>
                </a:lnTo>
                <a:lnTo>
                  <a:pt x="2234693" y="284286"/>
                </a:lnTo>
                <a:lnTo>
                  <a:pt x="2238838" y="263758"/>
                </a:lnTo>
                <a:lnTo>
                  <a:pt x="2238838" y="52757"/>
                </a:lnTo>
                <a:lnTo>
                  <a:pt x="2234693" y="32222"/>
                </a:lnTo>
                <a:lnTo>
                  <a:pt x="2223393" y="15452"/>
                </a:lnTo>
                <a:lnTo>
                  <a:pt x="2206641" y="4146"/>
                </a:lnTo>
                <a:lnTo>
                  <a:pt x="218614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8644" y="2893629"/>
            <a:ext cx="1886585" cy="15748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2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  <a:p>
            <a:pPr marL="12065" marR="5080" indent="635" algn="ctr">
              <a:lnSpc>
                <a:spcPct val="206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Multiple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 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Multilevel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 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9050" y="4629150"/>
            <a:ext cx="2562225" cy="51434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4800" y="4629150"/>
            <a:ext cx="2038350" cy="51434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7357" y="4637352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51"/>
                </a:lnTo>
                <a:lnTo>
                  <a:pt x="4146" y="32217"/>
                </a:lnTo>
                <a:lnTo>
                  <a:pt x="0" y="52745"/>
                </a:lnTo>
                <a:lnTo>
                  <a:pt x="0" y="263748"/>
                </a:lnTo>
                <a:lnTo>
                  <a:pt x="4146" y="284275"/>
                </a:lnTo>
                <a:lnTo>
                  <a:pt x="15452" y="301041"/>
                </a:lnTo>
                <a:lnTo>
                  <a:pt x="32221" y="312347"/>
                </a:lnTo>
                <a:lnTo>
                  <a:pt x="52754" y="316493"/>
                </a:lnTo>
                <a:lnTo>
                  <a:pt x="2186141" y="316493"/>
                </a:lnTo>
                <a:lnTo>
                  <a:pt x="2206641" y="312347"/>
                </a:lnTo>
                <a:lnTo>
                  <a:pt x="2223393" y="301041"/>
                </a:lnTo>
                <a:lnTo>
                  <a:pt x="2234693" y="284275"/>
                </a:lnTo>
                <a:lnTo>
                  <a:pt x="2238838" y="263748"/>
                </a:lnTo>
                <a:lnTo>
                  <a:pt x="2238838" y="52745"/>
                </a:lnTo>
                <a:lnTo>
                  <a:pt x="2234693" y="32217"/>
                </a:lnTo>
                <a:lnTo>
                  <a:pt x="2223393" y="15451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title" idx="4294967295"/>
          </p:nvPr>
        </p:nvSpPr>
        <p:spPr>
          <a:xfrm>
            <a:off x="5176838" y="1228725"/>
            <a:ext cx="3967162" cy="44926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More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than one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class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inherits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550" b="0" spc="3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0" spc="2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2750" b="0" spc="25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05596" y="2871535"/>
            <a:ext cx="3962400" cy="1600835"/>
          </a:xfrm>
          <a:custGeom>
            <a:avLst/>
            <a:gdLst/>
            <a:ahLst/>
            <a:cxnLst/>
            <a:rect l="l" t="t" r="r" b="b"/>
            <a:pathLst>
              <a:path w="3962400" h="1600835">
                <a:moveTo>
                  <a:pt x="0" y="1600449"/>
                </a:moveTo>
                <a:lnTo>
                  <a:pt x="3962034" y="1600449"/>
                </a:lnTo>
                <a:lnTo>
                  <a:pt x="3962034" y="0"/>
                </a:lnTo>
                <a:lnTo>
                  <a:pt x="0" y="0"/>
                </a:lnTo>
                <a:lnTo>
                  <a:pt x="0" y="1600449"/>
                </a:lnTo>
                <a:close/>
              </a:path>
            </a:pathLst>
          </a:custGeom>
          <a:solidFill>
            <a:srgbClr val="2F233B">
              <a:alpha val="3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88006" y="2900360"/>
            <a:ext cx="81026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13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Consolas"/>
                <a:cs typeface="Consolas"/>
              </a:rPr>
              <a:t>A: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88006" y="3110172"/>
            <a:ext cx="3470910" cy="13119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2073275" indent="981710">
              <a:lnSpc>
                <a:spcPts val="1660"/>
              </a:lnSpc>
              <a:spcBef>
                <a:spcPts val="200"/>
              </a:spcBef>
            </a:pP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pa</a:t>
            </a: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s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s </a:t>
            </a:r>
            <a:r>
              <a:rPr sz="1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8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B(A):</a:t>
            </a:r>
            <a:endParaRPr sz="1400">
              <a:latin typeface="Consolas"/>
              <a:cs typeface="Consolas"/>
            </a:endParaRPr>
          </a:p>
          <a:p>
            <a:pPr marL="12700" marR="2073275" indent="981710">
              <a:lnSpc>
                <a:spcPts val="1650"/>
              </a:lnSpc>
              <a:spcBef>
                <a:spcPts val="70"/>
              </a:spcBef>
            </a:pP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pa</a:t>
            </a: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s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s </a:t>
            </a:r>
            <a:r>
              <a:rPr sz="1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8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C(A):</a:t>
            </a:r>
            <a:endParaRPr sz="1400">
              <a:latin typeface="Consolas"/>
              <a:cs typeface="Consolas"/>
            </a:endParaRPr>
          </a:p>
          <a:p>
            <a:pPr marL="1089660">
              <a:lnSpc>
                <a:spcPts val="1664"/>
              </a:lnSpc>
            </a:pP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pass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</a:pP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issubclass(B,A) </a:t>
            </a: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and</a:t>
            </a:r>
            <a:r>
              <a:rPr sz="1400" spc="7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issubclass(C,A)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52790" y="2381250"/>
            <a:ext cx="2428875" cy="80962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162300" y="2457450"/>
            <a:ext cx="2457450" cy="69532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05596" y="2388238"/>
            <a:ext cx="2108200" cy="483870"/>
          </a:xfrm>
          <a:custGeom>
            <a:avLst/>
            <a:gdLst/>
            <a:ahLst/>
            <a:cxnLst/>
            <a:rect l="l" t="t" r="r" b="b"/>
            <a:pathLst>
              <a:path w="2108200" h="483869">
                <a:moveTo>
                  <a:pt x="2027285" y="0"/>
                </a:moveTo>
                <a:lnTo>
                  <a:pt x="80497" y="0"/>
                </a:lnTo>
                <a:lnTo>
                  <a:pt x="49171" y="6331"/>
                </a:lnTo>
                <a:lnTo>
                  <a:pt x="23583" y="23604"/>
                </a:lnTo>
                <a:lnTo>
                  <a:pt x="6328" y="49234"/>
                </a:lnTo>
                <a:lnTo>
                  <a:pt x="0" y="80640"/>
                </a:lnTo>
                <a:lnTo>
                  <a:pt x="0" y="402717"/>
                </a:lnTo>
                <a:lnTo>
                  <a:pt x="6328" y="434123"/>
                </a:lnTo>
                <a:lnTo>
                  <a:pt x="23583" y="459753"/>
                </a:lnTo>
                <a:lnTo>
                  <a:pt x="49171" y="477026"/>
                </a:lnTo>
                <a:lnTo>
                  <a:pt x="80497" y="483357"/>
                </a:lnTo>
                <a:lnTo>
                  <a:pt x="2027285" y="483357"/>
                </a:lnTo>
                <a:lnTo>
                  <a:pt x="2058616" y="477026"/>
                </a:lnTo>
                <a:lnTo>
                  <a:pt x="2084214" y="459753"/>
                </a:lnTo>
                <a:lnTo>
                  <a:pt x="2101480" y="434123"/>
                </a:lnTo>
                <a:lnTo>
                  <a:pt x="2107813" y="402717"/>
                </a:lnTo>
                <a:lnTo>
                  <a:pt x="2107813" y="80640"/>
                </a:lnTo>
                <a:lnTo>
                  <a:pt x="2101480" y="49234"/>
                </a:lnTo>
                <a:lnTo>
                  <a:pt x="2084214" y="23604"/>
                </a:lnTo>
                <a:lnTo>
                  <a:pt x="2058616" y="6331"/>
                </a:lnTo>
                <a:lnTo>
                  <a:pt x="2027285" y="0"/>
                </a:lnTo>
                <a:close/>
              </a:path>
            </a:pathLst>
          </a:custGeom>
          <a:solidFill>
            <a:srgbClr val="5F477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612136" y="2505644"/>
            <a:ext cx="1894839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8504" y="4692360"/>
            <a:ext cx="14681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Hybrid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33375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232785" cy="1381125"/>
          </a:xfrm>
          <a:custGeom>
            <a:avLst/>
            <a:gdLst/>
            <a:ahLst/>
            <a:cxnLst/>
            <a:rect l="l" t="t" r="r" b="b"/>
            <a:pathLst>
              <a:path w="3232785" h="1381125">
                <a:moveTo>
                  <a:pt x="0" y="1380993"/>
                </a:moveTo>
                <a:lnTo>
                  <a:pt x="3232282" y="1380993"/>
                </a:lnTo>
                <a:lnTo>
                  <a:pt x="323228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232785" cy="2430145"/>
          </a:xfrm>
          <a:custGeom>
            <a:avLst/>
            <a:gdLst/>
            <a:ahLst/>
            <a:cxnLst/>
            <a:rect l="l" t="t" r="r" b="b"/>
            <a:pathLst>
              <a:path w="3232785" h="2430145">
                <a:moveTo>
                  <a:pt x="0" y="2429637"/>
                </a:moveTo>
                <a:lnTo>
                  <a:pt x="3232282" y="2429637"/>
                </a:lnTo>
                <a:lnTo>
                  <a:pt x="3232282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232785" cy="1332865"/>
          </a:xfrm>
          <a:custGeom>
            <a:avLst/>
            <a:gdLst/>
            <a:ahLst/>
            <a:cxnLst/>
            <a:rect l="l" t="t" r="r" b="b"/>
            <a:pathLst>
              <a:path w="3232785" h="1332864">
                <a:moveTo>
                  <a:pt x="0" y="1332869"/>
                </a:moveTo>
                <a:lnTo>
                  <a:pt x="3232282" y="1332869"/>
                </a:lnTo>
                <a:lnTo>
                  <a:pt x="3232282" y="0"/>
                </a:lnTo>
                <a:lnTo>
                  <a:pt x="0" y="0"/>
                </a:lnTo>
                <a:lnTo>
                  <a:pt x="0" y="1332869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025" y="1340164"/>
            <a:ext cx="2707640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595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83687" y="776918"/>
            <a:ext cx="34105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What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is </a:t>
            </a:r>
            <a:r>
              <a:rPr sz="2000" b="1" spc="30" dirty="0">
                <a:solidFill>
                  <a:srgbClr val="6F2F9F"/>
                </a:solidFill>
                <a:latin typeface="Arial"/>
                <a:cs typeface="Arial"/>
              </a:rPr>
              <a:t>Hybrid</a:t>
            </a:r>
            <a:r>
              <a:rPr sz="2000" b="1" spc="-409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Inheritance?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50" y="2857500"/>
            <a:ext cx="2562225" cy="6381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4325" y="2847975"/>
            <a:ext cx="2019300" cy="6953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7357" y="2859023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6"/>
                </a:lnTo>
                <a:lnTo>
                  <a:pt x="4146" y="32202"/>
                </a:lnTo>
                <a:lnTo>
                  <a:pt x="0" y="52709"/>
                </a:lnTo>
                <a:lnTo>
                  <a:pt x="0" y="263652"/>
                </a:lnTo>
                <a:lnTo>
                  <a:pt x="4146" y="284227"/>
                </a:lnTo>
                <a:lnTo>
                  <a:pt x="15452" y="301018"/>
                </a:lnTo>
                <a:lnTo>
                  <a:pt x="32221" y="312332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2"/>
                </a:lnTo>
                <a:lnTo>
                  <a:pt x="2223393" y="301018"/>
                </a:lnTo>
                <a:lnTo>
                  <a:pt x="2234693" y="284227"/>
                </a:lnTo>
                <a:lnTo>
                  <a:pt x="2238838" y="263652"/>
                </a:lnTo>
                <a:lnTo>
                  <a:pt x="2238838" y="52709"/>
                </a:lnTo>
                <a:lnTo>
                  <a:pt x="2234693" y="32202"/>
                </a:lnTo>
                <a:lnTo>
                  <a:pt x="2223393" y="15446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68029" y="2893629"/>
            <a:ext cx="14490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050" y="3305175"/>
            <a:ext cx="2562225" cy="6381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7175" y="3305175"/>
            <a:ext cx="2133600" cy="6953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7357" y="3310508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7"/>
                </a:lnTo>
                <a:lnTo>
                  <a:pt x="15452" y="15461"/>
                </a:lnTo>
                <a:lnTo>
                  <a:pt x="4146" y="32252"/>
                </a:lnTo>
                <a:lnTo>
                  <a:pt x="0" y="52827"/>
                </a:lnTo>
                <a:lnTo>
                  <a:pt x="0" y="263783"/>
                </a:lnTo>
                <a:lnTo>
                  <a:pt x="4146" y="284282"/>
                </a:lnTo>
                <a:lnTo>
                  <a:pt x="15452" y="301034"/>
                </a:lnTo>
                <a:lnTo>
                  <a:pt x="32221" y="312334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4"/>
                </a:lnTo>
                <a:lnTo>
                  <a:pt x="2223393" y="301034"/>
                </a:lnTo>
                <a:lnTo>
                  <a:pt x="2234693" y="284282"/>
                </a:lnTo>
                <a:lnTo>
                  <a:pt x="2238838" y="263783"/>
                </a:lnTo>
                <a:lnTo>
                  <a:pt x="2238838" y="52827"/>
                </a:lnTo>
                <a:lnTo>
                  <a:pt x="2234693" y="32252"/>
                </a:lnTo>
                <a:lnTo>
                  <a:pt x="2223393" y="15461"/>
                </a:lnTo>
                <a:lnTo>
                  <a:pt x="2206641" y="4147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10879" y="3346131"/>
            <a:ext cx="15633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050" y="3733800"/>
            <a:ext cx="2562225" cy="6381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500" y="3724275"/>
            <a:ext cx="2266950" cy="6953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7357" y="3736216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5"/>
                </a:lnTo>
                <a:lnTo>
                  <a:pt x="4146" y="32197"/>
                </a:lnTo>
                <a:lnTo>
                  <a:pt x="0" y="52696"/>
                </a:lnTo>
                <a:lnTo>
                  <a:pt x="0" y="263722"/>
                </a:lnTo>
                <a:lnTo>
                  <a:pt x="4146" y="284257"/>
                </a:lnTo>
                <a:lnTo>
                  <a:pt x="15452" y="301026"/>
                </a:lnTo>
                <a:lnTo>
                  <a:pt x="32221" y="312333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3"/>
                </a:lnTo>
                <a:lnTo>
                  <a:pt x="2223393" y="301026"/>
                </a:lnTo>
                <a:lnTo>
                  <a:pt x="2234693" y="284257"/>
                </a:lnTo>
                <a:lnTo>
                  <a:pt x="2238838" y="263722"/>
                </a:lnTo>
                <a:lnTo>
                  <a:pt x="2238838" y="52696"/>
                </a:lnTo>
                <a:lnTo>
                  <a:pt x="2234693" y="32197"/>
                </a:lnTo>
                <a:lnTo>
                  <a:pt x="2223393" y="15445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43894" y="3772537"/>
            <a:ext cx="16967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Multilevel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050" y="4181475"/>
            <a:ext cx="2562225" cy="6381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5250" y="4181475"/>
            <a:ext cx="2457450" cy="69532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7357" y="4188189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6"/>
                </a:lnTo>
                <a:lnTo>
                  <a:pt x="15452" y="15452"/>
                </a:lnTo>
                <a:lnTo>
                  <a:pt x="4146" y="32222"/>
                </a:lnTo>
                <a:lnTo>
                  <a:pt x="0" y="52757"/>
                </a:lnTo>
                <a:lnTo>
                  <a:pt x="0" y="263758"/>
                </a:lnTo>
                <a:lnTo>
                  <a:pt x="4146" y="284286"/>
                </a:lnTo>
                <a:lnTo>
                  <a:pt x="15452" y="301052"/>
                </a:lnTo>
                <a:lnTo>
                  <a:pt x="32221" y="312358"/>
                </a:lnTo>
                <a:lnTo>
                  <a:pt x="52754" y="316504"/>
                </a:lnTo>
                <a:lnTo>
                  <a:pt x="2186141" y="316504"/>
                </a:lnTo>
                <a:lnTo>
                  <a:pt x="2206641" y="312358"/>
                </a:lnTo>
                <a:lnTo>
                  <a:pt x="2223393" y="301052"/>
                </a:lnTo>
                <a:lnTo>
                  <a:pt x="2234693" y="284286"/>
                </a:lnTo>
                <a:lnTo>
                  <a:pt x="2238838" y="263758"/>
                </a:lnTo>
                <a:lnTo>
                  <a:pt x="2238838" y="52757"/>
                </a:lnTo>
                <a:lnTo>
                  <a:pt x="2234693" y="32222"/>
                </a:lnTo>
                <a:lnTo>
                  <a:pt x="2223393" y="15452"/>
                </a:lnTo>
                <a:lnTo>
                  <a:pt x="2206641" y="4146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48644" y="4225285"/>
            <a:ext cx="18865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050" y="4629150"/>
            <a:ext cx="2562225" cy="51434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04800" y="4629150"/>
            <a:ext cx="2038350" cy="51434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77357" y="4637352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51"/>
                </a:lnTo>
                <a:lnTo>
                  <a:pt x="4146" y="32217"/>
                </a:lnTo>
                <a:lnTo>
                  <a:pt x="0" y="52745"/>
                </a:lnTo>
                <a:lnTo>
                  <a:pt x="0" y="263748"/>
                </a:lnTo>
                <a:lnTo>
                  <a:pt x="4146" y="284275"/>
                </a:lnTo>
                <a:lnTo>
                  <a:pt x="15452" y="301041"/>
                </a:lnTo>
                <a:lnTo>
                  <a:pt x="32221" y="312347"/>
                </a:lnTo>
                <a:lnTo>
                  <a:pt x="52754" y="316493"/>
                </a:lnTo>
                <a:lnTo>
                  <a:pt x="2186141" y="316493"/>
                </a:lnTo>
                <a:lnTo>
                  <a:pt x="2206641" y="312347"/>
                </a:lnTo>
                <a:lnTo>
                  <a:pt x="2223393" y="301041"/>
                </a:lnTo>
                <a:lnTo>
                  <a:pt x="2234693" y="284275"/>
                </a:lnTo>
                <a:lnTo>
                  <a:pt x="2238838" y="263748"/>
                </a:lnTo>
                <a:lnTo>
                  <a:pt x="2238838" y="52745"/>
                </a:lnTo>
                <a:lnTo>
                  <a:pt x="2234693" y="32217"/>
                </a:lnTo>
                <a:lnTo>
                  <a:pt x="2223393" y="15451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title" idx="4294967295"/>
          </p:nvPr>
        </p:nvSpPr>
        <p:spPr>
          <a:xfrm>
            <a:off x="4957763" y="1228725"/>
            <a:ext cx="4186237" cy="44926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Combination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any </a:t>
            </a:r>
            <a:r>
              <a:rPr sz="1550" b="0" spc="10" dirty="0">
                <a:solidFill>
                  <a:srgbClr val="595959"/>
                </a:solidFill>
                <a:latin typeface="Arial"/>
                <a:cs typeface="Arial"/>
              </a:rPr>
              <a:t>two </a:t>
            </a:r>
            <a:r>
              <a:rPr sz="1550" b="0" spc="-15" dirty="0">
                <a:solidFill>
                  <a:srgbClr val="595959"/>
                </a:solidFill>
                <a:latin typeface="Arial"/>
                <a:cs typeface="Arial"/>
              </a:rPr>
              <a:t>kinds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550" b="0" spc="-2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inheritance</a:t>
            </a:r>
            <a:r>
              <a:rPr sz="2750" b="0" spc="5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48400" y="1781175"/>
            <a:ext cx="752475" cy="74295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279398" y="1845231"/>
            <a:ext cx="612775" cy="612775"/>
          </a:xfrm>
          <a:custGeom>
            <a:avLst/>
            <a:gdLst/>
            <a:ahLst/>
            <a:cxnLst/>
            <a:rect l="l" t="t" r="r" b="b"/>
            <a:pathLst>
              <a:path w="612775" h="612775">
                <a:moveTo>
                  <a:pt x="0" y="612468"/>
                </a:moveTo>
                <a:lnTo>
                  <a:pt x="612468" y="612468"/>
                </a:lnTo>
                <a:lnTo>
                  <a:pt x="612468" y="0"/>
                </a:lnTo>
                <a:lnTo>
                  <a:pt x="0" y="0"/>
                </a:lnTo>
                <a:lnTo>
                  <a:pt x="0" y="612468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257940" y="2847975"/>
            <a:ext cx="742949" cy="75247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284610" y="2918508"/>
            <a:ext cx="612775" cy="612775"/>
          </a:xfrm>
          <a:custGeom>
            <a:avLst/>
            <a:gdLst/>
            <a:ahLst/>
            <a:cxnLst/>
            <a:rect l="l" t="t" r="r" b="b"/>
            <a:pathLst>
              <a:path w="612775" h="612775">
                <a:moveTo>
                  <a:pt x="0" y="612468"/>
                </a:moveTo>
                <a:lnTo>
                  <a:pt x="612468" y="612468"/>
                </a:lnTo>
                <a:lnTo>
                  <a:pt x="612468" y="0"/>
                </a:lnTo>
                <a:lnTo>
                  <a:pt x="0" y="0"/>
                </a:lnTo>
                <a:lnTo>
                  <a:pt x="0" y="612468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529699" y="2457699"/>
            <a:ext cx="114300" cy="461009"/>
          </a:xfrm>
          <a:custGeom>
            <a:avLst/>
            <a:gdLst/>
            <a:ahLst/>
            <a:cxnLst/>
            <a:rect l="l" t="t" r="r" b="b"/>
            <a:pathLst>
              <a:path w="114300" h="461010">
                <a:moveTo>
                  <a:pt x="76174" y="114094"/>
                </a:moveTo>
                <a:lnTo>
                  <a:pt x="38073" y="114518"/>
                </a:lnTo>
                <a:lnTo>
                  <a:pt x="42031" y="461010"/>
                </a:lnTo>
                <a:lnTo>
                  <a:pt x="80131" y="460510"/>
                </a:lnTo>
                <a:lnTo>
                  <a:pt x="76174" y="114094"/>
                </a:lnTo>
                <a:close/>
              </a:path>
              <a:path w="114300" h="461010">
                <a:moveTo>
                  <a:pt x="55900" y="0"/>
                </a:moveTo>
                <a:lnTo>
                  <a:pt x="0" y="114943"/>
                </a:lnTo>
                <a:lnTo>
                  <a:pt x="38073" y="114518"/>
                </a:lnTo>
                <a:lnTo>
                  <a:pt x="37856" y="95512"/>
                </a:lnTo>
                <a:lnTo>
                  <a:pt x="75956" y="95000"/>
                </a:lnTo>
                <a:lnTo>
                  <a:pt x="104708" y="95000"/>
                </a:lnTo>
                <a:lnTo>
                  <a:pt x="55900" y="0"/>
                </a:lnTo>
                <a:close/>
              </a:path>
              <a:path w="114300" h="461010">
                <a:moveTo>
                  <a:pt x="75956" y="95000"/>
                </a:moveTo>
                <a:lnTo>
                  <a:pt x="37856" y="95512"/>
                </a:lnTo>
                <a:lnTo>
                  <a:pt x="38073" y="114518"/>
                </a:lnTo>
                <a:lnTo>
                  <a:pt x="76174" y="114094"/>
                </a:lnTo>
                <a:lnTo>
                  <a:pt x="75956" y="95000"/>
                </a:lnTo>
                <a:close/>
              </a:path>
              <a:path w="114300" h="461010">
                <a:moveTo>
                  <a:pt x="104708" y="95000"/>
                </a:moveTo>
                <a:lnTo>
                  <a:pt x="75956" y="95000"/>
                </a:lnTo>
                <a:lnTo>
                  <a:pt x="76174" y="114094"/>
                </a:lnTo>
                <a:lnTo>
                  <a:pt x="114300" y="113669"/>
                </a:lnTo>
                <a:lnTo>
                  <a:pt x="104708" y="95000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002150" y="2100196"/>
            <a:ext cx="574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1200" b="1" spc="-1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49377" y="3660723"/>
            <a:ext cx="5829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343509" y="2847975"/>
            <a:ext cx="742950" cy="75247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371094" y="2918508"/>
            <a:ext cx="612775" cy="612775"/>
          </a:xfrm>
          <a:custGeom>
            <a:avLst/>
            <a:gdLst/>
            <a:ahLst/>
            <a:cxnLst/>
            <a:rect l="l" t="t" r="r" b="b"/>
            <a:pathLst>
              <a:path w="612775" h="612775">
                <a:moveTo>
                  <a:pt x="0" y="612468"/>
                </a:moveTo>
                <a:lnTo>
                  <a:pt x="612468" y="612468"/>
                </a:lnTo>
                <a:lnTo>
                  <a:pt x="612468" y="0"/>
                </a:lnTo>
                <a:lnTo>
                  <a:pt x="0" y="0"/>
                </a:lnTo>
                <a:lnTo>
                  <a:pt x="0" y="612468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668640" y="2457699"/>
            <a:ext cx="917575" cy="478155"/>
          </a:xfrm>
          <a:custGeom>
            <a:avLst/>
            <a:gdLst/>
            <a:ahLst/>
            <a:cxnLst/>
            <a:rect l="l" t="t" r="r" b="b"/>
            <a:pathLst>
              <a:path w="917575" h="478155">
                <a:moveTo>
                  <a:pt x="806437" y="34750"/>
                </a:moveTo>
                <a:lnTo>
                  <a:pt x="0" y="443746"/>
                </a:lnTo>
                <a:lnTo>
                  <a:pt x="17282" y="477774"/>
                </a:lnTo>
                <a:lnTo>
                  <a:pt x="823656" y="68678"/>
                </a:lnTo>
                <a:lnTo>
                  <a:pt x="806437" y="34750"/>
                </a:lnTo>
                <a:close/>
              </a:path>
              <a:path w="917575" h="478155">
                <a:moveTo>
                  <a:pt x="897558" y="26170"/>
                </a:moveTo>
                <a:lnTo>
                  <a:pt x="823356" y="26170"/>
                </a:lnTo>
                <a:lnTo>
                  <a:pt x="840607" y="60079"/>
                </a:lnTo>
                <a:lnTo>
                  <a:pt x="823656" y="68678"/>
                </a:lnTo>
                <a:lnTo>
                  <a:pt x="840882" y="102620"/>
                </a:lnTo>
                <a:lnTo>
                  <a:pt x="897558" y="26170"/>
                </a:lnTo>
                <a:close/>
              </a:path>
              <a:path w="917575" h="478155">
                <a:moveTo>
                  <a:pt x="823356" y="26170"/>
                </a:moveTo>
                <a:lnTo>
                  <a:pt x="806437" y="34750"/>
                </a:lnTo>
                <a:lnTo>
                  <a:pt x="823656" y="68678"/>
                </a:lnTo>
                <a:lnTo>
                  <a:pt x="840607" y="60079"/>
                </a:lnTo>
                <a:lnTo>
                  <a:pt x="823356" y="26170"/>
                </a:lnTo>
                <a:close/>
              </a:path>
              <a:path w="917575" h="478155">
                <a:moveTo>
                  <a:pt x="916960" y="0"/>
                </a:moveTo>
                <a:lnTo>
                  <a:pt x="789188" y="762"/>
                </a:lnTo>
                <a:lnTo>
                  <a:pt x="806437" y="34750"/>
                </a:lnTo>
                <a:lnTo>
                  <a:pt x="823356" y="26170"/>
                </a:lnTo>
                <a:lnTo>
                  <a:pt x="897558" y="26170"/>
                </a:lnTo>
                <a:lnTo>
                  <a:pt x="916960" y="0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115190" y="2876550"/>
            <a:ext cx="742950" cy="75247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143506" y="2945940"/>
            <a:ext cx="612775" cy="612775"/>
          </a:xfrm>
          <a:custGeom>
            <a:avLst/>
            <a:gdLst/>
            <a:ahLst/>
            <a:cxnLst/>
            <a:rect l="l" t="t" r="r" b="b"/>
            <a:pathLst>
              <a:path w="612775" h="612775">
                <a:moveTo>
                  <a:pt x="0" y="612468"/>
                </a:moveTo>
                <a:lnTo>
                  <a:pt x="612468" y="612468"/>
                </a:lnTo>
                <a:lnTo>
                  <a:pt x="612468" y="0"/>
                </a:lnTo>
                <a:lnTo>
                  <a:pt x="0" y="0"/>
                </a:lnTo>
                <a:lnTo>
                  <a:pt x="0" y="612468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585600" y="2457699"/>
            <a:ext cx="873760" cy="504825"/>
          </a:xfrm>
          <a:custGeom>
            <a:avLst/>
            <a:gdLst/>
            <a:ahLst/>
            <a:cxnLst/>
            <a:rect l="l" t="t" r="r" b="b"/>
            <a:pathLst>
              <a:path w="873759" h="504825">
                <a:moveTo>
                  <a:pt x="108903" y="39599"/>
                </a:moveTo>
                <a:lnTo>
                  <a:pt x="90099" y="72874"/>
                </a:lnTo>
                <a:lnTo>
                  <a:pt x="854811" y="504825"/>
                </a:lnTo>
                <a:lnTo>
                  <a:pt x="873495" y="471678"/>
                </a:lnTo>
                <a:lnTo>
                  <a:pt x="108903" y="39599"/>
                </a:lnTo>
                <a:close/>
              </a:path>
              <a:path w="873759" h="504825">
                <a:moveTo>
                  <a:pt x="0" y="0"/>
                </a:moveTo>
                <a:lnTo>
                  <a:pt x="71353" y="106049"/>
                </a:lnTo>
                <a:lnTo>
                  <a:pt x="90099" y="72874"/>
                </a:lnTo>
                <a:lnTo>
                  <a:pt x="73517" y="63508"/>
                </a:lnTo>
                <a:lnTo>
                  <a:pt x="92323" y="30230"/>
                </a:lnTo>
                <a:lnTo>
                  <a:pt x="114197" y="30230"/>
                </a:lnTo>
                <a:lnTo>
                  <a:pt x="127619" y="6477"/>
                </a:lnTo>
                <a:lnTo>
                  <a:pt x="0" y="0"/>
                </a:lnTo>
                <a:close/>
              </a:path>
              <a:path w="873759" h="504825">
                <a:moveTo>
                  <a:pt x="92323" y="30230"/>
                </a:moveTo>
                <a:lnTo>
                  <a:pt x="73517" y="63508"/>
                </a:lnTo>
                <a:lnTo>
                  <a:pt x="90099" y="72874"/>
                </a:lnTo>
                <a:lnTo>
                  <a:pt x="108903" y="39599"/>
                </a:lnTo>
                <a:lnTo>
                  <a:pt x="92323" y="30230"/>
                </a:lnTo>
                <a:close/>
              </a:path>
              <a:path w="873759" h="504825">
                <a:moveTo>
                  <a:pt x="114197" y="30230"/>
                </a:moveTo>
                <a:lnTo>
                  <a:pt x="92323" y="30230"/>
                </a:lnTo>
                <a:lnTo>
                  <a:pt x="108903" y="39599"/>
                </a:lnTo>
                <a:lnTo>
                  <a:pt x="114197" y="30230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655569" y="3102671"/>
            <a:ext cx="5829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1200" b="1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842904" y="3133413"/>
            <a:ext cx="5829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248400" y="4171950"/>
            <a:ext cx="752475" cy="74295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279398" y="4235839"/>
            <a:ext cx="612775" cy="612775"/>
          </a:xfrm>
          <a:custGeom>
            <a:avLst/>
            <a:gdLst/>
            <a:ahLst/>
            <a:cxnLst/>
            <a:rect l="l" t="t" r="r" b="b"/>
            <a:pathLst>
              <a:path w="612775" h="612775">
                <a:moveTo>
                  <a:pt x="0" y="612468"/>
                </a:moveTo>
                <a:lnTo>
                  <a:pt x="612468" y="612468"/>
                </a:lnTo>
                <a:lnTo>
                  <a:pt x="612468" y="0"/>
                </a:lnTo>
                <a:lnTo>
                  <a:pt x="0" y="0"/>
                </a:lnTo>
                <a:lnTo>
                  <a:pt x="0" y="612468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677296" y="3530976"/>
            <a:ext cx="920115" cy="720090"/>
          </a:xfrm>
          <a:custGeom>
            <a:avLst/>
            <a:gdLst/>
            <a:ahLst/>
            <a:cxnLst/>
            <a:rect l="l" t="t" r="r" b="b"/>
            <a:pathLst>
              <a:path w="920115" h="720089">
                <a:moveTo>
                  <a:pt x="101993" y="54959"/>
                </a:moveTo>
                <a:lnTo>
                  <a:pt x="78621" y="85063"/>
                </a:lnTo>
                <a:lnTo>
                  <a:pt x="896599" y="719901"/>
                </a:lnTo>
                <a:lnTo>
                  <a:pt x="919977" y="689802"/>
                </a:lnTo>
                <a:lnTo>
                  <a:pt x="101993" y="54959"/>
                </a:lnTo>
                <a:close/>
              </a:path>
              <a:path w="920115" h="720089">
                <a:moveTo>
                  <a:pt x="0" y="0"/>
                </a:moveTo>
                <a:lnTo>
                  <a:pt x="55229" y="115193"/>
                </a:lnTo>
                <a:lnTo>
                  <a:pt x="78621" y="85063"/>
                </a:lnTo>
                <a:lnTo>
                  <a:pt x="63611" y="73414"/>
                </a:lnTo>
                <a:lnTo>
                  <a:pt x="86989" y="43315"/>
                </a:lnTo>
                <a:lnTo>
                  <a:pt x="111033" y="43315"/>
                </a:lnTo>
                <a:lnTo>
                  <a:pt x="125333" y="24896"/>
                </a:lnTo>
                <a:lnTo>
                  <a:pt x="0" y="0"/>
                </a:lnTo>
                <a:close/>
              </a:path>
              <a:path w="920115" h="720089">
                <a:moveTo>
                  <a:pt x="86989" y="43315"/>
                </a:moveTo>
                <a:lnTo>
                  <a:pt x="63611" y="73414"/>
                </a:lnTo>
                <a:lnTo>
                  <a:pt x="78621" y="85063"/>
                </a:lnTo>
                <a:lnTo>
                  <a:pt x="101993" y="54959"/>
                </a:lnTo>
                <a:lnTo>
                  <a:pt x="86989" y="43315"/>
                </a:lnTo>
                <a:close/>
              </a:path>
              <a:path w="920115" h="720089">
                <a:moveTo>
                  <a:pt x="111033" y="43315"/>
                </a:moveTo>
                <a:lnTo>
                  <a:pt x="86989" y="43315"/>
                </a:lnTo>
                <a:lnTo>
                  <a:pt x="101993" y="54959"/>
                </a:lnTo>
                <a:lnTo>
                  <a:pt x="111033" y="43315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573773" y="3558408"/>
            <a:ext cx="876300" cy="692785"/>
          </a:xfrm>
          <a:custGeom>
            <a:avLst/>
            <a:gdLst/>
            <a:ahLst/>
            <a:cxnLst/>
            <a:rect l="l" t="t" r="r" b="b"/>
            <a:pathLst>
              <a:path w="876300" h="692785">
                <a:moveTo>
                  <a:pt x="774283" y="55591"/>
                </a:moveTo>
                <a:lnTo>
                  <a:pt x="0" y="662440"/>
                </a:lnTo>
                <a:lnTo>
                  <a:pt x="23622" y="692420"/>
                </a:lnTo>
                <a:lnTo>
                  <a:pt x="797788" y="85569"/>
                </a:lnTo>
                <a:lnTo>
                  <a:pt x="774283" y="55591"/>
                </a:lnTo>
                <a:close/>
              </a:path>
              <a:path w="876300" h="692785">
                <a:moveTo>
                  <a:pt x="855227" y="43815"/>
                </a:moveTo>
                <a:lnTo>
                  <a:pt x="789310" y="43815"/>
                </a:lnTo>
                <a:lnTo>
                  <a:pt x="812810" y="73795"/>
                </a:lnTo>
                <a:lnTo>
                  <a:pt x="797788" y="85569"/>
                </a:lnTo>
                <a:lnTo>
                  <a:pt x="821314" y="115574"/>
                </a:lnTo>
                <a:lnTo>
                  <a:pt x="855227" y="43815"/>
                </a:lnTo>
                <a:close/>
              </a:path>
              <a:path w="876300" h="692785">
                <a:moveTo>
                  <a:pt x="789310" y="43815"/>
                </a:moveTo>
                <a:lnTo>
                  <a:pt x="774283" y="55591"/>
                </a:lnTo>
                <a:lnTo>
                  <a:pt x="797788" y="85569"/>
                </a:lnTo>
                <a:lnTo>
                  <a:pt x="812810" y="73795"/>
                </a:lnTo>
                <a:lnTo>
                  <a:pt x="789310" y="43815"/>
                </a:lnTo>
                <a:close/>
              </a:path>
              <a:path w="876300" h="692785">
                <a:moveTo>
                  <a:pt x="875934" y="0"/>
                </a:moveTo>
                <a:lnTo>
                  <a:pt x="750813" y="25658"/>
                </a:lnTo>
                <a:lnTo>
                  <a:pt x="774283" y="55591"/>
                </a:lnTo>
                <a:lnTo>
                  <a:pt x="789310" y="43815"/>
                </a:lnTo>
                <a:lnTo>
                  <a:pt x="855227" y="43815"/>
                </a:lnTo>
                <a:lnTo>
                  <a:pt x="875934" y="0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58504" y="4692360"/>
            <a:ext cx="14681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Hybrid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438651" y="4949055"/>
            <a:ext cx="57404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53" name="Slide Number Placeholder 5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33375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232785" cy="1381125"/>
          </a:xfrm>
          <a:custGeom>
            <a:avLst/>
            <a:gdLst/>
            <a:ahLst/>
            <a:cxnLst/>
            <a:rect l="l" t="t" r="r" b="b"/>
            <a:pathLst>
              <a:path w="3232785" h="1381125">
                <a:moveTo>
                  <a:pt x="0" y="1380993"/>
                </a:moveTo>
                <a:lnTo>
                  <a:pt x="3232282" y="1380993"/>
                </a:lnTo>
                <a:lnTo>
                  <a:pt x="323228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232785" cy="2430145"/>
          </a:xfrm>
          <a:custGeom>
            <a:avLst/>
            <a:gdLst/>
            <a:ahLst/>
            <a:cxnLst/>
            <a:rect l="l" t="t" r="r" b="b"/>
            <a:pathLst>
              <a:path w="3232785" h="2430145">
                <a:moveTo>
                  <a:pt x="0" y="2429637"/>
                </a:moveTo>
                <a:lnTo>
                  <a:pt x="3232282" y="2429637"/>
                </a:lnTo>
                <a:lnTo>
                  <a:pt x="3232282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232785" cy="1332865"/>
          </a:xfrm>
          <a:custGeom>
            <a:avLst/>
            <a:gdLst/>
            <a:ahLst/>
            <a:cxnLst/>
            <a:rect l="l" t="t" r="r" b="b"/>
            <a:pathLst>
              <a:path w="3232785" h="1332864">
                <a:moveTo>
                  <a:pt x="0" y="1332869"/>
                </a:moveTo>
                <a:lnTo>
                  <a:pt x="3232282" y="1332869"/>
                </a:lnTo>
                <a:lnTo>
                  <a:pt x="3232282" y="0"/>
                </a:lnTo>
                <a:lnTo>
                  <a:pt x="0" y="0"/>
                </a:lnTo>
                <a:lnTo>
                  <a:pt x="0" y="1332869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025" y="1340164"/>
            <a:ext cx="2707640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595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83687" y="776918"/>
            <a:ext cx="34105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What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is </a:t>
            </a:r>
            <a:r>
              <a:rPr sz="2000" b="1" spc="30" dirty="0">
                <a:solidFill>
                  <a:srgbClr val="6F2F9F"/>
                </a:solidFill>
                <a:latin typeface="Arial"/>
                <a:cs typeface="Arial"/>
              </a:rPr>
              <a:t>Hybrid</a:t>
            </a:r>
            <a:r>
              <a:rPr sz="2000" b="1" spc="-409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Inheritance?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50" y="2857500"/>
            <a:ext cx="2562225" cy="6381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4325" y="2847975"/>
            <a:ext cx="2019300" cy="6953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7357" y="2859023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6"/>
                </a:lnTo>
                <a:lnTo>
                  <a:pt x="4146" y="32202"/>
                </a:lnTo>
                <a:lnTo>
                  <a:pt x="0" y="52709"/>
                </a:lnTo>
                <a:lnTo>
                  <a:pt x="0" y="263652"/>
                </a:lnTo>
                <a:lnTo>
                  <a:pt x="4146" y="284227"/>
                </a:lnTo>
                <a:lnTo>
                  <a:pt x="15452" y="301018"/>
                </a:lnTo>
                <a:lnTo>
                  <a:pt x="32221" y="312332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2"/>
                </a:lnTo>
                <a:lnTo>
                  <a:pt x="2223393" y="301018"/>
                </a:lnTo>
                <a:lnTo>
                  <a:pt x="2234693" y="284227"/>
                </a:lnTo>
                <a:lnTo>
                  <a:pt x="2238838" y="263652"/>
                </a:lnTo>
                <a:lnTo>
                  <a:pt x="2238838" y="52709"/>
                </a:lnTo>
                <a:lnTo>
                  <a:pt x="2234693" y="32202"/>
                </a:lnTo>
                <a:lnTo>
                  <a:pt x="2223393" y="15446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68029" y="2893629"/>
            <a:ext cx="14490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050" y="3305175"/>
            <a:ext cx="2562225" cy="6381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7175" y="3305175"/>
            <a:ext cx="2133600" cy="6953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7357" y="3310508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7"/>
                </a:lnTo>
                <a:lnTo>
                  <a:pt x="15452" y="15461"/>
                </a:lnTo>
                <a:lnTo>
                  <a:pt x="4146" y="32252"/>
                </a:lnTo>
                <a:lnTo>
                  <a:pt x="0" y="52827"/>
                </a:lnTo>
                <a:lnTo>
                  <a:pt x="0" y="263783"/>
                </a:lnTo>
                <a:lnTo>
                  <a:pt x="4146" y="284282"/>
                </a:lnTo>
                <a:lnTo>
                  <a:pt x="15452" y="301034"/>
                </a:lnTo>
                <a:lnTo>
                  <a:pt x="32221" y="312334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4"/>
                </a:lnTo>
                <a:lnTo>
                  <a:pt x="2223393" y="301034"/>
                </a:lnTo>
                <a:lnTo>
                  <a:pt x="2234693" y="284282"/>
                </a:lnTo>
                <a:lnTo>
                  <a:pt x="2238838" y="263783"/>
                </a:lnTo>
                <a:lnTo>
                  <a:pt x="2238838" y="52827"/>
                </a:lnTo>
                <a:lnTo>
                  <a:pt x="2234693" y="32252"/>
                </a:lnTo>
                <a:lnTo>
                  <a:pt x="2223393" y="15461"/>
                </a:lnTo>
                <a:lnTo>
                  <a:pt x="2206641" y="4147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10879" y="3346131"/>
            <a:ext cx="15633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050" y="3733800"/>
            <a:ext cx="2562225" cy="6381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500" y="3724275"/>
            <a:ext cx="2266950" cy="6953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7357" y="3736216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45"/>
                </a:lnTo>
                <a:lnTo>
                  <a:pt x="4146" y="32197"/>
                </a:lnTo>
                <a:lnTo>
                  <a:pt x="0" y="52696"/>
                </a:lnTo>
                <a:lnTo>
                  <a:pt x="0" y="263722"/>
                </a:lnTo>
                <a:lnTo>
                  <a:pt x="4146" y="284257"/>
                </a:lnTo>
                <a:lnTo>
                  <a:pt x="15452" y="301026"/>
                </a:lnTo>
                <a:lnTo>
                  <a:pt x="32221" y="312333"/>
                </a:lnTo>
                <a:lnTo>
                  <a:pt x="52754" y="316479"/>
                </a:lnTo>
                <a:lnTo>
                  <a:pt x="2186141" y="316479"/>
                </a:lnTo>
                <a:lnTo>
                  <a:pt x="2206641" y="312333"/>
                </a:lnTo>
                <a:lnTo>
                  <a:pt x="2223393" y="301026"/>
                </a:lnTo>
                <a:lnTo>
                  <a:pt x="2234693" y="284257"/>
                </a:lnTo>
                <a:lnTo>
                  <a:pt x="2238838" y="263722"/>
                </a:lnTo>
                <a:lnTo>
                  <a:pt x="2238838" y="52696"/>
                </a:lnTo>
                <a:lnTo>
                  <a:pt x="2234693" y="32197"/>
                </a:lnTo>
                <a:lnTo>
                  <a:pt x="2223393" y="15445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43894" y="3772537"/>
            <a:ext cx="16967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Multilevel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050" y="4181475"/>
            <a:ext cx="2562225" cy="6381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5250" y="4181475"/>
            <a:ext cx="2457450" cy="69532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7357" y="4188189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6"/>
                </a:lnTo>
                <a:lnTo>
                  <a:pt x="15452" y="15452"/>
                </a:lnTo>
                <a:lnTo>
                  <a:pt x="4146" y="32222"/>
                </a:lnTo>
                <a:lnTo>
                  <a:pt x="0" y="52757"/>
                </a:lnTo>
                <a:lnTo>
                  <a:pt x="0" y="263758"/>
                </a:lnTo>
                <a:lnTo>
                  <a:pt x="4146" y="284286"/>
                </a:lnTo>
                <a:lnTo>
                  <a:pt x="15452" y="301052"/>
                </a:lnTo>
                <a:lnTo>
                  <a:pt x="32221" y="312358"/>
                </a:lnTo>
                <a:lnTo>
                  <a:pt x="52754" y="316504"/>
                </a:lnTo>
                <a:lnTo>
                  <a:pt x="2186141" y="316504"/>
                </a:lnTo>
                <a:lnTo>
                  <a:pt x="2206641" y="312358"/>
                </a:lnTo>
                <a:lnTo>
                  <a:pt x="2223393" y="301052"/>
                </a:lnTo>
                <a:lnTo>
                  <a:pt x="2234693" y="284286"/>
                </a:lnTo>
                <a:lnTo>
                  <a:pt x="2238838" y="263758"/>
                </a:lnTo>
                <a:lnTo>
                  <a:pt x="2238838" y="52757"/>
                </a:lnTo>
                <a:lnTo>
                  <a:pt x="2234693" y="32222"/>
                </a:lnTo>
                <a:lnTo>
                  <a:pt x="2223393" y="15452"/>
                </a:lnTo>
                <a:lnTo>
                  <a:pt x="2206641" y="4146"/>
                </a:lnTo>
                <a:lnTo>
                  <a:pt x="218614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48644" y="4225285"/>
            <a:ext cx="18865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050" y="4629150"/>
            <a:ext cx="2562225" cy="51434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04800" y="4629150"/>
            <a:ext cx="2038350" cy="51434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77357" y="4637352"/>
            <a:ext cx="2239010" cy="316865"/>
          </a:xfrm>
          <a:custGeom>
            <a:avLst/>
            <a:gdLst/>
            <a:ahLst/>
            <a:cxnLst/>
            <a:rect l="l" t="t" r="r" b="b"/>
            <a:pathLst>
              <a:path w="2239010" h="316864">
                <a:moveTo>
                  <a:pt x="2186141" y="0"/>
                </a:moveTo>
                <a:lnTo>
                  <a:pt x="52754" y="0"/>
                </a:lnTo>
                <a:lnTo>
                  <a:pt x="32221" y="4145"/>
                </a:lnTo>
                <a:lnTo>
                  <a:pt x="15452" y="15451"/>
                </a:lnTo>
                <a:lnTo>
                  <a:pt x="4146" y="32217"/>
                </a:lnTo>
                <a:lnTo>
                  <a:pt x="0" y="52745"/>
                </a:lnTo>
                <a:lnTo>
                  <a:pt x="0" y="263748"/>
                </a:lnTo>
                <a:lnTo>
                  <a:pt x="4146" y="284275"/>
                </a:lnTo>
                <a:lnTo>
                  <a:pt x="15452" y="301041"/>
                </a:lnTo>
                <a:lnTo>
                  <a:pt x="32221" y="312347"/>
                </a:lnTo>
                <a:lnTo>
                  <a:pt x="52754" y="316493"/>
                </a:lnTo>
                <a:lnTo>
                  <a:pt x="2186141" y="316493"/>
                </a:lnTo>
                <a:lnTo>
                  <a:pt x="2206641" y="312347"/>
                </a:lnTo>
                <a:lnTo>
                  <a:pt x="2223393" y="301041"/>
                </a:lnTo>
                <a:lnTo>
                  <a:pt x="2234693" y="284275"/>
                </a:lnTo>
                <a:lnTo>
                  <a:pt x="2238838" y="263748"/>
                </a:lnTo>
                <a:lnTo>
                  <a:pt x="2238838" y="52745"/>
                </a:lnTo>
                <a:lnTo>
                  <a:pt x="2234693" y="32217"/>
                </a:lnTo>
                <a:lnTo>
                  <a:pt x="2223393" y="15451"/>
                </a:lnTo>
                <a:lnTo>
                  <a:pt x="2206641" y="4145"/>
                </a:lnTo>
                <a:lnTo>
                  <a:pt x="218614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58504" y="4675187"/>
            <a:ext cx="14681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Hybrid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 idx="4294967295"/>
          </p:nvPr>
        </p:nvSpPr>
        <p:spPr>
          <a:xfrm>
            <a:off x="4957763" y="1228725"/>
            <a:ext cx="4186237" cy="44926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Combination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any </a:t>
            </a:r>
            <a:r>
              <a:rPr sz="1550" b="0" spc="10" dirty="0">
                <a:solidFill>
                  <a:srgbClr val="595959"/>
                </a:solidFill>
                <a:latin typeface="Arial"/>
                <a:cs typeface="Arial"/>
              </a:rPr>
              <a:t>two </a:t>
            </a:r>
            <a:r>
              <a:rPr sz="1550" b="0" spc="-15" dirty="0">
                <a:solidFill>
                  <a:srgbClr val="595959"/>
                </a:solidFill>
                <a:latin typeface="Arial"/>
                <a:cs typeface="Arial"/>
              </a:rPr>
              <a:t>kinds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550" b="0" spc="-2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inheritance</a:t>
            </a:r>
            <a:r>
              <a:rPr sz="2750" b="0" spc="5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05596" y="2682382"/>
            <a:ext cx="2406650" cy="2247265"/>
          </a:xfrm>
          <a:custGeom>
            <a:avLst/>
            <a:gdLst/>
            <a:ahLst/>
            <a:cxnLst/>
            <a:rect l="l" t="t" r="r" b="b"/>
            <a:pathLst>
              <a:path w="2406650" h="2247265">
                <a:moveTo>
                  <a:pt x="0" y="2246757"/>
                </a:moveTo>
                <a:lnTo>
                  <a:pt x="2406146" y="2246757"/>
                </a:lnTo>
                <a:lnTo>
                  <a:pt x="2406146" y="0"/>
                </a:lnTo>
                <a:lnTo>
                  <a:pt x="0" y="0"/>
                </a:lnTo>
                <a:lnTo>
                  <a:pt x="0" y="2246757"/>
                </a:lnTo>
                <a:close/>
              </a:path>
            </a:pathLst>
          </a:custGeom>
          <a:solidFill>
            <a:srgbClr val="2F233B">
              <a:alpha val="3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588006" y="2710876"/>
            <a:ext cx="12007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&gt;&gt;&gt;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A: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61288" y="2920676"/>
            <a:ext cx="3155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x=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88006" y="3130858"/>
            <a:ext cx="149542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&gt;&gt;&gt;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B(A):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61288" y="3350314"/>
            <a:ext cx="4203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pa</a:t>
            </a: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s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s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88006" y="3560126"/>
            <a:ext cx="149542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&gt;&gt;&gt;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C(A):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88006" y="3779511"/>
            <a:ext cx="1993900" cy="1092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 algn="r">
              <a:lnSpc>
                <a:spcPts val="1670"/>
              </a:lnSpc>
              <a:spcBef>
                <a:spcPts val="125"/>
              </a:spcBef>
            </a:pP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pa</a:t>
            </a: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s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s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5"/>
              </a:lnSpc>
            </a:pP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&gt;&gt;&gt;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D(B,C):</a:t>
            </a:r>
            <a:endParaRPr sz="1400">
              <a:latin typeface="Consolas"/>
              <a:cs typeface="Consolas"/>
            </a:endParaRPr>
          </a:p>
          <a:p>
            <a:pPr marR="5080" algn="r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pa</a:t>
            </a: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s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s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  <a:spcBef>
                <a:spcPts val="50"/>
              </a:spcBef>
            </a:pP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&gt;&gt;&gt;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dobj=D()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</a:pP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&gt;&gt;&gt;</a:t>
            </a: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dobj.x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152790" y="2190750"/>
            <a:ext cx="2009775" cy="80962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162300" y="2276475"/>
            <a:ext cx="2038350" cy="69532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505596" y="2199131"/>
            <a:ext cx="1689100" cy="483234"/>
          </a:xfrm>
          <a:custGeom>
            <a:avLst/>
            <a:gdLst/>
            <a:ahLst/>
            <a:cxnLst/>
            <a:rect l="l" t="t" r="r" b="b"/>
            <a:pathLst>
              <a:path w="1689100" h="483235">
                <a:moveTo>
                  <a:pt x="1608185" y="0"/>
                </a:moveTo>
                <a:lnTo>
                  <a:pt x="80497" y="0"/>
                </a:lnTo>
                <a:lnTo>
                  <a:pt x="49171" y="6329"/>
                </a:lnTo>
                <a:lnTo>
                  <a:pt x="23583" y="23589"/>
                </a:lnTo>
                <a:lnTo>
                  <a:pt x="6328" y="49184"/>
                </a:lnTo>
                <a:lnTo>
                  <a:pt x="0" y="80522"/>
                </a:lnTo>
                <a:lnTo>
                  <a:pt x="0" y="402717"/>
                </a:lnTo>
                <a:lnTo>
                  <a:pt x="6328" y="434049"/>
                </a:lnTo>
                <a:lnTo>
                  <a:pt x="23583" y="459645"/>
                </a:lnTo>
                <a:lnTo>
                  <a:pt x="49171" y="476907"/>
                </a:lnTo>
                <a:lnTo>
                  <a:pt x="80497" y="483239"/>
                </a:lnTo>
                <a:lnTo>
                  <a:pt x="1608185" y="483239"/>
                </a:lnTo>
                <a:lnTo>
                  <a:pt x="1639516" y="476907"/>
                </a:lnTo>
                <a:lnTo>
                  <a:pt x="1665114" y="459645"/>
                </a:lnTo>
                <a:lnTo>
                  <a:pt x="1682380" y="434049"/>
                </a:lnTo>
                <a:lnTo>
                  <a:pt x="1688713" y="402717"/>
                </a:lnTo>
                <a:lnTo>
                  <a:pt x="1688713" y="80522"/>
                </a:lnTo>
                <a:lnTo>
                  <a:pt x="1682380" y="49184"/>
                </a:lnTo>
                <a:lnTo>
                  <a:pt x="1665114" y="23589"/>
                </a:lnTo>
                <a:lnTo>
                  <a:pt x="1639516" y="6329"/>
                </a:lnTo>
                <a:lnTo>
                  <a:pt x="1608185" y="0"/>
                </a:lnTo>
                <a:close/>
              </a:path>
            </a:pathLst>
          </a:custGeom>
          <a:solidFill>
            <a:srgbClr val="5F477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612136" y="2316160"/>
            <a:ext cx="14719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Hybrid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 Inheritance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44" name="Slide Number Placeholder 4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33375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232785" cy="1381125"/>
          </a:xfrm>
          <a:custGeom>
            <a:avLst/>
            <a:gdLst/>
            <a:ahLst/>
            <a:cxnLst/>
            <a:rect l="l" t="t" r="r" b="b"/>
            <a:pathLst>
              <a:path w="3232785" h="1381125">
                <a:moveTo>
                  <a:pt x="0" y="1380993"/>
                </a:moveTo>
                <a:lnTo>
                  <a:pt x="3232282" y="1380993"/>
                </a:lnTo>
                <a:lnTo>
                  <a:pt x="323228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232785" cy="2430145"/>
          </a:xfrm>
          <a:custGeom>
            <a:avLst/>
            <a:gdLst/>
            <a:ahLst/>
            <a:cxnLst/>
            <a:rect l="l" t="t" r="r" b="b"/>
            <a:pathLst>
              <a:path w="3232785" h="2430145">
                <a:moveTo>
                  <a:pt x="0" y="2429637"/>
                </a:moveTo>
                <a:lnTo>
                  <a:pt x="3232282" y="2429637"/>
                </a:lnTo>
                <a:lnTo>
                  <a:pt x="3232282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232785" cy="1332865"/>
          </a:xfrm>
          <a:custGeom>
            <a:avLst/>
            <a:gdLst/>
            <a:ahLst/>
            <a:cxnLst/>
            <a:rect l="l" t="t" r="r" b="b"/>
            <a:pathLst>
              <a:path w="3232785" h="1332864">
                <a:moveTo>
                  <a:pt x="0" y="1332869"/>
                </a:moveTo>
                <a:lnTo>
                  <a:pt x="3232282" y="1332869"/>
                </a:lnTo>
                <a:lnTo>
                  <a:pt x="3232282" y="0"/>
                </a:lnTo>
                <a:lnTo>
                  <a:pt x="0" y="0"/>
                </a:lnTo>
                <a:lnTo>
                  <a:pt x="0" y="1332869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340164"/>
            <a:ext cx="3232785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85725" marR="457200">
              <a:lnSpc>
                <a:spcPts val="4360"/>
              </a:lnSpc>
              <a:spcBef>
                <a:spcPts val="595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21787" y="776918"/>
            <a:ext cx="33432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Inheritance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Super</a:t>
            </a:r>
            <a:r>
              <a:rPr sz="2000" b="1" spc="-40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6F2F9F"/>
                </a:solidFill>
                <a:latin typeface="Arial"/>
                <a:cs typeface="Arial"/>
              </a:rPr>
              <a:t>Function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 idx="4294967295"/>
          </p:nvPr>
        </p:nvSpPr>
        <p:spPr>
          <a:xfrm>
            <a:off x="4948238" y="1228725"/>
            <a:ext cx="4195762" cy="44926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Used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550" b="0" spc="10" dirty="0">
                <a:solidFill>
                  <a:srgbClr val="595959"/>
                </a:solidFill>
                <a:latin typeface="Arial"/>
                <a:cs typeface="Arial"/>
              </a:rPr>
              <a:t>call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550" b="0" spc="-5" dirty="0">
                <a:solidFill>
                  <a:srgbClr val="595959"/>
                </a:solidFill>
                <a:latin typeface="Arial"/>
                <a:cs typeface="Arial"/>
              </a:rPr>
              <a:t>method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550" b="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parent</a:t>
            </a:r>
            <a:r>
              <a:rPr sz="1550" b="0" spc="229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2750" b="0" spc="15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43250" y="1743075"/>
            <a:ext cx="2019300" cy="8096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76600" y="1828800"/>
            <a:ext cx="1800225" cy="6953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02792" y="1752081"/>
            <a:ext cx="1689100" cy="483870"/>
          </a:xfrm>
          <a:custGeom>
            <a:avLst/>
            <a:gdLst/>
            <a:ahLst/>
            <a:cxnLst/>
            <a:rect l="l" t="t" r="r" b="b"/>
            <a:pathLst>
              <a:path w="1689100" h="483869">
                <a:moveTo>
                  <a:pt x="1608185" y="0"/>
                </a:moveTo>
                <a:lnTo>
                  <a:pt x="80528" y="0"/>
                </a:lnTo>
                <a:lnTo>
                  <a:pt x="49184" y="6333"/>
                </a:lnTo>
                <a:lnTo>
                  <a:pt x="23587" y="23599"/>
                </a:lnTo>
                <a:lnTo>
                  <a:pt x="6328" y="49197"/>
                </a:lnTo>
                <a:lnTo>
                  <a:pt x="0" y="80528"/>
                </a:lnTo>
                <a:lnTo>
                  <a:pt x="0" y="402723"/>
                </a:lnTo>
                <a:lnTo>
                  <a:pt x="6328" y="434060"/>
                </a:lnTo>
                <a:lnTo>
                  <a:pt x="23587" y="459655"/>
                </a:lnTo>
                <a:lnTo>
                  <a:pt x="49184" y="476915"/>
                </a:lnTo>
                <a:lnTo>
                  <a:pt x="80528" y="483245"/>
                </a:lnTo>
                <a:lnTo>
                  <a:pt x="1608185" y="483245"/>
                </a:lnTo>
                <a:lnTo>
                  <a:pt x="1639529" y="476915"/>
                </a:lnTo>
                <a:lnTo>
                  <a:pt x="1665126" y="459655"/>
                </a:lnTo>
                <a:lnTo>
                  <a:pt x="1682385" y="434060"/>
                </a:lnTo>
                <a:lnTo>
                  <a:pt x="1688713" y="402723"/>
                </a:lnTo>
                <a:lnTo>
                  <a:pt x="1688713" y="80528"/>
                </a:lnTo>
                <a:lnTo>
                  <a:pt x="1682385" y="49197"/>
                </a:lnTo>
                <a:lnTo>
                  <a:pt x="1665126" y="23599"/>
                </a:lnTo>
                <a:lnTo>
                  <a:pt x="1639529" y="6333"/>
                </a:lnTo>
                <a:lnTo>
                  <a:pt x="1608185" y="0"/>
                </a:lnTo>
                <a:close/>
              </a:path>
            </a:pathLst>
          </a:custGeom>
          <a:solidFill>
            <a:srgbClr val="5F477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33548" y="1868103"/>
            <a:ext cx="12395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Super</a:t>
            </a:r>
            <a:r>
              <a:rPr sz="1400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90178" y="2261323"/>
            <a:ext cx="4032503" cy="26502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02792" y="2235362"/>
            <a:ext cx="4612640" cy="2677795"/>
          </a:xfrm>
          <a:prstGeom prst="rect">
            <a:avLst/>
          </a:prstGeom>
          <a:solidFill>
            <a:srgbClr val="2F233B">
              <a:alpha val="32156"/>
            </a:srgbClr>
          </a:solidFill>
        </p:spPr>
        <p:txBody>
          <a:bodyPr vert="horz" wrap="square" lIns="0" tIns="43815" rIns="0" bIns="0" rtlCol="0">
            <a:spAutoFit/>
          </a:bodyPr>
          <a:lstStyle/>
          <a:p>
            <a:pPr marL="94615">
              <a:lnSpc>
                <a:spcPts val="1664"/>
              </a:lnSpc>
              <a:spcBef>
                <a:spcPts val="345"/>
              </a:spcBef>
            </a:pP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6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Vehicle:</a:t>
            </a:r>
            <a:endParaRPr sz="1400">
              <a:latin typeface="Consolas"/>
              <a:cs typeface="Consolas"/>
            </a:endParaRPr>
          </a:p>
          <a:p>
            <a:pPr marL="1172210">
              <a:lnSpc>
                <a:spcPts val="1650"/>
              </a:lnSpc>
            </a:pP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def</a:t>
            </a:r>
            <a:r>
              <a:rPr sz="1400" spc="-6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start(self):</a:t>
            </a:r>
            <a:endParaRPr sz="1400">
              <a:latin typeface="Consolas"/>
              <a:cs typeface="Consolas"/>
            </a:endParaRPr>
          </a:p>
          <a:p>
            <a:pPr marL="1172210" marR="476884" indent="590550">
              <a:lnSpc>
                <a:spcPts val="1730"/>
              </a:lnSpc>
            </a:pP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print("Starting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engine")  </a:t>
            </a: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def</a:t>
            </a:r>
            <a:r>
              <a:rPr sz="1400" spc="-6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stop(self):</a:t>
            </a:r>
            <a:endParaRPr sz="1400">
              <a:latin typeface="Consolas"/>
              <a:cs typeface="Consolas"/>
            </a:endParaRPr>
          </a:p>
          <a:p>
            <a:pPr marL="1763395">
              <a:lnSpc>
                <a:spcPts val="1585"/>
              </a:lnSpc>
            </a:pP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print("Stopping</a:t>
            </a:r>
            <a:r>
              <a:rPr sz="1400" spc="-6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engine")</a:t>
            </a:r>
            <a:endParaRPr sz="1400">
              <a:latin typeface="Consolas"/>
              <a:cs typeface="Consolas"/>
            </a:endParaRPr>
          </a:p>
          <a:p>
            <a:pPr marL="94615">
              <a:lnSpc>
                <a:spcPts val="1664"/>
              </a:lnSpc>
              <a:spcBef>
                <a:spcPts val="50"/>
              </a:spcBef>
            </a:pP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5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TwoWheeler(Vehicle):</a:t>
            </a:r>
            <a:endParaRPr sz="1400">
              <a:latin typeface="Consolas"/>
              <a:cs typeface="Consolas"/>
            </a:endParaRPr>
          </a:p>
          <a:p>
            <a:pPr marL="1172210">
              <a:lnSpc>
                <a:spcPts val="1650"/>
              </a:lnSpc>
            </a:pP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def</a:t>
            </a:r>
            <a:r>
              <a:rPr sz="1400" spc="-6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say(self):</a:t>
            </a:r>
            <a:endParaRPr sz="1400">
              <a:latin typeface="Consolas"/>
              <a:cs typeface="Consolas"/>
            </a:endParaRPr>
          </a:p>
          <a:p>
            <a:pPr marL="1858645">
              <a:lnSpc>
                <a:spcPts val="1664"/>
              </a:lnSpc>
            </a:pP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super().start()</a:t>
            </a:r>
            <a:endParaRPr sz="1400">
              <a:latin typeface="Consolas"/>
              <a:cs typeface="Consolas"/>
            </a:endParaRPr>
          </a:p>
          <a:p>
            <a:pPr marL="1858645" marR="181610">
              <a:lnSpc>
                <a:spcPts val="1650"/>
              </a:lnSpc>
              <a:spcBef>
                <a:spcPts val="130"/>
              </a:spcBef>
            </a:pP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print("I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have </a:t>
            </a: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two</a:t>
            </a:r>
            <a:r>
              <a:rPr sz="1400" spc="-1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wheels") 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super().stop()</a:t>
            </a:r>
            <a:endParaRPr sz="1400">
              <a:latin typeface="Consolas"/>
              <a:cs typeface="Consolas"/>
            </a:endParaRPr>
          </a:p>
          <a:p>
            <a:pPr marL="94615" marR="2650490">
              <a:lnSpc>
                <a:spcPts val="1650"/>
              </a:lnSpc>
              <a:spcBef>
                <a:spcPts val="80"/>
              </a:spcBef>
            </a:pP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Har</a:t>
            </a: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l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ey</a:t>
            </a:r>
            <a:r>
              <a:rPr sz="1400" spc="60" dirty="0">
                <a:solidFill>
                  <a:srgbClr val="FFFFFF"/>
                </a:solidFill>
                <a:latin typeface="Consolas"/>
                <a:cs typeface="Consolas"/>
              </a:rPr>
              <a:t>=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Tw</a:t>
            </a: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o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Wh</a:t>
            </a: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e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el</a:t>
            </a: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e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r</a:t>
            </a: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() 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Harley.say()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33375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232785" cy="1381125"/>
          </a:xfrm>
          <a:custGeom>
            <a:avLst/>
            <a:gdLst/>
            <a:ahLst/>
            <a:cxnLst/>
            <a:rect l="l" t="t" r="r" b="b"/>
            <a:pathLst>
              <a:path w="3232785" h="1381125">
                <a:moveTo>
                  <a:pt x="0" y="1380993"/>
                </a:moveTo>
                <a:lnTo>
                  <a:pt x="3232282" y="1380993"/>
                </a:lnTo>
                <a:lnTo>
                  <a:pt x="323228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232785" cy="2430145"/>
          </a:xfrm>
          <a:custGeom>
            <a:avLst/>
            <a:gdLst/>
            <a:ahLst/>
            <a:cxnLst/>
            <a:rect l="l" t="t" r="r" b="b"/>
            <a:pathLst>
              <a:path w="3232785" h="2430145">
                <a:moveTo>
                  <a:pt x="0" y="2429637"/>
                </a:moveTo>
                <a:lnTo>
                  <a:pt x="3232282" y="2429637"/>
                </a:lnTo>
                <a:lnTo>
                  <a:pt x="3232282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380993"/>
            <a:ext cx="3232785" cy="1332865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34290" rIns="0" bIns="0" rtlCol="0">
            <a:spAutoFit/>
          </a:bodyPr>
          <a:lstStyle/>
          <a:p>
            <a:pPr marL="85725" marR="457200">
              <a:lnSpc>
                <a:spcPts val="4360"/>
              </a:lnSpc>
              <a:spcBef>
                <a:spcPts val="270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69412" y="396553"/>
            <a:ext cx="323913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Overriding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vs</a:t>
            </a:r>
            <a:r>
              <a:rPr sz="2000" b="1" spc="-3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Overloading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 idx="4294967295"/>
          </p:nvPr>
        </p:nvSpPr>
        <p:spPr>
          <a:xfrm>
            <a:off x="4281488" y="1000125"/>
            <a:ext cx="4862512" cy="450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spc="1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spc="10" dirty="0">
                <a:solidFill>
                  <a:srgbClr val="595959"/>
                </a:solidFill>
                <a:latin typeface="Arial"/>
                <a:cs typeface="Arial"/>
              </a:rPr>
              <a:t>Developers 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sometimes get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confused between</a:t>
            </a:r>
            <a:r>
              <a:rPr sz="1550" b="0" spc="11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0" spc="-20" dirty="0">
                <a:solidFill>
                  <a:srgbClr val="595959"/>
                </a:solidFill>
                <a:latin typeface="Arial"/>
                <a:cs typeface="Arial"/>
              </a:rPr>
              <a:t>them</a:t>
            </a:r>
            <a:r>
              <a:rPr sz="2750" b="0" spc="-20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05240" y="1790700"/>
            <a:ext cx="5238750" cy="2971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34780" y="1894143"/>
            <a:ext cx="4985369" cy="27678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7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80993"/>
            <a:ext cx="3232785" cy="1332865"/>
          </a:xfrm>
          <a:custGeom>
            <a:avLst/>
            <a:gdLst/>
            <a:ahLst/>
            <a:cxnLst/>
            <a:rect l="l" t="t" r="r" b="b"/>
            <a:pathLst>
              <a:path w="3232785" h="1332864">
                <a:moveTo>
                  <a:pt x="0" y="1332869"/>
                </a:moveTo>
                <a:lnTo>
                  <a:pt x="3232282" y="1332869"/>
                </a:lnTo>
                <a:lnTo>
                  <a:pt x="3232282" y="0"/>
                </a:lnTo>
                <a:lnTo>
                  <a:pt x="0" y="0"/>
                </a:lnTo>
                <a:lnTo>
                  <a:pt x="0" y="1332869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0" y="1340164"/>
            <a:ext cx="3232785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85725" marR="457200">
              <a:lnSpc>
                <a:spcPts val="4360"/>
              </a:lnSpc>
              <a:spcBef>
                <a:spcPts val="595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12669" y="776918"/>
            <a:ext cx="29629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849755" algn="l"/>
              </a:tabLst>
            </a:pP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Overloading</a:t>
            </a:r>
            <a:r>
              <a:rPr sz="2000" b="1" spc="-2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r>
              <a:rPr sz="2000" spc="15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r>
              <a:rPr sz="2000" b="1" spc="20" dirty="0">
                <a:solidFill>
                  <a:srgbClr val="6F2F9F"/>
                </a:solidFill>
                <a:latin typeface="Arial"/>
                <a:cs typeface="Arial"/>
              </a:rPr>
              <a:t>Function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5310188" y="1228725"/>
            <a:ext cx="3833812" cy="44926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spc="-1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spc="-10" dirty="0">
                <a:solidFill>
                  <a:srgbClr val="595959"/>
                </a:solidFill>
                <a:latin typeface="Arial"/>
                <a:cs typeface="Arial"/>
              </a:rPr>
              <a:t>Same </a:t>
            </a:r>
            <a:r>
              <a:rPr sz="1550" b="0" spc="10" dirty="0">
                <a:solidFill>
                  <a:srgbClr val="595959"/>
                </a:solidFill>
                <a:latin typeface="Arial"/>
                <a:cs typeface="Arial"/>
              </a:rPr>
              <a:t>function with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sz="1550" b="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0" spc="10" dirty="0">
                <a:solidFill>
                  <a:srgbClr val="595959"/>
                </a:solidFill>
                <a:latin typeface="Arial"/>
                <a:cs typeface="Arial"/>
              </a:rPr>
              <a:t>parameters</a:t>
            </a:r>
            <a:r>
              <a:rPr sz="2750" b="0" spc="10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02792" y="2366378"/>
            <a:ext cx="2860040" cy="1169670"/>
          </a:xfrm>
          <a:custGeom>
            <a:avLst/>
            <a:gdLst/>
            <a:ahLst/>
            <a:cxnLst/>
            <a:rect l="l" t="t" r="r" b="b"/>
            <a:pathLst>
              <a:path w="2860040" h="1169670">
                <a:moveTo>
                  <a:pt x="0" y="1169551"/>
                </a:moveTo>
                <a:lnTo>
                  <a:pt x="2859917" y="1169551"/>
                </a:lnTo>
                <a:lnTo>
                  <a:pt x="2859917" y="0"/>
                </a:lnTo>
                <a:lnTo>
                  <a:pt x="0" y="0"/>
                </a:lnTo>
                <a:lnTo>
                  <a:pt x="0" y="1169551"/>
                </a:lnTo>
                <a:close/>
              </a:path>
            </a:pathLst>
          </a:custGeom>
          <a:solidFill>
            <a:srgbClr val="2F233B">
              <a:alpha val="3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585207" y="2394265"/>
            <a:ext cx="1793239" cy="10922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def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add(a,b):</a:t>
            </a:r>
            <a:endParaRPr sz="1400">
              <a:latin typeface="Consolas"/>
              <a:cs typeface="Consolas"/>
            </a:endParaRPr>
          </a:p>
          <a:p>
            <a:pPr marL="12700" marR="208915" indent="581660">
              <a:lnSpc>
                <a:spcPts val="1650"/>
              </a:lnSpc>
              <a:spcBef>
                <a:spcPts val="65"/>
              </a:spcBef>
            </a:pP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return</a:t>
            </a:r>
            <a:r>
              <a:rPr sz="1400" spc="-6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a+b  </a:t>
            </a: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def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add(a,b,c):</a:t>
            </a:r>
            <a:endParaRPr sz="1400">
              <a:latin typeface="Consolas"/>
              <a:cs typeface="Consolas"/>
            </a:endParaRPr>
          </a:p>
          <a:p>
            <a:pPr marL="12700" marR="5080" indent="581660">
              <a:lnSpc>
                <a:spcPts val="1650"/>
              </a:lnSpc>
              <a:spcBef>
                <a:spcPts val="85"/>
              </a:spcBef>
            </a:pP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return</a:t>
            </a:r>
            <a:r>
              <a:rPr sz="140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a+b+c  add(2,3)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43250" y="1876425"/>
            <a:ext cx="2628900" cy="8096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81350" y="1952625"/>
            <a:ext cx="2600325" cy="6953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02792" y="1883145"/>
            <a:ext cx="2301240" cy="483870"/>
          </a:xfrm>
          <a:custGeom>
            <a:avLst/>
            <a:gdLst/>
            <a:ahLst/>
            <a:cxnLst/>
            <a:rect l="l" t="t" r="r" b="b"/>
            <a:pathLst>
              <a:path w="2301240" h="483869">
                <a:moveTo>
                  <a:pt x="2220589" y="0"/>
                </a:moveTo>
                <a:lnTo>
                  <a:pt x="80528" y="0"/>
                </a:lnTo>
                <a:lnTo>
                  <a:pt x="49184" y="6333"/>
                </a:lnTo>
                <a:lnTo>
                  <a:pt x="23587" y="23599"/>
                </a:lnTo>
                <a:lnTo>
                  <a:pt x="6328" y="49197"/>
                </a:lnTo>
                <a:lnTo>
                  <a:pt x="0" y="80528"/>
                </a:lnTo>
                <a:lnTo>
                  <a:pt x="0" y="402723"/>
                </a:lnTo>
                <a:lnTo>
                  <a:pt x="6328" y="434060"/>
                </a:lnTo>
                <a:lnTo>
                  <a:pt x="23587" y="459655"/>
                </a:lnTo>
                <a:lnTo>
                  <a:pt x="49184" y="476915"/>
                </a:lnTo>
                <a:lnTo>
                  <a:pt x="80528" y="483245"/>
                </a:lnTo>
                <a:lnTo>
                  <a:pt x="2220589" y="483245"/>
                </a:lnTo>
                <a:lnTo>
                  <a:pt x="2251920" y="476915"/>
                </a:lnTo>
                <a:lnTo>
                  <a:pt x="2277519" y="459655"/>
                </a:lnTo>
                <a:lnTo>
                  <a:pt x="2294784" y="434060"/>
                </a:lnTo>
                <a:lnTo>
                  <a:pt x="2301118" y="402723"/>
                </a:lnTo>
                <a:lnTo>
                  <a:pt x="2301118" y="80528"/>
                </a:lnTo>
                <a:lnTo>
                  <a:pt x="2294784" y="49197"/>
                </a:lnTo>
                <a:lnTo>
                  <a:pt x="2277519" y="23599"/>
                </a:lnTo>
                <a:lnTo>
                  <a:pt x="2251920" y="6333"/>
                </a:lnTo>
                <a:lnTo>
                  <a:pt x="2220589" y="0"/>
                </a:lnTo>
                <a:close/>
              </a:path>
            </a:pathLst>
          </a:custGeom>
          <a:solidFill>
            <a:srgbClr val="5F477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637917" y="1999676"/>
            <a:ext cx="20389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Why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Overload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2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53718" y="2532375"/>
            <a:ext cx="577215" cy="577215"/>
          </a:xfrm>
          <a:custGeom>
            <a:avLst/>
            <a:gdLst/>
            <a:ahLst/>
            <a:cxnLst/>
            <a:rect l="l" t="t" r="r" b="b"/>
            <a:pathLst>
              <a:path w="577215" h="577214">
                <a:moveTo>
                  <a:pt x="78607" y="0"/>
                </a:moveTo>
                <a:lnTo>
                  <a:pt x="0" y="78748"/>
                </a:lnTo>
                <a:lnTo>
                  <a:pt x="209793" y="288548"/>
                </a:lnTo>
                <a:lnTo>
                  <a:pt x="0" y="498348"/>
                </a:lnTo>
                <a:lnTo>
                  <a:pt x="78607" y="576965"/>
                </a:lnTo>
                <a:lnTo>
                  <a:pt x="288401" y="367165"/>
                </a:lnTo>
                <a:lnTo>
                  <a:pt x="445635" y="367165"/>
                </a:lnTo>
                <a:lnTo>
                  <a:pt x="367009" y="288548"/>
                </a:lnTo>
                <a:lnTo>
                  <a:pt x="445754" y="209812"/>
                </a:lnTo>
                <a:lnTo>
                  <a:pt x="288401" y="209812"/>
                </a:lnTo>
                <a:lnTo>
                  <a:pt x="78607" y="0"/>
                </a:lnTo>
                <a:close/>
              </a:path>
              <a:path w="577215" h="577214">
                <a:moveTo>
                  <a:pt x="445635" y="367165"/>
                </a:moveTo>
                <a:lnTo>
                  <a:pt x="288401" y="367165"/>
                </a:lnTo>
                <a:lnTo>
                  <a:pt x="498226" y="576965"/>
                </a:lnTo>
                <a:lnTo>
                  <a:pt x="576834" y="498348"/>
                </a:lnTo>
                <a:lnTo>
                  <a:pt x="445635" y="367165"/>
                </a:lnTo>
                <a:close/>
              </a:path>
              <a:path w="577215" h="577214">
                <a:moveTo>
                  <a:pt x="498226" y="0"/>
                </a:moveTo>
                <a:lnTo>
                  <a:pt x="288401" y="209812"/>
                </a:lnTo>
                <a:lnTo>
                  <a:pt x="445754" y="209812"/>
                </a:lnTo>
                <a:lnTo>
                  <a:pt x="576834" y="78748"/>
                </a:lnTo>
                <a:lnTo>
                  <a:pt x="49822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53717" y="2532376"/>
            <a:ext cx="577215" cy="577215"/>
          </a:xfrm>
          <a:custGeom>
            <a:avLst/>
            <a:gdLst/>
            <a:ahLst/>
            <a:cxnLst/>
            <a:rect l="l" t="t" r="r" b="b"/>
            <a:pathLst>
              <a:path w="577215" h="577214">
                <a:moveTo>
                  <a:pt x="0" y="78748"/>
                </a:moveTo>
                <a:lnTo>
                  <a:pt x="78607" y="0"/>
                </a:lnTo>
                <a:lnTo>
                  <a:pt x="288401" y="209812"/>
                </a:lnTo>
                <a:lnTo>
                  <a:pt x="498226" y="0"/>
                </a:lnTo>
                <a:lnTo>
                  <a:pt x="576833" y="78748"/>
                </a:lnTo>
                <a:lnTo>
                  <a:pt x="367009" y="288548"/>
                </a:lnTo>
                <a:lnTo>
                  <a:pt x="576833" y="498347"/>
                </a:lnTo>
                <a:lnTo>
                  <a:pt x="498226" y="576965"/>
                </a:lnTo>
                <a:lnTo>
                  <a:pt x="288401" y="367165"/>
                </a:lnTo>
                <a:lnTo>
                  <a:pt x="78607" y="576965"/>
                </a:lnTo>
                <a:lnTo>
                  <a:pt x="0" y="498347"/>
                </a:lnTo>
                <a:lnTo>
                  <a:pt x="209793" y="288548"/>
                </a:lnTo>
                <a:lnTo>
                  <a:pt x="0" y="78748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752214" y="3961763"/>
            <a:ext cx="406400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105"/>
              </a:spcBef>
            </a:pPr>
            <a:r>
              <a:rPr sz="1550" b="1" spc="30" dirty="0">
                <a:solidFill>
                  <a:srgbClr val="B12B30"/>
                </a:solidFill>
                <a:latin typeface="Courier New"/>
                <a:cs typeface="Courier New"/>
              </a:rPr>
              <a:t>TypeError</a:t>
            </a:r>
            <a:r>
              <a:rPr sz="1550" spc="30" dirty="0">
                <a:latin typeface="Courier New"/>
                <a:cs typeface="Courier New"/>
              </a:rPr>
              <a:t>: </a:t>
            </a:r>
            <a:r>
              <a:rPr sz="1550" spc="20" dirty="0">
                <a:latin typeface="Courier New"/>
                <a:cs typeface="Courier New"/>
              </a:rPr>
              <a:t>add() </a:t>
            </a:r>
            <a:r>
              <a:rPr sz="1550" spc="25" dirty="0">
                <a:latin typeface="Courier New"/>
                <a:cs typeface="Courier New"/>
              </a:rPr>
              <a:t>missing </a:t>
            </a:r>
            <a:r>
              <a:rPr sz="1550" spc="15" dirty="0">
                <a:latin typeface="Courier New"/>
                <a:cs typeface="Courier New"/>
              </a:rPr>
              <a:t>1  </a:t>
            </a:r>
            <a:r>
              <a:rPr sz="1550" spc="35" dirty="0">
                <a:latin typeface="Courier New"/>
                <a:cs typeface="Courier New"/>
              </a:rPr>
              <a:t>required positional argument:</a:t>
            </a:r>
            <a:r>
              <a:rPr sz="1550" spc="-235" dirty="0">
                <a:latin typeface="Courier New"/>
                <a:cs typeface="Courier New"/>
              </a:rPr>
              <a:t> </a:t>
            </a:r>
            <a:r>
              <a:rPr sz="1550" spc="40" dirty="0">
                <a:latin typeface="Courier New"/>
                <a:cs typeface="Courier New"/>
              </a:rPr>
              <a:t>'c'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62300" y="1524"/>
            <a:ext cx="1314450" cy="13700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54502" y="37719"/>
            <a:ext cx="1135736" cy="12424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33375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232785" cy="1381125"/>
          </a:xfrm>
          <a:custGeom>
            <a:avLst/>
            <a:gdLst/>
            <a:ahLst/>
            <a:cxnLst/>
            <a:rect l="l" t="t" r="r" b="b"/>
            <a:pathLst>
              <a:path w="3232785" h="1381125">
                <a:moveTo>
                  <a:pt x="0" y="1380993"/>
                </a:moveTo>
                <a:lnTo>
                  <a:pt x="3232282" y="1380993"/>
                </a:lnTo>
                <a:lnTo>
                  <a:pt x="323228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232785" cy="2430145"/>
          </a:xfrm>
          <a:custGeom>
            <a:avLst/>
            <a:gdLst/>
            <a:ahLst/>
            <a:cxnLst/>
            <a:rect l="l" t="t" r="r" b="b"/>
            <a:pathLst>
              <a:path w="3232785" h="2430145">
                <a:moveTo>
                  <a:pt x="0" y="2429637"/>
                </a:moveTo>
                <a:lnTo>
                  <a:pt x="3232282" y="2429637"/>
                </a:lnTo>
                <a:lnTo>
                  <a:pt x="3232282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232785" cy="1332865"/>
          </a:xfrm>
          <a:custGeom>
            <a:avLst/>
            <a:gdLst/>
            <a:ahLst/>
            <a:cxnLst/>
            <a:rect l="l" t="t" r="r" b="b"/>
            <a:pathLst>
              <a:path w="3232785" h="1332864">
                <a:moveTo>
                  <a:pt x="0" y="1332869"/>
                </a:moveTo>
                <a:lnTo>
                  <a:pt x="3232282" y="1332869"/>
                </a:lnTo>
                <a:lnTo>
                  <a:pt x="3232282" y="0"/>
                </a:lnTo>
                <a:lnTo>
                  <a:pt x="0" y="0"/>
                </a:lnTo>
                <a:lnTo>
                  <a:pt x="0" y="1332869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340164"/>
            <a:ext cx="3232785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85725" marR="457200">
              <a:lnSpc>
                <a:spcPts val="4360"/>
              </a:lnSpc>
              <a:spcBef>
                <a:spcPts val="595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812669" y="776918"/>
            <a:ext cx="29629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849755" algn="l"/>
              </a:tabLst>
            </a:pP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Overloading</a:t>
            </a:r>
            <a:r>
              <a:rPr sz="2000" b="1" spc="-2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r>
              <a:rPr sz="2000" spc="15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r>
              <a:rPr sz="2000" b="1" spc="20" dirty="0">
                <a:solidFill>
                  <a:srgbClr val="6F2F9F"/>
                </a:solidFill>
                <a:latin typeface="Arial"/>
                <a:cs typeface="Arial"/>
              </a:rPr>
              <a:t>Function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 idx="4294967295"/>
          </p:nvPr>
        </p:nvSpPr>
        <p:spPr>
          <a:xfrm>
            <a:off x="4948238" y="1228725"/>
            <a:ext cx="4195762" cy="44926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Used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550" b="0" spc="10" dirty="0">
                <a:solidFill>
                  <a:srgbClr val="595959"/>
                </a:solidFill>
                <a:latin typeface="Arial"/>
                <a:cs typeface="Arial"/>
              </a:rPr>
              <a:t>call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550" b="0" spc="-5" dirty="0">
                <a:solidFill>
                  <a:srgbClr val="595959"/>
                </a:solidFill>
                <a:latin typeface="Arial"/>
                <a:cs typeface="Arial"/>
              </a:rPr>
              <a:t>method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550" b="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parent</a:t>
            </a:r>
            <a:r>
              <a:rPr sz="1550" b="0" spc="229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2750" b="0" spc="15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02792" y="2509348"/>
            <a:ext cx="2860040" cy="2032000"/>
          </a:xfrm>
          <a:custGeom>
            <a:avLst/>
            <a:gdLst/>
            <a:ahLst/>
            <a:cxnLst/>
            <a:rect l="l" t="t" r="r" b="b"/>
            <a:pathLst>
              <a:path w="2860040" h="2032000">
                <a:moveTo>
                  <a:pt x="0" y="2031373"/>
                </a:moveTo>
                <a:lnTo>
                  <a:pt x="2859917" y="2031373"/>
                </a:lnTo>
                <a:lnTo>
                  <a:pt x="2859917" y="0"/>
                </a:lnTo>
                <a:lnTo>
                  <a:pt x="0" y="0"/>
                </a:lnTo>
                <a:lnTo>
                  <a:pt x="0" y="2031373"/>
                </a:lnTo>
                <a:close/>
              </a:path>
            </a:pathLst>
          </a:custGeom>
          <a:solidFill>
            <a:srgbClr val="2F233B">
              <a:alpha val="3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585209" y="2537394"/>
            <a:ext cx="2679065" cy="19513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593725" marR="5080" indent="-581660">
              <a:lnSpc>
                <a:spcPts val="1650"/>
              </a:lnSpc>
              <a:spcBef>
                <a:spcPts val="204"/>
              </a:spcBef>
            </a:pP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def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add(instanceOf,*args):  </a:t>
            </a:r>
            <a:r>
              <a:rPr sz="1400" spc="30" dirty="0">
                <a:solidFill>
                  <a:srgbClr val="FFFFFF"/>
                </a:solidFill>
                <a:latin typeface="Consolas"/>
                <a:cs typeface="Consolas"/>
              </a:rPr>
              <a:t>if</a:t>
            </a:r>
            <a:r>
              <a:rPr sz="1400" spc="-9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instanceOf=='int':</a:t>
            </a:r>
            <a:endParaRPr sz="1400">
              <a:latin typeface="Consolas"/>
              <a:cs typeface="Consolas"/>
            </a:endParaRPr>
          </a:p>
          <a:p>
            <a:pPr marL="1384935">
              <a:lnSpc>
                <a:spcPts val="1610"/>
              </a:lnSpc>
            </a:pP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result=0</a:t>
            </a:r>
            <a:endParaRPr sz="1400">
              <a:latin typeface="Consolas"/>
              <a:cs typeface="Consolas"/>
            </a:endParaRPr>
          </a:p>
          <a:p>
            <a:pPr marL="593725">
              <a:lnSpc>
                <a:spcPts val="1664"/>
              </a:lnSpc>
              <a:spcBef>
                <a:spcPts val="50"/>
              </a:spcBef>
            </a:pPr>
            <a:r>
              <a:rPr sz="1400" spc="30" dirty="0">
                <a:solidFill>
                  <a:srgbClr val="FFFFFF"/>
                </a:solidFill>
                <a:latin typeface="Consolas"/>
                <a:cs typeface="Consolas"/>
              </a:rPr>
              <a:t>if</a:t>
            </a:r>
            <a:r>
              <a:rPr sz="1400" spc="-8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instanceOf=='str':</a:t>
            </a:r>
            <a:endParaRPr sz="1400">
              <a:latin typeface="Consolas"/>
              <a:cs typeface="Consolas"/>
            </a:endParaRPr>
          </a:p>
          <a:p>
            <a:pPr marL="593725" marR="396240" indent="791210">
              <a:lnSpc>
                <a:spcPts val="1730"/>
              </a:lnSpc>
            </a:pP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r</a:t>
            </a: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e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su</a:t>
            </a: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l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t=</a:t>
            </a: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'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' </a:t>
            </a:r>
            <a:r>
              <a:rPr sz="1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for 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i </a:t>
            </a:r>
            <a:r>
              <a:rPr sz="1400" spc="30" dirty="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sz="1400" spc="-15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args:</a:t>
            </a:r>
            <a:endParaRPr sz="1400">
              <a:latin typeface="Consolas"/>
              <a:cs typeface="Consolas"/>
            </a:endParaRPr>
          </a:p>
          <a:p>
            <a:pPr marL="1384935">
              <a:lnSpc>
                <a:spcPts val="1575"/>
              </a:lnSpc>
            </a:pP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result+=i</a:t>
            </a:r>
            <a:endParaRPr sz="1400">
              <a:latin typeface="Consolas"/>
              <a:cs typeface="Consolas"/>
            </a:endParaRPr>
          </a:p>
          <a:p>
            <a:pPr marL="12700" marR="796925" indent="581660">
              <a:lnSpc>
                <a:spcPts val="1730"/>
              </a:lnSpc>
              <a:spcBef>
                <a:spcPts val="5"/>
              </a:spcBef>
            </a:pP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return</a:t>
            </a:r>
            <a:r>
              <a:rPr sz="140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result 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add('int',3,4,5)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43250" y="2019300"/>
            <a:ext cx="2828925" cy="8096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90890" y="2095500"/>
            <a:ext cx="2790825" cy="6953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02792" y="2026157"/>
            <a:ext cx="2504440" cy="483234"/>
          </a:xfrm>
          <a:custGeom>
            <a:avLst/>
            <a:gdLst/>
            <a:ahLst/>
            <a:cxnLst/>
            <a:rect l="l" t="t" r="r" b="b"/>
            <a:pathLst>
              <a:path w="2504440" h="483235">
                <a:moveTo>
                  <a:pt x="2423800" y="0"/>
                </a:moveTo>
                <a:lnTo>
                  <a:pt x="80528" y="0"/>
                </a:lnTo>
                <a:lnTo>
                  <a:pt x="49184" y="6328"/>
                </a:lnTo>
                <a:lnTo>
                  <a:pt x="23587" y="23586"/>
                </a:lnTo>
                <a:lnTo>
                  <a:pt x="6328" y="49182"/>
                </a:lnTo>
                <a:lnTo>
                  <a:pt x="0" y="80522"/>
                </a:lnTo>
                <a:lnTo>
                  <a:pt x="0" y="402717"/>
                </a:lnTo>
                <a:lnTo>
                  <a:pt x="6328" y="434049"/>
                </a:lnTo>
                <a:lnTo>
                  <a:pt x="23587" y="459645"/>
                </a:lnTo>
                <a:lnTo>
                  <a:pt x="49184" y="476907"/>
                </a:lnTo>
                <a:lnTo>
                  <a:pt x="80528" y="483239"/>
                </a:lnTo>
                <a:lnTo>
                  <a:pt x="2423800" y="483239"/>
                </a:lnTo>
                <a:lnTo>
                  <a:pt x="2455125" y="476907"/>
                </a:lnTo>
                <a:lnTo>
                  <a:pt x="2480713" y="459645"/>
                </a:lnTo>
                <a:lnTo>
                  <a:pt x="2497969" y="434049"/>
                </a:lnTo>
                <a:lnTo>
                  <a:pt x="2504297" y="402717"/>
                </a:lnTo>
                <a:lnTo>
                  <a:pt x="2504297" y="80522"/>
                </a:lnTo>
                <a:lnTo>
                  <a:pt x="2497969" y="49182"/>
                </a:lnTo>
                <a:lnTo>
                  <a:pt x="2480713" y="23586"/>
                </a:lnTo>
                <a:lnTo>
                  <a:pt x="2455125" y="6328"/>
                </a:lnTo>
                <a:lnTo>
                  <a:pt x="2423800" y="0"/>
                </a:lnTo>
                <a:close/>
              </a:path>
            </a:pathLst>
          </a:custGeom>
          <a:solidFill>
            <a:srgbClr val="5F477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647442" y="2142805"/>
            <a:ext cx="22294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How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Overload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62300" y="1524"/>
            <a:ext cx="1314450" cy="13700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54502" y="37719"/>
            <a:ext cx="1135736" cy="12424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2300" y="1524"/>
            <a:ext cx="1314450" cy="1370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254502" y="37719"/>
            <a:ext cx="1135736" cy="12424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524"/>
            <a:ext cx="3333750" cy="51419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3232785" cy="1381125"/>
          </a:xfrm>
          <a:custGeom>
            <a:avLst/>
            <a:gdLst/>
            <a:ahLst/>
            <a:cxnLst/>
            <a:rect l="l" t="t" r="r" b="b"/>
            <a:pathLst>
              <a:path w="3232785" h="1381125">
                <a:moveTo>
                  <a:pt x="0" y="1380993"/>
                </a:moveTo>
                <a:lnTo>
                  <a:pt x="3232282" y="1380993"/>
                </a:lnTo>
                <a:lnTo>
                  <a:pt x="3232282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2713862"/>
            <a:ext cx="3232785" cy="2430145"/>
          </a:xfrm>
          <a:custGeom>
            <a:avLst/>
            <a:gdLst/>
            <a:ahLst/>
            <a:cxnLst/>
            <a:rect l="l" t="t" r="r" b="b"/>
            <a:pathLst>
              <a:path w="3232785" h="2430145">
                <a:moveTo>
                  <a:pt x="0" y="2429637"/>
                </a:moveTo>
                <a:lnTo>
                  <a:pt x="3232282" y="2429637"/>
                </a:lnTo>
                <a:lnTo>
                  <a:pt x="3232282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0" y="1380993"/>
            <a:ext cx="3232785" cy="1332865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34290" rIns="0" bIns="0" rtlCol="0">
            <a:spAutoFit/>
          </a:bodyPr>
          <a:lstStyle/>
          <a:p>
            <a:pPr marL="85725" marR="457200">
              <a:lnSpc>
                <a:spcPts val="4360"/>
              </a:lnSpc>
              <a:spcBef>
                <a:spcPts val="270"/>
              </a:spcBef>
            </a:pP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nh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46019" y="776918"/>
            <a:ext cx="26866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Overriding a</a:t>
            </a:r>
            <a:r>
              <a:rPr sz="2000" b="1" spc="-3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6F2F9F"/>
                </a:solidFill>
                <a:latin typeface="Arial"/>
                <a:cs typeface="Arial"/>
              </a:rPr>
              <a:t>Function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 idx="4294967295"/>
          </p:nvPr>
        </p:nvSpPr>
        <p:spPr>
          <a:xfrm>
            <a:off x="4454525" y="1306513"/>
            <a:ext cx="4689475" cy="44926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Subclass </a:t>
            </a:r>
            <a:r>
              <a:rPr sz="1550" b="0" spc="-15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1550" b="0" spc="-5" dirty="0">
                <a:solidFill>
                  <a:srgbClr val="595959"/>
                </a:solidFill>
                <a:latin typeface="Arial"/>
                <a:cs typeface="Arial"/>
              </a:rPr>
              <a:t>change the </a:t>
            </a:r>
            <a:r>
              <a:rPr sz="1550" b="0" spc="5" dirty="0">
                <a:solidFill>
                  <a:srgbClr val="595959"/>
                </a:solidFill>
                <a:latin typeface="Arial"/>
                <a:cs typeface="Arial"/>
              </a:rPr>
              <a:t>functionality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0" spc="15" dirty="0">
                <a:solidFill>
                  <a:srgbClr val="595959"/>
                </a:solidFill>
                <a:latin typeface="Arial"/>
                <a:cs typeface="Arial"/>
              </a:rPr>
              <a:t>Python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10478" y="2733101"/>
            <a:ext cx="3971925" cy="1816100"/>
          </a:xfrm>
          <a:custGeom>
            <a:avLst/>
            <a:gdLst/>
            <a:ahLst/>
            <a:cxnLst/>
            <a:rect l="l" t="t" r="r" b="b"/>
            <a:pathLst>
              <a:path w="3971925" h="1816100">
                <a:moveTo>
                  <a:pt x="0" y="1815846"/>
                </a:moveTo>
                <a:lnTo>
                  <a:pt x="3971422" y="1815846"/>
                </a:lnTo>
                <a:lnTo>
                  <a:pt x="3971422" y="0"/>
                </a:lnTo>
                <a:lnTo>
                  <a:pt x="0" y="0"/>
                </a:lnTo>
                <a:lnTo>
                  <a:pt x="0" y="1815846"/>
                </a:lnTo>
                <a:close/>
              </a:path>
            </a:pathLst>
          </a:custGeom>
          <a:solidFill>
            <a:srgbClr val="2F233B">
              <a:alpha val="3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693162" y="2761676"/>
            <a:ext cx="3764279" cy="1731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6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Consolas"/>
                <a:cs typeface="Consolas"/>
              </a:rPr>
              <a:t>A:</a:t>
            </a:r>
            <a:endParaRPr sz="1400">
              <a:latin typeface="Consolas"/>
              <a:cs typeface="Consolas"/>
            </a:endParaRPr>
          </a:p>
          <a:p>
            <a:pPr marL="994410">
              <a:lnSpc>
                <a:spcPts val="1655"/>
              </a:lnSpc>
            </a:pP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def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sayhi(self):</a:t>
            </a:r>
            <a:endParaRPr sz="1400">
              <a:latin typeface="Consolas"/>
              <a:cs typeface="Consolas"/>
            </a:endParaRPr>
          </a:p>
          <a:p>
            <a:pPr marL="1976755">
              <a:lnSpc>
                <a:spcPts val="1664"/>
              </a:lnSpc>
            </a:pP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print("I'm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 A")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  <a:spcBef>
                <a:spcPts val="50"/>
              </a:spcBef>
            </a:pP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6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B(A):</a:t>
            </a:r>
            <a:endParaRPr sz="1400">
              <a:latin typeface="Consolas"/>
              <a:cs typeface="Consolas"/>
            </a:endParaRPr>
          </a:p>
          <a:p>
            <a:pPr marL="994410">
              <a:lnSpc>
                <a:spcPts val="1664"/>
              </a:lnSpc>
            </a:pP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def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sayhi(self):</a:t>
            </a:r>
            <a:endParaRPr sz="1400">
              <a:latin typeface="Consolas"/>
              <a:cs typeface="Consolas"/>
            </a:endParaRPr>
          </a:p>
          <a:p>
            <a:pPr marL="2072005">
              <a:lnSpc>
                <a:spcPts val="1664"/>
              </a:lnSpc>
              <a:spcBef>
                <a:spcPts val="45"/>
              </a:spcBef>
            </a:pP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print("I'm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sz="140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B")</a:t>
            </a:r>
            <a:endParaRPr sz="1400">
              <a:latin typeface="Consolas"/>
              <a:cs typeface="Consolas"/>
            </a:endParaRPr>
          </a:p>
          <a:p>
            <a:pPr marL="12700" marR="2571115">
              <a:lnSpc>
                <a:spcPts val="1650"/>
              </a:lnSpc>
              <a:spcBef>
                <a:spcPts val="70"/>
              </a:spcBef>
            </a:pP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bobj=B()  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bob</a:t>
            </a: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j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.s</a:t>
            </a:r>
            <a:r>
              <a:rPr sz="1400" spc="50" dirty="0">
                <a:solidFill>
                  <a:srgbClr val="FFFFFF"/>
                </a:solidFill>
                <a:latin typeface="Consolas"/>
                <a:cs typeface="Consolas"/>
              </a:rPr>
              <a:t>a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yh</a:t>
            </a:r>
            <a:r>
              <a:rPr sz="1400" spc="65" dirty="0">
                <a:solidFill>
                  <a:srgbClr val="FFFFFF"/>
                </a:solidFill>
                <a:latin typeface="Consolas"/>
                <a:cs typeface="Consolas"/>
              </a:rPr>
              <a:t>i</a:t>
            </a: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()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57550" y="2247900"/>
            <a:ext cx="2619375" cy="8001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48050" y="2324100"/>
            <a:ext cx="2286000" cy="6953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10478" y="2249804"/>
            <a:ext cx="2301240" cy="483234"/>
          </a:xfrm>
          <a:custGeom>
            <a:avLst/>
            <a:gdLst/>
            <a:ahLst/>
            <a:cxnLst/>
            <a:rect l="l" t="t" r="r" b="b"/>
            <a:pathLst>
              <a:path w="2301240" h="483235">
                <a:moveTo>
                  <a:pt x="2220742" y="0"/>
                </a:moveTo>
                <a:lnTo>
                  <a:pt x="80650" y="0"/>
                </a:lnTo>
                <a:lnTo>
                  <a:pt x="49249" y="6329"/>
                </a:lnTo>
                <a:lnTo>
                  <a:pt x="23614" y="23589"/>
                </a:lnTo>
                <a:lnTo>
                  <a:pt x="6335" y="49184"/>
                </a:lnTo>
                <a:lnTo>
                  <a:pt x="0" y="80522"/>
                </a:lnTo>
                <a:lnTo>
                  <a:pt x="0" y="402717"/>
                </a:lnTo>
                <a:lnTo>
                  <a:pt x="6335" y="434049"/>
                </a:lnTo>
                <a:lnTo>
                  <a:pt x="23614" y="459645"/>
                </a:lnTo>
                <a:lnTo>
                  <a:pt x="49249" y="476907"/>
                </a:lnTo>
                <a:lnTo>
                  <a:pt x="80650" y="483239"/>
                </a:lnTo>
                <a:lnTo>
                  <a:pt x="2220742" y="483239"/>
                </a:lnTo>
                <a:lnTo>
                  <a:pt x="2252068" y="476907"/>
                </a:lnTo>
                <a:lnTo>
                  <a:pt x="2277656" y="459645"/>
                </a:lnTo>
                <a:lnTo>
                  <a:pt x="2294911" y="434049"/>
                </a:lnTo>
                <a:lnTo>
                  <a:pt x="2301240" y="402717"/>
                </a:lnTo>
                <a:lnTo>
                  <a:pt x="2301240" y="80522"/>
                </a:lnTo>
                <a:lnTo>
                  <a:pt x="2294911" y="49184"/>
                </a:lnTo>
                <a:lnTo>
                  <a:pt x="2277656" y="23589"/>
                </a:lnTo>
                <a:lnTo>
                  <a:pt x="2252068" y="6329"/>
                </a:lnTo>
                <a:lnTo>
                  <a:pt x="2220742" y="0"/>
                </a:lnTo>
                <a:close/>
              </a:path>
            </a:pathLst>
          </a:custGeom>
          <a:solidFill>
            <a:srgbClr val="5F477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98649" y="1735448"/>
            <a:ext cx="3544570" cy="875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63320">
              <a:lnSpc>
                <a:spcPct val="100000"/>
              </a:lnSpc>
              <a:spcBef>
                <a:spcPts val="130"/>
              </a:spcBef>
            </a:pPr>
            <a:r>
              <a:rPr sz="1550" spc="-5" dirty="0">
                <a:solidFill>
                  <a:srgbClr val="595959"/>
                </a:solidFill>
                <a:latin typeface="Arial"/>
                <a:cs typeface="Arial"/>
              </a:rPr>
              <a:t>method </a:t>
            </a:r>
            <a:r>
              <a:rPr sz="1550" spc="20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550" spc="-5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550" spc="-2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spc="10" dirty="0">
                <a:solidFill>
                  <a:srgbClr val="595959"/>
                </a:solidFill>
                <a:latin typeface="Arial"/>
                <a:cs typeface="Arial"/>
              </a:rPr>
              <a:t>superclass</a:t>
            </a:r>
            <a:r>
              <a:rPr sz="2750" spc="10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Overriding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1207" y="4963810"/>
            <a:ext cx="123317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75"/>
              </a:lnSpc>
            </a:pPr>
            <a:r>
              <a:rPr sz="950" b="1" spc="8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www</a:t>
            </a:r>
            <a:r>
              <a:rPr sz="950" b="1" spc="3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.i</a:t>
            </a:r>
            <a:r>
              <a:rPr sz="950" b="1" spc="1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n</a:t>
            </a:r>
            <a:r>
              <a:rPr sz="950" b="1" spc="-2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t</a:t>
            </a:r>
            <a:r>
              <a:rPr sz="950" b="1" spc="7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e</a:t>
            </a:r>
            <a:r>
              <a:rPr sz="950" b="1" spc="3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ll</a:t>
            </a:r>
            <a:r>
              <a:rPr sz="950" b="1" spc="-4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i</a:t>
            </a:r>
            <a:r>
              <a:rPr sz="950" b="1" spc="1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p</a:t>
            </a:r>
            <a:r>
              <a:rPr sz="950" b="1" spc="7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a</a:t>
            </a:r>
            <a:r>
              <a:rPr sz="950" b="1" spc="-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a</a:t>
            </a:r>
            <a:r>
              <a:rPr sz="950" b="1" spc="-2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t</a:t>
            </a:r>
            <a:r>
              <a:rPr sz="950" b="1" spc="3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.</a:t>
            </a:r>
            <a:r>
              <a:rPr sz="950" b="1" spc="-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c</a:t>
            </a:r>
            <a:r>
              <a:rPr sz="950" b="1" spc="2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om</a:t>
            </a:r>
            <a:endParaRPr sz="9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809750"/>
          </a:xfrm>
          <a:custGeom>
            <a:avLst/>
            <a:gdLst/>
            <a:ahLst/>
            <a:cxnLst/>
            <a:rect l="l" t="t" r="r" b="b"/>
            <a:pathLst>
              <a:path w="9144000" h="1809750">
                <a:moveTo>
                  <a:pt x="0" y="1809750"/>
                </a:moveTo>
                <a:lnTo>
                  <a:pt x="9144000" y="1809750"/>
                </a:lnTo>
                <a:lnTo>
                  <a:pt x="9144000" y="0"/>
                </a:lnTo>
                <a:lnTo>
                  <a:pt x="0" y="0"/>
                </a:lnTo>
                <a:lnTo>
                  <a:pt x="0" y="1809750"/>
                </a:lnTo>
                <a:close/>
              </a:path>
            </a:pathLst>
          </a:custGeom>
          <a:solidFill>
            <a:srgbClr val="F0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88285"/>
            <a:ext cx="9144000" cy="2355215"/>
          </a:xfrm>
          <a:custGeom>
            <a:avLst/>
            <a:gdLst/>
            <a:ahLst/>
            <a:cxnLst/>
            <a:rect l="l" t="t" r="r" b="b"/>
            <a:pathLst>
              <a:path w="9144000" h="2355215">
                <a:moveTo>
                  <a:pt x="0" y="2354961"/>
                </a:moveTo>
                <a:lnTo>
                  <a:pt x="9144000" y="2354961"/>
                </a:lnTo>
                <a:lnTo>
                  <a:pt x="9144000" y="0"/>
                </a:lnTo>
                <a:lnTo>
                  <a:pt x="0" y="0"/>
                </a:lnTo>
                <a:lnTo>
                  <a:pt x="0" y="2354961"/>
                </a:lnTo>
                <a:close/>
              </a:path>
            </a:pathLst>
          </a:custGeom>
          <a:solidFill>
            <a:srgbClr val="F0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743075"/>
            <a:ext cx="9143999" cy="11144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809749"/>
            <a:ext cx="9144000" cy="979169"/>
          </a:xfrm>
          <a:custGeom>
            <a:avLst/>
            <a:gdLst/>
            <a:ahLst/>
            <a:cxnLst/>
            <a:rect l="l" t="t" r="r" b="b"/>
            <a:pathLst>
              <a:path w="9144000" h="979169">
                <a:moveTo>
                  <a:pt x="0" y="978789"/>
                </a:moveTo>
                <a:lnTo>
                  <a:pt x="9144000" y="978789"/>
                </a:lnTo>
                <a:lnTo>
                  <a:pt x="9144000" y="0"/>
                </a:lnTo>
                <a:lnTo>
                  <a:pt x="0" y="0"/>
                </a:lnTo>
                <a:lnTo>
                  <a:pt x="0" y="978789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82855" y="2043994"/>
            <a:ext cx="5647690" cy="510540"/>
          </a:xfrm>
          <a:custGeom>
            <a:avLst/>
            <a:gdLst/>
            <a:ahLst/>
            <a:cxnLst/>
            <a:rect l="l" t="t" r="r" b="b"/>
            <a:pathLst>
              <a:path w="5647690" h="510539">
                <a:moveTo>
                  <a:pt x="0" y="510360"/>
                </a:moveTo>
                <a:lnTo>
                  <a:pt x="5647426" y="510360"/>
                </a:lnTo>
                <a:lnTo>
                  <a:pt x="5647426" y="0"/>
                </a:lnTo>
                <a:lnTo>
                  <a:pt x="0" y="0"/>
                </a:lnTo>
                <a:lnTo>
                  <a:pt x="0" y="51036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 idx="4294967295"/>
          </p:nvPr>
        </p:nvSpPr>
        <p:spPr>
          <a:xfrm>
            <a:off x="3581400" y="2038350"/>
            <a:ext cx="4083050" cy="44926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20" dirty="0">
                <a:solidFill>
                  <a:srgbClr val="FFFFFF"/>
                </a:solidFill>
                <a:latin typeface="Calibri"/>
                <a:cs typeface="Calibri"/>
              </a:rPr>
              <a:t>Python </a:t>
            </a:r>
            <a:r>
              <a:rPr sz="2750" spc="10" dirty="0">
                <a:solidFill>
                  <a:srgbClr val="FFFFFF"/>
                </a:solidFill>
                <a:latin typeface="Calibri"/>
                <a:cs typeface="Calibri"/>
              </a:rPr>
              <a:t>Certification</a:t>
            </a:r>
            <a:r>
              <a:rPr sz="275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spc="20" dirty="0">
                <a:solidFill>
                  <a:srgbClr val="FFFFFF"/>
                </a:solidFill>
                <a:latin typeface="Calibri"/>
                <a:cs typeface="Calibri"/>
              </a:rPr>
              <a:t>Course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2400" y="1343010"/>
            <a:ext cx="2381249" cy="38004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8600" y="1386201"/>
            <a:ext cx="2339461" cy="37572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592388" y="2044700"/>
            <a:ext cx="6551612" cy="509588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5715" rIns="0" bIns="0" rtlCol="0">
            <a:spAutoFit/>
          </a:bodyPr>
          <a:lstStyle/>
          <a:p>
            <a:pPr marL="535940">
              <a:lnSpc>
                <a:spcPct val="100000"/>
              </a:lnSpc>
              <a:spcBef>
                <a:spcPts val="45"/>
              </a:spcBef>
            </a:pPr>
            <a:r>
              <a:rPr sz="2750" spc="25" dirty="0">
                <a:solidFill>
                  <a:srgbClr val="FFFFFF"/>
                </a:solidFill>
              </a:rPr>
              <a:t>OOPS: Encapsulation </a:t>
            </a:r>
            <a:r>
              <a:rPr sz="2750" dirty="0">
                <a:solidFill>
                  <a:srgbClr val="FFFFFF"/>
                </a:solidFill>
              </a:rPr>
              <a:t>in</a:t>
            </a:r>
            <a:r>
              <a:rPr sz="2750" spc="-20" dirty="0">
                <a:solidFill>
                  <a:srgbClr val="FFFFFF"/>
                </a:solidFill>
              </a:rPr>
              <a:t> </a:t>
            </a:r>
            <a:r>
              <a:rPr sz="2750" spc="15" dirty="0">
                <a:solidFill>
                  <a:srgbClr val="FFFFFF"/>
                </a:solidFill>
              </a:rPr>
              <a:t>Python</a:t>
            </a:r>
            <a:endParaRPr sz="2750"/>
          </a:p>
        </p:txBody>
      </p:sp>
      <p:sp>
        <p:nvSpPr>
          <p:cNvPr id="3" name="object 3"/>
          <p:cNvSpPr/>
          <p:nvPr/>
        </p:nvSpPr>
        <p:spPr>
          <a:xfrm>
            <a:off x="0" y="1524"/>
            <a:ext cx="1275969" cy="5088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447800"/>
            <a:ext cx="2009775" cy="36956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510796"/>
            <a:ext cx="1982852" cy="3632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5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9143999" cy="836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"/>
            <a:ext cx="9144000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126" y="50590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 idx="4294967295"/>
          </p:nvPr>
        </p:nvSpPr>
        <p:spPr>
          <a:xfrm>
            <a:off x="3495675" y="184150"/>
            <a:ext cx="5648325" cy="403225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sz="2100" spc="5" dirty="0">
                <a:solidFill>
                  <a:srgbClr val="FFFFFF"/>
                </a:solidFill>
              </a:rPr>
              <a:t>Things you </a:t>
            </a:r>
            <a:r>
              <a:rPr sz="2100" spc="25" dirty="0">
                <a:solidFill>
                  <a:srgbClr val="FFFFFF"/>
                </a:solidFill>
              </a:rPr>
              <a:t>will </a:t>
            </a:r>
            <a:r>
              <a:rPr sz="2100" spc="15" dirty="0">
                <a:solidFill>
                  <a:srgbClr val="FFFFFF"/>
                </a:solidFill>
              </a:rPr>
              <a:t>learn </a:t>
            </a:r>
            <a:r>
              <a:rPr sz="2100" dirty="0">
                <a:solidFill>
                  <a:srgbClr val="FFFFFF"/>
                </a:solidFill>
              </a:rPr>
              <a:t>after </a:t>
            </a:r>
            <a:r>
              <a:rPr sz="2100" spc="-10" dirty="0">
                <a:solidFill>
                  <a:srgbClr val="FFFFFF"/>
                </a:solidFill>
              </a:rPr>
              <a:t>this</a:t>
            </a:r>
            <a:r>
              <a:rPr sz="2100" spc="-360" dirty="0">
                <a:solidFill>
                  <a:srgbClr val="FFFFFF"/>
                </a:solidFill>
              </a:rPr>
              <a:t> </a:t>
            </a:r>
            <a:r>
              <a:rPr sz="2100" spc="-5" dirty="0">
                <a:solidFill>
                  <a:srgbClr val="FFFFFF"/>
                </a:solidFill>
              </a:rPr>
              <a:t>Session</a:t>
            </a:r>
            <a:endParaRPr sz="2100"/>
          </a:p>
        </p:txBody>
      </p:sp>
      <p:sp>
        <p:nvSpPr>
          <p:cNvPr id="6" name="object 6"/>
          <p:cNvSpPr/>
          <p:nvPr/>
        </p:nvSpPr>
        <p:spPr>
          <a:xfrm>
            <a:off x="0" y="1447800"/>
            <a:ext cx="2009775" cy="3695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510796"/>
            <a:ext cx="1982852" cy="36327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72311" y="1359214"/>
            <a:ext cx="4061460" cy="211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35" dirty="0">
                <a:solidFill>
                  <a:srgbClr val="595959"/>
                </a:solidFill>
                <a:latin typeface="Arial"/>
                <a:cs typeface="Arial"/>
              </a:rPr>
              <a:t>OOPS: </a:t>
            </a:r>
            <a:r>
              <a:rPr sz="2100" b="1" spc="-5" dirty="0">
                <a:solidFill>
                  <a:srgbClr val="595959"/>
                </a:solidFill>
                <a:latin typeface="Arial"/>
                <a:cs typeface="Arial"/>
              </a:rPr>
              <a:t>Encapsulation </a:t>
            </a:r>
            <a:r>
              <a:rPr sz="2100" b="1" spc="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2100" b="1" spc="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b="1" spc="-15" dirty="0">
                <a:solidFill>
                  <a:srgbClr val="595959"/>
                </a:solidFill>
                <a:latin typeface="Arial"/>
                <a:cs typeface="Arial"/>
              </a:rPr>
              <a:t>Python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Times New Roman"/>
              <a:cs typeface="Times New Roman"/>
            </a:endParaRPr>
          </a:p>
          <a:p>
            <a:pPr marL="531495" indent="-219710">
              <a:lnSpc>
                <a:spcPct val="100000"/>
              </a:lnSpc>
              <a:buFont typeface="Wingdings"/>
              <a:buChar char=""/>
              <a:tabLst>
                <a:tab pos="530860" algn="l"/>
                <a:tab pos="531495" algn="l"/>
              </a:tabLst>
            </a:pP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What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-11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Encapsulation?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595959"/>
              </a:buClr>
              <a:buFont typeface="Wingdings"/>
              <a:buChar char=""/>
            </a:pPr>
            <a:endParaRPr sz="1400">
              <a:latin typeface="Times New Roman"/>
              <a:cs typeface="Times New Roman"/>
            </a:endParaRPr>
          </a:p>
          <a:p>
            <a:pPr marL="531495" indent="-219710">
              <a:lnSpc>
                <a:spcPct val="100000"/>
              </a:lnSpc>
              <a:buFont typeface="Wingdings"/>
              <a:buChar char=""/>
              <a:tabLst>
                <a:tab pos="530860" algn="l"/>
                <a:tab pos="531495" algn="l"/>
              </a:tabLst>
            </a:pP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Real</a:t>
            </a:r>
            <a:r>
              <a:rPr sz="14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life</a:t>
            </a:r>
            <a:r>
              <a:rPr sz="14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example</a:t>
            </a:r>
            <a:r>
              <a:rPr sz="14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Encapsulation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595959"/>
              </a:buClr>
              <a:buFont typeface="Wingdings"/>
              <a:buChar char=""/>
            </a:pPr>
            <a:endParaRPr sz="1450">
              <a:latin typeface="Times New Roman"/>
              <a:cs typeface="Times New Roman"/>
            </a:endParaRPr>
          </a:p>
          <a:p>
            <a:pPr marL="531495" indent="-219710">
              <a:lnSpc>
                <a:spcPct val="100000"/>
              </a:lnSpc>
              <a:buFont typeface="Wingdings"/>
              <a:buChar char=""/>
              <a:tabLst>
                <a:tab pos="530860" algn="l"/>
                <a:tab pos="531495" algn="l"/>
              </a:tabLst>
            </a:pP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How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spc="25" dirty="0">
                <a:solidFill>
                  <a:srgbClr val="595959"/>
                </a:solidFill>
                <a:latin typeface="Arial"/>
                <a:cs typeface="Arial"/>
              </a:rPr>
              <a:t>access</a:t>
            </a:r>
            <a:r>
              <a:rPr sz="1400" spc="-2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private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method?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595959"/>
              </a:buClr>
              <a:buFont typeface="Wingdings"/>
              <a:buChar char=""/>
            </a:pPr>
            <a:endParaRPr sz="1450">
              <a:latin typeface="Times New Roman"/>
              <a:cs typeface="Times New Roman"/>
            </a:endParaRPr>
          </a:p>
          <a:p>
            <a:pPr marL="531495" indent="-219710">
              <a:lnSpc>
                <a:spcPct val="100000"/>
              </a:lnSpc>
              <a:buFont typeface="Wingdings"/>
              <a:buChar char=""/>
              <a:tabLst>
                <a:tab pos="530860" algn="l"/>
                <a:tab pos="531495" algn="l"/>
              </a:tabLst>
            </a:pP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How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spc="25" dirty="0">
                <a:solidFill>
                  <a:srgbClr val="595959"/>
                </a:solidFill>
                <a:latin typeface="Arial"/>
                <a:cs typeface="Arial"/>
              </a:rPr>
              <a:t>access</a:t>
            </a:r>
            <a:r>
              <a:rPr sz="1400" spc="-3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private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variable?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50520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398520" cy="1381125"/>
          </a:xfrm>
          <a:custGeom>
            <a:avLst/>
            <a:gdLst/>
            <a:ahLst/>
            <a:cxnLst/>
            <a:rect l="l" t="t" r="r" b="b"/>
            <a:pathLst>
              <a:path w="3398520" h="1381125">
                <a:moveTo>
                  <a:pt x="0" y="1380993"/>
                </a:moveTo>
                <a:lnTo>
                  <a:pt x="3398001" y="1380993"/>
                </a:lnTo>
                <a:lnTo>
                  <a:pt x="3398001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398520" cy="2430145"/>
          </a:xfrm>
          <a:custGeom>
            <a:avLst/>
            <a:gdLst/>
            <a:ahLst/>
            <a:cxnLst/>
            <a:rect l="l" t="t" r="r" b="b"/>
            <a:pathLst>
              <a:path w="3398520" h="2430145">
                <a:moveTo>
                  <a:pt x="0" y="2429637"/>
                </a:moveTo>
                <a:lnTo>
                  <a:pt x="3398001" y="2429637"/>
                </a:lnTo>
                <a:lnTo>
                  <a:pt x="3398001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380993"/>
            <a:ext cx="3398520" cy="1332865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34290" rIns="0" bIns="0" rtlCol="0">
            <a:spAutoFit/>
          </a:bodyPr>
          <a:lstStyle/>
          <a:p>
            <a:pPr marR="269875">
              <a:lnSpc>
                <a:spcPts val="4360"/>
              </a:lnSpc>
              <a:spcBef>
                <a:spcPts val="270"/>
              </a:spcBef>
            </a:pPr>
            <a:r>
              <a:rPr sz="3950" b="1" spc="-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n in</a:t>
            </a:r>
            <a:r>
              <a:rPr sz="39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6229350" y="538163"/>
            <a:ext cx="2914650" cy="33496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10" dirty="0">
                <a:solidFill>
                  <a:srgbClr val="6F2F9F"/>
                </a:solidFill>
              </a:rPr>
              <a:t>What </a:t>
            </a:r>
            <a:r>
              <a:rPr sz="2000" spc="25" dirty="0">
                <a:solidFill>
                  <a:srgbClr val="6F2F9F"/>
                </a:solidFill>
              </a:rPr>
              <a:t>is</a:t>
            </a:r>
            <a:r>
              <a:rPr sz="2000" spc="-204" dirty="0">
                <a:solidFill>
                  <a:srgbClr val="6F2F9F"/>
                </a:solidFill>
              </a:rPr>
              <a:t> </a:t>
            </a:r>
            <a:r>
              <a:rPr sz="2000" spc="10" dirty="0">
                <a:solidFill>
                  <a:srgbClr val="6F2F9F"/>
                </a:solidFill>
              </a:rPr>
              <a:t>Encapsulation?</a:t>
            </a:r>
            <a:endParaRPr sz="2000"/>
          </a:p>
        </p:txBody>
      </p:sp>
      <p:sp>
        <p:nvSpPr>
          <p:cNvPr id="8" name="object 8"/>
          <p:cNvSpPr/>
          <p:nvPr/>
        </p:nvSpPr>
        <p:spPr>
          <a:xfrm>
            <a:off x="0" y="2713888"/>
            <a:ext cx="3398001" cy="24296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17392" y="4611682"/>
            <a:ext cx="228705" cy="2126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90469" y="1238183"/>
            <a:ext cx="24796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595959"/>
                </a:solidFill>
                <a:latin typeface="Arial"/>
                <a:cs typeface="Arial"/>
              </a:rPr>
              <a:t>Abstraction </a:t>
            </a:r>
            <a:r>
              <a:rPr sz="1550" b="1" spc="15" dirty="0">
                <a:solidFill>
                  <a:srgbClr val="595959"/>
                </a:solidFill>
                <a:latin typeface="Arial"/>
                <a:cs typeface="Arial"/>
              </a:rPr>
              <a:t>+ Data</a:t>
            </a:r>
            <a:r>
              <a:rPr sz="1550" b="1" spc="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595959"/>
                </a:solidFill>
                <a:latin typeface="Arial"/>
                <a:cs typeface="Arial"/>
              </a:rPr>
              <a:t>Hiding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4821" y="1842068"/>
            <a:ext cx="435356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595959"/>
                </a:solidFill>
                <a:latin typeface="Arial"/>
                <a:cs typeface="Arial"/>
              </a:rPr>
              <a:t>Abstraction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is showing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essential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features and hiding</a:t>
            </a:r>
            <a:r>
              <a:rPr sz="1350" spc="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595959"/>
                </a:solidFill>
                <a:latin typeface="Arial"/>
                <a:cs typeface="Arial"/>
              </a:rPr>
              <a:t>non-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54821" y="2261800"/>
            <a:ext cx="227266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essential features to the</a:t>
            </a:r>
            <a:r>
              <a:rPr sz="135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spc="-15" dirty="0">
                <a:solidFill>
                  <a:srgbClr val="595959"/>
                </a:solidFill>
                <a:latin typeface="Arial"/>
                <a:cs typeface="Arial"/>
              </a:rPr>
              <a:t>user.</a:t>
            </a:r>
            <a:endParaRPr sz="13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97620" y="2652011"/>
            <a:ext cx="111379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350" b="1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b="1" spc="25" dirty="0">
                <a:solidFill>
                  <a:srgbClr val="595959"/>
                </a:solidFill>
                <a:latin typeface="Arial"/>
                <a:cs typeface="Arial"/>
              </a:rPr>
              <a:t>example,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72059" y="2466975"/>
            <a:ext cx="2305050" cy="23145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73623" y="2671901"/>
            <a:ext cx="1701674" cy="170167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260599" y="4255205"/>
            <a:ext cx="4199890" cy="65532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While </a:t>
            </a:r>
            <a:r>
              <a:rPr sz="1350" b="1" spc="5" dirty="0">
                <a:solidFill>
                  <a:srgbClr val="595959"/>
                </a:solidFill>
                <a:latin typeface="Arial"/>
                <a:cs typeface="Arial"/>
              </a:rPr>
              <a:t>writing </a:t>
            </a: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350" b="1" spc="15" dirty="0">
                <a:solidFill>
                  <a:srgbClr val="595959"/>
                </a:solidFill>
                <a:latin typeface="Arial"/>
                <a:cs typeface="Arial"/>
              </a:rPr>
              <a:t>mail </a:t>
            </a:r>
            <a:r>
              <a:rPr sz="1350" b="1" spc="20" dirty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sz="1350" b="1" spc="-2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don’t know how things </a:t>
            </a: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endParaRPr sz="1350">
              <a:latin typeface="Arial"/>
              <a:cs typeface="Arial"/>
            </a:endParaRPr>
          </a:p>
          <a:p>
            <a:pPr marL="16510" algn="ctr">
              <a:lnSpc>
                <a:spcPct val="100000"/>
              </a:lnSpc>
              <a:spcBef>
                <a:spcPts val="860"/>
              </a:spcBef>
            </a:pP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actually </a:t>
            </a:r>
            <a:r>
              <a:rPr sz="1350" b="1" spc="5" dirty="0">
                <a:solidFill>
                  <a:srgbClr val="595959"/>
                </a:solidFill>
                <a:latin typeface="Arial"/>
                <a:cs typeface="Arial"/>
              </a:rPr>
              <a:t>happening </a:t>
            </a: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in the</a:t>
            </a:r>
            <a:r>
              <a:rPr sz="1350" b="1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b="1" spc="10" dirty="0">
                <a:solidFill>
                  <a:srgbClr val="595959"/>
                </a:solidFill>
                <a:latin typeface="Arial"/>
                <a:cs typeface="Arial"/>
              </a:rPr>
              <a:t>backend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50520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398520" cy="1381125"/>
          </a:xfrm>
          <a:custGeom>
            <a:avLst/>
            <a:gdLst/>
            <a:ahLst/>
            <a:cxnLst/>
            <a:rect l="l" t="t" r="r" b="b"/>
            <a:pathLst>
              <a:path w="3398520" h="1381125">
                <a:moveTo>
                  <a:pt x="0" y="1380993"/>
                </a:moveTo>
                <a:lnTo>
                  <a:pt x="3398001" y="1380993"/>
                </a:lnTo>
                <a:lnTo>
                  <a:pt x="3398001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398520" cy="2430145"/>
          </a:xfrm>
          <a:custGeom>
            <a:avLst/>
            <a:gdLst/>
            <a:ahLst/>
            <a:cxnLst/>
            <a:rect l="l" t="t" r="r" b="b"/>
            <a:pathLst>
              <a:path w="3398520" h="2430145">
                <a:moveTo>
                  <a:pt x="0" y="2429637"/>
                </a:moveTo>
                <a:lnTo>
                  <a:pt x="3398001" y="2429637"/>
                </a:lnTo>
                <a:lnTo>
                  <a:pt x="3398001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380993"/>
            <a:ext cx="3398520" cy="1332865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34290" rIns="0" bIns="0" rtlCol="0">
            <a:spAutoFit/>
          </a:bodyPr>
          <a:lstStyle/>
          <a:p>
            <a:pPr marR="269875">
              <a:lnSpc>
                <a:spcPts val="4360"/>
              </a:lnSpc>
              <a:spcBef>
                <a:spcPts val="270"/>
              </a:spcBef>
            </a:pPr>
            <a:r>
              <a:rPr sz="3950" b="1" spc="-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n in</a:t>
            </a:r>
            <a:r>
              <a:rPr sz="39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6229350" y="538163"/>
            <a:ext cx="2914650" cy="33496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10" dirty="0">
                <a:solidFill>
                  <a:srgbClr val="6F2F9F"/>
                </a:solidFill>
              </a:rPr>
              <a:t>What </a:t>
            </a:r>
            <a:r>
              <a:rPr sz="2000" spc="25" dirty="0">
                <a:solidFill>
                  <a:srgbClr val="6F2F9F"/>
                </a:solidFill>
              </a:rPr>
              <a:t>is</a:t>
            </a:r>
            <a:r>
              <a:rPr sz="2000" spc="-204" dirty="0">
                <a:solidFill>
                  <a:srgbClr val="6F2F9F"/>
                </a:solidFill>
              </a:rPr>
              <a:t> </a:t>
            </a:r>
            <a:r>
              <a:rPr sz="2000" spc="10" dirty="0">
                <a:solidFill>
                  <a:srgbClr val="6F2F9F"/>
                </a:solidFill>
              </a:rPr>
              <a:t>Encapsulation?</a:t>
            </a:r>
            <a:endParaRPr sz="2000"/>
          </a:p>
        </p:txBody>
      </p:sp>
      <p:sp>
        <p:nvSpPr>
          <p:cNvPr id="8" name="object 8"/>
          <p:cNvSpPr/>
          <p:nvPr/>
        </p:nvSpPr>
        <p:spPr>
          <a:xfrm>
            <a:off x="0" y="2713888"/>
            <a:ext cx="3398001" cy="24296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17392" y="4611682"/>
            <a:ext cx="228705" cy="2126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90469" y="1238183"/>
            <a:ext cx="24796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595959"/>
                </a:solidFill>
                <a:latin typeface="Arial"/>
                <a:cs typeface="Arial"/>
              </a:rPr>
              <a:t>Abstraction </a:t>
            </a:r>
            <a:r>
              <a:rPr sz="1550" b="1" spc="15" dirty="0">
                <a:solidFill>
                  <a:srgbClr val="595959"/>
                </a:solidFill>
                <a:latin typeface="Arial"/>
                <a:cs typeface="Arial"/>
              </a:rPr>
              <a:t>+ Data</a:t>
            </a:r>
            <a:r>
              <a:rPr sz="1550" b="1" spc="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595959"/>
                </a:solidFill>
                <a:latin typeface="Arial"/>
                <a:cs typeface="Arial"/>
              </a:rPr>
              <a:t>Hiding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4821" y="1944307"/>
            <a:ext cx="416242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Wrapping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up of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data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into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single unit is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Encapsulation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69429" y="2600434"/>
            <a:ext cx="3976756" cy="20265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154808" y="2441509"/>
            <a:ext cx="111442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350" b="1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b="1" spc="25" dirty="0">
                <a:solidFill>
                  <a:srgbClr val="595959"/>
                </a:solidFill>
                <a:latin typeface="Arial"/>
                <a:cs typeface="Arial"/>
              </a:rPr>
              <a:t>example,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22495" y="4515167"/>
            <a:ext cx="4286885" cy="43243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889000" marR="5080" indent="-876935">
              <a:lnSpc>
                <a:spcPts val="1580"/>
              </a:lnSpc>
              <a:spcBef>
                <a:spcPts val="185"/>
              </a:spcBef>
            </a:pP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Multiple parts of</a:t>
            </a:r>
            <a:r>
              <a:rPr sz="1350" b="1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cars</a:t>
            </a:r>
            <a:r>
              <a:rPr sz="1350" b="1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b="1" spc="10" dirty="0">
                <a:solidFill>
                  <a:srgbClr val="595959"/>
                </a:solidFill>
                <a:latin typeface="Arial"/>
                <a:cs typeface="Arial"/>
              </a:rPr>
              <a:t>encapsulates</a:t>
            </a:r>
            <a:r>
              <a:rPr sz="1350" b="1" spc="-1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b="1" spc="10" dirty="0">
                <a:solidFill>
                  <a:srgbClr val="595959"/>
                </a:solidFill>
                <a:latin typeface="Arial"/>
                <a:cs typeface="Arial"/>
              </a:rPr>
              <a:t>itself</a:t>
            </a:r>
            <a:r>
              <a:rPr sz="1350" b="1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b="1" spc="15" dirty="0">
                <a:solidFill>
                  <a:srgbClr val="595959"/>
                </a:solidFill>
                <a:latin typeface="Arial"/>
                <a:cs typeface="Arial"/>
              </a:rPr>
              <a:t>together</a:t>
            </a:r>
            <a:r>
              <a:rPr sz="1350" b="1" spc="-1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to  form a </a:t>
            </a: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single </a:t>
            </a:r>
            <a:r>
              <a:rPr sz="1350" b="1" spc="10" dirty="0">
                <a:solidFill>
                  <a:srgbClr val="595959"/>
                </a:solidFill>
                <a:latin typeface="Arial"/>
                <a:cs typeface="Arial"/>
              </a:rPr>
              <a:t>object </a:t>
            </a: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that is</a:t>
            </a:r>
            <a:r>
              <a:rPr sz="1350" b="1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Car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50520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398520" cy="1381125"/>
          </a:xfrm>
          <a:custGeom>
            <a:avLst/>
            <a:gdLst/>
            <a:ahLst/>
            <a:cxnLst/>
            <a:rect l="l" t="t" r="r" b="b"/>
            <a:pathLst>
              <a:path w="3398520" h="1381125">
                <a:moveTo>
                  <a:pt x="0" y="1380993"/>
                </a:moveTo>
                <a:lnTo>
                  <a:pt x="3398001" y="1380993"/>
                </a:lnTo>
                <a:lnTo>
                  <a:pt x="3398001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398520" cy="2430145"/>
          </a:xfrm>
          <a:custGeom>
            <a:avLst/>
            <a:gdLst/>
            <a:ahLst/>
            <a:cxnLst/>
            <a:rect l="l" t="t" r="r" b="b"/>
            <a:pathLst>
              <a:path w="3398520" h="2430145">
                <a:moveTo>
                  <a:pt x="0" y="2429637"/>
                </a:moveTo>
                <a:lnTo>
                  <a:pt x="3398001" y="2429637"/>
                </a:lnTo>
                <a:lnTo>
                  <a:pt x="3398001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380993"/>
            <a:ext cx="3398520" cy="1332865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34290" rIns="0" bIns="0" rtlCol="0">
            <a:spAutoFit/>
          </a:bodyPr>
          <a:lstStyle/>
          <a:p>
            <a:pPr marR="269875">
              <a:lnSpc>
                <a:spcPts val="4360"/>
              </a:lnSpc>
              <a:spcBef>
                <a:spcPts val="270"/>
              </a:spcBef>
            </a:pPr>
            <a:r>
              <a:rPr sz="3950" b="1" spc="-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n in</a:t>
            </a:r>
            <a:r>
              <a:rPr sz="39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6226175" y="138113"/>
            <a:ext cx="2917825" cy="3349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0" dirty="0">
                <a:solidFill>
                  <a:srgbClr val="6F2F9F"/>
                </a:solidFill>
              </a:rPr>
              <a:t>What </a:t>
            </a:r>
            <a:r>
              <a:rPr sz="2000" spc="25" dirty="0">
                <a:solidFill>
                  <a:srgbClr val="6F2F9F"/>
                </a:solidFill>
              </a:rPr>
              <a:t>is</a:t>
            </a:r>
            <a:r>
              <a:rPr sz="2000" spc="-190" dirty="0">
                <a:solidFill>
                  <a:srgbClr val="6F2F9F"/>
                </a:solidFill>
              </a:rPr>
              <a:t> </a:t>
            </a:r>
            <a:r>
              <a:rPr sz="2000" spc="10" dirty="0">
                <a:solidFill>
                  <a:srgbClr val="6F2F9F"/>
                </a:solidFill>
              </a:rPr>
              <a:t>Encapsulation?</a:t>
            </a:r>
            <a:endParaRPr sz="2000"/>
          </a:p>
        </p:txBody>
      </p:sp>
      <p:sp>
        <p:nvSpPr>
          <p:cNvPr id="8" name="object 8"/>
          <p:cNvSpPr/>
          <p:nvPr/>
        </p:nvSpPr>
        <p:spPr>
          <a:xfrm>
            <a:off x="0" y="2713888"/>
            <a:ext cx="3398001" cy="24296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17392" y="4611682"/>
            <a:ext cx="228705" cy="2126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06586" y="2103083"/>
            <a:ext cx="2860040" cy="2247265"/>
          </a:xfrm>
          <a:custGeom>
            <a:avLst/>
            <a:gdLst/>
            <a:ahLst/>
            <a:cxnLst/>
            <a:rect l="l" t="t" r="r" b="b"/>
            <a:pathLst>
              <a:path w="2860040" h="2247265">
                <a:moveTo>
                  <a:pt x="0" y="2246757"/>
                </a:moveTo>
                <a:lnTo>
                  <a:pt x="2859917" y="2246757"/>
                </a:lnTo>
                <a:lnTo>
                  <a:pt x="2859917" y="0"/>
                </a:lnTo>
                <a:lnTo>
                  <a:pt x="0" y="0"/>
                </a:lnTo>
                <a:lnTo>
                  <a:pt x="0" y="2246757"/>
                </a:lnTo>
                <a:close/>
              </a:path>
            </a:pathLst>
          </a:custGeom>
          <a:solidFill>
            <a:srgbClr val="2F233B">
              <a:alpha val="3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889378" y="2130359"/>
            <a:ext cx="2183130" cy="109283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98450" marR="5080" indent="-286385">
              <a:lnSpc>
                <a:spcPts val="1650"/>
              </a:lnSpc>
              <a:spcBef>
                <a:spcPts val="204"/>
              </a:spcBef>
            </a:pP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Encap(object):  </a:t>
            </a: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def</a:t>
            </a:r>
            <a:r>
              <a:rPr sz="1400" u="heavy" spc="785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Consolas"/>
                <a:cs typeface="Consolas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init</a:t>
            </a:r>
            <a:r>
              <a:rPr sz="1400" u="heavy" spc="620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(self):</a:t>
            </a:r>
            <a:endParaRPr sz="1400">
              <a:latin typeface="Consolas"/>
              <a:cs typeface="Consolas"/>
            </a:endParaRPr>
          </a:p>
          <a:p>
            <a:pPr marL="594360">
              <a:lnSpc>
                <a:spcPts val="1610"/>
              </a:lnSpc>
            </a:pP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self.a 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=</a:t>
            </a:r>
            <a:r>
              <a:rPr sz="1400" spc="-6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123</a:t>
            </a:r>
            <a:endParaRPr sz="1400">
              <a:latin typeface="Consolas"/>
              <a:cs typeface="Consolas"/>
            </a:endParaRPr>
          </a:p>
          <a:p>
            <a:pPr marL="594360">
              <a:lnSpc>
                <a:spcPts val="1664"/>
              </a:lnSpc>
              <a:spcBef>
                <a:spcPts val="50"/>
              </a:spcBef>
            </a:pP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self._b 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= </a:t>
            </a: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123</a:t>
            </a:r>
            <a:endParaRPr sz="1400">
              <a:latin typeface="Consolas"/>
              <a:cs typeface="Consolas"/>
            </a:endParaRPr>
          </a:p>
          <a:p>
            <a:pPr marL="594360">
              <a:lnSpc>
                <a:spcPts val="1664"/>
              </a:lnSpc>
            </a:pP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self.</a:t>
            </a:r>
            <a:r>
              <a:rPr sz="1400" u="heavy" spc="5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Consolas"/>
                <a:cs typeface="Consolas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c =</a:t>
            </a:r>
            <a:r>
              <a:rPr sz="1400" spc="-8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Consolas"/>
                <a:cs typeface="Consolas"/>
              </a:rPr>
              <a:t>123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89378" y="3409377"/>
            <a:ext cx="1402715" cy="882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30"/>
              </a:spcBef>
            </a:pP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obj 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Encap()  print(obj.a)  print(obj._b)  print(obj.</a:t>
            </a:r>
            <a:r>
              <a:rPr sz="1400" u="heavy" spc="660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Consolas"/>
                <a:cs typeface="Consolas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Consolas"/>
                <a:cs typeface="Consolas"/>
              </a:rPr>
              <a:t>c)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48050" y="1619250"/>
            <a:ext cx="2628900" cy="8001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86150" y="1695450"/>
            <a:ext cx="2590800" cy="6953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06586" y="1619768"/>
            <a:ext cx="2301240" cy="483870"/>
          </a:xfrm>
          <a:custGeom>
            <a:avLst/>
            <a:gdLst/>
            <a:ahLst/>
            <a:cxnLst/>
            <a:rect l="l" t="t" r="r" b="b"/>
            <a:pathLst>
              <a:path w="2301240" h="483869">
                <a:moveTo>
                  <a:pt x="2220589" y="0"/>
                </a:moveTo>
                <a:lnTo>
                  <a:pt x="80497" y="0"/>
                </a:lnTo>
                <a:lnTo>
                  <a:pt x="49171" y="6330"/>
                </a:lnTo>
                <a:lnTo>
                  <a:pt x="23583" y="23599"/>
                </a:lnTo>
                <a:lnTo>
                  <a:pt x="6328" y="49223"/>
                </a:lnTo>
                <a:lnTo>
                  <a:pt x="0" y="80619"/>
                </a:lnTo>
                <a:lnTo>
                  <a:pt x="0" y="402701"/>
                </a:lnTo>
                <a:lnTo>
                  <a:pt x="6328" y="434115"/>
                </a:lnTo>
                <a:lnTo>
                  <a:pt x="23583" y="459748"/>
                </a:lnTo>
                <a:lnTo>
                  <a:pt x="49171" y="477021"/>
                </a:lnTo>
                <a:lnTo>
                  <a:pt x="80497" y="483351"/>
                </a:lnTo>
                <a:lnTo>
                  <a:pt x="2220589" y="483351"/>
                </a:lnTo>
                <a:lnTo>
                  <a:pt x="2251915" y="477021"/>
                </a:lnTo>
                <a:lnTo>
                  <a:pt x="2277503" y="459748"/>
                </a:lnTo>
                <a:lnTo>
                  <a:pt x="2294759" y="434115"/>
                </a:lnTo>
                <a:lnTo>
                  <a:pt x="2301087" y="402701"/>
                </a:lnTo>
                <a:lnTo>
                  <a:pt x="2301087" y="80619"/>
                </a:lnTo>
                <a:lnTo>
                  <a:pt x="2294759" y="49223"/>
                </a:lnTo>
                <a:lnTo>
                  <a:pt x="2277503" y="23599"/>
                </a:lnTo>
                <a:lnTo>
                  <a:pt x="2251915" y="6330"/>
                </a:lnTo>
                <a:lnTo>
                  <a:pt x="2220589" y="0"/>
                </a:lnTo>
                <a:close/>
              </a:path>
            </a:pathLst>
          </a:custGeom>
          <a:solidFill>
            <a:srgbClr val="5F477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942083" y="1735769"/>
            <a:ext cx="202882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Encapsulating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47366" y="2458592"/>
            <a:ext cx="577215" cy="577215"/>
          </a:xfrm>
          <a:custGeom>
            <a:avLst/>
            <a:gdLst/>
            <a:ahLst/>
            <a:cxnLst/>
            <a:rect l="l" t="t" r="r" b="b"/>
            <a:pathLst>
              <a:path w="577215" h="577214">
                <a:moveTo>
                  <a:pt x="78607" y="0"/>
                </a:moveTo>
                <a:lnTo>
                  <a:pt x="0" y="78617"/>
                </a:lnTo>
                <a:lnTo>
                  <a:pt x="209793" y="288417"/>
                </a:lnTo>
                <a:lnTo>
                  <a:pt x="0" y="498216"/>
                </a:lnTo>
                <a:lnTo>
                  <a:pt x="78607" y="576834"/>
                </a:lnTo>
                <a:lnTo>
                  <a:pt x="288401" y="367034"/>
                </a:lnTo>
                <a:lnTo>
                  <a:pt x="445776" y="367034"/>
                </a:lnTo>
                <a:lnTo>
                  <a:pt x="367162" y="288417"/>
                </a:lnTo>
                <a:lnTo>
                  <a:pt x="445776" y="209799"/>
                </a:lnTo>
                <a:lnTo>
                  <a:pt x="288401" y="209799"/>
                </a:lnTo>
                <a:lnTo>
                  <a:pt x="78607" y="0"/>
                </a:lnTo>
                <a:close/>
              </a:path>
              <a:path w="577215" h="577214">
                <a:moveTo>
                  <a:pt x="445776" y="367034"/>
                </a:moveTo>
                <a:lnTo>
                  <a:pt x="288401" y="367034"/>
                </a:lnTo>
                <a:lnTo>
                  <a:pt x="498226" y="576834"/>
                </a:lnTo>
                <a:lnTo>
                  <a:pt x="576955" y="498216"/>
                </a:lnTo>
                <a:lnTo>
                  <a:pt x="445776" y="367034"/>
                </a:lnTo>
                <a:close/>
              </a:path>
              <a:path w="577215" h="577214">
                <a:moveTo>
                  <a:pt x="498226" y="0"/>
                </a:moveTo>
                <a:lnTo>
                  <a:pt x="288401" y="209799"/>
                </a:lnTo>
                <a:lnTo>
                  <a:pt x="445776" y="209799"/>
                </a:lnTo>
                <a:lnTo>
                  <a:pt x="576955" y="78617"/>
                </a:lnTo>
                <a:lnTo>
                  <a:pt x="49822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47365" y="2458593"/>
            <a:ext cx="577215" cy="577215"/>
          </a:xfrm>
          <a:custGeom>
            <a:avLst/>
            <a:gdLst/>
            <a:ahLst/>
            <a:cxnLst/>
            <a:rect l="l" t="t" r="r" b="b"/>
            <a:pathLst>
              <a:path w="577215" h="577214">
                <a:moveTo>
                  <a:pt x="0" y="78617"/>
                </a:moveTo>
                <a:lnTo>
                  <a:pt x="78607" y="0"/>
                </a:lnTo>
                <a:lnTo>
                  <a:pt x="288401" y="209799"/>
                </a:lnTo>
                <a:lnTo>
                  <a:pt x="498226" y="0"/>
                </a:lnTo>
                <a:lnTo>
                  <a:pt x="576955" y="78617"/>
                </a:lnTo>
                <a:lnTo>
                  <a:pt x="367162" y="288416"/>
                </a:lnTo>
                <a:lnTo>
                  <a:pt x="576955" y="498216"/>
                </a:lnTo>
                <a:lnTo>
                  <a:pt x="498226" y="576833"/>
                </a:lnTo>
                <a:lnTo>
                  <a:pt x="288401" y="367034"/>
                </a:lnTo>
                <a:lnTo>
                  <a:pt x="78607" y="576833"/>
                </a:lnTo>
                <a:lnTo>
                  <a:pt x="0" y="498216"/>
                </a:lnTo>
                <a:lnTo>
                  <a:pt x="209793" y="288416"/>
                </a:lnTo>
                <a:lnTo>
                  <a:pt x="0" y="7861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797937" y="4487865"/>
            <a:ext cx="3956050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sz="1400" b="1" spc="-15" dirty="0">
                <a:solidFill>
                  <a:srgbClr val="B12B30"/>
                </a:solidFill>
                <a:latin typeface="Courier New"/>
                <a:cs typeface="Courier New"/>
              </a:rPr>
              <a:t>AttributeError</a:t>
            </a:r>
            <a:r>
              <a:rPr sz="1400" spc="-15" dirty="0">
                <a:latin typeface="Courier New"/>
                <a:cs typeface="Courier New"/>
              </a:rPr>
              <a:t>: </a:t>
            </a:r>
            <a:r>
              <a:rPr sz="1400" spc="-5" dirty="0">
                <a:latin typeface="Courier New"/>
                <a:cs typeface="Courier New"/>
              </a:rPr>
              <a:t>'Encap' object </a:t>
            </a:r>
            <a:r>
              <a:rPr sz="1400" spc="15" dirty="0">
                <a:latin typeface="Courier New"/>
                <a:cs typeface="Courier New"/>
              </a:rPr>
              <a:t>has </a:t>
            </a:r>
            <a:r>
              <a:rPr sz="1400" spc="-5" dirty="0">
                <a:latin typeface="Courier New"/>
                <a:cs typeface="Courier New"/>
              </a:rPr>
              <a:t>no  </a:t>
            </a:r>
            <a:r>
              <a:rPr sz="1400" spc="-15" dirty="0">
                <a:latin typeface="Courier New"/>
                <a:cs typeface="Courier New"/>
              </a:rPr>
              <a:t>attribute </a:t>
            </a:r>
            <a:r>
              <a:rPr sz="1400" spc="-20" dirty="0">
                <a:latin typeface="Courier New"/>
                <a:cs typeface="Courier New"/>
              </a:rPr>
              <a:t>'</a:t>
            </a:r>
            <a:r>
              <a:rPr sz="1400" u="sng" spc="8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1400" spc="-20" dirty="0">
                <a:latin typeface="Courier New"/>
                <a:cs typeface="Courier New"/>
              </a:rPr>
              <a:t>c'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9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36770" y="3250245"/>
            <a:ext cx="1407795" cy="641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99700"/>
              </a:lnSpc>
              <a:spcBef>
                <a:spcPts val="105"/>
              </a:spcBef>
            </a:pP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So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what’s with</a:t>
            </a:r>
            <a:r>
              <a:rPr sz="135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the 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underscores and  error?</a:t>
            </a:r>
            <a:endParaRPr sz="13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84040" y="495048"/>
            <a:ext cx="4336415" cy="102171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550" b="1" spc="20" dirty="0">
                <a:solidFill>
                  <a:srgbClr val="595959"/>
                </a:solidFill>
                <a:latin typeface="Arial"/>
                <a:cs typeface="Arial"/>
              </a:rPr>
              <a:t>Convention: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48500"/>
              </a:lnSpc>
              <a:spcBef>
                <a:spcPts val="110"/>
              </a:spcBef>
            </a:pP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A class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variable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that should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not directly be 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accessed(private) should be </a:t>
            </a:r>
            <a:r>
              <a:rPr sz="1350" spc="-10" dirty="0">
                <a:solidFill>
                  <a:srgbClr val="595959"/>
                </a:solidFill>
                <a:latin typeface="Arial"/>
                <a:cs typeface="Arial"/>
              </a:rPr>
              <a:t>prefixed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with an</a:t>
            </a:r>
            <a:r>
              <a:rPr sz="1350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underscore</a:t>
            </a:r>
            <a:endParaRPr sz="1350">
              <a:latin typeface="Arial"/>
              <a:cs typeface="Arial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50520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398520" cy="1381125"/>
          </a:xfrm>
          <a:custGeom>
            <a:avLst/>
            <a:gdLst/>
            <a:ahLst/>
            <a:cxnLst/>
            <a:rect l="l" t="t" r="r" b="b"/>
            <a:pathLst>
              <a:path w="3398520" h="1381125">
                <a:moveTo>
                  <a:pt x="0" y="1380993"/>
                </a:moveTo>
                <a:lnTo>
                  <a:pt x="3398001" y="1380993"/>
                </a:lnTo>
                <a:lnTo>
                  <a:pt x="3398001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398520" cy="2430145"/>
          </a:xfrm>
          <a:custGeom>
            <a:avLst/>
            <a:gdLst/>
            <a:ahLst/>
            <a:cxnLst/>
            <a:rect l="l" t="t" r="r" b="b"/>
            <a:pathLst>
              <a:path w="3398520" h="2430145">
                <a:moveTo>
                  <a:pt x="0" y="2429637"/>
                </a:moveTo>
                <a:lnTo>
                  <a:pt x="3398001" y="2429637"/>
                </a:lnTo>
                <a:lnTo>
                  <a:pt x="3398001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398520" cy="1332865"/>
          </a:xfrm>
          <a:custGeom>
            <a:avLst/>
            <a:gdLst/>
            <a:ahLst/>
            <a:cxnLst/>
            <a:rect l="l" t="t" r="r" b="b"/>
            <a:pathLst>
              <a:path w="3398520" h="1332864">
                <a:moveTo>
                  <a:pt x="0" y="1332869"/>
                </a:moveTo>
                <a:lnTo>
                  <a:pt x="3398001" y="1332869"/>
                </a:lnTo>
                <a:lnTo>
                  <a:pt x="3398001" y="0"/>
                </a:lnTo>
                <a:lnTo>
                  <a:pt x="0" y="0"/>
                </a:lnTo>
                <a:lnTo>
                  <a:pt x="0" y="1332869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340164"/>
            <a:ext cx="3398520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R="269875">
              <a:lnSpc>
                <a:spcPts val="4360"/>
              </a:lnSpc>
              <a:spcBef>
                <a:spcPts val="595"/>
              </a:spcBef>
            </a:pPr>
            <a:r>
              <a:rPr sz="3950" b="1" spc="-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n in</a:t>
            </a:r>
            <a:r>
              <a:rPr sz="39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5084763" y="152400"/>
            <a:ext cx="4059237" cy="33496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35" dirty="0">
                <a:solidFill>
                  <a:srgbClr val="6F2F9F"/>
                </a:solidFill>
              </a:rPr>
              <a:t>How</a:t>
            </a:r>
            <a:r>
              <a:rPr sz="2000" spc="-120" dirty="0">
                <a:solidFill>
                  <a:srgbClr val="6F2F9F"/>
                </a:solidFill>
              </a:rPr>
              <a:t> </a:t>
            </a:r>
            <a:r>
              <a:rPr sz="2000" spc="10" dirty="0">
                <a:solidFill>
                  <a:srgbClr val="6F2F9F"/>
                </a:solidFill>
              </a:rPr>
              <a:t>to</a:t>
            </a:r>
            <a:r>
              <a:rPr sz="2000" spc="-85" dirty="0">
                <a:solidFill>
                  <a:srgbClr val="6F2F9F"/>
                </a:solidFill>
              </a:rPr>
              <a:t> </a:t>
            </a:r>
            <a:r>
              <a:rPr sz="2000" spc="10" dirty="0">
                <a:solidFill>
                  <a:srgbClr val="6F2F9F"/>
                </a:solidFill>
              </a:rPr>
              <a:t>access</a:t>
            </a:r>
            <a:r>
              <a:rPr sz="2000" spc="-120" dirty="0">
                <a:solidFill>
                  <a:srgbClr val="6F2F9F"/>
                </a:solidFill>
              </a:rPr>
              <a:t> </a:t>
            </a:r>
            <a:r>
              <a:rPr sz="2000" spc="15" dirty="0">
                <a:solidFill>
                  <a:srgbClr val="6F2F9F"/>
                </a:solidFill>
              </a:rPr>
              <a:t>a</a:t>
            </a:r>
            <a:r>
              <a:rPr sz="2000" spc="30" dirty="0">
                <a:solidFill>
                  <a:srgbClr val="6F2F9F"/>
                </a:solidFill>
              </a:rPr>
              <a:t> </a:t>
            </a:r>
            <a:r>
              <a:rPr sz="2000" spc="15" dirty="0">
                <a:solidFill>
                  <a:srgbClr val="6F2F9F"/>
                </a:solidFill>
              </a:rPr>
              <a:t>Private</a:t>
            </a:r>
            <a:r>
              <a:rPr sz="2000" spc="-195" dirty="0">
                <a:solidFill>
                  <a:srgbClr val="6F2F9F"/>
                </a:solidFill>
              </a:rPr>
              <a:t> </a:t>
            </a:r>
            <a:r>
              <a:rPr sz="2000" spc="10" dirty="0">
                <a:solidFill>
                  <a:srgbClr val="6F2F9F"/>
                </a:solidFill>
              </a:rPr>
              <a:t>Method?</a:t>
            </a:r>
            <a:endParaRPr sz="2000"/>
          </a:p>
        </p:txBody>
      </p:sp>
      <p:sp>
        <p:nvSpPr>
          <p:cNvPr id="9" name="object 9"/>
          <p:cNvSpPr/>
          <p:nvPr/>
        </p:nvSpPr>
        <p:spPr>
          <a:xfrm>
            <a:off x="0" y="2713888"/>
            <a:ext cx="3398001" cy="24296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17392" y="4611682"/>
            <a:ext cx="228705" cy="2126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52566" y="1586980"/>
            <a:ext cx="5445125" cy="3108960"/>
          </a:xfrm>
          <a:custGeom>
            <a:avLst/>
            <a:gdLst/>
            <a:ahLst/>
            <a:cxnLst/>
            <a:rect l="l" t="t" r="r" b="b"/>
            <a:pathLst>
              <a:path w="5445125" h="3108960">
                <a:moveTo>
                  <a:pt x="0" y="3108594"/>
                </a:moveTo>
                <a:lnTo>
                  <a:pt x="5444734" y="3108594"/>
                </a:lnTo>
                <a:lnTo>
                  <a:pt x="5444734" y="0"/>
                </a:lnTo>
                <a:lnTo>
                  <a:pt x="0" y="0"/>
                </a:lnTo>
                <a:lnTo>
                  <a:pt x="0" y="3108594"/>
                </a:lnTo>
                <a:close/>
              </a:path>
            </a:pathLst>
          </a:custGeom>
          <a:solidFill>
            <a:srgbClr val="2F233B">
              <a:alpha val="3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635123" y="1613595"/>
            <a:ext cx="1001394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class</a:t>
            </a:r>
            <a:r>
              <a:rPr sz="1400" spc="-13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Car: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25899" y="2033196"/>
            <a:ext cx="2675890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def</a:t>
            </a:r>
            <a:r>
              <a:rPr sz="1400" u="heavy" spc="735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init</a:t>
            </a:r>
            <a:r>
              <a:rPr sz="1400" u="heavy" spc="125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(self):</a:t>
            </a:r>
            <a:endParaRPr sz="1400">
              <a:latin typeface="Consolas"/>
              <a:cs typeface="Consolas"/>
            </a:endParaRPr>
          </a:p>
          <a:p>
            <a:pPr marL="403225">
              <a:lnSpc>
                <a:spcPct val="100000"/>
              </a:lnSpc>
              <a:spcBef>
                <a:spcPts val="50"/>
              </a:spcBef>
            </a:pP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self.</a:t>
            </a:r>
            <a:r>
              <a:rPr sz="1400" u="heavy" spc="665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updateSoftware()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5118" y="2682301"/>
            <a:ext cx="3470275" cy="19513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794385" marR="995680" indent="-391160">
              <a:lnSpc>
                <a:spcPts val="1650"/>
              </a:lnSpc>
              <a:spcBef>
                <a:spcPts val="204"/>
              </a:spcBef>
            </a:pP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def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drive(self): 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print</a:t>
            </a:r>
            <a:r>
              <a:rPr sz="1400" spc="-5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('driving')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Times New Roman"/>
              <a:cs typeface="Times New Roman"/>
            </a:endParaRPr>
          </a:p>
          <a:p>
            <a:pPr marL="794385" marR="5080" indent="-391160">
              <a:lnSpc>
                <a:spcPts val="1650"/>
              </a:lnSpc>
            </a:pPr>
            <a:r>
              <a:rPr sz="1400" spc="-15" dirty="0">
                <a:solidFill>
                  <a:srgbClr val="FFFFFF"/>
                </a:solidFill>
                <a:latin typeface="Consolas"/>
                <a:cs typeface="Consolas"/>
              </a:rPr>
              <a:t>def</a:t>
            </a:r>
            <a:r>
              <a:rPr sz="1400" u="heavy" spc="735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updateSoftware(self): 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print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('updating</a:t>
            </a:r>
            <a:r>
              <a:rPr sz="1400" spc="2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software')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2066289">
              <a:lnSpc>
                <a:spcPts val="1650"/>
              </a:lnSpc>
              <a:spcBef>
                <a:spcPts val="5"/>
              </a:spcBef>
            </a:pP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redcar 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=</a:t>
            </a:r>
            <a:r>
              <a:rPr sz="1400" spc="-13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Car() 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redcar.drive()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1B577B"/>
                </a:solidFill>
                <a:latin typeface="Consolas"/>
                <a:cs typeface="Consolas"/>
              </a:rPr>
              <a:t>redcar._Car</a:t>
            </a:r>
            <a:r>
              <a:rPr sz="1400" u="heavy" spc="25" dirty="0">
                <a:solidFill>
                  <a:srgbClr val="1B577B"/>
                </a:solidFill>
                <a:uFill>
                  <a:solidFill>
                    <a:srgbClr val="1A567A"/>
                  </a:solidFill>
                </a:u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1B577B"/>
                </a:solidFill>
                <a:latin typeface="Consolas"/>
                <a:cs typeface="Consolas"/>
              </a:rPr>
              <a:t>updateSoftware()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00400" y="1095375"/>
            <a:ext cx="2619375" cy="8096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86200" y="1181084"/>
            <a:ext cx="1295400" cy="6953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52566" y="1103741"/>
            <a:ext cx="2301240" cy="483870"/>
          </a:xfrm>
          <a:custGeom>
            <a:avLst/>
            <a:gdLst/>
            <a:ahLst/>
            <a:cxnLst/>
            <a:rect l="l" t="t" r="r" b="b"/>
            <a:pathLst>
              <a:path w="2301240" h="483869">
                <a:moveTo>
                  <a:pt x="2220589" y="0"/>
                </a:moveTo>
                <a:lnTo>
                  <a:pt x="80650" y="0"/>
                </a:lnTo>
                <a:lnTo>
                  <a:pt x="49249" y="6333"/>
                </a:lnTo>
                <a:lnTo>
                  <a:pt x="23614" y="23599"/>
                </a:lnTo>
                <a:lnTo>
                  <a:pt x="6335" y="49197"/>
                </a:lnTo>
                <a:lnTo>
                  <a:pt x="0" y="80528"/>
                </a:lnTo>
                <a:lnTo>
                  <a:pt x="0" y="402732"/>
                </a:lnTo>
                <a:lnTo>
                  <a:pt x="6335" y="434062"/>
                </a:lnTo>
                <a:lnTo>
                  <a:pt x="23614" y="459661"/>
                </a:lnTo>
                <a:lnTo>
                  <a:pt x="49249" y="476927"/>
                </a:lnTo>
                <a:lnTo>
                  <a:pt x="80650" y="483260"/>
                </a:lnTo>
                <a:lnTo>
                  <a:pt x="2220589" y="483260"/>
                </a:lnTo>
                <a:lnTo>
                  <a:pt x="2252003" y="476927"/>
                </a:lnTo>
                <a:lnTo>
                  <a:pt x="2277637" y="459661"/>
                </a:lnTo>
                <a:lnTo>
                  <a:pt x="2294909" y="434062"/>
                </a:lnTo>
                <a:lnTo>
                  <a:pt x="2301240" y="402732"/>
                </a:lnTo>
                <a:lnTo>
                  <a:pt x="2301240" y="80528"/>
                </a:lnTo>
                <a:lnTo>
                  <a:pt x="2294909" y="49197"/>
                </a:lnTo>
                <a:lnTo>
                  <a:pt x="2277637" y="23599"/>
                </a:lnTo>
                <a:lnTo>
                  <a:pt x="2252003" y="6333"/>
                </a:lnTo>
                <a:lnTo>
                  <a:pt x="2220589" y="0"/>
                </a:lnTo>
                <a:close/>
              </a:path>
            </a:pathLst>
          </a:custGeom>
          <a:solidFill>
            <a:srgbClr val="5F477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336037" y="1218879"/>
            <a:ext cx="7277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35123" y="756345"/>
            <a:ext cx="53936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Private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method 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spc="30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called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400" spc="-2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redcar._Car__updateSoftware()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605016" y="3408032"/>
            <a:ext cx="2390265" cy="130987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0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50520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398520" cy="1381125"/>
          </a:xfrm>
          <a:custGeom>
            <a:avLst/>
            <a:gdLst/>
            <a:ahLst/>
            <a:cxnLst/>
            <a:rect l="l" t="t" r="r" b="b"/>
            <a:pathLst>
              <a:path w="3398520" h="1381125">
                <a:moveTo>
                  <a:pt x="0" y="1380993"/>
                </a:moveTo>
                <a:lnTo>
                  <a:pt x="3398001" y="1380993"/>
                </a:lnTo>
                <a:lnTo>
                  <a:pt x="3398001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398520" cy="2430145"/>
          </a:xfrm>
          <a:custGeom>
            <a:avLst/>
            <a:gdLst/>
            <a:ahLst/>
            <a:cxnLst/>
            <a:rect l="l" t="t" r="r" b="b"/>
            <a:pathLst>
              <a:path w="3398520" h="2430145">
                <a:moveTo>
                  <a:pt x="0" y="2429637"/>
                </a:moveTo>
                <a:lnTo>
                  <a:pt x="3398001" y="2429637"/>
                </a:lnTo>
                <a:lnTo>
                  <a:pt x="3398001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380993"/>
            <a:ext cx="3398520" cy="1332865"/>
          </a:xfrm>
          <a:custGeom>
            <a:avLst/>
            <a:gdLst/>
            <a:ahLst/>
            <a:cxnLst/>
            <a:rect l="l" t="t" r="r" b="b"/>
            <a:pathLst>
              <a:path w="3398520" h="1332864">
                <a:moveTo>
                  <a:pt x="0" y="1332869"/>
                </a:moveTo>
                <a:lnTo>
                  <a:pt x="3398001" y="1332869"/>
                </a:lnTo>
                <a:lnTo>
                  <a:pt x="3398001" y="0"/>
                </a:lnTo>
                <a:lnTo>
                  <a:pt x="0" y="0"/>
                </a:lnTo>
                <a:lnTo>
                  <a:pt x="0" y="1332869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340164"/>
            <a:ext cx="3398520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R="269875">
              <a:lnSpc>
                <a:spcPts val="4360"/>
              </a:lnSpc>
              <a:spcBef>
                <a:spcPts val="595"/>
              </a:spcBef>
            </a:pPr>
            <a:r>
              <a:rPr sz="3950" b="1" spc="-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ca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n in</a:t>
            </a:r>
            <a:r>
              <a:rPr sz="39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idx="4294967295"/>
          </p:nvPr>
        </p:nvSpPr>
        <p:spPr>
          <a:xfrm>
            <a:off x="0" y="1370013"/>
            <a:ext cx="8128000" cy="326231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086735" marR="3543935">
              <a:lnSpc>
                <a:spcPct val="102899"/>
              </a:lnSpc>
              <a:spcBef>
                <a:spcPts val="75"/>
              </a:spcBef>
            </a:pPr>
            <a:r>
              <a:rPr spc="-5" dirty="0"/>
              <a:t>redcar </a:t>
            </a:r>
            <a:r>
              <a:rPr spc="15" dirty="0"/>
              <a:t>=</a:t>
            </a:r>
            <a:r>
              <a:rPr spc="-130" dirty="0"/>
              <a:t> </a:t>
            </a:r>
            <a:r>
              <a:rPr spc="15" dirty="0"/>
              <a:t>Car()  </a:t>
            </a:r>
            <a:r>
              <a:rPr dirty="0"/>
              <a:t>redcar.drive()</a:t>
            </a:r>
          </a:p>
          <a:p>
            <a:pPr marL="3086735" marR="5080">
              <a:lnSpc>
                <a:spcPts val="1650"/>
              </a:lnSpc>
              <a:spcBef>
                <a:spcPts val="55"/>
              </a:spcBef>
              <a:tabLst>
                <a:tab pos="5441315" algn="l"/>
              </a:tabLst>
            </a:pPr>
            <a:r>
              <a:rPr spc="-5" dirty="0"/>
              <a:t>redcar.</a:t>
            </a:r>
            <a:r>
              <a:rPr u="heavy" spc="-5" dirty="0">
                <a:uFill>
                  <a:solidFill>
                    <a:srgbClr val="FEFEFE"/>
                  </a:solidFill>
                </a:uFill>
              </a:rPr>
              <a:t>  </a:t>
            </a:r>
            <a:r>
              <a:rPr spc="10" dirty="0"/>
              <a:t>maxspeed</a:t>
            </a:r>
            <a:r>
              <a:rPr spc="-65" dirty="0"/>
              <a:t> </a:t>
            </a:r>
            <a:r>
              <a:rPr spc="15" dirty="0"/>
              <a:t>=</a:t>
            </a:r>
            <a:r>
              <a:rPr spc="25" dirty="0"/>
              <a:t> </a:t>
            </a:r>
            <a:r>
              <a:rPr spc="-5" dirty="0"/>
              <a:t>10</a:t>
            </a:r>
            <a:r>
              <a:rPr spc="-5" dirty="0">
                <a:latin typeface="Times New Roman"/>
                <a:cs typeface="Times New Roman"/>
              </a:rPr>
              <a:t>	</a:t>
            </a:r>
            <a:r>
              <a:rPr spc="15" dirty="0"/>
              <a:t># </a:t>
            </a:r>
            <a:r>
              <a:rPr spc="5" dirty="0"/>
              <a:t>will </a:t>
            </a:r>
            <a:r>
              <a:rPr spc="-15" dirty="0"/>
              <a:t>not </a:t>
            </a:r>
            <a:r>
              <a:rPr spc="5" dirty="0"/>
              <a:t>change</a:t>
            </a:r>
            <a:r>
              <a:rPr spc="-70" dirty="0"/>
              <a:t> </a:t>
            </a:r>
            <a:r>
              <a:rPr spc="10" dirty="0"/>
              <a:t>variable  </a:t>
            </a:r>
            <a:r>
              <a:rPr spc="-10" dirty="0"/>
              <a:t>because </a:t>
            </a:r>
            <a:r>
              <a:rPr spc="15" dirty="0"/>
              <a:t>its</a:t>
            </a:r>
            <a:r>
              <a:rPr spc="-35" dirty="0"/>
              <a:t> </a:t>
            </a:r>
            <a:r>
              <a:rPr dirty="0"/>
              <a:t>private</a:t>
            </a:r>
          </a:p>
          <a:p>
            <a:pPr marL="3086735" marR="2662555">
              <a:lnSpc>
                <a:spcPts val="1650"/>
              </a:lnSpc>
              <a:spcBef>
                <a:spcPts val="80"/>
              </a:spcBef>
            </a:pPr>
            <a:r>
              <a:rPr dirty="0">
                <a:solidFill>
                  <a:srgbClr val="1B577B"/>
                </a:solidFill>
              </a:rPr>
              <a:t>redcar.setMaxSpeed(320)  </a:t>
            </a:r>
            <a:r>
              <a:rPr dirty="0"/>
              <a:t>redcar.drive()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4989513" y="152400"/>
            <a:ext cx="4154487" cy="33496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35" dirty="0">
                <a:solidFill>
                  <a:srgbClr val="6F2F9F"/>
                </a:solidFill>
              </a:rPr>
              <a:t>How</a:t>
            </a:r>
            <a:r>
              <a:rPr sz="2000" spc="-114" dirty="0">
                <a:solidFill>
                  <a:srgbClr val="6F2F9F"/>
                </a:solidFill>
              </a:rPr>
              <a:t> </a:t>
            </a:r>
            <a:r>
              <a:rPr sz="2000" spc="10" dirty="0">
                <a:solidFill>
                  <a:srgbClr val="6F2F9F"/>
                </a:solidFill>
              </a:rPr>
              <a:t>to</a:t>
            </a:r>
            <a:r>
              <a:rPr sz="2000" spc="-80" dirty="0">
                <a:solidFill>
                  <a:srgbClr val="6F2F9F"/>
                </a:solidFill>
              </a:rPr>
              <a:t> </a:t>
            </a:r>
            <a:r>
              <a:rPr sz="2000" spc="10" dirty="0">
                <a:solidFill>
                  <a:srgbClr val="6F2F9F"/>
                </a:solidFill>
              </a:rPr>
              <a:t>access</a:t>
            </a:r>
            <a:r>
              <a:rPr sz="2000" spc="-120" dirty="0">
                <a:solidFill>
                  <a:srgbClr val="6F2F9F"/>
                </a:solidFill>
              </a:rPr>
              <a:t> </a:t>
            </a:r>
            <a:r>
              <a:rPr sz="2000" spc="15" dirty="0">
                <a:solidFill>
                  <a:srgbClr val="6F2F9F"/>
                </a:solidFill>
              </a:rPr>
              <a:t>a</a:t>
            </a:r>
            <a:r>
              <a:rPr sz="2000" spc="30" dirty="0">
                <a:solidFill>
                  <a:srgbClr val="6F2F9F"/>
                </a:solidFill>
              </a:rPr>
              <a:t> </a:t>
            </a:r>
            <a:r>
              <a:rPr sz="2000" spc="15" dirty="0">
                <a:solidFill>
                  <a:srgbClr val="6F2F9F"/>
                </a:solidFill>
              </a:rPr>
              <a:t>Private</a:t>
            </a:r>
            <a:r>
              <a:rPr sz="2000" spc="-190" dirty="0">
                <a:solidFill>
                  <a:srgbClr val="6F2F9F"/>
                </a:solidFill>
              </a:rPr>
              <a:t> </a:t>
            </a:r>
            <a:r>
              <a:rPr sz="2000" spc="15" dirty="0">
                <a:solidFill>
                  <a:srgbClr val="6F2F9F"/>
                </a:solidFill>
              </a:rPr>
              <a:t>Variable?</a:t>
            </a:r>
            <a:endParaRPr sz="2000"/>
          </a:p>
        </p:txBody>
      </p:sp>
      <p:sp>
        <p:nvSpPr>
          <p:cNvPr id="9" name="object 9"/>
          <p:cNvSpPr/>
          <p:nvPr/>
        </p:nvSpPr>
        <p:spPr>
          <a:xfrm>
            <a:off x="0" y="2713888"/>
            <a:ext cx="3398001" cy="24296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17392" y="4611682"/>
            <a:ext cx="228705" cy="2126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06783" y="2571762"/>
            <a:ext cx="2390265" cy="13098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52566" y="1586995"/>
            <a:ext cx="5445125" cy="2247265"/>
          </a:xfrm>
          <a:custGeom>
            <a:avLst/>
            <a:gdLst/>
            <a:ahLst/>
            <a:cxnLst/>
            <a:rect l="l" t="t" r="r" b="b"/>
            <a:pathLst>
              <a:path w="5445125" h="2247265">
                <a:moveTo>
                  <a:pt x="0" y="2246757"/>
                </a:moveTo>
                <a:lnTo>
                  <a:pt x="5444734" y="2246757"/>
                </a:lnTo>
                <a:lnTo>
                  <a:pt x="5444734" y="0"/>
                </a:lnTo>
                <a:lnTo>
                  <a:pt x="0" y="0"/>
                </a:lnTo>
                <a:lnTo>
                  <a:pt x="0" y="2246757"/>
                </a:lnTo>
                <a:close/>
              </a:path>
            </a:pathLst>
          </a:custGeom>
          <a:solidFill>
            <a:srgbClr val="2F233B">
              <a:alpha val="3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25899" y="1613595"/>
            <a:ext cx="2791460" cy="4527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403225" marR="5080" indent="-391160">
              <a:lnSpc>
                <a:spcPts val="1650"/>
              </a:lnSpc>
              <a:spcBef>
                <a:spcPts val="204"/>
              </a:spcBef>
            </a:pPr>
            <a:r>
              <a:rPr sz="1400" spc="-15" dirty="0">
                <a:solidFill>
                  <a:srgbClr val="1B577B"/>
                </a:solidFill>
                <a:latin typeface="Consolas"/>
                <a:cs typeface="Consolas"/>
              </a:rPr>
              <a:t>def </a:t>
            </a:r>
            <a:r>
              <a:rPr sz="1400" spc="5" dirty="0">
                <a:solidFill>
                  <a:srgbClr val="1B577B"/>
                </a:solidFill>
                <a:latin typeface="Consolas"/>
                <a:cs typeface="Consolas"/>
              </a:rPr>
              <a:t>setMaxSpeed(self,speed):  self.</a:t>
            </a:r>
            <a:r>
              <a:rPr sz="1400" u="heavy" spc="5" dirty="0">
                <a:solidFill>
                  <a:srgbClr val="1B577B"/>
                </a:solidFill>
                <a:uFill>
                  <a:solidFill>
                    <a:srgbClr val="1A567A"/>
                  </a:solidFill>
                </a:uFill>
                <a:latin typeface="Consolas"/>
                <a:cs typeface="Consolas"/>
              </a:rPr>
              <a:t> </a:t>
            </a:r>
            <a:r>
              <a:rPr sz="1400" spc="10" dirty="0">
                <a:solidFill>
                  <a:srgbClr val="1B577B"/>
                </a:solidFill>
                <a:latin typeface="Consolas"/>
                <a:cs typeface="Consolas"/>
              </a:rPr>
              <a:t>maxspeed </a:t>
            </a:r>
            <a:r>
              <a:rPr sz="1400" spc="15" dirty="0">
                <a:solidFill>
                  <a:srgbClr val="1B577B"/>
                </a:solidFill>
                <a:latin typeface="Consolas"/>
                <a:cs typeface="Consolas"/>
              </a:rPr>
              <a:t>=</a:t>
            </a:r>
            <a:r>
              <a:rPr sz="1400" spc="-150" dirty="0">
                <a:solidFill>
                  <a:srgbClr val="1B577B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1B577B"/>
                </a:solidFill>
                <a:latin typeface="Consolas"/>
                <a:cs typeface="Consolas"/>
              </a:rPr>
              <a:t>speed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00400" y="1095375"/>
            <a:ext cx="2619375" cy="8096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86200" y="1181084"/>
            <a:ext cx="1295400" cy="6953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52566" y="1103741"/>
            <a:ext cx="2301240" cy="483870"/>
          </a:xfrm>
          <a:custGeom>
            <a:avLst/>
            <a:gdLst/>
            <a:ahLst/>
            <a:cxnLst/>
            <a:rect l="l" t="t" r="r" b="b"/>
            <a:pathLst>
              <a:path w="2301240" h="483869">
                <a:moveTo>
                  <a:pt x="2220589" y="0"/>
                </a:moveTo>
                <a:lnTo>
                  <a:pt x="80650" y="0"/>
                </a:lnTo>
                <a:lnTo>
                  <a:pt x="49249" y="6333"/>
                </a:lnTo>
                <a:lnTo>
                  <a:pt x="23614" y="23599"/>
                </a:lnTo>
                <a:lnTo>
                  <a:pt x="6335" y="49197"/>
                </a:lnTo>
                <a:lnTo>
                  <a:pt x="0" y="80528"/>
                </a:lnTo>
                <a:lnTo>
                  <a:pt x="0" y="402732"/>
                </a:lnTo>
                <a:lnTo>
                  <a:pt x="6335" y="434062"/>
                </a:lnTo>
                <a:lnTo>
                  <a:pt x="23614" y="459661"/>
                </a:lnTo>
                <a:lnTo>
                  <a:pt x="49249" y="476927"/>
                </a:lnTo>
                <a:lnTo>
                  <a:pt x="80650" y="483260"/>
                </a:lnTo>
                <a:lnTo>
                  <a:pt x="2220589" y="483260"/>
                </a:lnTo>
                <a:lnTo>
                  <a:pt x="2252003" y="476927"/>
                </a:lnTo>
                <a:lnTo>
                  <a:pt x="2277637" y="459661"/>
                </a:lnTo>
                <a:lnTo>
                  <a:pt x="2294909" y="434062"/>
                </a:lnTo>
                <a:lnTo>
                  <a:pt x="2301240" y="402732"/>
                </a:lnTo>
                <a:lnTo>
                  <a:pt x="2301240" y="80528"/>
                </a:lnTo>
                <a:lnTo>
                  <a:pt x="2294909" y="49197"/>
                </a:lnTo>
                <a:lnTo>
                  <a:pt x="2277637" y="23599"/>
                </a:lnTo>
                <a:lnTo>
                  <a:pt x="2252003" y="6333"/>
                </a:lnTo>
                <a:lnTo>
                  <a:pt x="2220589" y="0"/>
                </a:lnTo>
                <a:close/>
              </a:path>
            </a:pathLst>
          </a:custGeom>
          <a:solidFill>
            <a:srgbClr val="5F477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336037" y="1218879"/>
            <a:ext cx="7277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0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82749" y="756345"/>
            <a:ext cx="51568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change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value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private</a:t>
            </a:r>
            <a:r>
              <a:rPr sz="14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variable,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a setter</a:t>
            </a:r>
            <a:r>
              <a:rPr sz="1400" spc="-1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method</a:t>
            </a:r>
            <a:r>
              <a:rPr sz="1400"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used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592388" y="2044700"/>
            <a:ext cx="6551612" cy="509588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571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45"/>
              </a:spcBef>
            </a:pPr>
            <a:r>
              <a:rPr sz="2750" spc="25" dirty="0">
                <a:solidFill>
                  <a:srgbClr val="FFFFFF"/>
                </a:solidFill>
              </a:rPr>
              <a:t>OOPS: </a:t>
            </a:r>
            <a:r>
              <a:rPr sz="2750" spc="15" dirty="0">
                <a:solidFill>
                  <a:srgbClr val="FFFFFF"/>
                </a:solidFill>
              </a:rPr>
              <a:t>Polymorphism </a:t>
            </a:r>
            <a:r>
              <a:rPr sz="2750" dirty="0">
                <a:solidFill>
                  <a:srgbClr val="FFFFFF"/>
                </a:solidFill>
              </a:rPr>
              <a:t>in</a:t>
            </a:r>
            <a:r>
              <a:rPr sz="2750" spc="125" dirty="0">
                <a:solidFill>
                  <a:srgbClr val="FFFFFF"/>
                </a:solidFill>
              </a:rPr>
              <a:t> </a:t>
            </a:r>
            <a:r>
              <a:rPr sz="2750" spc="15" dirty="0">
                <a:solidFill>
                  <a:srgbClr val="FFFFFF"/>
                </a:solidFill>
              </a:rPr>
              <a:t>Python</a:t>
            </a:r>
            <a:endParaRPr sz="2750"/>
          </a:p>
        </p:txBody>
      </p:sp>
      <p:sp>
        <p:nvSpPr>
          <p:cNvPr id="3" name="object 3"/>
          <p:cNvSpPr/>
          <p:nvPr/>
        </p:nvSpPr>
        <p:spPr>
          <a:xfrm>
            <a:off x="0" y="1524"/>
            <a:ext cx="1275969" cy="5088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447800"/>
            <a:ext cx="2009775" cy="36956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510796"/>
            <a:ext cx="1982852" cy="3632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5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9143999" cy="836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"/>
            <a:ext cx="9144000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126" y="50590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 idx="4294967295"/>
          </p:nvPr>
        </p:nvSpPr>
        <p:spPr>
          <a:xfrm>
            <a:off x="3495675" y="184150"/>
            <a:ext cx="5648325" cy="403225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sz="2100" spc="5" dirty="0">
                <a:solidFill>
                  <a:srgbClr val="FFFFFF"/>
                </a:solidFill>
              </a:rPr>
              <a:t>Things you </a:t>
            </a:r>
            <a:r>
              <a:rPr sz="2100" spc="25" dirty="0">
                <a:solidFill>
                  <a:srgbClr val="FFFFFF"/>
                </a:solidFill>
              </a:rPr>
              <a:t>will </a:t>
            </a:r>
            <a:r>
              <a:rPr sz="2100" spc="15" dirty="0">
                <a:solidFill>
                  <a:srgbClr val="FFFFFF"/>
                </a:solidFill>
              </a:rPr>
              <a:t>learn </a:t>
            </a:r>
            <a:r>
              <a:rPr sz="2100" dirty="0">
                <a:solidFill>
                  <a:srgbClr val="FFFFFF"/>
                </a:solidFill>
              </a:rPr>
              <a:t>after </a:t>
            </a:r>
            <a:r>
              <a:rPr sz="2100" spc="-10" dirty="0">
                <a:solidFill>
                  <a:srgbClr val="FFFFFF"/>
                </a:solidFill>
              </a:rPr>
              <a:t>this</a:t>
            </a:r>
            <a:r>
              <a:rPr sz="2100" spc="-360" dirty="0">
                <a:solidFill>
                  <a:srgbClr val="FFFFFF"/>
                </a:solidFill>
              </a:rPr>
              <a:t> </a:t>
            </a:r>
            <a:r>
              <a:rPr sz="2100" spc="-5" dirty="0">
                <a:solidFill>
                  <a:srgbClr val="FFFFFF"/>
                </a:solidFill>
              </a:rPr>
              <a:t>Session</a:t>
            </a:r>
            <a:endParaRPr sz="2100"/>
          </a:p>
        </p:txBody>
      </p:sp>
      <p:sp>
        <p:nvSpPr>
          <p:cNvPr id="6" name="object 6"/>
          <p:cNvSpPr/>
          <p:nvPr/>
        </p:nvSpPr>
        <p:spPr>
          <a:xfrm>
            <a:off x="0" y="1447800"/>
            <a:ext cx="2009775" cy="3695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510796"/>
            <a:ext cx="1982852" cy="36327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72311" y="1359214"/>
            <a:ext cx="4089400" cy="183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35" dirty="0">
                <a:solidFill>
                  <a:srgbClr val="595959"/>
                </a:solidFill>
                <a:latin typeface="Arial"/>
                <a:cs typeface="Arial"/>
              </a:rPr>
              <a:t>OOPS: </a:t>
            </a:r>
            <a:r>
              <a:rPr sz="2100" b="1" spc="-5" dirty="0">
                <a:solidFill>
                  <a:srgbClr val="595959"/>
                </a:solidFill>
                <a:latin typeface="Arial"/>
                <a:cs typeface="Arial"/>
              </a:rPr>
              <a:t>Polymorphism </a:t>
            </a:r>
            <a:r>
              <a:rPr sz="2100" b="1" spc="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2100" b="1" spc="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b="1" spc="-15" dirty="0">
                <a:solidFill>
                  <a:srgbClr val="595959"/>
                </a:solidFill>
                <a:latin typeface="Arial"/>
                <a:cs typeface="Arial"/>
              </a:rPr>
              <a:t>Python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>
              <a:latin typeface="Times New Roman"/>
              <a:cs typeface="Times New Roman"/>
            </a:endParaRPr>
          </a:p>
          <a:p>
            <a:pPr marL="531495" indent="-219710">
              <a:lnSpc>
                <a:spcPct val="100000"/>
              </a:lnSpc>
              <a:buFont typeface="Wingdings"/>
              <a:buChar char=""/>
              <a:tabLst>
                <a:tab pos="530860" algn="l"/>
                <a:tab pos="531495" algn="l"/>
              </a:tabLst>
            </a:pP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What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Polymorphism?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595959"/>
              </a:buClr>
              <a:buFont typeface="Wingdings"/>
              <a:buChar char=""/>
            </a:pPr>
            <a:endParaRPr sz="1400">
              <a:latin typeface="Times New Roman"/>
              <a:cs typeface="Times New Roman"/>
            </a:endParaRPr>
          </a:p>
          <a:p>
            <a:pPr marL="531495" indent="-219710">
              <a:lnSpc>
                <a:spcPct val="100000"/>
              </a:lnSpc>
              <a:buFont typeface="Wingdings"/>
              <a:buChar char=""/>
              <a:tabLst>
                <a:tab pos="530860" algn="l"/>
                <a:tab pos="531495" algn="l"/>
              </a:tabLst>
            </a:pP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Real-Life</a:t>
            </a:r>
            <a:r>
              <a:rPr sz="1400"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Example</a:t>
            </a:r>
            <a:r>
              <a:rPr sz="1400"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Polymorphism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595959"/>
              </a:buClr>
              <a:buFont typeface="Wingdings"/>
              <a:buChar char=""/>
            </a:pPr>
            <a:endParaRPr sz="1450">
              <a:latin typeface="Times New Roman"/>
              <a:cs typeface="Times New Roman"/>
            </a:endParaRPr>
          </a:p>
          <a:p>
            <a:pPr marL="531495" indent="-219710">
              <a:lnSpc>
                <a:spcPct val="100000"/>
              </a:lnSpc>
              <a:buFont typeface="Wingdings"/>
              <a:buChar char=""/>
              <a:tabLst>
                <a:tab pos="530860" algn="l"/>
                <a:tab pos="531495" algn="l"/>
              </a:tabLst>
            </a:pP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Polymorphism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2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function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6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4"/>
            <a:ext cx="3619500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510915" cy="1381125"/>
          </a:xfrm>
          <a:custGeom>
            <a:avLst/>
            <a:gdLst/>
            <a:ahLst/>
            <a:cxnLst/>
            <a:rect l="l" t="t" r="r" b="b"/>
            <a:pathLst>
              <a:path w="3510915" h="1381125">
                <a:moveTo>
                  <a:pt x="0" y="1380993"/>
                </a:moveTo>
                <a:lnTo>
                  <a:pt x="3510777" y="1380993"/>
                </a:lnTo>
                <a:lnTo>
                  <a:pt x="3510777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13862"/>
            <a:ext cx="3510915" cy="2430145"/>
          </a:xfrm>
          <a:custGeom>
            <a:avLst/>
            <a:gdLst/>
            <a:ahLst/>
            <a:cxnLst/>
            <a:rect l="l" t="t" r="r" b="b"/>
            <a:pathLst>
              <a:path w="3510915" h="2430145">
                <a:moveTo>
                  <a:pt x="0" y="2429637"/>
                </a:moveTo>
                <a:lnTo>
                  <a:pt x="3510777" y="2429637"/>
                </a:lnTo>
                <a:lnTo>
                  <a:pt x="3510777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380993"/>
            <a:ext cx="3510915" cy="1332865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34290" rIns="0" bIns="0" rtlCol="0">
            <a:spAutoFit/>
          </a:bodyPr>
          <a:lstStyle/>
          <a:p>
            <a:pPr marR="459105">
              <a:lnSpc>
                <a:spcPts val="4360"/>
              </a:lnSpc>
              <a:spcBef>
                <a:spcPts val="270"/>
              </a:spcBef>
            </a:pPr>
            <a:r>
              <a:rPr sz="3950" b="1" spc="-1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ph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25" dirty="0">
                <a:solidFill>
                  <a:srgbClr val="FFFFFF"/>
                </a:solidFill>
                <a:latin typeface="Arial"/>
                <a:cs typeface="Arial"/>
              </a:rPr>
              <a:t>m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48279" y="201926"/>
            <a:ext cx="294386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What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is</a:t>
            </a:r>
            <a:r>
              <a:rPr sz="2000" b="1" spc="-20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Polymorphism?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2" y="2713888"/>
            <a:ext cx="3510534" cy="24296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62225" y="4610858"/>
            <a:ext cx="235438" cy="2141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 idx="4294967295"/>
          </p:nvPr>
        </p:nvSpPr>
        <p:spPr>
          <a:xfrm>
            <a:off x="4935538" y="666750"/>
            <a:ext cx="4208462" cy="44926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Functions </a:t>
            </a:r>
            <a:r>
              <a:rPr sz="1550" b="0" spc="10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same </a:t>
            </a:r>
            <a:r>
              <a:rPr sz="1550" b="0" spc="-15" dirty="0">
                <a:solidFill>
                  <a:srgbClr val="595959"/>
                </a:solidFill>
                <a:latin typeface="Arial"/>
                <a:cs typeface="Arial"/>
              </a:rPr>
              <a:t>name, </a:t>
            </a:r>
            <a:r>
              <a:rPr sz="1550" b="0" spc="-25" dirty="0">
                <a:solidFill>
                  <a:srgbClr val="595959"/>
                </a:solidFill>
                <a:latin typeface="Arial"/>
                <a:cs typeface="Arial"/>
              </a:rPr>
              <a:t>but</a:t>
            </a:r>
            <a:r>
              <a:rPr sz="1550" b="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b="0" dirty="0">
                <a:solidFill>
                  <a:srgbClr val="595959"/>
                </a:solidFill>
                <a:latin typeface="Arial"/>
                <a:cs typeface="Arial"/>
              </a:rPr>
              <a:t>functioning </a:t>
            </a:r>
            <a:r>
              <a:rPr sz="1550" b="0" spc="2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48100" y="1647825"/>
            <a:ext cx="5162550" cy="2590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168778" y="4105662"/>
            <a:ext cx="4497070" cy="674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2100"/>
              </a:lnSpc>
              <a:spcBef>
                <a:spcPts val="95"/>
              </a:spcBef>
            </a:pPr>
            <a:r>
              <a:rPr sz="1400" b="1" spc="5" dirty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sz="1400" b="1" spc="-1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595959"/>
                </a:solidFill>
                <a:latin typeface="Arial"/>
                <a:cs typeface="Arial"/>
              </a:rPr>
              <a:t>behave</a:t>
            </a:r>
            <a:r>
              <a:rPr sz="1400" b="1" spc="-2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595959"/>
                </a:solidFill>
                <a:latin typeface="Arial"/>
                <a:cs typeface="Arial"/>
              </a:rPr>
              <a:t>differently</a:t>
            </a:r>
            <a:r>
              <a:rPr sz="1400" b="1" spc="-1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4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595959"/>
                </a:solidFill>
                <a:latin typeface="Arial"/>
                <a:cs typeface="Arial"/>
              </a:rPr>
              <a:t>front</a:t>
            </a:r>
            <a:r>
              <a:rPr sz="1400" b="1" spc="-1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595959"/>
                </a:solidFill>
                <a:latin typeface="Arial"/>
                <a:cs typeface="Arial"/>
              </a:rPr>
              <a:t>elders,</a:t>
            </a:r>
            <a:r>
              <a:rPr sz="1400" b="1" spc="-1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400" b="1" spc="-1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595959"/>
                </a:solidFill>
                <a:latin typeface="Arial"/>
                <a:cs typeface="Arial"/>
              </a:rPr>
              <a:t>friends.  A</a:t>
            </a:r>
            <a:r>
              <a:rPr sz="1400" b="1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595959"/>
                </a:solidFill>
                <a:latin typeface="Arial"/>
                <a:cs typeface="Arial"/>
              </a:rPr>
              <a:t>single</a:t>
            </a:r>
            <a:r>
              <a:rPr sz="1400" b="1" spc="-1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595959"/>
                </a:solidFill>
                <a:latin typeface="Arial"/>
                <a:cs typeface="Arial"/>
              </a:rPr>
              <a:t>person</a:t>
            </a:r>
            <a:r>
              <a:rPr sz="1400" b="1" spc="-1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595959"/>
                </a:solidFill>
                <a:latin typeface="Arial"/>
                <a:cs typeface="Arial"/>
              </a:rPr>
              <a:t>behaves</a:t>
            </a:r>
            <a:r>
              <a:rPr sz="1400" b="1" spc="-2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595959"/>
                </a:solidFill>
                <a:latin typeface="Arial"/>
                <a:cs typeface="Arial"/>
              </a:rPr>
              <a:t>differently</a:t>
            </a:r>
            <a:r>
              <a:rPr sz="1400" b="1" spc="-20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595959"/>
                </a:solidFill>
                <a:latin typeface="Arial"/>
                <a:cs typeface="Arial"/>
              </a:rPr>
              <a:t>at</a:t>
            </a:r>
            <a:r>
              <a:rPr sz="1400" b="1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sz="1400" b="1" spc="-1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8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33840" y="1095752"/>
            <a:ext cx="3024505" cy="868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35125">
              <a:lnSpc>
                <a:spcPct val="100000"/>
              </a:lnSpc>
              <a:spcBef>
                <a:spcPts val="130"/>
              </a:spcBef>
            </a:pPr>
            <a:r>
              <a:rPr sz="1550" spc="5" dirty="0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sz="1550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spc="30" dirty="0">
                <a:solidFill>
                  <a:srgbClr val="595959"/>
                </a:solidFill>
                <a:latin typeface="Arial"/>
                <a:cs typeface="Arial"/>
              </a:rPr>
              <a:t>ways</a:t>
            </a:r>
            <a:r>
              <a:rPr sz="2750" spc="30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400" b="1" spc="3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400" b="1" spc="-1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595959"/>
                </a:solidFill>
                <a:latin typeface="Arial"/>
                <a:cs typeface="Arial"/>
              </a:rPr>
              <a:t>Example: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93804" y="2045841"/>
            <a:ext cx="1457705" cy="1510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20879" y="1903603"/>
            <a:ext cx="1457705" cy="14577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524"/>
            <a:ext cx="3619500" cy="51419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3510915" cy="1381125"/>
          </a:xfrm>
          <a:custGeom>
            <a:avLst/>
            <a:gdLst/>
            <a:ahLst/>
            <a:cxnLst/>
            <a:rect l="l" t="t" r="r" b="b"/>
            <a:pathLst>
              <a:path w="3510915" h="1381125">
                <a:moveTo>
                  <a:pt x="0" y="1380993"/>
                </a:moveTo>
                <a:lnTo>
                  <a:pt x="3510777" y="1380993"/>
                </a:lnTo>
                <a:lnTo>
                  <a:pt x="3510777" y="0"/>
                </a:lnTo>
                <a:lnTo>
                  <a:pt x="0" y="0"/>
                </a:lnTo>
                <a:lnTo>
                  <a:pt x="0" y="138099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2713862"/>
            <a:ext cx="3510915" cy="2430145"/>
          </a:xfrm>
          <a:custGeom>
            <a:avLst/>
            <a:gdLst/>
            <a:ahLst/>
            <a:cxnLst/>
            <a:rect l="l" t="t" r="r" b="b"/>
            <a:pathLst>
              <a:path w="3510915" h="2430145">
                <a:moveTo>
                  <a:pt x="0" y="2429637"/>
                </a:moveTo>
                <a:lnTo>
                  <a:pt x="3510777" y="2429637"/>
                </a:lnTo>
                <a:lnTo>
                  <a:pt x="3510777" y="0"/>
                </a:lnTo>
                <a:lnTo>
                  <a:pt x="0" y="0"/>
                </a:lnTo>
                <a:lnTo>
                  <a:pt x="0" y="242963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0" y="1380993"/>
            <a:ext cx="3510915" cy="1332865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34290" rIns="0" bIns="0" rtlCol="0">
            <a:spAutoFit/>
          </a:bodyPr>
          <a:lstStyle/>
          <a:p>
            <a:pPr marR="459105">
              <a:lnSpc>
                <a:spcPts val="4360"/>
              </a:lnSpc>
              <a:spcBef>
                <a:spcPts val="270"/>
              </a:spcBef>
            </a:pPr>
            <a:r>
              <a:rPr sz="3950" b="1" spc="-1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950" b="1" spc="-2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5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ph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1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39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25" dirty="0">
                <a:solidFill>
                  <a:srgbClr val="FFFFFF"/>
                </a:solidFill>
                <a:latin typeface="Arial"/>
                <a:cs typeface="Arial"/>
              </a:rPr>
              <a:t>m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95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5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6837" y="67476"/>
            <a:ext cx="1275969" cy="5103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 idx="4294967295"/>
          </p:nvPr>
        </p:nvSpPr>
        <p:spPr>
          <a:xfrm>
            <a:off x="5461000" y="538163"/>
            <a:ext cx="3683000" cy="33496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15" dirty="0">
                <a:solidFill>
                  <a:srgbClr val="6F2F9F"/>
                </a:solidFill>
              </a:rPr>
              <a:t>Polymorphism </a:t>
            </a:r>
            <a:r>
              <a:rPr sz="2000" spc="20" dirty="0">
                <a:solidFill>
                  <a:srgbClr val="6F2F9F"/>
                </a:solidFill>
              </a:rPr>
              <a:t>with</a:t>
            </a:r>
            <a:r>
              <a:rPr sz="2000" spc="-420" dirty="0">
                <a:solidFill>
                  <a:srgbClr val="6F2F9F"/>
                </a:solidFill>
              </a:rPr>
              <a:t> </a:t>
            </a:r>
            <a:r>
              <a:rPr sz="2000" spc="15" dirty="0">
                <a:solidFill>
                  <a:srgbClr val="6F2F9F"/>
                </a:solidFill>
              </a:rPr>
              <a:t>a </a:t>
            </a:r>
            <a:r>
              <a:rPr sz="2000" spc="25" dirty="0">
                <a:solidFill>
                  <a:srgbClr val="6F2F9F"/>
                </a:solidFill>
              </a:rPr>
              <a:t>function</a:t>
            </a:r>
            <a:endParaRPr sz="2000"/>
          </a:p>
        </p:txBody>
      </p:sp>
      <p:sp>
        <p:nvSpPr>
          <p:cNvPr id="10" name="object 10"/>
          <p:cNvSpPr/>
          <p:nvPr/>
        </p:nvSpPr>
        <p:spPr>
          <a:xfrm>
            <a:off x="352" y="2713888"/>
            <a:ext cx="3510534" cy="24296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62225" y="4610858"/>
            <a:ext cx="235438" cy="2141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78556" y="34680"/>
            <a:ext cx="765444" cy="5453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97177" y="1524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71890" y="1095375"/>
            <a:ext cx="2447925" cy="8096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71950" y="1181084"/>
            <a:ext cx="1295400" cy="6953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27866" y="1103741"/>
            <a:ext cx="2125345" cy="483870"/>
          </a:xfrm>
          <a:custGeom>
            <a:avLst/>
            <a:gdLst/>
            <a:ahLst/>
            <a:cxnLst/>
            <a:rect l="l" t="t" r="r" b="b"/>
            <a:pathLst>
              <a:path w="2125345" h="483869">
                <a:moveTo>
                  <a:pt x="2044324" y="0"/>
                </a:moveTo>
                <a:lnTo>
                  <a:pt x="80497" y="0"/>
                </a:lnTo>
                <a:lnTo>
                  <a:pt x="49171" y="6333"/>
                </a:lnTo>
                <a:lnTo>
                  <a:pt x="23583" y="23599"/>
                </a:lnTo>
                <a:lnTo>
                  <a:pt x="6328" y="49197"/>
                </a:lnTo>
                <a:lnTo>
                  <a:pt x="0" y="80528"/>
                </a:lnTo>
                <a:lnTo>
                  <a:pt x="0" y="402732"/>
                </a:lnTo>
                <a:lnTo>
                  <a:pt x="6328" y="434062"/>
                </a:lnTo>
                <a:lnTo>
                  <a:pt x="23583" y="459661"/>
                </a:lnTo>
                <a:lnTo>
                  <a:pt x="49171" y="476927"/>
                </a:lnTo>
                <a:lnTo>
                  <a:pt x="80497" y="483260"/>
                </a:lnTo>
                <a:lnTo>
                  <a:pt x="2044324" y="483260"/>
                </a:lnTo>
                <a:lnTo>
                  <a:pt x="2075649" y="476927"/>
                </a:lnTo>
                <a:lnTo>
                  <a:pt x="2101237" y="459661"/>
                </a:lnTo>
                <a:lnTo>
                  <a:pt x="2118493" y="434062"/>
                </a:lnTo>
                <a:lnTo>
                  <a:pt x="2124821" y="402732"/>
                </a:lnTo>
                <a:lnTo>
                  <a:pt x="2124821" y="80528"/>
                </a:lnTo>
                <a:lnTo>
                  <a:pt x="2118493" y="49197"/>
                </a:lnTo>
                <a:lnTo>
                  <a:pt x="2101237" y="23599"/>
                </a:lnTo>
                <a:lnTo>
                  <a:pt x="2075649" y="6333"/>
                </a:lnTo>
                <a:lnTo>
                  <a:pt x="2044324" y="0"/>
                </a:lnTo>
                <a:close/>
              </a:path>
            </a:pathLst>
          </a:custGeom>
          <a:solidFill>
            <a:srgbClr val="5F477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625978" y="1218879"/>
            <a:ext cx="72580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xa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11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27866" y="1586995"/>
            <a:ext cx="4652645" cy="2031364"/>
          </a:xfrm>
          <a:prstGeom prst="rect">
            <a:avLst/>
          </a:prstGeom>
          <a:solidFill>
            <a:srgbClr val="2F233B">
              <a:alpha val="32156"/>
            </a:srgbClr>
          </a:solidFill>
        </p:spPr>
        <p:txBody>
          <a:bodyPr vert="horz" wrap="square" lIns="0" tIns="52705" rIns="0" bIns="0" rtlCol="0">
            <a:spAutoFit/>
          </a:bodyPr>
          <a:lstStyle/>
          <a:p>
            <a:pPr marL="486409" marR="2092960" indent="-391160">
              <a:lnSpc>
                <a:spcPts val="1650"/>
              </a:lnSpc>
              <a:spcBef>
                <a:spcPts val="415"/>
              </a:spcBef>
            </a:pPr>
            <a:r>
              <a:rPr sz="1400" spc="-10" dirty="0">
                <a:solidFill>
                  <a:srgbClr val="FFFFFF"/>
                </a:solidFill>
                <a:latin typeface="Consolas"/>
                <a:cs typeface="Consolas"/>
              </a:rPr>
              <a:t>def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in_the_pacific(fish):  </a:t>
            </a:r>
            <a:r>
              <a:rPr sz="1400" spc="-5" dirty="0">
                <a:solidFill>
                  <a:srgbClr val="FFFFFF"/>
                </a:solidFill>
                <a:latin typeface="Consolas"/>
                <a:cs typeface="Consolas"/>
              </a:rPr>
              <a:t>fish.swim()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sammy 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=</a:t>
            </a:r>
            <a:r>
              <a:rPr sz="1400" spc="-1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onsolas"/>
                <a:cs typeface="Consolas"/>
              </a:rPr>
              <a:t>Shark()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casey 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=</a:t>
            </a:r>
            <a:r>
              <a:rPr sz="140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FFFF"/>
                </a:solidFill>
                <a:latin typeface="Consolas"/>
                <a:cs typeface="Consolas"/>
              </a:rPr>
              <a:t>Clownfish()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Times New Roman"/>
              <a:cs typeface="Times New Roman"/>
            </a:endParaRPr>
          </a:p>
          <a:p>
            <a:pPr marL="95250" marR="2484755">
              <a:lnSpc>
                <a:spcPct val="102899"/>
              </a:lnSpc>
            </a:pP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in_</a:t>
            </a:r>
            <a:r>
              <a:rPr sz="1400" spc="55" dirty="0">
                <a:solidFill>
                  <a:srgbClr val="FFFFFF"/>
                </a:solidFill>
                <a:latin typeface="Consolas"/>
                <a:cs typeface="Consolas"/>
              </a:rPr>
              <a:t>t</a:t>
            </a: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he</a:t>
            </a:r>
            <a:r>
              <a:rPr sz="1400" spc="55" dirty="0">
                <a:solidFill>
                  <a:srgbClr val="FFFFFF"/>
                </a:solidFill>
                <a:latin typeface="Consolas"/>
                <a:cs typeface="Consolas"/>
              </a:rPr>
              <a:t>_</a:t>
            </a: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pa</a:t>
            </a:r>
            <a:r>
              <a:rPr sz="1400" spc="55" dirty="0">
                <a:solidFill>
                  <a:srgbClr val="FFFFFF"/>
                </a:solidFill>
                <a:latin typeface="Consolas"/>
                <a:cs typeface="Consolas"/>
              </a:rPr>
              <a:t>c</a:t>
            </a: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if</a:t>
            </a:r>
            <a:r>
              <a:rPr sz="1400" spc="55" dirty="0">
                <a:solidFill>
                  <a:srgbClr val="FFFFFF"/>
                </a:solidFill>
                <a:latin typeface="Consolas"/>
                <a:cs typeface="Consolas"/>
              </a:rPr>
              <a:t>i</a:t>
            </a:r>
            <a:r>
              <a:rPr sz="1400" spc="-35" dirty="0">
                <a:solidFill>
                  <a:srgbClr val="FFFFFF"/>
                </a:solidFill>
                <a:latin typeface="Consolas"/>
                <a:cs typeface="Consolas"/>
              </a:rPr>
              <a:t>c</a:t>
            </a: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400" spc="55" dirty="0">
                <a:solidFill>
                  <a:srgbClr val="FFFFFF"/>
                </a:solidFill>
                <a:latin typeface="Consolas"/>
                <a:cs typeface="Consolas"/>
              </a:rPr>
              <a:t>s</a:t>
            </a: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am</a:t>
            </a:r>
            <a:r>
              <a:rPr sz="1400" spc="55" dirty="0">
                <a:solidFill>
                  <a:srgbClr val="FFFFFF"/>
                </a:solidFill>
                <a:latin typeface="Consolas"/>
                <a:cs typeface="Consolas"/>
              </a:rPr>
              <a:t>m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y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) </a:t>
            </a:r>
            <a:r>
              <a:rPr sz="1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in_</a:t>
            </a:r>
            <a:r>
              <a:rPr sz="1400" spc="55" dirty="0">
                <a:solidFill>
                  <a:srgbClr val="FFFFFF"/>
                </a:solidFill>
                <a:latin typeface="Consolas"/>
                <a:cs typeface="Consolas"/>
              </a:rPr>
              <a:t>t</a:t>
            </a: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he</a:t>
            </a:r>
            <a:r>
              <a:rPr sz="1400" spc="55" dirty="0">
                <a:solidFill>
                  <a:srgbClr val="FFFFFF"/>
                </a:solidFill>
                <a:latin typeface="Consolas"/>
                <a:cs typeface="Consolas"/>
              </a:rPr>
              <a:t>_</a:t>
            </a: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pa</a:t>
            </a:r>
            <a:r>
              <a:rPr sz="1400" spc="55" dirty="0">
                <a:solidFill>
                  <a:srgbClr val="FFFFFF"/>
                </a:solidFill>
                <a:latin typeface="Consolas"/>
                <a:cs typeface="Consolas"/>
              </a:rPr>
              <a:t>c</a:t>
            </a: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if</a:t>
            </a:r>
            <a:r>
              <a:rPr sz="1400" spc="55" dirty="0">
                <a:solidFill>
                  <a:srgbClr val="FFFFFF"/>
                </a:solidFill>
                <a:latin typeface="Consolas"/>
                <a:cs typeface="Consolas"/>
              </a:rPr>
              <a:t>i</a:t>
            </a:r>
            <a:r>
              <a:rPr sz="1400" spc="-35" dirty="0">
                <a:solidFill>
                  <a:srgbClr val="FFFFFF"/>
                </a:solidFill>
                <a:latin typeface="Consolas"/>
                <a:cs typeface="Consolas"/>
              </a:rPr>
              <a:t>c</a:t>
            </a: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(</a:t>
            </a:r>
            <a:r>
              <a:rPr sz="1400" spc="55" dirty="0">
                <a:solidFill>
                  <a:srgbClr val="FFFFFF"/>
                </a:solidFill>
                <a:latin typeface="Consolas"/>
                <a:cs typeface="Consolas"/>
              </a:rPr>
              <a:t>c</a:t>
            </a:r>
            <a:r>
              <a:rPr sz="1400" spc="-20" dirty="0">
                <a:solidFill>
                  <a:srgbClr val="FFFFFF"/>
                </a:solidFill>
                <a:latin typeface="Consolas"/>
                <a:cs typeface="Consolas"/>
              </a:rPr>
              <a:t>as</a:t>
            </a:r>
            <a:r>
              <a:rPr sz="1400" spc="55" dirty="0">
                <a:solidFill>
                  <a:srgbClr val="FFFFFF"/>
                </a:solidFill>
                <a:latin typeface="Consolas"/>
                <a:cs typeface="Consolas"/>
              </a:rPr>
              <a:t>e</a:t>
            </a:r>
            <a:r>
              <a:rPr sz="1400" spc="-25" dirty="0">
                <a:solidFill>
                  <a:srgbClr val="FFFFFF"/>
                </a:solidFill>
                <a:latin typeface="Consolas"/>
                <a:cs typeface="Consolas"/>
              </a:rPr>
              <a:t>y</a:t>
            </a:r>
            <a:r>
              <a:rPr sz="1400" spc="15" dirty="0">
                <a:solidFill>
                  <a:srgbClr val="FFFFFF"/>
                </a:solidFill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479" y="149433"/>
            <a:ext cx="128968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0670" algn="l"/>
              </a:tabLst>
            </a:pPr>
            <a:r>
              <a:rPr sz="2350" b="1" spc="5" dirty="0">
                <a:solidFill>
                  <a:srgbClr val="B57E62"/>
                </a:solidFill>
                <a:latin typeface="Times New Roman"/>
                <a:cs typeface="Times New Roman"/>
              </a:rPr>
              <a:t>j	</a:t>
            </a:r>
            <a:r>
              <a:rPr sz="2350" b="1" spc="-280" dirty="0">
                <a:solidFill>
                  <a:srgbClr val="807CA5"/>
                </a:solidFill>
                <a:latin typeface="Times New Roman"/>
                <a:cs typeface="Times New Roman"/>
              </a:rPr>
              <a:t>n</a:t>
            </a:r>
            <a:r>
              <a:rPr sz="2350" b="1" spc="-290" dirty="0">
                <a:solidFill>
                  <a:srgbClr val="807CA5"/>
                </a:solidFill>
                <a:latin typeface="Times New Roman"/>
                <a:cs typeface="Times New Roman"/>
              </a:rPr>
              <a:t>t</a:t>
            </a:r>
            <a:r>
              <a:rPr sz="2350" b="1" spc="5" dirty="0">
                <a:solidFill>
                  <a:srgbClr val="807CA5"/>
                </a:solidFill>
                <a:latin typeface="Times New Roman"/>
                <a:cs typeface="Times New Roman"/>
              </a:rPr>
              <a:t>e</a:t>
            </a:r>
            <a:r>
              <a:rPr sz="2350" b="1" spc="-195" dirty="0">
                <a:solidFill>
                  <a:srgbClr val="807CA5"/>
                </a:solidFill>
                <a:latin typeface="Times New Roman"/>
                <a:cs typeface="Times New Roman"/>
              </a:rPr>
              <a:t>ll</a:t>
            </a:r>
            <a:r>
              <a:rPr sz="2350" b="1" spc="-150" dirty="0">
                <a:solidFill>
                  <a:srgbClr val="807CA5"/>
                </a:solidFill>
                <a:latin typeface="Times New Roman"/>
                <a:cs typeface="Times New Roman"/>
              </a:rPr>
              <a:t>i</a:t>
            </a:r>
            <a:r>
              <a:rPr sz="2350" b="1" spc="-480" dirty="0">
                <a:solidFill>
                  <a:srgbClr val="ED8226"/>
                </a:solidFill>
                <a:latin typeface="Times New Roman"/>
                <a:cs typeface="Times New Roman"/>
              </a:rPr>
              <a:t>P</a:t>
            </a:r>
            <a:r>
              <a:rPr sz="2350" b="1" spc="-25" dirty="0">
                <a:solidFill>
                  <a:srgbClr val="ED8226"/>
                </a:solidFill>
                <a:latin typeface="Times New Roman"/>
                <a:cs typeface="Times New Roman"/>
              </a:rPr>
              <a:t>a</a:t>
            </a:r>
            <a:r>
              <a:rPr sz="2350" b="1" spc="-105" dirty="0">
                <a:solidFill>
                  <a:srgbClr val="ED8226"/>
                </a:solidFill>
                <a:latin typeface="Times New Roman"/>
                <a:cs typeface="Times New Roman"/>
              </a:rPr>
              <a:t>a</a:t>
            </a:r>
            <a:r>
              <a:rPr sz="2350" b="1" spc="-140" dirty="0">
                <a:solidFill>
                  <a:srgbClr val="ED8226"/>
                </a:solidFill>
                <a:latin typeface="Times New Roman"/>
                <a:cs typeface="Times New Roman"/>
              </a:rPr>
              <a:t>t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8507" y="4951110"/>
            <a:ext cx="1258570" cy="1644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50" b="1" spc="2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86267" y="2484713"/>
            <a:ext cx="121285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spc="65" dirty="0">
                <a:solidFill>
                  <a:srgbClr val="7B7B7B"/>
                </a:solidFill>
                <a:latin typeface="Arial"/>
                <a:cs typeface="Arial"/>
              </a:rPr>
              <a:t>QUIZ</a:t>
            </a:r>
            <a:endParaRPr sz="3800">
              <a:latin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610" y="1270596"/>
            <a:ext cx="4654398" cy="8185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81866" y="2186891"/>
            <a:ext cx="4053141" cy="18325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975042" y="3885092"/>
            <a:ext cx="1071274" cy="9773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06639" y="1334737"/>
            <a:ext cx="0" cy="693420"/>
          </a:xfrm>
          <a:custGeom>
            <a:avLst/>
            <a:gdLst/>
            <a:ahLst/>
            <a:cxnLst/>
            <a:rect l="l" t="t" r="r" b="b"/>
            <a:pathLst>
              <a:path h="693419">
                <a:moveTo>
                  <a:pt x="0" y="693330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22257" y="1353063"/>
            <a:ext cx="0" cy="675005"/>
          </a:xfrm>
          <a:custGeom>
            <a:avLst/>
            <a:gdLst/>
            <a:ahLst/>
            <a:cxnLst/>
            <a:rect l="l" t="t" r="r" b="b"/>
            <a:pathLst>
              <a:path h="675005">
                <a:moveTo>
                  <a:pt x="0" y="675004"/>
                </a:moveTo>
                <a:lnTo>
                  <a:pt x="0" y="0"/>
                </a:lnTo>
              </a:path>
            </a:pathLst>
          </a:custGeom>
          <a:ln w="122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09691" y="1343900"/>
            <a:ext cx="2621915" cy="0"/>
          </a:xfrm>
          <a:custGeom>
            <a:avLst/>
            <a:gdLst/>
            <a:ahLst/>
            <a:cxnLst/>
            <a:rect l="l" t="t" r="r" b="b"/>
            <a:pathLst>
              <a:path w="2621915">
                <a:moveTo>
                  <a:pt x="0" y="0"/>
                </a:moveTo>
                <a:lnTo>
                  <a:pt x="2621722" y="0"/>
                </a:lnTo>
              </a:path>
            </a:pathLst>
          </a:custGeom>
          <a:ln w="122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97483" y="2015850"/>
            <a:ext cx="2618740" cy="0"/>
          </a:xfrm>
          <a:custGeom>
            <a:avLst/>
            <a:gdLst/>
            <a:ahLst/>
            <a:cxnLst/>
            <a:rect l="l" t="t" r="r" b="b"/>
            <a:pathLst>
              <a:path w="2618740">
                <a:moveTo>
                  <a:pt x="0" y="0"/>
                </a:moveTo>
                <a:lnTo>
                  <a:pt x="2618670" y="0"/>
                </a:lnTo>
              </a:path>
            </a:pathLst>
          </a:custGeom>
          <a:ln w="122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8449" y="140015"/>
            <a:ext cx="12896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70" dirty="0">
                <a:solidFill>
                  <a:srgbClr val="AC7E70"/>
                </a:solidFill>
                <a:latin typeface="Times New Roman"/>
                <a:cs typeface="Times New Roman"/>
              </a:rPr>
              <a:t>jn</a:t>
            </a:r>
            <a:r>
              <a:rPr sz="2400" b="1" spc="-45" dirty="0">
                <a:solidFill>
                  <a:srgbClr val="AC7E70"/>
                </a:solidFill>
                <a:latin typeface="Times New Roman"/>
                <a:cs typeface="Times New Roman"/>
              </a:rPr>
              <a:t> </a:t>
            </a:r>
            <a:r>
              <a:rPr sz="2400" b="1" spc="-190" dirty="0">
                <a:solidFill>
                  <a:srgbClr val="827EA5"/>
                </a:solidFill>
                <a:latin typeface="Times New Roman"/>
                <a:cs typeface="Times New Roman"/>
              </a:rPr>
              <a:t>telli</a:t>
            </a:r>
            <a:r>
              <a:rPr sz="2400" b="1" spc="-190" dirty="0">
                <a:solidFill>
                  <a:srgbClr val="ED8026"/>
                </a:solidFill>
                <a:latin typeface="Times New Roman"/>
                <a:cs typeface="Times New Roman"/>
              </a:rPr>
              <a:t>Paat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 idx="4294967295"/>
          </p:nvPr>
        </p:nvSpPr>
        <p:spPr>
          <a:xfrm>
            <a:off x="7691438" y="254000"/>
            <a:ext cx="1452562" cy="622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13485" algn="l"/>
              </a:tabLst>
            </a:pPr>
            <a:r>
              <a:rPr spc="55" dirty="0"/>
              <a:t>Quiz</a:t>
            </a:r>
            <a:r>
              <a:rPr dirty="0"/>
              <a:t>	</a:t>
            </a:r>
            <a:r>
              <a:rPr sz="3900" spc="-390" dirty="0"/>
              <a:t>1</a:t>
            </a:r>
            <a:endParaRPr sz="3900"/>
          </a:p>
        </p:txBody>
      </p:sp>
      <p:sp>
        <p:nvSpPr>
          <p:cNvPr id="11" name="object 11"/>
          <p:cNvSpPr txBox="1"/>
          <p:nvPr/>
        </p:nvSpPr>
        <p:spPr>
          <a:xfrm>
            <a:off x="616330" y="2039800"/>
            <a:ext cx="28829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-455" dirty="0">
                <a:solidFill>
                  <a:srgbClr val="5B4474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6330" y="2678153"/>
            <a:ext cx="28829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-455" dirty="0">
                <a:solidFill>
                  <a:srgbClr val="5B4474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6330" y="3313451"/>
            <a:ext cx="28829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-455" dirty="0">
                <a:solidFill>
                  <a:srgbClr val="5B4474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49468" y="4285277"/>
            <a:ext cx="497840" cy="208915"/>
          </a:xfrm>
          <a:custGeom>
            <a:avLst/>
            <a:gdLst/>
            <a:ahLst/>
            <a:cxnLst/>
            <a:rect l="l" t="t" r="r" b="b"/>
            <a:pathLst>
              <a:path w="497839" h="208914">
                <a:moveTo>
                  <a:pt x="0" y="0"/>
                </a:moveTo>
                <a:lnTo>
                  <a:pt x="497486" y="0"/>
                </a:lnTo>
                <a:lnTo>
                  <a:pt x="497486" y="208343"/>
                </a:lnTo>
                <a:lnTo>
                  <a:pt x="0" y="208343"/>
                </a:lnTo>
                <a:lnTo>
                  <a:pt x="0" y="0"/>
                </a:lnTo>
                <a:close/>
              </a:path>
            </a:pathLst>
          </a:custGeom>
          <a:solidFill>
            <a:srgbClr val="5D46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611217" y="1379304"/>
            <a:ext cx="260540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104139" indent="-635">
              <a:lnSpc>
                <a:spcPct val="114500"/>
              </a:lnSpc>
              <a:spcBef>
                <a:spcPts val="100"/>
              </a:spcBef>
            </a:pPr>
            <a:r>
              <a:rPr sz="1050" spc="50" dirty="0">
                <a:solidFill>
                  <a:srgbClr val="010101"/>
                </a:solidFill>
                <a:latin typeface="Times New Roman"/>
                <a:cs typeface="Times New Roman"/>
              </a:rPr>
              <a:t>Listl </a:t>
            </a:r>
            <a:r>
              <a:rPr sz="1000" spc="55" dirty="0">
                <a:solidFill>
                  <a:srgbClr val="010101"/>
                </a:solidFill>
                <a:latin typeface="Arial"/>
                <a:cs typeface="Arial"/>
              </a:rPr>
              <a:t>= </a:t>
            </a:r>
            <a:r>
              <a:rPr sz="1050" spc="50" dirty="0">
                <a:solidFill>
                  <a:srgbClr val="010101"/>
                </a:solidFill>
                <a:latin typeface="Times New Roman"/>
                <a:cs typeface="Times New Roman"/>
              </a:rPr>
              <a:t>['Python', </a:t>
            </a:r>
            <a:r>
              <a:rPr sz="1050" spc="40" dirty="0">
                <a:solidFill>
                  <a:srgbClr val="010101"/>
                </a:solidFill>
                <a:latin typeface="Times New Roman"/>
                <a:cs typeface="Times New Roman"/>
              </a:rPr>
              <a:t>'Py', </a:t>
            </a:r>
            <a:r>
              <a:rPr sz="1050" spc="50" dirty="0">
                <a:solidFill>
                  <a:srgbClr val="010101"/>
                </a:solidFill>
                <a:latin typeface="Times New Roman"/>
                <a:cs typeface="Times New Roman"/>
              </a:rPr>
              <a:t>'Pyth', 'Python3']  </a:t>
            </a:r>
            <a:r>
              <a:rPr sz="1050" spc="20" dirty="0">
                <a:solidFill>
                  <a:srgbClr val="010101"/>
                </a:solidFill>
                <a:latin typeface="Times New Roman"/>
                <a:cs typeface="Times New Roman"/>
              </a:rPr>
              <a:t>print(</a:t>
            </a:r>
            <a:r>
              <a:rPr sz="1050" spc="-105" dirty="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sz="1050" spc="35" dirty="0">
                <a:solidFill>
                  <a:srgbClr val="010101"/>
                </a:solidFill>
                <a:latin typeface="Times New Roman"/>
                <a:cs typeface="Times New Roman"/>
              </a:rPr>
              <a:t>Listl[-1][2])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6330" y="4038601"/>
            <a:ext cx="288290" cy="1049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70"/>
              </a:lnSpc>
            </a:pPr>
            <a:r>
              <a:rPr sz="7200" spc="-455" dirty="0">
                <a:solidFill>
                  <a:srgbClr val="5B4474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36769" y="4293082"/>
            <a:ext cx="5422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spc="50" dirty="0">
                <a:solidFill>
                  <a:srgbClr val="FBFBFB"/>
                </a:solidFill>
                <a:latin typeface="Arial"/>
                <a:cs typeface="Arial"/>
              </a:rPr>
              <a:t>Python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30801" y="4966345"/>
            <a:ext cx="1263650" cy="1606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50" spc="65" dirty="0">
                <a:solidFill>
                  <a:srgbClr val="6E2F9E"/>
                </a:solidFill>
                <a:latin typeface="Arial"/>
                <a:cs typeface="Arial"/>
                <a:hlinkClick r:id="rId5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1866" y="2186891"/>
            <a:ext cx="4053141" cy="1832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75042" y="3885092"/>
            <a:ext cx="1071274" cy="977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06639" y="1340845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684167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222257" y="1353063"/>
            <a:ext cx="0" cy="672465"/>
          </a:xfrm>
          <a:custGeom>
            <a:avLst/>
            <a:gdLst/>
            <a:ahLst/>
            <a:cxnLst/>
            <a:rect l="l" t="t" r="r" b="b"/>
            <a:pathLst>
              <a:path h="672464">
                <a:moveTo>
                  <a:pt x="0" y="671950"/>
                </a:moveTo>
                <a:lnTo>
                  <a:pt x="0" y="0"/>
                </a:lnTo>
              </a:path>
            </a:pathLst>
          </a:custGeom>
          <a:ln w="152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12743" y="1343900"/>
            <a:ext cx="2621915" cy="0"/>
          </a:xfrm>
          <a:custGeom>
            <a:avLst/>
            <a:gdLst/>
            <a:ahLst/>
            <a:cxnLst/>
            <a:rect l="l" t="t" r="r" b="b"/>
            <a:pathLst>
              <a:path w="2621915">
                <a:moveTo>
                  <a:pt x="0" y="0"/>
                </a:moveTo>
                <a:lnTo>
                  <a:pt x="2621722" y="0"/>
                </a:lnTo>
              </a:path>
            </a:pathLst>
          </a:custGeom>
          <a:ln w="15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00535" y="2015850"/>
            <a:ext cx="2621915" cy="0"/>
          </a:xfrm>
          <a:custGeom>
            <a:avLst/>
            <a:gdLst/>
            <a:ahLst/>
            <a:cxnLst/>
            <a:rect l="l" t="t" r="r" b="b"/>
            <a:pathLst>
              <a:path w="2621915">
                <a:moveTo>
                  <a:pt x="0" y="0"/>
                </a:moveTo>
                <a:lnTo>
                  <a:pt x="2621722" y="0"/>
                </a:lnTo>
              </a:path>
            </a:pathLst>
          </a:custGeom>
          <a:ln w="122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8449" y="140015"/>
            <a:ext cx="12896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70" dirty="0">
                <a:solidFill>
                  <a:srgbClr val="AC7E70"/>
                </a:solidFill>
                <a:latin typeface="Times New Roman"/>
                <a:cs typeface="Times New Roman"/>
              </a:rPr>
              <a:t>jn</a:t>
            </a:r>
            <a:r>
              <a:rPr sz="2400" b="1" spc="-45" dirty="0">
                <a:solidFill>
                  <a:srgbClr val="AC7E70"/>
                </a:solidFill>
                <a:latin typeface="Times New Roman"/>
                <a:cs typeface="Times New Roman"/>
              </a:rPr>
              <a:t> </a:t>
            </a:r>
            <a:r>
              <a:rPr sz="2400" b="1" spc="-190" dirty="0">
                <a:solidFill>
                  <a:srgbClr val="8780A8"/>
                </a:solidFill>
                <a:latin typeface="Times New Roman"/>
                <a:cs typeface="Times New Roman"/>
              </a:rPr>
              <a:t>telli</a:t>
            </a:r>
            <a:r>
              <a:rPr sz="2400" b="1" spc="-190" dirty="0">
                <a:solidFill>
                  <a:srgbClr val="ED8026"/>
                </a:solidFill>
                <a:latin typeface="Times New Roman"/>
                <a:cs typeface="Times New Roman"/>
              </a:rPr>
              <a:t>Paat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 idx="4294967295"/>
          </p:nvPr>
        </p:nvSpPr>
        <p:spPr>
          <a:xfrm>
            <a:off x="7024688" y="263525"/>
            <a:ext cx="2119312" cy="6143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68805" algn="l"/>
              </a:tabLst>
            </a:pPr>
            <a:r>
              <a:rPr sz="3850" spc="-204" dirty="0"/>
              <a:t>Answe</a:t>
            </a:r>
            <a:r>
              <a:rPr sz="3850" spc="-120" dirty="0"/>
              <a:t>r</a:t>
            </a:r>
            <a:r>
              <a:rPr sz="3850" dirty="0"/>
              <a:t>	</a:t>
            </a:r>
            <a:r>
              <a:rPr sz="3850" spc="-280" dirty="0"/>
              <a:t>1</a:t>
            </a:r>
            <a:endParaRPr sz="3850"/>
          </a:p>
        </p:txBody>
      </p:sp>
      <p:sp>
        <p:nvSpPr>
          <p:cNvPr id="10" name="object 10"/>
          <p:cNvSpPr txBox="1"/>
          <p:nvPr/>
        </p:nvSpPr>
        <p:spPr>
          <a:xfrm>
            <a:off x="1691987" y="1578644"/>
            <a:ext cx="2634615" cy="217170"/>
          </a:xfrm>
          <a:prstGeom prst="rect">
            <a:avLst/>
          </a:prstGeom>
          <a:solidFill>
            <a:srgbClr val="5D4475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40" dirty="0">
                <a:solidFill>
                  <a:srgbClr val="F9F9F9"/>
                </a:solidFill>
                <a:latin typeface="Arial"/>
                <a:cs typeface="Arial"/>
              </a:rPr>
              <a:t>What </a:t>
            </a:r>
            <a:r>
              <a:rPr sz="1250" spc="-45" dirty="0">
                <a:solidFill>
                  <a:srgbClr val="F9F9F9"/>
                </a:solidFill>
                <a:latin typeface="Arial"/>
                <a:cs typeface="Arial"/>
              </a:rPr>
              <a:t>is </a:t>
            </a:r>
            <a:r>
              <a:rPr sz="1250" spc="45" dirty="0">
                <a:solidFill>
                  <a:srgbClr val="F9F9F9"/>
                </a:solidFill>
                <a:latin typeface="Arial"/>
                <a:cs typeface="Arial"/>
              </a:rPr>
              <a:t>the </a:t>
            </a:r>
            <a:r>
              <a:rPr sz="1250" spc="50" dirty="0">
                <a:solidFill>
                  <a:srgbClr val="F9F9F9"/>
                </a:solidFill>
                <a:latin typeface="Arial"/>
                <a:cs typeface="Arial"/>
              </a:rPr>
              <a:t>output of </a:t>
            </a:r>
            <a:r>
              <a:rPr sz="1250" spc="40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250" spc="-6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250" spc="25" dirty="0">
                <a:solidFill>
                  <a:srgbClr val="F9F9F9"/>
                </a:solidFill>
                <a:latin typeface="Arial"/>
                <a:cs typeface="Arial"/>
              </a:rPr>
              <a:t>following?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6330" y="2039800"/>
            <a:ext cx="36576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150" dirty="0">
                <a:solidFill>
                  <a:srgbClr val="8780A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6330" y="2678153"/>
            <a:ext cx="36576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150" dirty="0">
                <a:solidFill>
                  <a:srgbClr val="5B4474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6330" y="3313451"/>
            <a:ext cx="36576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150" dirty="0">
                <a:solidFill>
                  <a:srgbClr val="5B4474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48979" y="4278662"/>
            <a:ext cx="497840" cy="217170"/>
          </a:xfrm>
          <a:custGeom>
            <a:avLst/>
            <a:gdLst/>
            <a:ahLst/>
            <a:cxnLst/>
            <a:rect l="l" t="t" r="r" b="b"/>
            <a:pathLst>
              <a:path w="497839" h="217170">
                <a:moveTo>
                  <a:pt x="0" y="0"/>
                </a:moveTo>
                <a:lnTo>
                  <a:pt x="497486" y="0"/>
                </a:lnTo>
                <a:lnTo>
                  <a:pt x="497486" y="217024"/>
                </a:lnTo>
                <a:lnTo>
                  <a:pt x="0" y="217024"/>
                </a:lnTo>
                <a:lnTo>
                  <a:pt x="0" y="0"/>
                </a:lnTo>
                <a:close/>
              </a:path>
            </a:pathLst>
          </a:custGeom>
          <a:solidFill>
            <a:srgbClr val="5D44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611217" y="1379304"/>
            <a:ext cx="260350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102870" indent="-635">
              <a:lnSpc>
                <a:spcPct val="114500"/>
              </a:lnSpc>
              <a:spcBef>
                <a:spcPts val="100"/>
              </a:spcBef>
            </a:pPr>
            <a:r>
              <a:rPr sz="1050" spc="50" dirty="0">
                <a:solidFill>
                  <a:srgbClr val="010101"/>
                </a:solidFill>
                <a:latin typeface="Times New Roman"/>
                <a:cs typeface="Times New Roman"/>
              </a:rPr>
              <a:t>Listl </a:t>
            </a:r>
            <a:r>
              <a:rPr sz="1000" spc="55" dirty="0">
                <a:solidFill>
                  <a:srgbClr val="010101"/>
                </a:solidFill>
                <a:latin typeface="Arial"/>
                <a:cs typeface="Arial"/>
              </a:rPr>
              <a:t>= </a:t>
            </a:r>
            <a:r>
              <a:rPr sz="1050" spc="50" dirty="0">
                <a:solidFill>
                  <a:srgbClr val="010101"/>
                </a:solidFill>
                <a:latin typeface="Times New Roman"/>
                <a:cs typeface="Times New Roman"/>
              </a:rPr>
              <a:t>['Python', </a:t>
            </a:r>
            <a:r>
              <a:rPr sz="1050" spc="40" dirty="0">
                <a:solidFill>
                  <a:srgbClr val="010101"/>
                </a:solidFill>
                <a:latin typeface="Times New Roman"/>
                <a:cs typeface="Times New Roman"/>
              </a:rPr>
              <a:t>'Py', </a:t>
            </a:r>
            <a:r>
              <a:rPr sz="1050" spc="50" dirty="0">
                <a:solidFill>
                  <a:srgbClr val="010101"/>
                </a:solidFill>
                <a:latin typeface="Times New Roman"/>
                <a:cs typeface="Times New Roman"/>
              </a:rPr>
              <a:t>'Pyth', 'Python3']  </a:t>
            </a:r>
            <a:r>
              <a:rPr sz="1050" spc="20" dirty="0">
                <a:solidFill>
                  <a:srgbClr val="010101"/>
                </a:solidFill>
                <a:latin typeface="Times New Roman"/>
                <a:cs typeface="Times New Roman"/>
              </a:rPr>
              <a:t>print(</a:t>
            </a:r>
            <a:r>
              <a:rPr sz="1050" spc="-105" dirty="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sz="1050" spc="35" dirty="0">
                <a:solidFill>
                  <a:srgbClr val="010101"/>
                </a:solidFill>
                <a:latin typeface="Times New Roman"/>
                <a:cs typeface="Times New Roman"/>
              </a:rPr>
              <a:t>Listl[-1][2])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6330" y="4038601"/>
            <a:ext cx="288290" cy="1049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70"/>
              </a:lnSpc>
            </a:pPr>
            <a:r>
              <a:rPr sz="7200" spc="-455" dirty="0">
                <a:solidFill>
                  <a:srgbClr val="5B4474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36769" y="4293082"/>
            <a:ext cx="5422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spc="50" dirty="0">
                <a:solidFill>
                  <a:srgbClr val="FBFBFB"/>
                </a:solidFill>
                <a:latin typeface="Arial"/>
                <a:cs typeface="Arial"/>
              </a:rPr>
              <a:t>Python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30801" y="4966345"/>
            <a:ext cx="1263650" cy="1606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50" spc="65" dirty="0">
                <a:solidFill>
                  <a:srgbClr val="6E2F9E"/>
                </a:solidFill>
                <a:latin typeface="Arial"/>
                <a:cs typeface="Arial"/>
                <a:hlinkClick r:id="rId4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3464" y="1185075"/>
            <a:ext cx="4489585" cy="9895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20825" y="2284629"/>
            <a:ext cx="3845600" cy="18203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975042" y="3885092"/>
            <a:ext cx="1071274" cy="9773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92995" y="1267542"/>
            <a:ext cx="0" cy="855344"/>
          </a:xfrm>
          <a:custGeom>
            <a:avLst/>
            <a:gdLst/>
            <a:ahLst/>
            <a:cxnLst/>
            <a:rect l="l" t="t" r="r" b="b"/>
            <a:pathLst>
              <a:path h="855344">
                <a:moveTo>
                  <a:pt x="0" y="855209"/>
                </a:moveTo>
                <a:lnTo>
                  <a:pt x="0" y="0"/>
                </a:lnTo>
              </a:path>
            </a:pathLst>
          </a:custGeom>
          <a:ln w="122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05560" y="1285868"/>
            <a:ext cx="0" cy="852169"/>
          </a:xfrm>
          <a:custGeom>
            <a:avLst/>
            <a:gdLst/>
            <a:ahLst/>
            <a:cxnLst/>
            <a:rect l="l" t="t" r="r" b="b"/>
            <a:pathLst>
              <a:path h="852169">
                <a:moveTo>
                  <a:pt x="0" y="852154"/>
                </a:moveTo>
                <a:lnTo>
                  <a:pt x="0" y="0"/>
                </a:lnTo>
              </a:path>
            </a:pathLst>
          </a:custGeom>
          <a:ln w="122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17411" y="1258379"/>
            <a:ext cx="2597785" cy="0"/>
          </a:xfrm>
          <a:custGeom>
            <a:avLst/>
            <a:gdLst/>
            <a:ahLst/>
            <a:cxnLst/>
            <a:rect l="l" t="t" r="r" b="b"/>
            <a:pathLst>
              <a:path w="2597784">
                <a:moveTo>
                  <a:pt x="0" y="0"/>
                </a:moveTo>
                <a:lnTo>
                  <a:pt x="2597305" y="0"/>
                </a:lnTo>
              </a:path>
            </a:pathLst>
          </a:custGeom>
          <a:ln w="122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92995" y="2122751"/>
            <a:ext cx="2597785" cy="0"/>
          </a:xfrm>
          <a:custGeom>
            <a:avLst/>
            <a:gdLst/>
            <a:ahLst/>
            <a:cxnLst/>
            <a:rect l="l" t="t" r="r" b="b"/>
            <a:pathLst>
              <a:path w="2597784">
                <a:moveTo>
                  <a:pt x="0" y="0"/>
                </a:moveTo>
                <a:lnTo>
                  <a:pt x="2597305" y="0"/>
                </a:lnTo>
              </a:path>
            </a:pathLst>
          </a:custGeom>
          <a:ln w="91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8449" y="140015"/>
            <a:ext cx="12896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70" dirty="0">
                <a:solidFill>
                  <a:srgbClr val="AC7E70"/>
                </a:solidFill>
                <a:latin typeface="Times New Roman"/>
                <a:cs typeface="Times New Roman"/>
              </a:rPr>
              <a:t>jn</a:t>
            </a:r>
            <a:r>
              <a:rPr sz="2400" b="1" spc="-45" dirty="0">
                <a:solidFill>
                  <a:srgbClr val="AC7E70"/>
                </a:solidFill>
                <a:latin typeface="Times New Roman"/>
                <a:cs typeface="Times New Roman"/>
              </a:rPr>
              <a:t> </a:t>
            </a:r>
            <a:r>
              <a:rPr sz="2400" b="1" spc="-190" dirty="0">
                <a:solidFill>
                  <a:srgbClr val="827EA5"/>
                </a:solidFill>
                <a:latin typeface="Times New Roman"/>
                <a:cs typeface="Times New Roman"/>
              </a:rPr>
              <a:t>telli</a:t>
            </a:r>
            <a:r>
              <a:rPr sz="2400" b="1" spc="-190" dirty="0">
                <a:solidFill>
                  <a:srgbClr val="ED8026"/>
                </a:solidFill>
                <a:latin typeface="Times New Roman"/>
                <a:cs typeface="Times New Roman"/>
              </a:rPr>
              <a:t>Paat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 idx="4294967295"/>
          </p:nvPr>
        </p:nvSpPr>
        <p:spPr>
          <a:xfrm>
            <a:off x="7659688" y="273050"/>
            <a:ext cx="1484312" cy="59848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5" dirty="0"/>
              <a:t>Quiz</a:t>
            </a:r>
            <a:r>
              <a:rPr spc="335" dirty="0"/>
              <a:t> </a:t>
            </a:r>
            <a:r>
              <a:rPr sz="3750" spc="65" dirty="0"/>
              <a:t>2</a:t>
            </a:r>
            <a:endParaRPr sz="3750"/>
          </a:p>
        </p:txBody>
      </p:sp>
      <p:sp>
        <p:nvSpPr>
          <p:cNvPr id="11" name="object 11"/>
          <p:cNvSpPr txBox="1"/>
          <p:nvPr/>
        </p:nvSpPr>
        <p:spPr>
          <a:xfrm>
            <a:off x="506456" y="2137540"/>
            <a:ext cx="35560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75" dirty="0">
                <a:solidFill>
                  <a:srgbClr val="679923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9703" y="2705642"/>
            <a:ext cx="59563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135" dirty="0">
                <a:solidFill>
                  <a:srgbClr val="679923"/>
                </a:solidFill>
                <a:latin typeface="Arial"/>
                <a:cs typeface="Arial"/>
              </a:rPr>
              <a:t>■</a:t>
            </a:r>
            <a:endParaRPr sz="7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6456" y="3398972"/>
            <a:ext cx="35560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75" dirty="0">
                <a:solidFill>
                  <a:srgbClr val="679923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04550" y="4361129"/>
            <a:ext cx="1657985" cy="217170"/>
          </a:xfrm>
          <a:custGeom>
            <a:avLst/>
            <a:gdLst/>
            <a:ahLst/>
            <a:cxnLst/>
            <a:rect l="l" t="t" r="r" b="b"/>
            <a:pathLst>
              <a:path w="1657985" h="217170">
                <a:moveTo>
                  <a:pt x="0" y="0"/>
                </a:moveTo>
                <a:lnTo>
                  <a:pt x="1657535" y="0"/>
                </a:lnTo>
                <a:lnTo>
                  <a:pt x="1657535" y="217024"/>
                </a:lnTo>
                <a:lnTo>
                  <a:pt x="0" y="217024"/>
                </a:lnTo>
                <a:lnTo>
                  <a:pt x="0" y="0"/>
                </a:lnTo>
                <a:close/>
              </a:path>
            </a:pathLst>
          </a:custGeom>
          <a:solidFill>
            <a:srgbClr val="699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399099" y="1292067"/>
            <a:ext cx="2600960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 marR="1678939" indent="1905">
              <a:lnSpc>
                <a:spcPct val="119300"/>
              </a:lnSpc>
              <a:spcBef>
                <a:spcPts val="100"/>
              </a:spcBef>
            </a:pPr>
            <a:r>
              <a:rPr sz="1050" spc="-45" dirty="0">
                <a:solidFill>
                  <a:srgbClr val="030303"/>
                </a:solidFill>
                <a:latin typeface="Arial"/>
                <a:cs typeface="Arial"/>
              </a:rPr>
              <a:t>x </a:t>
            </a:r>
            <a:r>
              <a:rPr sz="1000" spc="55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1000" spc="-6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030303"/>
                </a:solidFill>
                <a:latin typeface="Arial"/>
                <a:cs typeface="Arial"/>
              </a:rPr>
              <a:t>range(lO)  </a:t>
            </a:r>
            <a:r>
              <a:rPr sz="950" spc="45" dirty="0">
                <a:solidFill>
                  <a:srgbClr val="030303"/>
                </a:solidFill>
                <a:latin typeface="Arial"/>
                <a:cs typeface="Arial"/>
              </a:rPr>
              <a:t>y </a:t>
            </a:r>
            <a:r>
              <a:rPr sz="1000" spc="55" dirty="0">
                <a:solidFill>
                  <a:srgbClr val="030303"/>
                </a:solidFill>
                <a:latin typeface="Arial"/>
                <a:cs typeface="Arial"/>
              </a:rPr>
              <a:t>= </a:t>
            </a:r>
            <a:r>
              <a:rPr sz="1000" spc="25" dirty="0">
                <a:solidFill>
                  <a:srgbClr val="030303"/>
                </a:solidFill>
                <a:latin typeface="Arial"/>
                <a:cs typeface="Arial"/>
              </a:rPr>
              <a:t>sum(x)  </a:t>
            </a:r>
            <a:r>
              <a:rPr sz="1050" spc="15" dirty="0">
                <a:solidFill>
                  <a:srgbClr val="030303"/>
                </a:solidFill>
                <a:latin typeface="Arial"/>
                <a:cs typeface="Arial"/>
              </a:rPr>
              <a:t>print(y)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6456" y="4114959"/>
            <a:ext cx="355600" cy="1049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70"/>
              </a:lnSpc>
            </a:pPr>
            <a:r>
              <a:rPr sz="7200" spc="75" dirty="0">
                <a:solidFill>
                  <a:srgbClr val="679923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91852" y="4369788"/>
            <a:ext cx="1691639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85"/>
              </a:lnSpc>
            </a:pPr>
            <a:r>
              <a:rPr sz="1250" spc="-10" dirty="0">
                <a:solidFill>
                  <a:srgbClr val="FBFBFB"/>
                </a:solidFill>
                <a:latin typeface="Arial"/>
                <a:cs typeface="Arial"/>
              </a:rPr>
              <a:t>An </a:t>
            </a:r>
            <a:r>
              <a:rPr sz="1250" spc="5" dirty="0">
                <a:solidFill>
                  <a:srgbClr val="FBFBFB"/>
                </a:solidFill>
                <a:latin typeface="Arial"/>
                <a:cs typeface="Arial"/>
              </a:rPr>
              <a:t>exception </a:t>
            </a:r>
            <a:r>
              <a:rPr sz="1250" spc="-45" dirty="0">
                <a:solidFill>
                  <a:srgbClr val="FBFBFB"/>
                </a:solidFill>
                <a:latin typeface="Arial"/>
                <a:cs typeface="Arial"/>
              </a:rPr>
              <a:t>is</a:t>
            </a:r>
            <a:r>
              <a:rPr sz="1250" spc="20" dirty="0">
                <a:solidFill>
                  <a:srgbClr val="FBFBFB"/>
                </a:solidFill>
                <a:latin typeface="Arial"/>
                <a:cs typeface="Arial"/>
              </a:rPr>
              <a:t> </a:t>
            </a:r>
            <a:r>
              <a:rPr sz="1250" spc="70" dirty="0">
                <a:solidFill>
                  <a:srgbClr val="FBFBFB"/>
                </a:solidFill>
                <a:latin typeface="Arial"/>
                <a:cs typeface="Arial"/>
              </a:rPr>
              <a:t>thrown</a:t>
            </a:r>
            <a:endParaRPr sz="12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30801" y="4966345"/>
            <a:ext cx="1263650" cy="1606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50" spc="65" dirty="0">
                <a:solidFill>
                  <a:srgbClr val="6E2F9E"/>
                </a:solidFill>
                <a:latin typeface="Arial"/>
                <a:cs typeface="Arial"/>
                <a:hlinkClick r:id="rId5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3464" y="1172857"/>
            <a:ext cx="4501794" cy="9895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20825" y="2272412"/>
            <a:ext cx="3857809" cy="18203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975042" y="3885092"/>
            <a:ext cx="1083482" cy="9651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92995" y="1261433"/>
            <a:ext cx="0" cy="855344"/>
          </a:xfrm>
          <a:custGeom>
            <a:avLst/>
            <a:gdLst/>
            <a:ahLst/>
            <a:cxnLst/>
            <a:rect l="l" t="t" r="r" b="b"/>
            <a:pathLst>
              <a:path h="855344">
                <a:moveTo>
                  <a:pt x="0" y="855209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05560" y="1291976"/>
            <a:ext cx="0" cy="831215"/>
          </a:xfrm>
          <a:custGeom>
            <a:avLst/>
            <a:gdLst/>
            <a:ahLst/>
            <a:cxnLst/>
            <a:rect l="l" t="t" r="r" b="b"/>
            <a:pathLst>
              <a:path h="831214">
                <a:moveTo>
                  <a:pt x="0" y="830774"/>
                </a:moveTo>
                <a:lnTo>
                  <a:pt x="0" y="0"/>
                </a:lnTo>
              </a:path>
            </a:pathLst>
          </a:custGeom>
          <a:ln w="122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17411" y="1255324"/>
            <a:ext cx="2594610" cy="0"/>
          </a:xfrm>
          <a:custGeom>
            <a:avLst/>
            <a:gdLst/>
            <a:ahLst/>
            <a:cxnLst/>
            <a:rect l="l" t="t" r="r" b="b"/>
            <a:pathLst>
              <a:path w="2594609">
                <a:moveTo>
                  <a:pt x="0" y="0"/>
                </a:moveTo>
                <a:lnTo>
                  <a:pt x="2594253" y="0"/>
                </a:lnTo>
              </a:path>
            </a:pathLst>
          </a:custGeom>
          <a:ln w="122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89943" y="2122751"/>
            <a:ext cx="2606675" cy="0"/>
          </a:xfrm>
          <a:custGeom>
            <a:avLst/>
            <a:gdLst/>
            <a:ahLst/>
            <a:cxnLst/>
            <a:rect l="l" t="t" r="r" b="b"/>
            <a:pathLst>
              <a:path w="2606675">
                <a:moveTo>
                  <a:pt x="0" y="0"/>
                </a:moveTo>
                <a:lnTo>
                  <a:pt x="2606461" y="0"/>
                </a:lnTo>
              </a:path>
            </a:pathLst>
          </a:custGeom>
          <a:ln w="91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8449" y="140015"/>
            <a:ext cx="12896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70" dirty="0">
                <a:solidFill>
                  <a:srgbClr val="AC7E70"/>
                </a:solidFill>
                <a:latin typeface="Times New Roman"/>
                <a:cs typeface="Times New Roman"/>
              </a:rPr>
              <a:t>jn</a:t>
            </a:r>
            <a:r>
              <a:rPr sz="2400" b="1" spc="-45" dirty="0">
                <a:solidFill>
                  <a:srgbClr val="AC7E70"/>
                </a:solidFill>
                <a:latin typeface="Times New Roman"/>
                <a:cs typeface="Times New Roman"/>
              </a:rPr>
              <a:t> </a:t>
            </a:r>
            <a:r>
              <a:rPr sz="2400" b="1" spc="-190" dirty="0">
                <a:solidFill>
                  <a:srgbClr val="827EA5"/>
                </a:solidFill>
                <a:latin typeface="Times New Roman"/>
                <a:cs typeface="Times New Roman"/>
              </a:rPr>
              <a:t>telli</a:t>
            </a:r>
            <a:r>
              <a:rPr sz="2400" b="1" spc="-190" dirty="0">
                <a:solidFill>
                  <a:srgbClr val="ED8026"/>
                </a:solidFill>
                <a:latin typeface="Times New Roman"/>
                <a:cs typeface="Times New Roman"/>
              </a:rPr>
              <a:t>Paat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68986" y="329383"/>
            <a:ext cx="214439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53564" algn="l"/>
              </a:tabLst>
            </a:pPr>
            <a:r>
              <a:rPr sz="3600" b="1" spc="-50" dirty="0">
                <a:solidFill>
                  <a:srgbClr val="7B7B7B"/>
                </a:solidFill>
                <a:latin typeface="Arial"/>
                <a:cs typeface="Arial"/>
              </a:rPr>
              <a:t>Answe</a:t>
            </a:r>
            <a:r>
              <a:rPr sz="3600" b="1" spc="-30" dirty="0">
                <a:solidFill>
                  <a:srgbClr val="7B7B7B"/>
                </a:solidFill>
                <a:latin typeface="Arial"/>
                <a:cs typeface="Arial"/>
              </a:rPr>
              <a:t>r</a:t>
            </a:r>
            <a:r>
              <a:rPr sz="3600" b="1" dirty="0">
                <a:solidFill>
                  <a:srgbClr val="7B7B7B"/>
                </a:solidFill>
                <a:latin typeface="Arial"/>
                <a:cs typeface="Arial"/>
              </a:rPr>
              <a:t>	</a:t>
            </a:r>
            <a:r>
              <a:rPr sz="3600" b="1" spc="180" dirty="0">
                <a:solidFill>
                  <a:srgbClr val="7B7B7B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6073" y="2670517"/>
            <a:ext cx="636270" cy="18535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4010" indent="-321310">
              <a:lnSpc>
                <a:spcPts val="6850"/>
              </a:lnSpc>
              <a:buClr>
                <a:srgbClr val="679923"/>
              </a:buClr>
              <a:buSzPct val="112698"/>
              <a:buFont typeface="Arial"/>
              <a:buChar char="•"/>
              <a:tabLst>
                <a:tab pos="334645" algn="l"/>
              </a:tabLst>
            </a:pPr>
            <a:r>
              <a:rPr sz="6300" spc="185" dirty="0">
                <a:solidFill>
                  <a:srgbClr val="A3D462"/>
                </a:solidFill>
                <a:latin typeface="Times New Roman"/>
                <a:cs typeface="Times New Roman"/>
              </a:rPr>
              <a:t>II</a:t>
            </a:r>
            <a:endParaRPr sz="6300">
              <a:latin typeface="Times New Roman"/>
              <a:cs typeface="Times New Roman"/>
            </a:endParaRPr>
          </a:p>
          <a:p>
            <a:pPr marL="12700">
              <a:lnSpc>
                <a:spcPts val="7640"/>
              </a:lnSpc>
            </a:pPr>
            <a:r>
              <a:rPr sz="7200" spc="229" dirty="0">
                <a:solidFill>
                  <a:srgbClr val="679923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00800" y="4354009"/>
            <a:ext cx="1856105" cy="234950"/>
          </a:xfrm>
          <a:custGeom>
            <a:avLst/>
            <a:gdLst/>
            <a:ahLst/>
            <a:cxnLst/>
            <a:rect l="l" t="t" r="r" b="b"/>
            <a:pathLst>
              <a:path w="1856104" h="234950">
                <a:moveTo>
                  <a:pt x="0" y="0"/>
                </a:moveTo>
                <a:lnTo>
                  <a:pt x="1855696" y="0"/>
                </a:lnTo>
                <a:lnTo>
                  <a:pt x="1855696" y="234386"/>
                </a:lnTo>
                <a:lnTo>
                  <a:pt x="0" y="234386"/>
                </a:lnTo>
                <a:lnTo>
                  <a:pt x="0" y="0"/>
                </a:lnTo>
                <a:close/>
              </a:path>
            </a:pathLst>
          </a:custGeom>
          <a:solidFill>
            <a:srgbClr val="699A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97573" y="1252042"/>
            <a:ext cx="2607945" cy="629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ts val="610"/>
              </a:lnSpc>
              <a:spcBef>
                <a:spcPts val="100"/>
              </a:spcBef>
            </a:pPr>
            <a:r>
              <a:rPr sz="550" spc="10" dirty="0">
                <a:solidFill>
                  <a:srgbClr val="679923"/>
                </a:solidFill>
                <a:latin typeface="Arial"/>
                <a:cs typeface="Arial"/>
              </a:rPr>
              <a:t>'</a:t>
            </a:r>
            <a:endParaRPr sz="550">
              <a:latin typeface="Arial"/>
              <a:cs typeface="Arial"/>
            </a:endParaRPr>
          </a:p>
          <a:p>
            <a:pPr marL="119380">
              <a:lnSpc>
                <a:spcPts val="1210"/>
              </a:lnSpc>
            </a:pPr>
            <a:r>
              <a:rPr sz="1050" spc="-45" dirty="0">
                <a:solidFill>
                  <a:srgbClr val="030303"/>
                </a:solidFill>
                <a:latin typeface="Arial"/>
                <a:cs typeface="Arial"/>
              </a:rPr>
              <a:t>x </a:t>
            </a:r>
            <a:r>
              <a:rPr sz="1000" spc="55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1000" spc="-1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030303"/>
                </a:solidFill>
                <a:latin typeface="Arial"/>
                <a:cs typeface="Arial"/>
              </a:rPr>
              <a:t>range(lO)</a:t>
            </a:r>
            <a:endParaRPr sz="1050">
              <a:latin typeface="Arial"/>
              <a:cs typeface="Arial"/>
            </a:endParaRPr>
          </a:p>
          <a:p>
            <a:pPr marL="118110">
              <a:lnSpc>
                <a:spcPct val="100000"/>
              </a:lnSpc>
              <a:spcBef>
                <a:spcPts val="234"/>
              </a:spcBef>
            </a:pPr>
            <a:r>
              <a:rPr sz="950" spc="45" dirty="0">
                <a:solidFill>
                  <a:srgbClr val="030303"/>
                </a:solidFill>
                <a:latin typeface="Arial"/>
                <a:cs typeface="Arial"/>
              </a:rPr>
              <a:t>y </a:t>
            </a:r>
            <a:r>
              <a:rPr sz="1000" spc="55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1000" spc="-12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1000" spc="25" dirty="0">
                <a:solidFill>
                  <a:srgbClr val="030303"/>
                </a:solidFill>
                <a:latin typeface="Arial"/>
                <a:cs typeface="Arial"/>
              </a:rPr>
              <a:t>sum(x)</a:t>
            </a:r>
            <a:endParaRPr sz="1000">
              <a:latin typeface="Arial"/>
              <a:cs typeface="Arial"/>
            </a:endParaRPr>
          </a:p>
          <a:p>
            <a:pPr marL="117475">
              <a:lnSpc>
                <a:spcPct val="100000"/>
              </a:lnSpc>
              <a:spcBef>
                <a:spcPts val="240"/>
              </a:spcBef>
            </a:pPr>
            <a:r>
              <a:rPr sz="1050" spc="15" dirty="0">
                <a:solidFill>
                  <a:srgbClr val="030303"/>
                </a:solidFill>
                <a:latin typeface="Arial"/>
                <a:cs typeface="Arial"/>
              </a:rPr>
              <a:t>print(y)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6456" y="4114959"/>
            <a:ext cx="355600" cy="1049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70"/>
              </a:lnSpc>
            </a:pPr>
            <a:r>
              <a:rPr sz="7200" spc="75" dirty="0">
                <a:solidFill>
                  <a:srgbClr val="679923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91852" y="4369788"/>
            <a:ext cx="1691639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85"/>
              </a:lnSpc>
            </a:pPr>
            <a:r>
              <a:rPr sz="1250" spc="-10" dirty="0">
                <a:solidFill>
                  <a:srgbClr val="FBFBFB"/>
                </a:solidFill>
                <a:latin typeface="Arial"/>
                <a:cs typeface="Arial"/>
              </a:rPr>
              <a:t>An </a:t>
            </a:r>
            <a:r>
              <a:rPr sz="1250" spc="5" dirty="0">
                <a:solidFill>
                  <a:srgbClr val="FBFBFB"/>
                </a:solidFill>
                <a:latin typeface="Arial"/>
                <a:cs typeface="Arial"/>
              </a:rPr>
              <a:t>exception </a:t>
            </a:r>
            <a:r>
              <a:rPr sz="1250" spc="-45" dirty="0">
                <a:solidFill>
                  <a:srgbClr val="FBFBFB"/>
                </a:solidFill>
                <a:latin typeface="Arial"/>
                <a:cs typeface="Arial"/>
              </a:rPr>
              <a:t>is</a:t>
            </a:r>
            <a:r>
              <a:rPr sz="1250" spc="20" dirty="0">
                <a:solidFill>
                  <a:srgbClr val="FBFBFB"/>
                </a:solidFill>
                <a:latin typeface="Arial"/>
                <a:cs typeface="Arial"/>
              </a:rPr>
              <a:t> </a:t>
            </a:r>
            <a:r>
              <a:rPr sz="1250" spc="70" dirty="0">
                <a:solidFill>
                  <a:srgbClr val="FBFBFB"/>
                </a:solidFill>
                <a:latin typeface="Arial"/>
                <a:cs typeface="Arial"/>
              </a:rPr>
              <a:t>thrown</a:t>
            </a:r>
            <a:endParaRPr sz="12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30801" y="4966345"/>
            <a:ext cx="1263650" cy="1606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50" spc="65" dirty="0">
                <a:solidFill>
                  <a:srgbClr val="6E2F9E"/>
                </a:solidFill>
                <a:latin typeface="Arial"/>
                <a:cs typeface="Arial"/>
                <a:hlinkClick r:id="rId5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610" y="989598"/>
            <a:ext cx="4861937" cy="1038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10949" y="3836223"/>
            <a:ext cx="1135367" cy="1026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08255" y="2028067"/>
            <a:ext cx="0" cy="1808480"/>
          </a:xfrm>
          <a:custGeom>
            <a:avLst/>
            <a:gdLst/>
            <a:ahLst/>
            <a:cxnLst/>
            <a:rect l="l" t="t" r="r" b="b"/>
            <a:pathLst>
              <a:path h="1808479">
                <a:moveTo>
                  <a:pt x="0" y="1808156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26925" y="1169804"/>
            <a:ext cx="0" cy="2663825"/>
          </a:xfrm>
          <a:custGeom>
            <a:avLst/>
            <a:gdLst/>
            <a:ahLst/>
            <a:cxnLst/>
            <a:rect l="l" t="t" r="r" b="b"/>
            <a:pathLst>
              <a:path h="2663825">
                <a:moveTo>
                  <a:pt x="0" y="2663365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42546" y="1065957"/>
            <a:ext cx="2396490" cy="0"/>
          </a:xfrm>
          <a:custGeom>
            <a:avLst/>
            <a:gdLst/>
            <a:ahLst/>
            <a:cxnLst/>
            <a:rect l="l" t="t" r="r" b="b"/>
            <a:pathLst>
              <a:path w="2396490">
                <a:moveTo>
                  <a:pt x="0" y="0"/>
                </a:moveTo>
                <a:lnTo>
                  <a:pt x="2395869" y="0"/>
                </a:lnTo>
              </a:path>
            </a:pathLst>
          </a:custGeom>
          <a:ln w="91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93713" y="3955342"/>
            <a:ext cx="2417445" cy="0"/>
          </a:xfrm>
          <a:custGeom>
            <a:avLst/>
            <a:gdLst/>
            <a:ahLst/>
            <a:cxnLst/>
            <a:rect l="l" t="t" r="r" b="b"/>
            <a:pathLst>
              <a:path w="2417445">
                <a:moveTo>
                  <a:pt x="0" y="0"/>
                </a:moveTo>
                <a:lnTo>
                  <a:pt x="2417233" y="0"/>
                </a:lnTo>
              </a:path>
            </a:pathLst>
          </a:custGeom>
          <a:ln w="91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8449" y="140015"/>
            <a:ext cx="12896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70" dirty="0">
                <a:solidFill>
                  <a:srgbClr val="AC7E70"/>
                </a:solidFill>
                <a:latin typeface="Times New Roman"/>
                <a:cs typeface="Times New Roman"/>
              </a:rPr>
              <a:t>jn</a:t>
            </a:r>
            <a:r>
              <a:rPr sz="2400" b="1" spc="-45" dirty="0">
                <a:solidFill>
                  <a:srgbClr val="AC7E70"/>
                </a:solidFill>
                <a:latin typeface="Times New Roman"/>
                <a:cs typeface="Times New Roman"/>
              </a:rPr>
              <a:t> </a:t>
            </a:r>
            <a:r>
              <a:rPr sz="2400" b="1" spc="-190" dirty="0">
                <a:solidFill>
                  <a:srgbClr val="827EA5"/>
                </a:solidFill>
                <a:latin typeface="Times New Roman"/>
                <a:cs typeface="Times New Roman"/>
              </a:rPr>
              <a:t>telli</a:t>
            </a:r>
            <a:r>
              <a:rPr sz="2400" b="1" spc="-190" dirty="0">
                <a:solidFill>
                  <a:srgbClr val="ED8026"/>
                </a:solidFill>
                <a:latin typeface="Times New Roman"/>
                <a:cs typeface="Times New Roman"/>
              </a:rPr>
              <a:t>Paat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 idx="4294967295"/>
          </p:nvPr>
        </p:nvSpPr>
        <p:spPr>
          <a:xfrm>
            <a:off x="7656513" y="239713"/>
            <a:ext cx="1487487" cy="60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5" dirty="0"/>
              <a:t>Quiz</a:t>
            </a:r>
            <a:r>
              <a:rPr spc="330" dirty="0"/>
              <a:t> </a:t>
            </a:r>
            <a:r>
              <a:rPr sz="3800" spc="65" dirty="0"/>
              <a:t>3</a:t>
            </a:r>
            <a:endParaRPr sz="3800"/>
          </a:p>
        </p:txBody>
      </p:sp>
      <p:sp>
        <p:nvSpPr>
          <p:cNvPr id="10" name="object 10"/>
          <p:cNvSpPr txBox="1"/>
          <p:nvPr/>
        </p:nvSpPr>
        <p:spPr>
          <a:xfrm>
            <a:off x="616330" y="1990932"/>
            <a:ext cx="35560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75" dirty="0">
                <a:solidFill>
                  <a:srgbClr val="E87B0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6330" y="2626229"/>
            <a:ext cx="35560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75" dirty="0">
                <a:solidFill>
                  <a:srgbClr val="E87B0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6330" y="3264582"/>
            <a:ext cx="35560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75" dirty="0">
                <a:solidFill>
                  <a:srgbClr val="E87B0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6330" y="3899880"/>
            <a:ext cx="35560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75" dirty="0">
                <a:solidFill>
                  <a:srgbClr val="E87B0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78457" y="2213943"/>
            <a:ext cx="3455670" cy="214629"/>
          </a:xfrm>
          <a:prstGeom prst="rect">
            <a:avLst/>
          </a:prstGeom>
          <a:solidFill>
            <a:srgbClr val="E97B08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15" dirty="0">
                <a:solidFill>
                  <a:srgbClr val="F7F6F6"/>
                </a:solidFill>
                <a:latin typeface="Times New Roman"/>
                <a:cs typeface="Times New Roman"/>
              </a:rPr>
              <a:t>a)3 </a:t>
            </a:r>
            <a:r>
              <a:rPr sz="1250" spc="30" dirty="0">
                <a:solidFill>
                  <a:srgbClr val="F7F6F6"/>
                </a:solidFill>
                <a:latin typeface="Times New Roman"/>
                <a:cs typeface="Times New Roman"/>
              </a:rPr>
              <a:t>['Hello', </a:t>
            </a:r>
            <a:r>
              <a:rPr sz="1250" spc="40" dirty="0">
                <a:solidFill>
                  <a:srgbClr val="F7F6F6"/>
                </a:solidFill>
                <a:latin typeface="Times New Roman"/>
                <a:cs typeface="Times New Roman"/>
              </a:rPr>
              <a:t>'Py', </a:t>
            </a:r>
            <a:r>
              <a:rPr sz="1250" spc="55" dirty="0">
                <a:solidFill>
                  <a:srgbClr val="F7F6F6"/>
                </a:solidFill>
                <a:latin typeface="Times New Roman"/>
                <a:cs typeface="Times New Roman"/>
              </a:rPr>
              <a:t>'Pyth', </a:t>
            </a:r>
            <a:r>
              <a:rPr sz="1250" spc="70" dirty="0">
                <a:solidFill>
                  <a:srgbClr val="F7F6F6"/>
                </a:solidFill>
                <a:latin typeface="Times New Roman"/>
                <a:cs typeface="Times New Roman"/>
              </a:rPr>
              <a:t>'Python3', </a:t>
            </a:r>
            <a:r>
              <a:rPr sz="1250" spc="65" dirty="0">
                <a:solidFill>
                  <a:srgbClr val="F7F6F6"/>
                </a:solidFill>
                <a:latin typeface="Times New Roman"/>
                <a:cs typeface="Times New Roman"/>
              </a:rPr>
              <a:t>'Python',</a:t>
            </a:r>
            <a:r>
              <a:rPr sz="1250" spc="35" dirty="0">
                <a:solidFill>
                  <a:srgbClr val="F7F6F6"/>
                </a:solidFill>
                <a:latin typeface="Times New Roman"/>
                <a:cs typeface="Times New Roman"/>
              </a:rPr>
              <a:t> </a:t>
            </a:r>
            <a:r>
              <a:rPr sz="1250" spc="40" dirty="0">
                <a:solidFill>
                  <a:srgbClr val="F7F6F6"/>
                </a:solidFill>
                <a:latin typeface="Times New Roman"/>
                <a:cs typeface="Times New Roman"/>
              </a:rPr>
              <a:t>'Py',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88613" y="2406065"/>
            <a:ext cx="1243965" cy="220979"/>
          </a:xfrm>
          <a:prstGeom prst="rect">
            <a:avLst/>
          </a:prstGeom>
          <a:solidFill>
            <a:srgbClr val="E97B08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50" spc="55" dirty="0">
                <a:solidFill>
                  <a:srgbClr val="F7F6F6"/>
                </a:solidFill>
                <a:latin typeface="Times New Roman"/>
                <a:cs typeface="Times New Roman"/>
              </a:rPr>
              <a:t>'Pyth',</a:t>
            </a:r>
            <a:r>
              <a:rPr sz="1250" spc="-10" dirty="0">
                <a:solidFill>
                  <a:srgbClr val="F7F6F6"/>
                </a:solidFill>
                <a:latin typeface="Times New Roman"/>
                <a:cs typeface="Times New Roman"/>
              </a:rPr>
              <a:t> </a:t>
            </a:r>
            <a:r>
              <a:rPr sz="1250" spc="75" dirty="0">
                <a:solidFill>
                  <a:srgbClr val="F7F6F6"/>
                </a:solidFill>
                <a:latin typeface="Times New Roman"/>
                <a:cs typeface="Times New Roman"/>
              </a:rPr>
              <a:t>'Python3']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82047" y="2950034"/>
            <a:ext cx="2425700" cy="214629"/>
          </a:xfrm>
          <a:prstGeom prst="rect">
            <a:avLst/>
          </a:prstGeom>
          <a:solidFill>
            <a:srgbClr val="E97B08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30" dirty="0">
                <a:solidFill>
                  <a:srgbClr val="F7F6F6"/>
                </a:solidFill>
                <a:latin typeface="Times New Roman"/>
                <a:cs typeface="Times New Roman"/>
              </a:rPr>
              <a:t>a)2 </a:t>
            </a:r>
            <a:r>
              <a:rPr sz="1250" spc="25" dirty="0">
                <a:solidFill>
                  <a:srgbClr val="F7F6F6"/>
                </a:solidFill>
                <a:latin typeface="Times New Roman"/>
                <a:cs typeface="Times New Roman"/>
              </a:rPr>
              <a:t>['Hello', </a:t>
            </a:r>
            <a:r>
              <a:rPr sz="1250" spc="35" dirty="0">
                <a:solidFill>
                  <a:srgbClr val="F7F6F6"/>
                </a:solidFill>
                <a:latin typeface="Times New Roman"/>
                <a:cs typeface="Times New Roman"/>
              </a:rPr>
              <a:t>'Py', </a:t>
            </a:r>
            <a:r>
              <a:rPr sz="1250" spc="55" dirty="0">
                <a:solidFill>
                  <a:srgbClr val="F7F6F6"/>
                </a:solidFill>
                <a:latin typeface="Times New Roman"/>
                <a:cs typeface="Times New Roman"/>
              </a:rPr>
              <a:t>'Pyth',</a:t>
            </a:r>
            <a:r>
              <a:rPr sz="1250" spc="5" dirty="0">
                <a:solidFill>
                  <a:srgbClr val="F7F6F6"/>
                </a:solidFill>
                <a:latin typeface="Times New Roman"/>
                <a:cs typeface="Times New Roman"/>
              </a:rPr>
              <a:t> </a:t>
            </a:r>
            <a:r>
              <a:rPr sz="1250" spc="85" dirty="0">
                <a:solidFill>
                  <a:srgbClr val="F7F6F6"/>
                </a:solidFill>
                <a:latin typeface="Times New Roman"/>
                <a:cs typeface="Times New Roman"/>
              </a:rPr>
              <a:t>'Python3'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61180" y="2943624"/>
            <a:ext cx="819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7F6F6"/>
                </a:solidFill>
                <a:latin typeface="Times New Roman"/>
                <a:cs typeface="Times New Roman"/>
              </a:rPr>
              <a:t>]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82047" y="3588386"/>
            <a:ext cx="2425700" cy="214629"/>
          </a:xfrm>
          <a:custGeom>
            <a:avLst/>
            <a:gdLst/>
            <a:ahLst/>
            <a:cxnLst/>
            <a:rect l="l" t="t" r="r" b="b"/>
            <a:pathLst>
              <a:path w="2425700" h="214629">
                <a:moveTo>
                  <a:pt x="0" y="0"/>
                </a:moveTo>
                <a:lnTo>
                  <a:pt x="2425595" y="0"/>
                </a:lnTo>
                <a:lnTo>
                  <a:pt x="2425595" y="214150"/>
                </a:lnTo>
                <a:lnTo>
                  <a:pt x="0" y="214150"/>
                </a:lnTo>
                <a:lnTo>
                  <a:pt x="0" y="0"/>
                </a:lnTo>
                <a:close/>
              </a:path>
            </a:pathLst>
          </a:custGeom>
          <a:solidFill>
            <a:srgbClr val="E97B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069348" y="3581977"/>
            <a:ext cx="247332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30" dirty="0">
                <a:solidFill>
                  <a:srgbClr val="F7F6F6"/>
                </a:solidFill>
                <a:latin typeface="Times New Roman"/>
                <a:cs typeface="Times New Roman"/>
              </a:rPr>
              <a:t>a)3 </a:t>
            </a:r>
            <a:r>
              <a:rPr sz="1250" spc="25" dirty="0">
                <a:solidFill>
                  <a:srgbClr val="F7F6F6"/>
                </a:solidFill>
                <a:latin typeface="Times New Roman"/>
                <a:cs typeface="Times New Roman"/>
              </a:rPr>
              <a:t>['Hello', </a:t>
            </a:r>
            <a:r>
              <a:rPr sz="1250" spc="40" dirty="0">
                <a:solidFill>
                  <a:srgbClr val="F7F6F6"/>
                </a:solidFill>
                <a:latin typeface="Times New Roman"/>
                <a:cs typeface="Times New Roman"/>
              </a:rPr>
              <a:t>'Py', </a:t>
            </a:r>
            <a:r>
              <a:rPr sz="1250" spc="55" dirty="0">
                <a:solidFill>
                  <a:srgbClr val="F7F6F6"/>
                </a:solidFill>
                <a:latin typeface="Times New Roman"/>
                <a:cs typeface="Times New Roman"/>
              </a:rPr>
              <a:t>'Pyth',</a:t>
            </a:r>
            <a:r>
              <a:rPr sz="1250" spc="10" dirty="0">
                <a:solidFill>
                  <a:srgbClr val="F7F6F6"/>
                </a:solidFill>
                <a:latin typeface="Times New Roman"/>
                <a:cs typeface="Times New Roman"/>
              </a:rPr>
              <a:t> </a:t>
            </a:r>
            <a:r>
              <a:rPr sz="1250" spc="75" dirty="0">
                <a:solidFill>
                  <a:srgbClr val="F7F6F6"/>
                </a:solidFill>
                <a:latin typeface="Times New Roman"/>
                <a:cs typeface="Times New Roman"/>
              </a:rPr>
              <a:t>'Python3']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30622" y="4966345"/>
            <a:ext cx="1266190" cy="1606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50" b="1" spc="25" dirty="0">
                <a:solidFill>
                  <a:srgbClr val="6E2F9E"/>
                </a:solidFill>
                <a:latin typeface="Arial"/>
                <a:cs typeface="Arial"/>
                <a:hlinkClick r:id="rId4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78457" y="4125946"/>
            <a:ext cx="3455670" cy="214629"/>
          </a:xfrm>
          <a:prstGeom prst="rect">
            <a:avLst/>
          </a:prstGeom>
          <a:solidFill>
            <a:srgbClr val="E97B08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30" dirty="0">
                <a:solidFill>
                  <a:srgbClr val="F7F6F6"/>
                </a:solidFill>
                <a:latin typeface="Times New Roman"/>
                <a:cs typeface="Times New Roman"/>
              </a:rPr>
              <a:t>a)2 ['Hello', </a:t>
            </a:r>
            <a:r>
              <a:rPr sz="1250" spc="40" dirty="0">
                <a:solidFill>
                  <a:srgbClr val="F7F6F6"/>
                </a:solidFill>
                <a:latin typeface="Times New Roman"/>
                <a:cs typeface="Times New Roman"/>
              </a:rPr>
              <a:t>'Py', </a:t>
            </a:r>
            <a:r>
              <a:rPr sz="1250" spc="55" dirty="0">
                <a:solidFill>
                  <a:srgbClr val="F7F6F6"/>
                </a:solidFill>
                <a:latin typeface="Times New Roman"/>
                <a:cs typeface="Times New Roman"/>
              </a:rPr>
              <a:t>'Pyth', </a:t>
            </a:r>
            <a:r>
              <a:rPr sz="1250" spc="70" dirty="0">
                <a:solidFill>
                  <a:srgbClr val="F7F6F6"/>
                </a:solidFill>
                <a:latin typeface="Times New Roman"/>
                <a:cs typeface="Times New Roman"/>
              </a:rPr>
              <a:t>'Python3', </a:t>
            </a:r>
            <a:r>
              <a:rPr sz="1250" spc="65" dirty="0">
                <a:solidFill>
                  <a:srgbClr val="F7F6F6"/>
                </a:solidFill>
                <a:latin typeface="Times New Roman"/>
                <a:cs typeface="Times New Roman"/>
              </a:rPr>
              <a:t>'Python',</a:t>
            </a:r>
            <a:r>
              <a:rPr sz="1250" spc="-45" dirty="0">
                <a:solidFill>
                  <a:srgbClr val="F7F6F6"/>
                </a:solidFill>
                <a:latin typeface="Times New Roman"/>
                <a:cs typeface="Times New Roman"/>
              </a:rPr>
              <a:t> </a:t>
            </a:r>
            <a:r>
              <a:rPr sz="1250" spc="40" dirty="0">
                <a:solidFill>
                  <a:srgbClr val="F7F6F6"/>
                </a:solidFill>
                <a:latin typeface="Times New Roman"/>
                <a:cs typeface="Times New Roman"/>
              </a:rPr>
              <a:t>'Py',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88613" y="4321122"/>
            <a:ext cx="1243965" cy="220979"/>
          </a:xfrm>
          <a:prstGeom prst="rect">
            <a:avLst/>
          </a:prstGeom>
          <a:solidFill>
            <a:srgbClr val="E97B08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50" spc="55" dirty="0">
                <a:solidFill>
                  <a:srgbClr val="F7F6F6"/>
                </a:solidFill>
                <a:latin typeface="Times New Roman"/>
                <a:cs typeface="Times New Roman"/>
              </a:rPr>
              <a:t>'Pyth',</a:t>
            </a:r>
            <a:r>
              <a:rPr sz="1250" spc="-10" dirty="0">
                <a:solidFill>
                  <a:srgbClr val="F7F6F6"/>
                </a:solidFill>
                <a:latin typeface="Times New Roman"/>
                <a:cs typeface="Times New Roman"/>
              </a:rPr>
              <a:t> </a:t>
            </a:r>
            <a:r>
              <a:rPr sz="1250" spc="75" dirty="0">
                <a:solidFill>
                  <a:srgbClr val="F7F6F6"/>
                </a:solidFill>
                <a:latin typeface="Times New Roman"/>
                <a:cs typeface="Times New Roman"/>
              </a:rPr>
              <a:t>'Python3']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20639" y="1134958"/>
            <a:ext cx="1751330" cy="816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indent="-3810">
              <a:lnSpc>
                <a:spcPct val="124100"/>
              </a:lnSpc>
              <a:spcBef>
                <a:spcPts val="100"/>
              </a:spcBef>
            </a:pPr>
            <a:r>
              <a:rPr sz="1050" spc="95" dirty="0">
                <a:solidFill>
                  <a:srgbClr val="010101"/>
                </a:solidFill>
                <a:latin typeface="Arial"/>
                <a:cs typeface="Arial"/>
              </a:rPr>
              <a:t>Listl </a:t>
            </a:r>
            <a:r>
              <a:rPr sz="1050" dirty="0">
                <a:solidFill>
                  <a:srgbClr val="010101"/>
                </a:solidFill>
                <a:latin typeface="Arial"/>
                <a:cs typeface="Arial"/>
              </a:rPr>
              <a:t>= </a:t>
            </a:r>
            <a:r>
              <a:rPr sz="1050" spc="20" dirty="0">
                <a:solidFill>
                  <a:srgbClr val="010101"/>
                </a:solidFill>
                <a:latin typeface="Arial"/>
                <a:cs typeface="Arial"/>
              </a:rPr>
              <a:t>['Python', </a:t>
            </a:r>
            <a:r>
              <a:rPr sz="1050" spc="5" dirty="0">
                <a:solidFill>
                  <a:srgbClr val="010101"/>
                </a:solidFill>
                <a:latin typeface="Arial"/>
                <a:cs typeface="Arial"/>
              </a:rPr>
              <a:t>'Py</a:t>
            </a:r>
            <a:r>
              <a:rPr sz="1050" spc="5" dirty="0">
                <a:solidFill>
                  <a:srgbClr val="1A1A1A"/>
                </a:solidFill>
                <a:latin typeface="Arial"/>
                <a:cs typeface="Arial"/>
              </a:rPr>
              <a:t>'</a:t>
            </a:r>
            <a:r>
              <a:rPr sz="1050" spc="5" dirty="0">
                <a:solidFill>
                  <a:srgbClr val="010101"/>
                </a:solidFill>
                <a:latin typeface="Arial"/>
                <a:cs typeface="Arial"/>
              </a:rPr>
              <a:t>,</a:t>
            </a:r>
            <a:r>
              <a:rPr sz="1050" spc="-1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010101"/>
                </a:solidFill>
                <a:latin typeface="Arial"/>
                <a:cs typeface="Arial"/>
              </a:rPr>
              <a:t>'Pyth',  </a:t>
            </a:r>
            <a:r>
              <a:rPr sz="1050" spc="10" dirty="0">
                <a:solidFill>
                  <a:srgbClr val="010101"/>
                </a:solidFill>
                <a:latin typeface="Arial"/>
                <a:cs typeface="Arial"/>
              </a:rPr>
              <a:t>'Python3']</a:t>
            </a:r>
            <a:endParaRPr sz="1050">
              <a:latin typeface="Arial"/>
              <a:cs typeface="Arial"/>
            </a:endParaRPr>
          </a:p>
          <a:p>
            <a:pPr marL="12700" marR="840105">
              <a:lnSpc>
                <a:spcPct val="118300"/>
              </a:lnSpc>
              <a:spcBef>
                <a:spcPts val="120"/>
              </a:spcBef>
            </a:pPr>
            <a:r>
              <a:rPr sz="1050" spc="10" dirty="0">
                <a:solidFill>
                  <a:srgbClr val="010101"/>
                </a:solidFill>
                <a:latin typeface="Arial"/>
                <a:cs typeface="Arial"/>
              </a:rPr>
              <a:t>List2 </a:t>
            </a:r>
            <a:r>
              <a:rPr sz="1050" dirty="0">
                <a:solidFill>
                  <a:srgbClr val="010101"/>
                </a:solidFill>
                <a:latin typeface="Arial"/>
                <a:cs typeface="Arial"/>
              </a:rPr>
              <a:t>=</a:t>
            </a:r>
            <a:r>
              <a:rPr sz="1050" spc="-1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100" dirty="0">
                <a:solidFill>
                  <a:srgbClr val="010101"/>
                </a:solidFill>
                <a:latin typeface="Arial"/>
                <a:cs typeface="Arial"/>
              </a:rPr>
              <a:t>Listl*2  </a:t>
            </a:r>
            <a:r>
              <a:rPr sz="1050" spc="5" dirty="0">
                <a:solidFill>
                  <a:srgbClr val="010101"/>
                </a:solidFill>
                <a:latin typeface="Arial"/>
                <a:cs typeface="Arial"/>
              </a:rPr>
              <a:t>List3 </a:t>
            </a:r>
            <a:r>
              <a:rPr sz="1050" dirty="0">
                <a:solidFill>
                  <a:srgbClr val="010101"/>
                </a:solidFill>
                <a:latin typeface="Arial"/>
                <a:cs typeface="Arial"/>
              </a:rPr>
              <a:t>=</a:t>
            </a:r>
            <a:r>
              <a:rPr sz="1050" spc="-1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010101"/>
                </a:solidFill>
                <a:latin typeface="Arial"/>
                <a:cs typeface="Arial"/>
              </a:rPr>
              <a:t>Listl[:]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20038" y="1938244"/>
            <a:ext cx="1661795" cy="178498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615315" algn="just">
              <a:lnSpc>
                <a:spcPct val="123100"/>
              </a:lnSpc>
              <a:spcBef>
                <a:spcPts val="40"/>
              </a:spcBef>
            </a:pPr>
            <a:r>
              <a:rPr sz="1050" spc="15" dirty="0">
                <a:solidFill>
                  <a:srgbClr val="010101"/>
                </a:solidFill>
                <a:latin typeface="Arial"/>
                <a:cs typeface="Arial"/>
              </a:rPr>
              <a:t>List2[0] </a:t>
            </a:r>
            <a:r>
              <a:rPr sz="1050" dirty="0">
                <a:solidFill>
                  <a:srgbClr val="010101"/>
                </a:solidFill>
                <a:latin typeface="Arial"/>
                <a:cs typeface="Arial"/>
              </a:rPr>
              <a:t>= </a:t>
            </a:r>
            <a:r>
              <a:rPr sz="1050" spc="25" dirty="0">
                <a:solidFill>
                  <a:srgbClr val="010101"/>
                </a:solidFill>
                <a:latin typeface="Arial"/>
                <a:cs typeface="Arial"/>
              </a:rPr>
              <a:t>'Hello'  </a:t>
            </a:r>
            <a:r>
              <a:rPr sz="1050" spc="15" dirty="0">
                <a:solidFill>
                  <a:srgbClr val="010101"/>
                </a:solidFill>
                <a:latin typeface="Arial"/>
                <a:cs typeface="Arial"/>
              </a:rPr>
              <a:t>List3[1] </a:t>
            </a:r>
            <a:r>
              <a:rPr sz="1050" dirty="0">
                <a:solidFill>
                  <a:srgbClr val="010101"/>
                </a:solidFill>
                <a:latin typeface="Arial"/>
                <a:cs typeface="Arial"/>
              </a:rPr>
              <a:t>=</a:t>
            </a:r>
            <a:r>
              <a:rPr sz="1050" spc="-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010101"/>
                </a:solidFill>
                <a:latin typeface="Arial"/>
                <a:cs typeface="Arial"/>
              </a:rPr>
              <a:t>'World'  </a:t>
            </a:r>
            <a:r>
              <a:rPr sz="1050" spc="75" dirty="0">
                <a:solidFill>
                  <a:srgbClr val="010101"/>
                </a:solidFill>
                <a:latin typeface="Arial"/>
                <a:cs typeface="Arial"/>
              </a:rPr>
              <a:t>sum=</a:t>
            </a:r>
            <a:r>
              <a:rPr sz="1050" spc="-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70" dirty="0">
                <a:solidFill>
                  <a:srgbClr val="010101"/>
                </a:solidFill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  <a:p>
            <a:pPr marL="157480" marR="5080" indent="-145415">
              <a:lnSpc>
                <a:spcPts val="1590"/>
              </a:lnSpc>
              <a:spcBef>
                <a:spcPts val="5"/>
              </a:spcBef>
            </a:pPr>
            <a:r>
              <a:rPr sz="1050" spc="45" dirty="0">
                <a:solidFill>
                  <a:srgbClr val="010101"/>
                </a:solidFill>
                <a:latin typeface="Arial"/>
                <a:cs typeface="Arial"/>
              </a:rPr>
              <a:t>for </a:t>
            </a:r>
            <a:r>
              <a:rPr sz="1050" spc="-30" dirty="0">
                <a:solidFill>
                  <a:srgbClr val="010101"/>
                </a:solidFill>
                <a:latin typeface="Arial"/>
                <a:cs typeface="Arial"/>
              </a:rPr>
              <a:t>Is in </a:t>
            </a:r>
            <a:r>
              <a:rPr sz="1050" spc="65" dirty="0">
                <a:solidFill>
                  <a:srgbClr val="010101"/>
                </a:solidFill>
                <a:latin typeface="Arial"/>
                <a:cs typeface="Arial"/>
              </a:rPr>
              <a:t>(Listl, </a:t>
            </a:r>
            <a:r>
              <a:rPr sz="1050" spc="10" dirty="0">
                <a:solidFill>
                  <a:srgbClr val="010101"/>
                </a:solidFill>
                <a:latin typeface="Arial"/>
                <a:cs typeface="Arial"/>
              </a:rPr>
              <a:t>List2,</a:t>
            </a:r>
            <a:r>
              <a:rPr sz="1050" spc="-1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010101"/>
                </a:solidFill>
                <a:latin typeface="Arial"/>
                <a:cs typeface="Arial"/>
              </a:rPr>
              <a:t>List3):  </a:t>
            </a:r>
            <a:r>
              <a:rPr sz="1050" spc="5" dirty="0">
                <a:solidFill>
                  <a:srgbClr val="010101"/>
                </a:solidFill>
                <a:latin typeface="Arial"/>
                <a:cs typeface="Arial"/>
              </a:rPr>
              <a:t>if </a:t>
            </a:r>
            <a:r>
              <a:rPr sz="1050" spc="-15" dirty="0">
                <a:solidFill>
                  <a:srgbClr val="010101"/>
                </a:solidFill>
                <a:latin typeface="Arial"/>
                <a:cs typeface="Arial"/>
              </a:rPr>
              <a:t>ls[O] == 'Hello'</a:t>
            </a:r>
            <a:r>
              <a:rPr sz="1050" spc="8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1A1A1A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290195">
              <a:lnSpc>
                <a:spcPct val="100000"/>
              </a:lnSpc>
              <a:spcBef>
                <a:spcPts val="145"/>
              </a:spcBef>
            </a:pPr>
            <a:r>
              <a:rPr sz="1050" spc="55" dirty="0">
                <a:solidFill>
                  <a:srgbClr val="010101"/>
                </a:solidFill>
                <a:latin typeface="Arial"/>
                <a:cs typeface="Arial"/>
              </a:rPr>
              <a:t>sum+=</a:t>
            </a:r>
            <a:r>
              <a:rPr sz="1050" spc="-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010101"/>
                </a:solidFill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  <a:p>
            <a:pPr marL="290195" marR="424180" indent="-133350">
              <a:lnSpc>
                <a:spcPct val="120200"/>
              </a:lnSpc>
              <a:spcBef>
                <a:spcPts val="50"/>
              </a:spcBef>
            </a:pPr>
            <a:r>
              <a:rPr sz="1050" spc="20" dirty="0">
                <a:solidFill>
                  <a:srgbClr val="010101"/>
                </a:solidFill>
                <a:latin typeface="Arial"/>
                <a:cs typeface="Arial"/>
              </a:rPr>
              <a:t>if </a:t>
            </a:r>
            <a:r>
              <a:rPr sz="1050" spc="114" dirty="0">
                <a:solidFill>
                  <a:srgbClr val="010101"/>
                </a:solidFill>
                <a:latin typeface="Arial"/>
                <a:cs typeface="Arial"/>
              </a:rPr>
              <a:t>ls[l]</a:t>
            </a:r>
            <a:r>
              <a:rPr sz="1050" spc="-18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-15" dirty="0">
                <a:solidFill>
                  <a:srgbClr val="010101"/>
                </a:solidFill>
                <a:latin typeface="Arial"/>
                <a:cs typeface="Arial"/>
              </a:rPr>
              <a:t>== </a:t>
            </a:r>
            <a:r>
              <a:rPr sz="1050" spc="30" dirty="0">
                <a:solidFill>
                  <a:srgbClr val="010101"/>
                </a:solidFill>
                <a:latin typeface="Arial"/>
                <a:cs typeface="Arial"/>
              </a:rPr>
              <a:t>'World':  </a:t>
            </a:r>
            <a:r>
              <a:rPr sz="1050" spc="50" dirty="0">
                <a:solidFill>
                  <a:srgbClr val="010101"/>
                </a:solidFill>
                <a:latin typeface="Arial"/>
                <a:cs typeface="Arial"/>
              </a:rPr>
              <a:t>sum+=</a:t>
            </a:r>
            <a:r>
              <a:rPr sz="1050" spc="7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10101"/>
                </a:solidFill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  <a:p>
            <a:pPr marL="13970" algn="just">
              <a:lnSpc>
                <a:spcPct val="100000"/>
              </a:lnSpc>
              <a:spcBef>
                <a:spcPts val="330"/>
              </a:spcBef>
            </a:pPr>
            <a:r>
              <a:rPr sz="1050" spc="20" dirty="0">
                <a:solidFill>
                  <a:srgbClr val="010101"/>
                </a:solidFill>
                <a:latin typeface="Arial"/>
                <a:cs typeface="Arial"/>
              </a:rPr>
              <a:t>print(sum,</a:t>
            </a:r>
            <a:r>
              <a:rPr sz="1050" spc="114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5" dirty="0">
                <a:solidFill>
                  <a:srgbClr val="010101"/>
                </a:solidFill>
                <a:latin typeface="Arial"/>
                <a:cs typeface="Arial"/>
              </a:rPr>
              <a:t>List2)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610" y="989598"/>
            <a:ext cx="4861937" cy="1038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10949" y="3836223"/>
            <a:ext cx="1135367" cy="1026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08255" y="2028067"/>
            <a:ext cx="0" cy="1808480"/>
          </a:xfrm>
          <a:custGeom>
            <a:avLst/>
            <a:gdLst/>
            <a:ahLst/>
            <a:cxnLst/>
            <a:rect l="l" t="t" r="r" b="b"/>
            <a:pathLst>
              <a:path h="1808479">
                <a:moveTo>
                  <a:pt x="0" y="1808156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26925" y="1169804"/>
            <a:ext cx="0" cy="2663825"/>
          </a:xfrm>
          <a:custGeom>
            <a:avLst/>
            <a:gdLst/>
            <a:ahLst/>
            <a:cxnLst/>
            <a:rect l="l" t="t" r="r" b="b"/>
            <a:pathLst>
              <a:path h="2663825">
                <a:moveTo>
                  <a:pt x="0" y="2663365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42546" y="1065957"/>
            <a:ext cx="2396490" cy="0"/>
          </a:xfrm>
          <a:custGeom>
            <a:avLst/>
            <a:gdLst/>
            <a:ahLst/>
            <a:cxnLst/>
            <a:rect l="l" t="t" r="r" b="b"/>
            <a:pathLst>
              <a:path w="2396490">
                <a:moveTo>
                  <a:pt x="0" y="0"/>
                </a:moveTo>
                <a:lnTo>
                  <a:pt x="2395869" y="0"/>
                </a:lnTo>
              </a:path>
            </a:pathLst>
          </a:custGeom>
          <a:ln w="91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93713" y="3955342"/>
            <a:ext cx="2417445" cy="0"/>
          </a:xfrm>
          <a:custGeom>
            <a:avLst/>
            <a:gdLst/>
            <a:ahLst/>
            <a:cxnLst/>
            <a:rect l="l" t="t" r="r" b="b"/>
            <a:pathLst>
              <a:path w="2417445">
                <a:moveTo>
                  <a:pt x="0" y="0"/>
                </a:moveTo>
                <a:lnTo>
                  <a:pt x="2417233" y="0"/>
                </a:lnTo>
              </a:path>
            </a:pathLst>
          </a:custGeom>
          <a:ln w="91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8449" y="140015"/>
            <a:ext cx="12896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75" dirty="0">
                <a:solidFill>
                  <a:srgbClr val="AC7E70"/>
                </a:solidFill>
                <a:latin typeface="Times New Roman"/>
                <a:cs typeface="Times New Roman"/>
              </a:rPr>
              <a:t>jn</a:t>
            </a:r>
            <a:r>
              <a:rPr sz="2400" b="1" spc="140" dirty="0">
                <a:solidFill>
                  <a:srgbClr val="AC7E70"/>
                </a:solidFill>
                <a:latin typeface="Times New Roman"/>
                <a:cs typeface="Times New Roman"/>
              </a:rPr>
              <a:t> </a:t>
            </a:r>
            <a:r>
              <a:rPr sz="2400" b="1" spc="-190" dirty="0">
                <a:solidFill>
                  <a:srgbClr val="827EA5"/>
                </a:solidFill>
                <a:latin typeface="Times New Roman"/>
                <a:cs typeface="Times New Roman"/>
              </a:rPr>
              <a:t>telli</a:t>
            </a:r>
            <a:r>
              <a:rPr sz="2400" b="1" spc="-190" dirty="0">
                <a:solidFill>
                  <a:srgbClr val="ED8026"/>
                </a:solidFill>
                <a:latin typeface="Times New Roman"/>
                <a:cs typeface="Times New Roman"/>
              </a:rPr>
              <a:t>Paat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 idx="4294967295"/>
          </p:nvPr>
        </p:nvSpPr>
        <p:spPr>
          <a:xfrm>
            <a:off x="6997700" y="268288"/>
            <a:ext cx="2146300" cy="574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56739" algn="l"/>
              </a:tabLst>
            </a:pPr>
            <a:r>
              <a:rPr sz="3600" spc="-50" dirty="0"/>
              <a:t>Answe</a:t>
            </a:r>
            <a:r>
              <a:rPr sz="3600" spc="-30" dirty="0"/>
              <a:t>r</a:t>
            </a:r>
            <a:r>
              <a:rPr sz="3600" dirty="0"/>
              <a:t>	</a:t>
            </a:r>
            <a:r>
              <a:rPr sz="3600" spc="180" dirty="0"/>
              <a:t>3</a:t>
            </a:r>
            <a:endParaRPr sz="3600"/>
          </a:p>
        </p:txBody>
      </p:sp>
      <p:sp>
        <p:nvSpPr>
          <p:cNvPr id="10" name="object 10"/>
          <p:cNvSpPr txBox="1"/>
          <p:nvPr/>
        </p:nvSpPr>
        <p:spPr>
          <a:xfrm>
            <a:off x="616330" y="1990932"/>
            <a:ext cx="37528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229" dirty="0">
                <a:solidFill>
                  <a:srgbClr val="F2AC64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6330" y="2626229"/>
            <a:ext cx="37528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229" dirty="0">
                <a:solidFill>
                  <a:srgbClr val="E87B0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6330" y="3264582"/>
            <a:ext cx="37528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229" dirty="0">
                <a:solidFill>
                  <a:srgbClr val="E87B0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6330" y="3899880"/>
            <a:ext cx="37528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229" dirty="0">
                <a:solidFill>
                  <a:srgbClr val="E87B0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78457" y="2213943"/>
            <a:ext cx="3455670" cy="214629"/>
          </a:xfrm>
          <a:prstGeom prst="rect">
            <a:avLst/>
          </a:prstGeom>
          <a:solidFill>
            <a:srgbClr val="F2AC64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45" dirty="0">
                <a:solidFill>
                  <a:srgbClr val="F7F6F6"/>
                </a:solidFill>
                <a:latin typeface="Times New Roman"/>
                <a:cs typeface="Times New Roman"/>
              </a:rPr>
              <a:t>a)3 </a:t>
            </a:r>
            <a:r>
              <a:rPr sz="1250" spc="30" dirty="0">
                <a:solidFill>
                  <a:srgbClr val="F7F6F6"/>
                </a:solidFill>
                <a:latin typeface="Times New Roman"/>
                <a:cs typeface="Times New Roman"/>
              </a:rPr>
              <a:t>['Hello', </a:t>
            </a:r>
            <a:r>
              <a:rPr sz="1250" spc="40" dirty="0">
                <a:solidFill>
                  <a:srgbClr val="F7F6F6"/>
                </a:solidFill>
                <a:latin typeface="Times New Roman"/>
                <a:cs typeface="Times New Roman"/>
              </a:rPr>
              <a:t>'Py', </a:t>
            </a:r>
            <a:r>
              <a:rPr sz="1250" spc="55" dirty="0">
                <a:solidFill>
                  <a:srgbClr val="F7F6F6"/>
                </a:solidFill>
                <a:latin typeface="Times New Roman"/>
                <a:cs typeface="Times New Roman"/>
              </a:rPr>
              <a:t>'Pyth', </a:t>
            </a:r>
            <a:r>
              <a:rPr sz="1250" spc="70" dirty="0">
                <a:solidFill>
                  <a:srgbClr val="F7F6F6"/>
                </a:solidFill>
                <a:latin typeface="Times New Roman"/>
                <a:cs typeface="Times New Roman"/>
              </a:rPr>
              <a:t>'Python3', </a:t>
            </a:r>
            <a:r>
              <a:rPr sz="1250" spc="65" dirty="0">
                <a:solidFill>
                  <a:srgbClr val="F7F6F6"/>
                </a:solidFill>
                <a:latin typeface="Times New Roman"/>
                <a:cs typeface="Times New Roman"/>
              </a:rPr>
              <a:t>'Python',</a:t>
            </a:r>
            <a:r>
              <a:rPr sz="1250" spc="240" dirty="0">
                <a:solidFill>
                  <a:srgbClr val="F7F6F6"/>
                </a:solidFill>
                <a:latin typeface="Times New Roman"/>
                <a:cs typeface="Times New Roman"/>
              </a:rPr>
              <a:t> </a:t>
            </a:r>
            <a:r>
              <a:rPr sz="1250" spc="40" dirty="0">
                <a:solidFill>
                  <a:srgbClr val="F7F6F6"/>
                </a:solidFill>
                <a:latin typeface="Times New Roman"/>
                <a:cs typeface="Times New Roman"/>
              </a:rPr>
              <a:t>'Py',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88613" y="2406065"/>
            <a:ext cx="1243965" cy="220979"/>
          </a:xfrm>
          <a:prstGeom prst="rect">
            <a:avLst/>
          </a:prstGeom>
          <a:solidFill>
            <a:srgbClr val="F2AC64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50" spc="55" dirty="0">
                <a:solidFill>
                  <a:srgbClr val="F7F6F6"/>
                </a:solidFill>
                <a:latin typeface="Times New Roman"/>
                <a:cs typeface="Times New Roman"/>
              </a:rPr>
              <a:t>'Pyth',</a:t>
            </a:r>
            <a:r>
              <a:rPr sz="1250" spc="-10" dirty="0">
                <a:solidFill>
                  <a:srgbClr val="F7F6F6"/>
                </a:solidFill>
                <a:latin typeface="Times New Roman"/>
                <a:cs typeface="Times New Roman"/>
              </a:rPr>
              <a:t> </a:t>
            </a:r>
            <a:r>
              <a:rPr sz="1250" spc="75" dirty="0">
                <a:solidFill>
                  <a:srgbClr val="F7F6F6"/>
                </a:solidFill>
                <a:latin typeface="Times New Roman"/>
                <a:cs typeface="Times New Roman"/>
              </a:rPr>
              <a:t>'Python3']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82047" y="2950034"/>
            <a:ext cx="2425700" cy="214629"/>
          </a:xfrm>
          <a:prstGeom prst="rect">
            <a:avLst/>
          </a:prstGeom>
          <a:solidFill>
            <a:srgbClr val="E97B08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30" dirty="0">
                <a:solidFill>
                  <a:srgbClr val="F7F6F6"/>
                </a:solidFill>
                <a:latin typeface="Times New Roman"/>
                <a:cs typeface="Times New Roman"/>
              </a:rPr>
              <a:t>a)2 </a:t>
            </a:r>
            <a:r>
              <a:rPr sz="1250" spc="25" dirty="0">
                <a:solidFill>
                  <a:srgbClr val="F7F6F6"/>
                </a:solidFill>
                <a:latin typeface="Times New Roman"/>
                <a:cs typeface="Times New Roman"/>
              </a:rPr>
              <a:t>['Hello', </a:t>
            </a:r>
            <a:r>
              <a:rPr sz="1250" spc="35" dirty="0">
                <a:solidFill>
                  <a:srgbClr val="F7F6F6"/>
                </a:solidFill>
                <a:latin typeface="Times New Roman"/>
                <a:cs typeface="Times New Roman"/>
              </a:rPr>
              <a:t>'Py', </a:t>
            </a:r>
            <a:r>
              <a:rPr sz="1250" spc="55" dirty="0">
                <a:solidFill>
                  <a:srgbClr val="F7F6F6"/>
                </a:solidFill>
                <a:latin typeface="Times New Roman"/>
                <a:cs typeface="Times New Roman"/>
              </a:rPr>
              <a:t>'Pyth',</a:t>
            </a:r>
            <a:r>
              <a:rPr sz="1250" spc="5" dirty="0">
                <a:solidFill>
                  <a:srgbClr val="F7F6F6"/>
                </a:solidFill>
                <a:latin typeface="Times New Roman"/>
                <a:cs typeface="Times New Roman"/>
              </a:rPr>
              <a:t> </a:t>
            </a:r>
            <a:r>
              <a:rPr sz="1250" spc="85" dirty="0">
                <a:solidFill>
                  <a:srgbClr val="F7F6F6"/>
                </a:solidFill>
                <a:latin typeface="Times New Roman"/>
                <a:cs typeface="Times New Roman"/>
              </a:rPr>
              <a:t>'Python3'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61180" y="2943624"/>
            <a:ext cx="819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7F6F6"/>
                </a:solidFill>
                <a:latin typeface="Times New Roman"/>
                <a:cs typeface="Times New Roman"/>
              </a:rPr>
              <a:t>]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82047" y="3588386"/>
            <a:ext cx="2425700" cy="214629"/>
          </a:xfrm>
          <a:custGeom>
            <a:avLst/>
            <a:gdLst/>
            <a:ahLst/>
            <a:cxnLst/>
            <a:rect l="l" t="t" r="r" b="b"/>
            <a:pathLst>
              <a:path w="2425700" h="214629">
                <a:moveTo>
                  <a:pt x="0" y="0"/>
                </a:moveTo>
                <a:lnTo>
                  <a:pt x="2425595" y="0"/>
                </a:lnTo>
                <a:lnTo>
                  <a:pt x="2425595" y="214150"/>
                </a:lnTo>
                <a:lnTo>
                  <a:pt x="0" y="214150"/>
                </a:lnTo>
                <a:lnTo>
                  <a:pt x="0" y="0"/>
                </a:lnTo>
                <a:close/>
              </a:path>
            </a:pathLst>
          </a:custGeom>
          <a:solidFill>
            <a:srgbClr val="E97B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069348" y="3581977"/>
            <a:ext cx="247332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30" dirty="0">
                <a:solidFill>
                  <a:srgbClr val="F7F6F6"/>
                </a:solidFill>
                <a:latin typeface="Times New Roman"/>
                <a:cs typeface="Times New Roman"/>
              </a:rPr>
              <a:t>a)3 </a:t>
            </a:r>
            <a:r>
              <a:rPr sz="1250" spc="25" dirty="0">
                <a:solidFill>
                  <a:srgbClr val="F7F6F6"/>
                </a:solidFill>
                <a:latin typeface="Times New Roman"/>
                <a:cs typeface="Times New Roman"/>
              </a:rPr>
              <a:t>['Hello', </a:t>
            </a:r>
            <a:r>
              <a:rPr sz="1250" spc="40" dirty="0">
                <a:solidFill>
                  <a:srgbClr val="F7F6F6"/>
                </a:solidFill>
                <a:latin typeface="Times New Roman"/>
                <a:cs typeface="Times New Roman"/>
              </a:rPr>
              <a:t>'Py', </a:t>
            </a:r>
            <a:r>
              <a:rPr sz="1250" spc="55" dirty="0">
                <a:solidFill>
                  <a:srgbClr val="F7F6F6"/>
                </a:solidFill>
                <a:latin typeface="Times New Roman"/>
                <a:cs typeface="Times New Roman"/>
              </a:rPr>
              <a:t>'Pyth',</a:t>
            </a:r>
            <a:r>
              <a:rPr sz="1250" spc="10" dirty="0">
                <a:solidFill>
                  <a:srgbClr val="F7F6F6"/>
                </a:solidFill>
                <a:latin typeface="Times New Roman"/>
                <a:cs typeface="Times New Roman"/>
              </a:rPr>
              <a:t> </a:t>
            </a:r>
            <a:r>
              <a:rPr sz="1250" spc="75" dirty="0">
                <a:solidFill>
                  <a:srgbClr val="F7F6F6"/>
                </a:solidFill>
                <a:latin typeface="Times New Roman"/>
                <a:cs typeface="Times New Roman"/>
              </a:rPr>
              <a:t>'Python3']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30622" y="4966345"/>
            <a:ext cx="1266190" cy="1606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50" b="1" spc="25" dirty="0">
                <a:solidFill>
                  <a:srgbClr val="6E2F9E"/>
                </a:solidFill>
                <a:latin typeface="Arial"/>
                <a:cs typeface="Arial"/>
                <a:hlinkClick r:id="rId4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78457" y="4125946"/>
            <a:ext cx="3455670" cy="214629"/>
          </a:xfrm>
          <a:prstGeom prst="rect">
            <a:avLst/>
          </a:prstGeom>
          <a:solidFill>
            <a:srgbClr val="E97B08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30" dirty="0">
                <a:solidFill>
                  <a:srgbClr val="F7F6F6"/>
                </a:solidFill>
                <a:latin typeface="Times New Roman"/>
                <a:cs typeface="Times New Roman"/>
              </a:rPr>
              <a:t>a)2 ['Hello', </a:t>
            </a:r>
            <a:r>
              <a:rPr sz="1250" spc="40" dirty="0">
                <a:solidFill>
                  <a:srgbClr val="F7F6F6"/>
                </a:solidFill>
                <a:latin typeface="Times New Roman"/>
                <a:cs typeface="Times New Roman"/>
              </a:rPr>
              <a:t>'Py', </a:t>
            </a:r>
            <a:r>
              <a:rPr sz="1250" spc="55" dirty="0">
                <a:solidFill>
                  <a:srgbClr val="F7F6F6"/>
                </a:solidFill>
                <a:latin typeface="Times New Roman"/>
                <a:cs typeface="Times New Roman"/>
              </a:rPr>
              <a:t>'Pyth', </a:t>
            </a:r>
            <a:r>
              <a:rPr sz="1250" spc="70" dirty="0">
                <a:solidFill>
                  <a:srgbClr val="F7F6F6"/>
                </a:solidFill>
                <a:latin typeface="Times New Roman"/>
                <a:cs typeface="Times New Roman"/>
              </a:rPr>
              <a:t>'Python3', </a:t>
            </a:r>
            <a:r>
              <a:rPr sz="1250" spc="65" dirty="0">
                <a:solidFill>
                  <a:srgbClr val="F7F6F6"/>
                </a:solidFill>
                <a:latin typeface="Times New Roman"/>
                <a:cs typeface="Times New Roman"/>
              </a:rPr>
              <a:t>'Python',</a:t>
            </a:r>
            <a:r>
              <a:rPr sz="1250" spc="-45" dirty="0">
                <a:solidFill>
                  <a:srgbClr val="F7F6F6"/>
                </a:solidFill>
                <a:latin typeface="Times New Roman"/>
                <a:cs typeface="Times New Roman"/>
              </a:rPr>
              <a:t> </a:t>
            </a:r>
            <a:r>
              <a:rPr sz="1250" spc="40" dirty="0">
                <a:solidFill>
                  <a:srgbClr val="F7F6F6"/>
                </a:solidFill>
                <a:latin typeface="Times New Roman"/>
                <a:cs typeface="Times New Roman"/>
              </a:rPr>
              <a:t>'Py',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88613" y="4321122"/>
            <a:ext cx="1243965" cy="220979"/>
          </a:xfrm>
          <a:prstGeom prst="rect">
            <a:avLst/>
          </a:prstGeom>
          <a:solidFill>
            <a:srgbClr val="E97B08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50" spc="55" dirty="0">
                <a:solidFill>
                  <a:srgbClr val="F7F6F6"/>
                </a:solidFill>
                <a:latin typeface="Times New Roman"/>
                <a:cs typeface="Times New Roman"/>
              </a:rPr>
              <a:t>'Pyth',</a:t>
            </a:r>
            <a:r>
              <a:rPr sz="1250" spc="-10" dirty="0">
                <a:solidFill>
                  <a:srgbClr val="F7F6F6"/>
                </a:solidFill>
                <a:latin typeface="Times New Roman"/>
                <a:cs typeface="Times New Roman"/>
              </a:rPr>
              <a:t> </a:t>
            </a:r>
            <a:r>
              <a:rPr sz="1250" spc="75" dirty="0">
                <a:solidFill>
                  <a:srgbClr val="F7F6F6"/>
                </a:solidFill>
                <a:latin typeface="Times New Roman"/>
                <a:cs typeface="Times New Roman"/>
              </a:rPr>
              <a:t>'Python3']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20639" y="1134958"/>
            <a:ext cx="1751330" cy="816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indent="-3810">
              <a:lnSpc>
                <a:spcPct val="124100"/>
              </a:lnSpc>
              <a:spcBef>
                <a:spcPts val="100"/>
              </a:spcBef>
            </a:pPr>
            <a:r>
              <a:rPr sz="1050" spc="95" dirty="0">
                <a:solidFill>
                  <a:srgbClr val="010101"/>
                </a:solidFill>
                <a:latin typeface="Arial"/>
                <a:cs typeface="Arial"/>
              </a:rPr>
              <a:t>Listl </a:t>
            </a:r>
            <a:r>
              <a:rPr sz="1050" dirty="0">
                <a:solidFill>
                  <a:srgbClr val="010101"/>
                </a:solidFill>
                <a:latin typeface="Arial"/>
                <a:cs typeface="Arial"/>
              </a:rPr>
              <a:t>= </a:t>
            </a:r>
            <a:r>
              <a:rPr sz="1050" spc="20" dirty="0">
                <a:solidFill>
                  <a:srgbClr val="010101"/>
                </a:solidFill>
                <a:latin typeface="Arial"/>
                <a:cs typeface="Arial"/>
              </a:rPr>
              <a:t>['Python', </a:t>
            </a:r>
            <a:r>
              <a:rPr sz="1050" spc="5" dirty="0">
                <a:solidFill>
                  <a:srgbClr val="010101"/>
                </a:solidFill>
                <a:latin typeface="Arial"/>
                <a:cs typeface="Arial"/>
              </a:rPr>
              <a:t>'Py</a:t>
            </a:r>
            <a:r>
              <a:rPr sz="1050" spc="5" dirty="0">
                <a:solidFill>
                  <a:srgbClr val="1A1A1A"/>
                </a:solidFill>
                <a:latin typeface="Arial"/>
                <a:cs typeface="Arial"/>
              </a:rPr>
              <a:t>'</a:t>
            </a:r>
            <a:r>
              <a:rPr sz="1050" spc="5" dirty="0">
                <a:solidFill>
                  <a:srgbClr val="010101"/>
                </a:solidFill>
                <a:latin typeface="Arial"/>
                <a:cs typeface="Arial"/>
              </a:rPr>
              <a:t>,</a:t>
            </a:r>
            <a:r>
              <a:rPr sz="1050" spc="-1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010101"/>
                </a:solidFill>
                <a:latin typeface="Arial"/>
                <a:cs typeface="Arial"/>
              </a:rPr>
              <a:t>'Pyth',  </a:t>
            </a:r>
            <a:r>
              <a:rPr sz="1050" spc="10" dirty="0">
                <a:solidFill>
                  <a:srgbClr val="010101"/>
                </a:solidFill>
                <a:latin typeface="Arial"/>
                <a:cs typeface="Arial"/>
              </a:rPr>
              <a:t>'Python3']</a:t>
            </a:r>
            <a:endParaRPr sz="1050">
              <a:latin typeface="Arial"/>
              <a:cs typeface="Arial"/>
            </a:endParaRPr>
          </a:p>
          <a:p>
            <a:pPr marL="12700" marR="840105">
              <a:lnSpc>
                <a:spcPct val="118300"/>
              </a:lnSpc>
              <a:spcBef>
                <a:spcPts val="120"/>
              </a:spcBef>
            </a:pPr>
            <a:r>
              <a:rPr sz="1050" spc="10" dirty="0">
                <a:solidFill>
                  <a:srgbClr val="010101"/>
                </a:solidFill>
                <a:latin typeface="Arial"/>
                <a:cs typeface="Arial"/>
              </a:rPr>
              <a:t>List2 </a:t>
            </a:r>
            <a:r>
              <a:rPr sz="1050" dirty="0">
                <a:solidFill>
                  <a:srgbClr val="010101"/>
                </a:solidFill>
                <a:latin typeface="Arial"/>
                <a:cs typeface="Arial"/>
              </a:rPr>
              <a:t>=</a:t>
            </a:r>
            <a:r>
              <a:rPr sz="1050" spc="-1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100" dirty="0">
                <a:solidFill>
                  <a:srgbClr val="010101"/>
                </a:solidFill>
                <a:latin typeface="Arial"/>
                <a:cs typeface="Arial"/>
              </a:rPr>
              <a:t>Listl*2  </a:t>
            </a:r>
            <a:r>
              <a:rPr sz="1050" spc="5" dirty="0">
                <a:solidFill>
                  <a:srgbClr val="010101"/>
                </a:solidFill>
                <a:latin typeface="Arial"/>
                <a:cs typeface="Arial"/>
              </a:rPr>
              <a:t>List3 </a:t>
            </a:r>
            <a:r>
              <a:rPr sz="1050" dirty="0">
                <a:solidFill>
                  <a:srgbClr val="010101"/>
                </a:solidFill>
                <a:latin typeface="Arial"/>
                <a:cs typeface="Arial"/>
              </a:rPr>
              <a:t>=</a:t>
            </a:r>
            <a:r>
              <a:rPr sz="1050" spc="-1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010101"/>
                </a:solidFill>
                <a:latin typeface="Arial"/>
                <a:cs typeface="Arial"/>
              </a:rPr>
              <a:t>Listl[:]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20038" y="1938244"/>
            <a:ext cx="1661795" cy="178498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615315" algn="just">
              <a:lnSpc>
                <a:spcPct val="123100"/>
              </a:lnSpc>
              <a:spcBef>
                <a:spcPts val="40"/>
              </a:spcBef>
            </a:pPr>
            <a:r>
              <a:rPr sz="1050" spc="15" dirty="0">
                <a:solidFill>
                  <a:srgbClr val="010101"/>
                </a:solidFill>
                <a:latin typeface="Arial"/>
                <a:cs typeface="Arial"/>
              </a:rPr>
              <a:t>List2[0] </a:t>
            </a:r>
            <a:r>
              <a:rPr sz="1050" dirty="0">
                <a:solidFill>
                  <a:srgbClr val="010101"/>
                </a:solidFill>
                <a:latin typeface="Arial"/>
                <a:cs typeface="Arial"/>
              </a:rPr>
              <a:t>= </a:t>
            </a:r>
            <a:r>
              <a:rPr sz="1050" spc="25" dirty="0">
                <a:solidFill>
                  <a:srgbClr val="010101"/>
                </a:solidFill>
                <a:latin typeface="Arial"/>
                <a:cs typeface="Arial"/>
              </a:rPr>
              <a:t>'Hello'  </a:t>
            </a:r>
            <a:r>
              <a:rPr sz="1050" spc="15" dirty="0">
                <a:solidFill>
                  <a:srgbClr val="010101"/>
                </a:solidFill>
                <a:latin typeface="Arial"/>
                <a:cs typeface="Arial"/>
              </a:rPr>
              <a:t>List3[1] </a:t>
            </a:r>
            <a:r>
              <a:rPr sz="1050" dirty="0">
                <a:solidFill>
                  <a:srgbClr val="010101"/>
                </a:solidFill>
                <a:latin typeface="Arial"/>
                <a:cs typeface="Arial"/>
              </a:rPr>
              <a:t>=</a:t>
            </a:r>
            <a:r>
              <a:rPr sz="1050" spc="-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010101"/>
                </a:solidFill>
                <a:latin typeface="Arial"/>
                <a:cs typeface="Arial"/>
              </a:rPr>
              <a:t>'World'  </a:t>
            </a:r>
            <a:r>
              <a:rPr sz="1050" spc="75" dirty="0">
                <a:solidFill>
                  <a:srgbClr val="010101"/>
                </a:solidFill>
                <a:latin typeface="Arial"/>
                <a:cs typeface="Arial"/>
              </a:rPr>
              <a:t>sum=</a:t>
            </a:r>
            <a:r>
              <a:rPr sz="1050" spc="-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70" dirty="0">
                <a:solidFill>
                  <a:srgbClr val="010101"/>
                </a:solidFill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  <a:p>
            <a:pPr marL="157480" marR="5080" indent="-145415">
              <a:lnSpc>
                <a:spcPts val="1590"/>
              </a:lnSpc>
              <a:spcBef>
                <a:spcPts val="5"/>
              </a:spcBef>
            </a:pPr>
            <a:r>
              <a:rPr sz="1050" spc="45" dirty="0">
                <a:solidFill>
                  <a:srgbClr val="010101"/>
                </a:solidFill>
                <a:latin typeface="Arial"/>
                <a:cs typeface="Arial"/>
              </a:rPr>
              <a:t>for </a:t>
            </a:r>
            <a:r>
              <a:rPr sz="1050" spc="-30" dirty="0">
                <a:solidFill>
                  <a:srgbClr val="010101"/>
                </a:solidFill>
                <a:latin typeface="Arial"/>
                <a:cs typeface="Arial"/>
              </a:rPr>
              <a:t>Is in </a:t>
            </a:r>
            <a:r>
              <a:rPr sz="1050" spc="65" dirty="0">
                <a:solidFill>
                  <a:srgbClr val="010101"/>
                </a:solidFill>
                <a:latin typeface="Arial"/>
                <a:cs typeface="Arial"/>
              </a:rPr>
              <a:t>(Listl, </a:t>
            </a:r>
            <a:r>
              <a:rPr sz="1050" spc="10" dirty="0">
                <a:solidFill>
                  <a:srgbClr val="010101"/>
                </a:solidFill>
                <a:latin typeface="Arial"/>
                <a:cs typeface="Arial"/>
              </a:rPr>
              <a:t>List2,</a:t>
            </a:r>
            <a:r>
              <a:rPr sz="1050" spc="-1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010101"/>
                </a:solidFill>
                <a:latin typeface="Arial"/>
                <a:cs typeface="Arial"/>
              </a:rPr>
              <a:t>List3):  </a:t>
            </a:r>
            <a:r>
              <a:rPr sz="1050" spc="5" dirty="0">
                <a:solidFill>
                  <a:srgbClr val="010101"/>
                </a:solidFill>
                <a:latin typeface="Arial"/>
                <a:cs typeface="Arial"/>
              </a:rPr>
              <a:t>if </a:t>
            </a:r>
            <a:r>
              <a:rPr sz="1050" spc="-15" dirty="0">
                <a:solidFill>
                  <a:srgbClr val="010101"/>
                </a:solidFill>
                <a:latin typeface="Arial"/>
                <a:cs typeface="Arial"/>
              </a:rPr>
              <a:t>ls[O] == 'Hello'</a:t>
            </a:r>
            <a:r>
              <a:rPr sz="1050" spc="8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15" dirty="0">
                <a:solidFill>
                  <a:srgbClr val="1A1A1A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290195">
              <a:lnSpc>
                <a:spcPct val="100000"/>
              </a:lnSpc>
              <a:spcBef>
                <a:spcPts val="145"/>
              </a:spcBef>
            </a:pPr>
            <a:r>
              <a:rPr sz="1050" spc="55" dirty="0">
                <a:solidFill>
                  <a:srgbClr val="010101"/>
                </a:solidFill>
                <a:latin typeface="Arial"/>
                <a:cs typeface="Arial"/>
              </a:rPr>
              <a:t>sum+=</a:t>
            </a:r>
            <a:r>
              <a:rPr sz="1050" spc="-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010101"/>
                </a:solidFill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  <a:p>
            <a:pPr marL="290195" marR="424180" indent="-133350">
              <a:lnSpc>
                <a:spcPct val="120200"/>
              </a:lnSpc>
              <a:spcBef>
                <a:spcPts val="50"/>
              </a:spcBef>
            </a:pPr>
            <a:r>
              <a:rPr sz="1050" spc="20" dirty="0">
                <a:solidFill>
                  <a:srgbClr val="010101"/>
                </a:solidFill>
                <a:latin typeface="Arial"/>
                <a:cs typeface="Arial"/>
              </a:rPr>
              <a:t>if </a:t>
            </a:r>
            <a:r>
              <a:rPr sz="1050" spc="114" dirty="0">
                <a:solidFill>
                  <a:srgbClr val="010101"/>
                </a:solidFill>
                <a:latin typeface="Arial"/>
                <a:cs typeface="Arial"/>
              </a:rPr>
              <a:t>ls[l]</a:t>
            </a:r>
            <a:r>
              <a:rPr sz="1050" spc="-18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-15" dirty="0">
                <a:solidFill>
                  <a:srgbClr val="010101"/>
                </a:solidFill>
                <a:latin typeface="Arial"/>
                <a:cs typeface="Arial"/>
              </a:rPr>
              <a:t>== </a:t>
            </a:r>
            <a:r>
              <a:rPr sz="1050" spc="30" dirty="0">
                <a:solidFill>
                  <a:srgbClr val="010101"/>
                </a:solidFill>
                <a:latin typeface="Arial"/>
                <a:cs typeface="Arial"/>
              </a:rPr>
              <a:t>'World':  </a:t>
            </a:r>
            <a:r>
              <a:rPr sz="1050" spc="50" dirty="0">
                <a:solidFill>
                  <a:srgbClr val="010101"/>
                </a:solidFill>
                <a:latin typeface="Arial"/>
                <a:cs typeface="Arial"/>
              </a:rPr>
              <a:t>sum+=</a:t>
            </a:r>
            <a:r>
              <a:rPr sz="1050" spc="7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10101"/>
                </a:solidFill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  <a:p>
            <a:pPr marL="13970" algn="just">
              <a:lnSpc>
                <a:spcPct val="100000"/>
              </a:lnSpc>
              <a:spcBef>
                <a:spcPts val="330"/>
              </a:spcBef>
            </a:pPr>
            <a:r>
              <a:rPr sz="1050" spc="20" dirty="0">
                <a:solidFill>
                  <a:srgbClr val="010101"/>
                </a:solidFill>
                <a:latin typeface="Arial"/>
                <a:cs typeface="Arial"/>
              </a:rPr>
              <a:t>print(sum,</a:t>
            </a:r>
            <a:r>
              <a:rPr sz="1050" spc="114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050" spc="5" dirty="0">
                <a:solidFill>
                  <a:srgbClr val="010101"/>
                </a:solidFill>
                <a:latin typeface="Arial"/>
                <a:cs typeface="Arial"/>
              </a:rPr>
              <a:t>List2)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5042" y="3885092"/>
            <a:ext cx="1071274" cy="977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411307" y="2028067"/>
            <a:ext cx="0" cy="574675"/>
          </a:xfrm>
          <a:custGeom>
            <a:avLst/>
            <a:gdLst/>
            <a:ahLst/>
            <a:cxnLst/>
            <a:rect l="l" t="t" r="r" b="b"/>
            <a:pathLst>
              <a:path h="574675">
                <a:moveTo>
                  <a:pt x="0" y="574211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026925" y="1090391"/>
            <a:ext cx="0" cy="1533525"/>
          </a:xfrm>
          <a:custGeom>
            <a:avLst/>
            <a:gdLst/>
            <a:ahLst/>
            <a:cxnLst/>
            <a:rect l="l" t="t" r="r" b="b"/>
            <a:pathLst>
              <a:path h="1533525">
                <a:moveTo>
                  <a:pt x="0" y="1533267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81504" y="1069011"/>
            <a:ext cx="2527300" cy="0"/>
          </a:xfrm>
          <a:custGeom>
            <a:avLst/>
            <a:gdLst/>
            <a:ahLst/>
            <a:cxnLst/>
            <a:rect l="l" t="t" r="r" b="b"/>
            <a:pathLst>
              <a:path w="2527300">
                <a:moveTo>
                  <a:pt x="0" y="0"/>
                </a:moveTo>
                <a:lnTo>
                  <a:pt x="2527108" y="0"/>
                </a:lnTo>
              </a:path>
            </a:pathLst>
          </a:custGeom>
          <a:ln w="91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47932" y="2654202"/>
            <a:ext cx="2536825" cy="0"/>
          </a:xfrm>
          <a:custGeom>
            <a:avLst/>
            <a:gdLst/>
            <a:ahLst/>
            <a:cxnLst/>
            <a:rect l="l" t="t" r="r" b="b"/>
            <a:pathLst>
              <a:path w="2536825">
                <a:moveTo>
                  <a:pt x="0" y="0"/>
                </a:moveTo>
                <a:lnTo>
                  <a:pt x="2536264" y="0"/>
                </a:lnTo>
              </a:path>
            </a:pathLst>
          </a:custGeom>
          <a:ln w="91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8449" y="140015"/>
            <a:ext cx="12896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75" dirty="0">
                <a:solidFill>
                  <a:srgbClr val="AC7E70"/>
                </a:solidFill>
                <a:latin typeface="Times New Roman"/>
                <a:cs typeface="Times New Roman"/>
              </a:rPr>
              <a:t>jn</a:t>
            </a:r>
            <a:r>
              <a:rPr sz="2400" b="1" spc="140" dirty="0">
                <a:solidFill>
                  <a:srgbClr val="AC7E70"/>
                </a:solidFill>
                <a:latin typeface="Times New Roman"/>
                <a:cs typeface="Times New Roman"/>
              </a:rPr>
              <a:t> </a:t>
            </a:r>
            <a:r>
              <a:rPr sz="2400" b="1" spc="-190" dirty="0">
                <a:solidFill>
                  <a:srgbClr val="827EA5"/>
                </a:solidFill>
                <a:latin typeface="Times New Roman"/>
                <a:cs typeface="Times New Roman"/>
              </a:rPr>
              <a:t>telli</a:t>
            </a:r>
            <a:r>
              <a:rPr sz="2400" b="1" spc="-190" dirty="0">
                <a:solidFill>
                  <a:srgbClr val="ED8026"/>
                </a:solidFill>
                <a:latin typeface="Times New Roman"/>
                <a:cs typeface="Times New Roman"/>
              </a:rPr>
              <a:t>Paat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0" y="185738"/>
            <a:ext cx="8362950" cy="688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784340">
              <a:lnSpc>
                <a:spcPct val="100000"/>
              </a:lnSpc>
              <a:spcBef>
                <a:spcPts val="105"/>
              </a:spcBef>
            </a:pPr>
            <a:r>
              <a:rPr spc="55" dirty="0"/>
              <a:t>Quiz</a:t>
            </a:r>
            <a:r>
              <a:rPr spc="310" dirty="0"/>
              <a:t> </a:t>
            </a:r>
            <a:r>
              <a:rPr spc="140" dirty="0"/>
              <a:t>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02399" y="1132714"/>
            <a:ext cx="1405890" cy="217170"/>
          </a:xfrm>
          <a:prstGeom prst="rect">
            <a:avLst/>
          </a:prstGeom>
          <a:solidFill>
            <a:srgbClr val="1A547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dirty="0">
                <a:solidFill>
                  <a:srgbClr val="F7F7F7"/>
                </a:solidFill>
                <a:latin typeface="Arial"/>
                <a:cs typeface="Arial"/>
              </a:rPr>
              <a:t>1.We have two</a:t>
            </a:r>
            <a:r>
              <a:rPr sz="1250" spc="7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1250" spc="-5" dirty="0">
                <a:solidFill>
                  <a:srgbClr val="F7F7F7"/>
                </a:solidFill>
                <a:latin typeface="Arial"/>
                <a:cs typeface="Arial"/>
              </a:rPr>
              <a:t>lists</a:t>
            </a:r>
            <a:endParaRPr sz="12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81587" y="1407603"/>
            <a:ext cx="667385" cy="217170"/>
          </a:xfrm>
          <a:prstGeom prst="rect">
            <a:avLst/>
          </a:prstGeom>
          <a:solidFill>
            <a:srgbClr val="1A547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25" dirty="0">
                <a:solidFill>
                  <a:srgbClr val="F7F7F7"/>
                </a:solidFill>
                <a:latin typeface="Arial"/>
                <a:cs typeface="Arial"/>
              </a:rPr>
              <a:t>a=['a','b']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1587" y="1673328"/>
            <a:ext cx="667385" cy="217170"/>
          </a:xfrm>
          <a:prstGeom prst="rect">
            <a:avLst/>
          </a:prstGeom>
          <a:solidFill>
            <a:srgbClr val="1A547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45" dirty="0">
                <a:solidFill>
                  <a:srgbClr val="F7F7F7"/>
                </a:solidFill>
                <a:latin typeface="Arial"/>
                <a:cs typeface="Arial"/>
              </a:rPr>
              <a:t>b=['r','n']</a:t>
            </a:r>
            <a:endParaRPr sz="12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6330" y="1990932"/>
            <a:ext cx="38798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330" dirty="0">
                <a:solidFill>
                  <a:srgbClr val="1A5477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6330" y="2626229"/>
            <a:ext cx="38798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330" dirty="0">
                <a:solidFill>
                  <a:srgbClr val="1A5477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6330" y="3264582"/>
            <a:ext cx="38798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330" dirty="0">
                <a:solidFill>
                  <a:srgbClr val="1A5477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17435" y="2314735"/>
            <a:ext cx="962025" cy="217170"/>
          </a:xfrm>
          <a:prstGeom prst="rect">
            <a:avLst/>
          </a:prstGeom>
          <a:solidFill>
            <a:srgbClr val="1A547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dirty="0">
                <a:solidFill>
                  <a:srgbClr val="F7F7F7"/>
                </a:solidFill>
                <a:latin typeface="Arial"/>
                <a:cs typeface="Arial"/>
              </a:rPr>
              <a:t>a}a.extend(b}</a:t>
            </a:r>
            <a:endParaRPr sz="12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40072" y="1135723"/>
            <a:ext cx="2369185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95"/>
              </a:spcBef>
            </a:pPr>
            <a:r>
              <a:rPr sz="1200" spc="-20" dirty="0">
                <a:latin typeface="Arial"/>
                <a:cs typeface="Arial"/>
              </a:rPr>
              <a:t>We </a:t>
            </a:r>
            <a:r>
              <a:rPr sz="1200" spc="35" dirty="0">
                <a:latin typeface="Arial"/>
                <a:cs typeface="Arial"/>
              </a:rPr>
              <a:t>want </a:t>
            </a:r>
            <a:r>
              <a:rPr sz="1200" spc="25" dirty="0">
                <a:latin typeface="Arial"/>
                <a:cs typeface="Arial"/>
              </a:rPr>
              <a:t>to </a:t>
            </a:r>
            <a:r>
              <a:rPr sz="1200" spc="-5" dirty="0">
                <a:latin typeface="Arial"/>
                <a:cs typeface="Arial"/>
              </a:rPr>
              <a:t>achieve </a:t>
            </a:r>
            <a:r>
              <a:rPr sz="1200" spc="40" dirty="0">
                <a:latin typeface="Arial"/>
                <a:cs typeface="Arial"/>
              </a:rPr>
              <a:t>the </a:t>
            </a:r>
            <a:r>
              <a:rPr sz="1200" spc="45" dirty="0">
                <a:latin typeface="Arial"/>
                <a:cs typeface="Arial"/>
              </a:rPr>
              <a:t>following  </a:t>
            </a:r>
            <a:r>
              <a:rPr sz="1200" spc="40" dirty="0">
                <a:latin typeface="Arial"/>
                <a:cs typeface="Arial"/>
              </a:rPr>
              <a:t>output</a:t>
            </a:r>
            <a:endParaRPr sz="12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25"/>
              </a:spcBef>
            </a:pPr>
            <a:r>
              <a:rPr sz="1200" spc="70" dirty="0">
                <a:latin typeface="Times New Roman"/>
                <a:cs typeface="Times New Roman"/>
              </a:rPr>
              <a:t>['a', </a:t>
            </a:r>
            <a:r>
              <a:rPr sz="1250" spc="30" dirty="0">
                <a:latin typeface="Times New Roman"/>
                <a:cs typeface="Times New Roman"/>
              </a:rPr>
              <a:t>'b', </a:t>
            </a:r>
            <a:r>
              <a:rPr sz="1200" spc="50" dirty="0">
                <a:latin typeface="Times New Roman"/>
                <a:cs typeface="Times New Roman"/>
              </a:rPr>
              <a:t>['r',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Arial"/>
                <a:cs typeface="Arial"/>
              </a:rPr>
              <a:t>'n']]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789967" y="2953088"/>
            <a:ext cx="1016635" cy="217170"/>
          </a:xfrm>
          <a:custGeom>
            <a:avLst/>
            <a:gdLst/>
            <a:ahLst/>
            <a:cxnLst/>
            <a:rect l="l" t="t" r="r" b="b"/>
            <a:pathLst>
              <a:path w="1016635" h="217169">
                <a:moveTo>
                  <a:pt x="0" y="0"/>
                </a:moveTo>
                <a:lnTo>
                  <a:pt x="1016336" y="0"/>
                </a:lnTo>
                <a:lnTo>
                  <a:pt x="1016336" y="217024"/>
                </a:lnTo>
                <a:lnTo>
                  <a:pt x="0" y="217024"/>
                </a:lnTo>
                <a:lnTo>
                  <a:pt x="0" y="0"/>
                </a:lnTo>
                <a:close/>
              </a:path>
            </a:pathLst>
          </a:custGeom>
          <a:solidFill>
            <a:srgbClr val="1A54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777267" y="2946679"/>
            <a:ext cx="10344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7F7F7"/>
                </a:solidFill>
                <a:latin typeface="Arial"/>
                <a:cs typeface="Arial"/>
              </a:rPr>
              <a:t>a}a.append(b}</a:t>
            </a:r>
            <a:endParaRPr sz="12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80810" y="3591440"/>
            <a:ext cx="1050925" cy="217170"/>
          </a:xfrm>
          <a:prstGeom prst="rect">
            <a:avLst/>
          </a:prstGeom>
          <a:solidFill>
            <a:srgbClr val="1A547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50" dirty="0">
                <a:solidFill>
                  <a:srgbClr val="F7F7F7"/>
                </a:solidFill>
                <a:latin typeface="Arial"/>
                <a:cs typeface="Arial"/>
              </a:rPr>
              <a:t>a}a.insert</a:t>
            </a:r>
            <a:r>
              <a:rPr sz="1250" spc="45" dirty="0">
                <a:solidFill>
                  <a:srgbClr val="F7F7F7"/>
                </a:solidFill>
                <a:latin typeface="Arial"/>
                <a:cs typeface="Arial"/>
              </a:rPr>
              <a:t>(</a:t>
            </a:r>
            <a:r>
              <a:rPr sz="1250" spc="40" dirty="0">
                <a:solidFill>
                  <a:srgbClr val="F7F7F7"/>
                </a:solidFill>
                <a:latin typeface="Arial"/>
                <a:cs typeface="Arial"/>
              </a:rPr>
              <a:t>l,b}</a:t>
            </a:r>
            <a:endParaRPr sz="12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37184" y="4226739"/>
            <a:ext cx="521970" cy="217170"/>
          </a:xfrm>
          <a:custGeom>
            <a:avLst/>
            <a:gdLst/>
            <a:ahLst/>
            <a:cxnLst/>
            <a:rect l="l" t="t" r="r" b="b"/>
            <a:pathLst>
              <a:path w="521970" h="217170">
                <a:moveTo>
                  <a:pt x="0" y="0"/>
                </a:moveTo>
                <a:lnTo>
                  <a:pt x="521902" y="0"/>
                </a:lnTo>
                <a:lnTo>
                  <a:pt x="521902" y="217024"/>
                </a:lnTo>
                <a:lnTo>
                  <a:pt x="0" y="217024"/>
                </a:lnTo>
                <a:lnTo>
                  <a:pt x="0" y="0"/>
                </a:lnTo>
                <a:close/>
              </a:path>
            </a:pathLst>
          </a:custGeom>
          <a:solidFill>
            <a:srgbClr val="1A54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538393" y="1945116"/>
            <a:ext cx="2328545" cy="447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15199"/>
              </a:lnSpc>
              <a:spcBef>
                <a:spcPts val="100"/>
              </a:spcBef>
            </a:pPr>
            <a:r>
              <a:rPr sz="1200" spc="15" dirty="0">
                <a:latin typeface="Arial"/>
                <a:cs typeface="Arial"/>
              </a:rPr>
              <a:t>Which </a:t>
            </a:r>
            <a:r>
              <a:rPr sz="1200" spc="10" dirty="0">
                <a:latin typeface="Arial"/>
                <a:cs typeface="Arial"/>
              </a:rPr>
              <a:t>of </a:t>
            </a:r>
            <a:r>
              <a:rPr sz="1200" spc="30" dirty="0">
                <a:latin typeface="Arial"/>
                <a:cs typeface="Arial"/>
              </a:rPr>
              <a:t>the </a:t>
            </a:r>
            <a:r>
              <a:rPr sz="1200" spc="45" dirty="0">
                <a:latin typeface="Arial"/>
                <a:cs typeface="Arial"/>
              </a:rPr>
              <a:t>following </a:t>
            </a:r>
            <a:r>
              <a:rPr sz="1200" spc="5" dirty="0">
                <a:latin typeface="Arial"/>
                <a:cs typeface="Arial"/>
              </a:rPr>
              <a:t>should </a:t>
            </a:r>
            <a:r>
              <a:rPr sz="1200" spc="-20" dirty="0">
                <a:latin typeface="Arial"/>
                <a:cs typeface="Arial"/>
              </a:rPr>
              <a:t>be  </a:t>
            </a:r>
            <a:r>
              <a:rPr sz="1200" spc="-35" dirty="0">
                <a:latin typeface="Arial"/>
                <a:cs typeface="Arial"/>
              </a:rPr>
              <a:t>used?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6330" y="3986678"/>
            <a:ext cx="387985" cy="1049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70"/>
              </a:lnSpc>
            </a:pPr>
            <a:r>
              <a:rPr sz="7200" spc="330" dirty="0">
                <a:solidFill>
                  <a:srgbClr val="1A5477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24484" y="4235398"/>
            <a:ext cx="55245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85"/>
              </a:lnSpc>
            </a:pPr>
            <a:r>
              <a:rPr sz="1250" dirty="0">
                <a:solidFill>
                  <a:srgbClr val="F7F7F7"/>
                </a:solidFill>
                <a:latin typeface="Arial"/>
                <a:cs typeface="Arial"/>
              </a:rPr>
              <a:t>a}None</a:t>
            </a:r>
            <a:endParaRPr sz="12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30622" y="4966345"/>
            <a:ext cx="1266190" cy="1606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50" b="1" spc="25" dirty="0">
                <a:solidFill>
                  <a:srgbClr val="6E2F9E"/>
                </a:solidFill>
                <a:latin typeface="Arial"/>
                <a:cs typeface="Arial"/>
                <a:hlinkClick r:id="rId3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5042" y="3885092"/>
            <a:ext cx="1071274" cy="977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411307" y="2028067"/>
            <a:ext cx="0" cy="574675"/>
          </a:xfrm>
          <a:custGeom>
            <a:avLst/>
            <a:gdLst/>
            <a:ahLst/>
            <a:cxnLst/>
            <a:rect l="l" t="t" r="r" b="b"/>
            <a:pathLst>
              <a:path h="574675">
                <a:moveTo>
                  <a:pt x="0" y="574211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026925" y="1090391"/>
            <a:ext cx="0" cy="1533525"/>
          </a:xfrm>
          <a:custGeom>
            <a:avLst/>
            <a:gdLst/>
            <a:ahLst/>
            <a:cxnLst/>
            <a:rect l="l" t="t" r="r" b="b"/>
            <a:pathLst>
              <a:path h="1533525">
                <a:moveTo>
                  <a:pt x="0" y="1533267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81504" y="1069011"/>
            <a:ext cx="2527300" cy="0"/>
          </a:xfrm>
          <a:custGeom>
            <a:avLst/>
            <a:gdLst/>
            <a:ahLst/>
            <a:cxnLst/>
            <a:rect l="l" t="t" r="r" b="b"/>
            <a:pathLst>
              <a:path w="2527300">
                <a:moveTo>
                  <a:pt x="0" y="0"/>
                </a:moveTo>
                <a:lnTo>
                  <a:pt x="2527108" y="0"/>
                </a:lnTo>
              </a:path>
            </a:pathLst>
          </a:custGeom>
          <a:ln w="91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47932" y="2654202"/>
            <a:ext cx="2536825" cy="0"/>
          </a:xfrm>
          <a:custGeom>
            <a:avLst/>
            <a:gdLst/>
            <a:ahLst/>
            <a:cxnLst/>
            <a:rect l="l" t="t" r="r" b="b"/>
            <a:pathLst>
              <a:path w="2536825">
                <a:moveTo>
                  <a:pt x="0" y="0"/>
                </a:moveTo>
                <a:lnTo>
                  <a:pt x="2536264" y="0"/>
                </a:lnTo>
              </a:path>
            </a:pathLst>
          </a:custGeom>
          <a:ln w="91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8449" y="140015"/>
            <a:ext cx="12896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75" dirty="0">
                <a:solidFill>
                  <a:srgbClr val="AC7E70"/>
                </a:solidFill>
                <a:latin typeface="Times New Roman"/>
                <a:cs typeface="Times New Roman"/>
              </a:rPr>
              <a:t>jn</a:t>
            </a:r>
            <a:r>
              <a:rPr sz="2400" b="1" spc="140" dirty="0">
                <a:solidFill>
                  <a:srgbClr val="AC7E70"/>
                </a:solidFill>
                <a:latin typeface="Times New Roman"/>
                <a:cs typeface="Times New Roman"/>
              </a:rPr>
              <a:t> </a:t>
            </a:r>
            <a:r>
              <a:rPr sz="2400" b="1" spc="-190" dirty="0">
                <a:solidFill>
                  <a:srgbClr val="827EA5"/>
                </a:solidFill>
                <a:latin typeface="Times New Roman"/>
                <a:cs typeface="Times New Roman"/>
              </a:rPr>
              <a:t>telli</a:t>
            </a:r>
            <a:r>
              <a:rPr sz="2400" b="1" spc="-190" dirty="0">
                <a:solidFill>
                  <a:srgbClr val="ED8026"/>
                </a:solidFill>
                <a:latin typeface="Times New Roman"/>
                <a:cs typeface="Times New Roman"/>
              </a:rPr>
              <a:t>Paat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0" y="185738"/>
            <a:ext cx="8362950" cy="688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784340">
              <a:lnSpc>
                <a:spcPct val="100000"/>
              </a:lnSpc>
              <a:spcBef>
                <a:spcPts val="105"/>
              </a:spcBef>
            </a:pPr>
            <a:r>
              <a:rPr spc="55" dirty="0"/>
              <a:t>Quiz</a:t>
            </a:r>
            <a:r>
              <a:rPr spc="310" dirty="0"/>
              <a:t> </a:t>
            </a:r>
            <a:r>
              <a:rPr spc="140" dirty="0"/>
              <a:t>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02399" y="1132714"/>
            <a:ext cx="1405890" cy="217170"/>
          </a:xfrm>
          <a:prstGeom prst="rect">
            <a:avLst/>
          </a:prstGeom>
          <a:solidFill>
            <a:srgbClr val="1A547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dirty="0">
                <a:solidFill>
                  <a:srgbClr val="F7F7F7"/>
                </a:solidFill>
                <a:latin typeface="Arial"/>
                <a:cs typeface="Arial"/>
              </a:rPr>
              <a:t>1.We have two</a:t>
            </a:r>
            <a:r>
              <a:rPr sz="1250" spc="75" dirty="0">
                <a:solidFill>
                  <a:srgbClr val="F7F7F7"/>
                </a:solidFill>
                <a:latin typeface="Arial"/>
                <a:cs typeface="Arial"/>
              </a:rPr>
              <a:t> </a:t>
            </a:r>
            <a:r>
              <a:rPr sz="1250" spc="-5" dirty="0">
                <a:solidFill>
                  <a:srgbClr val="F7F7F7"/>
                </a:solidFill>
                <a:latin typeface="Arial"/>
                <a:cs typeface="Arial"/>
              </a:rPr>
              <a:t>lists</a:t>
            </a:r>
            <a:endParaRPr sz="12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81587" y="1407603"/>
            <a:ext cx="667385" cy="217170"/>
          </a:xfrm>
          <a:prstGeom prst="rect">
            <a:avLst/>
          </a:prstGeom>
          <a:solidFill>
            <a:srgbClr val="1A547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25" dirty="0">
                <a:solidFill>
                  <a:srgbClr val="F7F7F7"/>
                </a:solidFill>
                <a:latin typeface="Arial"/>
                <a:cs typeface="Arial"/>
              </a:rPr>
              <a:t>a=['a','b']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1587" y="1673328"/>
            <a:ext cx="667385" cy="217170"/>
          </a:xfrm>
          <a:prstGeom prst="rect">
            <a:avLst/>
          </a:prstGeom>
          <a:solidFill>
            <a:srgbClr val="1A547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45" dirty="0">
                <a:solidFill>
                  <a:srgbClr val="F7F7F7"/>
                </a:solidFill>
                <a:latin typeface="Arial"/>
                <a:cs typeface="Arial"/>
              </a:rPr>
              <a:t>b=['r','n']</a:t>
            </a:r>
            <a:endParaRPr sz="12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6330" y="1990932"/>
            <a:ext cx="38798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330" dirty="0">
                <a:solidFill>
                  <a:srgbClr val="1A5477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6330" y="2626229"/>
            <a:ext cx="38798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330" dirty="0">
                <a:solidFill>
                  <a:srgbClr val="4B9ED1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6330" y="3264582"/>
            <a:ext cx="38798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330" dirty="0">
                <a:solidFill>
                  <a:srgbClr val="1A5477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17435" y="2314735"/>
            <a:ext cx="962025" cy="217170"/>
          </a:xfrm>
          <a:prstGeom prst="rect">
            <a:avLst/>
          </a:prstGeom>
          <a:solidFill>
            <a:srgbClr val="1A547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dirty="0">
                <a:solidFill>
                  <a:srgbClr val="F7F7F7"/>
                </a:solidFill>
                <a:latin typeface="Arial"/>
                <a:cs typeface="Arial"/>
              </a:rPr>
              <a:t>a}a.extend(b}</a:t>
            </a:r>
            <a:endParaRPr sz="12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40072" y="1135723"/>
            <a:ext cx="2369185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95"/>
              </a:spcBef>
            </a:pPr>
            <a:r>
              <a:rPr sz="1200" spc="-20" dirty="0">
                <a:latin typeface="Arial"/>
                <a:cs typeface="Arial"/>
              </a:rPr>
              <a:t>We </a:t>
            </a:r>
            <a:r>
              <a:rPr sz="1200" spc="35" dirty="0">
                <a:latin typeface="Arial"/>
                <a:cs typeface="Arial"/>
              </a:rPr>
              <a:t>want </a:t>
            </a:r>
            <a:r>
              <a:rPr sz="1200" spc="25" dirty="0">
                <a:latin typeface="Arial"/>
                <a:cs typeface="Arial"/>
              </a:rPr>
              <a:t>to </a:t>
            </a:r>
            <a:r>
              <a:rPr sz="1200" spc="-5" dirty="0">
                <a:latin typeface="Arial"/>
                <a:cs typeface="Arial"/>
              </a:rPr>
              <a:t>achieve </a:t>
            </a:r>
            <a:r>
              <a:rPr sz="1200" spc="40" dirty="0">
                <a:latin typeface="Arial"/>
                <a:cs typeface="Arial"/>
              </a:rPr>
              <a:t>the </a:t>
            </a:r>
            <a:r>
              <a:rPr sz="1200" spc="45" dirty="0">
                <a:latin typeface="Arial"/>
                <a:cs typeface="Arial"/>
              </a:rPr>
              <a:t>following  </a:t>
            </a:r>
            <a:r>
              <a:rPr sz="1200" spc="40" dirty="0">
                <a:latin typeface="Arial"/>
                <a:cs typeface="Arial"/>
              </a:rPr>
              <a:t>output</a:t>
            </a:r>
            <a:endParaRPr sz="12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25"/>
              </a:spcBef>
            </a:pPr>
            <a:r>
              <a:rPr sz="1200" spc="70" dirty="0">
                <a:latin typeface="Times New Roman"/>
                <a:cs typeface="Times New Roman"/>
              </a:rPr>
              <a:t>['a', </a:t>
            </a:r>
            <a:r>
              <a:rPr sz="1250" spc="30" dirty="0">
                <a:latin typeface="Times New Roman"/>
                <a:cs typeface="Times New Roman"/>
              </a:rPr>
              <a:t>'b', </a:t>
            </a:r>
            <a:r>
              <a:rPr sz="1200" spc="50" dirty="0">
                <a:latin typeface="Times New Roman"/>
                <a:cs typeface="Times New Roman"/>
              </a:rPr>
              <a:t>['r',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Arial"/>
                <a:cs typeface="Arial"/>
              </a:rPr>
              <a:t>'n']]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789967" y="2953088"/>
            <a:ext cx="1016635" cy="217170"/>
          </a:xfrm>
          <a:custGeom>
            <a:avLst/>
            <a:gdLst/>
            <a:ahLst/>
            <a:cxnLst/>
            <a:rect l="l" t="t" r="r" b="b"/>
            <a:pathLst>
              <a:path w="1016635" h="217169">
                <a:moveTo>
                  <a:pt x="0" y="0"/>
                </a:moveTo>
                <a:lnTo>
                  <a:pt x="1016336" y="0"/>
                </a:lnTo>
                <a:lnTo>
                  <a:pt x="1016336" y="217024"/>
                </a:lnTo>
                <a:lnTo>
                  <a:pt x="0" y="217024"/>
                </a:lnTo>
                <a:lnTo>
                  <a:pt x="0" y="0"/>
                </a:lnTo>
                <a:close/>
              </a:path>
            </a:pathLst>
          </a:custGeom>
          <a:solidFill>
            <a:srgbClr val="4B9E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777267" y="2946679"/>
            <a:ext cx="10344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7F7F7"/>
                </a:solidFill>
                <a:latin typeface="Arial"/>
                <a:cs typeface="Arial"/>
              </a:rPr>
              <a:t>a}a.append(b}</a:t>
            </a:r>
            <a:endParaRPr sz="12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80810" y="3591440"/>
            <a:ext cx="1050925" cy="217170"/>
          </a:xfrm>
          <a:prstGeom prst="rect">
            <a:avLst/>
          </a:prstGeom>
          <a:solidFill>
            <a:srgbClr val="1A5477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50" dirty="0">
                <a:solidFill>
                  <a:srgbClr val="F7F7F7"/>
                </a:solidFill>
                <a:latin typeface="Arial"/>
                <a:cs typeface="Arial"/>
              </a:rPr>
              <a:t>a}a.insert</a:t>
            </a:r>
            <a:r>
              <a:rPr sz="1250" spc="45" dirty="0">
                <a:solidFill>
                  <a:srgbClr val="F7F7F7"/>
                </a:solidFill>
                <a:latin typeface="Arial"/>
                <a:cs typeface="Arial"/>
              </a:rPr>
              <a:t>(</a:t>
            </a:r>
            <a:r>
              <a:rPr sz="1250" spc="40" dirty="0">
                <a:solidFill>
                  <a:srgbClr val="F7F7F7"/>
                </a:solidFill>
                <a:latin typeface="Arial"/>
                <a:cs typeface="Arial"/>
              </a:rPr>
              <a:t>l,b}</a:t>
            </a:r>
            <a:endParaRPr sz="12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37184" y="4226739"/>
            <a:ext cx="521970" cy="217170"/>
          </a:xfrm>
          <a:custGeom>
            <a:avLst/>
            <a:gdLst/>
            <a:ahLst/>
            <a:cxnLst/>
            <a:rect l="l" t="t" r="r" b="b"/>
            <a:pathLst>
              <a:path w="521970" h="217170">
                <a:moveTo>
                  <a:pt x="0" y="0"/>
                </a:moveTo>
                <a:lnTo>
                  <a:pt x="521902" y="0"/>
                </a:lnTo>
                <a:lnTo>
                  <a:pt x="521902" y="217024"/>
                </a:lnTo>
                <a:lnTo>
                  <a:pt x="0" y="217024"/>
                </a:lnTo>
                <a:lnTo>
                  <a:pt x="0" y="0"/>
                </a:lnTo>
                <a:close/>
              </a:path>
            </a:pathLst>
          </a:custGeom>
          <a:solidFill>
            <a:srgbClr val="1A54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538393" y="1945116"/>
            <a:ext cx="2328545" cy="447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15199"/>
              </a:lnSpc>
              <a:spcBef>
                <a:spcPts val="100"/>
              </a:spcBef>
            </a:pPr>
            <a:r>
              <a:rPr sz="1200" spc="15" dirty="0">
                <a:latin typeface="Arial"/>
                <a:cs typeface="Arial"/>
              </a:rPr>
              <a:t>Which </a:t>
            </a:r>
            <a:r>
              <a:rPr sz="1200" spc="10" dirty="0">
                <a:latin typeface="Arial"/>
                <a:cs typeface="Arial"/>
              </a:rPr>
              <a:t>of </a:t>
            </a:r>
            <a:r>
              <a:rPr sz="1200" spc="30" dirty="0">
                <a:latin typeface="Arial"/>
                <a:cs typeface="Arial"/>
              </a:rPr>
              <a:t>the </a:t>
            </a:r>
            <a:r>
              <a:rPr sz="1200" spc="45" dirty="0">
                <a:latin typeface="Arial"/>
                <a:cs typeface="Arial"/>
              </a:rPr>
              <a:t>following </a:t>
            </a:r>
            <a:r>
              <a:rPr sz="1200" spc="5" dirty="0">
                <a:latin typeface="Arial"/>
                <a:cs typeface="Arial"/>
              </a:rPr>
              <a:t>should </a:t>
            </a:r>
            <a:r>
              <a:rPr sz="1200" spc="-20" dirty="0">
                <a:latin typeface="Arial"/>
                <a:cs typeface="Arial"/>
              </a:rPr>
              <a:t>be  </a:t>
            </a:r>
            <a:r>
              <a:rPr sz="1200" spc="-35" dirty="0">
                <a:latin typeface="Arial"/>
                <a:cs typeface="Arial"/>
              </a:rPr>
              <a:t>used?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6330" y="3986678"/>
            <a:ext cx="387985" cy="1049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70"/>
              </a:lnSpc>
            </a:pPr>
            <a:r>
              <a:rPr sz="7200" spc="330" dirty="0">
                <a:solidFill>
                  <a:srgbClr val="1A5477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24484" y="4235398"/>
            <a:ext cx="55245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85"/>
              </a:lnSpc>
            </a:pPr>
            <a:r>
              <a:rPr sz="1250" dirty="0">
                <a:solidFill>
                  <a:srgbClr val="F7F7F7"/>
                </a:solidFill>
                <a:latin typeface="Arial"/>
                <a:cs typeface="Arial"/>
              </a:rPr>
              <a:t>a}None</a:t>
            </a:r>
            <a:endParaRPr sz="12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30622" y="4966345"/>
            <a:ext cx="1266190" cy="1606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50" b="1" spc="25" dirty="0">
                <a:solidFill>
                  <a:srgbClr val="6E2F9E"/>
                </a:solidFill>
                <a:latin typeface="Arial"/>
                <a:cs typeface="Arial"/>
                <a:hlinkClick r:id="rId3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1454" y="989598"/>
            <a:ext cx="4663554" cy="1038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75042" y="3885092"/>
            <a:ext cx="1071274" cy="977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20463" y="1123989"/>
            <a:ext cx="2609850" cy="0"/>
          </a:xfrm>
          <a:custGeom>
            <a:avLst/>
            <a:gdLst/>
            <a:ahLst/>
            <a:cxnLst/>
            <a:rect l="l" t="t" r="r" b="b"/>
            <a:pathLst>
              <a:path w="2609850">
                <a:moveTo>
                  <a:pt x="0" y="0"/>
                </a:moveTo>
                <a:lnTo>
                  <a:pt x="2609513" y="0"/>
                </a:lnTo>
              </a:path>
            </a:pathLst>
          </a:custGeom>
          <a:ln w="122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32672" y="1606571"/>
            <a:ext cx="2591435" cy="0"/>
          </a:xfrm>
          <a:custGeom>
            <a:avLst/>
            <a:gdLst/>
            <a:ahLst/>
            <a:cxnLst/>
            <a:rect l="l" t="t" r="r" b="b"/>
            <a:pathLst>
              <a:path w="2591434">
                <a:moveTo>
                  <a:pt x="0" y="0"/>
                </a:moveTo>
                <a:lnTo>
                  <a:pt x="2591201" y="0"/>
                </a:lnTo>
              </a:path>
            </a:pathLst>
          </a:custGeom>
          <a:ln w="122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8449" y="140015"/>
            <a:ext cx="12896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75" dirty="0">
                <a:solidFill>
                  <a:srgbClr val="AC7E70"/>
                </a:solidFill>
                <a:latin typeface="Times New Roman"/>
                <a:cs typeface="Times New Roman"/>
              </a:rPr>
              <a:t>jn</a:t>
            </a:r>
            <a:r>
              <a:rPr sz="2400" b="1" spc="140" dirty="0">
                <a:solidFill>
                  <a:srgbClr val="AC7E70"/>
                </a:solidFill>
                <a:latin typeface="Times New Roman"/>
                <a:cs typeface="Times New Roman"/>
              </a:rPr>
              <a:t> </a:t>
            </a:r>
            <a:r>
              <a:rPr sz="2400" b="1" spc="-190" dirty="0">
                <a:solidFill>
                  <a:srgbClr val="827EA5"/>
                </a:solidFill>
                <a:latin typeface="Times New Roman"/>
                <a:cs typeface="Times New Roman"/>
              </a:rPr>
              <a:t>telli</a:t>
            </a:r>
            <a:r>
              <a:rPr sz="2400" b="1" spc="-190" dirty="0">
                <a:solidFill>
                  <a:srgbClr val="ED8026"/>
                </a:solidFill>
                <a:latin typeface="Times New Roman"/>
                <a:cs typeface="Times New Roman"/>
              </a:rPr>
              <a:t>Paat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7658100" y="207963"/>
            <a:ext cx="1485900" cy="644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5" dirty="0"/>
              <a:t>Quiz</a:t>
            </a:r>
            <a:r>
              <a:rPr spc="395" dirty="0"/>
              <a:t> </a:t>
            </a:r>
            <a:r>
              <a:rPr sz="4050" spc="80" dirty="0">
                <a:latin typeface="Times New Roman"/>
                <a:cs typeface="Times New Roman"/>
              </a:rPr>
              <a:t>5</a:t>
            </a:r>
            <a:endParaRPr sz="4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330" y="1990932"/>
            <a:ext cx="35877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100" dirty="0">
                <a:solidFill>
                  <a:srgbClr val="00AAE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330" y="2626229"/>
            <a:ext cx="35877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100" dirty="0">
                <a:solidFill>
                  <a:srgbClr val="00AAE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6330" y="3264582"/>
            <a:ext cx="35877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100" dirty="0">
                <a:solidFill>
                  <a:srgbClr val="00AAE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07023" y="2314735"/>
            <a:ext cx="2186940" cy="217170"/>
          </a:xfrm>
          <a:custGeom>
            <a:avLst/>
            <a:gdLst/>
            <a:ahLst/>
            <a:cxnLst/>
            <a:rect l="l" t="t" r="r" b="b"/>
            <a:pathLst>
              <a:path w="2186940" h="217169">
                <a:moveTo>
                  <a:pt x="0" y="0"/>
                </a:moveTo>
                <a:lnTo>
                  <a:pt x="2186612" y="0"/>
                </a:lnTo>
                <a:lnTo>
                  <a:pt x="2186612" y="217024"/>
                </a:lnTo>
                <a:lnTo>
                  <a:pt x="0" y="217024"/>
                </a:lnTo>
                <a:lnTo>
                  <a:pt x="0" y="0"/>
                </a:lnTo>
                <a:close/>
              </a:path>
            </a:pathLst>
          </a:custGeom>
          <a:solidFill>
            <a:srgbClr val="00AA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94323" y="2308326"/>
            <a:ext cx="221043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6F6F6"/>
                </a:solidFill>
                <a:latin typeface="Arial"/>
                <a:cs typeface="Arial"/>
              </a:rPr>
              <a:t>a}defines </a:t>
            </a:r>
            <a:r>
              <a:rPr sz="1250" spc="-70" dirty="0">
                <a:solidFill>
                  <a:srgbClr val="F6F6F6"/>
                </a:solidFill>
                <a:latin typeface="Arial"/>
                <a:cs typeface="Arial"/>
              </a:rPr>
              <a:t>a </a:t>
            </a:r>
            <a:r>
              <a:rPr sz="1250" spc="15" dirty="0">
                <a:solidFill>
                  <a:srgbClr val="F6F6F6"/>
                </a:solidFill>
                <a:latin typeface="Arial"/>
                <a:cs typeface="Arial"/>
              </a:rPr>
              <a:t>list and </a:t>
            </a:r>
            <a:r>
              <a:rPr sz="1250" dirty="0">
                <a:solidFill>
                  <a:srgbClr val="F6F6F6"/>
                </a:solidFill>
                <a:latin typeface="Arial"/>
                <a:cs typeface="Arial"/>
              </a:rPr>
              <a:t>initializes</a:t>
            </a:r>
            <a:r>
              <a:rPr sz="1250" spc="10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1250" spc="-5" dirty="0">
                <a:solidFill>
                  <a:srgbClr val="F6F6F6"/>
                </a:solidFill>
                <a:latin typeface="Arial"/>
                <a:cs typeface="Arial"/>
              </a:rPr>
              <a:t>it</a:t>
            </a:r>
            <a:endParaRPr sz="12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01996" y="2953088"/>
            <a:ext cx="3597910" cy="217170"/>
          </a:xfrm>
          <a:custGeom>
            <a:avLst/>
            <a:gdLst/>
            <a:ahLst/>
            <a:cxnLst/>
            <a:rect l="l" t="t" r="r" b="b"/>
            <a:pathLst>
              <a:path w="3597910" h="217169">
                <a:moveTo>
                  <a:pt x="0" y="0"/>
                </a:moveTo>
                <a:lnTo>
                  <a:pt x="3597746" y="0"/>
                </a:lnTo>
                <a:lnTo>
                  <a:pt x="3597746" y="217024"/>
                </a:lnTo>
                <a:lnTo>
                  <a:pt x="0" y="217024"/>
                </a:lnTo>
                <a:lnTo>
                  <a:pt x="0" y="0"/>
                </a:lnTo>
                <a:close/>
              </a:path>
            </a:pathLst>
          </a:custGeom>
          <a:solidFill>
            <a:srgbClr val="00AA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89297" y="2946679"/>
            <a:ext cx="3627754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" dirty="0">
                <a:solidFill>
                  <a:srgbClr val="F6F6F6"/>
                </a:solidFill>
                <a:latin typeface="Arial"/>
                <a:cs typeface="Arial"/>
              </a:rPr>
              <a:t>a}defines </a:t>
            </a:r>
            <a:r>
              <a:rPr sz="1250" spc="-100" dirty="0">
                <a:solidFill>
                  <a:srgbClr val="F6F6F6"/>
                </a:solidFill>
                <a:latin typeface="Arial"/>
                <a:cs typeface="Arial"/>
              </a:rPr>
              <a:t>a </a:t>
            </a:r>
            <a:r>
              <a:rPr sz="1250" spc="35" dirty="0">
                <a:solidFill>
                  <a:srgbClr val="F6F6F6"/>
                </a:solidFill>
                <a:latin typeface="Arial"/>
                <a:cs typeface="Arial"/>
              </a:rPr>
              <a:t>function, </a:t>
            </a:r>
            <a:r>
              <a:rPr sz="1250" spc="25" dirty="0">
                <a:solidFill>
                  <a:srgbClr val="F6F6F6"/>
                </a:solidFill>
                <a:latin typeface="Arial"/>
                <a:cs typeface="Arial"/>
              </a:rPr>
              <a:t>which </a:t>
            </a:r>
            <a:r>
              <a:rPr sz="1250" spc="-10" dirty="0">
                <a:solidFill>
                  <a:srgbClr val="F6F6F6"/>
                </a:solidFill>
                <a:latin typeface="Arial"/>
                <a:cs typeface="Arial"/>
              </a:rPr>
              <a:t>does </a:t>
            </a:r>
            <a:r>
              <a:rPr sz="1250" spc="35" dirty="0">
                <a:solidFill>
                  <a:srgbClr val="F6F6F6"/>
                </a:solidFill>
                <a:latin typeface="Arial"/>
                <a:cs typeface="Arial"/>
              </a:rPr>
              <a:t>nothing </a:t>
            </a:r>
            <a:r>
              <a:rPr sz="1250" spc="15" dirty="0">
                <a:solidFill>
                  <a:srgbClr val="F6F6F6"/>
                </a:solidFill>
                <a:latin typeface="Arial"/>
                <a:cs typeface="Arial"/>
              </a:rPr>
              <a:t>-</a:t>
            </a:r>
            <a:r>
              <a:rPr sz="1250" spc="-114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1250" spc="35" dirty="0">
                <a:solidFill>
                  <a:srgbClr val="F6F6F6"/>
                </a:solidFill>
                <a:latin typeface="Arial"/>
                <a:cs typeface="Arial"/>
              </a:rPr>
              <a:t>correct</a:t>
            </a:r>
            <a:endParaRPr sz="12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0308" y="3493702"/>
            <a:ext cx="3561079" cy="217170"/>
          </a:xfrm>
          <a:prstGeom prst="rect">
            <a:avLst/>
          </a:prstGeom>
          <a:solidFill>
            <a:srgbClr val="00AAE8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dirty="0">
                <a:solidFill>
                  <a:srgbClr val="F6F6F6"/>
                </a:solidFill>
                <a:latin typeface="Arial"/>
                <a:cs typeface="Arial"/>
              </a:rPr>
              <a:t>a}defines </a:t>
            </a:r>
            <a:r>
              <a:rPr sz="1250" spc="-100" dirty="0">
                <a:solidFill>
                  <a:srgbClr val="F6F6F6"/>
                </a:solidFill>
                <a:latin typeface="Arial"/>
                <a:cs typeface="Arial"/>
              </a:rPr>
              <a:t>a </a:t>
            </a:r>
            <a:r>
              <a:rPr sz="1250" spc="35" dirty="0">
                <a:solidFill>
                  <a:srgbClr val="F6F6F6"/>
                </a:solidFill>
                <a:latin typeface="Arial"/>
                <a:cs typeface="Arial"/>
              </a:rPr>
              <a:t>function, </a:t>
            </a:r>
            <a:r>
              <a:rPr sz="1250" spc="25" dirty="0">
                <a:solidFill>
                  <a:srgbClr val="F6F6F6"/>
                </a:solidFill>
                <a:latin typeface="Arial"/>
                <a:cs typeface="Arial"/>
              </a:rPr>
              <a:t>which </a:t>
            </a:r>
            <a:r>
              <a:rPr sz="1250" spc="-40" dirty="0">
                <a:solidFill>
                  <a:srgbClr val="F6F6F6"/>
                </a:solidFill>
                <a:latin typeface="Arial"/>
                <a:cs typeface="Arial"/>
              </a:rPr>
              <a:t>passes </a:t>
            </a:r>
            <a:r>
              <a:rPr sz="1250" spc="15" dirty="0">
                <a:solidFill>
                  <a:srgbClr val="F6F6F6"/>
                </a:solidFill>
                <a:latin typeface="Arial"/>
                <a:cs typeface="Arial"/>
              </a:rPr>
              <a:t>its</a:t>
            </a:r>
            <a:r>
              <a:rPr sz="1250" spc="-8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1250" spc="10" dirty="0">
                <a:solidFill>
                  <a:srgbClr val="F6F6F6"/>
                </a:solidFill>
                <a:latin typeface="Arial"/>
                <a:cs typeface="Arial"/>
              </a:rPr>
              <a:t>parameters</a:t>
            </a:r>
            <a:endParaRPr sz="12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06790" y="3692233"/>
            <a:ext cx="574040" cy="217170"/>
          </a:xfrm>
          <a:custGeom>
            <a:avLst/>
            <a:gdLst/>
            <a:ahLst/>
            <a:cxnLst/>
            <a:rect l="l" t="t" r="r" b="b"/>
            <a:pathLst>
              <a:path w="574039" h="217170">
                <a:moveTo>
                  <a:pt x="0" y="0"/>
                </a:moveTo>
                <a:lnTo>
                  <a:pt x="573787" y="0"/>
                </a:lnTo>
                <a:lnTo>
                  <a:pt x="573787" y="217024"/>
                </a:lnTo>
                <a:lnTo>
                  <a:pt x="0" y="217024"/>
                </a:lnTo>
                <a:lnTo>
                  <a:pt x="0" y="0"/>
                </a:lnTo>
                <a:close/>
              </a:path>
            </a:pathLst>
          </a:custGeom>
          <a:solidFill>
            <a:srgbClr val="00AA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17615" y="4226739"/>
            <a:ext cx="1760855" cy="217170"/>
          </a:xfrm>
          <a:custGeom>
            <a:avLst/>
            <a:gdLst/>
            <a:ahLst/>
            <a:cxnLst/>
            <a:rect l="l" t="t" r="r" b="b"/>
            <a:pathLst>
              <a:path w="1760854" h="217170">
                <a:moveTo>
                  <a:pt x="0" y="0"/>
                </a:moveTo>
                <a:lnTo>
                  <a:pt x="1760404" y="0"/>
                </a:lnTo>
                <a:lnTo>
                  <a:pt x="1760404" y="217024"/>
                </a:lnTo>
                <a:lnTo>
                  <a:pt x="0" y="217024"/>
                </a:lnTo>
                <a:lnTo>
                  <a:pt x="0" y="0"/>
                </a:lnTo>
                <a:close/>
              </a:path>
            </a:pathLst>
          </a:custGeom>
          <a:solidFill>
            <a:srgbClr val="00AA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247787" y="1353063"/>
            <a:ext cx="24765" cy="0"/>
          </a:xfrm>
          <a:custGeom>
            <a:avLst/>
            <a:gdLst/>
            <a:ahLst/>
            <a:cxnLst/>
            <a:rect l="l" t="t" r="r" b="b"/>
            <a:pathLst>
              <a:path w="24764">
                <a:moveTo>
                  <a:pt x="0" y="0"/>
                </a:moveTo>
                <a:lnTo>
                  <a:pt x="24416" y="0"/>
                </a:lnTo>
              </a:path>
            </a:pathLst>
          </a:custGeom>
          <a:ln w="12726">
            <a:solidFill>
              <a:srgbClr val="00AA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513062" y="1187647"/>
            <a:ext cx="5016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0" dirty="0">
                <a:solidFill>
                  <a:srgbClr val="010101"/>
                </a:solidFill>
                <a:latin typeface="Courier New"/>
                <a:cs typeface="Courier New"/>
              </a:rPr>
              <a:t>def</a:t>
            </a:r>
            <a:r>
              <a:rPr sz="1200" b="1" spc="-509" dirty="0">
                <a:solidFill>
                  <a:srgbClr val="010101"/>
                </a:solidFill>
                <a:latin typeface="Courier New"/>
                <a:cs typeface="Courier New"/>
              </a:rPr>
              <a:t> </a:t>
            </a:r>
            <a:r>
              <a:rPr sz="1200" b="1" spc="220" dirty="0">
                <a:solidFill>
                  <a:srgbClr val="010101"/>
                </a:solidFill>
                <a:latin typeface="Courier New"/>
                <a:cs typeface="Courier New"/>
              </a:rPr>
              <a:t>a(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94091" y="3700893"/>
            <a:ext cx="60706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85"/>
              </a:lnSpc>
            </a:pPr>
            <a:r>
              <a:rPr sz="1250" spc="40" dirty="0">
                <a:solidFill>
                  <a:srgbClr val="F6F6F6"/>
                </a:solidFill>
                <a:latin typeface="Arial"/>
                <a:cs typeface="Arial"/>
              </a:rPr>
              <a:t>through</a:t>
            </a:r>
            <a:endParaRPr sz="12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6330" y="3986678"/>
            <a:ext cx="358775" cy="1049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70"/>
              </a:lnSpc>
            </a:pPr>
            <a:r>
              <a:rPr sz="7200" spc="100" dirty="0">
                <a:solidFill>
                  <a:srgbClr val="00AAE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04916" y="4235398"/>
            <a:ext cx="17938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85"/>
              </a:lnSpc>
            </a:pPr>
            <a:r>
              <a:rPr sz="1250" dirty="0">
                <a:solidFill>
                  <a:srgbClr val="F6F6F6"/>
                </a:solidFill>
                <a:latin typeface="Arial"/>
                <a:cs typeface="Arial"/>
              </a:rPr>
              <a:t>a}defines </a:t>
            </a:r>
            <a:r>
              <a:rPr sz="1250" spc="-10" dirty="0">
                <a:solidFill>
                  <a:srgbClr val="F6F6F6"/>
                </a:solidFill>
                <a:latin typeface="Arial"/>
                <a:cs typeface="Arial"/>
              </a:rPr>
              <a:t>an </a:t>
            </a:r>
            <a:r>
              <a:rPr sz="1250" spc="30" dirty="0">
                <a:solidFill>
                  <a:srgbClr val="F6F6F6"/>
                </a:solidFill>
                <a:latin typeface="Arial"/>
                <a:cs typeface="Arial"/>
              </a:rPr>
              <a:t>empty</a:t>
            </a:r>
            <a:r>
              <a:rPr sz="1250" spc="-1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1250" spc="-35" dirty="0">
                <a:solidFill>
                  <a:srgbClr val="F6F6F6"/>
                </a:solidFill>
                <a:latin typeface="Arial"/>
                <a:cs typeface="Arial"/>
              </a:rPr>
              <a:t>class</a:t>
            </a:r>
            <a:endParaRPr sz="12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30622" y="4966345"/>
            <a:ext cx="1266190" cy="1606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50" b="1" spc="25" dirty="0">
                <a:solidFill>
                  <a:srgbClr val="6E2F9E"/>
                </a:solidFill>
                <a:latin typeface="Arial"/>
                <a:cs typeface="Arial"/>
                <a:hlinkClick r:id="rId4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60099" y="1187647"/>
            <a:ext cx="49275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10" dirty="0">
                <a:solidFill>
                  <a:srgbClr val="010101"/>
                </a:solidFill>
                <a:latin typeface="Courier New"/>
                <a:cs typeface="Courier New"/>
              </a:rPr>
              <a:t>d</a:t>
            </a:r>
            <a:r>
              <a:rPr sz="1200" b="1" spc="-185" dirty="0">
                <a:solidFill>
                  <a:srgbClr val="010101"/>
                </a:solidFill>
                <a:latin typeface="Courier New"/>
                <a:cs typeface="Courier New"/>
              </a:rPr>
              <a:t> </a:t>
            </a:r>
            <a:r>
              <a:rPr sz="1200" b="1" spc="-114" dirty="0">
                <a:solidFill>
                  <a:srgbClr val="010101"/>
                </a:solidFill>
                <a:latin typeface="Courier New"/>
                <a:cs typeface="Courier New"/>
              </a:rPr>
              <a:t>pass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610" y="989598"/>
            <a:ext cx="4654398" cy="1038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75042" y="3885092"/>
            <a:ext cx="1071274" cy="977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23515" y="1127043"/>
            <a:ext cx="2609850" cy="0"/>
          </a:xfrm>
          <a:custGeom>
            <a:avLst/>
            <a:gdLst/>
            <a:ahLst/>
            <a:cxnLst/>
            <a:rect l="l" t="t" r="r" b="b"/>
            <a:pathLst>
              <a:path w="2609850">
                <a:moveTo>
                  <a:pt x="0" y="0"/>
                </a:moveTo>
                <a:lnTo>
                  <a:pt x="2609513" y="0"/>
                </a:lnTo>
              </a:path>
            </a:pathLst>
          </a:custGeom>
          <a:ln w="122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32672" y="1609625"/>
            <a:ext cx="2597785" cy="0"/>
          </a:xfrm>
          <a:custGeom>
            <a:avLst/>
            <a:gdLst/>
            <a:ahLst/>
            <a:cxnLst/>
            <a:rect l="l" t="t" r="r" b="b"/>
            <a:pathLst>
              <a:path w="2597784">
                <a:moveTo>
                  <a:pt x="0" y="0"/>
                </a:moveTo>
                <a:lnTo>
                  <a:pt x="2597305" y="0"/>
                </a:lnTo>
              </a:path>
            </a:pathLst>
          </a:custGeom>
          <a:ln w="122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8449" y="140015"/>
            <a:ext cx="12896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75" dirty="0">
                <a:solidFill>
                  <a:srgbClr val="AC7E70"/>
                </a:solidFill>
                <a:latin typeface="Times New Roman"/>
                <a:cs typeface="Times New Roman"/>
              </a:rPr>
              <a:t>jn</a:t>
            </a:r>
            <a:r>
              <a:rPr sz="2400" b="1" spc="140" dirty="0">
                <a:solidFill>
                  <a:srgbClr val="AC7E70"/>
                </a:solidFill>
                <a:latin typeface="Times New Roman"/>
                <a:cs typeface="Times New Roman"/>
              </a:rPr>
              <a:t> </a:t>
            </a:r>
            <a:r>
              <a:rPr sz="2400" b="1" spc="-190" dirty="0">
                <a:solidFill>
                  <a:srgbClr val="827EA5"/>
                </a:solidFill>
                <a:latin typeface="Times New Roman"/>
                <a:cs typeface="Times New Roman"/>
              </a:rPr>
              <a:t>telli</a:t>
            </a:r>
            <a:r>
              <a:rPr sz="2400" b="1" spc="-190" dirty="0">
                <a:solidFill>
                  <a:srgbClr val="ED8026"/>
                </a:solidFill>
                <a:latin typeface="Times New Roman"/>
                <a:cs typeface="Times New Roman"/>
              </a:rPr>
              <a:t>Paat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6999288" y="268288"/>
            <a:ext cx="2144712" cy="574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54200" algn="l"/>
              </a:tabLst>
            </a:pPr>
            <a:r>
              <a:rPr sz="3600" spc="-50" dirty="0"/>
              <a:t>Answe</a:t>
            </a:r>
            <a:r>
              <a:rPr sz="3600" spc="-30" dirty="0"/>
              <a:t>r</a:t>
            </a:r>
            <a:r>
              <a:rPr sz="3600" dirty="0"/>
              <a:t>	</a:t>
            </a:r>
            <a:r>
              <a:rPr sz="3600" spc="180" dirty="0"/>
              <a:t>5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616330" y="1990932"/>
            <a:ext cx="37528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229" dirty="0">
                <a:solidFill>
                  <a:srgbClr val="00AAE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330" y="2626229"/>
            <a:ext cx="37528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229" dirty="0">
                <a:solidFill>
                  <a:srgbClr val="59CDF7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6330" y="3264582"/>
            <a:ext cx="37528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229" dirty="0">
                <a:solidFill>
                  <a:srgbClr val="00AAE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07023" y="2314735"/>
            <a:ext cx="2186940" cy="217170"/>
          </a:xfrm>
          <a:custGeom>
            <a:avLst/>
            <a:gdLst/>
            <a:ahLst/>
            <a:cxnLst/>
            <a:rect l="l" t="t" r="r" b="b"/>
            <a:pathLst>
              <a:path w="2186940" h="217169">
                <a:moveTo>
                  <a:pt x="0" y="0"/>
                </a:moveTo>
                <a:lnTo>
                  <a:pt x="2186612" y="0"/>
                </a:lnTo>
                <a:lnTo>
                  <a:pt x="2186612" y="217024"/>
                </a:lnTo>
                <a:lnTo>
                  <a:pt x="0" y="217024"/>
                </a:lnTo>
                <a:lnTo>
                  <a:pt x="0" y="0"/>
                </a:lnTo>
                <a:close/>
              </a:path>
            </a:pathLst>
          </a:custGeom>
          <a:solidFill>
            <a:srgbClr val="00AA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94323" y="2308326"/>
            <a:ext cx="221043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6F6F6"/>
                </a:solidFill>
                <a:latin typeface="Arial"/>
                <a:cs typeface="Arial"/>
              </a:rPr>
              <a:t>a}defines </a:t>
            </a:r>
            <a:r>
              <a:rPr sz="1250" spc="-70" dirty="0">
                <a:solidFill>
                  <a:srgbClr val="F6F6F6"/>
                </a:solidFill>
                <a:latin typeface="Arial"/>
                <a:cs typeface="Arial"/>
              </a:rPr>
              <a:t>a </a:t>
            </a:r>
            <a:r>
              <a:rPr sz="1250" spc="15" dirty="0">
                <a:solidFill>
                  <a:srgbClr val="F6F6F6"/>
                </a:solidFill>
                <a:latin typeface="Arial"/>
                <a:cs typeface="Arial"/>
              </a:rPr>
              <a:t>list and </a:t>
            </a:r>
            <a:r>
              <a:rPr sz="1250" dirty="0">
                <a:solidFill>
                  <a:srgbClr val="F6F6F6"/>
                </a:solidFill>
                <a:latin typeface="Arial"/>
                <a:cs typeface="Arial"/>
              </a:rPr>
              <a:t>initializes</a:t>
            </a:r>
            <a:r>
              <a:rPr sz="1250" spc="10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1250" spc="-5" dirty="0">
                <a:solidFill>
                  <a:srgbClr val="F6F6F6"/>
                </a:solidFill>
                <a:latin typeface="Arial"/>
                <a:cs typeface="Arial"/>
              </a:rPr>
              <a:t>it</a:t>
            </a:r>
            <a:endParaRPr sz="12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01996" y="2953088"/>
            <a:ext cx="3597910" cy="217170"/>
          </a:xfrm>
          <a:custGeom>
            <a:avLst/>
            <a:gdLst/>
            <a:ahLst/>
            <a:cxnLst/>
            <a:rect l="l" t="t" r="r" b="b"/>
            <a:pathLst>
              <a:path w="3597910" h="217169">
                <a:moveTo>
                  <a:pt x="0" y="0"/>
                </a:moveTo>
                <a:lnTo>
                  <a:pt x="3597746" y="0"/>
                </a:lnTo>
                <a:lnTo>
                  <a:pt x="3597746" y="217024"/>
                </a:lnTo>
                <a:lnTo>
                  <a:pt x="0" y="217024"/>
                </a:lnTo>
                <a:lnTo>
                  <a:pt x="0" y="0"/>
                </a:lnTo>
                <a:close/>
              </a:path>
            </a:pathLst>
          </a:custGeom>
          <a:solidFill>
            <a:srgbClr val="59C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89297" y="2946679"/>
            <a:ext cx="3627754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" dirty="0">
                <a:solidFill>
                  <a:srgbClr val="F6F6F6"/>
                </a:solidFill>
                <a:latin typeface="Arial"/>
                <a:cs typeface="Arial"/>
              </a:rPr>
              <a:t>a}defines </a:t>
            </a:r>
            <a:r>
              <a:rPr sz="1250" spc="-100" dirty="0">
                <a:solidFill>
                  <a:srgbClr val="F6F6F6"/>
                </a:solidFill>
                <a:latin typeface="Arial"/>
                <a:cs typeface="Arial"/>
              </a:rPr>
              <a:t>a </a:t>
            </a:r>
            <a:r>
              <a:rPr sz="1250" spc="35" dirty="0">
                <a:solidFill>
                  <a:srgbClr val="F6F6F6"/>
                </a:solidFill>
                <a:latin typeface="Arial"/>
                <a:cs typeface="Arial"/>
              </a:rPr>
              <a:t>function, </a:t>
            </a:r>
            <a:r>
              <a:rPr sz="1250" spc="25" dirty="0">
                <a:solidFill>
                  <a:srgbClr val="F6F6F6"/>
                </a:solidFill>
                <a:latin typeface="Arial"/>
                <a:cs typeface="Arial"/>
              </a:rPr>
              <a:t>which </a:t>
            </a:r>
            <a:r>
              <a:rPr sz="1250" spc="-10" dirty="0">
                <a:solidFill>
                  <a:srgbClr val="F6F6F6"/>
                </a:solidFill>
                <a:latin typeface="Arial"/>
                <a:cs typeface="Arial"/>
              </a:rPr>
              <a:t>does </a:t>
            </a:r>
            <a:r>
              <a:rPr sz="1250" spc="35" dirty="0">
                <a:solidFill>
                  <a:srgbClr val="F6F6F6"/>
                </a:solidFill>
                <a:latin typeface="Arial"/>
                <a:cs typeface="Arial"/>
              </a:rPr>
              <a:t>nothing </a:t>
            </a:r>
            <a:r>
              <a:rPr sz="1250" spc="15" dirty="0">
                <a:solidFill>
                  <a:srgbClr val="F6F6F6"/>
                </a:solidFill>
                <a:latin typeface="Arial"/>
                <a:cs typeface="Arial"/>
              </a:rPr>
              <a:t>-</a:t>
            </a:r>
            <a:r>
              <a:rPr sz="1250" spc="-114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1250" spc="35" dirty="0">
                <a:solidFill>
                  <a:srgbClr val="F6F6F6"/>
                </a:solidFill>
                <a:latin typeface="Arial"/>
                <a:cs typeface="Arial"/>
              </a:rPr>
              <a:t>correct</a:t>
            </a:r>
            <a:endParaRPr sz="12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0308" y="3493702"/>
            <a:ext cx="3561079" cy="217170"/>
          </a:xfrm>
          <a:prstGeom prst="rect">
            <a:avLst/>
          </a:prstGeom>
          <a:solidFill>
            <a:srgbClr val="00AAE8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dirty="0">
                <a:solidFill>
                  <a:srgbClr val="F6F6F6"/>
                </a:solidFill>
                <a:latin typeface="Arial"/>
                <a:cs typeface="Arial"/>
              </a:rPr>
              <a:t>a}defines </a:t>
            </a:r>
            <a:r>
              <a:rPr sz="1250" spc="-100" dirty="0">
                <a:solidFill>
                  <a:srgbClr val="F6F6F6"/>
                </a:solidFill>
                <a:latin typeface="Arial"/>
                <a:cs typeface="Arial"/>
              </a:rPr>
              <a:t>a </a:t>
            </a:r>
            <a:r>
              <a:rPr sz="1250" spc="35" dirty="0">
                <a:solidFill>
                  <a:srgbClr val="F6F6F6"/>
                </a:solidFill>
                <a:latin typeface="Arial"/>
                <a:cs typeface="Arial"/>
              </a:rPr>
              <a:t>function, </a:t>
            </a:r>
            <a:r>
              <a:rPr sz="1250" spc="25" dirty="0">
                <a:solidFill>
                  <a:srgbClr val="F6F6F6"/>
                </a:solidFill>
                <a:latin typeface="Arial"/>
                <a:cs typeface="Arial"/>
              </a:rPr>
              <a:t>which </a:t>
            </a:r>
            <a:r>
              <a:rPr sz="1250" spc="-40" dirty="0">
                <a:solidFill>
                  <a:srgbClr val="F6F6F6"/>
                </a:solidFill>
                <a:latin typeface="Arial"/>
                <a:cs typeface="Arial"/>
              </a:rPr>
              <a:t>passes </a:t>
            </a:r>
            <a:r>
              <a:rPr sz="1250" spc="15" dirty="0">
                <a:solidFill>
                  <a:srgbClr val="F6F6F6"/>
                </a:solidFill>
                <a:latin typeface="Arial"/>
                <a:cs typeface="Arial"/>
              </a:rPr>
              <a:t>its</a:t>
            </a:r>
            <a:r>
              <a:rPr sz="1250" spc="-8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1250" spc="10" dirty="0">
                <a:solidFill>
                  <a:srgbClr val="F6F6F6"/>
                </a:solidFill>
                <a:latin typeface="Arial"/>
                <a:cs typeface="Arial"/>
              </a:rPr>
              <a:t>parameters</a:t>
            </a:r>
            <a:endParaRPr sz="12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06790" y="3692233"/>
            <a:ext cx="574040" cy="217170"/>
          </a:xfrm>
          <a:custGeom>
            <a:avLst/>
            <a:gdLst/>
            <a:ahLst/>
            <a:cxnLst/>
            <a:rect l="l" t="t" r="r" b="b"/>
            <a:pathLst>
              <a:path w="574039" h="217170">
                <a:moveTo>
                  <a:pt x="0" y="0"/>
                </a:moveTo>
                <a:lnTo>
                  <a:pt x="573787" y="0"/>
                </a:lnTo>
                <a:lnTo>
                  <a:pt x="573787" y="217024"/>
                </a:lnTo>
                <a:lnTo>
                  <a:pt x="0" y="217024"/>
                </a:lnTo>
                <a:lnTo>
                  <a:pt x="0" y="0"/>
                </a:lnTo>
                <a:close/>
              </a:path>
            </a:pathLst>
          </a:custGeom>
          <a:solidFill>
            <a:srgbClr val="00AA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17615" y="4226739"/>
            <a:ext cx="1760855" cy="217170"/>
          </a:xfrm>
          <a:custGeom>
            <a:avLst/>
            <a:gdLst/>
            <a:ahLst/>
            <a:cxnLst/>
            <a:rect l="l" t="t" r="r" b="b"/>
            <a:pathLst>
              <a:path w="1760854" h="217170">
                <a:moveTo>
                  <a:pt x="0" y="0"/>
                </a:moveTo>
                <a:lnTo>
                  <a:pt x="1760404" y="0"/>
                </a:lnTo>
                <a:lnTo>
                  <a:pt x="1760404" y="217024"/>
                </a:lnTo>
                <a:lnTo>
                  <a:pt x="0" y="217024"/>
                </a:lnTo>
                <a:lnTo>
                  <a:pt x="0" y="0"/>
                </a:lnTo>
                <a:close/>
              </a:path>
            </a:pathLst>
          </a:custGeom>
          <a:solidFill>
            <a:srgbClr val="00AA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247787" y="1340845"/>
            <a:ext cx="24765" cy="0"/>
          </a:xfrm>
          <a:custGeom>
            <a:avLst/>
            <a:gdLst/>
            <a:ahLst/>
            <a:cxnLst/>
            <a:rect l="l" t="t" r="r" b="b"/>
            <a:pathLst>
              <a:path w="24764">
                <a:moveTo>
                  <a:pt x="0" y="0"/>
                </a:moveTo>
                <a:lnTo>
                  <a:pt x="24416" y="0"/>
                </a:lnTo>
              </a:path>
            </a:pathLst>
          </a:custGeom>
          <a:ln w="12726">
            <a:solidFill>
              <a:srgbClr val="00AA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512184" y="1181792"/>
            <a:ext cx="114617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5" dirty="0">
                <a:solidFill>
                  <a:srgbClr val="010101"/>
                </a:solidFill>
                <a:latin typeface="Times New Roman"/>
                <a:cs typeface="Times New Roman"/>
              </a:rPr>
              <a:t>def </a:t>
            </a:r>
            <a:r>
              <a:rPr sz="1100" b="1" spc="10" dirty="0">
                <a:solidFill>
                  <a:srgbClr val="010101"/>
                </a:solidFill>
                <a:latin typeface="Times New Roman"/>
                <a:cs typeface="Times New Roman"/>
              </a:rPr>
              <a:t>a(b, </a:t>
            </a:r>
            <a:r>
              <a:rPr sz="1150" spc="-10" dirty="0">
                <a:solidFill>
                  <a:srgbClr val="010101"/>
                </a:solidFill>
                <a:latin typeface="Times New Roman"/>
                <a:cs typeface="Times New Roman"/>
              </a:rPr>
              <a:t>c, </a:t>
            </a:r>
            <a:r>
              <a:rPr sz="1100" b="1" spc="-10" dirty="0">
                <a:solidFill>
                  <a:srgbClr val="010101"/>
                </a:solidFill>
                <a:latin typeface="Times New Roman"/>
                <a:cs typeface="Times New Roman"/>
              </a:rPr>
              <a:t>d):</a:t>
            </a:r>
            <a:r>
              <a:rPr sz="1100" b="1" spc="45" dirty="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sz="1100" b="1" spc="20" dirty="0">
                <a:solidFill>
                  <a:srgbClr val="010101"/>
                </a:solidFill>
                <a:latin typeface="Times New Roman"/>
                <a:cs typeface="Times New Roman"/>
              </a:rPr>
              <a:t>pass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94091" y="3700893"/>
            <a:ext cx="60706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85"/>
              </a:lnSpc>
            </a:pPr>
            <a:r>
              <a:rPr sz="1250" spc="40" dirty="0">
                <a:solidFill>
                  <a:srgbClr val="F6F6F6"/>
                </a:solidFill>
                <a:latin typeface="Arial"/>
                <a:cs typeface="Arial"/>
              </a:rPr>
              <a:t>through</a:t>
            </a:r>
            <a:endParaRPr sz="12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6330" y="3986678"/>
            <a:ext cx="358775" cy="1049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70"/>
              </a:lnSpc>
            </a:pPr>
            <a:r>
              <a:rPr sz="7200" spc="100" dirty="0">
                <a:solidFill>
                  <a:srgbClr val="00AAE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04916" y="4235398"/>
            <a:ext cx="17938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85"/>
              </a:lnSpc>
            </a:pPr>
            <a:r>
              <a:rPr sz="1250" dirty="0">
                <a:solidFill>
                  <a:srgbClr val="F6F6F6"/>
                </a:solidFill>
                <a:latin typeface="Arial"/>
                <a:cs typeface="Arial"/>
              </a:rPr>
              <a:t>a}defines </a:t>
            </a:r>
            <a:r>
              <a:rPr sz="1250" spc="-10" dirty="0">
                <a:solidFill>
                  <a:srgbClr val="F6F6F6"/>
                </a:solidFill>
                <a:latin typeface="Arial"/>
                <a:cs typeface="Arial"/>
              </a:rPr>
              <a:t>an </a:t>
            </a:r>
            <a:r>
              <a:rPr sz="1250" spc="30" dirty="0">
                <a:solidFill>
                  <a:srgbClr val="F6F6F6"/>
                </a:solidFill>
                <a:latin typeface="Arial"/>
                <a:cs typeface="Arial"/>
              </a:rPr>
              <a:t>empty</a:t>
            </a:r>
            <a:r>
              <a:rPr sz="1250" spc="-1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1250" spc="-35" dirty="0">
                <a:solidFill>
                  <a:srgbClr val="F6F6F6"/>
                </a:solidFill>
                <a:latin typeface="Arial"/>
                <a:cs typeface="Arial"/>
              </a:rPr>
              <a:t>class</a:t>
            </a:r>
            <a:endParaRPr sz="12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0622" y="4966345"/>
            <a:ext cx="1266190" cy="1606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50" b="1" spc="25" dirty="0">
                <a:solidFill>
                  <a:srgbClr val="6E2F9E"/>
                </a:solidFill>
                <a:latin typeface="Arial"/>
                <a:cs typeface="Arial"/>
                <a:hlinkClick r:id="rId4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610" y="1270596"/>
            <a:ext cx="4654398" cy="8185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81866" y="2186891"/>
            <a:ext cx="4053141" cy="11972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975042" y="3885092"/>
            <a:ext cx="1071274" cy="9773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06639" y="1392769"/>
            <a:ext cx="0" cy="1698625"/>
          </a:xfrm>
          <a:custGeom>
            <a:avLst/>
            <a:gdLst/>
            <a:ahLst/>
            <a:cxnLst/>
            <a:rect l="l" t="t" r="r" b="b"/>
            <a:pathLst>
              <a:path h="1698625">
                <a:moveTo>
                  <a:pt x="0" y="1698201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22257" y="1408040"/>
            <a:ext cx="0" cy="1692275"/>
          </a:xfrm>
          <a:custGeom>
            <a:avLst/>
            <a:gdLst/>
            <a:ahLst/>
            <a:cxnLst/>
            <a:rect l="l" t="t" r="r" b="b"/>
            <a:pathLst>
              <a:path h="1692275">
                <a:moveTo>
                  <a:pt x="0" y="1692092"/>
                </a:moveTo>
                <a:lnTo>
                  <a:pt x="0" y="0"/>
                </a:lnTo>
              </a:path>
            </a:pathLst>
          </a:custGeom>
          <a:ln w="122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64629" y="1343900"/>
            <a:ext cx="2524125" cy="0"/>
          </a:xfrm>
          <a:custGeom>
            <a:avLst/>
            <a:gdLst/>
            <a:ahLst/>
            <a:cxnLst/>
            <a:rect l="l" t="t" r="r" b="b"/>
            <a:pathLst>
              <a:path w="2524125">
                <a:moveTo>
                  <a:pt x="0" y="0"/>
                </a:moveTo>
                <a:lnTo>
                  <a:pt x="2524056" y="0"/>
                </a:lnTo>
              </a:path>
            </a:pathLst>
          </a:custGeom>
          <a:ln w="122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2420" y="3145948"/>
            <a:ext cx="2506345" cy="0"/>
          </a:xfrm>
          <a:custGeom>
            <a:avLst/>
            <a:gdLst/>
            <a:ahLst/>
            <a:cxnLst/>
            <a:rect l="l" t="t" r="r" b="b"/>
            <a:pathLst>
              <a:path w="2506345">
                <a:moveTo>
                  <a:pt x="0" y="0"/>
                </a:moveTo>
                <a:lnTo>
                  <a:pt x="2505743" y="0"/>
                </a:lnTo>
              </a:path>
            </a:pathLst>
          </a:custGeom>
          <a:ln w="91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8449" y="140015"/>
            <a:ext cx="12896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75" dirty="0">
                <a:solidFill>
                  <a:srgbClr val="AC7E70"/>
                </a:solidFill>
                <a:latin typeface="Times New Roman"/>
                <a:cs typeface="Times New Roman"/>
              </a:rPr>
              <a:t>jn</a:t>
            </a:r>
            <a:r>
              <a:rPr sz="2400" b="1" spc="140" dirty="0">
                <a:solidFill>
                  <a:srgbClr val="AC7E70"/>
                </a:solidFill>
                <a:latin typeface="Times New Roman"/>
                <a:cs typeface="Times New Roman"/>
              </a:rPr>
              <a:t> </a:t>
            </a:r>
            <a:r>
              <a:rPr sz="2400" b="1" spc="-190" dirty="0">
                <a:solidFill>
                  <a:srgbClr val="827EA5"/>
                </a:solidFill>
                <a:latin typeface="Times New Roman"/>
                <a:cs typeface="Times New Roman"/>
              </a:rPr>
              <a:t>telli</a:t>
            </a:r>
            <a:r>
              <a:rPr sz="2400" b="1" spc="-190" dirty="0">
                <a:solidFill>
                  <a:srgbClr val="ED8026"/>
                </a:solidFill>
                <a:latin typeface="Times New Roman"/>
                <a:cs typeface="Times New Roman"/>
              </a:rPr>
              <a:t>Paat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30801" y="4966345"/>
            <a:ext cx="1263650" cy="1606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50" spc="65" dirty="0">
                <a:solidFill>
                  <a:srgbClr val="6E2F9E"/>
                </a:solidFill>
                <a:latin typeface="Arial"/>
                <a:cs typeface="Arial"/>
                <a:hlinkClick r:id="rId5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 idx="4294967295"/>
          </p:nvPr>
        </p:nvSpPr>
        <p:spPr>
          <a:xfrm>
            <a:off x="7659688" y="273050"/>
            <a:ext cx="1484312" cy="59848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5" dirty="0"/>
              <a:t>Quiz</a:t>
            </a:r>
            <a:r>
              <a:rPr spc="320" dirty="0"/>
              <a:t> </a:t>
            </a:r>
            <a:r>
              <a:rPr sz="3750" spc="85" dirty="0"/>
              <a:t>6</a:t>
            </a:r>
            <a:endParaRPr sz="3750"/>
          </a:p>
        </p:txBody>
      </p:sp>
      <p:sp>
        <p:nvSpPr>
          <p:cNvPr id="11" name="object 11"/>
          <p:cNvSpPr txBox="1"/>
          <p:nvPr/>
        </p:nvSpPr>
        <p:spPr>
          <a:xfrm>
            <a:off x="616330" y="2039800"/>
            <a:ext cx="35877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100" dirty="0">
                <a:solidFill>
                  <a:srgbClr val="5B4474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6330" y="2678153"/>
            <a:ext cx="35877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100" dirty="0">
                <a:solidFill>
                  <a:srgbClr val="5B4474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6330" y="3313451"/>
            <a:ext cx="35877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100" dirty="0">
                <a:solidFill>
                  <a:srgbClr val="5B4474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51713" y="3675425"/>
            <a:ext cx="1101090" cy="191135"/>
          </a:xfrm>
          <a:prstGeom prst="rect">
            <a:avLst/>
          </a:prstGeom>
          <a:solidFill>
            <a:srgbClr val="5B4474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r>
              <a:rPr sz="1100" spc="50" dirty="0">
                <a:solidFill>
                  <a:srgbClr val="F4F4F4"/>
                </a:solidFill>
                <a:latin typeface="Arial"/>
                <a:cs typeface="Arial"/>
              </a:rPr>
              <a:t>fails </a:t>
            </a:r>
            <a:r>
              <a:rPr sz="1100" spc="60" dirty="0">
                <a:solidFill>
                  <a:srgbClr val="F4F4F4"/>
                </a:solidFill>
                <a:latin typeface="Arial"/>
                <a:cs typeface="Arial"/>
              </a:rPr>
              <a:t>to</a:t>
            </a:r>
            <a:r>
              <a:rPr sz="1100" spc="-95" dirty="0">
                <a:solidFill>
                  <a:srgbClr val="F4F4F4"/>
                </a:solidFill>
                <a:latin typeface="Arial"/>
                <a:cs typeface="Arial"/>
              </a:rPr>
              <a:t> </a:t>
            </a:r>
            <a:r>
              <a:rPr sz="1100" spc="70" dirty="0">
                <a:solidFill>
                  <a:srgbClr val="F4F4F4"/>
                </a:solidFill>
                <a:latin typeface="Arial"/>
                <a:cs typeface="Arial"/>
              </a:rPr>
              <a:t>compiler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40364" y="1417230"/>
            <a:ext cx="986155" cy="14554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3335" marR="381000" indent="1270">
              <a:lnSpc>
                <a:spcPct val="122100"/>
              </a:lnSpc>
              <a:spcBef>
                <a:spcPts val="50"/>
              </a:spcBef>
            </a:pPr>
            <a:r>
              <a:rPr sz="1100" spc="-20" dirty="0">
                <a:solidFill>
                  <a:srgbClr val="010101"/>
                </a:solidFill>
                <a:latin typeface="Arial"/>
                <a:cs typeface="Arial"/>
              </a:rPr>
              <a:t>x </a:t>
            </a:r>
            <a:r>
              <a:rPr sz="1100" spc="55" dirty="0">
                <a:solidFill>
                  <a:srgbClr val="010101"/>
                </a:solidFill>
                <a:latin typeface="Arial"/>
                <a:cs typeface="Arial"/>
              </a:rPr>
              <a:t>= </a:t>
            </a:r>
            <a:r>
              <a:rPr sz="1100" spc="20" dirty="0">
                <a:solidFill>
                  <a:srgbClr val="010101"/>
                </a:solidFill>
                <a:latin typeface="Arial"/>
                <a:cs typeface="Arial"/>
              </a:rPr>
              <a:t>True  </a:t>
            </a:r>
            <a:r>
              <a:rPr sz="1100" spc="40" dirty="0">
                <a:solidFill>
                  <a:srgbClr val="010101"/>
                </a:solidFill>
                <a:latin typeface="Arial"/>
                <a:cs typeface="Arial"/>
              </a:rPr>
              <a:t>y </a:t>
            </a:r>
            <a:r>
              <a:rPr sz="1100" spc="55" dirty="0">
                <a:solidFill>
                  <a:srgbClr val="010101"/>
                </a:solidFill>
                <a:latin typeface="Arial"/>
                <a:cs typeface="Arial"/>
              </a:rPr>
              <a:t>=</a:t>
            </a:r>
            <a:r>
              <a:rPr sz="1100" spc="-16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10101"/>
                </a:solidFill>
                <a:latin typeface="Arial"/>
                <a:cs typeface="Arial"/>
              </a:rPr>
              <a:t>False  </a:t>
            </a:r>
            <a:r>
              <a:rPr sz="1100" spc="-90" dirty="0">
                <a:solidFill>
                  <a:srgbClr val="010101"/>
                </a:solidFill>
                <a:latin typeface="Arial"/>
                <a:cs typeface="Arial"/>
              </a:rPr>
              <a:t>z </a:t>
            </a:r>
            <a:r>
              <a:rPr sz="1100" spc="55" dirty="0">
                <a:solidFill>
                  <a:srgbClr val="010101"/>
                </a:solidFill>
                <a:latin typeface="Arial"/>
                <a:cs typeface="Arial"/>
              </a:rPr>
              <a:t>=</a:t>
            </a:r>
            <a:r>
              <a:rPr sz="1100" spc="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10101"/>
                </a:solidFill>
                <a:latin typeface="Arial"/>
                <a:cs typeface="Arial"/>
              </a:rPr>
              <a:t>False</a:t>
            </a:r>
            <a:endParaRPr sz="1100">
              <a:latin typeface="Arial"/>
              <a:cs typeface="Arial"/>
            </a:endParaRPr>
          </a:p>
          <a:p>
            <a:pPr marL="168275" marR="5080" indent="-156210">
              <a:lnSpc>
                <a:spcPct val="118400"/>
              </a:lnSpc>
              <a:spcBef>
                <a:spcPts val="95"/>
              </a:spcBef>
            </a:pPr>
            <a:r>
              <a:rPr sz="1100" spc="185" dirty="0">
                <a:solidFill>
                  <a:srgbClr val="010101"/>
                </a:solidFill>
                <a:latin typeface="Arial"/>
                <a:cs typeface="Arial"/>
              </a:rPr>
              <a:t>ifxoryandz:  </a:t>
            </a:r>
            <a:r>
              <a:rPr sz="1100" spc="50" dirty="0">
                <a:solidFill>
                  <a:srgbClr val="010101"/>
                </a:solidFill>
                <a:latin typeface="Arial"/>
                <a:cs typeface="Arial"/>
              </a:rPr>
              <a:t>print("yes")</a:t>
            </a:r>
            <a:endParaRPr sz="11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365"/>
              </a:spcBef>
            </a:pPr>
            <a:r>
              <a:rPr sz="1100" spc="30" dirty="0">
                <a:solidFill>
                  <a:srgbClr val="010101"/>
                </a:solidFill>
                <a:latin typeface="Arial"/>
                <a:cs typeface="Arial"/>
              </a:rPr>
              <a:t>else:</a:t>
            </a:r>
            <a:endParaRPr sz="1100">
              <a:latin typeface="Arial"/>
              <a:cs typeface="Arial"/>
            </a:endParaRPr>
          </a:p>
          <a:p>
            <a:pPr marL="168275">
              <a:lnSpc>
                <a:spcPct val="100000"/>
              </a:lnSpc>
              <a:spcBef>
                <a:spcPts val="244"/>
              </a:spcBef>
            </a:pPr>
            <a:r>
              <a:rPr sz="1100" spc="65" dirty="0">
                <a:solidFill>
                  <a:srgbClr val="010101"/>
                </a:solidFill>
                <a:latin typeface="Arial"/>
                <a:cs typeface="Arial"/>
              </a:rPr>
              <a:t>print("no")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610" y="1270596"/>
            <a:ext cx="4654398" cy="8185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81866" y="2186891"/>
            <a:ext cx="4053141" cy="11972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975042" y="3885092"/>
            <a:ext cx="1071274" cy="9773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09691" y="1371389"/>
            <a:ext cx="0" cy="1719580"/>
          </a:xfrm>
          <a:custGeom>
            <a:avLst/>
            <a:gdLst/>
            <a:ahLst/>
            <a:cxnLst/>
            <a:rect l="l" t="t" r="r" b="b"/>
            <a:pathLst>
              <a:path h="1719580">
                <a:moveTo>
                  <a:pt x="0" y="1719581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25309" y="1401932"/>
            <a:ext cx="0" cy="1698625"/>
          </a:xfrm>
          <a:custGeom>
            <a:avLst/>
            <a:gdLst/>
            <a:ahLst/>
            <a:cxnLst/>
            <a:rect l="l" t="t" r="r" b="b"/>
            <a:pathLst>
              <a:path h="1698625">
                <a:moveTo>
                  <a:pt x="0" y="1698201"/>
                </a:moveTo>
                <a:lnTo>
                  <a:pt x="0" y="0"/>
                </a:lnTo>
              </a:path>
            </a:pathLst>
          </a:custGeom>
          <a:ln w="122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64629" y="1343900"/>
            <a:ext cx="2515235" cy="0"/>
          </a:xfrm>
          <a:custGeom>
            <a:avLst/>
            <a:gdLst/>
            <a:ahLst/>
            <a:cxnLst/>
            <a:rect l="l" t="t" r="r" b="b"/>
            <a:pathLst>
              <a:path w="2515234">
                <a:moveTo>
                  <a:pt x="0" y="0"/>
                </a:moveTo>
                <a:lnTo>
                  <a:pt x="2514899" y="0"/>
                </a:lnTo>
              </a:path>
            </a:pathLst>
          </a:custGeom>
          <a:ln w="122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2420" y="3145948"/>
            <a:ext cx="2512060" cy="0"/>
          </a:xfrm>
          <a:custGeom>
            <a:avLst/>
            <a:gdLst/>
            <a:ahLst/>
            <a:cxnLst/>
            <a:rect l="l" t="t" r="r" b="b"/>
            <a:pathLst>
              <a:path w="2512059">
                <a:moveTo>
                  <a:pt x="0" y="0"/>
                </a:moveTo>
                <a:lnTo>
                  <a:pt x="2511847" y="0"/>
                </a:lnTo>
              </a:path>
            </a:pathLst>
          </a:custGeom>
          <a:ln w="91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8449" y="140015"/>
            <a:ext cx="12896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170" dirty="0">
                <a:solidFill>
                  <a:srgbClr val="AC7E70"/>
                </a:solidFill>
                <a:latin typeface="Times New Roman"/>
                <a:cs typeface="Times New Roman"/>
              </a:rPr>
              <a:t>jn</a:t>
            </a:r>
            <a:r>
              <a:rPr sz="2400" b="1" spc="-45" dirty="0">
                <a:solidFill>
                  <a:srgbClr val="AC7E70"/>
                </a:solidFill>
                <a:latin typeface="Times New Roman"/>
                <a:cs typeface="Times New Roman"/>
              </a:rPr>
              <a:t> </a:t>
            </a:r>
            <a:r>
              <a:rPr sz="2400" b="1" spc="-190" dirty="0">
                <a:solidFill>
                  <a:srgbClr val="8780A8"/>
                </a:solidFill>
                <a:latin typeface="Times New Roman"/>
                <a:cs typeface="Times New Roman"/>
              </a:rPr>
              <a:t>telli</a:t>
            </a:r>
            <a:r>
              <a:rPr sz="2400" b="1" spc="-190" dirty="0">
                <a:solidFill>
                  <a:srgbClr val="ED8026"/>
                </a:solidFill>
                <a:latin typeface="Times New Roman"/>
                <a:cs typeface="Times New Roman"/>
              </a:rPr>
              <a:t>Paat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30801" y="4966345"/>
            <a:ext cx="1263650" cy="16065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50" spc="65" dirty="0">
                <a:solidFill>
                  <a:srgbClr val="6E2F9E"/>
                </a:solidFill>
                <a:latin typeface="Arial"/>
                <a:cs typeface="Arial"/>
                <a:hlinkClick r:id="rId5"/>
              </a:rPr>
              <a:t>www.intellipaat.com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 idx="4294967295"/>
          </p:nvPr>
        </p:nvSpPr>
        <p:spPr>
          <a:xfrm>
            <a:off x="7000875" y="295275"/>
            <a:ext cx="2143125" cy="5762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54835" algn="l"/>
              </a:tabLst>
            </a:pPr>
            <a:r>
              <a:rPr sz="3600" spc="-50" dirty="0"/>
              <a:t>Answe</a:t>
            </a:r>
            <a:r>
              <a:rPr sz="3600" spc="-30" dirty="0"/>
              <a:t>r</a:t>
            </a:r>
            <a:r>
              <a:rPr sz="3600" dirty="0"/>
              <a:t>	</a:t>
            </a:r>
            <a:r>
              <a:rPr sz="3600" spc="160" dirty="0"/>
              <a:t>6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616330" y="2039800"/>
            <a:ext cx="37211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204" dirty="0">
                <a:solidFill>
                  <a:srgbClr val="8780A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6330" y="2678153"/>
            <a:ext cx="37211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204" dirty="0">
                <a:solidFill>
                  <a:srgbClr val="5B4474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6330" y="3313451"/>
            <a:ext cx="372110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00" spc="204" dirty="0">
                <a:solidFill>
                  <a:srgbClr val="5B4474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51713" y="3675425"/>
            <a:ext cx="1101090" cy="191135"/>
          </a:xfrm>
          <a:prstGeom prst="rect">
            <a:avLst/>
          </a:prstGeom>
          <a:solidFill>
            <a:srgbClr val="5B4474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r>
              <a:rPr sz="1100" spc="50" dirty="0">
                <a:solidFill>
                  <a:srgbClr val="F4F4F4"/>
                </a:solidFill>
                <a:latin typeface="Arial"/>
                <a:cs typeface="Arial"/>
              </a:rPr>
              <a:t>fails </a:t>
            </a:r>
            <a:r>
              <a:rPr sz="1100" spc="60" dirty="0">
                <a:solidFill>
                  <a:srgbClr val="F4F4F4"/>
                </a:solidFill>
                <a:latin typeface="Arial"/>
                <a:cs typeface="Arial"/>
              </a:rPr>
              <a:t>to</a:t>
            </a:r>
            <a:r>
              <a:rPr sz="1100" spc="-95" dirty="0">
                <a:solidFill>
                  <a:srgbClr val="F4F4F4"/>
                </a:solidFill>
                <a:latin typeface="Arial"/>
                <a:cs typeface="Arial"/>
              </a:rPr>
              <a:t> </a:t>
            </a:r>
            <a:r>
              <a:rPr sz="1100" spc="70" dirty="0">
                <a:solidFill>
                  <a:srgbClr val="F4F4F4"/>
                </a:solidFill>
                <a:latin typeface="Arial"/>
                <a:cs typeface="Arial"/>
              </a:rPr>
              <a:t>compiler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40364" y="1417230"/>
            <a:ext cx="986155" cy="14554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3335" marR="381000" indent="1270">
              <a:lnSpc>
                <a:spcPct val="122100"/>
              </a:lnSpc>
              <a:spcBef>
                <a:spcPts val="50"/>
              </a:spcBef>
            </a:pPr>
            <a:r>
              <a:rPr sz="1100" spc="-20" dirty="0">
                <a:solidFill>
                  <a:srgbClr val="010101"/>
                </a:solidFill>
                <a:latin typeface="Arial"/>
                <a:cs typeface="Arial"/>
              </a:rPr>
              <a:t>x </a:t>
            </a:r>
            <a:r>
              <a:rPr sz="1100" spc="55" dirty="0">
                <a:solidFill>
                  <a:srgbClr val="010101"/>
                </a:solidFill>
                <a:latin typeface="Arial"/>
                <a:cs typeface="Arial"/>
              </a:rPr>
              <a:t>= </a:t>
            </a:r>
            <a:r>
              <a:rPr sz="1100" spc="20" dirty="0">
                <a:solidFill>
                  <a:srgbClr val="010101"/>
                </a:solidFill>
                <a:latin typeface="Arial"/>
                <a:cs typeface="Arial"/>
              </a:rPr>
              <a:t>True  </a:t>
            </a:r>
            <a:r>
              <a:rPr sz="1100" spc="40" dirty="0">
                <a:solidFill>
                  <a:srgbClr val="010101"/>
                </a:solidFill>
                <a:latin typeface="Arial"/>
                <a:cs typeface="Arial"/>
              </a:rPr>
              <a:t>y </a:t>
            </a:r>
            <a:r>
              <a:rPr sz="1100" spc="55" dirty="0">
                <a:solidFill>
                  <a:srgbClr val="010101"/>
                </a:solidFill>
                <a:latin typeface="Arial"/>
                <a:cs typeface="Arial"/>
              </a:rPr>
              <a:t>=</a:t>
            </a:r>
            <a:r>
              <a:rPr sz="1100" spc="-16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10101"/>
                </a:solidFill>
                <a:latin typeface="Arial"/>
                <a:cs typeface="Arial"/>
              </a:rPr>
              <a:t>False  </a:t>
            </a:r>
            <a:r>
              <a:rPr sz="1100" spc="-90" dirty="0">
                <a:solidFill>
                  <a:srgbClr val="010101"/>
                </a:solidFill>
                <a:latin typeface="Arial"/>
                <a:cs typeface="Arial"/>
              </a:rPr>
              <a:t>z </a:t>
            </a:r>
            <a:r>
              <a:rPr sz="1100" spc="55" dirty="0">
                <a:solidFill>
                  <a:srgbClr val="010101"/>
                </a:solidFill>
                <a:latin typeface="Arial"/>
                <a:cs typeface="Arial"/>
              </a:rPr>
              <a:t>=</a:t>
            </a:r>
            <a:r>
              <a:rPr sz="1100" spc="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10101"/>
                </a:solidFill>
                <a:latin typeface="Arial"/>
                <a:cs typeface="Arial"/>
              </a:rPr>
              <a:t>False</a:t>
            </a:r>
            <a:endParaRPr sz="1100">
              <a:latin typeface="Arial"/>
              <a:cs typeface="Arial"/>
            </a:endParaRPr>
          </a:p>
          <a:p>
            <a:pPr marL="168275" marR="5080" indent="-156210">
              <a:lnSpc>
                <a:spcPct val="118400"/>
              </a:lnSpc>
              <a:spcBef>
                <a:spcPts val="95"/>
              </a:spcBef>
            </a:pPr>
            <a:r>
              <a:rPr sz="1100" spc="185" dirty="0">
                <a:solidFill>
                  <a:srgbClr val="010101"/>
                </a:solidFill>
                <a:latin typeface="Arial"/>
                <a:cs typeface="Arial"/>
              </a:rPr>
              <a:t>ifxoryandz:  </a:t>
            </a:r>
            <a:r>
              <a:rPr sz="1100" spc="50" dirty="0">
                <a:solidFill>
                  <a:srgbClr val="010101"/>
                </a:solidFill>
                <a:latin typeface="Arial"/>
                <a:cs typeface="Arial"/>
              </a:rPr>
              <a:t>print("yes")</a:t>
            </a:r>
            <a:endParaRPr sz="11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365"/>
              </a:spcBef>
            </a:pPr>
            <a:r>
              <a:rPr sz="1100" spc="30" dirty="0">
                <a:solidFill>
                  <a:srgbClr val="010101"/>
                </a:solidFill>
                <a:latin typeface="Arial"/>
                <a:cs typeface="Arial"/>
              </a:rPr>
              <a:t>else:</a:t>
            </a:r>
            <a:endParaRPr sz="1100">
              <a:latin typeface="Arial"/>
              <a:cs typeface="Arial"/>
            </a:endParaRPr>
          </a:p>
          <a:p>
            <a:pPr marL="168275">
              <a:lnSpc>
                <a:spcPct val="100000"/>
              </a:lnSpc>
              <a:spcBef>
                <a:spcPts val="244"/>
              </a:spcBef>
            </a:pPr>
            <a:r>
              <a:rPr sz="1100" spc="65" dirty="0">
                <a:solidFill>
                  <a:srgbClr val="010101"/>
                </a:solidFill>
                <a:latin typeface="Arial"/>
                <a:cs typeface="Arial"/>
              </a:rPr>
              <a:t>print("no")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1207" y="4963810"/>
            <a:ext cx="123317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75"/>
              </a:lnSpc>
            </a:pPr>
            <a:r>
              <a:rPr sz="950" b="1" spc="8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www</a:t>
            </a:r>
            <a:r>
              <a:rPr sz="950" b="1" spc="3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.i</a:t>
            </a:r>
            <a:r>
              <a:rPr sz="950" b="1" spc="1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n</a:t>
            </a:r>
            <a:r>
              <a:rPr sz="950" b="1" spc="-2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t</a:t>
            </a:r>
            <a:r>
              <a:rPr sz="950" b="1" spc="7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e</a:t>
            </a:r>
            <a:r>
              <a:rPr sz="950" b="1" spc="3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ll</a:t>
            </a:r>
            <a:r>
              <a:rPr sz="950" b="1" spc="-4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i</a:t>
            </a:r>
            <a:r>
              <a:rPr sz="950" b="1" spc="1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p</a:t>
            </a:r>
            <a:r>
              <a:rPr sz="950" b="1" spc="7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a</a:t>
            </a:r>
            <a:r>
              <a:rPr sz="950" b="1" spc="-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a</a:t>
            </a:r>
            <a:r>
              <a:rPr sz="950" b="1" spc="-2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t</a:t>
            </a:r>
            <a:r>
              <a:rPr sz="950" b="1" spc="3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.</a:t>
            </a:r>
            <a:r>
              <a:rPr sz="950" b="1" spc="-5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c</a:t>
            </a:r>
            <a:r>
              <a:rPr sz="950" b="1" spc="20" dirty="0">
                <a:solidFill>
                  <a:srgbClr val="6F2F9E"/>
                </a:solidFill>
                <a:latin typeface="Arial"/>
                <a:cs typeface="Arial"/>
                <a:hlinkClick r:id="rId2"/>
              </a:rPr>
              <a:t>om</a:t>
            </a:r>
            <a:endParaRPr sz="9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873788" y="1524"/>
            <a:ext cx="4270211" cy="5141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0000" y="167100"/>
            <a:ext cx="1370328" cy="4776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45005" y="3227004"/>
            <a:ext cx="2474595" cy="905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India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z="1200" b="1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+91-7847955955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marL="39370">
              <a:lnSpc>
                <a:spcPct val="100000"/>
              </a:lnSpc>
            </a:pPr>
            <a:r>
              <a:rPr sz="1200" b="1" spc="10" dirty="0">
                <a:solidFill>
                  <a:srgbClr val="595959"/>
                </a:solidFill>
                <a:latin typeface="Arial"/>
                <a:cs typeface="Arial"/>
              </a:rPr>
              <a:t>US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: </a:t>
            </a: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1-800-216-8930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(TOLL</a:t>
            </a:r>
            <a:r>
              <a:rPr sz="1200" b="1" spc="-1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15" dirty="0">
                <a:solidFill>
                  <a:srgbClr val="595959"/>
                </a:solidFill>
                <a:latin typeface="Arial"/>
                <a:cs typeface="Arial"/>
              </a:rPr>
              <a:t>FREE)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50" b="1" spc="5" dirty="0">
                <a:solidFill>
                  <a:srgbClr val="595959"/>
                </a:solidFill>
                <a:latin typeface="Arial"/>
                <a:cs typeface="Arial"/>
                <a:hlinkClick r:id="rId5"/>
              </a:rPr>
              <a:t>sales@intellipaat.com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9154" y="1775046"/>
            <a:ext cx="3930837" cy="307098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52693" y="1524"/>
            <a:ext cx="2539998" cy="16766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0" y="1716088"/>
            <a:ext cx="2962275" cy="3921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rgbClr val="578FFF"/>
                </a:solidFill>
                <a:hlinkClick r:id="rId2"/>
              </a:rPr>
              <a:t>www.intellipaat.com</a:t>
            </a:r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3990471" y="3322877"/>
            <a:ext cx="2260601" cy="7535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ItSkillsTheme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076243_Blue spheres presentation_RVA_v5" id="{E4C0B511-76E7-4C07-AFEA-8FEA0A5A8C84}" vid="{3A463146-28EF-4F73-B63C-03710F66E2A3}"/>
    </a:ext>
  </a:extLst>
</a:theme>
</file>

<file path=ppt/theme/theme2.xml><?xml version="1.0" encoding="utf-8"?>
<a:theme xmlns:a="http://schemas.openxmlformats.org/drawingml/2006/main" name="AgendaSlides">
  <a:themeElements>
    <a:clrScheme name="Custom 7">
      <a:dk1>
        <a:srgbClr val="0C6D82"/>
      </a:dk1>
      <a:lt1>
        <a:srgbClr val="FFFFFF"/>
      </a:lt1>
      <a:dk2>
        <a:srgbClr val="6F0066"/>
      </a:dk2>
      <a:lt2>
        <a:srgbClr val="1E597D"/>
      </a:lt2>
      <a:accent1>
        <a:srgbClr val="571B6D"/>
      </a:accent1>
      <a:accent2>
        <a:srgbClr val="2CA05B"/>
      </a:accent2>
      <a:accent3>
        <a:srgbClr val="C90B24"/>
      </a:accent3>
      <a:accent4>
        <a:srgbClr val="E8611D"/>
      </a:accent4>
      <a:accent5>
        <a:srgbClr val="F39D21"/>
      </a:accent5>
      <a:accent6>
        <a:srgbClr val="1B866F"/>
      </a:accent6>
      <a:hlink>
        <a:srgbClr val="0C6D82"/>
      </a:hlink>
      <a:folHlink>
        <a:srgbClr val="0C6D82"/>
      </a:folHlink>
    </a:clrScheme>
    <a:fontScheme name="Custom 10">
      <a:majorFont>
        <a:latin typeface="Franklin Gothic Dem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72390">
          <a:solidFill>
            <a:srgbClr val="454D5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6411242_Colorful product roadmap timeline_SL_V1.pptx" id="{6D8823AB-3E34-4E8D-AE3C-7D7916AE70B3}" vid="{BC540765-6631-455E-9814-9685D6B351E6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DoItSkillsTemplate21Jan2020</Template>
  <TotalTime>1327</TotalTime>
  <Words>3209</Words>
  <Application>Microsoft Office PowerPoint</Application>
  <PresentationFormat>On-screen Show (16:9)</PresentationFormat>
  <Paragraphs>719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70</vt:i4>
      </vt:variant>
    </vt:vector>
  </HeadingPairs>
  <TitlesOfParts>
    <vt:vector size="82" baseType="lpstr">
      <vt:lpstr>Arial</vt:lpstr>
      <vt:lpstr>Calibri</vt:lpstr>
      <vt:lpstr>Consolas</vt:lpstr>
      <vt:lpstr>Corbel</vt:lpstr>
      <vt:lpstr>Courier New</vt:lpstr>
      <vt:lpstr>Franklin Gothic Demi</vt:lpstr>
      <vt:lpstr>Segoe UI</vt:lpstr>
      <vt:lpstr>Times New Roman</vt:lpstr>
      <vt:lpstr>Wingdings</vt:lpstr>
      <vt:lpstr>DoItSkillsTheme</vt:lpstr>
      <vt:lpstr>AgendaSlides</vt:lpstr>
      <vt:lpstr>1_Custom Design</vt:lpstr>
      <vt:lpstr>Python OOPS</vt:lpstr>
      <vt:lpstr>Introduction to oop</vt:lpstr>
      <vt:lpstr>What is OOP?</vt:lpstr>
      <vt:lpstr>PowerPoint Presentation</vt:lpstr>
      <vt:lpstr> Let’s understand with a Real-Life ExamplE  </vt:lpstr>
      <vt:lpstr>Every Human Being is Classified into:</vt:lpstr>
      <vt:lpstr>Class</vt:lpstr>
      <vt:lpstr>Class</vt:lpstr>
      <vt:lpstr>Inheritance</vt:lpstr>
      <vt:lpstr>Object</vt:lpstr>
      <vt:lpstr>Encapsulation</vt:lpstr>
      <vt:lpstr>Polymorphism</vt:lpstr>
      <vt:lpstr>OOPS: Classes and Objects</vt:lpstr>
      <vt:lpstr>Things you will learn after this Session</vt:lpstr>
      <vt:lpstr>What are Object and Class?</vt:lpstr>
      <vt:lpstr>What are Object and Class?</vt:lpstr>
      <vt:lpstr>How to create a Class in Python?</vt:lpstr>
      <vt:lpstr>How to create a Object in Python?</vt:lpstr>
      <vt:lpstr>How to access Class Members?</vt:lpstr>
      <vt:lpstr> __init__() method in Python</vt:lpstr>
      <vt:lpstr> __init__() method in Python</vt:lpstr>
      <vt:lpstr> __init__() method in Python</vt:lpstr>
      <vt:lpstr>T1. </vt:lpstr>
      <vt:lpstr>OOPS: Inheritance in Python</vt:lpstr>
      <vt:lpstr>Things you will learn after this Session</vt:lpstr>
      <vt:lpstr>What is Inheritance in Python?</vt:lpstr>
      <vt:lpstr>Inheritance Syntax in Python</vt:lpstr>
      <vt:lpstr>Different  Types of Inheritance in Python</vt:lpstr>
      <vt:lpstr>Different  Types of Inheritance in Python</vt:lpstr>
      <vt:lpstr>“single class inherits from a class”</vt:lpstr>
      <vt:lpstr>“single class inherits from a class”</vt:lpstr>
      <vt:lpstr>“A class inherits from multiple class”</vt:lpstr>
      <vt:lpstr>“Multiple class inherits from a class”</vt:lpstr>
      <vt:lpstr>“One class inherits from another, which in turn inherits  from another”</vt:lpstr>
      <vt:lpstr>“One class inherits from another, which in turn inherits  from another”</vt:lpstr>
      <vt:lpstr>“More than one class inherits from a class”</vt:lpstr>
      <vt:lpstr>“More than one class inherits from a class”</vt:lpstr>
      <vt:lpstr>“Combination of any two kinds of inheritance”</vt:lpstr>
      <vt:lpstr>“Combination of any two kinds of inheritance”</vt:lpstr>
      <vt:lpstr>“Used to call a method from the parent class”</vt:lpstr>
      <vt:lpstr>“Developers sometimes get confused between them”</vt:lpstr>
      <vt:lpstr>“Same function with different parameters”</vt:lpstr>
      <vt:lpstr>“Used to call a method from the parent class”</vt:lpstr>
      <vt:lpstr>“Subclass may change the functionality of a Python</vt:lpstr>
      <vt:lpstr>Python Certification Course</vt:lpstr>
      <vt:lpstr>OOPS: Encapsulation in Python</vt:lpstr>
      <vt:lpstr>Things you will learn after this Session</vt:lpstr>
      <vt:lpstr>What is Encapsulation?</vt:lpstr>
      <vt:lpstr>What is Encapsulation?</vt:lpstr>
      <vt:lpstr>What is Encapsulation?</vt:lpstr>
      <vt:lpstr>How to access a Private Method?</vt:lpstr>
      <vt:lpstr>How to access a Private Variable?</vt:lpstr>
      <vt:lpstr>OOPS: Polymorphism in Python</vt:lpstr>
      <vt:lpstr>Things you will learn after this Session</vt:lpstr>
      <vt:lpstr>“Functions with same name, but functioning in</vt:lpstr>
      <vt:lpstr>Polymorphism with a function</vt:lpstr>
      <vt:lpstr>PowerPoint Presentation</vt:lpstr>
      <vt:lpstr>Quiz 1</vt:lpstr>
      <vt:lpstr>Answer 1</vt:lpstr>
      <vt:lpstr>Quiz 2</vt:lpstr>
      <vt:lpstr>PowerPoint Presentation</vt:lpstr>
      <vt:lpstr>Quiz 3</vt:lpstr>
      <vt:lpstr>Answer 3</vt:lpstr>
      <vt:lpstr>Quiz 4</vt:lpstr>
      <vt:lpstr>Quiz 4</vt:lpstr>
      <vt:lpstr>Quiz 5</vt:lpstr>
      <vt:lpstr>Answer 5</vt:lpstr>
      <vt:lpstr>Quiz 6</vt:lpstr>
      <vt:lpstr>Answer 6</vt:lpstr>
      <vt:lpstr>www.intellipaat.com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Certification Course</dc:title>
  <cp:lastModifiedBy>Arun kumar Nair</cp:lastModifiedBy>
  <cp:revision>26</cp:revision>
  <dcterms:created xsi:type="dcterms:W3CDTF">2020-01-27T09:34:43Z</dcterms:created>
  <dcterms:modified xsi:type="dcterms:W3CDTF">2021-05-22T09:28:55Z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2020-01-27T00:00:00Z</vt:filetime>
  </property>
</Properties>
</file>